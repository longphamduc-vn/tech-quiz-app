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308" r:id="rId2"/>
    <p:sldId id="315" r:id="rId3"/>
    <p:sldId id="306" r:id="rId4"/>
    <p:sldId id="307" r:id="rId5"/>
    <p:sldId id="310" r:id="rId6"/>
    <p:sldId id="311" r:id="rId7"/>
    <p:sldId id="312" r:id="rId8"/>
    <p:sldId id="313" r:id="rId9"/>
    <p:sldId id="316" r:id="rId10"/>
  </p:sldIdLst>
  <p:sldSz cx="6858000" cy="9906000" type="A4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6" autoAdjust="0"/>
    <p:restoredTop sz="99884" autoAdjust="0"/>
  </p:normalViewPr>
  <p:slideViewPr>
    <p:cSldViewPr>
      <p:cViewPr>
        <p:scale>
          <a:sx n="130" d="100"/>
          <a:sy n="130" d="100"/>
        </p:scale>
        <p:origin x="-2304" y="1428"/>
      </p:cViewPr>
      <p:guideLst>
        <p:guide orient="horz" pos="489"/>
        <p:guide orient="horz" pos="6114"/>
        <p:guide pos="4143"/>
        <p:guide pos="20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E3B3C3A-5BA1-471E-8421-7FBC8A06B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0158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17725" y="741363"/>
            <a:ext cx="25622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691063"/>
            <a:ext cx="4984750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3DD55E5-547A-400E-913C-B3837D7018F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9792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D20C36C1-A5BA-45BF-8026-0549C0166B33}" type="slidenum">
              <a:rPr lang="en-US" altLang="ko-KR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E0F7484F-84FD-4BB5-B8B8-FE1998ADC8E2}" type="slidenum">
              <a:rPr lang="en-US" altLang="ko-KR" smtClean="0"/>
              <a:pPr eaLnBrk="1" hangingPunct="1">
                <a:spcBef>
                  <a:spcPct val="0"/>
                </a:spcBef>
              </a:pPr>
              <a:t>2</a:t>
            </a:fld>
            <a:endParaRPr lang="en-US" altLang="ko-KR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AB8ABA9C-2DAC-4B88-970D-65E60843ADBB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348723D4-A20A-471A-B6AE-EB2BBB892527}" type="slidenum">
              <a:rPr lang="en-US" altLang="ko-KR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ko-KR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4D9F70C3-27FF-46F1-BC1B-5C7523EA178D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29F07B-62B5-4892-88F2-6BCD873C0B2B}" type="slidenum">
              <a:rPr lang="en-US" altLang="ko-KR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6700A6EA-487C-4536-8BD1-79F5F8ACDF7C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286C960A-873B-4C20-BE2D-293D2B25913E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F34D8E49-FB57-492A-AFB2-1168F586A38E}" type="slidenum">
              <a:rPr lang="en-US" altLang="ko-KR" smtClean="0">
                <a:solidFill>
                  <a:srgbClr val="000000"/>
                </a:solidFill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ko-KR" smtClean="0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>
              <a:latin typeface="굴림" charset="-127"/>
              <a:ea typeface="굴림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07208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284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57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1435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862263"/>
            <a:ext cx="283845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54712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187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953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758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363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21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655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886325" y="881063"/>
            <a:ext cx="1457325" cy="7924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14350" y="881063"/>
            <a:ext cx="4219575" cy="7924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13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81063"/>
            <a:ext cx="58293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862263"/>
            <a:ext cx="58293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9024938"/>
            <a:ext cx="142875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9024938"/>
            <a:ext cx="2171700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12239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WS TEST 1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9001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1. Giải thích nào là đúng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[Các electron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nằm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ở quỹ đạo ngoài cùng của nguyên tử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chịu lực tác động của hạt nhân nhỏ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Electron tự 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Dải hóa trị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Hạt nhân nguyên tử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Hạt Proton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2. Đ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áp án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nào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sai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v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ề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số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lượng hạt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của các lớp Electron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Lớp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 = 18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Lớp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 = 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Lớp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N = 32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Lớp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 = 8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Nội dung dưới đây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đ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ang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mô tả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điều gì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[Năng lượng được tăng lên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và dịch chuyển ra vòng xa hơn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① Kích thích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Lượng tử ánh sáng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Ion hóa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Phóng xung điện.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4. Độ lệch pha trong trường hợp 3 pha 220V 60㎐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90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120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180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240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5. Dòng điện gây co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cơ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mạnh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khi bị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điện giật là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bao nhiêu mA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5 ~ 30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30 ~ 50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50 ~ 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Hơn 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6.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Giá trị đỉnh - đỉnh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là 10V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, vậy Vrms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7,07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6,37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3.535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3,185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7.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Oscilloscope không được dùng để đo giá trị của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Đỉnh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Tần số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Xung giảm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Chu kỳ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8. Khi mã màu của điện trở là [Đỏ Đỏ Nâu Bạc]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Giá trị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220Ω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330Ω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2200Ω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3300Ω</a:t>
            </a: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9001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9. Điện trở nào được sử dụng cho các mạch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Analog cơ bản,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yêu cầu độ chính xác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cao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Điện trở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màng kim loại (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dạng sợi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Điện trở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xi măng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Điện trở màng kim loại (màng mỏng)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Điện trở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màng carbon nhỏ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10.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Mạch nào sau đây không sử dụng chức năng của tụ điện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Mạch làm trơn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Mạch chỉnh lưu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Mạch hẹn giờ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Mạch lọc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11. Tụ điện nào sau đây được dùng ở dải tần cao?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Tụ điện Mylar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Tụ sứ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Tụ Tantal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Tụ điện Styrol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12.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Dòng dưới đây đang nói về điều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[Sự biến thiên của từ thông quyết định phương hướng của lực điện động cảm ứng.]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cảm ứng điện từ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Suất điện động cảm ứng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Định luật Lenz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Điện cảm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13.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Tên gọi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của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cuộn dây nào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cho tiếp xúc song song cuộn cảm và tụ điện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FCZ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FFC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RFC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IFT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14. Điện áp ngưỡng thuận của diode Zener 6.2V / Si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0,2V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0,7V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5,8V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6.2V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15. Dòng hoạt động của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Transistor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dùng cho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tín hiệu nhỏ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Dưới 100㎃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200㎃ trở xuống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300㎃ trở xuống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400㎃ trở xuống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16. Đ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âu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không phải là đặc điểm của Photo Coupler?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Tốc độ phản hồi nhanh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Đầu vào và đầu ra được cách điện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Có độ tin cậy cao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Chống rung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88925" y="757238"/>
            <a:ext cx="1741488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※Điện – điện tử: Câu 1</a:t>
            </a:r>
            <a:r>
              <a:rPr lang="ko-KR" altLang="en-US" sz="1000" b="1">
                <a:solidFill>
                  <a:srgbClr val="000000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~ 20</a:t>
            </a:r>
            <a:endParaRPr lang="ko-KR" altLang="en-US" sz="1000" b="1">
              <a:solidFill>
                <a:srgbClr val="000000"/>
              </a:solidFill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54000"/>
          <a:lstStyle/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17. Đâu không phải là đặc điểm của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iện trở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nhiệt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① Do hệ số nhiệt độ điện trở nhỏ so với nhiệt độ,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 nên việc đo </a:t>
            </a:r>
          </a:p>
          <a:p>
            <a:pPr>
              <a:defRPr/>
            </a:pPr>
            <a:r>
              <a:rPr lang="en-US" altLang="ko-KR">
                <a:latin typeface="Times New Roman" pitchFamily="18" charset="0"/>
                <a:cs typeface="Times New Roman" pitchFamily="18" charset="0"/>
              </a:rPr>
              <a:t>nhiệt độ nhỏ và chính xác tốt.</a:t>
            </a: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② Cấu trúc đơn giản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có thể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thu nhỏ</a:t>
            </a: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③ Sản xuất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đại trà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ó thể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cung cấp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lớn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với giá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thành 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ổn định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ko-KR">
                <a:latin typeface="Times New Roman" pitchFamily="18" charset="0"/>
                <a:cs typeface="Times New Roman" pitchFamily="18" charset="0"/>
              </a:rPr>
              <a:t>Độ bền cơ khí và tính gia công vượt trội.</a:t>
            </a:r>
          </a:p>
          <a:p>
            <a:pPr>
              <a:defRPr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18. Hiệu điện thế qua điện trở trong đoạn mạch sau là bao nhiêu?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① 0V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② 0,2V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0,7V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④ 4,8V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19. Hiệu điện thế qua điện trở trong đoạn mạch sau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là bao nhiêu?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① 0V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② 2,9V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③ 9.1V</a:t>
            </a: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④ 11,3V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20. Tần số của dạng sóng phía dưới là bao nhiêu?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endParaRPr lang="en-US" altLang="ko-K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defRPr/>
            </a:pPr>
            <a:r>
              <a:rPr lang="ko-KR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① 200 hz</a:t>
            </a:r>
          </a:p>
          <a:p>
            <a:pPr marL="457200" indent="-457200">
              <a:defRPr/>
            </a:pPr>
            <a:r>
              <a:rPr lang="ko-KR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② 250 hz</a:t>
            </a:r>
          </a:p>
          <a:p>
            <a:pPr marL="457200" indent="-457200">
              <a:defRPr/>
            </a:pPr>
            <a:r>
              <a:rPr lang="ko-KR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③ 500 hz</a:t>
            </a:r>
          </a:p>
          <a:p>
            <a:pPr marL="457200" indent="-457200">
              <a:defRPr/>
            </a:pPr>
            <a:r>
              <a:rPr lang="ko-KR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④ 1khz</a:t>
            </a:r>
          </a:p>
          <a:p>
            <a:pPr>
              <a:defRPr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72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3077" name="그룹 1"/>
          <p:cNvGrpSpPr>
            <a:grpSpLocks/>
          </p:cNvGrpSpPr>
          <p:nvPr/>
        </p:nvGrpSpPr>
        <p:grpSpPr bwMode="auto">
          <a:xfrm>
            <a:off x="1431925" y="2670175"/>
            <a:ext cx="1104900" cy="876300"/>
            <a:chOff x="1431826" y="2263304"/>
            <a:chExt cx="1105654" cy="876796"/>
          </a:xfrm>
        </p:grpSpPr>
        <p:sp>
          <p:nvSpPr>
            <p:cNvPr id="3209" name="Line 62"/>
            <p:cNvSpPr>
              <a:spLocks noChangeShapeType="1"/>
            </p:cNvSpPr>
            <p:nvPr/>
          </p:nvSpPr>
          <p:spPr bwMode="auto">
            <a:xfrm>
              <a:off x="1858680" y="2263304"/>
              <a:ext cx="0" cy="42004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10" name="Line 63"/>
            <p:cNvSpPr>
              <a:spLocks noChangeShapeType="1"/>
            </p:cNvSpPr>
            <p:nvPr/>
          </p:nvSpPr>
          <p:spPr bwMode="auto">
            <a:xfrm>
              <a:off x="1856617" y="2263304"/>
              <a:ext cx="59524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11" name="Line 64"/>
            <p:cNvSpPr>
              <a:spLocks noChangeShapeType="1"/>
            </p:cNvSpPr>
            <p:nvPr/>
          </p:nvSpPr>
          <p:spPr bwMode="auto">
            <a:xfrm>
              <a:off x="2458046" y="2263304"/>
              <a:ext cx="0" cy="12801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3212" name="Group 65"/>
            <p:cNvGrpSpPr>
              <a:grpSpLocks/>
            </p:cNvGrpSpPr>
            <p:nvPr/>
          </p:nvGrpSpPr>
          <p:grpSpPr bwMode="auto">
            <a:xfrm>
              <a:off x="2398213" y="2391318"/>
              <a:ext cx="119667" cy="160018"/>
              <a:chOff x="1488" y="1152"/>
              <a:chExt cx="192" cy="336"/>
            </a:xfrm>
          </p:grpSpPr>
          <p:sp>
            <p:nvSpPr>
              <p:cNvPr id="3225" name="Line 66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26" name="Line 67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27" name="Line 68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28" name="Line 69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29" name="Line 70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30" name="Line 71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31" name="Line 72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213" name="Line 73"/>
            <p:cNvSpPr>
              <a:spLocks noChangeShapeType="1"/>
            </p:cNvSpPr>
            <p:nvPr/>
          </p:nvSpPr>
          <p:spPr bwMode="auto">
            <a:xfrm>
              <a:off x="2458046" y="2551336"/>
              <a:ext cx="0" cy="30003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14" name="AutoShape 74"/>
            <p:cNvSpPr>
              <a:spLocks noChangeArrowheads="1"/>
            </p:cNvSpPr>
            <p:nvPr/>
          </p:nvSpPr>
          <p:spPr bwMode="auto">
            <a:xfrm flipV="1">
              <a:off x="2378612" y="2843368"/>
              <a:ext cx="158868" cy="64007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215" name="Line 75"/>
            <p:cNvSpPr>
              <a:spLocks noChangeShapeType="1"/>
            </p:cNvSpPr>
            <p:nvPr/>
          </p:nvSpPr>
          <p:spPr bwMode="auto">
            <a:xfrm flipV="1">
              <a:off x="2378612" y="2907376"/>
              <a:ext cx="15886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16" name="Line 76"/>
            <p:cNvSpPr>
              <a:spLocks noChangeShapeType="1"/>
            </p:cNvSpPr>
            <p:nvPr/>
          </p:nvSpPr>
          <p:spPr bwMode="auto">
            <a:xfrm>
              <a:off x="1862807" y="3127400"/>
              <a:ext cx="59524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17" name="Line 77"/>
            <p:cNvSpPr>
              <a:spLocks noChangeShapeType="1"/>
            </p:cNvSpPr>
            <p:nvPr/>
          </p:nvSpPr>
          <p:spPr bwMode="auto">
            <a:xfrm>
              <a:off x="2458046" y="2903375"/>
              <a:ext cx="0" cy="22402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18" name="Text Box 78"/>
            <p:cNvSpPr txBox="1">
              <a:spLocks noChangeArrowheads="1"/>
            </p:cNvSpPr>
            <p:nvPr/>
          </p:nvSpPr>
          <p:spPr bwMode="auto">
            <a:xfrm>
              <a:off x="2152396" y="2351186"/>
              <a:ext cx="279244" cy="261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100">
                  <a:latin typeface="Times New Roman" pitchFamily="18" charset="0"/>
                  <a:ea typeface="돋움" pitchFamily="50" charset="-127"/>
                </a:rPr>
                <a:t>R</a:t>
              </a:r>
            </a:p>
          </p:txBody>
        </p:sp>
        <p:sp>
          <p:nvSpPr>
            <p:cNvPr id="18" name="Text Box 79"/>
            <p:cNvSpPr txBox="1">
              <a:spLocks noChangeArrowheads="1"/>
            </p:cNvSpPr>
            <p:nvPr/>
          </p:nvSpPr>
          <p:spPr bwMode="auto">
            <a:xfrm>
              <a:off x="2079968" y="2717586"/>
              <a:ext cx="393969" cy="422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latin typeface="Times New Roman" pitchFamily="18" charset="0"/>
                </a:rPr>
                <a:t>  D</a:t>
              </a:r>
            </a:p>
            <a:p>
              <a:pPr>
                <a:defRPr/>
              </a:pPr>
              <a:r>
                <a:rPr lang="en-US" altLang="ko-KR" sz="1050" dirty="0">
                  <a:latin typeface="Times New Roman" pitchFamily="18" charset="0"/>
                </a:rPr>
                <a:t>(</a:t>
              </a:r>
              <a:r>
                <a:rPr lang="en-US" altLang="ko-KR" sz="800" dirty="0" err="1">
                  <a:latin typeface="Times New Roman" pitchFamily="18" charset="0"/>
                </a:rPr>
                <a:t>Ge</a:t>
              </a:r>
              <a:r>
                <a:rPr lang="en-US" altLang="ko-KR" sz="1050" dirty="0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3220" name="Line 80"/>
            <p:cNvSpPr>
              <a:spLocks noChangeShapeType="1"/>
            </p:cNvSpPr>
            <p:nvPr/>
          </p:nvSpPr>
          <p:spPr bwMode="auto">
            <a:xfrm flipV="1">
              <a:off x="1858680" y="2701352"/>
              <a:ext cx="0" cy="42604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3221" name="Group 81"/>
            <p:cNvGrpSpPr>
              <a:grpSpLocks/>
            </p:cNvGrpSpPr>
            <p:nvPr/>
          </p:nvGrpSpPr>
          <p:grpSpPr bwMode="auto">
            <a:xfrm rot="10800000" flipV="1">
              <a:off x="1782341" y="2677350"/>
              <a:ext cx="154742" cy="30003"/>
              <a:chOff x="636" y="3360"/>
              <a:chExt cx="150" cy="30"/>
            </a:xfrm>
          </p:grpSpPr>
          <p:sp>
            <p:nvSpPr>
              <p:cNvPr id="3223" name="Line 82"/>
              <p:cNvSpPr>
                <a:spLocks noChangeShapeType="1"/>
              </p:cNvSpPr>
              <p:nvPr/>
            </p:nvSpPr>
            <p:spPr bwMode="auto">
              <a:xfrm>
                <a:off x="636" y="3360"/>
                <a:ext cx="150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24" name="Line 83"/>
              <p:cNvSpPr>
                <a:spLocks noChangeShapeType="1"/>
              </p:cNvSpPr>
              <p:nvPr/>
            </p:nvSpPr>
            <p:spPr bwMode="auto">
              <a:xfrm>
                <a:off x="660" y="3390"/>
                <a:ext cx="9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21" name="Text Box 85"/>
            <p:cNvSpPr txBox="1">
              <a:spLocks noChangeArrowheads="1"/>
            </p:cNvSpPr>
            <p:nvPr/>
          </p:nvSpPr>
          <p:spPr bwMode="auto">
            <a:xfrm>
              <a:off x="1431826" y="2553981"/>
              <a:ext cx="440038" cy="254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1050" dirty="0">
                  <a:latin typeface="Times New Roman" pitchFamily="18" charset="0"/>
                </a:rPr>
                <a:t>5[V]</a:t>
              </a:r>
            </a:p>
          </p:txBody>
        </p:sp>
      </p:grpSp>
      <p:grpSp>
        <p:nvGrpSpPr>
          <p:cNvPr id="3078" name="그룹 2"/>
          <p:cNvGrpSpPr>
            <a:grpSpLocks/>
          </p:cNvGrpSpPr>
          <p:nvPr/>
        </p:nvGrpSpPr>
        <p:grpSpPr bwMode="auto">
          <a:xfrm>
            <a:off x="1404938" y="3933825"/>
            <a:ext cx="1193800" cy="874713"/>
            <a:chOff x="1405633" y="3862786"/>
            <a:chExt cx="1193183" cy="874190"/>
          </a:xfrm>
        </p:grpSpPr>
        <p:sp>
          <p:nvSpPr>
            <p:cNvPr id="3185" name="Line 75"/>
            <p:cNvSpPr>
              <a:spLocks noChangeShapeType="1"/>
            </p:cNvSpPr>
            <p:nvPr/>
          </p:nvSpPr>
          <p:spPr bwMode="auto">
            <a:xfrm>
              <a:off x="1854814" y="3862786"/>
              <a:ext cx="0" cy="4249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86" name="Line 76"/>
            <p:cNvSpPr>
              <a:spLocks noChangeShapeType="1"/>
            </p:cNvSpPr>
            <p:nvPr/>
          </p:nvSpPr>
          <p:spPr bwMode="auto">
            <a:xfrm>
              <a:off x="1848402" y="3862786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87" name="Line 77"/>
            <p:cNvSpPr>
              <a:spLocks noChangeShapeType="1"/>
            </p:cNvSpPr>
            <p:nvPr/>
          </p:nvSpPr>
          <p:spPr bwMode="auto">
            <a:xfrm>
              <a:off x="2471388" y="3862786"/>
              <a:ext cx="0" cy="12951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3188" name="Group 78"/>
            <p:cNvGrpSpPr>
              <a:grpSpLocks/>
            </p:cNvGrpSpPr>
            <p:nvPr/>
          </p:nvGrpSpPr>
          <p:grpSpPr bwMode="auto">
            <a:xfrm>
              <a:off x="2409410" y="3992296"/>
              <a:ext cx="123956" cy="161887"/>
              <a:chOff x="1488" y="1152"/>
              <a:chExt cx="192" cy="336"/>
            </a:xfrm>
          </p:grpSpPr>
          <p:sp>
            <p:nvSpPr>
              <p:cNvPr id="3202" name="Line 79"/>
              <p:cNvSpPr>
                <a:spLocks noChangeShapeType="1"/>
              </p:cNvSpPr>
              <p:nvPr/>
            </p:nvSpPr>
            <p:spPr bwMode="auto">
              <a:xfrm>
                <a:off x="1584" y="1152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3" name="Line 80"/>
              <p:cNvSpPr>
                <a:spLocks noChangeShapeType="1"/>
              </p:cNvSpPr>
              <p:nvPr/>
            </p:nvSpPr>
            <p:spPr bwMode="auto">
              <a:xfrm flipH="1">
                <a:off x="1488" y="1200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4" name="Line 81"/>
              <p:cNvSpPr>
                <a:spLocks noChangeShapeType="1"/>
              </p:cNvSpPr>
              <p:nvPr/>
            </p:nvSpPr>
            <p:spPr bwMode="auto">
              <a:xfrm>
                <a:off x="1488" y="1248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5" name="Line 82"/>
              <p:cNvSpPr>
                <a:spLocks noChangeShapeType="1"/>
              </p:cNvSpPr>
              <p:nvPr/>
            </p:nvSpPr>
            <p:spPr bwMode="auto">
              <a:xfrm flipH="1">
                <a:off x="1488" y="1296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6" name="Line 83"/>
              <p:cNvSpPr>
                <a:spLocks noChangeShapeType="1"/>
              </p:cNvSpPr>
              <p:nvPr/>
            </p:nvSpPr>
            <p:spPr bwMode="auto">
              <a:xfrm>
                <a:off x="1488" y="1344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7" name="Line 84"/>
              <p:cNvSpPr>
                <a:spLocks noChangeShapeType="1"/>
              </p:cNvSpPr>
              <p:nvPr/>
            </p:nvSpPr>
            <p:spPr bwMode="auto">
              <a:xfrm flipH="1">
                <a:off x="1488" y="1392"/>
                <a:ext cx="192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3208" name="Line 85"/>
              <p:cNvSpPr>
                <a:spLocks noChangeShapeType="1"/>
              </p:cNvSpPr>
              <p:nvPr/>
            </p:nvSpPr>
            <p:spPr bwMode="auto">
              <a:xfrm>
                <a:off x="1488" y="1440"/>
                <a:ext cx="96" cy="4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3189" name="Line 86"/>
            <p:cNvSpPr>
              <a:spLocks noChangeShapeType="1"/>
            </p:cNvSpPr>
            <p:nvPr/>
          </p:nvSpPr>
          <p:spPr bwMode="auto">
            <a:xfrm>
              <a:off x="2471388" y="4154183"/>
              <a:ext cx="0" cy="27925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0" name="AutoShape 87"/>
            <p:cNvSpPr>
              <a:spLocks noChangeArrowheads="1"/>
            </p:cNvSpPr>
            <p:nvPr/>
          </p:nvSpPr>
          <p:spPr bwMode="auto">
            <a:xfrm rot="10800000">
              <a:off x="2389107" y="4433438"/>
              <a:ext cx="164563" cy="80944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ko-KR" altLang="en-US" sz="9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3191" name="Line 88"/>
            <p:cNvSpPr>
              <a:spLocks noChangeShapeType="1"/>
            </p:cNvSpPr>
            <p:nvPr/>
          </p:nvSpPr>
          <p:spPr bwMode="auto">
            <a:xfrm rot="10800000">
              <a:off x="2389107" y="4514381"/>
              <a:ext cx="164563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2" name="Line 89"/>
            <p:cNvSpPr>
              <a:spLocks noChangeShapeType="1"/>
            </p:cNvSpPr>
            <p:nvPr/>
          </p:nvSpPr>
          <p:spPr bwMode="auto">
            <a:xfrm>
              <a:off x="1854814" y="4736976"/>
              <a:ext cx="616575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3" name="Line 90"/>
            <p:cNvSpPr>
              <a:spLocks noChangeShapeType="1"/>
            </p:cNvSpPr>
            <p:nvPr/>
          </p:nvSpPr>
          <p:spPr bwMode="auto">
            <a:xfrm>
              <a:off x="2471388" y="4510334"/>
              <a:ext cx="0" cy="22664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4" name="Text Box 91"/>
            <p:cNvSpPr txBox="1">
              <a:spLocks noChangeArrowheads="1"/>
            </p:cNvSpPr>
            <p:nvPr/>
          </p:nvSpPr>
          <p:spPr bwMode="auto">
            <a:xfrm>
              <a:off x="2120373" y="3924596"/>
              <a:ext cx="204101" cy="194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1400">
                  <a:latin typeface="Times New Roman" pitchFamily="18" charset="0"/>
                  <a:ea typeface="돋움" pitchFamily="50" charset="-127"/>
                </a:rPr>
                <a:t>R</a:t>
              </a:r>
            </a:p>
          </p:txBody>
        </p:sp>
        <p:sp>
          <p:nvSpPr>
            <p:cNvPr id="3195" name="Line 92"/>
            <p:cNvSpPr>
              <a:spLocks noChangeShapeType="1"/>
            </p:cNvSpPr>
            <p:nvPr/>
          </p:nvSpPr>
          <p:spPr bwMode="auto">
            <a:xfrm flipV="1">
              <a:off x="1854814" y="4318093"/>
              <a:ext cx="0" cy="41888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6" name="Line 93"/>
            <p:cNvSpPr>
              <a:spLocks noChangeShapeType="1"/>
            </p:cNvSpPr>
            <p:nvPr/>
          </p:nvSpPr>
          <p:spPr bwMode="auto">
            <a:xfrm>
              <a:off x="1775738" y="4283692"/>
              <a:ext cx="160288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7" name="Line 94"/>
            <p:cNvSpPr>
              <a:spLocks noChangeShapeType="1"/>
            </p:cNvSpPr>
            <p:nvPr/>
          </p:nvSpPr>
          <p:spPr bwMode="auto">
            <a:xfrm>
              <a:off x="1801384" y="4314046"/>
              <a:ext cx="102584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8" name="Line 98"/>
            <p:cNvSpPr>
              <a:spLocks noChangeShapeType="1"/>
            </p:cNvSpPr>
            <p:nvPr/>
          </p:nvSpPr>
          <p:spPr bwMode="auto">
            <a:xfrm rot="10800000" flipH="1" flipV="1">
              <a:off x="2341172" y="4467992"/>
              <a:ext cx="51292" cy="485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99" name="Text Box 99"/>
            <p:cNvSpPr txBox="1">
              <a:spLocks noChangeArrowheads="1"/>
            </p:cNvSpPr>
            <p:nvPr/>
          </p:nvSpPr>
          <p:spPr bwMode="auto">
            <a:xfrm>
              <a:off x="2008690" y="4324164"/>
              <a:ext cx="394309" cy="2913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itchFamily="18" charset="0"/>
                  <a:ea typeface="돋움" pitchFamily="50" charset="-127"/>
                </a:rPr>
                <a:t>  ZD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itchFamily="18" charset="0"/>
                  <a:ea typeface="돋움" pitchFamily="50" charset="-127"/>
                </a:rPr>
                <a:t>(9.1V)</a:t>
              </a:r>
            </a:p>
          </p:txBody>
        </p:sp>
        <p:sp>
          <p:nvSpPr>
            <p:cNvPr id="3200" name="Text Box 100"/>
            <p:cNvSpPr txBox="1">
              <a:spLocks noChangeArrowheads="1"/>
            </p:cNvSpPr>
            <p:nvPr/>
          </p:nvSpPr>
          <p:spPr bwMode="auto">
            <a:xfrm>
              <a:off x="1405633" y="4171317"/>
              <a:ext cx="368663" cy="1750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latin typeface="Times New Roman" pitchFamily="18" charset="0"/>
                  <a:ea typeface="돋움" pitchFamily="50" charset="-127"/>
                </a:rPr>
                <a:t>12[V]</a:t>
              </a:r>
            </a:p>
          </p:txBody>
        </p:sp>
        <p:sp>
          <p:nvSpPr>
            <p:cNvPr id="3201" name="Line 98"/>
            <p:cNvSpPr>
              <a:spLocks noChangeShapeType="1"/>
            </p:cNvSpPr>
            <p:nvPr/>
          </p:nvSpPr>
          <p:spPr bwMode="auto">
            <a:xfrm rot="10800000" flipH="1" flipV="1">
              <a:off x="2547524" y="4514368"/>
              <a:ext cx="51292" cy="456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grpSp>
        <p:nvGrpSpPr>
          <p:cNvPr id="3079" name="그룹 185"/>
          <p:cNvGrpSpPr>
            <a:grpSpLocks/>
          </p:cNvGrpSpPr>
          <p:nvPr/>
        </p:nvGrpSpPr>
        <p:grpSpPr bwMode="auto">
          <a:xfrm>
            <a:off x="381000" y="5384800"/>
            <a:ext cx="2679700" cy="1709738"/>
            <a:chOff x="381444" y="4615820"/>
            <a:chExt cx="2679743" cy="1709539"/>
          </a:xfrm>
        </p:grpSpPr>
        <p:grpSp>
          <p:nvGrpSpPr>
            <p:cNvPr id="3081" name="Group 45"/>
            <p:cNvGrpSpPr>
              <a:grpSpLocks/>
            </p:cNvGrpSpPr>
            <p:nvPr/>
          </p:nvGrpSpPr>
          <p:grpSpPr bwMode="auto">
            <a:xfrm>
              <a:off x="694412" y="4615820"/>
              <a:ext cx="2366775" cy="1489977"/>
              <a:chOff x="815" y="998"/>
              <a:chExt cx="2305" cy="1760"/>
            </a:xfrm>
          </p:grpSpPr>
          <p:sp>
            <p:nvSpPr>
              <p:cNvPr id="3084" name="Rectangle 46"/>
              <p:cNvSpPr>
                <a:spLocks noChangeArrowheads="1"/>
              </p:cNvSpPr>
              <p:nvPr/>
            </p:nvSpPr>
            <p:spPr bwMode="auto">
              <a:xfrm>
                <a:off x="2890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85" name="Rectangle 47"/>
              <p:cNvSpPr>
                <a:spLocks noChangeArrowheads="1"/>
              </p:cNvSpPr>
              <p:nvPr/>
            </p:nvSpPr>
            <p:spPr bwMode="auto">
              <a:xfrm>
                <a:off x="2659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86" name="Rectangle 48"/>
              <p:cNvSpPr>
                <a:spLocks noChangeArrowheads="1"/>
              </p:cNvSpPr>
              <p:nvPr/>
            </p:nvSpPr>
            <p:spPr bwMode="auto">
              <a:xfrm>
                <a:off x="2429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87" name="Rectangle 49"/>
              <p:cNvSpPr>
                <a:spLocks noChangeArrowheads="1"/>
              </p:cNvSpPr>
              <p:nvPr/>
            </p:nvSpPr>
            <p:spPr bwMode="auto">
              <a:xfrm>
                <a:off x="2198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88" name="Rectangle 50"/>
              <p:cNvSpPr>
                <a:spLocks noChangeArrowheads="1"/>
              </p:cNvSpPr>
              <p:nvPr/>
            </p:nvSpPr>
            <p:spPr bwMode="auto">
              <a:xfrm>
                <a:off x="196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89" name="Rectangle 51"/>
              <p:cNvSpPr>
                <a:spLocks noChangeArrowheads="1"/>
              </p:cNvSpPr>
              <p:nvPr/>
            </p:nvSpPr>
            <p:spPr bwMode="auto">
              <a:xfrm>
                <a:off x="1738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0" name="Rectangle 52"/>
              <p:cNvSpPr>
                <a:spLocks noChangeArrowheads="1"/>
              </p:cNvSpPr>
              <p:nvPr/>
            </p:nvSpPr>
            <p:spPr bwMode="auto">
              <a:xfrm>
                <a:off x="1507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1" name="Rectangle 53"/>
              <p:cNvSpPr>
                <a:spLocks noChangeArrowheads="1"/>
              </p:cNvSpPr>
              <p:nvPr/>
            </p:nvSpPr>
            <p:spPr bwMode="auto">
              <a:xfrm>
                <a:off x="1277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2" name="Rectangle 54"/>
              <p:cNvSpPr>
                <a:spLocks noChangeArrowheads="1"/>
              </p:cNvSpPr>
              <p:nvPr/>
            </p:nvSpPr>
            <p:spPr bwMode="auto">
              <a:xfrm>
                <a:off x="1046" y="25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3" name="Rectangle 55"/>
              <p:cNvSpPr>
                <a:spLocks noChangeArrowheads="1"/>
              </p:cNvSpPr>
              <p:nvPr/>
            </p:nvSpPr>
            <p:spPr bwMode="auto">
              <a:xfrm>
                <a:off x="816" y="25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4" name="Rectangle 56"/>
              <p:cNvSpPr>
                <a:spLocks noChangeArrowheads="1"/>
              </p:cNvSpPr>
              <p:nvPr/>
            </p:nvSpPr>
            <p:spPr bwMode="auto">
              <a:xfrm>
                <a:off x="2890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5" name="Rectangle 57"/>
              <p:cNvSpPr>
                <a:spLocks noChangeArrowheads="1"/>
              </p:cNvSpPr>
              <p:nvPr/>
            </p:nvSpPr>
            <p:spPr bwMode="auto">
              <a:xfrm>
                <a:off x="2659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6" name="Rectangle 58"/>
              <p:cNvSpPr>
                <a:spLocks noChangeArrowheads="1"/>
              </p:cNvSpPr>
              <p:nvPr/>
            </p:nvSpPr>
            <p:spPr bwMode="auto">
              <a:xfrm>
                <a:off x="2429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7" name="Rectangle 59"/>
              <p:cNvSpPr>
                <a:spLocks noChangeArrowheads="1"/>
              </p:cNvSpPr>
              <p:nvPr/>
            </p:nvSpPr>
            <p:spPr bwMode="auto">
              <a:xfrm>
                <a:off x="2198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8" name="Rectangle 60"/>
              <p:cNvSpPr>
                <a:spLocks noChangeArrowheads="1"/>
              </p:cNvSpPr>
              <p:nvPr/>
            </p:nvSpPr>
            <p:spPr bwMode="auto">
              <a:xfrm>
                <a:off x="196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099" name="Rectangle 61"/>
              <p:cNvSpPr>
                <a:spLocks noChangeArrowheads="1"/>
              </p:cNvSpPr>
              <p:nvPr/>
            </p:nvSpPr>
            <p:spPr bwMode="auto">
              <a:xfrm>
                <a:off x="1738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0" name="Rectangle 62"/>
              <p:cNvSpPr>
                <a:spLocks noChangeArrowheads="1"/>
              </p:cNvSpPr>
              <p:nvPr/>
            </p:nvSpPr>
            <p:spPr bwMode="auto">
              <a:xfrm>
                <a:off x="1507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1" name="Rectangle 63"/>
              <p:cNvSpPr>
                <a:spLocks noChangeArrowheads="1"/>
              </p:cNvSpPr>
              <p:nvPr/>
            </p:nvSpPr>
            <p:spPr bwMode="auto">
              <a:xfrm>
                <a:off x="1277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2" name="Rectangle 64"/>
              <p:cNvSpPr>
                <a:spLocks noChangeArrowheads="1"/>
              </p:cNvSpPr>
              <p:nvPr/>
            </p:nvSpPr>
            <p:spPr bwMode="auto">
              <a:xfrm>
                <a:off x="1046" y="23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3" name="Rectangle 65"/>
              <p:cNvSpPr>
                <a:spLocks noChangeArrowheads="1"/>
              </p:cNvSpPr>
              <p:nvPr/>
            </p:nvSpPr>
            <p:spPr bwMode="auto">
              <a:xfrm>
                <a:off x="816" y="23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4" name="Rectangle 66"/>
              <p:cNvSpPr>
                <a:spLocks noChangeArrowheads="1"/>
              </p:cNvSpPr>
              <p:nvPr/>
            </p:nvSpPr>
            <p:spPr bwMode="auto">
              <a:xfrm>
                <a:off x="2890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5" name="Rectangle 67"/>
              <p:cNvSpPr>
                <a:spLocks noChangeArrowheads="1"/>
              </p:cNvSpPr>
              <p:nvPr/>
            </p:nvSpPr>
            <p:spPr bwMode="auto">
              <a:xfrm>
                <a:off x="2659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6" name="Rectangle 68"/>
              <p:cNvSpPr>
                <a:spLocks noChangeArrowheads="1"/>
              </p:cNvSpPr>
              <p:nvPr/>
            </p:nvSpPr>
            <p:spPr bwMode="auto">
              <a:xfrm>
                <a:off x="2429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7" name="Rectangle 69"/>
              <p:cNvSpPr>
                <a:spLocks noChangeArrowheads="1"/>
              </p:cNvSpPr>
              <p:nvPr/>
            </p:nvSpPr>
            <p:spPr bwMode="auto">
              <a:xfrm>
                <a:off x="2198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8" name="Rectangle 70"/>
              <p:cNvSpPr>
                <a:spLocks noChangeArrowheads="1"/>
              </p:cNvSpPr>
              <p:nvPr/>
            </p:nvSpPr>
            <p:spPr bwMode="auto">
              <a:xfrm>
                <a:off x="196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09" name="Rectangle 71"/>
              <p:cNvSpPr>
                <a:spLocks noChangeArrowheads="1"/>
              </p:cNvSpPr>
              <p:nvPr/>
            </p:nvSpPr>
            <p:spPr bwMode="auto">
              <a:xfrm>
                <a:off x="1738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0" name="Rectangle 72"/>
              <p:cNvSpPr>
                <a:spLocks noChangeArrowheads="1"/>
              </p:cNvSpPr>
              <p:nvPr/>
            </p:nvSpPr>
            <p:spPr bwMode="auto">
              <a:xfrm>
                <a:off x="1507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1" name="Rectangle 73"/>
              <p:cNvSpPr>
                <a:spLocks noChangeArrowheads="1"/>
              </p:cNvSpPr>
              <p:nvPr/>
            </p:nvSpPr>
            <p:spPr bwMode="auto">
              <a:xfrm>
                <a:off x="1277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2" name="Rectangle 74"/>
              <p:cNvSpPr>
                <a:spLocks noChangeArrowheads="1"/>
              </p:cNvSpPr>
              <p:nvPr/>
            </p:nvSpPr>
            <p:spPr bwMode="auto">
              <a:xfrm>
                <a:off x="1046" y="20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3" name="Rectangle 75"/>
              <p:cNvSpPr>
                <a:spLocks noChangeArrowheads="1"/>
              </p:cNvSpPr>
              <p:nvPr/>
            </p:nvSpPr>
            <p:spPr bwMode="auto">
              <a:xfrm>
                <a:off x="816" y="20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4" name="Rectangle 76"/>
              <p:cNvSpPr>
                <a:spLocks noChangeArrowheads="1"/>
              </p:cNvSpPr>
              <p:nvPr/>
            </p:nvSpPr>
            <p:spPr bwMode="auto">
              <a:xfrm>
                <a:off x="2890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5" name="Rectangle 77"/>
              <p:cNvSpPr>
                <a:spLocks noChangeArrowheads="1"/>
              </p:cNvSpPr>
              <p:nvPr/>
            </p:nvSpPr>
            <p:spPr bwMode="auto">
              <a:xfrm>
                <a:off x="2659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6" name="Rectangle 78"/>
              <p:cNvSpPr>
                <a:spLocks noChangeArrowheads="1"/>
              </p:cNvSpPr>
              <p:nvPr/>
            </p:nvSpPr>
            <p:spPr bwMode="auto">
              <a:xfrm>
                <a:off x="2429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7" name="Rectangle 79"/>
              <p:cNvSpPr>
                <a:spLocks noChangeArrowheads="1"/>
              </p:cNvSpPr>
              <p:nvPr/>
            </p:nvSpPr>
            <p:spPr bwMode="auto">
              <a:xfrm>
                <a:off x="2198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8" name="Rectangle 80"/>
              <p:cNvSpPr>
                <a:spLocks noChangeArrowheads="1"/>
              </p:cNvSpPr>
              <p:nvPr/>
            </p:nvSpPr>
            <p:spPr bwMode="auto">
              <a:xfrm>
                <a:off x="196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19" name="Rectangle 81"/>
              <p:cNvSpPr>
                <a:spLocks noChangeArrowheads="1"/>
              </p:cNvSpPr>
              <p:nvPr/>
            </p:nvSpPr>
            <p:spPr bwMode="auto">
              <a:xfrm>
                <a:off x="1738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0" name="Rectangle 82"/>
              <p:cNvSpPr>
                <a:spLocks noChangeArrowheads="1"/>
              </p:cNvSpPr>
              <p:nvPr/>
            </p:nvSpPr>
            <p:spPr bwMode="auto">
              <a:xfrm>
                <a:off x="1507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1" name="Rectangle 83"/>
              <p:cNvSpPr>
                <a:spLocks noChangeArrowheads="1"/>
              </p:cNvSpPr>
              <p:nvPr/>
            </p:nvSpPr>
            <p:spPr bwMode="auto">
              <a:xfrm>
                <a:off x="1277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2" name="Rectangle 84"/>
              <p:cNvSpPr>
                <a:spLocks noChangeArrowheads="1"/>
              </p:cNvSpPr>
              <p:nvPr/>
            </p:nvSpPr>
            <p:spPr bwMode="auto">
              <a:xfrm>
                <a:off x="1046" y="187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3" name="Rectangle 85"/>
              <p:cNvSpPr>
                <a:spLocks noChangeArrowheads="1"/>
              </p:cNvSpPr>
              <p:nvPr/>
            </p:nvSpPr>
            <p:spPr bwMode="auto">
              <a:xfrm>
                <a:off x="816" y="187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4" name="Rectangle 86"/>
              <p:cNvSpPr>
                <a:spLocks noChangeArrowheads="1"/>
              </p:cNvSpPr>
              <p:nvPr/>
            </p:nvSpPr>
            <p:spPr bwMode="auto">
              <a:xfrm>
                <a:off x="2890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5" name="Rectangle 87"/>
              <p:cNvSpPr>
                <a:spLocks noChangeArrowheads="1"/>
              </p:cNvSpPr>
              <p:nvPr/>
            </p:nvSpPr>
            <p:spPr bwMode="auto">
              <a:xfrm>
                <a:off x="2659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6" name="Rectangle 88"/>
              <p:cNvSpPr>
                <a:spLocks noChangeArrowheads="1"/>
              </p:cNvSpPr>
              <p:nvPr/>
            </p:nvSpPr>
            <p:spPr bwMode="auto">
              <a:xfrm>
                <a:off x="2429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7" name="Rectangle 89"/>
              <p:cNvSpPr>
                <a:spLocks noChangeArrowheads="1"/>
              </p:cNvSpPr>
              <p:nvPr/>
            </p:nvSpPr>
            <p:spPr bwMode="auto">
              <a:xfrm>
                <a:off x="2198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8" name="Rectangle 90"/>
              <p:cNvSpPr>
                <a:spLocks noChangeArrowheads="1"/>
              </p:cNvSpPr>
              <p:nvPr/>
            </p:nvSpPr>
            <p:spPr bwMode="auto">
              <a:xfrm>
                <a:off x="196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29" name="Rectangle 91"/>
              <p:cNvSpPr>
                <a:spLocks noChangeArrowheads="1"/>
              </p:cNvSpPr>
              <p:nvPr/>
            </p:nvSpPr>
            <p:spPr bwMode="auto">
              <a:xfrm>
                <a:off x="1738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0" name="Rectangle 92"/>
              <p:cNvSpPr>
                <a:spLocks noChangeArrowheads="1"/>
              </p:cNvSpPr>
              <p:nvPr/>
            </p:nvSpPr>
            <p:spPr bwMode="auto">
              <a:xfrm>
                <a:off x="1507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1" name="Rectangle 93"/>
              <p:cNvSpPr>
                <a:spLocks noChangeArrowheads="1"/>
              </p:cNvSpPr>
              <p:nvPr/>
            </p:nvSpPr>
            <p:spPr bwMode="auto">
              <a:xfrm>
                <a:off x="1277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2" name="Rectangle 94"/>
              <p:cNvSpPr>
                <a:spLocks noChangeArrowheads="1"/>
              </p:cNvSpPr>
              <p:nvPr/>
            </p:nvSpPr>
            <p:spPr bwMode="auto">
              <a:xfrm>
                <a:off x="1046" y="165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3" name="Rectangle 95"/>
              <p:cNvSpPr>
                <a:spLocks noChangeArrowheads="1"/>
              </p:cNvSpPr>
              <p:nvPr/>
            </p:nvSpPr>
            <p:spPr bwMode="auto">
              <a:xfrm>
                <a:off x="816" y="165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4" name="Rectangle 96"/>
              <p:cNvSpPr>
                <a:spLocks noChangeArrowheads="1"/>
              </p:cNvSpPr>
              <p:nvPr/>
            </p:nvSpPr>
            <p:spPr bwMode="auto">
              <a:xfrm>
                <a:off x="2890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5" name="Rectangle 97"/>
              <p:cNvSpPr>
                <a:spLocks noChangeArrowheads="1"/>
              </p:cNvSpPr>
              <p:nvPr/>
            </p:nvSpPr>
            <p:spPr bwMode="auto">
              <a:xfrm>
                <a:off x="2659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6" name="Rectangle 98"/>
              <p:cNvSpPr>
                <a:spLocks noChangeArrowheads="1"/>
              </p:cNvSpPr>
              <p:nvPr/>
            </p:nvSpPr>
            <p:spPr bwMode="auto">
              <a:xfrm>
                <a:off x="2429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7" name="Rectangle 99"/>
              <p:cNvSpPr>
                <a:spLocks noChangeArrowheads="1"/>
              </p:cNvSpPr>
              <p:nvPr/>
            </p:nvSpPr>
            <p:spPr bwMode="auto">
              <a:xfrm>
                <a:off x="2198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8" name="Rectangle 100"/>
              <p:cNvSpPr>
                <a:spLocks noChangeArrowheads="1"/>
              </p:cNvSpPr>
              <p:nvPr/>
            </p:nvSpPr>
            <p:spPr bwMode="auto">
              <a:xfrm>
                <a:off x="196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39" name="Rectangle 101"/>
              <p:cNvSpPr>
                <a:spLocks noChangeArrowheads="1"/>
              </p:cNvSpPr>
              <p:nvPr/>
            </p:nvSpPr>
            <p:spPr bwMode="auto">
              <a:xfrm>
                <a:off x="1738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0" name="Rectangle 102"/>
              <p:cNvSpPr>
                <a:spLocks noChangeArrowheads="1"/>
              </p:cNvSpPr>
              <p:nvPr/>
            </p:nvSpPr>
            <p:spPr bwMode="auto">
              <a:xfrm>
                <a:off x="1507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1" name="Rectangle 103"/>
              <p:cNvSpPr>
                <a:spLocks noChangeArrowheads="1"/>
              </p:cNvSpPr>
              <p:nvPr/>
            </p:nvSpPr>
            <p:spPr bwMode="auto">
              <a:xfrm>
                <a:off x="1277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2" name="Rectangle 104"/>
              <p:cNvSpPr>
                <a:spLocks noChangeArrowheads="1"/>
              </p:cNvSpPr>
              <p:nvPr/>
            </p:nvSpPr>
            <p:spPr bwMode="auto">
              <a:xfrm>
                <a:off x="1046" y="143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3" name="Rectangle 105"/>
              <p:cNvSpPr>
                <a:spLocks noChangeArrowheads="1"/>
              </p:cNvSpPr>
              <p:nvPr/>
            </p:nvSpPr>
            <p:spPr bwMode="auto">
              <a:xfrm>
                <a:off x="816" y="143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4" name="Rectangle 106"/>
              <p:cNvSpPr>
                <a:spLocks noChangeArrowheads="1"/>
              </p:cNvSpPr>
              <p:nvPr/>
            </p:nvSpPr>
            <p:spPr bwMode="auto">
              <a:xfrm>
                <a:off x="2890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5" name="Rectangle 107"/>
              <p:cNvSpPr>
                <a:spLocks noChangeArrowheads="1"/>
              </p:cNvSpPr>
              <p:nvPr/>
            </p:nvSpPr>
            <p:spPr bwMode="auto">
              <a:xfrm>
                <a:off x="2659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6" name="Rectangle 108"/>
              <p:cNvSpPr>
                <a:spLocks noChangeArrowheads="1"/>
              </p:cNvSpPr>
              <p:nvPr/>
            </p:nvSpPr>
            <p:spPr bwMode="auto">
              <a:xfrm>
                <a:off x="2429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7" name="Rectangle 109"/>
              <p:cNvSpPr>
                <a:spLocks noChangeArrowheads="1"/>
              </p:cNvSpPr>
              <p:nvPr/>
            </p:nvSpPr>
            <p:spPr bwMode="auto">
              <a:xfrm>
                <a:off x="2198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8" name="Rectangle 110"/>
              <p:cNvSpPr>
                <a:spLocks noChangeArrowheads="1"/>
              </p:cNvSpPr>
              <p:nvPr/>
            </p:nvSpPr>
            <p:spPr bwMode="auto">
              <a:xfrm>
                <a:off x="196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49" name="Rectangle 111"/>
              <p:cNvSpPr>
                <a:spLocks noChangeArrowheads="1"/>
              </p:cNvSpPr>
              <p:nvPr/>
            </p:nvSpPr>
            <p:spPr bwMode="auto">
              <a:xfrm>
                <a:off x="1738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0" name="Rectangle 112"/>
              <p:cNvSpPr>
                <a:spLocks noChangeArrowheads="1"/>
              </p:cNvSpPr>
              <p:nvPr/>
            </p:nvSpPr>
            <p:spPr bwMode="auto">
              <a:xfrm>
                <a:off x="1507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1" name="Rectangle 113"/>
              <p:cNvSpPr>
                <a:spLocks noChangeArrowheads="1"/>
              </p:cNvSpPr>
              <p:nvPr/>
            </p:nvSpPr>
            <p:spPr bwMode="auto">
              <a:xfrm>
                <a:off x="1277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2" name="Rectangle 114"/>
              <p:cNvSpPr>
                <a:spLocks noChangeArrowheads="1"/>
              </p:cNvSpPr>
              <p:nvPr/>
            </p:nvSpPr>
            <p:spPr bwMode="auto">
              <a:xfrm>
                <a:off x="1046" y="121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3" name="Rectangle 115"/>
              <p:cNvSpPr>
                <a:spLocks noChangeArrowheads="1"/>
              </p:cNvSpPr>
              <p:nvPr/>
            </p:nvSpPr>
            <p:spPr bwMode="auto">
              <a:xfrm>
                <a:off x="816" y="121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4" name="Rectangle 116"/>
              <p:cNvSpPr>
                <a:spLocks noChangeArrowheads="1"/>
              </p:cNvSpPr>
              <p:nvPr/>
            </p:nvSpPr>
            <p:spPr bwMode="auto">
              <a:xfrm>
                <a:off x="2890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5" name="Rectangle 117"/>
              <p:cNvSpPr>
                <a:spLocks noChangeArrowheads="1"/>
              </p:cNvSpPr>
              <p:nvPr/>
            </p:nvSpPr>
            <p:spPr bwMode="auto">
              <a:xfrm>
                <a:off x="2659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6" name="Rectangle 118"/>
              <p:cNvSpPr>
                <a:spLocks noChangeArrowheads="1"/>
              </p:cNvSpPr>
              <p:nvPr/>
            </p:nvSpPr>
            <p:spPr bwMode="auto">
              <a:xfrm>
                <a:off x="2429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7" name="Rectangle 119"/>
              <p:cNvSpPr>
                <a:spLocks noChangeArrowheads="1"/>
              </p:cNvSpPr>
              <p:nvPr/>
            </p:nvSpPr>
            <p:spPr bwMode="auto">
              <a:xfrm>
                <a:off x="2198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8" name="Rectangle 120"/>
              <p:cNvSpPr>
                <a:spLocks noChangeArrowheads="1"/>
              </p:cNvSpPr>
              <p:nvPr/>
            </p:nvSpPr>
            <p:spPr bwMode="auto">
              <a:xfrm>
                <a:off x="196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59" name="Rectangle 121"/>
              <p:cNvSpPr>
                <a:spLocks noChangeArrowheads="1"/>
              </p:cNvSpPr>
              <p:nvPr/>
            </p:nvSpPr>
            <p:spPr bwMode="auto">
              <a:xfrm>
                <a:off x="1738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60" name="Rectangle 122"/>
              <p:cNvSpPr>
                <a:spLocks noChangeArrowheads="1"/>
              </p:cNvSpPr>
              <p:nvPr/>
            </p:nvSpPr>
            <p:spPr bwMode="auto">
              <a:xfrm>
                <a:off x="1507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61" name="Rectangle 123"/>
              <p:cNvSpPr>
                <a:spLocks noChangeArrowheads="1"/>
              </p:cNvSpPr>
              <p:nvPr/>
            </p:nvSpPr>
            <p:spPr bwMode="auto">
              <a:xfrm>
                <a:off x="1277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62" name="Rectangle 124"/>
              <p:cNvSpPr>
                <a:spLocks noChangeArrowheads="1"/>
              </p:cNvSpPr>
              <p:nvPr/>
            </p:nvSpPr>
            <p:spPr bwMode="auto">
              <a:xfrm>
                <a:off x="1046" y="998"/>
                <a:ext cx="231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63" name="Rectangle 125"/>
              <p:cNvSpPr>
                <a:spLocks noChangeArrowheads="1"/>
              </p:cNvSpPr>
              <p:nvPr/>
            </p:nvSpPr>
            <p:spPr bwMode="auto">
              <a:xfrm>
                <a:off x="816" y="998"/>
                <a:ext cx="230" cy="220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algn="r" eaLnBrk="1" latinLnBrk="0" hangingPunct="1">
                  <a:lnSpc>
                    <a:spcPct val="120000"/>
                  </a:lnSpc>
                  <a:spcBef>
                    <a:spcPct val="0"/>
                  </a:spcBef>
                  <a:buFontTx/>
                  <a:buNone/>
                </a:pPr>
                <a:endParaRPr lang="ko-KR" altLang="en-US" sz="1200"/>
              </a:p>
            </p:txBody>
          </p:sp>
          <p:sp>
            <p:nvSpPr>
              <p:cNvPr id="3164" name="Line 126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65" name="Line 127"/>
              <p:cNvSpPr>
                <a:spLocks noChangeShapeType="1"/>
              </p:cNvSpPr>
              <p:nvPr/>
            </p:nvSpPr>
            <p:spPr bwMode="auto">
              <a:xfrm>
                <a:off x="816" y="12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66" name="Line 128"/>
              <p:cNvSpPr>
                <a:spLocks noChangeShapeType="1"/>
              </p:cNvSpPr>
              <p:nvPr/>
            </p:nvSpPr>
            <p:spPr bwMode="auto">
              <a:xfrm>
                <a:off x="816" y="14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67" name="Line 129"/>
              <p:cNvSpPr>
                <a:spLocks noChangeShapeType="1"/>
              </p:cNvSpPr>
              <p:nvPr/>
            </p:nvSpPr>
            <p:spPr bwMode="auto">
              <a:xfrm>
                <a:off x="816" y="187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68" name="Line 130"/>
              <p:cNvSpPr>
                <a:spLocks noChangeShapeType="1"/>
              </p:cNvSpPr>
              <p:nvPr/>
            </p:nvSpPr>
            <p:spPr bwMode="auto">
              <a:xfrm>
                <a:off x="816" y="231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69" name="Line 131"/>
              <p:cNvSpPr>
                <a:spLocks noChangeShapeType="1"/>
              </p:cNvSpPr>
              <p:nvPr/>
            </p:nvSpPr>
            <p:spPr bwMode="auto">
              <a:xfrm>
                <a:off x="816" y="2538"/>
                <a:ext cx="2304" cy="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0" name="Line 132"/>
              <p:cNvSpPr>
                <a:spLocks noChangeShapeType="1"/>
              </p:cNvSpPr>
              <p:nvPr/>
            </p:nvSpPr>
            <p:spPr bwMode="auto">
              <a:xfrm>
                <a:off x="816" y="27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1" name="Line 133"/>
              <p:cNvSpPr>
                <a:spLocks noChangeShapeType="1"/>
              </p:cNvSpPr>
              <p:nvPr/>
            </p:nvSpPr>
            <p:spPr bwMode="auto">
              <a:xfrm>
                <a:off x="816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2" name="Line 134"/>
              <p:cNvSpPr>
                <a:spLocks noChangeShapeType="1"/>
              </p:cNvSpPr>
              <p:nvPr/>
            </p:nvSpPr>
            <p:spPr bwMode="auto">
              <a:xfrm>
                <a:off x="1046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3" name="Line 135"/>
              <p:cNvSpPr>
                <a:spLocks noChangeShapeType="1"/>
              </p:cNvSpPr>
              <p:nvPr/>
            </p:nvSpPr>
            <p:spPr bwMode="auto">
              <a:xfrm>
                <a:off x="127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4" name="Line 136"/>
              <p:cNvSpPr>
                <a:spLocks noChangeShapeType="1"/>
              </p:cNvSpPr>
              <p:nvPr/>
            </p:nvSpPr>
            <p:spPr bwMode="auto">
              <a:xfrm>
                <a:off x="1507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5" name="Line 137"/>
              <p:cNvSpPr>
                <a:spLocks noChangeShapeType="1"/>
              </p:cNvSpPr>
              <p:nvPr/>
            </p:nvSpPr>
            <p:spPr bwMode="auto">
              <a:xfrm>
                <a:off x="1968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6" name="Line 138"/>
              <p:cNvSpPr>
                <a:spLocks noChangeShapeType="1"/>
              </p:cNvSpPr>
              <p:nvPr/>
            </p:nvSpPr>
            <p:spPr bwMode="auto">
              <a:xfrm>
                <a:off x="242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7" name="Line 139"/>
              <p:cNvSpPr>
                <a:spLocks noChangeShapeType="1"/>
              </p:cNvSpPr>
              <p:nvPr/>
            </p:nvSpPr>
            <p:spPr bwMode="auto">
              <a:xfrm>
                <a:off x="2659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8" name="Line 140"/>
              <p:cNvSpPr>
                <a:spLocks noChangeShapeType="1"/>
              </p:cNvSpPr>
              <p:nvPr/>
            </p:nvSpPr>
            <p:spPr bwMode="auto">
              <a:xfrm>
                <a:off x="2890" y="998"/>
                <a:ext cx="0" cy="17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79" name="Line 141"/>
              <p:cNvSpPr>
                <a:spLocks noChangeShapeType="1"/>
              </p:cNvSpPr>
              <p:nvPr/>
            </p:nvSpPr>
            <p:spPr bwMode="auto">
              <a:xfrm>
                <a:off x="3120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80" name="Line 142"/>
              <p:cNvSpPr>
                <a:spLocks noChangeShapeType="1"/>
              </p:cNvSpPr>
              <p:nvPr/>
            </p:nvSpPr>
            <p:spPr bwMode="auto">
              <a:xfrm>
                <a:off x="816" y="165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81" name="Line 143"/>
              <p:cNvSpPr>
                <a:spLocks noChangeShapeType="1"/>
              </p:cNvSpPr>
              <p:nvPr/>
            </p:nvSpPr>
            <p:spPr bwMode="auto">
              <a:xfrm>
                <a:off x="816" y="2098"/>
                <a:ext cx="2304" cy="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82" name="Line 144"/>
              <p:cNvSpPr>
                <a:spLocks noChangeShapeType="1"/>
              </p:cNvSpPr>
              <p:nvPr/>
            </p:nvSpPr>
            <p:spPr bwMode="auto">
              <a:xfrm>
                <a:off x="173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83" name="Line 145"/>
              <p:cNvSpPr>
                <a:spLocks noChangeShapeType="1"/>
              </p:cNvSpPr>
              <p:nvPr/>
            </p:nvSpPr>
            <p:spPr bwMode="auto">
              <a:xfrm>
                <a:off x="2198" y="998"/>
                <a:ext cx="0" cy="1760"/>
              </a:xfrm>
              <a:prstGeom prst="line">
                <a:avLst/>
              </a:prstGeom>
              <a:noFill/>
              <a:ln w="12700" cap="sq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  <p:sp>
            <p:nvSpPr>
              <p:cNvPr id="3184" name="Freeform 146"/>
              <p:cNvSpPr>
                <a:spLocks/>
              </p:cNvSpPr>
              <p:nvPr/>
            </p:nvSpPr>
            <p:spPr bwMode="auto">
              <a:xfrm>
                <a:off x="815" y="1116"/>
                <a:ext cx="2305" cy="1418"/>
              </a:xfrm>
              <a:custGeom>
                <a:avLst/>
                <a:gdLst>
                  <a:gd name="T0" fmla="*/ 0 w 2305"/>
                  <a:gd name="T1" fmla="*/ 9 h 1910"/>
                  <a:gd name="T2" fmla="*/ 270 w 2305"/>
                  <a:gd name="T3" fmla="*/ 1 h 1910"/>
                  <a:gd name="T4" fmla="*/ 696 w 2305"/>
                  <a:gd name="T5" fmla="*/ 16 h 1910"/>
                  <a:gd name="T6" fmla="*/ 1160 w 2305"/>
                  <a:gd name="T7" fmla="*/ 1 h 1910"/>
                  <a:gd name="T8" fmla="*/ 1609 w 2305"/>
                  <a:gd name="T9" fmla="*/ 16 h 1910"/>
                  <a:gd name="T10" fmla="*/ 2035 w 2305"/>
                  <a:gd name="T11" fmla="*/ 1 h 1910"/>
                  <a:gd name="T12" fmla="*/ 2305 w 2305"/>
                  <a:gd name="T13" fmla="*/ 9 h 19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2305"/>
                  <a:gd name="T22" fmla="*/ 0 h 1910"/>
                  <a:gd name="T23" fmla="*/ 2305 w 2305"/>
                  <a:gd name="T24" fmla="*/ 1910 h 19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2305" h="1910">
                    <a:moveTo>
                      <a:pt x="0" y="1006"/>
                    </a:moveTo>
                    <a:cubicBezTo>
                      <a:pt x="45" y="864"/>
                      <a:pt x="154" y="0"/>
                      <a:pt x="270" y="151"/>
                    </a:cubicBezTo>
                    <a:cubicBezTo>
                      <a:pt x="386" y="302"/>
                      <a:pt x="548" y="1910"/>
                      <a:pt x="696" y="1909"/>
                    </a:cubicBezTo>
                    <a:cubicBezTo>
                      <a:pt x="844" y="1908"/>
                      <a:pt x="1008" y="145"/>
                      <a:pt x="1160" y="143"/>
                    </a:cubicBezTo>
                    <a:cubicBezTo>
                      <a:pt x="1312" y="141"/>
                      <a:pt x="1463" y="1892"/>
                      <a:pt x="1609" y="1894"/>
                    </a:cubicBezTo>
                    <a:cubicBezTo>
                      <a:pt x="1755" y="1896"/>
                      <a:pt x="1919" y="301"/>
                      <a:pt x="2035" y="158"/>
                    </a:cubicBezTo>
                    <a:cubicBezTo>
                      <a:pt x="2151" y="15"/>
                      <a:pt x="2249" y="851"/>
                      <a:pt x="2305" y="1033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ko-KR" altLang="en-US"/>
              </a:p>
            </p:txBody>
          </p:sp>
        </p:grpSp>
        <p:sp>
          <p:nvSpPr>
            <p:cNvPr id="3082" name="Text Box 147"/>
            <p:cNvSpPr txBox="1">
              <a:spLocks noChangeArrowheads="1"/>
            </p:cNvSpPr>
            <p:nvPr/>
          </p:nvSpPr>
          <p:spPr bwMode="auto">
            <a:xfrm>
              <a:off x="381444" y="6048360"/>
              <a:ext cx="81304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000" b="1"/>
                <a:t>CH1 2.00V</a:t>
              </a:r>
            </a:p>
          </p:txBody>
        </p:sp>
        <p:sp>
          <p:nvSpPr>
            <p:cNvPr id="3083" name="Text Box 148"/>
            <p:cNvSpPr txBox="1">
              <a:spLocks noChangeArrowheads="1"/>
            </p:cNvSpPr>
            <p:nvPr/>
          </p:nvSpPr>
          <p:spPr bwMode="auto">
            <a:xfrm>
              <a:off x="1525789" y="6048172"/>
              <a:ext cx="684803" cy="252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r" eaLnBrk="1" latinLnBrk="0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1000" b="1"/>
                <a:t>M 500μs</a:t>
              </a:r>
            </a:p>
          </p:txBody>
        </p:sp>
      </p:grpSp>
      <p:sp>
        <p:nvSpPr>
          <p:cNvPr id="160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12239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WS TEST 1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5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63658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PLC 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429000" y="704850"/>
            <a:ext cx="3124200" cy="8972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28.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Đ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iều khiển hoạt động tăng tốc, giảm tốc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và tốc độ cố định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của động cơ.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L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à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chức năng của bộ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nào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Bộ định vị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Bộ đếm tốc độ cao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Bộ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chuyển đổi AD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Bộ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chuyển đổi DA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29. Trong cấu hình PLC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phía dưới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, phạm vi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/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của Mô-đun Q64AD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Y160 ~ Y16F,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Y100 ~ Y10F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Y80 ~ Y8F         ④ Y170 ~ Y17F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30. Số nhị phân 110111 khi chuyển thành số hệ thập phân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37   ② 27    ③ 55    ④ 103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31. Không thuộc Word Device?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D     ② A    ③ R    ④ 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32. Điều gì không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được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thực hiện trong cài đặt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Parameter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PLC?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Kiểm tra thiết bị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Cài đặt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các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chương trình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Thay đổi điểm thiết bị (DEV.Point)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Cài đặt sử dụng đăng ký tệp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33. Khi nguồn PLC được chuyển từ ON hoặc STOP sang RUN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Chương trình nào chỉ chạy một lần?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Chương trình thực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hiện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ban đầu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Chương trình thực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hiện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quét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Chương trình thực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hiện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tốc độ thấp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Chương trình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kiểu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chờ đợi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34. Hoạt động giữa MC và MCR khi lệnh MC TẮT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Mô tả kết quả nào là đúng?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Giá trị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Timer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100ms, 10ms được duy trì.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Các giá trị đếm và đếm thời gian tích lũy được xóa thành “0”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Lệnh OUT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vẫn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được duy trì ở trạng thái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trước đó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Các lệnh SET, RST, SFT vẫn duy trì trạng thái của chúng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35. Khi X1 bật trong 5 giây rồi TẮT, giá trị hiện tại của C0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1     ② 5     ③ 50     ④ 0</a:t>
            </a:r>
          </a:p>
        </p:txBody>
      </p:sp>
      <p:sp>
        <p:nvSpPr>
          <p:cNvPr id="4101" name="Rectangle 3"/>
          <p:cNvSpPr>
            <a:spLocks noChangeArrowheads="1"/>
          </p:cNvSpPr>
          <p:nvPr/>
        </p:nvSpPr>
        <p:spPr bwMode="auto">
          <a:xfrm>
            <a:off x="304800" y="704850"/>
            <a:ext cx="3124200" cy="8972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21. Điều gì sai trong phần giải thích về bảng điều khiển PLC?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Không tiếp xúc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Điều khiển bằng cách đấu dây giữa các bộ phận.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Bảo trì và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sửa chữa dễ dàng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Có thể mở rộng hệ thống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22. </a:t>
            </a:r>
            <a:r>
              <a:rPr lang="en-US" altLang="ko-KR" sz="900">
                <a:solidFill>
                  <a:srgbClr val="404040"/>
                </a:solidFill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Là Data Register lưu trữ kết quả tính toán của  mệnh lệnh ứng dụng , mệnh lệnh cơ bản.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T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imer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File Register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Link Register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Accumulator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23.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Parameter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→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Device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đặt trong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dấu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(1)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Dự liệu đã khởi tạo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có thể được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xóa bằng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bằng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Reset                  ② L.CLR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Dip Switch         ④ Stop Switch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24. Nội dung bộ nhớ nào của CPU PLC là sai?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Bộ nhớ PLC là bộ nhớ chương trình người dùng và bộ nhớ dữ liệu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Nó được chia thành ba loại bộ nhớ.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RAM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là b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ộ nhớ chứa các chương trình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được sử dụng v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à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nội dung điều khiển có thể thay đổi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Data Memory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là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khu vực lưu trữ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trạng thái tiếp điểm của đầu vào / đầu ra, bộ đếm thời gian và bộ đếm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v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à thông tin như giá trị đặt và giá trị hiện tại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RAM được sử dụng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như c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hương trình hệ thống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để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xác định chức năng hoặc hiệu suất của PLC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25. Để mô tả thiết bị khi viết PLC dạng ngôn ngữ Ladder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Cần làm gì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Ghi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bình luận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Thêm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ghi chú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</a:t>
            </a:r>
            <a:r>
              <a:rPr lang="en-US" altLang="ko-KR" sz="900" smtClean="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Ghi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báo cáo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Ghi tham số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26. Điều gì sai với mô tả của Counter?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① Bộ đếm đếm khi tín hiệu đầu vào tăng lên.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②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Khi bộ đếm đạt giá trị Counter Up, bộ đếm sẽ dừng lại ngay cả khi tín hiệu đầu vào vẫn tiếp tục tăng lên.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③ Sau khi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bộ đếm đặt giá trị Counter Up lần 1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,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có thể Reset Counter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bằng lệnh [MOV k0 C0].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④ Giá trị cài đặt bộ đếm là K1 ~ K32767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27. Khi thay pin CPU, thời gian dự phòng của tụ điện bên trong 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1 phút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2 phút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3 phút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5 phút</a:t>
            </a: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285750" y="674688"/>
            <a:ext cx="1422400" cy="24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※ PLC : Câu 21</a:t>
            </a:r>
            <a:r>
              <a:rPr lang="ko-KR" altLang="en-US" sz="10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 </a:t>
            </a:r>
            <a:r>
              <a:rPr lang="en-US" altLang="ko-KR" sz="1000" b="1">
                <a:solidFill>
                  <a:srgbClr val="000000"/>
                </a:solidFill>
                <a:latin typeface="Arial" charset="0"/>
                <a:ea typeface="돋움" pitchFamily="50" charset="-127"/>
              </a:rPr>
              <a:t>~ 40</a:t>
            </a:r>
            <a:endParaRPr lang="ko-KR" altLang="en-US" sz="1000" b="1">
              <a:solidFill>
                <a:srgbClr val="000000"/>
              </a:solidFill>
              <a:latin typeface="Arial" charset="0"/>
              <a:ea typeface="돋움" pitchFamily="50" charset="-127"/>
            </a:endParaRPr>
          </a:p>
        </p:txBody>
      </p:sp>
      <p:grpSp>
        <p:nvGrpSpPr>
          <p:cNvPr id="4103" name="Group 75"/>
          <p:cNvGrpSpPr>
            <a:grpSpLocks/>
          </p:cNvGrpSpPr>
          <p:nvPr/>
        </p:nvGrpSpPr>
        <p:grpSpPr bwMode="auto">
          <a:xfrm>
            <a:off x="3429000" y="2073275"/>
            <a:ext cx="3175000" cy="1066800"/>
            <a:chOff x="0" y="0"/>
            <a:chExt cx="2005" cy="672"/>
          </a:xfrm>
        </p:grpSpPr>
        <p:sp>
          <p:nvSpPr>
            <p:cNvPr id="4120" name="Rectangle 76"/>
            <p:cNvSpPr>
              <a:spLocks noChangeArrowheads="1"/>
            </p:cNvSpPr>
            <p:nvPr/>
          </p:nvSpPr>
          <p:spPr bwMode="auto">
            <a:xfrm>
              <a:off x="27" y="0"/>
              <a:ext cx="1923" cy="67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ko-KR" altLang="en-US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ko-KR" altLang="en-US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21" name="Line 77"/>
            <p:cNvSpPr>
              <a:spLocks noChangeShapeType="1"/>
            </p:cNvSpPr>
            <p:nvPr/>
          </p:nvSpPr>
          <p:spPr bwMode="auto">
            <a:xfrm>
              <a:off x="26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2" name="Line 78"/>
            <p:cNvSpPr>
              <a:spLocks noChangeShapeType="1"/>
            </p:cNvSpPr>
            <p:nvPr/>
          </p:nvSpPr>
          <p:spPr bwMode="auto">
            <a:xfrm>
              <a:off x="50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3" name="Line 79"/>
            <p:cNvSpPr>
              <a:spLocks noChangeShapeType="1"/>
            </p:cNvSpPr>
            <p:nvPr/>
          </p:nvSpPr>
          <p:spPr bwMode="auto">
            <a:xfrm>
              <a:off x="74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4" name="Line 80"/>
            <p:cNvSpPr>
              <a:spLocks noChangeShapeType="1"/>
            </p:cNvSpPr>
            <p:nvPr/>
          </p:nvSpPr>
          <p:spPr bwMode="auto">
            <a:xfrm>
              <a:off x="98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5" name="Line 81"/>
            <p:cNvSpPr>
              <a:spLocks noChangeShapeType="1"/>
            </p:cNvSpPr>
            <p:nvPr/>
          </p:nvSpPr>
          <p:spPr bwMode="auto">
            <a:xfrm>
              <a:off x="122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6" name="Line 82"/>
            <p:cNvSpPr>
              <a:spLocks noChangeShapeType="1"/>
            </p:cNvSpPr>
            <p:nvPr/>
          </p:nvSpPr>
          <p:spPr bwMode="auto">
            <a:xfrm>
              <a:off x="146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7" name="Line 83"/>
            <p:cNvSpPr>
              <a:spLocks noChangeShapeType="1"/>
            </p:cNvSpPr>
            <p:nvPr/>
          </p:nvSpPr>
          <p:spPr bwMode="auto">
            <a:xfrm>
              <a:off x="1708" y="0"/>
              <a:ext cx="0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28" name="Text Box 84"/>
            <p:cNvSpPr txBox="1">
              <a:spLocks noChangeArrowheads="1"/>
            </p:cNvSpPr>
            <p:nvPr/>
          </p:nvSpPr>
          <p:spPr bwMode="auto">
            <a:xfrm>
              <a:off x="0" y="156"/>
              <a:ext cx="280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ko-KR" altLang="en-US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전원</a:t>
              </a:r>
            </a:p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UNIT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29" name="Text Box 85"/>
            <p:cNvSpPr txBox="1">
              <a:spLocks noChangeArrowheads="1"/>
            </p:cNvSpPr>
            <p:nvPr/>
          </p:nvSpPr>
          <p:spPr bwMode="auto">
            <a:xfrm>
              <a:off x="88" y="186"/>
              <a:ext cx="11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ko-KR" altLang="en-US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ko-KR" altLang="en-US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0" name="Text Box 86"/>
            <p:cNvSpPr txBox="1">
              <a:spLocks noChangeArrowheads="1"/>
            </p:cNvSpPr>
            <p:nvPr/>
          </p:nvSpPr>
          <p:spPr bwMode="auto">
            <a:xfrm>
              <a:off x="225" y="150"/>
              <a:ext cx="29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 CPU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1" name="Text Box 87"/>
            <p:cNvSpPr txBox="1">
              <a:spLocks noChangeArrowheads="1"/>
            </p:cNvSpPr>
            <p:nvPr/>
          </p:nvSpPr>
          <p:spPr bwMode="auto">
            <a:xfrm>
              <a:off x="478" y="150"/>
              <a:ext cx="29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QX42</a:t>
              </a:r>
            </a:p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2" name="Text Box 88"/>
            <p:cNvSpPr txBox="1">
              <a:spLocks noChangeArrowheads="1"/>
            </p:cNvSpPr>
            <p:nvPr/>
          </p:nvSpPr>
          <p:spPr bwMode="auto">
            <a:xfrm>
              <a:off x="731" y="156"/>
              <a:ext cx="29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QY42</a:t>
              </a:r>
            </a:p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3" name="Text Box 89"/>
            <p:cNvSpPr txBox="1">
              <a:spLocks noChangeArrowheads="1"/>
            </p:cNvSpPr>
            <p:nvPr/>
          </p:nvSpPr>
          <p:spPr bwMode="auto">
            <a:xfrm>
              <a:off x="967" y="156"/>
              <a:ext cx="2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QX42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4" name="Text Box 90"/>
            <p:cNvSpPr txBox="1">
              <a:spLocks noChangeArrowheads="1"/>
            </p:cNvSpPr>
            <p:nvPr/>
          </p:nvSpPr>
          <p:spPr bwMode="auto">
            <a:xfrm>
              <a:off x="1208" y="156"/>
              <a:ext cx="291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QY42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5" name="Text Box 91"/>
            <p:cNvSpPr txBox="1">
              <a:spLocks noChangeArrowheads="1"/>
            </p:cNvSpPr>
            <p:nvPr/>
          </p:nvSpPr>
          <p:spPr bwMode="auto">
            <a:xfrm>
              <a:off x="1406" y="156"/>
              <a:ext cx="35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Q64AD</a:t>
              </a:r>
            </a:p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(     )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4136" name="Text Box 92"/>
            <p:cNvSpPr txBox="1">
              <a:spLocks noChangeArrowheads="1"/>
            </p:cNvSpPr>
            <p:nvPr/>
          </p:nvSpPr>
          <p:spPr bwMode="auto">
            <a:xfrm>
              <a:off x="1653" y="156"/>
              <a:ext cx="352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80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Q62DA</a:t>
              </a:r>
            </a:p>
            <a:p>
              <a:pPr algn="ctr" eaLnBrk="1" hangingPunct="1">
                <a:lnSpc>
                  <a:spcPts val="900"/>
                </a:lnSpc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ko-KR" sz="800">
                <a:solidFill>
                  <a:srgbClr val="000000"/>
                </a:solidFill>
                <a:latin typeface="돋움" pitchFamily="50" charset="-127"/>
                <a:ea typeface="돋움" pitchFamily="50" charset="-127"/>
              </a:endParaRPr>
            </a:p>
          </p:txBody>
        </p:sp>
      </p:grpSp>
      <p:grpSp>
        <p:nvGrpSpPr>
          <p:cNvPr id="4104" name="그룹 54"/>
          <p:cNvGrpSpPr>
            <a:grpSpLocks/>
          </p:cNvGrpSpPr>
          <p:nvPr/>
        </p:nvGrpSpPr>
        <p:grpSpPr bwMode="auto">
          <a:xfrm>
            <a:off x="3600450" y="8955088"/>
            <a:ext cx="2724150" cy="401637"/>
            <a:chOff x="0" y="0"/>
            <a:chExt cx="2724398" cy="401303"/>
          </a:xfrm>
        </p:grpSpPr>
        <p:sp>
          <p:nvSpPr>
            <p:cNvPr id="4105" name="Line 160"/>
            <p:cNvSpPr>
              <a:spLocks noChangeShapeType="1"/>
            </p:cNvSpPr>
            <p:nvPr/>
          </p:nvSpPr>
          <p:spPr bwMode="auto">
            <a:xfrm flipH="1">
              <a:off x="1201625" y="268450"/>
              <a:ext cx="80954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106" name="Group 163"/>
            <p:cNvGrpSpPr>
              <a:grpSpLocks/>
            </p:cNvGrpSpPr>
            <p:nvPr/>
          </p:nvGrpSpPr>
          <p:grpSpPr bwMode="auto">
            <a:xfrm>
              <a:off x="120641" y="192204"/>
              <a:ext cx="592083" cy="152492"/>
              <a:chOff x="120641" y="192204"/>
              <a:chExt cx="240" cy="96"/>
            </a:xfrm>
          </p:grpSpPr>
          <p:grpSp>
            <p:nvGrpSpPr>
              <p:cNvPr id="4114" name="Group 164"/>
              <p:cNvGrpSpPr>
                <a:grpSpLocks/>
              </p:cNvGrpSpPr>
              <p:nvPr/>
            </p:nvGrpSpPr>
            <p:grpSpPr bwMode="auto">
              <a:xfrm>
                <a:off x="120641" y="192204"/>
                <a:ext cx="96" cy="96"/>
                <a:chOff x="120641" y="192204"/>
                <a:chExt cx="96" cy="96"/>
              </a:xfrm>
            </p:grpSpPr>
            <p:sp>
              <p:nvSpPr>
                <p:cNvPr id="4118" name="Line 165"/>
                <p:cNvSpPr>
                  <a:spLocks noChangeShapeType="1"/>
                </p:cNvSpPr>
                <p:nvPr/>
              </p:nvSpPr>
              <p:spPr bwMode="auto">
                <a:xfrm>
                  <a:off x="120641" y="19225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119" name="Line 166"/>
                <p:cNvSpPr>
                  <a:spLocks noChangeShapeType="1"/>
                </p:cNvSpPr>
                <p:nvPr/>
              </p:nvSpPr>
              <p:spPr bwMode="auto">
                <a:xfrm>
                  <a:off x="120737" y="19220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115" name="Group 167"/>
              <p:cNvGrpSpPr>
                <a:grpSpLocks/>
              </p:cNvGrpSpPr>
              <p:nvPr/>
            </p:nvGrpSpPr>
            <p:grpSpPr bwMode="auto">
              <a:xfrm flipH="1">
                <a:off x="120785" y="192204"/>
                <a:ext cx="96" cy="96"/>
                <a:chOff x="120785" y="192204"/>
                <a:chExt cx="96" cy="96"/>
              </a:xfrm>
            </p:grpSpPr>
            <p:sp>
              <p:nvSpPr>
                <p:cNvPr id="4116" name="Line 168"/>
                <p:cNvSpPr>
                  <a:spLocks noChangeShapeType="1"/>
                </p:cNvSpPr>
                <p:nvPr/>
              </p:nvSpPr>
              <p:spPr bwMode="auto">
                <a:xfrm>
                  <a:off x="120785" y="19225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117" name="Line 169"/>
                <p:cNvSpPr>
                  <a:spLocks noChangeShapeType="1"/>
                </p:cNvSpPr>
                <p:nvPr/>
              </p:nvSpPr>
              <p:spPr bwMode="auto">
                <a:xfrm>
                  <a:off x="120881" y="19220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4107" name="Line 170"/>
            <p:cNvSpPr>
              <a:spLocks noChangeShapeType="1"/>
            </p:cNvSpPr>
            <p:nvPr/>
          </p:nvSpPr>
          <p:spPr bwMode="auto">
            <a:xfrm>
              <a:off x="0" y="268450"/>
              <a:ext cx="3539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08" name="Line 171"/>
            <p:cNvSpPr>
              <a:spLocks noChangeShapeType="1"/>
            </p:cNvSpPr>
            <p:nvPr/>
          </p:nvSpPr>
          <p:spPr bwMode="auto">
            <a:xfrm>
              <a:off x="590495" y="268450"/>
              <a:ext cx="683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09" name="Text Box 172"/>
            <p:cNvSpPr txBox="1">
              <a:spLocks noChangeArrowheads="1"/>
            </p:cNvSpPr>
            <p:nvPr/>
          </p:nvSpPr>
          <p:spPr bwMode="auto">
            <a:xfrm>
              <a:off x="1895648" y="162432"/>
              <a:ext cx="723966" cy="229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&lt;C0 K50&gt;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4110" name="Text Box 173"/>
            <p:cNvSpPr txBox="1">
              <a:spLocks noChangeArrowheads="1"/>
            </p:cNvSpPr>
            <p:nvPr/>
          </p:nvSpPr>
          <p:spPr bwMode="auto">
            <a:xfrm>
              <a:off x="266724" y="0"/>
              <a:ext cx="323879" cy="229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X1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4111" name="Line 175"/>
            <p:cNvSpPr>
              <a:spLocks noChangeShapeType="1"/>
            </p:cNvSpPr>
            <p:nvPr/>
          </p:nvSpPr>
          <p:spPr bwMode="auto">
            <a:xfrm>
              <a:off x="2483121" y="273216"/>
              <a:ext cx="2412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12" name="Line 176"/>
            <p:cNvSpPr>
              <a:spLocks noChangeShapeType="1"/>
            </p:cNvSpPr>
            <p:nvPr/>
          </p:nvSpPr>
          <p:spPr bwMode="auto">
            <a:xfrm>
              <a:off x="2724398" y="211266"/>
              <a:ext cx="0" cy="1747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13" name="Line 174"/>
            <p:cNvSpPr>
              <a:spLocks noChangeShapeType="1"/>
            </p:cNvSpPr>
            <p:nvPr/>
          </p:nvSpPr>
          <p:spPr bwMode="auto">
            <a:xfrm>
              <a:off x="0" y="220796"/>
              <a:ext cx="0" cy="1805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2794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56991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PLC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4" name="Rectangle 7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36.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Điều khiển đầu ra M0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bằng cách bật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tắt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X5 như trong biểu đồ bên dưới.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ết quả của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đầu ra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M0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khác biệt nhất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                                                    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                                                    ④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37. Khi điều kiện đầu vào X0 được BẬT,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muốn truyền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dữ liệu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từ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M10 ~ M13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sang M100 ~ M103 trong 1 Scan.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Chương trình nào phù hợp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MOVP K1M10 K1M100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FMOV M10 M100 K4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BMOVP M10 M100 K4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BMOV K1M10 K1M100 K4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38. Trong menu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Project của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GPPW, CPU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hiện đang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giao tiếp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để so sánh sự khác biệt với nội dung được lưu trữ trong PC.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Menu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Tương phản 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Sao chép 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Chỉnh sửa dữ liệu 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Macro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39. Như hình dưới đây, điều kiện đầu vào X0 là Bật và đầu ra Y76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 Khu vực A nhập Lệnh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RST   ② SET   ③ PLS   ④ PLF</a:t>
            </a:r>
            <a:endParaRPr lang="ko-KR" altLang="ko-KR" sz="900">
              <a:solidFill>
                <a:srgbClr val="000000"/>
              </a:solidFill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5125" name="Rectangle 8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40. Trong mạch điều khiển chính (MC) dưới đây, A, B lần lượt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A: M2, B: M1    ② A: M1, B: M2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A: N2, B: N1     ④ A: N1, B: N2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grpSp>
        <p:nvGrpSpPr>
          <p:cNvPr id="5126" name="그룹 1"/>
          <p:cNvGrpSpPr>
            <a:grpSpLocks/>
          </p:cNvGrpSpPr>
          <p:nvPr/>
        </p:nvGrpSpPr>
        <p:grpSpPr bwMode="auto">
          <a:xfrm>
            <a:off x="404813" y="6577013"/>
            <a:ext cx="2733675" cy="2192337"/>
            <a:chOff x="404813" y="7153151"/>
            <a:chExt cx="2733675" cy="2192337"/>
          </a:xfrm>
        </p:grpSpPr>
        <p:sp>
          <p:nvSpPr>
            <p:cNvPr id="5202" name="Freeform 1083"/>
            <p:cNvSpPr>
              <a:spLocks/>
            </p:cNvSpPr>
            <p:nvPr/>
          </p:nvSpPr>
          <p:spPr bwMode="auto">
            <a:xfrm>
              <a:off x="768350" y="7153151"/>
              <a:ext cx="2197100" cy="228600"/>
            </a:xfrm>
            <a:custGeom>
              <a:avLst/>
              <a:gdLst>
                <a:gd name="T0" fmla="*/ 0 w 1248"/>
                <a:gd name="T1" fmla="*/ 2147483647 h 144"/>
                <a:gd name="T2" fmla="*/ 2147483647 w 1248"/>
                <a:gd name="T3" fmla="*/ 2147483647 h 144"/>
                <a:gd name="T4" fmla="*/ 2147483647 w 1248"/>
                <a:gd name="T5" fmla="*/ 0 h 144"/>
                <a:gd name="T6" fmla="*/ 2147483647 w 1248"/>
                <a:gd name="T7" fmla="*/ 0 h 144"/>
                <a:gd name="T8" fmla="*/ 2147483647 w 1248"/>
                <a:gd name="T9" fmla="*/ 2147483647 h 144"/>
                <a:gd name="T10" fmla="*/ 2147483647 w 1248"/>
                <a:gd name="T11" fmla="*/ 2147483647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48"/>
                <a:gd name="T19" fmla="*/ 0 h 144"/>
                <a:gd name="T20" fmla="*/ 1248 w 1248"/>
                <a:gd name="T21" fmla="*/ 144 h 1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48" h="144">
                  <a:moveTo>
                    <a:pt x="0" y="144"/>
                  </a:moveTo>
                  <a:lnTo>
                    <a:pt x="288" y="144"/>
                  </a:lnTo>
                  <a:lnTo>
                    <a:pt x="288" y="0"/>
                  </a:lnTo>
                  <a:lnTo>
                    <a:pt x="816" y="0"/>
                  </a:lnTo>
                  <a:lnTo>
                    <a:pt x="816" y="144"/>
                  </a:lnTo>
                  <a:lnTo>
                    <a:pt x="1248" y="144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3" name="Freeform 1084"/>
            <p:cNvSpPr>
              <a:spLocks/>
            </p:cNvSpPr>
            <p:nvPr/>
          </p:nvSpPr>
          <p:spPr bwMode="auto">
            <a:xfrm>
              <a:off x="768350" y="7608763"/>
              <a:ext cx="2197100" cy="227013"/>
            </a:xfrm>
            <a:custGeom>
              <a:avLst/>
              <a:gdLst>
                <a:gd name="T0" fmla="*/ 0 w 1248"/>
                <a:gd name="T1" fmla="*/ 2147483647 h 144"/>
                <a:gd name="T2" fmla="*/ 2147483647 w 1248"/>
                <a:gd name="T3" fmla="*/ 2147483647 h 144"/>
                <a:gd name="T4" fmla="*/ 2147483647 w 1248"/>
                <a:gd name="T5" fmla="*/ 0 h 144"/>
                <a:gd name="T6" fmla="*/ 2147483647 w 1248"/>
                <a:gd name="T7" fmla="*/ 0 h 144"/>
                <a:gd name="T8" fmla="*/ 2147483647 w 1248"/>
                <a:gd name="T9" fmla="*/ 2147483647 h 144"/>
                <a:gd name="T10" fmla="*/ 2147483647 w 1248"/>
                <a:gd name="T11" fmla="*/ 2147483647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48"/>
                <a:gd name="T19" fmla="*/ 0 h 144"/>
                <a:gd name="T20" fmla="*/ 1248 w 1248"/>
                <a:gd name="T21" fmla="*/ 144 h 1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48" h="144">
                  <a:moveTo>
                    <a:pt x="0" y="144"/>
                  </a:moveTo>
                  <a:lnTo>
                    <a:pt x="816" y="144"/>
                  </a:lnTo>
                  <a:lnTo>
                    <a:pt x="816" y="0"/>
                  </a:lnTo>
                  <a:lnTo>
                    <a:pt x="1152" y="0"/>
                  </a:lnTo>
                  <a:lnTo>
                    <a:pt x="1152" y="144"/>
                  </a:lnTo>
                  <a:lnTo>
                    <a:pt x="1248" y="144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4" name="Line 1085"/>
            <p:cNvSpPr>
              <a:spLocks noChangeShapeType="1"/>
            </p:cNvSpPr>
            <p:nvPr/>
          </p:nvSpPr>
          <p:spPr bwMode="auto">
            <a:xfrm flipV="1">
              <a:off x="1274763" y="7153151"/>
              <a:ext cx="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5" name="Line 1086"/>
            <p:cNvSpPr>
              <a:spLocks noChangeShapeType="1"/>
            </p:cNvSpPr>
            <p:nvPr/>
          </p:nvSpPr>
          <p:spPr bwMode="auto">
            <a:xfrm>
              <a:off x="2205038" y="7153151"/>
              <a:ext cx="0" cy="228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6" name="Line 1087"/>
            <p:cNvSpPr>
              <a:spLocks noChangeShapeType="1"/>
            </p:cNvSpPr>
            <p:nvPr/>
          </p:nvSpPr>
          <p:spPr bwMode="auto">
            <a:xfrm flipV="1">
              <a:off x="2205038" y="7608763"/>
              <a:ext cx="0" cy="2270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7" name="Line 1088"/>
            <p:cNvSpPr>
              <a:spLocks noChangeShapeType="1"/>
            </p:cNvSpPr>
            <p:nvPr/>
          </p:nvSpPr>
          <p:spPr bwMode="auto">
            <a:xfrm>
              <a:off x="2797175" y="7608763"/>
              <a:ext cx="0" cy="2270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8" name="Freeform 1089"/>
            <p:cNvSpPr>
              <a:spLocks/>
            </p:cNvSpPr>
            <p:nvPr/>
          </p:nvSpPr>
          <p:spPr bwMode="auto">
            <a:xfrm>
              <a:off x="2092325" y="7229351"/>
              <a:ext cx="295275" cy="531812"/>
            </a:xfrm>
            <a:custGeom>
              <a:avLst/>
              <a:gdLst>
                <a:gd name="T0" fmla="*/ 2147483647 w 168"/>
                <a:gd name="T1" fmla="*/ 0 h 384"/>
                <a:gd name="T2" fmla="*/ 2147483647 w 168"/>
                <a:gd name="T3" fmla="*/ 2147483647 h 384"/>
                <a:gd name="T4" fmla="*/ 2147483647 w 168"/>
                <a:gd name="T5" fmla="*/ 2147483647 h 384"/>
                <a:gd name="T6" fmla="*/ 2147483647 w 168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384"/>
                <a:gd name="T14" fmla="*/ 168 w 168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384">
                  <a:moveTo>
                    <a:pt x="64" y="0"/>
                  </a:moveTo>
                  <a:cubicBezTo>
                    <a:pt x="116" y="52"/>
                    <a:pt x="168" y="104"/>
                    <a:pt x="160" y="144"/>
                  </a:cubicBezTo>
                  <a:cubicBezTo>
                    <a:pt x="152" y="184"/>
                    <a:pt x="32" y="200"/>
                    <a:pt x="16" y="240"/>
                  </a:cubicBezTo>
                  <a:cubicBezTo>
                    <a:pt x="0" y="280"/>
                    <a:pt x="32" y="332"/>
                    <a:pt x="64" y="384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09" name="Text Box 1090"/>
            <p:cNvSpPr txBox="1">
              <a:spLocks noChangeArrowheads="1"/>
            </p:cNvSpPr>
            <p:nvPr/>
          </p:nvSpPr>
          <p:spPr bwMode="auto">
            <a:xfrm>
              <a:off x="433388" y="7153151"/>
              <a:ext cx="638175" cy="230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900">
                  <a:solidFill>
                    <a:srgbClr val="000000"/>
                  </a:solidFill>
                </a:rPr>
                <a:t>입력</a:t>
              </a:r>
              <a:r>
                <a:rPr lang="en-US" altLang="ko-KR" sz="900">
                  <a:solidFill>
                    <a:srgbClr val="000000"/>
                  </a:solidFill>
                </a:rPr>
                <a:t>(X0)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210" name="Text Box 1091"/>
            <p:cNvSpPr txBox="1">
              <a:spLocks noChangeArrowheads="1"/>
            </p:cNvSpPr>
            <p:nvPr/>
          </p:nvSpPr>
          <p:spPr bwMode="auto">
            <a:xfrm>
              <a:off x="404813" y="7629401"/>
              <a:ext cx="695325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900">
                  <a:solidFill>
                    <a:srgbClr val="000000"/>
                  </a:solidFill>
                </a:rPr>
                <a:t>출력</a:t>
              </a:r>
              <a:r>
                <a:rPr lang="en-US" altLang="ko-KR" sz="900">
                  <a:solidFill>
                    <a:srgbClr val="000000"/>
                  </a:solidFill>
                </a:rPr>
                <a:t>(Y76)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grpSp>
          <p:nvGrpSpPr>
            <p:cNvPr id="5211" name="그룹 23"/>
            <p:cNvGrpSpPr>
              <a:grpSpLocks/>
            </p:cNvGrpSpPr>
            <p:nvPr/>
          </p:nvGrpSpPr>
          <p:grpSpPr bwMode="auto">
            <a:xfrm>
              <a:off x="598488" y="8175501"/>
              <a:ext cx="2540000" cy="1169987"/>
              <a:chOff x="598227" y="7670539"/>
              <a:chExt cx="2540111" cy="1170893"/>
            </a:xfrm>
          </p:grpSpPr>
          <p:sp>
            <p:nvSpPr>
              <p:cNvPr id="5216" name="Text Box 1097"/>
              <p:cNvSpPr txBox="1">
                <a:spLocks noChangeArrowheads="1"/>
              </p:cNvSpPr>
              <p:nvPr/>
            </p:nvSpPr>
            <p:spPr bwMode="auto">
              <a:xfrm>
                <a:off x="804482" y="7670539"/>
                <a:ext cx="323662" cy="219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굴림" charset="-127"/>
                    <a:ea typeface="굴림" charset="-127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ko-KR" sz="900">
                    <a:solidFill>
                      <a:srgbClr val="000000"/>
                    </a:solidFill>
                  </a:rPr>
                  <a:t>X0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ko-KR" sz="9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5217" name="그룹 22"/>
              <p:cNvGrpSpPr>
                <a:grpSpLocks/>
              </p:cNvGrpSpPr>
              <p:nvPr/>
            </p:nvGrpSpPr>
            <p:grpSpPr bwMode="auto">
              <a:xfrm>
                <a:off x="598227" y="7850676"/>
                <a:ext cx="2540111" cy="990756"/>
                <a:chOff x="598227" y="7850676"/>
                <a:chExt cx="2540111" cy="990756"/>
              </a:xfrm>
            </p:grpSpPr>
            <p:sp>
              <p:nvSpPr>
                <p:cNvPr id="5218" name="Line 1092"/>
                <p:cNvSpPr>
                  <a:spLocks noChangeShapeType="1"/>
                </p:cNvSpPr>
                <p:nvPr/>
              </p:nvSpPr>
              <p:spPr bwMode="auto">
                <a:xfrm>
                  <a:off x="598227" y="7855417"/>
                  <a:ext cx="0" cy="98601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19" name="Line 1093"/>
                <p:cNvSpPr>
                  <a:spLocks noChangeShapeType="1"/>
                </p:cNvSpPr>
                <p:nvPr/>
              </p:nvSpPr>
              <p:spPr bwMode="auto">
                <a:xfrm>
                  <a:off x="598227" y="7931264"/>
                  <a:ext cx="33794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0" name="Line 1094"/>
                <p:cNvSpPr>
                  <a:spLocks noChangeShapeType="1"/>
                </p:cNvSpPr>
                <p:nvPr/>
              </p:nvSpPr>
              <p:spPr bwMode="auto">
                <a:xfrm>
                  <a:off x="936168" y="7855417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1" name="Line 1095"/>
                <p:cNvSpPr>
                  <a:spLocks noChangeShapeType="1"/>
                </p:cNvSpPr>
                <p:nvPr/>
              </p:nvSpPr>
              <p:spPr bwMode="auto">
                <a:xfrm>
                  <a:off x="990111" y="7855417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2" name="Line 1096"/>
                <p:cNvSpPr>
                  <a:spLocks noChangeShapeType="1"/>
                </p:cNvSpPr>
                <p:nvPr/>
              </p:nvSpPr>
              <p:spPr bwMode="auto">
                <a:xfrm>
                  <a:off x="999631" y="7931264"/>
                  <a:ext cx="120579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3" name="Line 1098"/>
                <p:cNvSpPr>
                  <a:spLocks noChangeShapeType="1"/>
                </p:cNvSpPr>
                <p:nvPr/>
              </p:nvSpPr>
              <p:spPr bwMode="auto">
                <a:xfrm>
                  <a:off x="609333" y="8310501"/>
                  <a:ext cx="33794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4" name="Line 1099"/>
                <p:cNvSpPr>
                  <a:spLocks noChangeShapeType="1"/>
                </p:cNvSpPr>
                <p:nvPr/>
              </p:nvSpPr>
              <p:spPr bwMode="auto">
                <a:xfrm>
                  <a:off x="947274" y="8234653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5" name="Line 1100"/>
                <p:cNvSpPr>
                  <a:spLocks noChangeShapeType="1"/>
                </p:cNvSpPr>
                <p:nvPr/>
              </p:nvSpPr>
              <p:spPr bwMode="auto">
                <a:xfrm>
                  <a:off x="999631" y="8234653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6" name="Line 1101"/>
                <p:cNvSpPr>
                  <a:spLocks noChangeShapeType="1"/>
                </p:cNvSpPr>
                <p:nvPr/>
              </p:nvSpPr>
              <p:spPr bwMode="auto">
                <a:xfrm>
                  <a:off x="1010737" y="8310501"/>
                  <a:ext cx="263372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7" name="Text Box 1102"/>
                <p:cNvSpPr txBox="1">
                  <a:spLocks noChangeArrowheads="1"/>
                </p:cNvSpPr>
                <p:nvPr/>
              </p:nvSpPr>
              <p:spPr bwMode="auto">
                <a:xfrm>
                  <a:off x="804482" y="8041875"/>
                  <a:ext cx="342701" cy="22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M1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28" name="Line 1103"/>
                <p:cNvSpPr>
                  <a:spLocks noChangeShapeType="1"/>
                </p:cNvSpPr>
                <p:nvPr/>
              </p:nvSpPr>
              <p:spPr bwMode="auto">
                <a:xfrm>
                  <a:off x="1286801" y="8234653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29" name="Line 1104"/>
                <p:cNvSpPr>
                  <a:spLocks noChangeShapeType="1"/>
                </p:cNvSpPr>
                <p:nvPr/>
              </p:nvSpPr>
              <p:spPr bwMode="auto">
                <a:xfrm>
                  <a:off x="1340745" y="8234653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0" name="Text Box 1105"/>
                <p:cNvSpPr txBox="1">
                  <a:spLocks noChangeArrowheads="1"/>
                </p:cNvSpPr>
                <p:nvPr/>
              </p:nvSpPr>
              <p:spPr bwMode="auto">
                <a:xfrm>
                  <a:off x="1147183" y="8041875"/>
                  <a:ext cx="380779" cy="22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T16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1" name="Line 1106"/>
                <p:cNvSpPr>
                  <a:spLocks noChangeShapeType="1"/>
                </p:cNvSpPr>
                <p:nvPr/>
              </p:nvSpPr>
              <p:spPr bwMode="auto">
                <a:xfrm>
                  <a:off x="609333" y="8632852"/>
                  <a:ext cx="33794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2" name="Line 1107"/>
                <p:cNvSpPr>
                  <a:spLocks noChangeShapeType="1"/>
                </p:cNvSpPr>
                <p:nvPr/>
              </p:nvSpPr>
              <p:spPr bwMode="auto">
                <a:xfrm>
                  <a:off x="947274" y="8557005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3" name="Line 1108"/>
                <p:cNvSpPr>
                  <a:spLocks noChangeShapeType="1"/>
                </p:cNvSpPr>
                <p:nvPr/>
              </p:nvSpPr>
              <p:spPr bwMode="auto">
                <a:xfrm>
                  <a:off x="999631" y="8557005"/>
                  <a:ext cx="0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4" name="Freeform 1109"/>
                <p:cNvSpPr>
                  <a:spLocks/>
                </p:cNvSpPr>
                <p:nvPr/>
              </p:nvSpPr>
              <p:spPr bwMode="auto">
                <a:xfrm>
                  <a:off x="1021843" y="8329462"/>
                  <a:ext cx="84089" cy="303389"/>
                </a:xfrm>
                <a:custGeom>
                  <a:avLst/>
                  <a:gdLst>
                    <a:gd name="T0" fmla="*/ 0 w 48"/>
                    <a:gd name="T1" fmla="*/ 2147483647 h 192"/>
                    <a:gd name="T2" fmla="*/ 2147483647 w 48"/>
                    <a:gd name="T3" fmla="*/ 2147483647 h 192"/>
                    <a:gd name="T4" fmla="*/ 2147483647 w 48"/>
                    <a:gd name="T5" fmla="*/ 0 h 192"/>
                    <a:gd name="T6" fmla="*/ 0 60000 65536"/>
                    <a:gd name="T7" fmla="*/ 0 60000 65536"/>
                    <a:gd name="T8" fmla="*/ 0 60000 65536"/>
                    <a:gd name="T9" fmla="*/ 0 w 48"/>
                    <a:gd name="T10" fmla="*/ 0 h 192"/>
                    <a:gd name="T11" fmla="*/ 48 w 48"/>
                    <a:gd name="T12" fmla="*/ 192 h 1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8" h="192">
                      <a:moveTo>
                        <a:pt x="0" y="192"/>
                      </a:moveTo>
                      <a:lnTo>
                        <a:pt x="48" y="192"/>
                      </a:lnTo>
                      <a:lnTo>
                        <a:pt x="48" y="0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5" name="Line 1110"/>
                <p:cNvSpPr>
                  <a:spLocks noChangeShapeType="1"/>
                </p:cNvSpPr>
                <p:nvPr/>
              </p:nvSpPr>
              <p:spPr bwMode="auto">
                <a:xfrm flipH="1">
                  <a:off x="1221752" y="8234653"/>
                  <a:ext cx="169764" cy="15169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6" name="Line 1111"/>
                <p:cNvSpPr>
                  <a:spLocks noChangeShapeType="1"/>
                </p:cNvSpPr>
                <p:nvPr/>
              </p:nvSpPr>
              <p:spPr bwMode="auto">
                <a:xfrm>
                  <a:off x="1359784" y="8310501"/>
                  <a:ext cx="126767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37" name="Text Box 1112"/>
                <p:cNvSpPr txBox="1">
                  <a:spLocks noChangeArrowheads="1"/>
                </p:cNvSpPr>
                <p:nvPr/>
              </p:nvSpPr>
              <p:spPr bwMode="auto">
                <a:xfrm>
                  <a:off x="775923" y="8375287"/>
                  <a:ext cx="445829" cy="22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Y76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38" name="Rectangle 1114"/>
                <p:cNvSpPr>
                  <a:spLocks noChangeArrowheads="1"/>
                </p:cNvSpPr>
                <p:nvPr/>
              </p:nvSpPr>
              <p:spPr bwMode="auto">
                <a:xfrm>
                  <a:off x="2205430" y="7850676"/>
                  <a:ext cx="504532" cy="151695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( A ) </a:t>
                  </a:r>
                </a:p>
              </p:txBody>
            </p:sp>
            <p:sp>
              <p:nvSpPr>
                <p:cNvPr id="5239" name="Rectangle 1115"/>
                <p:cNvSpPr>
                  <a:spLocks noChangeArrowheads="1"/>
                </p:cNvSpPr>
                <p:nvPr/>
              </p:nvSpPr>
              <p:spPr bwMode="auto">
                <a:xfrm>
                  <a:off x="2709962" y="7850676"/>
                  <a:ext cx="342701" cy="151695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M1</a:t>
                  </a:r>
                </a:p>
              </p:txBody>
            </p:sp>
            <p:sp>
              <p:nvSpPr>
                <p:cNvPr id="5240" name="Line 1116"/>
                <p:cNvSpPr>
                  <a:spLocks noChangeShapeType="1"/>
                </p:cNvSpPr>
                <p:nvPr/>
              </p:nvSpPr>
              <p:spPr bwMode="auto">
                <a:xfrm>
                  <a:off x="3051076" y="7931264"/>
                  <a:ext cx="8408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41" name="Text Box 1117"/>
                <p:cNvSpPr txBox="1">
                  <a:spLocks noChangeArrowheads="1"/>
                </p:cNvSpPr>
                <p:nvPr/>
              </p:nvSpPr>
              <p:spPr bwMode="auto">
                <a:xfrm>
                  <a:off x="2538611" y="8060837"/>
                  <a:ext cx="542610" cy="3618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lnSpc>
                      <a:spcPts val="9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K100</a:t>
                  </a:r>
                </a:p>
                <a:p>
                  <a:pPr eaLnBrk="1" hangingPunct="1">
                    <a:lnSpc>
                      <a:spcPts val="9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( T16 )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42" name="Freeform 1118"/>
                <p:cNvSpPr>
                  <a:spLocks/>
                </p:cNvSpPr>
                <p:nvPr/>
              </p:nvSpPr>
              <p:spPr bwMode="auto">
                <a:xfrm>
                  <a:off x="1613636" y="8310501"/>
                  <a:ext cx="1013823" cy="303389"/>
                </a:xfrm>
                <a:custGeom>
                  <a:avLst/>
                  <a:gdLst>
                    <a:gd name="T0" fmla="*/ 0 w 576"/>
                    <a:gd name="T1" fmla="*/ 0 h 192"/>
                    <a:gd name="T2" fmla="*/ 0 w 576"/>
                    <a:gd name="T3" fmla="*/ 2147483647 h 192"/>
                    <a:gd name="T4" fmla="*/ 2147483647 w 576"/>
                    <a:gd name="T5" fmla="*/ 2147483647 h 192"/>
                    <a:gd name="T6" fmla="*/ 0 60000 65536"/>
                    <a:gd name="T7" fmla="*/ 0 60000 65536"/>
                    <a:gd name="T8" fmla="*/ 0 60000 65536"/>
                    <a:gd name="T9" fmla="*/ 0 w 576"/>
                    <a:gd name="T10" fmla="*/ 0 h 192"/>
                    <a:gd name="T11" fmla="*/ 576 w 576"/>
                    <a:gd name="T12" fmla="*/ 192 h 19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76" h="192">
                      <a:moveTo>
                        <a:pt x="0" y="0"/>
                      </a:moveTo>
                      <a:lnTo>
                        <a:pt x="0" y="192"/>
                      </a:lnTo>
                      <a:lnTo>
                        <a:pt x="576" y="192"/>
                      </a:lnTo>
                    </a:path>
                  </a:pathLst>
                </a:cu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43" name="Text Box 1119"/>
                <p:cNvSpPr txBox="1">
                  <a:spLocks noChangeArrowheads="1"/>
                </p:cNvSpPr>
                <p:nvPr/>
              </p:nvSpPr>
              <p:spPr bwMode="auto">
                <a:xfrm>
                  <a:off x="2557650" y="8489058"/>
                  <a:ext cx="552129" cy="2291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굴림" charset="-127"/>
                      <a:ea typeface="굴림" charset="-127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ko-KR" sz="900">
                      <a:solidFill>
                        <a:srgbClr val="000000"/>
                      </a:solidFill>
                    </a:rPr>
                    <a:t>( Y76 )</a:t>
                  </a:r>
                </a:p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ko-KR" sz="9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44" name="Line 1120"/>
                <p:cNvSpPr>
                  <a:spLocks noChangeShapeType="1"/>
                </p:cNvSpPr>
                <p:nvPr/>
              </p:nvSpPr>
              <p:spPr bwMode="auto">
                <a:xfrm>
                  <a:off x="2965401" y="8310501"/>
                  <a:ext cx="16976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45" name="Line 1121"/>
                <p:cNvSpPr>
                  <a:spLocks noChangeShapeType="1"/>
                </p:cNvSpPr>
                <p:nvPr/>
              </p:nvSpPr>
              <p:spPr bwMode="auto">
                <a:xfrm>
                  <a:off x="3009825" y="8604409"/>
                  <a:ext cx="12851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46" name="Line 1122"/>
                <p:cNvSpPr>
                  <a:spLocks noChangeShapeType="1"/>
                </p:cNvSpPr>
                <p:nvPr/>
              </p:nvSpPr>
              <p:spPr bwMode="auto">
                <a:xfrm>
                  <a:off x="3135165" y="7855417"/>
                  <a:ext cx="0" cy="9101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5212" name="Line 1123"/>
            <p:cNvSpPr>
              <a:spLocks noChangeShapeType="1"/>
            </p:cNvSpPr>
            <p:nvPr/>
          </p:nvSpPr>
          <p:spPr bwMode="auto">
            <a:xfrm>
              <a:off x="2205038" y="7835776"/>
              <a:ext cx="0" cy="76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3" name="Line 1124"/>
            <p:cNvSpPr>
              <a:spLocks noChangeShapeType="1"/>
            </p:cNvSpPr>
            <p:nvPr/>
          </p:nvSpPr>
          <p:spPr bwMode="auto">
            <a:xfrm>
              <a:off x="2797175" y="7835776"/>
              <a:ext cx="0" cy="76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5214" name="AutoShape 1125"/>
            <p:cNvCxnSpPr>
              <a:cxnSpLocks noChangeShapeType="1"/>
            </p:cNvCxnSpPr>
            <p:nvPr/>
          </p:nvCxnSpPr>
          <p:spPr bwMode="auto">
            <a:xfrm>
              <a:off x="2205038" y="7864351"/>
              <a:ext cx="59213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15" name="Text Box 1126"/>
            <p:cNvSpPr txBox="1">
              <a:spLocks noChangeArrowheads="1"/>
            </p:cNvSpPr>
            <p:nvPr/>
          </p:nvSpPr>
          <p:spPr bwMode="auto">
            <a:xfrm>
              <a:off x="2176463" y="7848476"/>
              <a:ext cx="9588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ko-KR" altLang="en-US" sz="900">
                  <a:solidFill>
                    <a:srgbClr val="000000"/>
                  </a:solidFill>
                </a:rPr>
                <a:t>설정 시간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  (10</a:t>
              </a:r>
              <a:r>
                <a:rPr lang="ko-KR" altLang="en-US" sz="900">
                  <a:solidFill>
                    <a:srgbClr val="000000"/>
                  </a:solidFill>
                </a:rPr>
                <a:t>초</a:t>
              </a:r>
              <a:r>
                <a:rPr lang="en-US" altLang="ko-KR" sz="900">
                  <a:solidFill>
                    <a:srgbClr val="000000"/>
                  </a:solidFill>
                </a:rPr>
                <a:t>)</a:t>
              </a:r>
            </a:p>
          </p:txBody>
        </p:sp>
      </p:grpSp>
      <p:grpSp>
        <p:nvGrpSpPr>
          <p:cNvPr id="5127" name="Group 1258"/>
          <p:cNvGrpSpPr>
            <a:grpSpLocks/>
          </p:cNvGrpSpPr>
          <p:nvPr/>
        </p:nvGrpSpPr>
        <p:grpSpPr bwMode="auto">
          <a:xfrm>
            <a:off x="3500438" y="1568450"/>
            <a:ext cx="2968625" cy="2149475"/>
            <a:chOff x="0" y="0"/>
            <a:chExt cx="1740" cy="1210"/>
          </a:xfrm>
        </p:grpSpPr>
        <p:sp>
          <p:nvSpPr>
            <p:cNvPr id="5141" name="Text Box 1259"/>
            <p:cNvSpPr txBox="1">
              <a:spLocks noChangeArrowheads="1"/>
            </p:cNvSpPr>
            <p:nvPr/>
          </p:nvSpPr>
          <p:spPr bwMode="auto">
            <a:xfrm>
              <a:off x="342" y="0"/>
              <a:ext cx="2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X1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grpSp>
          <p:nvGrpSpPr>
            <p:cNvPr id="5142" name="Group 1260"/>
            <p:cNvGrpSpPr>
              <a:grpSpLocks/>
            </p:cNvGrpSpPr>
            <p:nvPr/>
          </p:nvGrpSpPr>
          <p:grpSpPr bwMode="auto">
            <a:xfrm>
              <a:off x="310" y="121"/>
              <a:ext cx="240" cy="96"/>
              <a:chOff x="310" y="121"/>
              <a:chExt cx="240" cy="96"/>
            </a:xfrm>
          </p:grpSpPr>
          <p:grpSp>
            <p:nvGrpSpPr>
              <p:cNvPr id="5196" name="Group 1261"/>
              <p:cNvGrpSpPr>
                <a:grpSpLocks/>
              </p:cNvGrpSpPr>
              <p:nvPr/>
            </p:nvGrpSpPr>
            <p:grpSpPr bwMode="auto">
              <a:xfrm>
                <a:off x="310" y="121"/>
                <a:ext cx="96" cy="96"/>
                <a:chOff x="310" y="121"/>
                <a:chExt cx="96" cy="96"/>
              </a:xfrm>
            </p:grpSpPr>
            <p:sp>
              <p:nvSpPr>
                <p:cNvPr id="5200" name="Line 1262"/>
                <p:cNvSpPr>
                  <a:spLocks noChangeShapeType="1"/>
                </p:cNvSpPr>
                <p:nvPr/>
              </p:nvSpPr>
              <p:spPr bwMode="auto">
                <a:xfrm>
                  <a:off x="310" y="169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201" name="Line 1263"/>
                <p:cNvSpPr>
                  <a:spLocks noChangeShapeType="1"/>
                </p:cNvSpPr>
                <p:nvPr/>
              </p:nvSpPr>
              <p:spPr bwMode="auto">
                <a:xfrm>
                  <a:off x="406" y="121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197" name="Group 1264"/>
              <p:cNvGrpSpPr>
                <a:grpSpLocks/>
              </p:cNvGrpSpPr>
              <p:nvPr/>
            </p:nvGrpSpPr>
            <p:grpSpPr bwMode="auto">
              <a:xfrm flipH="1">
                <a:off x="454" y="121"/>
                <a:ext cx="96" cy="96"/>
                <a:chOff x="454" y="121"/>
                <a:chExt cx="96" cy="96"/>
              </a:xfrm>
            </p:grpSpPr>
            <p:sp>
              <p:nvSpPr>
                <p:cNvPr id="5198" name="Line 1265"/>
                <p:cNvSpPr>
                  <a:spLocks noChangeShapeType="1"/>
                </p:cNvSpPr>
                <p:nvPr/>
              </p:nvSpPr>
              <p:spPr bwMode="auto">
                <a:xfrm>
                  <a:off x="454" y="169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99" name="Line 1266"/>
                <p:cNvSpPr>
                  <a:spLocks noChangeShapeType="1"/>
                </p:cNvSpPr>
                <p:nvPr/>
              </p:nvSpPr>
              <p:spPr bwMode="auto">
                <a:xfrm>
                  <a:off x="550" y="121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5143" name="Line 1267"/>
            <p:cNvSpPr>
              <a:spLocks noChangeShapeType="1"/>
            </p:cNvSpPr>
            <p:nvPr/>
          </p:nvSpPr>
          <p:spPr bwMode="auto">
            <a:xfrm>
              <a:off x="262" y="169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44" name="Line 1268"/>
            <p:cNvSpPr>
              <a:spLocks noChangeShapeType="1"/>
            </p:cNvSpPr>
            <p:nvPr/>
          </p:nvSpPr>
          <p:spPr bwMode="auto">
            <a:xfrm>
              <a:off x="1740" y="96"/>
              <a:ext cx="0" cy="10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45" name="Line 1269"/>
            <p:cNvSpPr>
              <a:spLocks noChangeShapeType="1"/>
            </p:cNvSpPr>
            <p:nvPr/>
          </p:nvSpPr>
          <p:spPr bwMode="auto">
            <a:xfrm>
              <a:off x="526" y="169"/>
              <a:ext cx="5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46" name="Text Box 1270"/>
            <p:cNvSpPr txBox="1">
              <a:spLocks noChangeArrowheads="1"/>
            </p:cNvSpPr>
            <p:nvPr/>
          </p:nvSpPr>
          <p:spPr bwMode="auto">
            <a:xfrm>
              <a:off x="936" y="90"/>
              <a:ext cx="66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  [ MC N1  M1 ]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47" name="Line 1271"/>
            <p:cNvSpPr>
              <a:spLocks noChangeShapeType="1"/>
            </p:cNvSpPr>
            <p:nvPr/>
          </p:nvSpPr>
          <p:spPr bwMode="auto">
            <a:xfrm>
              <a:off x="268" y="935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48" name="Text Box 1272"/>
            <p:cNvSpPr txBox="1">
              <a:spLocks noChangeArrowheads="1"/>
            </p:cNvSpPr>
            <p:nvPr/>
          </p:nvSpPr>
          <p:spPr bwMode="auto">
            <a:xfrm>
              <a:off x="993" y="861"/>
              <a:ext cx="56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[ MCR ( A ) 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grpSp>
          <p:nvGrpSpPr>
            <p:cNvPr id="5149" name="Group 1273"/>
            <p:cNvGrpSpPr>
              <a:grpSpLocks/>
            </p:cNvGrpSpPr>
            <p:nvPr/>
          </p:nvGrpSpPr>
          <p:grpSpPr bwMode="auto">
            <a:xfrm rot="5400000">
              <a:off x="72" y="244"/>
              <a:ext cx="370" cy="86"/>
              <a:chOff x="72" y="244"/>
              <a:chExt cx="240" cy="96"/>
            </a:xfrm>
          </p:grpSpPr>
          <p:grpSp>
            <p:nvGrpSpPr>
              <p:cNvPr id="5190" name="Group 1274"/>
              <p:cNvGrpSpPr>
                <a:grpSpLocks/>
              </p:cNvGrpSpPr>
              <p:nvPr/>
            </p:nvGrpSpPr>
            <p:grpSpPr bwMode="auto">
              <a:xfrm>
                <a:off x="72" y="244"/>
                <a:ext cx="96" cy="96"/>
                <a:chOff x="72" y="244"/>
                <a:chExt cx="96" cy="96"/>
              </a:xfrm>
            </p:grpSpPr>
            <p:sp>
              <p:nvSpPr>
                <p:cNvPr id="5194" name="Line 1275"/>
                <p:cNvSpPr>
                  <a:spLocks noChangeShapeType="1"/>
                </p:cNvSpPr>
                <p:nvPr/>
              </p:nvSpPr>
              <p:spPr bwMode="auto">
                <a:xfrm>
                  <a:off x="72" y="29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95" name="Line 1276"/>
                <p:cNvSpPr>
                  <a:spLocks noChangeShapeType="1"/>
                </p:cNvSpPr>
                <p:nvPr/>
              </p:nvSpPr>
              <p:spPr bwMode="auto">
                <a:xfrm>
                  <a:off x="168" y="24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191" name="Group 1277"/>
              <p:cNvGrpSpPr>
                <a:grpSpLocks/>
              </p:cNvGrpSpPr>
              <p:nvPr/>
            </p:nvGrpSpPr>
            <p:grpSpPr bwMode="auto">
              <a:xfrm flipH="1">
                <a:off x="216" y="244"/>
                <a:ext cx="96" cy="96"/>
                <a:chOff x="216" y="244"/>
                <a:chExt cx="96" cy="96"/>
              </a:xfrm>
            </p:grpSpPr>
            <p:sp>
              <p:nvSpPr>
                <p:cNvPr id="5192" name="Line 1278"/>
                <p:cNvSpPr>
                  <a:spLocks noChangeShapeType="1"/>
                </p:cNvSpPr>
                <p:nvPr/>
              </p:nvSpPr>
              <p:spPr bwMode="auto">
                <a:xfrm>
                  <a:off x="216" y="29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93" name="Line 1279"/>
                <p:cNvSpPr>
                  <a:spLocks noChangeShapeType="1"/>
                </p:cNvSpPr>
                <p:nvPr/>
              </p:nvSpPr>
              <p:spPr bwMode="auto">
                <a:xfrm>
                  <a:off x="312" y="24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5150" name="Line 1280"/>
            <p:cNvSpPr>
              <a:spLocks noChangeShapeType="1"/>
            </p:cNvSpPr>
            <p:nvPr/>
          </p:nvSpPr>
          <p:spPr bwMode="auto">
            <a:xfrm>
              <a:off x="256" y="713"/>
              <a:ext cx="0" cy="49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5151" name="Group 1281"/>
            <p:cNvGrpSpPr>
              <a:grpSpLocks/>
            </p:cNvGrpSpPr>
            <p:nvPr/>
          </p:nvGrpSpPr>
          <p:grpSpPr bwMode="auto">
            <a:xfrm rot="10800000">
              <a:off x="262" y="750"/>
              <a:ext cx="240" cy="96"/>
              <a:chOff x="262" y="750"/>
              <a:chExt cx="240" cy="96"/>
            </a:xfrm>
          </p:grpSpPr>
          <p:grpSp>
            <p:nvGrpSpPr>
              <p:cNvPr id="5184" name="Group 1282"/>
              <p:cNvGrpSpPr>
                <a:grpSpLocks/>
              </p:cNvGrpSpPr>
              <p:nvPr/>
            </p:nvGrpSpPr>
            <p:grpSpPr bwMode="auto">
              <a:xfrm>
                <a:off x="262" y="750"/>
                <a:ext cx="96" cy="96"/>
                <a:chOff x="262" y="750"/>
                <a:chExt cx="96" cy="96"/>
              </a:xfrm>
            </p:grpSpPr>
            <p:sp>
              <p:nvSpPr>
                <p:cNvPr id="5188" name="Line 1283"/>
                <p:cNvSpPr>
                  <a:spLocks noChangeShapeType="1"/>
                </p:cNvSpPr>
                <p:nvPr/>
              </p:nvSpPr>
              <p:spPr bwMode="auto">
                <a:xfrm>
                  <a:off x="262" y="79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89" name="Line 1284"/>
                <p:cNvSpPr>
                  <a:spLocks noChangeShapeType="1"/>
                </p:cNvSpPr>
                <p:nvPr/>
              </p:nvSpPr>
              <p:spPr bwMode="auto">
                <a:xfrm>
                  <a:off x="358" y="75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185" name="Group 1285"/>
              <p:cNvGrpSpPr>
                <a:grpSpLocks/>
              </p:cNvGrpSpPr>
              <p:nvPr/>
            </p:nvGrpSpPr>
            <p:grpSpPr bwMode="auto">
              <a:xfrm flipH="1">
                <a:off x="406" y="750"/>
                <a:ext cx="96" cy="96"/>
                <a:chOff x="406" y="750"/>
                <a:chExt cx="96" cy="96"/>
              </a:xfrm>
            </p:grpSpPr>
            <p:sp>
              <p:nvSpPr>
                <p:cNvPr id="5186" name="Line 1286"/>
                <p:cNvSpPr>
                  <a:spLocks noChangeShapeType="1"/>
                </p:cNvSpPr>
                <p:nvPr/>
              </p:nvSpPr>
              <p:spPr bwMode="auto">
                <a:xfrm>
                  <a:off x="406" y="79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87" name="Line 1287"/>
                <p:cNvSpPr>
                  <a:spLocks noChangeShapeType="1"/>
                </p:cNvSpPr>
                <p:nvPr/>
              </p:nvSpPr>
              <p:spPr bwMode="auto">
                <a:xfrm>
                  <a:off x="502" y="75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5152" name="Line 1288"/>
            <p:cNvSpPr>
              <a:spLocks noChangeShapeType="1"/>
            </p:cNvSpPr>
            <p:nvPr/>
          </p:nvSpPr>
          <p:spPr bwMode="auto">
            <a:xfrm>
              <a:off x="494" y="798"/>
              <a:ext cx="6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53" name="Text Box 1289"/>
            <p:cNvSpPr txBox="1">
              <a:spLocks noChangeArrowheads="1"/>
            </p:cNvSpPr>
            <p:nvPr/>
          </p:nvSpPr>
          <p:spPr bwMode="auto">
            <a:xfrm>
              <a:off x="1113" y="730"/>
              <a:ext cx="37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&lt; Y40 &gt;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54" name="Text Box 1290"/>
            <p:cNvSpPr txBox="1">
              <a:spLocks noChangeArrowheads="1"/>
            </p:cNvSpPr>
            <p:nvPr/>
          </p:nvSpPr>
          <p:spPr bwMode="auto">
            <a:xfrm>
              <a:off x="274" y="620"/>
              <a:ext cx="22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X5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55" name="Text Box 1291"/>
            <p:cNvSpPr txBox="1">
              <a:spLocks noChangeArrowheads="1"/>
            </p:cNvSpPr>
            <p:nvPr/>
          </p:nvSpPr>
          <p:spPr bwMode="auto">
            <a:xfrm>
              <a:off x="0" y="211"/>
              <a:ext cx="26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(N1)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56" name="Text Box 1292"/>
            <p:cNvSpPr txBox="1">
              <a:spLocks noChangeArrowheads="1"/>
            </p:cNvSpPr>
            <p:nvPr/>
          </p:nvSpPr>
          <p:spPr bwMode="auto">
            <a:xfrm>
              <a:off x="257" y="217"/>
              <a:ext cx="2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(M1)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grpSp>
          <p:nvGrpSpPr>
            <p:cNvPr id="5157" name="Group 1293"/>
            <p:cNvGrpSpPr>
              <a:grpSpLocks/>
            </p:cNvGrpSpPr>
            <p:nvPr/>
          </p:nvGrpSpPr>
          <p:grpSpPr bwMode="auto">
            <a:xfrm>
              <a:off x="312" y="414"/>
              <a:ext cx="240" cy="96"/>
              <a:chOff x="312" y="414"/>
              <a:chExt cx="240" cy="96"/>
            </a:xfrm>
          </p:grpSpPr>
          <p:grpSp>
            <p:nvGrpSpPr>
              <p:cNvPr id="5178" name="Group 1294"/>
              <p:cNvGrpSpPr>
                <a:grpSpLocks/>
              </p:cNvGrpSpPr>
              <p:nvPr/>
            </p:nvGrpSpPr>
            <p:grpSpPr bwMode="auto">
              <a:xfrm>
                <a:off x="312" y="414"/>
                <a:ext cx="96" cy="96"/>
                <a:chOff x="312" y="414"/>
                <a:chExt cx="96" cy="96"/>
              </a:xfrm>
            </p:grpSpPr>
            <p:sp>
              <p:nvSpPr>
                <p:cNvPr id="5182" name="Line 1295"/>
                <p:cNvSpPr>
                  <a:spLocks noChangeShapeType="1"/>
                </p:cNvSpPr>
                <p:nvPr/>
              </p:nvSpPr>
              <p:spPr bwMode="auto">
                <a:xfrm>
                  <a:off x="312" y="46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83" name="Line 1296"/>
                <p:cNvSpPr>
                  <a:spLocks noChangeShapeType="1"/>
                </p:cNvSpPr>
                <p:nvPr/>
              </p:nvSpPr>
              <p:spPr bwMode="auto">
                <a:xfrm>
                  <a:off x="408" y="41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179" name="Group 1297"/>
              <p:cNvGrpSpPr>
                <a:grpSpLocks/>
              </p:cNvGrpSpPr>
              <p:nvPr/>
            </p:nvGrpSpPr>
            <p:grpSpPr bwMode="auto">
              <a:xfrm flipH="1">
                <a:off x="456" y="414"/>
                <a:ext cx="96" cy="96"/>
                <a:chOff x="456" y="414"/>
                <a:chExt cx="96" cy="96"/>
              </a:xfrm>
            </p:grpSpPr>
            <p:sp>
              <p:nvSpPr>
                <p:cNvPr id="5180" name="Line 1298"/>
                <p:cNvSpPr>
                  <a:spLocks noChangeShapeType="1"/>
                </p:cNvSpPr>
                <p:nvPr/>
              </p:nvSpPr>
              <p:spPr bwMode="auto">
                <a:xfrm>
                  <a:off x="456" y="462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81" name="Line 1299"/>
                <p:cNvSpPr>
                  <a:spLocks noChangeShapeType="1"/>
                </p:cNvSpPr>
                <p:nvPr/>
              </p:nvSpPr>
              <p:spPr bwMode="auto">
                <a:xfrm>
                  <a:off x="552" y="414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5158" name="Line 1300"/>
            <p:cNvSpPr>
              <a:spLocks noChangeShapeType="1"/>
            </p:cNvSpPr>
            <p:nvPr/>
          </p:nvSpPr>
          <p:spPr bwMode="auto">
            <a:xfrm>
              <a:off x="264" y="462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59" name="Text Box 1301"/>
            <p:cNvSpPr txBox="1">
              <a:spLocks noChangeArrowheads="1"/>
            </p:cNvSpPr>
            <p:nvPr/>
          </p:nvSpPr>
          <p:spPr bwMode="auto">
            <a:xfrm>
              <a:off x="342" y="295"/>
              <a:ext cx="205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X2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60" name="Line 1302"/>
            <p:cNvSpPr>
              <a:spLocks noChangeShapeType="1"/>
            </p:cNvSpPr>
            <p:nvPr/>
          </p:nvSpPr>
          <p:spPr bwMode="auto">
            <a:xfrm>
              <a:off x="528" y="462"/>
              <a:ext cx="5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61" name="Text Box 1303"/>
            <p:cNvSpPr txBox="1">
              <a:spLocks noChangeArrowheads="1"/>
            </p:cNvSpPr>
            <p:nvPr/>
          </p:nvSpPr>
          <p:spPr bwMode="auto">
            <a:xfrm>
              <a:off x="924" y="385"/>
              <a:ext cx="656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  [ MC N2  M2 ]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grpSp>
          <p:nvGrpSpPr>
            <p:cNvPr id="5162" name="Group 1304"/>
            <p:cNvGrpSpPr>
              <a:grpSpLocks/>
            </p:cNvGrpSpPr>
            <p:nvPr/>
          </p:nvGrpSpPr>
          <p:grpSpPr bwMode="auto">
            <a:xfrm rot="5400000">
              <a:off x="138" y="541"/>
              <a:ext cx="240" cy="96"/>
              <a:chOff x="138" y="540"/>
              <a:chExt cx="240" cy="96"/>
            </a:xfrm>
          </p:grpSpPr>
          <p:grpSp>
            <p:nvGrpSpPr>
              <p:cNvPr id="5172" name="Group 1305"/>
              <p:cNvGrpSpPr>
                <a:grpSpLocks/>
              </p:cNvGrpSpPr>
              <p:nvPr/>
            </p:nvGrpSpPr>
            <p:grpSpPr bwMode="auto">
              <a:xfrm>
                <a:off x="138" y="540"/>
                <a:ext cx="96" cy="96"/>
                <a:chOff x="138" y="540"/>
                <a:chExt cx="96" cy="96"/>
              </a:xfrm>
            </p:grpSpPr>
            <p:sp>
              <p:nvSpPr>
                <p:cNvPr id="5176" name="Line 1306"/>
                <p:cNvSpPr>
                  <a:spLocks noChangeShapeType="1"/>
                </p:cNvSpPr>
                <p:nvPr/>
              </p:nvSpPr>
              <p:spPr bwMode="auto">
                <a:xfrm>
                  <a:off x="138" y="58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77" name="Line 1307"/>
                <p:cNvSpPr>
                  <a:spLocks noChangeShapeType="1"/>
                </p:cNvSpPr>
                <p:nvPr/>
              </p:nvSpPr>
              <p:spPr bwMode="auto">
                <a:xfrm>
                  <a:off x="234" y="5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173" name="Group 1308"/>
              <p:cNvGrpSpPr>
                <a:grpSpLocks/>
              </p:cNvGrpSpPr>
              <p:nvPr/>
            </p:nvGrpSpPr>
            <p:grpSpPr bwMode="auto">
              <a:xfrm flipH="1">
                <a:off x="282" y="540"/>
                <a:ext cx="96" cy="96"/>
                <a:chOff x="282" y="540"/>
                <a:chExt cx="96" cy="96"/>
              </a:xfrm>
            </p:grpSpPr>
            <p:sp>
              <p:nvSpPr>
                <p:cNvPr id="5174" name="Line 1309"/>
                <p:cNvSpPr>
                  <a:spLocks noChangeShapeType="1"/>
                </p:cNvSpPr>
                <p:nvPr/>
              </p:nvSpPr>
              <p:spPr bwMode="auto">
                <a:xfrm>
                  <a:off x="282" y="588"/>
                  <a:ext cx="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75" name="Line 1310"/>
                <p:cNvSpPr>
                  <a:spLocks noChangeShapeType="1"/>
                </p:cNvSpPr>
                <p:nvPr/>
              </p:nvSpPr>
              <p:spPr bwMode="auto">
                <a:xfrm>
                  <a:off x="378" y="5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5163" name="Text Box 1311"/>
            <p:cNvSpPr txBox="1">
              <a:spLocks noChangeArrowheads="1"/>
            </p:cNvSpPr>
            <p:nvPr/>
          </p:nvSpPr>
          <p:spPr bwMode="auto">
            <a:xfrm>
              <a:off x="6" y="524"/>
              <a:ext cx="26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(N2)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64" name="Text Box 1312"/>
            <p:cNvSpPr txBox="1">
              <a:spLocks noChangeArrowheads="1"/>
            </p:cNvSpPr>
            <p:nvPr/>
          </p:nvSpPr>
          <p:spPr bwMode="auto">
            <a:xfrm>
              <a:off x="268" y="524"/>
              <a:ext cx="268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(M2)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65" name="Text Box 1313"/>
            <p:cNvSpPr txBox="1">
              <a:spLocks noChangeArrowheads="1"/>
            </p:cNvSpPr>
            <p:nvPr/>
          </p:nvSpPr>
          <p:spPr bwMode="auto">
            <a:xfrm>
              <a:off x="1004" y="1005"/>
              <a:ext cx="57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900">
                  <a:solidFill>
                    <a:srgbClr val="000000"/>
                  </a:solidFill>
                </a:rPr>
                <a:t>[ MCR ( B ) ]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ko-KR" sz="900">
                <a:solidFill>
                  <a:srgbClr val="000000"/>
                </a:solidFill>
              </a:endParaRPr>
            </a:p>
          </p:txBody>
        </p:sp>
        <p:sp>
          <p:nvSpPr>
            <p:cNvPr id="5166" name="Line 1314"/>
            <p:cNvSpPr>
              <a:spLocks noChangeShapeType="1"/>
            </p:cNvSpPr>
            <p:nvPr/>
          </p:nvSpPr>
          <p:spPr bwMode="auto">
            <a:xfrm>
              <a:off x="264" y="1079"/>
              <a:ext cx="7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67" name="Line 1315"/>
            <p:cNvSpPr>
              <a:spLocks noChangeShapeType="1"/>
            </p:cNvSpPr>
            <p:nvPr/>
          </p:nvSpPr>
          <p:spPr bwMode="auto">
            <a:xfrm>
              <a:off x="1518" y="162"/>
              <a:ext cx="2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68" name="Line 1316"/>
            <p:cNvSpPr>
              <a:spLocks noChangeShapeType="1"/>
            </p:cNvSpPr>
            <p:nvPr/>
          </p:nvSpPr>
          <p:spPr bwMode="auto">
            <a:xfrm>
              <a:off x="1524" y="456"/>
              <a:ext cx="2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69" name="Line 1317"/>
            <p:cNvSpPr>
              <a:spLocks noChangeShapeType="1"/>
            </p:cNvSpPr>
            <p:nvPr/>
          </p:nvSpPr>
          <p:spPr bwMode="auto">
            <a:xfrm>
              <a:off x="1422" y="791"/>
              <a:ext cx="3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70" name="Line 1318"/>
            <p:cNvSpPr>
              <a:spLocks noChangeShapeType="1"/>
            </p:cNvSpPr>
            <p:nvPr/>
          </p:nvSpPr>
          <p:spPr bwMode="auto">
            <a:xfrm>
              <a:off x="1518" y="935"/>
              <a:ext cx="2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71" name="Line 1319"/>
            <p:cNvSpPr>
              <a:spLocks noChangeShapeType="1"/>
            </p:cNvSpPr>
            <p:nvPr/>
          </p:nvSpPr>
          <p:spPr bwMode="auto">
            <a:xfrm>
              <a:off x="1524" y="1079"/>
              <a:ext cx="21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5128" name="Picture 289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09" t="33333" r="13281" b="44792"/>
          <a:stretch>
            <a:fillRect/>
          </a:stretch>
        </p:blipFill>
        <p:spPr bwMode="auto">
          <a:xfrm>
            <a:off x="412750" y="1138238"/>
            <a:ext cx="27940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9" name="Group 28921"/>
          <p:cNvGrpSpPr>
            <a:grpSpLocks/>
          </p:cNvGrpSpPr>
          <p:nvPr/>
        </p:nvGrpSpPr>
        <p:grpSpPr bwMode="auto">
          <a:xfrm>
            <a:off x="476250" y="1916113"/>
            <a:ext cx="1333500" cy="268287"/>
            <a:chOff x="28575" y="19050"/>
            <a:chExt cx="1648" cy="268"/>
          </a:xfrm>
        </p:grpSpPr>
        <p:pic>
          <p:nvPicPr>
            <p:cNvPr id="5139" name="Picture 2892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380" b="80222"/>
            <a:stretch>
              <a:fillRect/>
            </a:stretch>
          </p:blipFill>
          <p:spPr bwMode="auto">
            <a:xfrm>
              <a:off x="28991" y="19051"/>
              <a:ext cx="123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40" name="Picture 2892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968" b="80222"/>
            <a:stretch>
              <a:fillRect/>
            </a:stretch>
          </p:blipFill>
          <p:spPr bwMode="auto">
            <a:xfrm>
              <a:off x="28575" y="19050"/>
              <a:ext cx="55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30" name="Group 28924"/>
          <p:cNvGrpSpPr>
            <a:grpSpLocks/>
          </p:cNvGrpSpPr>
          <p:nvPr/>
        </p:nvGrpSpPr>
        <p:grpSpPr bwMode="auto">
          <a:xfrm>
            <a:off x="476250" y="2500313"/>
            <a:ext cx="1357313" cy="292100"/>
            <a:chOff x="0" y="704850"/>
            <a:chExt cx="1602" cy="320"/>
          </a:xfrm>
        </p:grpSpPr>
        <p:pic>
          <p:nvPicPr>
            <p:cNvPr id="5137" name="Picture 2892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959" t="23555" b="56520"/>
            <a:stretch>
              <a:fillRect/>
            </a:stretch>
          </p:blipFill>
          <p:spPr bwMode="auto">
            <a:xfrm>
              <a:off x="499" y="704850"/>
              <a:ext cx="110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8" name="Picture 2892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55" r="88229" b="52963"/>
            <a:stretch>
              <a:fillRect/>
            </a:stretch>
          </p:blipFill>
          <p:spPr bwMode="auto">
            <a:xfrm>
              <a:off x="0" y="704853"/>
              <a:ext cx="58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31" name="Group 28933"/>
          <p:cNvGrpSpPr>
            <a:grpSpLocks/>
          </p:cNvGrpSpPr>
          <p:nvPr/>
        </p:nvGrpSpPr>
        <p:grpSpPr bwMode="auto">
          <a:xfrm>
            <a:off x="2068513" y="2470150"/>
            <a:ext cx="1385887" cy="268288"/>
            <a:chOff x="2095500" y="714375"/>
            <a:chExt cx="1536" cy="407"/>
          </a:xfrm>
        </p:grpSpPr>
        <p:pic>
          <p:nvPicPr>
            <p:cNvPr id="5135" name="Picture 2893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293" t="50444" b="26074"/>
            <a:stretch>
              <a:fillRect/>
            </a:stretch>
          </p:blipFill>
          <p:spPr bwMode="auto">
            <a:xfrm>
              <a:off x="2096259" y="714375"/>
              <a:ext cx="777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6" name="Picture 2893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444" r="81874" b="26074"/>
            <a:stretch>
              <a:fillRect/>
            </a:stretch>
          </p:blipFill>
          <p:spPr bwMode="auto">
            <a:xfrm>
              <a:off x="2095500" y="714377"/>
              <a:ext cx="897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32" name="Group 28936"/>
          <p:cNvGrpSpPr>
            <a:grpSpLocks/>
          </p:cNvGrpSpPr>
          <p:nvPr/>
        </p:nvGrpSpPr>
        <p:grpSpPr bwMode="auto">
          <a:xfrm>
            <a:off x="2060575" y="1924050"/>
            <a:ext cx="1393825" cy="274638"/>
            <a:chOff x="2095500" y="0"/>
            <a:chExt cx="1669" cy="320"/>
          </a:xfrm>
        </p:grpSpPr>
        <p:pic>
          <p:nvPicPr>
            <p:cNvPr id="5133" name="Picture 28937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3394" t="77333" b="-815"/>
            <a:stretch>
              <a:fillRect/>
            </a:stretch>
          </p:blipFill>
          <p:spPr bwMode="auto">
            <a:xfrm>
              <a:off x="2096338" y="0"/>
              <a:ext cx="831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34" name="Picture 2893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333" r="80055" b="-815"/>
            <a:stretch>
              <a:fillRect/>
            </a:stretch>
          </p:blipFill>
          <p:spPr bwMode="auto">
            <a:xfrm>
              <a:off x="2095500" y="3"/>
              <a:ext cx="99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6"/>
          <p:cNvSpPr>
            <a:spLocks noChangeShapeType="1"/>
          </p:cNvSpPr>
          <p:nvPr/>
        </p:nvSpPr>
        <p:spPr bwMode="auto">
          <a:xfrm>
            <a:off x="304800" y="608013"/>
            <a:ext cx="62484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0" name="Text Box 5"/>
          <p:cNvSpPr txBox="1">
            <a:spLocks noChangeArrowheads="1"/>
          </p:cNvSpPr>
          <p:nvPr/>
        </p:nvSpPr>
        <p:spPr bwMode="auto">
          <a:xfrm>
            <a:off x="174625" y="239713"/>
            <a:ext cx="8985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</a:rPr>
              <a:t>Khí nén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54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solidFill>
                <a:srgbClr val="FF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72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solidFill>
                <a:srgbClr val="FF0000"/>
              </a:solidFill>
              <a:latin typeface="Arial" charset="0"/>
              <a:ea typeface="돋움" pitchFamily="50" charset="-127"/>
            </a:endParaRP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92100" y="817563"/>
            <a:ext cx="167957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>
                <a:latin typeface="돋움" pitchFamily="50" charset="-127"/>
                <a:ea typeface="돋움" pitchFamily="50" charset="-127"/>
              </a:rPr>
              <a:t>※ Khí nén</a:t>
            </a:r>
            <a:r>
              <a:rPr lang="ko-KR" altLang="en-US" sz="1000" b="1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000" b="1">
                <a:latin typeface="돋움" pitchFamily="50" charset="-127"/>
                <a:ea typeface="돋움" pitchFamily="50" charset="-127"/>
              </a:rPr>
              <a:t>: Câu 41</a:t>
            </a:r>
            <a:r>
              <a:rPr lang="ko-KR" altLang="en-US" sz="1000" b="1">
                <a:latin typeface="돋움" pitchFamily="50" charset="-127"/>
                <a:ea typeface="돋움" pitchFamily="50" charset="-127"/>
              </a:rPr>
              <a:t> </a:t>
            </a:r>
            <a:r>
              <a:rPr lang="en-US" altLang="ko-KR" sz="1000" b="1">
                <a:latin typeface="돋움" pitchFamily="50" charset="-127"/>
                <a:ea typeface="돋움" pitchFamily="50" charset="-127"/>
              </a:rPr>
              <a:t>~ 60</a:t>
            </a:r>
            <a:endParaRPr lang="ko-KR" altLang="en-US" sz="1000" b="1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151" name="Rectangle 31"/>
          <p:cNvSpPr>
            <a:spLocks noChangeArrowheads="1"/>
          </p:cNvSpPr>
          <p:nvPr/>
        </p:nvSpPr>
        <p:spPr bwMode="auto">
          <a:xfrm>
            <a:off x="260350" y="4560888"/>
            <a:ext cx="3168650" cy="106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43. Chức năng nào không phải của bộ giảm thanh khí nén?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Hiệu quả giảm tiếng ồn tốt.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Không bị biến dạng do va đập hoặc rung động của ống xả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Lực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kháng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xả phải lớn và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không làm ảnh hưởng tới hoạt động của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bộ truyền động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Nó phải có hình dạng nhỏ gọn, dễ lắp vào van điện từ, v.v.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6152" name="Rectangle 33"/>
          <p:cNvSpPr>
            <a:spLocks noChangeArrowheads="1"/>
          </p:cNvSpPr>
          <p:nvPr/>
        </p:nvSpPr>
        <p:spPr bwMode="auto">
          <a:xfrm>
            <a:off x="3394075" y="920750"/>
            <a:ext cx="316865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46. Đặc điểm nào không phải của van đệm?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① Lực hoạt động của van nhỏ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② Thích hợp cho van vận hành tự động hoặc áp suất cao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③ Cấu trúc đơn giản và dễ sản xuất với độ chính xác cao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④ Quãng đường di chuyển của bộ phận chuyển động ngắn nên tốc độ đóng mở nhanh.</a:t>
            </a:r>
          </a:p>
        </p:txBody>
      </p:sp>
      <p:sp>
        <p:nvSpPr>
          <p:cNvPr id="6153" name="Rectangle 111"/>
          <p:cNvSpPr>
            <a:spLocks noChangeArrowheads="1"/>
          </p:cNvSpPr>
          <p:nvPr/>
        </p:nvSpPr>
        <p:spPr bwMode="auto">
          <a:xfrm>
            <a:off x="3381375" y="4953000"/>
            <a:ext cx="3222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49. Tùy theo phương thức hoạt động mà loại van điều hướng nào khác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biệt nhất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6154" name="Rectangle 76"/>
          <p:cNvSpPr>
            <a:spLocks noChangeArrowheads="1"/>
          </p:cNvSpPr>
          <p:nvPr/>
        </p:nvSpPr>
        <p:spPr bwMode="auto">
          <a:xfrm>
            <a:off x="266700" y="8408988"/>
            <a:ext cx="31623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45. Trong số các máy nén piston, phương pháp làm mát nào được sử dụng cho cỡ trung bình / lớn?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Loại làm mát bằng nước 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Loại làm lạnh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Loại làm mát bằng không khí 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Loại hấp phụ</a:t>
            </a:r>
            <a:endParaRPr lang="ko-KR" altLang="en-US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6155" name="Text Box 44"/>
          <p:cNvSpPr txBox="1">
            <a:spLocks noChangeArrowheads="1"/>
          </p:cNvSpPr>
          <p:nvPr/>
        </p:nvSpPr>
        <p:spPr bwMode="auto">
          <a:xfrm>
            <a:off x="3400425" y="3746500"/>
            <a:ext cx="3162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48. Đâu không phải là nhược điểm của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kỹ thuật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khí nén?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① Không có độ đàn hồi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② Khó kiểm soát tốc độ chính xác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③ Hiệu quả kém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④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Ngừng giữa chừng khó khăn.</a:t>
            </a:r>
            <a:endParaRPr lang="vi-VN" altLang="ko-KR" sz="9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56" name="Text Box 22"/>
          <p:cNvSpPr txBox="1">
            <a:spLocks noChangeArrowheads="1"/>
          </p:cNvSpPr>
          <p:nvPr/>
        </p:nvSpPr>
        <p:spPr bwMode="auto">
          <a:xfrm>
            <a:off x="3395663" y="2384425"/>
            <a:ext cx="3201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47.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Quay đĩa quay với tốc độ cao, tăng lượng chuyển động của chất khí thông qua cánh làm tăng  tốc độ và áp suất.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Động cơ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khí nén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trên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① Động cơ bánh răng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② Động cơ piston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③ Động cơ kiểu tuabin ④ Động cơ kiểu cánh gạt</a:t>
            </a:r>
          </a:p>
        </p:txBody>
      </p:sp>
      <p:sp>
        <p:nvSpPr>
          <p:cNvPr id="6157" name="Rectangle 151"/>
          <p:cNvSpPr>
            <a:spLocks noChangeArrowheads="1"/>
          </p:cNvSpPr>
          <p:nvPr/>
        </p:nvSpPr>
        <p:spPr bwMode="auto">
          <a:xfrm>
            <a:off x="260350" y="6234113"/>
            <a:ext cx="31686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44.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Đáp án nào khác biệt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mô tả mạch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Meter In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và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Meter Out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Khi mặt buồng ngược ở trạng thái tự do, áp suất khí nén tăng ngay lập tức.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Vì áp suất trong buồng chuyển tiếp ở trạng thái dòng chảy tự do, giảm xuống áp suất khí quyển</a:t>
            </a:r>
          </a:p>
          <a:p>
            <a:pPr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Do không khí có khả năng nén nên quá trình khởi động nhanh của piston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hó ngăn chặn hoàn toàn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Do lực đẩy gây ra bởi chênh lệch áp suất giữa buồng tiến và buồng lùi, pít-tông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d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i chuyển tương đối đồng đều</a:t>
            </a:r>
          </a:p>
        </p:txBody>
      </p:sp>
      <p:sp>
        <p:nvSpPr>
          <p:cNvPr id="6158" name="Rectangle 100"/>
          <p:cNvSpPr>
            <a:spLocks noChangeArrowheads="1"/>
          </p:cNvSpPr>
          <p:nvPr/>
        </p:nvSpPr>
        <p:spPr bwMode="auto">
          <a:xfrm>
            <a:off x="3405188" y="8337550"/>
            <a:ext cx="31877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51. C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âu nào sai khi nói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về cách thức hoạt động của van điện từ?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Chống va đập tốt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Tiếng ồn van thấp và sinh nhiệt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Thời gian chuyển đổi van nhanh chóng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Tiêu thụ điện thấp</a:t>
            </a:r>
          </a:p>
        </p:txBody>
      </p:sp>
      <p:sp>
        <p:nvSpPr>
          <p:cNvPr id="6159" name="Rectangle 95"/>
          <p:cNvSpPr>
            <a:spLocks noChangeArrowheads="1"/>
          </p:cNvSpPr>
          <p:nvPr/>
        </p:nvSpPr>
        <p:spPr bwMode="auto">
          <a:xfrm>
            <a:off x="269875" y="1208088"/>
            <a:ext cx="31591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41. Thiết bị khí nén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tạo chân không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theo nguyên lý Venturi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Công tắc áp suất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Ejector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Tấm đệm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Van điện từ</a:t>
            </a:r>
          </a:p>
        </p:txBody>
      </p:sp>
      <p:sp>
        <p:nvSpPr>
          <p:cNvPr id="6160" name="Rectangle 128"/>
          <p:cNvSpPr>
            <a:spLocks noChangeArrowheads="1"/>
          </p:cNvSpPr>
          <p:nvPr/>
        </p:nvSpPr>
        <p:spPr bwMode="auto">
          <a:xfrm>
            <a:off x="260350" y="2505075"/>
            <a:ext cx="3168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42. Khi áp suất không khí trong mạch vượt quá giá trị đặt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,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Để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điều chỉnh áp suất, sử dụng van nào dưới đây?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①                                        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③                                        ④</a:t>
            </a:r>
          </a:p>
        </p:txBody>
      </p:sp>
      <p:pic>
        <p:nvPicPr>
          <p:cNvPr id="6161" name="Picture 8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5411788"/>
            <a:ext cx="561975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2" name="Picture 8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388" y="5422900"/>
            <a:ext cx="50482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3" name="Picture 9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0" y="5670550"/>
            <a:ext cx="561975" cy="20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4" name="Picture 9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725" y="5699125"/>
            <a:ext cx="495300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5" name="Picture 8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8" y="3081338"/>
            <a:ext cx="701675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6" name="Picture 8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8" y="3584575"/>
            <a:ext cx="614362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7" name="Picture 8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113" y="3689350"/>
            <a:ext cx="742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8" name="Picture 8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3" y="3008313"/>
            <a:ext cx="6858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69" name="Rectangle 170"/>
          <p:cNvSpPr>
            <a:spLocks noChangeArrowheads="1"/>
          </p:cNvSpPr>
          <p:nvPr/>
        </p:nvSpPr>
        <p:spPr bwMode="auto">
          <a:xfrm>
            <a:off x="3395663" y="6176963"/>
            <a:ext cx="320675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50. Điều gì sai với tên của ký hiệu van điều khiển hướng?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㉠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loại hoạt động trực tiếp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② </a:t>
            </a:r>
            <a:r>
              <a:rPr lang="ko-KR" altLang="en-US" sz="900">
                <a:latin typeface="돋움" pitchFamily="50" charset="-127"/>
                <a:ea typeface="돋움" pitchFamily="50" charset="-127"/>
                <a:cs typeface="Times New Roman" pitchFamily="18" charset="0"/>
              </a:rPr>
              <a:t>㉡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hoạt động thủ công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㉢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vị trí ban đầu của van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</a:t>
            </a:r>
            <a:r>
              <a:rPr lang="ko-KR" altLang="en-US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㉣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tín hiệu điện</a:t>
            </a:r>
          </a:p>
        </p:txBody>
      </p:sp>
      <p:pic>
        <p:nvPicPr>
          <p:cNvPr id="6170" name="Picture 2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25" y="6535738"/>
            <a:ext cx="127635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71" name="TextBox 24"/>
          <p:cNvSpPr txBox="1">
            <a:spLocks noChangeArrowheads="1"/>
          </p:cNvSpPr>
          <p:nvPr/>
        </p:nvSpPr>
        <p:spPr bwMode="auto">
          <a:xfrm>
            <a:off x="3632200" y="6451600"/>
            <a:ext cx="76200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돋움" pitchFamily="50" charset="-127"/>
                <a:ea typeface="돋움" pitchFamily="50" charset="-127"/>
              </a:rPr>
              <a:t>㉡수동조작</a:t>
            </a:r>
          </a:p>
        </p:txBody>
      </p:sp>
      <p:cxnSp>
        <p:nvCxnSpPr>
          <p:cNvPr id="6172" name="직선 화살표 연결선 26"/>
          <p:cNvCxnSpPr>
            <a:cxnSpLocks noChangeShapeType="1"/>
          </p:cNvCxnSpPr>
          <p:nvPr/>
        </p:nvCxnSpPr>
        <p:spPr bwMode="auto">
          <a:xfrm>
            <a:off x="3946525" y="6640513"/>
            <a:ext cx="215900" cy="139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73" name="직선 화살표 연결선 27"/>
          <p:cNvCxnSpPr>
            <a:cxnSpLocks noChangeShapeType="1"/>
          </p:cNvCxnSpPr>
          <p:nvPr/>
        </p:nvCxnSpPr>
        <p:spPr bwMode="auto">
          <a:xfrm flipH="1">
            <a:off x="4946650" y="6640513"/>
            <a:ext cx="352425" cy="1952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74" name="TextBox 28"/>
          <p:cNvSpPr txBox="1">
            <a:spLocks noChangeArrowheads="1"/>
          </p:cNvSpPr>
          <p:nvPr/>
        </p:nvSpPr>
        <p:spPr bwMode="auto">
          <a:xfrm>
            <a:off x="5165725" y="6451600"/>
            <a:ext cx="992188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돋움" pitchFamily="50" charset="-127"/>
                <a:ea typeface="돋움" pitchFamily="50" charset="-127"/>
              </a:rPr>
              <a:t>㉢밸브초기위치</a:t>
            </a:r>
          </a:p>
        </p:txBody>
      </p:sp>
      <p:cxnSp>
        <p:nvCxnSpPr>
          <p:cNvPr id="6175" name="직선 화살표 연결선 29"/>
          <p:cNvCxnSpPr>
            <a:cxnSpLocks noChangeShapeType="1"/>
          </p:cNvCxnSpPr>
          <p:nvPr/>
        </p:nvCxnSpPr>
        <p:spPr bwMode="auto">
          <a:xfrm flipH="1" flipV="1">
            <a:off x="5029200" y="6926263"/>
            <a:ext cx="195263" cy="1762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76" name="TextBox 30"/>
          <p:cNvSpPr txBox="1">
            <a:spLocks noChangeArrowheads="1"/>
          </p:cNvSpPr>
          <p:nvPr/>
        </p:nvSpPr>
        <p:spPr bwMode="auto">
          <a:xfrm>
            <a:off x="5165725" y="7077075"/>
            <a:ext cx="87630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돋움" pitchFamily="50" charset="-127"/>
                <a:ea typeface="돋움" pitchFamily="50" charset="-127"/>
              </a:rPr>
              <a:t>㉠간접작동형</a:t>
            </a:r>
          </a:p>
        </p:txBody>
      </p:sp>
      <p:cxnSp>
        <p:nvCxnSpPr>
          <p:cNvPr id="6177" name="직선 화살표 연결선 31"/>
          <p:cNvCxnSpPr>
            <a:cxnSpLocks noChangeShapeType="1"/>
          </p:cNvCxnSpPr>
          <p:nvPr/>
        </p:nvCxnSpPr>
        <p:spPr bwMode="auto">
          <a:xfrm flipV="1">
            <a:off x="4016375" y="6916738"/>
            <a:ext cx="133350" cy="1793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78" name="TextBox 32"/>
          <p:cNvSpPr txBox="1">
            <a:spLocks noChangeArrowheads="1"/>
          </p:cNvSpPr>
          <p:nvPr/>
        </p:nvSpPr>
        <p:spPr bwMode="auto">
          <a:xfrm>
            <a:off x="3584575" y="7100888"/>
            <a:ext cx="7620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900">
                <a:latin typeface="돋움" pitchFamily="50" charset="-127"/>
                <a:ea typeface="돋움" pitchFamily="50" charset="-127"/>
              </a:rPr>
              <a:t>㉣전기신호</a:t>
            </a:r>
          </a:p>
        </p:txBody>
      </p:sp>
      <p:sp>
        <p:nvSpPr>
          <p:cNvPr id="6179" name="직사각형 6"/>
          <p:cNvSpPr>
            <a:spLocks noChangeArrowheads="1"/>
          </p:cNvSpPr>
          <p:nvPr/>
        </p:nvSpPr>
        <p:spPr bwMode="auto">
          <a:xfrm>
            <a:off x="4537075" y="6650038"/>
            <a:ext cx="215900" cy="69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180" name="직사각형 41"/>
          <p:cNvSpPr>
            <a:spLocks noChangeArrowheads="1"/>
          </p:cNvSpPr>
          <p:nvPr/>
        </p:nvSpPr>
        <p:spPr bwMode="auto">
          <a:xfrm>
            <a:off x="4537075" y="6962775"/>
            <a:ext cx="23495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6"/>
          <p:cNvSpPr>
            <a:spLocks noChangeShapeType="1"/>
          </p:cNvSpPr>
          <p:nvPr/>
        </p:nvSpPr>
        <p:spPr bwMode="auto">
          <a:xfrm>
            <a:off x="304800" y="608013"/>
            <a:ext cx="62484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74625" y="239713"/>
            <a:ext cx="8985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Khí nén</a:t>
            </a:r>
            <a:endParaRPr lang="ko-KR" altLang="en-US" sz="16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3048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Ins="54000"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3429000" y="776288"/>
            <a:ext cx="3124200" cy="8901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>
              <a:solidFill>
                <a:srgbClr val="FF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7174" name="Rectangle 131"/>
          <p:cNvSpPr>
            <a:spLocks noChangeArrowheads="1"/>
          </p:cNvSpPr>
          <p:nvPr/>
        </p:nvSpPr>
        <p:spPr bwMode="auto">
          <a:xfrm>
            <a:off x="260350" y="839788"/>
            <a:ext cx="31686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52. Đâu không phải là phương pháp làm khô của máy sấy khí?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Máy sấy khí làm mát bằng nước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② Máy sấy khí hấp thụ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Máy sấy khí làm mát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Máy sấy khí hấp phụ</a:t>
            </a:r>
            <a:endParaRPr lang="ko-KR" altLang="en-US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7175" name="Rectangle 144"/>
          <p:cNvSpPr>
            <a:spLocks noChangeArrowheads="1"/>
          </p:cNvSpPr>
          <p:nvPr/>
        </p:nvSpPr>
        <p:spPr bwMode="auto">
          <a:xfrm>
            <a:off x="3409950" y="5275263"/>
            <a:ext cx="3168650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59.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Giải thích đúng về chức năng của rơle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dưới đây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là gì?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algn="just" eaLnBrk="1" hangingPunct="1"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Có thể cho dòng điện gấp hàng chục lần dòng điện nhập ở  tiếp điểm đầu ra khi nhập lực điện từ tiêu thụ của coil rơ le.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                                                          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Chức năng bộ nhớ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    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② Chức năng rẽ nhánh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Chức năng khuếch đại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④ Chức năng chuyển đổi</a:t>
            </a:r>
          </a:p>
        </p:txBody>
      </p:sp>
      <p:sp>
        <p:nvSpPr>
          <p:cNvPr id="7176" name="Rectangle 151"/>
          <p:cNvSpPr>
            <a:spLocks noChangeArrowheads="1"/>
          </p:cNvSpPr>
          <p:nvPr/>
        </p:nvSpPr>
        <p:spPr bwMode="auto">
          <a:xfrm>
            <a:off x="269875" y="2025650"/>
            <a:ext cx="320675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53. Đâu không phải là ưu điểm của ống nhựa?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Có khả năng tăng dung lượng nhiều hơn so với tỷ lệ đường kính ống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Giá thành đắt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Dễ duy trì, bảo dưỡng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Có tính mềm dẻo, linh động nên dễ thao tác và dễ sử dụng với cả ống dẫn của máy có bộ phận quay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.</a:t>
            </a:r>
          </a:p>
        </p:txBody>
      </p:sp>
      <p:sp>
        <p:nvSpPr>
          <p:cNvPr id="7177" name="Rectangle 153"/>
          <p:cNvSpPr>
            <a:spLocks noChangeArrowheads="1"/>
          </p:cNvSpPr>
          <p:nvPr/>
        </p:nvSpPr>
        <p:spPr bwMode="auto">
          <a:xfrm>
            <a:off x="260350" y="6478588"/>
            <a:ext cx="320675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56.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Cho khí nén đi qua tại một vị trí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điều khiển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nào đó và dừng tại vị trí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điều khiển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khác, được sử dụng chủ yếu với  vai trò là van chuyên để dừng. Là loại van nào ?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nl-NL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Van 3 cửa 2 vị trí       ② Van chặn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Van áp suất                ④ Van 2 cửa 2 vị trí</a:t>
            </a:r>
          </a:p>
        </p:txBody>
      </p:sp>
      <p:sp>
        <p:nvSpPr>
          <p:cNvPr id="7178" name="Rectangle 170"/>
          <p:cNvSpPr>
            <a:spLocks noChangeArrowheads="1"/>
          </p:cNvSpPr>
          <p:nvPr/>
        </p:nvSpPr>
        <p:spPr bwMode="auto">
          <a:xfrm>
            <a:off x="3429000" y="6699250"/>
            <a:ext cx="3206750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60. Sơ đồ mạch khí nén của van trễ thời gian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</a:t>
            </a:r>
          </a:p>
        </p:txBody>
      </p:sp>
      <p:sp>
        <p:nvSpPr>
          <p:cNvPr id="7179" name="Text Box 17"/>
          <p:cNvSpPr txBox="1">
            <a:spLocks noChangeArrowheads="1"/>
          </p:cNvSpPr>
          <p:nvPr/>
        </p:nvSpPr>
        <p:spPr bwMode="auto">
          <a:xfrm>
            <a:off x="260350" y="7689850"/>
            <a:ext cx="31686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57.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Có ưu điểm là tối thiểu hóa diện tích lắp đặt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, lực đẩy tiến / lùi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đồng nhất, d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ừng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giữa chừng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 tốt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Đang nói tới loại xilanh nào?</a:t>
            </a:r>
            <a:endParaRPr lang="vi-VN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 ①                                                   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 ③                                                   ④</a:t>
            </a:r>
          </a:p>
        </p:txBody>
      </p:sp>
      <p:sp>
        <p:nvSpPr>
          <p:cNvPr id="7180" name="Text Box 44"/>
          <p:cNvSpPr txBox="1">
            <a:spLocks noChangeArrowheads="1"/>
          </p:cNvSpPr>
          <p:nvPr/>
        </p:nvSpPr>
        <p:spPr bwMode="auto">
          <a:xfrm>
            <a:off x="269875" y="3513138"/>
            <a:ext cx="3135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54.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vi-VN" altLang="ko-KR" sz="900">
                <a:latin typeface="Times New Roman" pitchFamily="18" charset="0"/>
                <a:cs typeface="Times New Roman" pitchFamily="18" charset="0"/>
              </a:rPr>
              <a:t>oạt động độc lập ở hai hoặc nhiều vị trí điều khiển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, có thể được gọi là van kiểm tra đôi. Là loại van nào?</a:t>
            </a:r>
            <a:endParaRPr lang="vi-VN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①                                   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③                                   ④</a:t>
            </a:r>
            <a:endParaRPr lang="ko-KR" altLang="en-US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7181" name="Rectangle 97"/>
          <p:cNvSpPr>
            <a:spLocks noChangeArrowheads="1"/>
          </p:cNvSpPr>
          <p:nvPr/>
        </p:nvSpPr>
        <p:spPr bwMode="auto">
          <a:xfrm>
            <a:off x="266700" y="5240338"/>
            <a:ext cx="3162300" cy="106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55.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Duy trì áp suất chất khí cố định và khi nhiệt độ và thể tích thay đổi thì nhiệt độ và thể tích tỷ lệ thuận với nhau.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Là định luật nào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① Định luật Pascal   ② Định luật Charles-Boyle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Định luật Charles ④ Định luật Boyle</a:t>
            </a:r>
          </a:p>
        </p:txBody>
      </p:sp>
      <p:sp>
        <p:nvSpPr>
          <p:cNvPr id="7182" name="직사각형 1"/>
          <p:cNvSpPr>
            <a:spLocks noChangeArrowheads="1"/>
          </p:cNvSpPr>
          <p:nvPr/>
        </p:nvSpPr>
        <p:spPr bwMode="auto">
          <a:xfrm>
            <a:off x="3476625" y="5556250"/>
            <a:ext cx="3048000" cy="47625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7183" name="Picture 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2238" y="7727950"/>
            <a:ext cx="157003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84" name="자유형 37"/>
          <p:cNvSpPr>
            <a:spLocks/>
          </p:cNvSpPr>
          <p:nvPr/>
        </p:nvSpPr>
        <p:spPr bwMode="auto">
          <a:xfrm>
            <a:off x="4344988" y="8058150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7185" name="Picture 4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8362950"/>
            <a:ext cx="2366963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86" name="자유형 39"/>
          <p:cNvSpPr>
            <a:spLocks/>
          </p:cNvSpPr>
          <p:nvPr/>
        </p:nvSpPr>
        <p:spPr bwMode="auto">
          <a:xfrm>
            <a:off x="4179888" y="8843963"/>
            <a:ext cx="77787" cy="111125"/>
          </a:xfrm>
          <a:custGeom>
            <a:avLst/>
            <a:gdLst>
              <a:gd name="T0" fmla="*/ 0 w 85725"/>
              <a:gd name="T1" fmla="*/ 0 h 133350"/>
              <a:gd name="T2" fmla="*/ 77932 w 85725"/>
              <a:gd name="T3" fmla="*/ 47231 h 133350"/>
              <a:gd name="T4" fmla="*/ 8659 w 85725"/>
              <a:gd name="T5" fmla="*/ 110206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7187" name="자유형 40"/>
          <p:cNvSpPr>
            <a:spLocks/>
          </p:cNvSpPr>
          <p:nvPr/>
        </p:nvSpPr>
        <p:spPr bwMode="auto">
          <a:xfrm rot="10800000">
            <a:off x="4714875" y="8597900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7188" name="Picture 4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13" y="8985250"/>
            <a:ext cx="704850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9" name="Picture 4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25" y="6969125"/>
            <a:ext cx="1738313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190" name="직선 연결선 43"/>
          <p:cNvCxnSpPr>
            <a:cxnSpLocks noChangeShapeType="1"/>
          </p:cNvCxnSpPr>
          <p:nvPr/>
        </p:nvCxnSpPr>
        <p:spPr bwMode="auto">
          <a:xfrm>
            <a:off x="5187950" y="9039225"/>
            <a:ext cx="0" cy="1190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1" name="직선 연결선 44"/>
          <p:cNvCxnSpPr>
            <a:cxnSpLocks noChangeShapeType="1"/>
          </p:cNvCxnSpPr>
          <p:nvPr/>
        </p:nvCxnSpPr>
        <p:spPr bwMode="auto">
          <a:xfrm>
            <a:off x="5187950" y="9537700"/>
            <a:ext cx="0" cy="873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192" name="Picture 4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5575" y="9094788"/>
            <a:ext cx="8953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93" name="자유형 46"/>
          <p:cNvSpPr>
            <a:spLocks/>
          </p:cNvSpPr>
          <p:nvPr/>
        </p:nvSpPr>
        <p:spPr bwMode="auto">
          <a:xfrm rot="10800000">
            <a:off x="4119563" y="7199313"/>
            <a:ext cx="85725" cy="133350"/>
          </a:xfrm>
          <a:custGeom>
            <a:avLst/>
            <a:gdLst>
              <a:gd name="T0" fmla="*/ 0 w 85725"/>
              <a:gd name="T1" fmla="*/ 0 h 133350"/>
              <a:gd name="T2" fmla="*/ 85725 w 85725"/>
              <a:gd name="T3" fmla="*/ 57150 h 133350"/>
              <a:gd name="T4" fmla="*/ 9525 w 85725"/>
              <a:gd name="T5" fmla="*/ 133350 h 1333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5725" h="133350">
                <a:moveTo>
                  <a:pt x="0" y="0"/>
                </a:moveTo>
                <a:lnTo>
                  <a:pt x="85725" y="57150"/>
                </a:lnTo>
                <a:lnTo>
                  <a:pt x="9525" y="133350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7194" name="Picture 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297363"/>
            <a:ext cx="6572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5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813" y="4667250"/>
            <a:ext cx="65722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6" name="Picture 2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4738688"/>
            <a:ext cx="573088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7" name="Picture 2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4335463"/>
            <a:ext cx="590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98" name="Rectangle 110"/>
          <p:cNvSpPr>
            <a:spLocks noChangeArrowheads="1"/>
          </p:cNvSpPr>
          <p:nvPr/>
        </p:nvSpPr>
        <p:spPr bwMode="auto">
          <a:xfrm>
            <a:off x="3429000" y="863600"/>
            <a:ext cx="31877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5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8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. C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họn đáp án có c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ấu trúc bên trong của van điều khiển hướng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so với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ký hiệu và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vị trí 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cổng không khớp.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                                     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③                                       ④</a:t>
            </a:r>
          </a:p>
        </p:txBody>
      </p:sp>
      <p:sp>
        <p:nvSpPr>
          <p:cNvPr id="7199" name="TextBox 55"/>
          <p:cNvSpPr txBox="1">
            <a:spLocks noChangeArrowheads="1"/>
          </p:cNvSpPr>
          <p:nvPr/>
        </p:nvSpPr>
        <p:spPr bwMode="auto">
          <a:xfrm>
            <a:off x="3630613" y="1858963"/>
            <a:ext cx="2524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돋움" pitchFamily="50" charset="-127"/>
                <a:ea typeface="돋움" pitchFamily="50" charset="-127"/>
              </a:rPr>
              <a:t>A</a:t>
            </a:r>
            <a:endParaRPr lang="ko-KR" altLang="en-US" sz="8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7200" name="직사각형 58"/>
          <p:cNvSpPr>
            <a:spLocks noChangeArrowheads="1"/>
          </p:cNvSpPr>
          <p:nvPr/>
        </p:nvSpPr>
        <p:spPr bwMode="auto">
          <a:xfrm>
            <a:off x="3697288" y="2525713"/>
            <a:ext cx="217487" cy="112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7201" name="TextBox 69"/>
          <p:cNvSpPr txBox="1">
            <a:spLocks noChangeArrowheads="1"/>
          </p:cNvSpPr>
          <p:nvPr/>
        </p:nvSpPr>
        <p:spPr bwMode="auto">
          <a:xfrm>
            <a:off x="6272213" y="1992313"/>
            <a:ext cx="2524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돋움" pitchFamily="50" charset="-127"/>
                <a:ea typeface="돋움" pitchFamily="50" charset="-127"/>
              </a:rPr>
              <a:t>R</a:t>
            </a:r>
            <a:endParaRPr lang="ko-KR" altLang="en-US" sz="8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7202" name="TextBox 87"/>
          <p:cNvSpPr txBox="1">
            <a:spLocks noChangeArrowheads="1"/>
          </p:cNvSpPr>
          <p:nvPr/>
        </p:nvSpPr>
        <p:spPr bwMode="auto">
          <a:xfrm>
            <a:off x="3657600" y="3038475"/>
            <a:ext cx="2476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돋움" pitchFamily="50" charset="-127"/>
                <a:ea typeface="돋움" pitchFamily="50" charset="-127"/>
              </a:rPr>
              <a:t>Z</a:t>
            </a:r>
            <a:endParaRPr lang="ko-KR" altLang="en-US" sz="800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7203" name="Group 1"/>
          <p:cNvGrpSpPr>
            <a:grpSpLocks/>
          </p:cNvGrpSpPr>
          <p:nvPr/>
        </p:nvGrpSpPr>
        <p:grpSpPr bwMode="auto">
          <a:xfrm>
            <a:off x="3744913" y="1323975"/>
            <a:ext cx="2665412" cy="3516313"/>
            <a:chOff x="3733800" y="1182688"/>
            <a:chExt cx="2736850" cy="3705225"/>
          </a:xfrm>
        </p:grpSpPr>
        <p:pic>
          <p:nvPicPr>
            <p:cNvPr id="7210" name="Picture 76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5238" y="1236663"/>
              <a:ext cx="944562" cy="12271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11" name="TextBox 53"/>
            <p:cNvSpPr txBox="1">
              <a:spLocks noChangeArrowheads="1"/>
            </p:cNvSpPr>
            <p:nvPr/>
          </p:nvSpPr>
          <p:spPr bwMode="auto">
            <a:xfrm>
              <a:off x="4667250" y="2036763"/>
              <a:ext cx="250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P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12" name="TextBox 54"/>
            <p:cNvSpPr txBox="1">
              <a:spLocks noChangeArrowheads="1"/>
            </p:cNvSpPr>
            <p:nvPr/>
          </p:nvSpPr>
          <p:spPr bwMode="auto">
            <a:xfrm>
              <a:off x="4667250" y="1649413"/>
              <a:ext cx="2540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R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13" name="TextBox 56"/>
            <p:cNvSpPr txBox="1">
              <a:spLocks noChangeArrowheads="1"/>
            </p:cNvSpPr>
            <p:nvPr/>
          </p:nvSpPr>
          <p:spPr bwMode="auto">
            <a:xfrm>
              <a:off x="4667250" y="1285875"/>
              <a:ext cx="247650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Z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pic>
          <p:nvPicPr>
            <p:cNvPr id="7214" name="Picture 77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55875"/>
              <a:ext cx="1063625" cy="271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15" name="TextBox 59"/>
            <p:cNvSpPr txBox="1">
              <a:spLocks noChangeArrowheads="1"/>
            </p:cNvSpPr>
            <p:nvPr/>
          </p:nvSpPr>
          <p:spPr bwMode="auto">
            <a:xfrm>
              <a:off x="4287838" y="2406650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16" name="TextBox 60"/>
            <p:cNvSpPr txBox="1">
              <a:spLocks noChangeArrowheads="1"/>
            </p:cNvSpPr>
            <p:nvPr/>
          </p:nvSpPr>
          <p:spPr bwMode="auto">
            <a:xfrm>
              <a:off x="4241800" y="277336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17" name="TextBox 61"/>
            <p:cNvSpPr txBox="1">
              <a:spLocks noChangeArrowheads="1"/>
            </p:cNvSpPr>
            <p:nvPr/>
          </p:nvSpPr>
          <p:spPr bwMode="auto">
            <a:xfrm>
              <a:off x="4365625" y="277336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3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pic>
          <p:nvPicPr>
            <p:cNvPr id="7218" name="Picture 78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8925" y="1182688"/>
              <a:ext cx="998538" cy="1300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219" name="Picture 79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3375" y="2552700"/>
              <a:ext cx="895350" cy="2936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20" name="TextBox 65"/>
            <p:cNvSpPr txBox="1">
              <a:spLocks noChangeArrowheads="1"/>
            </p:cNvSpPr>
            <p:nvPr/>
          </p:nvSpPr>
          <p:spPr bwMode="auto">
            <a:xfrm>
              <a:off x="5743575" y="2397125"/>
              <a:ext cx="242888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21" name="TextBox 66"/>
            <p:cNvSpPr txBox="1">
              <a:spLocks noChangeArrowheads="1"/>
            </p:cNvSpPr>
            <p:nvPr/>
          </p:nvSpPr>
          <p:spPr bwMode="auto">
            <a:xfrm>
              <a:off x="5281613" y="2482850"/>
              <a:ext cx="303212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22" name="TextBox 67"/>
            <p:cNvSpPr txBox="1">
              <a:spLocks noChangeArrowheads="1"/>
            </p:cNvSpPr>
            <p:nvPr/>
          </p:nvSpPr>
          <p:spPr bwMode="auto">
            <a:xfrm>
              <a:off x="5219700" y="2146300"/>
              <a:ext cx="250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P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23" name="TextBox 68"/>
            <p:cNvSpPr txBox="1">
              <a:spLocks noChangeArrowheads="1"/>
            </p:cNvSpPr>
            <p:nvPr/>
          </p:nvSpPr>
          <p:spPr bwMode="auto">
            <a:xfrm>
              <a:off x="5210175" y="1731963"/>
              <a:ext cx="2540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A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pic>
          <p:nvPicPr>
            <p:cNvPr id="7224" name="Picture 80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0" y="4437063"/>
              <a:ext cx="1084263" cy="298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225" name="Picture 81"/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4288" y="2989263"/>
              <a:ext cx="912812" cy="1370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26" name="TextBox 72"/>
            <p:cNvSpPr txBox="1">
              <a:spLocks noChangeArrowheads="1"/>
            </p:cNvSpPr>
            <p:nvPr/>
          </p:nvSpPr>
          <p:spPr bwMode="auto">
            <a:xfrm>
              <a:off x="3735388" y="4348163"/>
              <a:ext cx="303212" cy="215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27" name="TextBox 73"/>
            <p:cNvSpPr txBox="1">
              <a:spLocks noChangeArrowheads="1"/>
            </p:cNvSpPr>
            <p:nvPr/>
          </p:nvSpPr>
          <p:spPr bwMode="auto">
            <a:xfrm>
              <a:off x="4381500" y="4286250"/>
              <a:ext cx="242888" cy="214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28" name="TextBox 74"/>
            <p:cNvSpPr txBox="1">
              <a:spLocks noChangeArrowheads="1"/>
            </p:cNvSpPr>
            <p:nvPr/>
          </p:nvSpPr>
          <p:spPr bwMode="auto">
            <a:xfrm>
              <a:off x="4313238" y="4672013"/>
              <a:ext cx="242887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29" name="TextBox 75"/>
            <p:cNvSpPr txBox="1">
              <a:spLocks noChangeArrowheads="1"/>
            </p:cNvSpPr>
            <p:nvPr/>
          </p:nvSpPr>
          <p:spPr bwMode="auto">
            <a:xfrm>
              <a:off x="4452938" y="4672013"/>
              <a:ext cx="242887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3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pic>
          <p:nvPicPr>
            <p:cNvPr id="7230" name="Picture 82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7813" y="2935288"/>
              <a:ext cx="950912" cy="1417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31" name="TextBox 77"/>
            <p:cNvSpPr txBox="1">
              <a:spLocks noChangeArrowheads="1"/>
            </p:cNvSpPr>
            <p:nvPr/>
          </p:nvSpPr>
          <p:spPr bwMode="auto">
            <a:xfrm>
              <a:off x="6021388" y="2947988"/>
              <a:ext cx="254000" cy="2159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R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pic>
          <p:nvPicPr>
            <p:cNvPr id="7232" name="Picture 83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4950" y="4392613"/>
              <a:ext cx="1038225" cy="342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233" name="TextBox 79"/>
            <p:cNvSpPr txBox="1">
              <a:spLocks noChangeArrowheads="1"/>
            </p:cNvSpPr>
            <p:nvPr/>
          </p:nvSpPr>
          <p:spPr bwMode="auto">
            <a:xfrm>
              <a:off x="5765800" y="277336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34" name="TextBox 80"/>
            <p:cNvSpPr txBox="1">
              <a:spLocks noChangeArrowheads="1"/>
            </p:cNvSpPr>
            <p:nvPr/>
          </p:nvSpPr>
          <p:spPr bwMode="auto">
            <a:xfrm>
              <a:off x="5889625" y="277336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3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35" name="TextBox 81"/>
            <p:cNvSpPr txBox="1">
              <a:spLocks noChangeArrowheads="1"/>
            </p:cNvSpPr>
            <p:nvPr/>
          </p:nvSpPr>
          <p:spPr bwMode="auto">
            <a:xfrm>
              <a:off x="5791200" y="4257675"/>
              <a:ext cx="242888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36" name="TextBox 82"/>
            <p:cNvSpPr txBox="1">
              <a:spLocks noChangeArrowheads="1"/>
            </p:cNvSpPr>
            <p:nvPr/>
          </p:nvSpPr>
          <p:spPr bwMode="auto">
            <a:xfrm>
              <a:off x="5737225" y="4662488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37" name="TextBox 83"/>
            <p:cNvSpPr txBox="1">
              <a:spLocks noChangeArrowheads="1"/>
            </p:cNvSpPr>
            <p:nvPr/>
          </p:nvSpPr>
          <p:spPr bwMode="auto">
            <a:xfrm>
              <a:off x="5899150" y="4672013"/>
              <a:ext cx="24447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3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38" name="TextBox 84"/>
            <p:cNvSpPr txBox="1">
              <a:spLocks noChangeArrowheads="1"/>
            </p:cNvSpPr>
            <p:nvPr/>
          </p:nvSpPr>
          <p:spPr bwMode="auto">
            <a:xfrm>
              <a:off x="5224463" y="4344988"/>
              <a:ext cx="303212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12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39" name="TextBox 85"/>
            <p:cNvSpPr txBox="1">
              <a:spLocks noChangeArrowheads="1"/>
            </p:cNvSpPr>
            <p:nvPr/>
          </p:nvSpPr>
          <p:spPr bwMode="auto">
            <a:xfrm>
              <a:off x="6219825" y="3841750"/>
              <a:ext cx="250825" cy="215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P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40" name="TextBox 86"/>
            <p:cNvSpPr txBox="1">
              <a:spLocks noChangeArrowheads="1"/>
            </p:cNvSpPr>
            <p:nvPr/>
          </p:nvSpPr>
          <p:spPr bwMode="auto">
            <a:xfrm>
              <a:off x="6210300" y="3360738"/>
              <a:ext cx="2540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A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41" name="TextBox 88"/>
            <p:cNvSpPr txBox="1">
              <a:spLocks noChangeArrowheads="1"/>
            </p:cNvSpPr>
            <p:nvPr/>
          </p:nvSpPr>
          <p:spPr bwMode="auto">
            <a:xfrm>
              <a:off x="4638675" y="3465513"/>
              <a:ext cx="250825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P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242" name="TextBox 89"/>
            <p:cNvSpPr txBox="1">
              <a:spLocks noChangeArrowheads="1"/>
            </p:cNvSpPr>
            <p:nvPr/>
          </p:nvSpPr>
          <p:spPr bwMode="auto">
            <a:xfrm>
              <a:off x="4638675" y="3887788"/>
              <a:ext cx="254000" cy="214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charset="-127"/>
                  <a:ea typeface="굴림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ko-KR" sz="800">
                  <a:latin typeface="돋움" pitchFamily="50" charset="-127"/>
                  <a:ea typeface="돋움" pitchFamily="50" charset="-127"/>
                </a:rPr>
                <a:t>R</a:t>
              </a:r>
              <a:endParaRPr lang="ko-KR" altLang="en-US" sz="800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7204" name="TextBox 90"/>
          <p:cNvSpPr txBox="1">
            <a:spLocks noChangeArrowheads="1"/>
          </p:cNvSpPr>
          <p:nvPr/>
        </p:nvSpPr>
        <p:spPr bwMode="auto">
          <a:xfrm>
            <a:off x="3638550" y="3675063"/>
            <a:ext cx="2540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돋움" pitchFamily="50" charset="-127"/>
                <a:ea typeface="돋움" pitchFamily="50" charset="-127"/>
              </a:rPr>
              <a:t>A</a:t>
            </a:r>
            <a:endParaRPr lang="ko-KR" altLang="en-US" sz="800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7205" name="Picture 88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8408988"/>
            <a:ext cx="94297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06" name="Picture 89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337550"/>
            <a:ext cx="1104900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07" name="Picture 90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8929688"/>
            <a:ext cx="10350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08" name="Picture 91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8" y="8905875"/>
            <a:ext cx="1073150" cy="43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09" name="TextBox 62"/>
          <p:cNvSpPr txBox="1">
            <a:spLocks noChangeArrowheads="1"/>
          </p:cNvSpPr>
          <p:nvPr/>
        </p:nvSpPr>
        <p:spPr bwMode="auto">
          <a:xfrm>
            <a:off x="3659188" y="2541588"/>
            <a:ext cx="303212" cy="1762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800">
                <a:latin typeface="돋움" pitchFamily="50" charset="-127"/>
                <a:ea typeface="돋움" pitchFamily="50" charset="-127"/>
              </a:rPr>
              <a:t>12</a:t>
            </a:r>
            <a:endParaRPr lang="ko-KR" altLang="en-US" sz="80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>
            <a:spLocks noChangeShapeType="1"/>
          </p:cNvSpPr>
          <p:nvPr/>
        </p:nvSpPr>
        <p:spPr bwMode="auto">
          <a:xfrm>
            <a:off x="2286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78182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1001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Máy</a:t>
            </a:r>
            <a:r>
              <a:rPr lang="ko-KR" altLang="en-US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260350" y="776288"/>
            <a:ext cx="3124200" cy="8856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돋움" pitchFamily="50" charset="-127"/>
                <a:ea typeface="돋움" pitchFamily="50" charset="-127"/>
              </a:rPr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돋움" pitchFamily="50" charset="-127"/>
                <a:ea typeface="돋움" pitchFamily="50" charset="-127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292100" y="817563"/>
            <a:ext cx="151606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1000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※ Đề máy</a:t>
            </a:r>
            <a:r>
              <a:rPr lang="ko-KR" altLang="en-US" sz="1000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1000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: Câu 61</a:t>
            </a:r>
            <a:r>
              <a:rPr lang="ko-KR" altLang="en-US" sz="1000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</a:t>
            </a:r>
            <a:r>
              <a:rPr lang="en-US" altLang="ko-KR" sz="1000" b="1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~ 80</a:t>
            </a:r>
            <a:endParaRPr lang="ko-KR" altLang="en-US" sz="1000" b="1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6" name="직사각형 1"/>
          <p:cNvSpPr>
            <a:spLocks noChangeArrowheads="1"/>
          </p:cNvSpPr>
          <p:nvPr/>
        </p:nvSpPr>
        <p:spPr bwMode="auto">
          <a:xfrm>
            <a:off x="225425" y="1065213"/>
            <a:ext cx="3165475" cy="735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61. Điều gì sai với mô tả kỹ thuật của máy?</a:t>
            </a: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được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thành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tổng hợp các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linh kiện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Chuyển đổi cung cấp năng lượng hữu hạn</a:t>
            </a:r>
            <a:endParaRPr lang="vi-VN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 n</a:t>
            </a:r>
            <a:r>
              <a:rPr lang="vi-VN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hững </a:t>
            </a:r>
            <a:r>
              <a:rPr lang="vi-VN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chuyển động phù hợp với mục đích của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 người</a:t>
            </a:r>
            <a:endParaRPr lang="en-US" altLang="ko-KR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 cung cấp năng lượng để làm việc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62.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Phân loại TRỤC (Shaft) nào sau đây là sai?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Phân loại theo chất liệu vật liệu</a:t>
            </a: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Phân loại theo mục đích sử dụng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Phân loại theo hình dạng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Phân loại theo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mặt cắt</a:t>
            </a: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63.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Khớp nối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nào sau đây được sử dụng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 nối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các trục </a:t>
            </a:r>
            <a:endParaRPr lang="en-US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cắt n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hau?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Universal C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oupling</a:t>
            </a:r>
            <a:r>
              <a:rPr lang="ko-KR" alt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Oldham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Coupling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Flange C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oupling</a:t>
            </a:r>
            <a:r>
              <a:rPr lang="ko-KR" alt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Flexible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coupling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64.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 dưới đây là loại vòng bi nào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altLang="ko-KR" sz="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row deep groove ball </a:t>
            </a:r>
            <a:r>
              <a:rPr lang="en-US" altLang="ko-KR" sz="9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bearing</a:t>
            </a: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Magneto ball Bearing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</a:t>
            </a:r>
            <a:r>
              <a:rPr lang="en-US" altLang="ko-KR" sz="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ball </a:t>
            </a:r>
            <a:r>
              <a:rPr lang="en-US" altLang="ko-KR" sz="9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bearing</a:t>
            </a: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④ </a:t>
            </a:r>
            <a:r>
              <a:rPr lang="en-US" altLang="ko-KR" sz="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Self-aligning ball bearing </a:t>
            </a:r>
            <a:endParaRPr lang="en-US" altLang="ko-KR" sz="90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65. V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òng bi có chỉ số như sau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62 08 C2 P6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Đáp án nào sai?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en-US" altLang="ko-KR" sz="9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Self-aligning </a:t>
            </a:r>
            <a:r>
              <a:rPr lang="en-US" altLang="ko-KR" sz="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ball bearing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② Đường kính trong là 40mm.</a:t>
            </a: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③ C2 là ký hiệu </a:t>
            </a:r>
            <a:r>
              <a:rPr lang="en-US" altLang="ko-KR" sz="90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Clearance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④ Độ chính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xác là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cấp 6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66. Loại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nào sau đây dùng để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vi-V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buttress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screw</a:t>
            </a: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Đinh ốc 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knuckle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④ Đinh ốc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unified thread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67.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Chốt Pin nào đ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ược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để ngăn chặn việc nới lỏng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lông và đai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ốc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900">
                <a:latin typeface="Times New Roman" panose="02020603050405020304" pitchFamily="18" charset="0"/>
                <a:cs typeface="Times New Roman" panose="02020603050405020304" pitchFamily="18" charset="0"/>
              </a:rPr>
              <a:t>và để kết nối các bản </a:t>
            </a:r>
            <a:r>
              <a:rPr lang="vi-V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lề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Tx/>
              <a:buNone/>
              <a:defRPr/>
            </a:pP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 ①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arallel pin                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② T</a:t>
            </a:r>
            <a:r>
              <a:rPr lang="en-US" altLang="ko-KR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aper pin</a:t>
            </a:r>
          </a:p>
          <a:p>
            <a:pPr marL="0" indent="0">
              <a:buFontTx/>
              <a:buNone/>
              <a:defRPr/>
            </a:pP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③ </a:t>
            </a:r>
            <a:r>
              <a:rPr lang="en-US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 Pin                     ④ </a:t>
            </a:r>
            <a:r>
              <a:rPr lang="en-US" altLang="ko-KR" sz="900">
                <a:latin typeface="Times New Roman" panose="02020603050405020304" pitchFamily="18" charset="0"/>
                <a:cs typeface="Times New Roman" panose="02020603050405020304" pitchFamily="18" charset="0"/>
              </a:rPr>
              <a:t>Spring pin </a:t>
            </a:r>
            <a:endParaRPr lang="en-US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9" name="Rectangle 5"/>
          <p:cNvSpPr>
            <a:spLocks noChangeArrowheads="1"/>
          </p:cNvSpPr>
          <p:nvPr/>
        </p:nvSpPr>
        <p:spPr bwMode="auto">
          <a:xfrm>
            <a:off x="3384550" y="776288"/>
            <a:ext cx="3124200" cy="88534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68. Điều gì là chính xác từ lời giải thích của Woodruff key?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Thường được sử dụng cho các trục lớn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Độ bền của trục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vượt trội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Thích hợp cho trục côn của ô tô và máy công cụ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Rất khó để xử lý và điều chỉnh.</a:t>
            </a: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69.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ánh răng nào sau đây không thuộc trục song song?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Worm Gear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②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Gear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Helical Gear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Rack Gear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70. Có răng trên mặt nón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,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bánh răng có đường răng đồng nhất trên mặt trụ tròn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. Bánh răng nào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đang được nhắc tới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① Bánh răng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vít Hypoid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② Bánh răng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Helicon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Bánh răng xoắn ốc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Bánh răng côn thẳng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71. Nêu tính năng của hộp giảm tốc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đa hệ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① </a:t>
            </a:r>
            <a:r>
              <a:rPr lang="en-US" altLang="ko-KR" sz="9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Ít được sử dụng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②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Được sử dụng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cho tải trọng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không cố định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③ Khi sử dụng góc xiên, nó sẽ trở thành trục chéo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Có thể sử dụng ở tốc độ quay cao, tiếng ồn thấp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72. Điều nào không đúng với đặc điểm của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Timing Belt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Hoạt động chính xác,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không bị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trơn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trượt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②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Lực căng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căng ban đầu cao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Chịu tải trọng tốt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④ Tiếng ồn thấp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73. Điều nào không đúng với đặc điểm của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Ball Screw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① Hiệu quả cao vì được truyền bằng ma sát lăn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② Có thể giảm thiểu Backlash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Lực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kháng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lăn lớn.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Tuổi thọ cao hơn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so với thiết bị sử dụng ma sát trượt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74. Điều gì không đúng với các đặc điểm của Thanh dẫn LM?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① Xảy ra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trơn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trượt và không bị mất chuyển động.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②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Cho tải trọng ban đầu phù hợp nên có thể tạo nên độ bền cao.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Có thể duy trì mức độ trong thời gian dài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④ Hệ số ma sát thấp nên hiệu suất chuyển động cao</a:t>
            </a:r>
          </a:p>
        </p:txBody>
      </p:sp>
      <p:pic>
        <p:nvPicPr>
          <p:cNvPr id="8200" name="Picture 1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4437063"/>
            <a:ext cx="7207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2"/>
          <p:cNvSpPr>
            <a:spLocks noChangeShapeType="1"/>
          </p:cNvSpPr>
          <p:nvPr/>
        </p:nvSpPr>
        <p:spPr bwMode="auto">
          <a:xfrm>
            <a:off x="2286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304800" y="809625"/>
            <a:ext cx="3124200" cy="886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75. Tính năng đặc trưng của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Ball Spline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là gì?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C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ó thể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cho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tải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trọng ban đầu</a:t>
            </a:r>
            <a:endParaRPr lang="vi-VN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② Không thể truyền mô-men xoắn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③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Không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được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dùng cho</a:t>
            </a: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có tải trọng quá mức.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  ④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Không có Stick slip và Lost motion.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76. </a:t>
            </a:r>
            <a:r>
              <a:rPr lang="en-US" altLang="ko-KR" sz="900">
                <a:latin typeface="Times New Roman" pitchFamily="18" charset="0"/>
                <a:ea typeface="돋움" pitchFamily="50" charset="-127"/>
                <a:cs typeface="Times New Roman" pitchFamily="18" charset="0"/>
              </a:rPr>
              <a:t>Thay đổi Home Pitch của Nut rồi cung cấp Preload.</a:t>
            </a:r>
            <a:endParaRPr lang="ko-KR" altLang="en-US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ko-KR" sz="900">
                <a:latin typeface="Times New Roman" pitchFamily="18" charset="0"/>
                <a:ea typeface="돋움" pitchFamily="50" charset="-127"/>
              </a:rPr>
              <a:t>Phương pháp Ball Screw nào đang được nhắc đến?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①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Double Nut Type</a:t>
            </a:r>
            <a:endParaRPr lang="ko-KR" altLang="en-US" sz="90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②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Precison(Grinding) Ball Screw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Offset Preload Type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Static Pressure Preload Type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77. Điều gì không đúng với mô tả về chất bôi trơn?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① Hầu hết các chất bôi trơn đều có nguồn gốc từ </a:t>
            </a: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dầu khoáng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② Cần có đủ độ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dính (nhớt)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Tính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 nhớt có thể chịu được ở trạng thái bôi trơn có giới hạn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P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hải có độ ổn định cao chống lại quá trình oxy hóa hoặc nhiệt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78. Đâu không phải là một trong ba yếu tố chính của thành phần bôi trơn?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①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Chất làm cô đặc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② Chất ức chế gỉ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③ Chất phụ gia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④ Dầu cơ bản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79. Trong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vẽ kỹ thuật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,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Đường vẽ nào được sử dụng ở đường quỹ đạo bước răng ghi trên răng của xích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v.v?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① Leader line         ② Pitch Line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 ③ </a:t>
            </a:r>
            <a:r>
              <a:rPr lang="en-US" altLang="ko-KR" sz="900">
                <a:latin typeface="Times New Roman" pitchFamily="18" charset="0"/>
                <a:cs typeface="Times New Roman" pitchFamily="18" charset="0"/>
              </a:rPr>
              <a:t>Imaginary line  </a:t>
            </a:r>
            <a:r>
              <a:rPr lang="en-US" altLang="ko-KR" sz="900" b="1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④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Cutting Plane Line</a:t>
            </a:r>
            <a:endParaRPr lang="vi-VN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80. Khi chia 1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vạch lớn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thước cặp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V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ernier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Calipers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thành 20 phần bằng nhau.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Giá trị đo tối thiểu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1 vạch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 </a:t>
            </a: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nhỏ </a:t>
            </a:r>
            <a:r>
              <a:rPr lang="vi-VN" altLang="ko-KR" sz="900">
                <a:latin typeface="Times New Roman" pitchFamily="18" charset="0"/>
                <a:ea typeface="돋움" pitchFamily="50" charset="-127"/>
              </a:rPr>
              <a:t>là bao nhiêu?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① 0,01 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② 0,02 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③ 0,04 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ko-KR" sz="900">
                <a:latin typeface="Times New Roman" pitchFamily="18" charset="0"/>
                <a:ea typeface="돋움" pitchFamily="50" charset="-127"/>
              </a:rPr>
              <a:t>  ④ 0,05 ㎜</a:t>
            </a:r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3459163" y="812800"/>
            <a:ext cx="3124200" cy="886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1001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Máy</a:t>
            </a:r>
            <a:r>
              <a:rPr lang="ko-KR" altLang="en-US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2"/>
          <p:cNvSpPr>
            <a:spLocks noChangeShapeType="1"/>
          </p:cNvSpPr>
          <p:nvPr/>
        </p:nvSpPr>
        <p:spPr bwMode="auto">
          <a:xfrm>
            <a:off x="228600" y="609600"/>
            <a:ext cx="6324600" cy="0"/>
          </a:xfrm>
          <a:prstGeom prst="line">
            <a:avLst/>
          </a:prstGeom>
          <a:noFill/>
          <a:ln w="5715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304800" y="809625"/>
            <a:ext cx="6278563" cy="886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ko-KR" sz="900">
              <a:latin typeface="Times New Roman" pitchFamily="18" charset="0"/>
              <a:ea typeface="돋움" pitchFamily="50" charset="-127"/>
              <a:cs typeface="Times New Roman" pitchFamily="18" charset="0"/>
            </a:endParaRP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304800" y="812800"/>
            <a:ext cx="6278563" cy="886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23825" y="228600"/>
            <a:ext cx="10017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eaLnBrk="0" hangingPunct="0"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9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Đáp án</a:t>
            </a:r>
            <a:r>
              <a:rPr lang="ko-KR" altLang="en-US" sz="16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itchFamily="50" charset="-127"/>
                <a:cs typeface="Times New Roman" panose="02020603050405020304" pitchFamily="18" charset="0"/>
              </a:rPr>
              <a:t> </a:t>
            </a:r>
            <a:endParaRPr lang="en-US" altLang="ko-KR" sz="16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49275" y="1236663"/>
          <a:ext cx="1150938" cy="4210050"/>
        </p:xfrm>
        <a:graphic>
          <a:graphicData uri="http://schemas.openxmlformats.org/drawingml/2006/table">
            <a:tbl>
              <a:tblPr/>
              <a:tblGrid>
                <a:gridCol w="359668"/>
                <a:gridCol w="791270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38363" y="1243013"/>
          <a:ext cx="1182687" cy="4200525"/>
        </p:xfrm>
        <a:graphic>
          <a:graphicData uri="http://schemas.openxmlformats.org/drawingml/2006/table">
            <a:tbl>
              <a:tblPr/>
              <a:tblGrid>
                <a:gridCol w="390980"/>
                <a:gridCol w="791707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0" marR="952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32213" y="1257300"/>
          <a:ext cx="1136650" cy="4200525"/>
        </p:xfrm>
        <a:graphic>
          <a:graphicData uri="http://schemas.openxmlformats.org/drawingml/2006/table">
            <a:tbl>
              <a:tblPr/>
              <a:tblGrid>
                <a:gridCol w="417107"/>
                <a:gridCol w="719543"/>
              </a:tblGrid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14938" y="1241425"/>
          <a:ext cx="1166812" cy="4210050"/>
        </p:xfrm>
        <a:graphic>
          <a:graphicData uri="http://schemas.openxmlformats.org/drawingml/2006/table">
            <a:tbl>
              <a:tblPr/>
              <a:tblGrid>
                <a:gridCol w="373911"/>
                <a:gridCol w="792901"/>
              </a:tblGrid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35" marR="953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0863" y="927100"/>
          <a:ext cx="1149350" cy="209550"/>
        </p:xfrm>
        <a:graphic>
          <a:graphicData uri="http://schemas.openxmlformats.org/drawingml/2006/table">
            <a:tbl>
              <a:tblPr/>
              <a:tblGrid>
                <a:gridCol w="357841"/>
                <a:gridCol w="791509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18" marR="9518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133600" y="920750"/>
          <a:ext cx="1187450" cy="209550"/>
        </p:xfrm>
        <a:graphic>
          <a:graphicData uri="http://schemas.openxmlformats.org/drawingml/2006/table">
            <a:tbl>
              <a:tblPr/>
              <a:tblGrid>
                <a:gridCol w="396197"/>
                <a:gridCol w="791253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15" marR="951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730625" y="920750"/>
          <a:ext cx="1138238" cy="209550"/>
        </p:xfrm>
        <a:graphic>
          <a:graphicData uri="http://schemas.openxmlformats.org/drawingml/2006/table">
            <a:tbl>
              <a:tblPr/>
              <a:tblGrid>
                <a:gridCol w="418412"/>
                <a:gridCol w="719826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2" marR="952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2" marR="952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224463" y="920750"/>
          <a:ext cx="1157287" cy="209550"/>
        </p:xfrm>
        <a:graphic>
          <a:graphicData uri="http://schemas.openxmlformats.org/drawingml/2006/table">
            <a:tbl>
              <a:tblPr/>
              <a:tblGrid>
                <a:gridCol w="365349"/>
                <a:gridCol w="791938"/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Câu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3" marR="9523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Đáp</a:t>
                      </a:r>
                      <a:r>
                        <a:rPr lang="en-US" altLang="ko-KR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án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3" marR="9523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WS12차_1회_051119">
  <a:themeElements>
    <a:clrScheme name="1_WS12차_1회_051119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WS12차_1회_051119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</a:objectDefaults>
  <a:extraClrSchemeLst>
    <a:extraClrScheme>
      <a:clrScheme name="1_WS12차_1회_051119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WS12차_1회_051119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WS12차_1회_05111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\\기술이론\문제지\WS12차_1회_051119.ppt</Template>
  <TotalTime>6265</TotalTime>
  <Words>4068</Words>
  <Application>Microsoft Office PowerPoint</Application>
  <PresentationFormat>A4 Paper (210x297 mm)</PresentationFormat>
  <Paragraphs>873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1_WS12차_1회_051119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ttc</dc:creator>
  <cp:lastModifiedBy>LGDVH</cp:lastModifiedBy>
  <cp:revision>437</cp:revision>
  <cp:lastPrinted>2014-09-18T05:39:33Z</cp:lastPrinted>
  <dcterms:created xsi:type="dcterms:W3CDTF">2006-01-07T00:13:15Z</dcterms:created>
  <dcterms:modified xsi:type="dcterms:W3CDTF">2022-03-24T07:54:51Z</dcterms:modified>
</cp:coreProperties>
</file>