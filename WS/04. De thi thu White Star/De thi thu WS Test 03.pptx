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60" r:id="rId4"/>
    <p:sldId id="262" r:id="rId5"/>
    <p:sldId id="264" r:id="rId6"/>
    <p:sldId id="266" r:id="rId7"/>
    <p:sldId id="268" r:id="rId8"/>
    <p:sldId id="270" r:id="rId9"/>
    <p:sldId id="271" r:id="rId10"/>
  </p:sldIdLst>
  <p:sldSz cx="6858000" cy="9906000" type="A4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70" autoAdjust="0"/>
    <p:restoredTop sz="94660"/>
  </p:normalViewPr>
  <p:slideViewPr>
    <p:cSldViewPr>
      <p:cViewPr>
        <p:scale>
          <a:sx n="200" d="100"/>
          <a:sy n="200" d="100"/>
        </p:scale>
        <p:origin x="-780" y="3600"/>
      </p:cViewPr>
      <p:guideLst>
        <p:guide orient="horz" pos="503"/>
        <p:guide orient="horz" pos="6114"/>
        <p:guide pos="2160"/>
        <p:guide pos="4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99EA939-8313-46C3-83E0-7336D89910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59666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17725" y="741363"/>
            <a:ext cx="25622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F8E9809-E2D8-4F45-8DE8-D3E04D971A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37387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6314F604-EF95-44BE-92A9-DE38231D3470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62823EF-9C7E-4D54-9899-D3A9AA384998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E2C31A6-15D4-44D7-BCFA-BE7C1D11C8CF}" type="slidenum">
              <a:rPr lang="en-US" altLang="ko-KR" smtClean="0"/>
              <a:pPr eaLnBrk="1" hangingPunct="1">
                <a:spcBef>
                  <a:spcPct val="0"/>
                </a:spcBef>
              </a:pPr>
              <a:t>3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C7D89557-6C08-4467-93E5-6B579E7ED35B}" type="slidenum">
              <a:rPr lang="en-US" altLang="ko-KR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ko-KR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C87A301-AADE-4F4C-A573-D03E7D8BDDDE}" type="slidenum">
              <a:rPr lang="en-US" altLang="ko-KR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201879B-B0B8-495C-A6BE-22C51F17F3CF}" type="slidenum">
              <a:rPr lang="en-US" altLang="ko-KR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12DCB250-D737-4431-818E-69C017FC7E4D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E8F2C58-2EFB-40B7-A874-588E0E832A04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943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738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596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620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323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69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892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262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174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96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325" y="881063"/>
            <a:ext cx="1457325" cy="7924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350" y="881063"/>
            <a:ext cx="4219575" cy="7924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215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81063"/>
            <a:ext cx="58293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862263"/>
            <a:ext cx="58293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4938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4938"/>
            <a:ext cx="21717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2286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36655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WS TEST</a:t>
            </a:r>
            <a:r>
              <a:rPr lang="ko-KR" altLang="en-US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 </a:t>
            </a:r>
            <a:endParaRPr lang="en-US" altLang="ko-KR" sz="16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3384550" y="776288"/>
            <a:ext cx="3214688" cy="8856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292100" y="817563"/>
            <a:ext cx="12522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※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Máy: Câu 1</a:t>
            </a:r>
            <a:r>
              <a:rPr lang="ko-KR" altLang="en-US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~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</a:t>
            </a:r>
            <a:endParaRPr lang="ko-KR" altLang="en-US" sz="1000" b="1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169863" y="776288"/>
            <a:ext cx="3214687" cy="8856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직사각형 1"/>
          <p:cNvSpPr>
            <a:spLocks noChangeArrowheads="1"/>
          </p:cNvSpPr>
          <p:nvPr/>
        </p:nvSpPr>
        <p:spPr bwMode="auto">
          <a:xfrm>
            <a:off x="188913" y="1041400"/>
            <a:ext cx="3195637" cy="784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 chuẩn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công nghiệp Thụy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Sĩ được viết là gì?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VSM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DIN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BS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Trục nào không được phân chia theo hình dạng?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Axle                  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② Trục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Liner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Trục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Crank.          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④ Trục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Flexible.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 lắp trục mà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rục lớn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lỗ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nhỏ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gọi là gì?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Vừa vặn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② Lắp khít.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Ấn vào                         ④ Lắp lỏng.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 Lời giải thích chính xác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 cho dung sai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là gì?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Ấn vào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xảy ra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sự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khác biệt về kích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khi trục nhỏ và lỗ lớn.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Kích thước tối đa cho phép là kích thước thực cộng với dung sai.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ích thước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dung sai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kích thước tối đa cho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trừ đi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kích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thước tối thiểu cho phép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Kích thước tối thiểu cho phép là kích thước thực cộng với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Khớp nối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nào được sử dụng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nối 2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đường trục song song?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① Universal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② Flange coupling</a:t>
            </a: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Seller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coupling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Oldham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endParaRPr lang="en-US" altLang="ko-KR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Khớp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nối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nào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có thể truyền chuyển động tự do ngay cả khi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góc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thay đổi nhỏ trong khi truyền động là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Universal coupling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Rubber coupling</a:t>
            </a: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Clamp coupling        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Seller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coupling </a:t>
            </a:r>
            <a:endParaRPr lang="en-US" altLang="ko-KR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Nêu đặc điểm của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Rolling Bearing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Mômen ma sát khởi động lớn.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thể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được sử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để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thay thế cho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Chỉ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dụng ở nhiệt độ cao.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 bền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thể được tăng lên bằng cách áp dụng tải trước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900" dirty="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2"/>
          <p:cNvSpPr>
            <a:spLocks noChangeArrowheads="1"/>
          </p:cNvSpPr>
          <p:nvPr/>
        </p:nvSpPr>
        <p:spPr bwMode="auto">
          <a:xfrm>
            <a:off x="3384550" y="849313"/>
            <a:ext cx="3214688" cy="8208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Vòng bi nào phù hợp nhất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đòi hỏi tốc độ quay cao, tiếng ồn thấp và độ rung thấp do mômen ma sát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①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Double row angular ball bearing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②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Magneto ball bearing</a:t>
            </a:r>
          </a:p>
          <a:p>
            <a:pPr marL="0" indent="0">
              <a:buNone/>
            </a:pP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③ Self-aligning ball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bearing              ④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Deep groove ball bearing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 phải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là kiểu kết hợp của A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ngular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ball bearing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    ② DF   ③ DG     ④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Khoảng cách giữa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R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của đinh ốc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được gọi là gì?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Pitch.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Đường kính danh nghĩa.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Sườn.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11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nào có góc ren nhỏ nhất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endParaRPr lang="vi-VN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 P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ipe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 tròn</a:t>
            </a:r>
          </a:p>
          <a:p>
            <a:pPr marL="0" indent="0">
              <a:buNone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hốt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nào được sử dụng để ngăn việc nới lỏng các vít và đai ốc hoặc để ngăn các bộ phận lắp vào trục không bị bung ra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altLang="ko-KR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Chốt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vi-VN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Chốt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Knuckle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Chốt côn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hông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đúng với đặc điểm của bánh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răng xoắn Screw Gear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Hai trục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sole.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Dễ dàng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lắp đặt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Giá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 cao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óc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trục trung tâm và khoảng cách giữa hai trục không mẫn cảm với sự thay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. Điều gì không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với đặc điểm của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bán nguyệt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trên một trục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Tăng độ bền của trục.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Thích hợp cho trục côn như máy công cụ.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Dễ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dàng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lắp đặt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sửa chữa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15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. Bộ giảm tốc thuộc loại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nào?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Động cơ bánh răng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②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Đồng tâm trục.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Loại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nằm ngang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Trục đặc.</a:t>
            </a:r>
          </a:p>
        </p:txBody>
      </p:sp>
    </p:spTree>
    <p:extLst>
      <p:ext uri="{BB962C8B-B14F-4D97-AF65-F5344CB8AC3E}">
        <p14:creationId xmlns:p14="http://schemas.microsoft.com/office/powerpoint/2010/main" val="168192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2286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60350" y="776288"/>
            <a:ext cx="3124200" cy="8856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384550" y="776288"/>
            <a:ext cx="3124200" cy="8856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4102" name="직사각형 1"/>
          <p:cNvSpPr>
            <a:spLocks noChangeArrowheads="1"/>
          </p:cNvSpPr>
          <p:nvPr/>
        </p:nvSpPr>
        <p:spPr bwMode="auto">
          <a:xfrm>
            <a:off x="250825" y="811213"/>
            <a:ext cx="3140075" cy="6324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16. Điều nào không đúng với đặc điểm 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Timing Belt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Hầu như không xảy ra hiện tượng trượt bánh hay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dao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động tốc độ.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Không có tiếng ồn so với bánh răng hoặc xích.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Chống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uốn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gập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cao hơn đai V.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Dây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đai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nhẹ và có thể tăng tốc độ.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17.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áp án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đúng với đặc điểm 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Ball Screw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Hiệu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quả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cao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vì được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tạo ra bởi ma sát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lăn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các viên bi thép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Có thể giảm thiểu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backlash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mang lại độ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chính xác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cao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Nó có tuổi thọ thấp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hơn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so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với ma sát trượt.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Lực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kháng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lăn thấp cho phép chuyển động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cực kỳ nhỏ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ễ dàng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điều chỉnh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18. Cấu trúc tải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trước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Preload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được sử dụng trong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Static Presure Preload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Sử dụng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miếng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đệm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Sử dụng lò xo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Thay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đổi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độ cao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home pitch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Chèn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bộ làm lệch hướng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19.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Dầu nào</a:t>
            </a:r>
            <a:r>
              <a:rPr lang="en-US" altLang="ko-KR" sz="9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được sử dụng với mục đích là dầu động cơ máy bay và đầu làm nguội (dầu cắt gọt)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Dầu khoáng.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Dầu béo.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Dầu hỗn hợp.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Dầu tổng hợp.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Đường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nào sau đây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có độ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dày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lớn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nhất?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Đường kích thước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Đường trung tâm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Đường chỉ thị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Đường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ẩn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36655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Máy</a:t>
            </a:r>
            <a:endParaRPr lang="en-US" altLang="ko-KR" sz="16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74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59503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endParaRPr lang="ko-KR" alt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304800" y="798513"/>
            <a:ext cx="3124200" cy="8878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1. Điều gì được mô tả tiếp theo?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[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Electron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nhận được năng lượng và năng lượng của nó tăng lên, nó sẽ rời khỏi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quỹ đạo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trở thành một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Electron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tự do, và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tự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do di chuyển giữa các nguyên tử. Điện năng được tạo ra theo cách này được gọi là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…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)]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Lượng tử ánh sáng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Kích thích</a:t>
            </a:r>
            <a:endParaRPr lang="vi-VN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Điện tích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Electron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tự 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Đáp án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nào không đúng với số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êlectron của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lớp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êlectron?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= 16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= 32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= 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3. Điều gì được mô tả tiếp theo?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[Các electron quỹ đạo trong nguyên tử trở thành các electron tự do.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Kích thích</a:t>
            </a:r>
            <a:endParaRPr lang="vi-VN" altLang="ko-KR" sz="900" smtClean="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Lượng tử ánh sáng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Ion hóa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Phóng xung điện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4. Độ lệch pha trong trường hợp 3 pha 220V 60㎐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90     ② 120     ③ 180    ④ 240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5.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Loại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nhiễu như trong hình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Tĩnh điện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Biến động điện áp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Chắn tín hiệu điện tử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Chuyển mạch (Switching)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6.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út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kiểm tra ELCB cho bảo vệ chống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dòng rò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có màu gì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Vàng       ② Xanh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lam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en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ỏ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7.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iá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trị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đỉnh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-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đỉnh là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10V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Vậy giá trị Vave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7,07    ② 6,37   ③ 3.535    ④ 3,185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8.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ã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màu của điện trở là [Đỏ Đỏ Nâu Bạc]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Sai số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bao nhiêu?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5%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10%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15%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20%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3429000" y="798513"/>
            <a:ext cx="3124200" cy="8878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9.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Loại điện trở nào đang được nhắc tới?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[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ược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làm bằng nhựa không cháy,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bắt lửa ngay cả ở nhiệt độ cao và có lớp cách nhiệt phong phú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Điện trở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màng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kim loại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dạng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s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ợi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)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Điện trở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xi măng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Điện trở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màng kim loại (màng mỏng)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Điện trở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màng carbon nhỏ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10.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Đáp án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nào sau đây không phải là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một loại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biến trở?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Màng carbon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Màng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kim loại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Cuộn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dây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Silicone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11. Tụ điện nào sau đây có cực tính?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Tụ điện Mylar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Tụ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Sứ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Tụ Tantal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Tụ điện Styrol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12. Hiện tượng suất điện động xảy ra khi từ thông đi qua cuộn dây bị thay đổi là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gì?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ảm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ứng điện từ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Suất điện động cảm ứng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Định luật Lenz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Điện cảm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13. Loại cuộn dây nào có tụ điện mắc song song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FCZ                ② IFT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RFC                ④ FFC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14. Điện áp ngưỡng thuận của diode Zener 9.1V / Si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là bao nhiêu?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0,2V               ② 0,7V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2,9V               ④ 9.1V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15.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 tần số thấp loại NPN?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A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B 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C 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D 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16.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âu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phải là đặc điểm của Photo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Coupler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Tốc độ phản hồi nhanh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Truyền tín hiệu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dạng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hai chiều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Có độ tin cậy cao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Chống ồn</a:t>
            </a:r>
          </a:p>
        </p:txBody>
      </p:sp>
      <p:pic>
        <p:nvPicPr>
          <p:cNvPr id="6150" name="Picture 6"/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48" y="5672137"/>
            <a:ext cx="10668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92100" y="817563"/>
            <a:ext cx="129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※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Điện</a:t>
            </a:r>
            <a:r>
              <a:rPr lang="ko-KR" altLang="en-US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Câu 1</a:t>
            </a:r>
            <a:r>
              <a:rPr lang="ko-KR" altLang="en-US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~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</a:t>
            </a:r>
            <a:endParaRPr lang="ko-KR" altLang="en-US" sz="1000" b="1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72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5400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17.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Nhiệt độ tăng thì giá trị điện trở tăng là loại nào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NTC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PTC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CTR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RTS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18. Hiệu điện thế qua điện trở trong đoạn mạch sau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0V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0,2V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0,7V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4.3V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19. Hiệu điện thế qua điện trở trong đoạn mạch sau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đây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0V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0,7V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2,9V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12V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20. Tần số của dạng sóng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sin bên dưới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200 hz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250 hz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500 hz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1khz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72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8198" name="그룹 4"/>
          <p:cNvGrpSpPr>
            <a:grpSpLocks/>
          </p:cNvGrpSpPr>
          <p:nvPr/>
        </p:nvGrpSpPr>
        <p:grpSpPr bwMode="auto">
          <a:xfrm>
            <a:off x="455613" y="4664968"/>
            <a:ext cx="2605087" cy="1805602"/>
            <a:chOff x="456175" y="4615820"/>
            <a:chExt cx="2605012" cy="1806040"/>
          </a:xfrm>
        </p:grpSpPr>
        <p:grpSp>
          <p:nvGrpSpPr>
            <p:cNvPr id="8249" name="Group 45"/>
            <p:cNvGrpSpPr>
              <a:grpSpLocks/>
            </p:cNvGrpSpPr>
            <p:nvPr/>
          </p:nvGrpSpPr>
          <p:grpSpPr bwMode="auto">
            <a:xfrm>
              <a:off x="694412" y="4615820"/>
              <a:ext cx="2366775" cy="1489977"/>
              <a:chOff x="815" y="998"/>
              <a:chExt cx="2305" cy="1760"/>
            </a:xfrm>
          </p:grpSpPr>
          <p:sp>
            <p:nvSpPr>
              <p:cNvPr id="8252" name="Rectangle 46"/>
              <p:cNvSpPr>
                <a:spLocks noChangeArrowheads="1"/>
              </p:cNvSpPr>
              <p:nvPr/>
            </p:nvSpPr>
            <p:spPr bwMode="auto">
              <a:xfrm>
                <a:off x="2890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3" name="Rectangle 47"/>
              <p:cNvSpPr>
                <a:spLocks noChangeArrowheads="1"/>
              </p:cNvSpPr>
              <p:nvPr/>
            </p:nvSpPr>
            <p:spPr bwMode="auto">
              <a:xfrm>
                <a:off x="2659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4" name="Rectangle 48"/>
              <p:cNvSpPr>
                <a:spLocks noChangeArrowheads="1"/>
              </p:cNvSpPr>
              <p:nvPr/>
            </p:nvSpPr>
            <p:spPr bwMode="auto">
              <a:xfrm>
                <a:off x="2429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5" name="Rectangle 49"/>
              <p:cNvSpPr>
                <a:spLocks noChangeArrowheads="1"/>
              </p:cNvSpPr>
              <p:nvPr/>
            </p:nvSpPr>
            <p:spPr bwMode="auto">
              <a:xfrm>
                <a:off x="2198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6" name="Rectangle 50"/>
              <p:cNvSpPr>
                <a:spLocks noChangeArrowheads="1"/>
              </p:cNvSpPr>
              <p:nvPr/>
            </p:nvSpPr>
            <p:spPr bwMode="auto">
              <a:xfrm>
                <a:off x="196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7" name="Rectangle 51"/>
              <p:cNvSpPr>
                <a:spLocks noChangeArrowheads="1"/>
              </p:cNvSpPr>
              <p:nvPr/>
            </p:nvSpPr>
            <p:spPr bwMode="auto">
              <a:xfrm>
                <a:off x="173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8" name="Rectangle 52"/>
              <p:cNvSpPr>
                <a:spLocks noChangeArrowheads="1"/>
              </p:cNvSpPr>
              <p:nvPr/>
            </p:nvSpPr>
            <p:spPr bwMode="auto">
              <a:xfrm>
                <a:off x="1507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59" name="Rectangle 53"/>
              <p:cNvSpPr>
                <a:spLocks noChangeArrowheads="1"/>
              </p:cNvSpPr>
              <p:nvPr/>
            </p:nvSpPr>
            <p:spPr bwMode="auto">
              <a:xfrm>
                <a:off x="1277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0" name="Rectangle 54"/>
              <p:cNvSpPr>
                <a:spLocks noChangeArrowheads="1"/>
              </p:cNvSpPr>
              <p:nvPr/>
            </p:nvSpPr>
            <p:spPr bwMode="auto">
              <a:xfrm>
                <a:off x="1046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1" name="Rectangle 55"/>
              <p:cNvSpPr>
                <a:spLocks noChangeArrowheads="1"/>
              </p:cNvSpPr>
              <p:nvPr/>
            </p:nvSpPr>
            <p:spPr bwMode="auto">
              <a:xfrm>
                <a:off x="816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2" name="Rectangle 56"/>
              <p:cNvSpPr>
                <a:spLocks noChangeArrowheads="1"/>
              </p:cNvSpPr>
              <p:nvPr/>
            </p:nvSpPr>
            <p:spPr bwMode="auto">
              <a:xfrm>
                <a:off x="2890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3" name="Rectangle 57"/>
              <p:cNvSpPr>
                <a:spLocks noChangeArrowheads="1"/>
              </p:cNvSpPr>
              <p:nvPr/>
            </p:nvSpPr>
            <p:spPr bwMode="auto">
              <a:xfrm>
                <a:off x="2659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4" name="Rectangle 58"/>
              <p:cNvSpPr>
                <a:spLocks noChangeArrowheads="1"/>
              </p:cNvSpPr>
              <p:nvPr/>
            </p:nvSpPr>
            <p:spPr bwMode="auto">
              <a:xfrm>
                <a:off x="2429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5" name="Rectangle 59"/>
              <p:cNvSpPr>
                <a:spLocks noChangeArrowheads="1"/>
              </p:cNvSpPr>
              <p:nvPr/>
            </p:nvSpPr>
            <p:spPr bwMode="auto">
              <a:xfrm>
                <a:off x="2198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6" name="Rectangle 60"/>
              <p:cNvSpPr>
                <a:spLocks noChangeArrowheads="1"/>
              </p:cNvSpPr>
              <p:nvPr/>
            </p:nvSpPr>
            <p:spPr bwMode="auto">
              <a:xfrm>
                <a:off x="196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7" name="Rectangle 61"/>
              <p:cNvSpPr>
                <a:spLocks noChangeArrowheads="1"/>
              </p:cNvSpPr>
              <p:nvPr/>
            </p:nvSpPr>
            <p:spPr bwMode="auto">
              <a:xfrm>
                <a:off x="173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8" name="Rectangle 62"/>
              <p:cNvSpPr>
                <a:spLocks noChangeArrowheads="1"/>
              </p:cNvSpPr>
              <p:nvPr/>
            </p:nvSpPr>
            <p:spPr bwMode="auto">
              <a:xfrm>
                <a:off x="1507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69" name="Rectangle 63"/>
              <p:cNvSpPr>
                <a:spLocks noChangeArrowheads="1"/>
              </p:cNvSpPr>
              <p:nvPr/>
            </p:nvSpPr>
            <p:spPr bwMode="auto">
              <a:xfrm>
                <a:off x="1277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0" name="Rectangle 64"/>
              <p:cNvSpPr>
                <a:spLocks noChangeArrowheads="1"/>
              </p:cNvSpPr>
              <p:nvPr/>
            </p:nvSpPr>
            <p:spPr bwMode="auto">
              <a:xfrm>
                <a:off x="1046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1" name="Rectangle 65"/>
              <p:cNvSpPr>
                <a:spLocks noChangeArrowheads="1"/>
              </p:cNvSpPr>
              <p:nvPr/>
            </p:nvSpPr>
            <p:spPr bwMode="auto">
              <a:xfrm>
                <a:off x="816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2" name="Rectangle 66"/>
              <p:cNvSpPr>
                <a:spLocks noChangeArrowheads="1"/>
              </p:cNvSpPr>
              <p:nvPr/>
            </p:nvSpPr>
            <p:spPr bwMode="auto">
              <a:xfrm>
                <a:off x="2890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3" name="Rectangle 67"/>
              <p:cNvSpPr>
                <a:spLocks noChangeArrowheads="1"/>
              </p:cNvSpPr>
              <p:nvPr/>
            </p:nvSpPr>
            <p:spPr bwMode="auto">
              <a:xfrm>
                <a:off x="2659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4" name="Rectangle 68"/>
              <p:cNvSpPr>
                <a:spLocks noChangeArrowheads="1"/>
              </p:cNvSpPr>
              <p:nvPr/>
            </p:nvSpPr>
            <p:spPr bwMode="auto">
              <a:xfrm>
                <a:off x="2429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5" name="Rectangle 69"/>
              <p:cNvSpPr>
                <a:spLocks noChangeArrowheads="1"/>
              </p:cNvSpPr>
              <p:nvPr/>
            </p:nvSpPr>
            <p:spPr bwMode="auto">
              <a:xfrm>
                <a:off x="2198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6" name="Rectangle 70"/>
              <p:cNvSpPr>
                <a:spLocks noChangeArrowheads="1"/>
              </p:cNvSpPr>
              <p:nvPr/>
            </p:nvSpPr>
            <p:spPr bwMode="auto">
              <a:xfrm>
                <a:off x="196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7" name="Rectangle 71"/>
              <p:cNvSpPr>
                <a:spLocks noChangeArrowheads="1"/>
              </p:cNvSpPr>
              <p:nvPr/>
            </p:nvSpPr>
            <p:spPr bwMode="auto">
              <a:xfrm>
                <a:off x="173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8" name="Rectangle 72"/>
              <p:cNvSpPr>
                <a:spLocks noChangeArrowheads="1"/>
              </p:cNvSpPr>
              <p:nvPr/>
            </p:nvSpPr>
            <p:spPr bwMode="auto">
              <a:xfrm>
                <a:off x="1507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79" name="Rectangle 73"/>
              <p:cNvSpPr>
                <a:spLocks noChangeArrowheads="1"/>
              </p:cNvSpPr>
              <p:nvPr/>
            </p:nvSpPr>
            <p:spPr bwMode="auto">
              <a:xfrm>
                <a:off x="1277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0" name="Rectangle 74"/>
              <p:cNvSpPr>
                <a:spLocks noChangeArrowheads="1"/>
              </p:cNvSpPr>
              <p:nvPr/>
            </p:nvSpPr>
            <p:spPr bwMode="auto">
              <a:xfrm>
                <a:off x="1046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1" name="Rectangle 75"/>
              <p:cNvSpPr>
                <a:spLocks noChangeArrowheads="1"/>
              </p:cNvSpPr>
              <p:nvPr/>
            </p:nvSpPr>
            <p:spPr bwMode="auto">
              <a:xfrm>
                <a:off x="816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2" name="Rectangle 76"/>
              <p:cNvSpPr>
                <a:spLocks noChangeArrowheads="1"/>
              </p:cNvSpPr>
              <p:nvPr/>
            </p:nvSpPr>
            <p:spPr bwMode="auto">
              <a:xfrm>
                <a:off x="2890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3" name="Rectangle 77"/>
              <p:cNvSpPr>
                <a:spLocks noChangeArrowheads="1"/>
              </p:cNvSpPr>
              <p:nvPr/>
            </p:nvSpPr>
            <p:spPr bwMode="auto">
              <a:xfrm>
                <a:off x="2659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4" name="Rectangle 78"/>
              <p:cNvSpPr>
                <a:spLocks noChangeArrowheads="1"/>
              </p:cNvSpPr>
              <p:nvPr/>
            </p:nvSpPr>
            <p:spPr bwMode="auto">
              <a:xfrm>
                <a:off x="2429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5" name="Rectangle 79"/>
              <p:cNvSpPr>
                <a:spLocks noChangeArrowheads="1"/>
              </p:cNvSpPr>
              <p:nvPr/>
            </p:nvSpPr>
            <p:spPr bwMode="auto">
              <a:xfrm>
                <a:off x="2198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6" name="Rectangle 80"/>
              <p:cNvSpPr>
                <a:spLocks noChangeArrowheads="1"/>
              </p:cNvSpPr>
              <p:nvPr/>
            </p:nvSpPr>
            <p:spPr bwMode="auto">
              <a:xfrm>
                <a:off x="196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7" name="Rectangle 81"/>
              <p:cNvSpPr>
                <a:spLocks noChangeArrowheads="1"/>
              </p:cNvSpPr>
              <p:nvPr/>
            </p:nvSpPr>
            <p:spPr bwMode="auto">
              <a:xfrm>
                <a:off x="173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8" name="Rectangle 82"/>
              <p:cNvSpPr>
                <a:spLocks noChangeArrowheads="1"/>
              </p:cNvSpPr>
              <p:nvPr/>
            </p:nvSpPr>
            <p:spPr bwMode="auto">
              <a:xfrm>
                <a:off x="1507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89" name="Rectangle 83"/>
              <p:cNvSpPr>
                <a:spLocks noChangeArrowheads="1"/>
              </p:cNvSpPr>
              <p:nvPr/>
            </p:nvSpPr>
            <p:spPr bwMode="auto">
              <a:xfrm>
                <a:off x="1277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0" name="Rectangle 84"/>
              <p:cNvSpPr>
                <a:spLocks noChangeArrowheads="1"/>
              </p:cNvSpPr>
              <p:nvPr/>
            </p:nvSpPr>
            <p:spPr bwMode="auto">
              <a:xfrm>
                <a:off x="1046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1" name="Rectangle 85"/>
              <p:cNvSpPr>
                <a:spLocks noChangeArrowheads="1"/>
              </p:cNvSpPr>
              <p:nvPr/>
            </p:nvSpPr>
            <p:spPr bwMode="auto">
              <a:xfrm>
                <a:off x="816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2" name="Rectangle 86"/>
              <p:cNvSpPr>
                <a:spLocks noChangeArrowheads="1"/>
              </p:cNvSpPr>
              <p:nvPr/>
            </p:nvSpPr>
            <p:spPr bwMode="auto">
              <a:xfrm>
                <a:off x="2890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3" name="Rectangle 87"/>
              <p:cNvSpPr>
                <a:spLocks noChangeArrowheads="1"/>
              </p:cNvSpPr>
              <p:nvPr/>
            </p:nvSpPr>
            <p:spPr bwMode="auto">
              <a:xfrm>
                <a:off x="2659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4" name="Rectangle 88"/>
              <p:cNvSpPr>
                <a:spLocks noChangeArrowheads="1"/>
              </p:cNvSpPr>
              <p:nvPr/>
            </p:nvSpPr>
            <p:spPr bwMode="auto">
              <a:xfrm>
                <a:off x="2429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5" name="Rectangle 89"/>
              <p:cNvSpPr>
                <a:spLocks noChangeArrowheads="1"/>
              </p:cNvSpPr>
              <p:nvPr/>
            </p:nvSpPr>
            <p:spPr bwMode="auto">
              <a:xfrm>
                <a:off x="2198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6" name="Rectangle 90"/>
              <p:cNvSpPr>
                <a:spLocks noChangeArrowheads="1"/>
              </p:cNvSpPr>
              <p:nvPr/>
            </p:nvSpPr>
            <p:spPr bwMode="auto">
              <a:xfrm>
                <a:off x="196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7" name="Rectangle 91"/>
              <p:cNvSpPr>
                <a:spLocks noChangeArrowheads="1"/>
              </p:cNvSpPr>
              <p:nvPr/>
            </p:nvSpPr>
            <p:spPr bwMode="auto">
              <a:xfrm>
                <a:off x="173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8" name="Rectangle 92"/>
              <p:cNvSpPr>
                <a:spLocks noChangeArrowheads="1"/>
              </p:cNvSpPr>
              <p:nvPr/>
            </p:nvSpPr>
            <p:spPr bwMode="auto">
              <a:xfrm>
                <a:off x="1507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99" name="Rectangle 93"/>
              <p:cNvSpPr>
                <a:spLocks noChangeArrowheads="1"/>
              </p:cNvSpPr>
              <p:nvPr/>
            </p:nvSpPr>
            <p:spPr bwMode="auto">
              <a:xfrm>
                <a:off x="1277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0" name="Rectangle 94"/>
              <p:cNvSpPr>
                <a:spLocks noChangeArrowheads="1"/>
              </p:cNvSpPr>
              <p:nvPr/>
            </p:nvSpPr>
            <p:spPr bwMode="auto">
              <a:xfrm>
                <a:off x="1046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1" name="Rectangle 95"/>
              <p:cNvSpPr>
                <a:spLocks noChangeArrowheads="1"/>
              </p:cNvSpPr>
              <p:nvPr/>
            </p:nvSpPr>
            <p:spPr bwMode="auto">
              <a:xfrm>
                <a:off x="816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2" name="Rectangle 96"/>
              <p:cNvSpPr>
                <a:spLocks noChangeArrowheads="1"/>
              </p:cNvSpPr>
              <p:nvPr/>
            </p:nvSpPr>
            <p:spPr bwMode="auto">
              <a:xfrm>
                <a:off x="2890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3" name="Rectangle 97"/>
              <p:cNvSpPr>
                <a:spLocks noChangeArrowheads="1"/>
              </p:cNvSpPr>
              <p:nvPr/>
            </p:nvSpPr>
            <p:spPr bwMode="auto">
              <a:xfrm>
                <a:off x="2659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4" name="Rectangle 98"/>
              <p:cNvSpPr>
                <a:spLocks noChangeArrowheads="1"/>
              </p:cNvSpPr>
              <p:nvPr/>
            </p:nvSpPr>
            <p:spPr bwMode="auto">
              <a:xfrm>
                <a:off x="2429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5" name="Rectangle 99"/>
              <p:cNvSpPr>
                <a:spLocks noChangeArrowheads="1"/>
              </p:cNvSpPr>
              <p:nvPr/>
            </p:nvSpPr>
            <p:spPr bwMode="auto">
              <a:xfrm>
                <a:off x="2198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6" name="Rectangle 100"/>
              <p:cNvSpPr>
                <a:spLocks noChangeArrowheads="1"/>
              </p:cNvSpPr>
              <p:nvPr/>
            </p:nvSpPr>
            <p:spPr bwMode="auto">
              <a:xfrm>
                <a:off x="196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7" name="Rectangle 101"/>
              <p:cNvSpPr>
                <a:spLocks noChangeArrowheads="1"/>
              </p:cNvSpPr>
              <p:nvPr/>
            </p:nvSpPr>
            <p:spPr bwMode="auto">
              <a:xfrm>
                <a:off x="173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8" name="Rectangle 102"/>
              <p:cNvSpPr>
                <a:spLocks noChangeArrowheads="1"/>
              </p:cNvSpPr>
              <p:nvPr/>
            </p:nvSpPr>
            <p:spPr bwMode="auto">
              <a:xfrm>
                <a:off x="1507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9" name="Rectangle 103"/>
              <p:cNvSpPr>
                <a:spLocks noChangeArrowheads="1"/>
              </p:cNvSpPr>
              <p:nvPr/>
            </p:nvSpPr>
            <p:spPr bwMode="auto">
              <a:xfrm>
                <a:off x="1277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0" name="Rectangle 104"/>
              <p:cNvSpPr>
                <a:spLocks noChangeArrowheads="1"/>
              </p:cNvSpPr>
              <p:nvPr/>
            </p:nvSpPr>
            <p:spPr bwMode="auto">
              <a:xfrm>
                <a:off x="1046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1" name="Rectangle 105"/>
              <p:cNvSpPr>
                <a:spLocks noChangeArrowheads="1"/>
              </p:cNvSpPr>
              <p:nvPr/>
            </p:nvSpPr>
            <p:spPr bwMode="auto">
              <a:xfrm>
                <a:off x="816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2" name="Rectangle 106"/>
              <p:cNvSpPr>
                <a:spLocks noChangeArrowheads="1"/>
              </p:cNvSpPr>
              <p:nvPr/>
            </p:nvSpPr>
            <p:spPr bwMode="auto">
              <a:xfrm>
                <a:off x="2890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3" name="Rectangle 107"/>
              <p:cNvSpPr>
                <a:spLocks noChangeArrowheads="1"/>
              </p:cNvSpPr>
              <p:nvPr/>
            </p:nvSpPr>
            <p:spPr bwMode="auto">
              <a:xfrm>
                <a:off x="2659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4" name="Rectangle 108"/>
              <p:cNvSpPr>
                <a:spLocks noChangeArrowheads="1"/>
              </p:cNvSpPr>
              <p:nvPr/>
            </p:nvSpPr>
            <p:spPr bwMode="auto">
              <a:xfrm>
                <a:off x="2429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5" name="Rectangle 109"/>
              <p:cNvSpPr>
                <a:spLocks noChangeArrowheads="1"/>
              </p:cNvSpPr>
              <p:nvPr/>
            </p:nvSpPr>
            <p:spPr bwMode="auto">
              <a:xfrm>
                <a:off x="2198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6" name="Rectangle 110"/>
              <p:cNvSpPr>
                <a:spLocks noChangeArrowheads="1"/>
              </p:cNvSpPr>
              <p:nvPr/>
            </p:nvSpPr>
            <p:spPr bwMode="auto">
              <a:xfrm>
                <a:off x="196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7" name="Rectangle 111"/>
              <p:cNvSpPr>
                <a:spLocks noChangeArrowheads="1"/>
              </p:cNvSpPr>
              <p:nvPr/>
            </p:nvSpPr>
            <p:spPr bwMode="auto">
              <a:xfrm>
                <a:off x="173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8" name="Rectangle 112"/>
              <p:cNvSpPr>
                <a:spLocks noChangeArrowheads="1"/>
              </p:cNvSpPr>
              <p:nvPr/>
            </p:nvSpPr>
            <p:spPr bwMode="auto">
              <a:xfrm>
                <a:off x="1507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19" name="Rectangle 113"/>
              <p:cNvSpPr>
                <a:spLocks noChangeArrowheads="1"/>
              </p:cNvSpPr>
              <p:nvPr/>
            </p:nvSpPr>
            <p:spPr bwMode="auto">
              <a:xfrm>
                <a:off x="1277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0" name="Rectangle 114"/>
              <p:cNvSpPr>
                <a:spLocks noChangeArrowheads="1"/>
              </p:cNvSpPr>
              <p:nvPr/>
            </p:nvSpPr>
            <p:spPr bwMode="auto">
              <a:xfrm>
                <a:off x="1046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1" name="Rectangle 115"/>
              <p:cNvSpPr>
                <a:spLocks noChangeArrowheads="1"/>
              </p:cNvSpPr>
              <p:nvPr/>
            </p:nvSpPr>
            <p:spPr bwMode="auto">
              <a:xfrm>
                <a:off x="816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2" name="Rectangle 116"/>
              <p:cNvSpPr>
                <a:spLocks noChangeArrowheads="1"/>
              </p:cNvSpPr>
              <p:nvPr/>
            </p:nvSpPr>
            <p:spPr bwMode="auto">
              <a:xfrm>
                <a:off x="2890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3" name="Rectangle 117"/>
              <p:cNvSpPr>
                <a:spLocks noChangeArrowheads="1"/>
              </p:cNvSpPr>
              <p:nvPr/>
            </p:nvSpPr>
            <p:spPr bwMode="auto">
              <a:xfrm>
                <a:off x="2659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4" name="Rectangle 118"/>
              <p:cNvSpPr>
                <a:spLocks noChangeArrowheads="1"/>
              </p:cNvSpPr>
              <p:nvPr/>
            </p:nvSpPr>
            <p:spPr bwMode="auto">
              <a:xfrm>
                <a:off x="2429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5" name="Rectangle 119"/>
              <p:cNvSpPr>
                <a:spLocks noChangeArrowheads="1"/>
              </p:cNvSpPr>
              <p:nvPr/>
            </p:nvSpPr>
            <p:spPr bwMode="auto">
              <a:xfrm>
                <a:off x="2198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6" name="Rectangle 120"/>
              <p:cNvSpPr>
                <a:spLocks noChangeArrowheads="1"/>
              </p:cNvSpPr>
              <p:nvPr/>
            </p:nvSpPr>
            <p:spPr bwMode="auto">
              <a:xfrm>
                <a:off x="196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7" name="Rectangle 121"/>
              <p:cNvSpPr>
                <a:spLocks noChangeArrowheads="1"/>
              </p:cNvSpPr>
              <p:nvPr/>
            </p:nvSpPr>
            <p:spPr bwMode="auto">
              <a:xfrm>
                <a:off x="173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8" name="Rectangle 122"/>
              <p:cNvSpPr>
                <a:spLocks noChangeArrowheads="1"/>
              </p:cNvSpPr>
              <p:nvPr/>
            </p:nvSpPr>
            <p:spPr bwMode="auto">
              <a:xfrm>
                <a:off x="1507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29" name="Rectangle 123"/>
              <p:cNvSpPr>
                <a:spLocks noChangeArrowheads="1"/>
              </p:cNvSpPr>
              <p:nvPr/>
            </p:nvSpPr>
            <p:spPr bwMode="auto">
              <a:xfrm>
                <a:off x="1277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0" name="Rectangle 124"/>
              <p:cNvSpPr>
                <a:spLocks noChangeArrowheads="1"/>
              </p:cNvSpPr>
              <p:nvPr/>
            </p:nvSpPr>
            <p:spPr bwMode="auto">
              <a:xfrm>
                <a:off x="1046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1" name="Rectangle 125"/>
              <p:cNvSpPr>
                <a:spLocks noChangeArrowheads="1"/>
              </p:cNvSpPr>
              <p:nvPr/>
            </p:nvSpPr>
            <p:spPr bwMode="auto">
              <a:xfrm>
                <a:off x="816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2" name="Line 126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3" name="Line 127"/>
              <p:cNvSpPr>
                <a:spLocks noChangeShapeType="1"/>
              </p:cNvSpPr>
              <p:nvPr/>
            </p:nvSpPr>
            <p:spPr bwMode="auto">
              <a:xfrm>
                <a:off x="816" y="12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4" name="Line 128"/>
              <p:cNvSpPr>
                <a:spLocks noChangeShapeType="1"/>
              </p:cNvSpPr>
              <p:nvPr/>
            </p:nvSpPr>
            <p:spPr bwMode="auto">
              <a:xfrm>
                <a:off x="816" y="14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5" name="Line 129"/>
              <p:cNvSpPr>
                <a:spLocks noChangeShapeType="1"/>
              </p:cNvSpPr>
              <p:nvPr/>
            </p:nvSpPr>
            <p:spPr bwMode="auto">
              <a:xfrm>
                <a:off x="816" y="187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6" name="Line 130"/>
              <p:cNvSpPr>
                <a:spLocks noChangeShapeType="1"/>
              </p:cNvSpPr>
              <p:nvPr/>
            </p:nvSpPr>
            <p:spPr bwMode="auto">
              <a:xfrm>
                <a:off x="816" y="23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7" name="Line 131"/>
              <p:cNvSpPr>
                <a:spLocks noChangeShapeType="1"/>
              </p:cNvSpPr>
              <p:nvPr/>
            </p:nvSpPr>
            <p:spPr bwMode="auto">
              <a:xfrm>
                <a:off x="816" y="25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8" name="Line 132"/>
              <p:cNvSpPr>
                <a:spLocks noChangeShapeType="1"/>
              </p:cNvSpPr>
              <p:nvPr/>
            </p:nvSpPr>
            <p:spPr bwMode="auto">
              <a:xfrm>
                <a:off x="816" y="27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39" name="Line 133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0" name="Line 134"/>
              <p:cNvSpPr>
                <a:spLocks noChangeShapeType="1"/>
              </p:cNvSpPr>
              <p:nvPr/>
            </p:nvSpPr>
            <p:spPr bwMode="auto">
              <a:xfrm>
                <a:off x="1046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1" name="Line 135"/>
              <p:cNvSpPr>
                <a:spLocks noChangeShapeType="1"/>
              </p:cNvSpPr>
              <p:nvPr/>
            </p:nvSpPr>
            <p:spPr bwMode="auto">
              <a:xfrm>
                <a:off x="127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2" name="Line 136"/>
              <p:cNvSpPr>
                <a:spLocks noChangeShapeType="1"/>
              </p:cNvSpPr>
              <p:nvPr/>
            </p:nvSpPr>
            <p:spPr bwMode="auto">
              <a:xfrm>
                <a:off x="150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3" name="Line 137"/>
              <p:cNvSpPr>
                <a:spLocks noChangeShapeType="1"/>
              </p:cNvSpPr>
              <p:nvPr/>
            </p:nvSpPr>
            <p:spPr bwMode="auto">
              <a:xfrm>
                <a:off x="1968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4" name="Line 138"/>
              <p:cNvSpPr>
                <a:spLocks noChangeShapeType="1"/>
              </p:cNvSpPr>
              <p:nvPr/>
            </p:nvSpPr>
            <p:spPr bwMode="auto">
              <a:xfrm>
                <a:off x="242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5" name="Line 139"/>
              <p:cNvSpPr>
                <a:spLocks noChangeShapeType="1"/>
              </p:cNvSpPr>
              <p:nvPr/>
            </p:nvSpPr>
            <p:spPr bwMode="auto">
              <a:xfrm>
                <a:off x="265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6" name="Line 140"/>
              <p:cNvSpPr>
                <a:spLocks noChangeShapeType="1"/>
              </p:cNvSpPr>
              <p:nvPr/>
            </p:nvSpPr>
            <p:spPr bwMode="auto">
              <a:xfrm>
                <a:off x="2890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7" name="Line 141"/>
              <p:cNvSpPr>
                <a:spLocks noChangeShapeType="1"/>
              </p:cNvSpPr>
              <p:nvPr/>
            </p:nvSpPr>
            <p:spPr bwMode="auto">
              <a:xfrm>
                <a:off x="3120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8" name="Line 142"/>
              <p:cNvSpPr>
                <a:spLocks noChangeShapeType="1"/>
              </p:cNvSpPr>
              <p:nvPr/>
            </p:nvSpPr>
            <p:spPr bwMode="auto">
              <a:xfrm>
                <a:off x="816" y="16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49" name="Line 143"/>
              <p:cNvSpPr>
                <a:spLocks noChangeShapeType="1"/>
              </p:cNvSpPr>
              <p:nvPr/>
            </p:nvSpPr>
            <p:spPr bwMode="auto">
              <a:xfrm>
                <a:off x="816" y="20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50" name="Line 144"/>
              <p:cNvSpPr>
                <a:spLocks noChangeShapeType="1"/>
              </p:cNvSpPr>
              <p:nvPr/>
            </p:nvSpPr>
            <p:spPr bwMode="auto">
              <a:xfrm>
                <a:off x="173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51" name="Line 145"/>
              <p:cNvSpPr>
                <a:spLocks noChangeShapeType="1"/>
              </p:cNvSpPr>
              <p:nvPr/>
            </p:nvSpPr>
            <p:spPr bwMode="auto">
              <a:xfrm>
                <a:off x="219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52" name="Freeform 146"/>
              <p:cNvSpPr>
                <a:spLocks/>
              </p:cNvSpPr>
              <p:nvPr/>
            </p:nvSpPr>
            <p:spPr bwMode="auto">
              <a:xfrm>
                <a:off x="815" y="1116"/>
                <a:ext cx="2305" cy="1418"/>
              </a:xfrm>
              <a:custGeom>
                <a:avLst/>
                <a:gdLst>
                  <a:gd name="T0" fmla="*/ 0 w 2305"/>
                  <a:gd name="T1" fmla="*/ 21 h 1910"/>
                  <a:gd name="T2" fmla="*/ 270 w 2305"/>
                  <a:gd name="T3" fmla="*/ 3 h 1910"/>
                  <a:gd name="T4" fmla="*/ 696 w 2305"/>
                  <a:gd name="T5" fmla="*/ 39 h 1910"/>
                  <a:gd name="T6" fmla="*/ 1160 w 2305"/>
                  <a:gd name="T7" fmla="*/ 3 h 1910"/>
                  <a:gd name="T8" fmla="*/ 1609 w 2305"/>
                  <a:gd name="T9" fmla="*/ 39 h 1910"/>
                  <a:gd name="T10" fmla="*/ 2035 w 2305"/>
                  <a:gd name="T11" fmla="*/ 3 h 1910"/>
                  <a:gd name="T12" fmla="*/ 2305 w 2305"/>
                  <a:gd name="T13" fmla="*/ 22 h 19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5"/>
                  <a:gd name="T22" fmla="*/ 0 h 1910"/>
                  <a:gd name="T23" fmla="*/ 2305 w 2305"/>
                  <a:gd name="T24" fmla="*/ 1910 h 19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5" h="1910">
                    <a:moveTo>
                      <a:pt x="0" y="1006"/>
                    </a:moveTo>
                    <a:cubicBezTo>
                      <a:pt x="45" y="864"/>
                      <a:pt x="154" y="0"/>
                      <a:pt x="270" y="151"/>
                    </a:cubicBezTo>
                    <a:cubicBezTo>
                      <a:pt x="386" y="302"/>
                      <a:pt x="548" y="1910"/>
                      <a:pt x="696" y="1909"/>
                    </a:cubicBezTo>
                    <a:cubicBezTo>
                      <a:pt x="844" y="1908"/>
                      <a:pt x="1008" y="145"/>
                      <a:pt x="1160" y="143"/>
                    </a:cubicBezTo>
                    <a:cubicBezTo>
                      <a:pt x="1312" y="141"/>
                      <a:pt x="1463" y="1892"/>
                      <a:pt x="1609" y="1894"/>
                    </a:cubicBezTo>
                    <a:cubicBezTo>
                      <a:pt x="1755" y="1896"/>
                      <a:pt x="1919" y="301"/>
                      <a:pt x="2035" y="158"/>
                    </a:cubicBezTo>
                    <a:cubicBezTo>
                      <a:pt x="2151" y="15"/>
                      <a:pt x="2249" y="851"/>
                      <a:pt x="2305" y="103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250" name="Text Box 147"/>
            <p:cNvSpPr txBox="1">
              <a:spLocks noChangeArrowheads="1"/>
            </p:cNvSpPr>
            <p:nvPr/>
          </p:nvSpPr>
          <p:spPr bwMode="auto">
            <a:xfrm>
              <a:off x="456175" y="6120426"/>
              <a:ext cx="8130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CH1 2.00V</a:t>
              </a:r>
            </a:p>
          </p:txBody>
        </p:sp>
        <p:sp>
          <p:nvSpPr>
            <p:cNvPr id="8251" name="Text Box 148"/>
            <p:cNvSpPr txBox="1">
              <a:spLocks noChangeArrowheads="1"/>
            </p:cNvSpPr>
            <p:nvPr/>
          </p:nvSpPr>
          <p:spPr bwMode="auto">
            <a:xfrm>
              <a:off x="1560504" y="6144794"/>
              <a:ext cx="716842" cy="2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 1000μs</a:t>
              </a:r>
            </a:p>
          </p:txBody>
        </p:sp>
      </p:grpSp>
      <p:grpSp>
        <p:nvGrpSpPr>
          <p:cNvPr id="8199" name="그룹 1"/>
          <p:cNvGrpSpPr>
            <a:grpSpLocks/>
          </p:cNvGrpSpPr>
          <p:nvPr/>
        </p:nvGrpSpPr>
        <p:grpSpPr bwMode="auto">
          <a:xfrm>
            <a:off x="1431925" y="2000672"/>
            <a:ext cx="1104900" cy="876300"/>
            <a:chOff x="1412117" y="2216696"/>
            <a:chExt cx="1701442" cy="1391759"/>
          </a:xfrm>
        </p:grpSpPr>
        <p:sp>
          <p:nvSpPr>
            <p:cNvPr id="8226" name="Line 62"/>
            <p:cNvSpPr>
              <a:spLocks noChangeShapeType="1"/>
            </p:cNvSpPr>
            <p:nvPr/>
          </p:nvSpPr>
          <p:spPr bwMode="auto">
            <a:xfrm>
              <a:off x="2068984" y="2216696"/>
              <a:ext cx="0" cy="6667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7" name="Line 63"/>
            <p:cNvSpPr>
              <a:spLocks noChangeShapeType="1"/>
            </p:cNvSpPr>
            <p:nvPr/>
          </p:nvSpPr>
          <p:spPr bwMode="auto">
            <a:xfrm>
              <a:off x="2065809" y="2216696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8" name="Line 64"/>
            <p:cNvSpPr>
              <a:spLocks noChangeShapeType="1"/>
            </p:cNvSpPr>
            <p:nvPr/>
          </p:nvSpPr>
          <p:spPr bwMode="auto">
            <a:xfrm>
              <a:off x="2991322" y="2216696"/>
              <a:ext cx="0" cy="2032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229" name="Group 65"/>
            <p:cNvGrpSpPr>
              <a:grpSpLocks/>
            </p:cNvGrpSpPr>
            <p:nvPr/>
          </p:nvGrpSpPr>
          <p:grpSpPr bwMode="auto">
            <a:xfrm>
              <a:off x="2899247" y="2419896"/>
              <a:ext cx="184150" cy="254000"/>
              <a:chOff x="1488" y="1152"/>
              <a:chExt cx="192" cy="336"/>
            </a:xfrm>
          </p:grpSpPr>
          <p:sp>
            <p:nvSpPr>
              <p:cNvPr id="8242" name="Line 66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3" name="Line 67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4" name="Line 68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5" name="Line 69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6" name="Line 70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7" name="Line 71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8" name="Line 72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230" name="Line 73"/>
            <p:cNvSpPr>
              <a:spLocks noChangeShapeType="1"/>
            </p:cNvSpPr>
            <p:nvPr/>
          </p:nvSpPr>
          <p:spPr bwMode="auto">
            <a:xfrm>
              <a:off x="2991322" y="2673896"/>
              <a:ext cx="0" cy="4762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1" name="AutoShape 74"/>
            <p:cNvSpPr>
              <a:spLocks noChangeArrowheads="1"/>
            </p:cNvSpPr>
            <p:nvPr/>
          </p:nvSpPr>
          <p:spPr bwMode="auto">
            <a:xfrm flipV="1">
              <a:off x="2869084" y="3137446"/>
              <a:ext cx="244475" cy="10160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232" name="Line 75"/>
            <p:cNvSpPr>
              <a:spLocks noChangeShapeType="1"/>
            </p:cNvSpPr>
            <p:nvPr/>
          </p:nvSpPr>
          <p:spPr bwMode="auto">
            <a:xfrm flipV="1">
              <a:off x="2869084" y="3239046"/>
              <a:ext cx="2444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3" name="Line 76"/>
            <p:cNvSpPr>
              <a:spLocks noChangeShapeType="1"/>
            </p:cNvSpPr>
            <p:nvPr/>
          </p:nvSpPr>
          <p:spPr bwMode="auto">
            <a:xfrm>
              <a:off x="2075334" y="3588296"/>
              <a:ext cx="9159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4" name="Line 77"/>
            <p:cNvSpPr>
              <a:spLocks noChangeShapeType="1"/>
            </p:cNvSpPr>
            <p:nvPr/>
          </p:nvSpPr>
          <p:spPr bwMode="auto">
            <a:xfrm>
              <a:off x="2991322" y="3232696"/>
              <a:ext cx="0" cy="35560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5" name="Text Box 78"/>
            <p:cNvSpPr txBox="1">
              <a:spLocks noChangeArrowheads="1"/>
            </p:cNvSpPr>
            <p:nvPr/>
          </p:nvSpPr>
          <p:spPr bwMode="auto">
            <a:xfrm>
              <a:off x="2520970" y="2356193"/>
              <a:ext cx="429716" cy="415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1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23" name="Text Box 79"/>
            <p:cNvSpPr txBox="1">
              <a:spLocks noChangeArrowheads="1"/>
            </p:cNvSpPr>
            <p:nvPr/>
          </p:nvSpPr>
          <p:spPr bwMode="auto">
            <a:xfrm>
              <a:off x="2409514" y="2937789"/>
              <a:ext cx="606261" cy="670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latin typeface="Times New Roman" pitchFamily="18" charset="0"/>
                  <a:cs typeface="Times New Roman" panose="02020603050405020304" pitchFamily="18" charset="0"/>
                </a:rPr>
                <a:t>  D</a:t>
              </a:r>
            </a:p>
            <a:p>
              <a:pPr>
                <a:defRPr/>
              </a:pPr>
              <a:r>
                <a:rPr lang="en-US" altLang="ko-KR" sz="1050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ko-KR" sz="800" dirty="0" err="1">
                  <a:latin typeface="Times New Roman" pitchFamily="18" charset="0"/>
                  <a:cs typeface="Times New Roman" panose="02020603050405020304" pitchFamily="18" charset="0"/>
                </a:rPr>
                <a:t>Ge</a:t>
              </a:r>
              <a:r>
                <a:rPr lang="en-US" altLang="ko-KR" sz="1050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237" name="Line 80"/>
            <p:cNvSpPr>
              <a:spLocks noChangeShapeType="1"/>
            </p:cNvSpPr>
            <p:nvPr/>
          </p:nvSpPr>
          <p:spPr bwMode="auto">
            <a:xfrm flipV="1">
              <a:off x="2068984" y="2912020"/>
              <a:ext cx="0" cy="6762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238" name="Group 81"/>
            <p:cNvGrpSpPr>
              <a:grpSpLocks/>
            </p:cNvGrpSpPr>
            <p:nvPr/>
          </p:nvGrpSpPr>
          <p:grpSpPr bwMode="auto">
            <a:xfrm flipV="1">
              <a:off x="1951509" y="2873921"/>
              <a:ext cx="238125" cy="47625"/>
              <a:chOff x="636" y="3360"/>
              <a:chExt cx="150" cy="30"/>
            </a:xfrm>
          </p:grpSpPr>
          <p:sp>
            <p:nvSpPr>
              <p:cNvPr id="8240" name="Line 82"/>
              <p:cNvSpPr>
                <a:spLocks noChangeShapeType="1"/>
              </p:cNvSpPr>
              <p:nvPr/>
            </p:nvSpPr>
            <p:spPr bwMode="auto">
              <a:xfrm>
                <a:off x="636" y="3360"/>
                <a:ext cx="150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41" name="Line 83"/>
              <p:cNvSpPr>
                <a:spLocks noChangeShapeType="1"/>
              </p:cNvSpPr>
              <p:nvPr/>
            </p:nvSpPr>
            <p:spPr bwMode="auto">
              <a:xfrm>
                <a:off x="660" y="3390"/>
                <a:ext cx="9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6" name="Text Box 85"/>
            <p:cNvSpPr txBox="1">
              <a:spLocks noChangeArrowheads="1"/>
            </p:cNvSpPr>
            <p:nvPr/>
          </p:nvSpPr>
          <p:spPr bwMode="auto">
            <a:xfrm>
              <a:off x="1412117" y="2678094"/>
              <a:ext cx="677155" cy="403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5[V]</a:t>
              </a:r>
            </a:p>
          </p:txBody>
        </p:sp>
      </p:grpSp>
      <p:grpSp>
        <p:nvGrpSpPr>
          <p:cNvPr id="8200" name="그룹 3"/>
          <p:cNvGrpSpPr>
            <a:grpSpLocks/>
          </p:cNvGrpSpPr>
          <p:nvPr/>
        </p:nvGrpSpPr>
        <p:grpSpPr bwMode="auto">
          <a:xfrm>
            <a:off x="1404938" y="3359795"/>
            <a:ext cx="1201737" cy="873125"/>
            <a:chOff x="1405633" y="3323681"/>
            <a:chExt cx="1200326" cy="874190"/>
          </a:xfrm>
        </p:grpSpPr>
        <p:sp>
          <p:nvSpPr>
            <p:cNvPr id="8201" name="Line 75"/>
            <p:cNvSpPr>
              <a:spLocks noChangeShapeType="1"/>
            </p:cNvSpPr>
            <p:nvPr/>
          </p:nvSpPr>
          <p:spPr bwMode="auto">
            <a:xfrm>
              <a:off x="1854814" y="3323681"/>
              <a:ext cx="0" cy="4249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2" name="Line 76"/>
            <p:cNvSpPr>
              <a:spLocks noChangeShapeType="1"/>
            </p:cNvSpPr>
            <p:nvPr/>
          </p:nvSpPr>
          <p:spPr bwMode="auto">
            <a:xfrm>
              <a:off x="1848402" y="3323681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3" name="Line 77"/>
            <p:cNvSpPr>
              <a:spLocks noChangeShapeType="1"/>
            </p:cNvSpPr>
            <p:nvPr/>
          </p:nvSpPr>
          <p:spPr bwMode="auto">
            <a:xfrm>
              <a:off x="2471388" y="3323681"/>
              <a:ext cx="0" cy="12951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204" name="Group 78"/>
            <p:cNvGrpSpPr>
              <a:grpSpLocks/>
            </p:cNvGrpSpPr>
            <p:nvPr/>
          </p:nvGrpSpPr>
          <p:grpSpPr bwMode="auto">
            <a:xfrm>
              <a:off x="2409410" y="3453191"/>
              <a:ext cx="123956" cy="161887"/>
              <a:chOff x="1488" y="1152"/>
              <a:chExt cx="192" cy="336"/>
            </a:xfrm>
          </p:grpSpPr>
          <p:sp>
            <p:nvSpPr>
              <p:cNvPr id="8219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20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21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22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23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24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25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205" name="Line 86"/>
            <p:cNvSpPr>
              <a:spLocks noChangeShapeType="1"/>
            </p:cNvSpPr>
            <p:nvPr/>
          </p:nvSpPr>
          <p:spPr bwMode="auto">
            <a:xfrm>
              <a:off x="2471388" y="3615078"/>
              <a:ext cx="0" cy="27925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6" name="AutoShape 87"/>
            <p:cNvSpPr>
              <a:spLocks noChangeArrowheads="1"/>
            </p:cNvSpPr>
            <p:nvPr/>
          </p:nvSpPr>
          <p:spPr bwMode="auto">
            <a:xfrm>
              <a:off x="2389107" y="3894333"/>
              <a:ext cx="164563" cy="8094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207" name="Line 88"/>
            <p:cNvSpPr>
              <a:spLocks noChangeShapeType="1"/>
            </p:cNvSpPr>
            <p:nvPr/>
          </p:nvSpPr>
          <p:spPr bwMode="auto">
            <a:xfrm>
              <a:off x="2389107" y="3975276"/>
              <a:ext cx="16456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8" name="Line 89"/>
            <p:cNvSpPr>
              <a:spLocks noChangeShapeType="1"/>
            </p:cNvSpPr>
            <p:nvPr/>
          </p:nvSpPr>
          <p:spPr bwMode="auto">
            <a:xfrm>
              <a:off x="1854814" y="4197871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9" name="Line 90"/>
            <p:cNvSpPr>
              <a:spLocks noChangeShapeType="1"/>
            </p:cNvSpPr>
            <p:nvPr/>
          </p:nvSpPr>
          <p:spPr bwMode="auto">
            <a:xfrm>
              <a:off x="2471388" y="3971229"/>
              <a:ext cx="0" cy="2266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0" name="Text Box 91"/>
            <p:cNvSpPr txBox="1">
              <a:spLocks noChangeArrowheads="1"/>
            </p:cNvSpPr>
            <p:nvPr/>
          </p:nvSpPr>
          <p:spPr bwMode="auto">
            <a:xfrm>
              <a:off x="2120373" y="3385491"/>
              <a:ext cx="304534" cy="308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211" name="Line 92"/>
            <p:cNvSpPr>
              <a:spLocks noChangeShapeType="1"/>
            </p:cNvSpPr>
            <p:nvPr/>
          </p:nvSpPr>
          <p:spPr bwMode="auto">
            <a:xfrm flipV="1">
              <a:off x="1854814" y="3778988"/>
              <a:ext cx="0" cy="41888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2" name="Line 93"/>
            <p:cNvSpPr>
              <a:spLocks noChangeShapeType="1"/>
            </p:cNvSpPr>
            <p:nvPr/>
          </p:nvSpPr>
          <p:spPr bwMode="auto">
            <a:xfrm>
              <a:off x="1775738" y="3744587"/>
              <a:ext cx="1602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3" name="Line 94"/>
            <p:cNvSpPr>
              <a:spLocks noChangeShapeType="1"/>
            </p:cNvSpPr>
            <p:nvPr/>
          </p:nvSpPr>
          <p:spPr bwMode="auto">
            <a:xfrm>
              <a:off x="1801384" y="3774941"/>
              <a:ext cx="10258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4" name="Line 96"/>
            <p:cNvSpPr>
              <a:spLocks noChangeShapeType="1"/>
            </p:cNvSpPr>
            <p:nvPr/>
          </p:nvSpPr>
          <p:spPr bwMode="auto">
            <a:xfrm>
              <a:off x="2386970" y="3894333"/>
              <a:ext cx="16670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5" name="Line 98"/>
            <p:cNvSpPr>
              <a:spLocks noChangeShapeType="1"/>
            </p:cNvSpPr>
            <p:nvPr/>
          </p:nvSpPr>
          <p:spPr bwMode="auto">
            <a:xfrm flipH="1" flipV="1">
              <a:off x="2329267" y="3845767"/>
              <a:ext cx="51292" cy="485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6" name="Text Box 99"/>
            <p:cNvSpPr txBox="1">
              <a:spLocks noChangeArrowheads="1"/>
            </p:cNvSpPr>
            <p:nvPr/>
          </p:nvSpPr>
          <p:spPr bwMode="auto">
            <a:xfrm>
              <a:off x="2008690" y="3785059"/>
              <a:ext cx="488662" cy="3697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itchFamily="18" charset="0"/>
                  <a:ea typeface="돋움" pitchFamily="50" charset="-127"/>
                  <a:cs typeface="Times New Roman" panose="02020603050405020304" pitchFamily="18" charset="0"/>
                </a:rPr>
                <a:t>  ZD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itchFamily="18" charset="0"/>
                  <a:ea typeface="돋움" pitchFamily="50" charset="-127"/>
                  <a:cs typeface="Times New Roman" panose="02020603050405020304" pitchFamily="18" charset="0"/>
                </a:rPr>
                <a:t>(9.1V)</a:t>
              </a:r>
            </a:p>
          </p:txBody>
        </p:sp>
        <p:sp>
          <p:nvSpPr>
            <p:cNvPr id="8217" name="Text Box 100"/>
            <p:cNvSpPr txBox="1">
              <a:spLocks noChangeArrowheads="1"/>
            </p:cNvSpPr>
            <p:nvPr/>
          </p:nvSpPr>
          <p:spPr bwMode="auto">
            <a:xfrm>
              <a:off x="1405633" y="3632212"/>
              <a:ext cx="459841" cy="23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12[V]</a:t>
              </a:r>
            </a:p>
          </p:txBody>
        </p:sp>
        <p:sp>
          <p:nvSpPr>
            <p:cNvPr id="8218" name="Line 98"/>
            <p:cNvSpPr>
              <a:spLocks noChangeShapeType="1"/>
            </p:cNvSpPr>
            <p:nvPr/>
          </p:nvSpPr>
          <p:spPr bwMode="auto">
            <a:xfrm flipH="1" flipV="1">
              <a:off x="2554667" y="3891928"/>
              <a:ext cx="51292" cy="456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1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59503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endParaRPr lang="ko-KR" alt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36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0" name="Group 1"/>
          <p:cNvGrpSpPr>
            <a:grpSpLocks/>
          </p:cNvGrpSpPr>
          <p:nvPr/>
        </p:nvGrpSpPr>
        <p:grpSpPr bwMode="auto">
          <a:xfrm>
            <a:off x="3631332" y="1174680"/>
            <a:ext cx="2894012" cy="3714750"/>
            <a:chOff x="3630613" y="1310258"/>
            <a:chExt cx="2894012" cy="3714750"/>
          </a:xfrm>
        </p:grpSpPr>
        <p:pic>
          <p:nvPicPr>
            <p:cNvPr id="10282" name="Picture 7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5238" y="1364233"/>
              <a:ext cx="944562" cy="1227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83" name="TextBox 2"/>
            <p:cNvSpPr txBox="1">
              <a:spLocks noChangeArrowheads="1"/>
            </p:cNvSpPr>
            <p:nvPr/>
          </p:nvSpPr>
          <p:spPr bwMode="auto">
            <a:xfrm>
              <a:off x="4667250" y="2164333"/>
              <a:ext cx="250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P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284" name="TextBox 82"/>
            <p:cNvSpPr txBox="1">
              <a:spLocks noChangeArrowheads="1"/>
            </p:cNvSpPr>
            <p:nvPr/>
          </p:nvSpPr>
          <p:spPr bwMode="auto">
            <a:xfrm>
              <a:off x="4667250" y="1776983"/>
              <a:ext cx="2540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R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285" name="TextBox 83"/>
            <p:cNvSpPr txBox="1">
              <a:spLocks noChangeArrowheads="1"/>
            </p:cNvSpPr>
            <p:nvPr/>
          </p:nvSpPr>
          <p:spPr bwMode="auto">
            <a:xfrm>
              <a:off x="3630613" y="1986533"/>
              <a:ext cx="2584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A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0286" name="Picture 7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683445"/>
              <a:ext cx="1063625" cy="271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87" name="TextBox 88"/>
            <p:cNvSpPr txBox="1">
              <a:spLocks noChangeArrowheads="1"/>
            </p:cNvSpPr>
            <p:nvPr/>
          </p:nvSpPr>
          <p:spPr bwMode="auto">
            <a:xfrm>
              <a:off x="4241800" y="290093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1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288" name="TextBox 89"/>
            <p:cNvSpPr txBox="1">
              <a:spLocks noChangeArrowheads="1"/>
            </p:cNvSpPr>
            <p:nvPr/>
          </p:nvSpPr>
          <p:spPr bwMode="auto">
            <a:xfrm>
              <a:off x="4365625" y="290093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3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0289" name="Picture 7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8925" y="1310258"/>
              <a:ext cx="998538" cy="1300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0" name="Picture 7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3375" y="2680270"/>
              <a:ext cx="895350" cy="293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91" name="TextBox 97"/>
            <p:cNvSpPr txBox="1">
              <a:spLocks noChangeArrowheads="1"/>
            </p:cNvSpPr>
            <p:nvPr/>
          </p:nvSpPr>
          <p:spPr bwMode="auto">
            <a:xfrm>
              <a:off x="5219700" y="2273870"/>
              <a:ext cx="250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P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292" name="TextBox 98"/>
            <p:cNvSpPr txBox="1">
              <a:spLocks noChangeArrowheads="1"/>
            </p:cNvSpPr>
            <p:nvPr/>
          </p:nvSpPr>
          <p:spPr bwMode="auto">
            <a:xfrm>
              <a:off x="5210175" y="1858368"/>
              <a:ext cx="2584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A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293" name="TextBox 99"/>
            <p:cNvSpPr txBox="1">
              <a:spLocks noChangeArrowheads="1"/>
            </p:cNvSpPr>
            <p:nvPr/>
          </p:nvSpPr>
          <p:spPr bwMode="auto">
            <a:xfrm>
              <a:off x="6272213" y="2119883"/>
              <a:ext cx="252412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R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0294" name="Picture 80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4564633"/>
              <a:ext cx="1084263" cy="298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5" name="Picture 8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4288" y="3116833"/>
              <a:ext cx="912812" cy="1370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96" name="TextBox 104"/>
            <p:cNvSpPr txBox="1">
              <a:spLocks noChangeArrowheads="1"/>
            </p:cNvSpPr>
            <p:nvPr/>
          </p:nvSpPr>
          <p:spPr bwMode="auto">
            <a:xfrm>
              <a:off x="4313238" y="4799583"/>
              <a:ext cx="242887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1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297" name="TextBox 105"/>
            <p:cNvSpPr txBox="1">
              <a:spLocks noChangeArrowheads="1"/>
            </p:cNvSpPr>
            <p:nvPr/>
          </p:nvSpPr>
          <p:spPr bwMode="auto">
            <a:xfrm>
              <a:off x="4452938" y="4799583"/>
              <a:ext cx="242887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3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0298" name="Picture 8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7813" y="3062858"/>
              <a:ext cx="950912" cy="1417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9" name="Picture 8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4950" y="4529708"/>
              <a:ext cx="1038225" cy="342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300" name="TextBox 110"/>
            <p:cNvSpPr txBox="1">
              <a:spLocks noChangeArrowheads="1"/>
            </p:cNvSpPr>
            <p:nvPr/>
          </p:nvSpPr>
          <p:spPr bwMode="auto">
            <a:xfrm>
              <a:off x="5889625" y="290093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3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1" name="TextBox 112"/>
            <p:cNvSpPr txBox="1">
              <a:spLocks noChangeArrowheads="1"/>
            </p:cNvSpPr>
            <p:nvPr/>
          </p:nvSpPr>
          <p:spPr bwMode="auto">
            <a:xfrm>
              <a:off x="5737225" y="479958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1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2" name="TextBox 113"/>
            <p:cNvSpPr txBox="1">
              <a:spLocks noChangeArrowheads="1"/>
            </p:cNvSpPr>
            <p:nvPr/>
          </p:nvSpPr>
          <p:spPr bwMode="auto">
            <a:xfrm>
              <a:off x="5899150" y="4809108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3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3" name="TextBox 2"/>
            <p:cNvSpPr txBox="1">
              <a:spLocks noChangeArrowheads="1"/>
            </p:cNvSpPr>
            <p:nvPr/>
          </p:nvSpPr>
          <p:spPr bwMode="auto">
            <a:xfrm>
              <a:off x="4657725" y="3596258"/>
              <a:ext cx="2423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P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4" name="TextBox 82"/>
            <p:cNvSpPr txBox="1">
              <a:spLocks noChangeArrowheads="1"/>
            </p:cNvSpPr>
            <p:nvPr/>
          </p:nvSpPr>
          <p:spPr bwMode="auto">
            <a:xfrm>
              <a:off x="4648200" y="4012183"/>
              <a:ext cx="25359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R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5" name="TextBox 84"/>
            <p:cNvSpPr txBox="1">
              <a:spLocks noChangeArrowheads="1"/>
            </p:cNvSpPr>
            <p:nvPr/>
          </p:nvSpPr>
          <p:spPr bwMode="auto">
            <a:xfrm>
              <a:off x="3667125" y="3166045"/>
              <a:ext cx="24765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Z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6" name="TextBox 83"/>
            <p:cNvSpPr txBox="1">
              <a:spLocks noChangeArrowheads="1"/>
            </p:cNvSpPr>
            <p:nvPr/>
          </p:nvSpPr>
          <p:spPr bwMode="auto">
            <a:xfrm>
              <a:off x="3649663" y="3808983"/>
              <a:ext cx="2584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A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7" name="TextBox 98"/>
            <p:cNvSpPr txBox="1">
              <a:spLocks noChangeArrowheads="1"/>
            </p:cNvSpPr>
            <p:nvPr/>
          </p:nvSpPr>
          <p:spPr bwMode="auto">
            <a:xfrm>
              <a:off x="6210300" y="3478783"/>
              <a:ext cx="2584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A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08" name="TextBox 97"/>
            <p:cNvSpPr txBox="1">
              <a:spLocks noChangeArrowheads="1"/>
            </p:cNvSpPr>
            <p:nvPr/>
          </p:nvSpPr>
          <p:spPr bwMode="auto">
            <a:xfrm>
              <a:off x="6210300" y="3969320"/>
              <a:ext cx="250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P</a:t>
              </a:r>
              <a:endParaRPr lang="ko-KR" altLang="en-US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43" name="Group 2"/>
          <p:cNvGrpSpPr>
            <a:grpSpLocks/>
          </p:cNvGrpSpPr>
          <p:nvPr/>
        </p:nvGrpSpPr>
        <p:grpSpPr bwMode="auto">
          <a:xfrm>
            <a:off x="304800" y="776288"/>
            <a:ext cx="6248400" cy="8901112"/>
            <a:chOff x="192" y="672"/>
            <a:chExt cx="3936" cy="5424"/>
          </a:xfrm>
        </p:grpSpPr>
        <p:sp>
          <p:nvSpPr>
            <p:cNvPr id="10309" name="Rectangle 3"/>
            <p:cNvSpPr>
              <a:spLocks noChangeArrowheads="1"/>
            </p:cNvSpPr>
            <p:nvPr/>
          </p:nvSpPr>
          <p:spPr bwMode="auto">
            <a:xfrm>
              <a:off x="192" y="672"/>
              <a:ext cx="1968" cy="5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457200" indent="-457200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ko-KR" sz="900">
                <a:solidFill>
                  <a:srgbClr val="FF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10" name="Rectangle 4"/>
            <p:cNvSpPr>
              <a:spLocks noChangeArrowheads="1"/>
            </p:cNvSpPr>
            <p:nvPr/>
          </p:nvSpPr>
          <p:spPr bwMode="auto">
            <a:xfrm>
              <a:off x="2160" y="672"/>
              <a:ext cx="1968" cy="5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457200" indent="-457200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ko-KR" sz="900">
                <a:solidFill>
                  <a:srgbClr val="FF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292100" y="817563"/>
            <a:ext cx="14702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※ Khí nén</a:t>
            </a:r>
            <a:r>
              <a:rPr lang="ko-KR" altLang="en-US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Câu 1</a:t>
            </a:r>
            <a:r>
              <a:rPr lang="ko-KR" altLang="en-US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~ </a:t>
            </a:r>
            <a:r>
              <a:rPr lang="en-US" altLang="ko-KR" sz="1000" b="1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</a:t>
            </a:r>
            <a:endParaRPr lang="ko-KR" altLang="en-US" sz="1000" b="1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45" name="Text Box 34"/>
          <p:cNvSpPr txBox="1">
            <a:spLocks noChangeArrowheads="1"/>
          </p:cNvSpPr>
          <p:nvPr/>
        </p:nvSpPr>
        <p:spPr bwMode="auto">
          <a:xfrm>
            <a:off x="279400" y="3470275"/>
            <a:ext cx="3149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Phía dưới đang nói về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chức năng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nào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rơle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 đầu vào có thể được duy trì bằng tiếp điểm riêng của rơle, do đó, tín hiệu hoạt động có thể được ghi nhớ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ko-KR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① Chức năng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chia  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② Chức năng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③ Chức năng bộ nhớ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④ Chức năng khuếch đại</a:t>
            </a:r>
          </a:p>
        </p:txBody>
      </p:sp>
      <p:sp>
        <p:nvSpPr>
          <p:cNvPr id="10246" name="Rectangle 153"/>
          <p:cNvSpPr>
            <a:spLocks noChangeArrowheads="1"/>
          </p:cNvSpPr>
          <p:nvPr/>
        </p:nvSpPr>
        <p:spPr bwMode="auto">
          <a:xfrm>
            <a:off x="260350" y="6561138"/>
            <a:ext cx="3203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5.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Xilanh nào được dùng ở nơi cần lực lớn và có giới hạn đường kính xi lanh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altLang="ko-KR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                                 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②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                                  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④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47" name="Rectangle 52"/>
          <p:cNvSpPr>
            <a:spLocks noChangeArrowheads="1"/>
          </p:cNvSpPr>
          <p:nvPr/>
        </p:nvSpPr>
        <p:spPr bwMode="auto">
          <a:xfrm>
            <a:off x="260350" y="1154113"/>
            <a:ext cx="31305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1. Đâu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phải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ưu điểm 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kỹ thuật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khí nén?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hận khí nén từ nguồn điện một cách đơn giản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Không có nguy cơ bắt lửa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Có thể kiểm soát tốc độ chính xác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Có thể tích lũy năng lượng</a:t>
            </a:r>
          </a:p>
        </p:txBody>
      </p:sp>
      <p:sp>
        <p:nvSpPr>
          <p:cNvPr id="10248" name="Rectangle 161"/>
          <p:cNvSpPr>
            <a:spLocks noChangeArrowheads="1"/>
          </p:cNvSpPr>
          <p:nvPr/>
        </p:nvSpPr>
        <p:spPr bwMode="auto">
          <a:xfrm>
            <a:off x="269875" y="2289175"/>
            <a:ext cx="31591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phải là đặc điểm của van điện từ?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Giá thành rẻ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Không dễ bị hỏng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hông cần phải vệ sinh vật trung gian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Tiêu thụ điện thấp</a:t>
            </a:r>
          </a:p>
        </p:txBody>
      </p:sp>
      <p:sp>
        <p:nvSpPr>
          <p:cNvPr id="10249" name="Text Box 44"/>
          <p:cNvSpPr txBox="1">
            <a:spLocks noChangeArrowheads="1"/>
          </p:cNvSpPr>
          <p:nvPr/>
        </p:nvSpPr>
        <p:spPr bwMode="auto">
          <a:xfrm>
            <a:off x="3402013" y="6627813"/>
            <a:ext cx="284565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9. Đâu không phải là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tên 1 bộ phận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tube One - touch?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Flange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</a:t>
            </a:r>
            <a:r>
              <a:rPr lang="en-US" altLang="ko-KR" sz="900" baseline="30000" smtClean="0"/>
              <a:t>            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Đinh ốc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Housing              ④ Tube fitting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50" name="Rectangle 110"/>
          <p:cNvSpPr>
            <a:spLocks noChangeArrowheads="1"/>
          </p:cNvSpPr>
          <p:nvPr/>
        </p:nvSpPr>
        <p:spPr bwMode="auto">
          <a:xfrm>
            <a:off x="279400" y="8278813"/>
            <a:ext cx="31416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6. Kiểm soát an toàn, kiểm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soát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chuyển động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chức năng kiểm tra, hoạt động logic, v.v.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Đang nói tới chức năng của van nào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                                   </a:t>
            </a: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                                   ④ </a:t>
            </a:r>
          </a:p>
        </p:txBody>
      </p:sp>
      <p:sp>
        <p:nvSpPr>
          <p:cNvPr id="10251" name="Rectangle 164"/>
          <p:cNvSpPr>
            <a:spLocks noChangeArrowheads="1"/>
          </p:cNvSpPr>
          <p:nvPr/>
        </p:nvSpPr>
        <p:spPr bwMode="auto">
          <a:xfrm>
            <a:off x="3416300" y="7473950"/>
            <a:ext cx="31623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10.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Đáp án sai khi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mô tả mạch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meter - in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meter - out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Chuyển động của piston không ổn định do áp suất trong buồng tiến và buồng lùi không cân bằng.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Piston chuyển động không đều và xảy ra hiện tượng trượt thanh.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Do không khí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cửa nguồn được tiết lưu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nên cần thời gian để áp suất trong buồng đảo chiều tăng lên.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Không khí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được tiết lưu ở cửa nguồn,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do đó tốc độ xả bị hạn chế.</a:t>
            </a:r>
          </a:p>
        </p:txBody>
      </p:sp>
      <p:sp>
        <p:nvSpPr>
          <p:cNvPr id="10252" name="Rectangle 110"/>
          <p:cNvSpPr>
            <a:spLocks noChangeArrowheads="1"/>
          </p:cNvSpPr>
          <p:nvPr/>
        </p:nvSpPr>
        <p:spPr bwMode="auto">
          <a:xfrm>
            <a:off x="3405188" y="863600"/>
            <a:ext cx="31877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7.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Chọn đáp án có c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ấu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trúc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van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so với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ký hiệu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van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khớp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nhau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                                                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                                  </a:t>
            </a:r>
            <a:r>
              <a:rPr lang="ko-KR" altLang="en-US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 </a:t>
            </a:r>
            <a:r>
              <a:rPr lang="ko-KR" altLang="en-US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                                     </a:t>
            </a: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</a:t>
            </a:r>
          </a:p>
        </p:txBody>
      </p:sp>
      <p:sp>
        <p:nvSpPr>
          <p:cNvPr id="16" name="Rectangle 151"/>
          <p:cNvSpPr>
            <a:spLocks noChangeArrowheads="1"/>
          </p:cNvSpPr>
          <p:nvPr/>
        </p:nvSpPr>
        <p:spPr bwMode="auto">
          <a:xfrm>
            <a:off x="304800" y="4881563"/>
            <a:ext cx="3124200" cy="1394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mtClean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Van nào có chức năng giảm áp suất từ nguồn khí nén, duy trì lượng áp suất không đổi tới các bộ phận  phía sau ?</a:t>
            </a:r>
            <a:endParaRPr lang="en-US"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Tx/>
              <a:buAutoNum type="circleNumDbPlain"/>
              <a:defRPr/>
            </a:pPr>
            <a:r>
              <a:rPr lang="ko-K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ko-KR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② 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Tx/>
              <a:buAutoNum type="circleNumDbPlain"/>
              <a:defRPr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Tx/>
              <a:buAutoNum type="circleNumDbPlain"/>
              <a:defRPr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                                   </a:t>
            </a:r>
            <a:r>
              <a:rPr lang="ko-KR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④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54" name="Rectangle 95"/>
          <p:cNvSpPr>
            <a:spLocks noChangeArrowheads="1"/>
          </p:cNvSpPr>
          <p:nvPr/>
        </p:nvSpPr>
        <p:spPr bwMode="auto">
          <a:xfrm>
            <a:off x="3390900" y="5103813"/>
            <a:ext cx="3133725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8.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áp án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đúng với đặc điểm 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Ejector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Cần có tank chứa khí chân không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uổi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thọ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cao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do không có bộ phận truyền động bên trong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So với các máy bơm chân không khác, nó có kích thước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nhỏ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bằng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1/10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Thích hợp để bật / tắt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liên tục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55" name="직사각형 1"/>
          <p:cNvSpPr>
            <a:spLocks noChangeArrowheads="1"/>
          </p:cNvSpPr>
          <p:nvPr/>
        </p:nvSpPr>
        <p:spPr bwMode="auto">
          <a:xfrm>
            <a:off x="346075" y="3709812"/>
            <a:ext cx="2979737" cy="4937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0256" name="Picture 1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8" y="8761413"/>
            <a:ext cx="6572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7" name="Picture 1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9131300"/>
            <a:ext cx="65722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8" name="Picture 2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9186863"/>
            <a:ext cx="5730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9" name="Picture 2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8799513"/>
            <a:ext cx="590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0" name="TextBox 84"/>
          <p:cNvSpPr txBox="1">
            <a:spLocks noChangeArrowheads="1"/>
          </p:cNvSpPr>
          <p:nvPr/>
        </p:nvSpPr>
        <p:spPr bwMode="auto">
          <a:xfrm>
            <a:off x="4667250" y="1285875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Z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1" name="직사각형 3"/>
          <p:cNvSpPr>
            <a:spLocks noChangeArrowheads="1"/>
          </p:cNvSpPr>
          <p:nvPr/>
        </p:nvSpPr>
        <p:spPr bwMode="auto">
          <a:xfrm>
            <a:off x="3697288" y="2525713"/>
            <a:ext cx="217487" cy="112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2" name="TextBox 87"/>
          <p:cNvSpPr txBox="1">
            <a:spLocks noChangeArrowheads="1"/>
          </p:cNvSpPr>
          <p:nvPr/>
        </p:nvSpPr>
        <p:spPr bwMode="auto">
          <a:xfrm>
            <a:off x="4287838" y="2406650"/>
            <a:ext cx="2444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3" name="TextBox 90"/>
          <p:cNvSpPr txBox="1">
            <a:spLocks noChangeArrowheads="1"/>
          </p:cNvSpPr>
          <p:nvPr/>
        </p:nvSpPr>
        <p:spPr bwMode="auto">
          <a:xfrm>
            <a:off x="3659188" y="2492375"/>
            <a:ext cx="2872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4" name="TextBox 93"/>
          <p:cNvSpPr txBox="1">
            <a:spLocks noChangeArrowheads="1"/>
          </p:cNvSpPr>
          <p:nvPr/>
        </p:nvSpPr>
        <p:spPr bwMode="auto">
          <a:xfrm>
            <a:off x="5743575" y="2397125"/>
            <a:ext cx="2428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5" name="TextBox 96"/>
          <p:cNvSpPr txBox="1">
            <a:spLocks noChangeArrowheads="1"/>
          </p:cNvSpPr>
          <p:nvPr/>
        </p:nvSpPr>
        <p:spPr bwMode="auto">
          <a:xfrm>
            <a:off x="5281613" y="2482850"/>
            <a:ext cx="2872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6" name="TextBox 102"/>
          <p:cNvSpPr txBox="1">
            <a:spLocks noChangeArrowheads="1"/>
          </p:cNvSpPr>
          <p:nvPr/>
        </p:nvSpPr>
        <p:spPr bwMode="auto">
          <a:xfrm>
            <a:off x="3735388" y="4348163"/>
            <a:ext cx="287258" cy="21544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7" name="TextBox 103"/>
          <p:cNvSpPr txBox="1">
            <a:spLocks noChangeArrowheads="1"/>
          </p:cNvSpPr>
          <p:nvPr/>
        </p:nvSpPr>
        <p:spPr bwMode="auto">
          <a:xfrm>
            <a:off x="4381500" y="4286250"/>
            <a:ext cx="24288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8" name="TextBox 107"/>
          <p:cNvSpPr txBox="1">
            <a:spLocks noChangeArrowheads="1"/>
          </p:cNvSpPr>
          <p:nvPr/>
        </p:nvSpPr>
        <p:spPr bwMode="auto">
          <a:xfrm>
            <a:off x="6021388" y="2947988"/>
            <a:ext cx="2540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69" name="TextBox 109"/>
          <p:cNvSpPr txBox="1">
            <a:spLocks noChangeArrowheads="1"/>
          </p:cNvSpPr>
          <p:nvPr/>
        </p:nvSpPr>
        <p:spPr bwMode="auto">
          <a:xfrm>
            <a:off x="5765800" y="2773363"/>
            <a:ext cx="2444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70" name="TextBox 111"/>
          <p:cNvSpPr txBox="1">
            <a:spLocks noChangeArrowheads="1"/>
          </p:cNvSpPr>
          <p:nvPr/>
        </p:nvSpPr>
        <p:spPr bwMode="auto">
          <a:xfrm>
            <a:off x="5791200" y="4267200"/>
            <a:ext cx="2428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271" name="TextBox 114"/>
          <p:cNvSpPr txBox="1">
            <a:spLocks noChangeArrowheads="1"/>
          </p:cNvSpPr>
          <p:nvPr/>
        </p:nvSpPr>
        <p:spPr bwMode="auto">
          <a:xfrm>
            <a:off x="5224463" y="4354513"/>
            <a:ext cx="2872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</a:t>
            </a:r>
            <a:endParaRPr lang="ko-KR" altLang="en-US" sz="8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0272" name="Picture 8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5519738"/>
            <a:ext cx="7016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3" name="Picture 8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32" y="5384800"/>
            <a:ext cx="6143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4" name="Picture 8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70" y="5975350"/>
            <a:ext cx="742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5" name="Picture 8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5946775"/>
            <a:ext cx="685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6" name="Picture 8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7194550"/>
            <a:ext cx="94297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7" name="Picture 8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7146925"/>
            <a:ext cx="110490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8" name="Picture 9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7626350"/>
            <a:ext cx="10350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9" name="Picture 9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7566025"/>
            <a:ext cx="1073150" cy="43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88678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Khí nén</a:t>
            </a:r>
            <a:endParaRPr lang="ko-KR" alt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52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170"/>
          <p:cNvSpPr>
            <a:spLocks noChangeArrowheads="1"/>
          </p:cNvSpPr>
          <p:nvPr/>
        </p:nvSpPr>
        <p:spPr bwMode="auto">
          <a:xfrm>
            <a:off x="3395663" y="908050"/>
            <a:ext cx="32067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17. Điều gì sai với tên của ký hiệu van điều khiển hướng?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loại hoạt động trực tiếp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hoạt động thủ công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㉢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vị trí ban đầu của van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</a:t>
            </a: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㉣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tín hiệu điện</a:t>
            </a:r>
          </a:p>
        </p:txBody>
      </p:sp>
      <p:grpSp>
        <p:nvGrpSpPr>
          <p:cNvPr id="12293" name="Group 2"/>
          <p:cNvGrpSpPr>
            <a:grpSpLocks/>
          </p:cNvGrpSpPr>
          <p:nvPr/>
        </p:nvGrpSpPr>
        <p:grpSpPr bwMode="auto">
          <a:xfrm>
            <a:off x="304800" y="776288"/>
            <a:ext cx="6248400" cy="8901112"/>
            <a:chOff x="192" y="672"/>
            <a:chExt cx="3936" cy="5424"/>
          </a:xfrm>
        </p:grpSpPr>
        <p:sp>
          <p:nvSpPr>
            <p:cNvPr id="12325" name="Rectangle 3"/>
            <p:cNvSpPr>
              <a:spLocks noChangeArrowheads="1"/>
            </p:cNvSpPr>
            <p:nvPr/>
          </p:nvSpPr>
          <p:spPr bwMode="auto">
            <a:xfrm>
              <a:off x="192" y="672"/>
              <a:ext cx="1968" cy="5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457200" indent="-457200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ko-KR" sz="900">
                <a:solidFill>
                  <a:srgbClr val="FF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2326" name="Rectangle 4"/>
            <p:cNvSpPr>
              <a:spLocks noChangeArrowheads="1"/>
            </p:cNvSpPr>
            <p:nvPr/>
          </p:nvSpPr>
          <p:spPr bwMode="auto">
            <a:xfrm>
              <a:off x="2160" y="672"/>
              <a:ext cx="1968" cy="5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457200" indent="-457200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ko-KR" sz="900">
                <a:solidFill>
                  <a:srgbClr val="FF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2294" name="Rectangle 95"/>
          <p:cNvSpPr>
            <a:spLocks noChangeArrowheads="1"/>
          </p:cNvSpPr>
          <p:nvPr/>
        </p:nvSpPr>
        <p:spPr bwMode="auto">
          <a:xfrm>
            <a:off x="304800" y="5613400"/>
            <a:ext cx="3124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14.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Động cơ khí nén thường được sử dụng để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quay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tốc độ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cao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ít rung, tuổi thọ dài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Động cơ kiểu cánh gạt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Động cơ kiểu piston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Động cơ bánh răng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Động cơ tuabin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295" name="Rectangle 134"/>
          <p:cNvSpPr>
            <a:spLocks noChangeArrowheads="1"/>
          </p:cNvSpPr>
          <p:nvPr/>
        </p:nvSpPr>
        <p:spPr bwMode="auto">
          <a:xfrm>
            <a:off x="3429000" y="2936875"/>
            <a:ext cx="313055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18. Điều gì không phải là đặc điểm của van poppet?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Có thể kiểm soát dòng chảy và phù hợp với đường kính lớn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Lực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hoạt động của van phải được tăng lên tương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ứng với áp suất chất lỏng.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Cấu trúc đơn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giản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dễ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sản xuất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à có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độ chính xác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ao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Khả năng 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iêm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phong tốt, và ngay cả khi lò xo bị hỏng, nó được đóng lại bởi áp suất chất lỏng.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296" name="Rectangle 97"/>
          <p:cNvSpPr>
            <a:spLocks noChangeArrowheads="1"/>
          </p:cNvSpPr>
          <p:nvPr/>
        </p:nvSpPr>
        <p:spPr bwMode="auto">
          <a:xfrm>
            <a:off x="266700" y="6948488"/>
            <a:ext cx="3162300" cy="992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15. Trong số các loại máy nén khí piston, phương pháp làm mát nào được sử dụng cho máy nén khí nhỏ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Làm mát bằng không khí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Làm mát bằng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nước</a:t>
            </a: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Loại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làm mát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  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Loại hấp thụ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297" name="Rectangle 103"/>
          <p:cNvSpPr>
            <a:spLocks noChangeArrowheads="1"/>
          </p:cNvSpPr>
          <p:nvPr/>
        </p:nvSpPr>
        <p:spPr bwMode="auto">
          <a:xfrm>
            <a:off x="279400" y="8193088"/>
            <a:ext cx="31115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16. Phân loại theo phương thức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eturn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van, đâu là phân loại theo phương thức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return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van khí nén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Return bằng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khí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nén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Return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bằng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máy dò tìm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Return bằng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con người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Return bằng Lò xo (Spring)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298" name="Text Box 17"/>
          <p:cNvSpPr txBox="1">
            <a:spLocks noChangeArrowheads="1"/>
          </p:cNvSpPr>
          <p:nvPr/>
        </p:nvSpPr>
        <p:spPr bwMode="auto">
          <a:xfrm>
            <a:off x="3409950" y="4808538"/>
            <a:ext cx="31496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19.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luật nào trong đó áp suất và thể tích tỉ lệ nghịch với nhau trong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nhiệt độ của khí không 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Định luật Charles      ② Định luật Boyle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Định luật Pascal       ④ Định luật Charles-Boyle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299" name="Rectangle 107"/>
          <p:cNvSpPr>
            <a:spLocks noChangeArrowheads="1"/>
          </p:cNvSpPr>
          <p:nvPr/>
        </p:nvSpPr>
        <p:spPr bwMode="auto">
          <a:xfrm>
            <a:off x="3400425" y="6027738"/>
            <a:ext cx="3197225" cy="311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20. Sơ đồ mạch khí nén cho van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off delay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(Van tiết lưu mở 20%)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</a:t>
            </a:r>
          </a:p>
        </p:txBody>
      </p:sp>
      <p:pic>
        <p:nvPicPr>
          <p:cNvPr id="12300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25" y="1420813"/>
            <a:ext cx="127635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1" name="TextBox 24"/>
          <p:cNvSpPr txBox="1">
            <a:spLocks noChangeArrowheads="1"/>
          </p:cNvSpPr>
          <p:nvPr/>
        </p:nvSpPr>
        <p:spPr bwMode="auto">
          <a:xfrm>
            <a:off x="3500438" y="1336675"/>
            <a:ext cx="124264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㉡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Hoạt động thủ công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302" name="직선 화살표 연결선 26"/>
          <p:cNvCxnSpPr>
            <a:cxnSpLocks noChangeShapeType="1"/>
          </p:cNvCxnSpPr>
          <p:nvPr/>
        </p:nvCxnSpPr>
        <p:spPr bwMode="auto">
          <a:xfrm>
            <a:off x="3946525" y="1525588"/>
            <a:ext cx="215900" cy="139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3" name="직선 화살표 연결선 27"/>
          <p:cNvCxnSpPr>
            <a:cxnSpLocks noChangeShapeType="1"/>
          </p:cNvCxnSpPr>
          <p:nvPr/>
        </p:nvCxnSpPr>
        <p:spPr bwMode="auto">
          <a:xfrm flipH="1">
            <a:off x="4946650" y="1525588"/>
            <a:ext cx="352425" cy="1952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4" name="TextBox 28"/>
          <p:cNvSpPr txBox="1">
            <a:spLocks noChangeArrowheads="1"/>
          </p:cNvSpPr>
          <p:nvPr/>
        </p:nvSpPr>
        <p:spPr bwMode="auto">
          <a:xfrm>
            <a:off x="5013325" y="1347788"/>
            <a:ext cx="13516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㉢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Vị trí ban đầu của van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305" name="직선 화살표 연결선 29"/>
          <p:cNvCxnSpPr>
            <a:cxnSpLocks noChangeShapeType="1"/>
          </p:cNvCxnSpPr>
          <p:nvPr/>
        </p:nvCxnSpPr>
        <p:spPr bwMode="auto">
          <a:xfrm flipH="1" flipV="1">
            <a:off x="5029200" y="1811338"/>
            <a:ext cx="195263" cy="1762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6" name="TextBox 30"/>
          <p:cNvSpPr txBox="1">
            <a:spLocks noChangeArrowheads="1"/>
          </p:cNvSpPr>
          <p:nvPr/>
        </p:nvSpPr>
        <p:spPr bwMode="auto">
          <a:xfrm>
            <a:off x="4941888" y="1962150"/>
            <a:ext cx="14574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㉠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Loại hoạt động gián tiếp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307" name="직선 화살표 연결선 31"/>
          <p:cNvCxnSpPr>
            <a:cxnSpLocks noChangeShapeType="1"/>
          </p:cNvCxnSpPr>
          <p:nvPr/>
        </p:nvCxnSpPr>
        <p:spPr bwMode="auto">
          <a:xfrm flipV="1">
            <a:off x="4016375" y="1801813"/>
            <a:ext cx="133350" cy="179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8" name="TextBox 32"/>
          <p:cNvSpPr txBox="1">
            <a:spLocks noChangeArrowheads="1"/>
          </p:cNvSpPr>
          <p:nvPr/>
        </p:nvSpPr>
        <p:spPr bwMode="auto">
          <a:xfrm>
            <a:off x="3584575" y="1985963"/>
            <a:ext cx="94448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㉣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Tín hiệu điện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309" name="직사각형 6"/>
          <p:cNvSpPr>
            <a:spLocks noChangeArrowheads="1"/>
          </p:cNvSpPr>
          <p:nvPr/>
        </p:nvSpPr>
        <p:spPr bwMode="auto">
          <a:xfrm>
            <a:off x="4537075" y="1535113"/>
            <a:ext cx="215900" cy="69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310" name="직사각형 41"/>
          <p:cNvSpPr>
            <a:spLocks noChangeArrowheads="1"/>
          </p:cNvSpPr>
          <p:nvPr/>
        </p:nvSpPr>
        <p:spPr bwMode="auto">
          <a:xfrm>
            <a:off x="4537075" y="1847850"/>
            <a:ext cx="23495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311" name="Rectangle 104"/>
          <p:cNvSpPr>
            <a:spLocks noChangeArrowheads="1"/>
          </p:cNvSpPr>
          <p:nvPr/>
        </p:nvSpPr>
        <p:spPr bwMode="auto">
          <a:xfrm>
            <a:off x="266700" y="4106863"/>
            <a:ext cx="319722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13. Van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nào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có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chức năng cấp khí nén ở một vị trí điều khiển và xả khí nén đã cấp ở một vị trí điều khiển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khác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Van 3 cửa 2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vị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trí        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Van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một chiều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Van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shuttle                  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Van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 cửa 2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vị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trí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312" name="Rectangle 142"/>
          <p:cNvSpPr>
            <a:spLocks noChangeArrowheads="1"/>
          </p:cNvSpPr>
          <p:nvPr/>
        </p:nvSpPr>
        <p:spPr bwMode="auto">
          <a:xfrm>
            <a:off x="260350" y="920750"/>
            <a:ext cx="3197225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11.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Đáp án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sai khi sử dụng bộ giảm thanh khí nén?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900" smtClean="0"/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Tránh những nơi có cấu trúc hoặc vật cản gần cửa xả.</a:t>
            </a: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Chọn một loại có hiệu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suất chống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tiếng ồn tốt bất kể tốc độ và kích thước luồng không khí</a:t>
            </a: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Khi bị tắc, rửa sạch và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sử dụng lại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Hướng xả của bộ giảm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thanh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cần chú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ý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vào vị trí lắp đặt.</a:t>
            </a:r>
          </a:p>
        </p:txBody>
      </p:sp>
      <p:sp>
        <p:nvSpPr>
          <p:cNvPr id="12313" name="Rectangle 36"/>
          <p:cNvSpPr>
            <a:spLocks noChangeArrowheads="1"/>
          </p:cNvSpPr>
          <p:nvPr/>
        </p:nvSpPr>
        <p:spPr bwMode="auto">
          <a:xfrm>
            <a:off x="269875" y="2878138"/>
            <a:ext cx="31591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Không phải là điều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kiện lựa chọn bộ lọc khí nén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Màng lọc phải lọc dễ dàng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Kích thước bộ lọc nhỏ gọn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Ít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tổn thất áp suất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Có tuổi thọ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lâu dài</a:t>
            </a:r>
            <a:endParaRPr lang="ko-KR" altLang="en-US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314" name="Picture 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138" y="6513513"/>
            <a:ext cx="1570037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15" name="자유형 4"/>
          <p:cNvSpPr>
            <a:spLocks/>
          </p:cNvSpPr>
          <p:nvPr/>
        </p:nvSpPr>
        <p:spPr bwMode="auto">
          <a:xfrm>
            <a:off x="4314825" y="6850063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316" name="Picture 4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7129463"/>
            <a:ext cx="2366963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17" name="자유형 48"/>
          <p:cNvSpPr>
            <a:spLocks/>
          </p:cNvSpPr>
          <p:nvPr/>
        </p:nvSpPr>
        <p:spPr bwMode="auto">
          <a:xfrm>
            <a:off x="4144963" y="7608888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18" name="자유형 51"/>
          <p:cNvSpPr>
            <a:spLocks/>
          </p:cNvSpPr>
          <p:nvPr/>
        </p:nvSpPr>
        <p:spPr bwMode="auto">
          <a:xfrm rot="10800000">
            <a:off x="4676775" y="7373938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319" name="Picture 4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3" y="7824788"/>
            <a:ext cx="7048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20" name="Picture 4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150" y="8626475"/>
            <a:ext cx="1738313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321" name="직선 연결선 8"/>
          <p:cNvCxnSpPr>
            <a:cxnSpLocks noChangeShapeType="1"/>
          </p:cNvCxnSpPr>
          <p:nvPr/>
        </p:nvCxnSpPr>
        <p:spPr bwMode="auto">
          <a:xfrm>
            <a:off x="5159375" y="7824788"/>
            <a:ext cx="0" cy="1190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2" name="직선 연결선 58"/>
          <p:cNvCxnSpPr>
            <a:cxnSpLocks noChangeShapeType="1"/>
          </p:cNvCxnSpPr>
          <p:nvPr/>
        </p:nvCxnSpPr>
        <p:spPr bwMode="auto">
          <a:xfrm>
            <a:off x="5159375" y="8318500"/>
            <a:ext cx="0" cy="857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323" name="Picture 4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475" y="7934325"/>
            <a:ext cx="8953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24" name="자유형 64"/>
          <p:cNvSpPr>
            <a:spLocks/>
          </p:cNvSpPr>
          <p:nvPr/>
        </p:nvSpPr>
        <p:spPr bwMode="auto">
          <a:xfrm rot="10800000">
            <a:off x="4141788" y="8855075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88678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Khí nén</a:t>
            </a:r>
            <a:endParaRPr lang="ko-KR" alt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37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64472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PLC 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defRPr/>
            </a:pP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* PLC : </a:t>
            </a:r>
            <a:r>
              <a:rPr lang="en-US" altLang="ko-KR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Câu1</a:t>
            </a:r>
            <a:r>
              <a:rPr lang="ko-KR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altLang="ko-KR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ko-KR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1. Kí hiệu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điểm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dưới đây thuộc loại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điểm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nào?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điểm A       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điểm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điểm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          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Tiếp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2. Đây là mô tả về đèn LED của CPU PLC. Chuyện gì vậy?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① RUN LED: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Nhấp nháy khi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hoặc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được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LED: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Khi màu xanh lá cây bật,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là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BAT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LED: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Sáng lên khi xảy ra lỗi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điện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áp pin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</a:p>
          <a:p>
            <a:pPr>
              <a:defRPr/>
            </a:pP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LED: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ật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M được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kích hoạt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hông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thể lưu trong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“0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”?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register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Paramter         ④ Device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4. Trong cấu hình PLC sau đây, địa chỉ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trống là gì?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① 0AF      ② 10F      ③ 09F      ④ 0BF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5. 00FF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thập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lục phân được chuyển đổi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hệ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BCD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bao nhiêu?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① 0000 0000 0101 0100    ② 0000 0010 0101 0100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0000 0000 1111 1111    ④ 0000 0010 0101 0101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 vào Digital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QX40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cắm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vào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PLC. "0" có nghĩa là gì trong QX40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① Điểm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Occupation</a:t>
            </a:r>
            <a:r>
              <a:rPr lang="vi-VN" altLang="ko-KR" baseline="30000"/>
              <a:t> </a:t>
            </a:r>
            <a:r>
              <a:rPr lang="en-US" altLang="ko-KR" baseline="30000" smtClean="0"/>
              <a:t>    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Điện áp đầu vào</a:t>
            </a: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③ Mô-đun đầu vào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Đáp án nào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sau đây là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elay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bên trong cho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không thể xuất ra bên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① W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②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③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④ Y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8. Giải thích nào sau đây về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là đúng?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①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Có 3 loại “T”, chẳng hạn như 100ms, 10ms, và bộ đếm thời gian tích lũy, và chỉ có thể sử dụng On Delay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altLang="ko-KR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② “Y” có thể được thay thế cho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M. Nếu thay nó bằng M thì có thể duy trì trạng thái mất điện.</a:t>
            </a:r>
          </a:p>
          <a:p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③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“M” không thể duy trì sự cố mất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④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X, Y, M đều có thể được sử dụng làm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điểm </a:t>
            </a:r>
            <a:r>
              <a:rPr lang="vi-VN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 ra.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9.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hi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muốn kiểm tra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sự hoạt động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các Card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PLC đang sử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dụng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có bình thường hay không?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PLC diagnosis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PLC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Error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help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)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System monitor     ④ Debug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10. Cách nào sau đây không phải là cách để nhập bình luận?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Nhấp vào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Device Comment menu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trong menu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Project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Edit comment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trong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cửa sổ đang hoạt động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Nhấp vào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Edit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Documentation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Comment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 nhập bình luận trực tiếp vào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Device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Tools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Options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→ Nhấp vào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Comment input menu để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chỉnh sửa thiết bị và chỉnh sửa nhận xét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Parameter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Device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→ Nhấp vào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Comment Menu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và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nhập nhận xét vào thiết bị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11. Giá trị cài đặt của bộ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đếm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C0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giá trị nào sau đây?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K0,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②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K4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             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K5,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  ④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12. Điều gì sai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khi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mô tả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về Analog I/O Unit?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D/A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được sử dụng như một biến tần để điều khiển tốc độ của động cơ cảm ứng.</a:t>
            </a: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A/D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được sử dụng để điều khiển nhiệt độ, áp suất, tốc độ dòng chảy, v.v. với PLC.</a:t>
            </a: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Giá trị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Analog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thay đổi liên tục theo thời gian</a:t>
            </a:r>
          </a:p>
          <a:p>
            <a:pPr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④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/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A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được sử dụng để điều khiển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vị trí,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độ chính xác cao của động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cơ.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13. Sử dụng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để vận hành mạch sau 0,5 giây.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Chọn đáp án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thích hợp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cho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chỗ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trống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dưới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đây?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① </a:t>
            </a:r>
            <a:r>
              <a:rPr lang="de-DE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 T0 </a:t>
            </a:r>
            <a:r>
              <a:rPr lang="de-DE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K500         </a:t>
            </a:r>
            <a:r>
              <a:rPr lang="de-DE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H T0 K50 </a:t>
            </a:r>
            <a:r>
              <a:rPr lang="de-DE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③ </a:t>
            </a:r>
            <a:r>
              <a:rPr lang="de-DE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T0 </a:t>
            </a:r>
            <a:r>
              <a:rPr lang="de-DE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K50               ④ </a:t>
            </a:r>
            <a:r>
              <a:rPr lang="de-DE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 T0 K5</a:t>
            </a:r>
          </a:p>
        </p:txBody>
      </p:sp>
      <p:grpSp>
        <p:nvGrpSpPr>
          <p:cNvPr id="14342" name="Group 110"/>
          <p:cNvGrpSpPr>
            <a:grpSpLocks/>
          </p:cNvGrpSpPr>
          <p:nvPr/>
        </p:nvGrpSpPr>
        <p:grpSpPr bwMode="auto">
          <a:xfrm>
            <a:off x="549275" y="1352550"/>
            <a:ext cx="2143125" cy="623888"/>
            <a:chOff x="0" y="0"/>
            <a:chExt cx="1251" cy="789"/>
          </a:xfrm>
        </p:grpSpPr>
        <p:sp>
          <p:nvSpPr>
            <p:cNvPr id="14420" name="Oval 8"/>
            <p:cNvSpPr>
              <a:spLocks noChangeArrowheads="1"/>
            </p:cNvSpPr>
            <p:nvPr/>
          </p:nvSpPr>
          <p:spPr bwMode="auto">
            <a:xfrm>
              <a:off x="417" y="499"/>
              <a:ext cx="369" cy="2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 smtClean="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Coil</a:t>
              </a: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21" name="Line 9"/>
            <p:cNvSpPr>
              <a:spLocks noChangeShapeType="1"/>
            </p:cNvSpPr>
            <p:nvPr/>
          </p:nvSpPr>
          <p:spPr bwMode="auto">
            <a:xfrm>
              <a:off x="0" y="645"/>
              <a:ext cx="4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22" name="Line 10"/>
            <p:cNvSpPr>
              <a:spLocks noChangeShapeType="1"/>
            </p:cNvSpPr>
            <p:nvPr/>
          </p:nvSpPr>
          <p:spPr bwMode="auto">
            <a:xfrm>
              <a:off x="783" y="654"/>
              <a:ext cx="4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23" name="Line 11"/>
            <p:cNvSpPr>
              <a:spLocks noChangeShapeType="1"/>
            </p:cNvSpPr>
            <p:nvPr/>
          </p:nvSpPr>
          <p:spPr bwMode="auto">
            <a:xfrm>
              <a:off x="635" y="261"/>
              <a:ext cx="5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24" name="Line 12"/>
            <p:cNvSpPr>
              <a:spLocks noChangeShapeType="1"/>
            </p:cNvSpPr>
            <p:nvPr/>
          </p:nvSpPr>
          <p:spPr bwMode="auto">
            <a:xfrm>
              <a:off x="651" y="20"/>
              <a:ext cx="5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25" name="Line 13"/>
            <p:cNvSpPr>
              <a:spLocks noChangeShapeType="1"/>
            </p:cNvSpPr>
            <p:nvPr/>
          </p:nvSpPr>
          <p:spPr bwMode="auto">
            <a:xfrm>
              <a:off x="0" y="169"/>
              <a:ext cx="4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26" name="Line 14"/>
            <p:cNvSpPr>
              <a:spLocks noChangeShapeType="1"/>
            </p:cNvSpPr>
            <p:nvPr/>
          </p:nvSpPr>
          <p:spPr bwMode="auto">
            <a:xfrm flipV="1">
              <a:off x="468" y="25"/>
              <a:ext cx="208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27" name="Oval 15"/>
            <p:cNvSpPr>
              <a:spLocks noChangeArrowheads="1"/>
            </p:cNvSpPr>
            <p:nvPr/>
          </p:nvSpPr>
          <p:spPr bwMode="auto">
            <a:xfrm>
              <a:off x="422" y="150"/>
              <a:ext cx="50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lnSpc>
                  <a:spcPts val="1100"/>
                </a:lnSpc>
                <a:spcBef>
                  <a:spcPct val="0"/>
                </a:spcBef>
                <a:buFontTx/>
                <a:buNone/>
              </a:pP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100"/>
                </a:lnSpc>
                <a:spcBef>
                  <a:spcPct val="0"/>
                </a:spcBef>
                <a:buFontTx/>
                <a:buNone/>
              </a:pP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28" name="Oval 16"/>
            <p:cNvSpPr>
              <a:spLocks noChangeArrowheads="1"/>
            </p:cNvSpPr>
            <p:nvPr/>
          </p:nvSpPr>
          <p:spPr bwMode="auto">
            <a:xfrm>
              <a:off x="617" y="240"/>
              <a:ext cx="56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lnSpc>
                  <a:spcPts val="1100"/>
                </a:lnSpc>
                <a:spcBef>
                  <a:spcPct val="0"/>
                </a:spcBef>
                <a:buFontTx/>
                <a:buNone/>
              </a:pP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100"/>
                </a:lnSpc>
                <a:spcBef>
                  <a:spcPct val="0"/>
                </a:spcBef>
                <a:buFontTx/>
                <a:buNone/>
              </a:pP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29" name="Oval 17"/>
            <p:cNvSpPr>
              <a:spLocks noChangeArrowheads="1"/>
            </p:cNvSpPr>
            <p:nvPr/>
          </p:nvSpPr>
          <p:spPr bwMode="auto">
            <a:xfrm>
              <a:off x="617" y="0"/>
              <a:ext cx="56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lnSpc>
                  <a:spcPts val="1100"/>
                </a:lnSpc>
                <a:spcBef>
                  <a:spcPct val="0"/>
                </a:spcBef>
                <a:buFontTx/>
                <a:buNone/>
              </a:pP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100"/>
                </a:lnSpc>
                <a:spcBef>
                  <a:spcPct val="0"/>
                </a:spcBef>
                <a:buFontTx/>
                <a:buNone/>
              </a:pPr>
              <a:endPara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30" name="Line 18"/>
            <p:cNvSpPr>
              <a:spLocks noChangeShapeType="1"/>
            </p:cNvSpPr>
            <p:nvPr/>
          </p:nvSpPr>
          <p:spPr bwMode="auto">
            <a:xfrm>
              <a:off x="561" y="111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43" name="그룹 69"/>
          <p:cNvGrpSpPr>
            <a:grpSpLocks/>
          </p:cNvGrpSpPr>
          <p:nvPr/>
        </p:nvGrpSpPr>
        <p:grpSpPr bwMode="auto">
          <a:xfrm>
            <a:off x="298450" y="4424486"/>
            <a:ext cx="3128963" cy="744538"/>
            <a:chOff x="-18920" y="0"/>
            <a:chExt cx="3108171" cy="810974"/>
          </a:xfrm>
        </p:grpSpPr>
        <p:sp>
          <p:nvSpPr>
            <p:cNvPr id="14401" name="Rectangle 9"/>
            <p:cNvSpPr>
              <a:spLocks noChangeArrowheads="1"/>
            </p:cNvSpPr>
            <p:nvPr/>
          </p:nvSpPr>
          <p:spPr bwMode="auto">
            <a:xfrm>
              <a:off x="30733" y="0"/>
              <a:ext cx="2988792" cy="81097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02" name="Line 10"/>
            <p:cNvSpPr>
              <a:spLocks noChangeShapeType="1"/>
            </p:cNvSpPr>
            <p:nvPr/>
          </p:nvSpPr>
          <p:spPr bwMode="auto">
            <a:xfrm>
              <a:off x="318929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03" name="Line 11"/>
            <p:cNvSpPr>
              <a:spLocks noChangeShapeType="1"/>
            </p:cNvSpPr>
            <p:nvPr/>
          </p:nvSpPr>
          <p:spPr bwMode="auto">
            <a:xfrm>
              <a:off x="595468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04" name="Line 12"/>
            <p:cNvSpPr>
              <a:spLocks noChangeShapeType="1"/>
            </p:cNvSpPr>
            <p:nvPr/>
          </p:nvSpPr>
          <p:spPr bwMode="auto">
            <a:xfrm>
              <a:off x="942431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05" name="Line 13"/>
            <p:cNvSpPr>
              <a:spLocks noChangeShapeType="1"/>
            </p:cNvSpPr>
            <p:nvPr/>
          </p:nvSpPr>
          <p:spPr bwMode="auto">
            <a:xfrm>
              <a:off x="1291112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06" name="Line 14"/>
            <p:cNvSpPr>
              <a:spLocks noChangeShapeType="1"/>
            </p:cNvSpPr>
            <p:nvPr/>
          </p:nvSpPr>
          <p:spPr bwMode="auto">
            <a:xfrm>
              <a:off x="1638073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07" name="Text Box 15"/>
            <p:cNvSpPr txBox="1">
              <a:spLocks noChangeArrowheads="1"/>
            </p:cNvSpPr>
            <p:nvPr/>
          </p:nvSpPr>
          <p:spPr bwMode="auto">
            <a:xfrm>
              <a:off x="-18920" y="152654"/>
              <a:ext cx="445630" cy="49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ko-KR" altLang="en-US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전원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UNIT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08" name="Text Box 16"/>
            <p:cNvSpPr txBox="1">
              <a:spLocks noChangeArrowheads="1"/>
            </p:cNvSpPr>
            <p:nvPr/>
          </p:nvSpPr>
          <p:spPr bwMode="auto">
            <a:xfrm>
              <a:off x="267989" y="131770"/>
              <a:ext cx="422580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CPU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09" name="Text Box 17"/>
            <p:cNvSpPr txBox="1">
              <a:spLocks noChangeArrowheads="1"/>
            </p:cNvSpPr>
            <p:nvPr/>
          </p:nvSpPr>
          <p:spPr bwMode="auto">
            <a:xfrm>
              <a:off x="553591" y="133572"/>
              <a:ext cx="476363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QX41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0" name="Text Box 18"/>
            <p:cNvSpPr txBox="1">
              <a:spLocks noChangeArrowheads="1"/>
            </p:cNvSpPr>
            <p:nvPr/>
          </p:nvSpPr>
          <p:spPr bwMode="auto">
            <a:xfrm>
              <a:off x="1245266" y="133572"/>
              <a:ext cx="468679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QX41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1" name="Text Box 19"/>
            <p:cNvSpPr txBox="1">
              <a:spLocks noChangeArrowheads="1"/>
            </p:cNvSpPr>
            <p:nvPr/>
          </p:nvSpPr>
          <p:spPr bwMode="auto">
            <a:xfrm>
              <a:off x="891837" y="133572"/>
              <a:ext cx="468679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QY42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2" name="Text Box 20"/>
            <p:cNvSpPr txBox="1">
              <a:spLocks noChangeArrowheads="1"/>
            </p:cNvSpPr>
            <p:nvPr/>
          </p:nvSpPr>
          <p:spPr bwMode="auto">
            <a:xfrm>
              <a:off x="1567963" y="133572"/>
              <a:ext cx="468679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QY40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3" name="Line 21"/>
            <p:cNvSpPr>
              <a:spLocks noChangeShapeType="1"/>
            </p:cNvSpPr>
            <p:nvPr/>
          </p:nvSpPr>
          <p:spPr bwMode="auto">
            <a:xfrm>
              <a:off x="1986753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14" name="Text Box 22"/>
            <p:cNvSpPr txBox="1">
              <a:spLocks noChangeArrowheads="1"/>
            </p:cNvSpPr>
            <p:nvPr/>
          </p:nvSpPr>
          <p:spPr bwMode="auto">
            <a:xfrm>
              <a:off x="2252005" y="127583"/>
              <a:ext cx="499413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 smtClean="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Slot trống</a:t>
              </a: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5" name="Line 23"/>
            <p:cNvSpPr>
              <a:spLocks noChangeShapeType="1"/>
            </p:cNvSpPr>
            <p:nvPr/>
          </p:nvSpPr>
          <p:spPr bwMode="auto">
            <a:xfrm>
              <a:off x="2333716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16" name="Text Box 24"/>
            <p:cNvSpPr txBox="1">
              <a:spLocks noChangeArrowheads="1"/>
            </p:cNvSpPr>
            <p:nvPr/>
          </p:nvSpPr>
          <p:spPr bwMode="auto">
            <a:xfrm>
              <a:off x="1949779" y="133572"/>
              <a:ext cx="499413" cy="46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Q64</a:t>
              </a:r>
            </a:p>
            <a:p>
              <a:pPr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 AD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7" name="Text Box 25"/>
            <p:cNvSpPr txBox="1">
              <a:spLocks noChangeArrowheads="1"/>
            </p:cNvSpPr>
            <p:nvPr/>
          </p:nvSpPr>
          <p:spPr bwMode="auto">
            <a:xfrm>
              <a:off x="2620572" y="133572"/>
              <a:ext cx="468679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QX42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418" name="Line 26"/>
            <p:cNvSpPr>
              <a:spLocks noChangeShapeType="1"/>
            </p:cNvSpPr>
            <p:nvPr/>
          </p:nvSpPr>
          <p:spPr bwMode="auto">
            <a:xfrm>
              <a:off x="2682397" y="0"/>
              <a:ext cx="0" cy="8109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19" name="Rectangle 38"/>
            <p:cNvSpPr>
              <a:spLocks noChangeArrowheads="1"/>
            </p:cNvSpPr>
            <p:nvPr/>
          </p:nvSpPr>
          <p:spPr bwMode="auto">
            <a:xfrm>
              <a:off x="2335829" y="450824"/>
              <a:ext cx="414897" cy="22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( ? 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44" name="Group 127"/>
          <p:cNvGrpSpPr>
            <a:grpSpLocks/>
          </p:cNvGrpSpPr>
          <p:nvPr/>
        </p:nvGrpSpPr>
        <p:grpSpPr bwMode="auto">
          <a:xfrm>
            <a:off x="3551238" y="6847681"/>
            <a:ext cx="2882900" cy="409575"/>
            <a:chOff x="2281" y="3029"/>
            <a:chExt cx="1816" cy="258"/>
          </a:xfrm>
        </p:grpSpPr>
        <p:sp>
          <p:nvSpPr>
            <p:cNvPr id="14392" name="Line 1073"/>
            <p:cNvSpPr>
              <a:spLocks noChangeShapeType="1"/>
            </p:cNvSpPr>
            <p:nvPr/>
          </p:nvSpPr>
          <p:spPr bwMode="auto">
            <a:xfrm>
              <a:off x="2510" y="3158"/>
              <a:ext cx="0" cy="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93" name="Line 1074"/>
            <p:cNvSpPr>
              <a:spLocks noChangeShapeType="1"/>
            </p:cNvSpPr>
            <p:nvPr/>
          </p:nvSpPr>
          <p:spPr bwMode="auto">
            <a:xfrm>
              <a:off x="2567" y="3158"/>
              <a:ext cx="0" cy="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94" name="Line 1075"/>
            <p:cNvSpPr>
              <a:spLocks noChangeShapeType="1"/>
            </p:cNvSpPr>
            <p:nvPr/>
          </p:nvSpPr>
          <p:spPr bwMode="auto">
            <a:xfrm flipH="1">
              <a:off x="2281" y="3195"/>
              <a:ext cx="2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95" name="Text Box 1076"/>
            <p:cNvSpPr txBox="1">
              <a:spLocks noChangeArrowheads="1"/>
            </p:cNvSpPr>
            <p:nvPr/>
          </p:nvSpPr>
          <p:spPr bwMode="auto">
            <a:xfrm>
              <a:off x="3438" y="3030"/>
              <a:ext cx="659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(      </a:t>
              </a:r>
              <a:r>
                <a:rPr lang="en-US" altLang="ko-KR" sz="900" smtClean="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?       </a:t>
              </a:r>
              <a:r>
                <a:rPr lang="en-US" altLang="ko-KR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4396" name="Text Box 1077"/>
            <p:cNvSpPr txBox="1">
              <a:spLocks noChangeArrowheads="1"/>
            </p:cNvSpPr>
            <p:nvPr/>
          </p:nvSpPr>
          <p:spPr bwMode="auto">
            <a:xfrm>
              <a:off x="2426" y="3029"/>
              <a:ext cx="2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14397" name="Line 1078"/>
            <p:cNvSpPr>
              <a:spLocks noChangeShapeType="1"/>
            </p:cNvSpPr>
            <p:nvPr/>
          </p:nvSpPr>
          <p:spPr bwMode="auto">
            <a:xfrm>
              <a:off x="2281" y="3062"/>
              <a:ext cx="0" cy="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98" name="Line 1079"/>
            <p:cNvSpPr>
              <a:spLocks noChangeShapeType="1"/>
            </p:cNvSpPr>
            <p:nvPr/>
          </p:nvSpPr>
          <p:spPr bwMode="auto">
            <a:xfrm>
              <a:off x="2567" y="3195"/>
              <a:ext cx="9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99" name="Line 1080"/>
            <p:cNvSpPr>
              <a:spLocks noChangeShapeType="1"/>
            </p:cNvSpPr>
            <p:nvPr/>
          </p:nvSpPr>
          <p:spPr bwMode="auto">
            <a:xfrm>
              <a:off x="3846" y="3195"/>
              <a:ext cx="2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00" name="Line 1081"/>
            <p:cNvSpPr>
              <a:spLocks noChangeShapeType="1"/>
            </p:cNvSpPr>
            <p:nvPr/>
          </p:nvSpPr>
          <p:spPr bwMode="auto">
            <a:xfrm>
              <a:off x="4061" y="3062"/>
              <a:ext cx="0" cy="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45" name="Group 94"/>
          <p:cNvGrpSpPr>
            <a:grpSpLocks/>
          </p:cNvGrpSpPr>
          <p:nvPr/>
        </p:nvGrpSpPr>
        <p:grpSpPr bwMode="auto">
          <a:xfrm>
            <a:off x="3575050" y="3512840"/>
            <a:ext cx="2808288" cy="976313"/>
            <a:chOff x="3575050" y="5024438"/>
            <a:chExt cx="2971800" cy="1276350"/>
          </a:xfrm>
        </p:grpSpPr>
        <p:grpSp>
          <p:nvGrpSpPr>
            <p:cNvPr id="14346" name="Group 117"/>
            <p:cNvGrpSpPr>
              <a:grpSpLocks/>
            </p:cNvGrpSpPr>
            <p:nvPr/>
          </p:nvGrpSpPr>
          <p:grpSpPr bwMode="auto">
            <a:xfrm>
              <a:off x="3575050" y="5024438"/>
              <a:ext cx="2971800" cy="1276350"/>
              <a:chOff x="243" y="3982"/>
              <a:chExt cx="1872" cy="804"/>
            </a:xfrm>
          </p:grpSpPr>
          <p:sp>
            <p:nvSpPr>
              <p:cNvPr id="14349" name="Line 1218"/>
              <p:cNvSpPr>
                <a:spLocks noChangeShapeType="1"/>
              </p:cNvSpPr>
              <p:nvPr/>
            </p:nvSpPr>
            <p:spPr bwMode="auto">
              <a:xfrm>
                <a:off x="1261" y="4223"/>
                <a:ext cx="8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0" name="Line 1219"/>
              <p:cNvSpPr>
                <a:spLocks noChangeShapeType="1"/>
              </p:cNvSpPr>
              <p:nvPr/>
            </p:nvSpPr>
            <p:spPr bwMode="auto">
              <a:xfrm>
                <a:off x="1261" y="4649"/>
                <a:ext cx="8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1" name="Rectangle 1220"/>
              <p:cNvSpPr>
                <a:spLocks noChangeArrowheads="1"/>
              </p:cNvSpPr>
              <p:nvPr/>
            </p:nvSpPr>
            <p:spPr bwMode="auto">
              <a:xfrm>
                <a:off x="1389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2" name="Text Box 1221"/>
              <p:cNvSpPr txBox="1">
                <a:spLocks noChangeArrowheads="1"/>
              </p:cNvSpPr>
              <p:nvPr/>
            </p:nvSpPr>
            <p:spPr bwMode="auto">
              <a:xfrm>
                <a:off x="1095" y="4127"/>
                <a:ext cx="249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X0</a:t>
                </a:r>
              </a:p>
            </p:txBody>
          </p:sp>
          <p:sp>
            <p:nvSpPr>
              <p:cNvPr id="14353" name="Text Box 1222"/>
              <p:cNvSpPr txBox="1">
                <a:spLocks noChangeArrowheads="1"/>
              </p:cNvSpPr>
              <p:nvPr/>
            </p:nvSpPr>
            <p:spPr bwMode="auto">
              <a:xfrm>
                <a:off x="1075" y="4569"/>
                <a:ext cx="269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Y40</a:t>
                </a:r>
              </a:p>
            </p:txBody>
          </p:sp>
          <p:sp>
            <p:nvSpPr>
              <p:cNvPr id="14354" name="Rectangle 1223"/>
              <p:cNvSpPr>
                <a:spLocks noChangeArrowheads="1"/>
              </p:cNvSpPr>
              <p:nvPr/>
            </p:nvSpPr>
            <p:spPr bwMode="auto">
              <a:xfrm>
                <a:off x="1484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5" name="Rectangle 1224"/>
              <p:cNvSpPr>
                <a:spLocks noChangeArrowheads="1"/>
              </p:cNvSpPr>
              <p:nvPr/>
            </p:nvSpPr>
            <p:spPr bwMode="auto">
              <a:xfrm>
                <a:off x="1581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6" name="Rectangle 1225"/>
              <p:cNvSpPr>
                <a:spLocks noChangeArrowheads="1"/>
              </p:cNvSpPr>
              <p:nvPr/>
            </p:nvSpPr>
            <p:spPr bwMode="auto">
              <a:xfrm>
                <a:off x="1676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7" name="Rectangle 1226"/>
              <p:cNvSpPr>
                <a:spLocks noChangeArrowheads="1"/>
              </p:cNvSpPr>
              <p:nvPr/>
            </p:nvSpPr>
            <p:spPr bwMode="auto">
              <a:xfrm>
                <a:off x="1768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8" name="Rectangle 1227"/>
              <p:cNvSpPr>
                <a:spLocks noChangeArrowheads="1"/>
              </p:cNvSpPr>
              <p:nvPr/>
            </p:nvSpPr>
            <p:spPr bwMode="auto">
              <a:xfrm>
                <a:off x="1880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9" name="Line 1228"/>
              <p:cNvSpPr>
                <a:spLocks noChangeShapeType="1"/>
              </p:cNvSpPr>
              <p:nvPr/>
            </p:nvSpPr>
            <p:spPr bwMode="auto">
              <a:xfrm>
                <a:off x="243" y="4078"/>
                <a:ext cx="0" cy="7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0" name="Line 1229"/>
              <p:cNvSpPr>
                <a:spLocks noChangeShapeType="1"/>
              </p:cNvSpPr>
              <p:nvPr/>
            </p:nvSpPr>
            <p:spPr bwMode="auto">
              <a:xfrm>
                <a:off x="339" y="4127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1" name="Line 1230"/>
              <p:cNvSpPr>
                <a:spLocks noChangeShapeType="1"/>
              </p:cNvSpPr>
              <p:nvPr/>
            </p:nvSpPr>
            <p:spPr bwMode="auto">
              <a:xfrm>
                <a:off x="387" y="4127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2" name="Line 1231"/>
              <p:cNvSpPr>
                <a:spLocks noChangeShapeType="1"/>
              </p:cNvSpPr>
              <p:nvPr/>
            </p:nvSpPr>
            <p:spPr bwMode="auto">
              <a:xfrm flipH="1">
                <a:off x="243" y="4175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3" name="Line 1232"/>
              <p:cNvSpPr>
                <a:spLocks noChangeShapeType="1"/>
              </p:cNvSpPr>
              <p:nvPr/>
            </p:nvSpPr>
            <p:spPr bwMode="auto">
              <a:xfrm>
                <a:off x="339" y="43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4" name="Line 1233"/>
              <p:cNvSpPr>
                <a:spLocks noChangeShapeType="1"/>
              </p:cNvSpPr>
              <p:nvPr/>
            </p:nvSpPr>
            <p:spPr bwMode="auto">
              <a:xfrm>
                <a:off x="387" y="43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5" name="Line 1234"/>
              <p:cNvSpPr>
                <a:spLocks noChangeShapeType="1"/>
              </p:cNvSpPr>
              <p:nvPr/>
            </p:nvSpPr>
            <p:spPr bwMode="auto">
              <a:xfrm flipH="1">
                <a:off x="243" y="441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6" name="Line 1235"/>
              <p:cNvSpPr>
                <a:spLocks noChangeShapeType="1"/>
              </p:cNvSpPr>
              <p:nvPr/>
            </p:nvSpPr>
            <p:spPr bwMode="auto">
              <a:xfrm>
                <a:off x="387" y="4416"/>
                <a:ext cx="46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7" name="Line 1236"/>
              <p:cNvSpPr>
                <a:spLocks noChangeShapeType="1"/>
              </p:cNvSpPr>
              <p:nvPr/>
            </p:nvSpPr>
            <p:spPr bwMode="auto">
              <a:xfrm>
                <a:off x="387" y="4175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8" name="Line 1237"/>
              <p:cNvSpPr>
                <a:spLocks noChangeShapeType="1"/>
              </p:cNvSpPr>
              <p:nvPr/>
            </p:nvSpPr>
            <p:spPr bwMode="auto">
              <a:xfrm>
                <a:off x="1107" y="4078"/>
                <a:ext cx="0" cy="6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9" name="Oval 1238"/>
              <p:cNvSpPr>
                <a:spLocks noChangeArrowheads="1"/>
              </p:cNvSpPr>
              <p:nvPr/>
            </p:nvSpPr>
            <p:spPr bwMode="auto">
              <a:xfrm>
                <a:off x="781" y="4078"/>
                <a:ext cx="278" cy="19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0" name="Text Box 1239"/>
              <p:cNvSpPr txBox="1">
                <a:spLocks noChangeArrowheads="1"/>
              </p:cNvSpPr>
              <p:nvPr/>
            </p:nvSpPr>
            <p:spPr bwMode="auto">
              <a:xfrm>
                <a:off x="265" y="4241"/>
                <a:ext cx="26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C0</a:t>
                </a:r>
              </a:p>
            </p:txBody>
          </p:sp>
          <p:sp>
            <p:nvSpPr>
              <p:cNvPr id="14371" name="Text Box 1240"/>
              <p:cNvSpPr txBox="1">
                <a:spLocks noChangeArrowheads="1"/>
              </p:cNvSpPr>
              <p:nvPr/>
            </p:nvSpPr>
            <p:spPr bwMode="auto">
              <a:xfrm>
                <a:off x="275" y="3982"/>
                <a:ext cx="252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X0</a:t>
                </a:r>
              </a:p>
            </p:txBody>
          </p:sp>
          <p:sp>
            <p:nvSpPr>
              <p:cNvPr id="14372" name="Rectangle 1241"/>
              <p:cNvSpPr>
                <a:spLocks noChangeArrowheads="1"/>
              </p:cNvSpPr>
              <p:nvPr/>
            </p:nvSpPr>
            <p:spPr bwMode="auto">
              <a:xfrm>
                <a:off x="1982" y="4127"/>
                <a:ext cx="47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3" name="Rectangle 1242"/>
              <p:cNvSpPr>
                <a:spLocks noChangeArrowheads="1"/>
              </p:cNvSpPr>
              <p:nvPr/>
            </p:nvSpPr>
            <p:spPr bwMode="auto">
              <a:xfrm>
                <a:off x="1767" y="4559"/>
                <a:ext cx="215" cy="9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4" name="Rectangle 1243"/>
              <p:cNvSpPr>
                <a:spLocks noChangeArrowheads="1"/>
              </p:cNvSpPr>
              <p:nvPr/>
            </p:nvSpPr>
            <p:spPr bwMode="auto">
              <a:xfrm>
                <a:off x="675" y="4599"/>
                <a:ext cx="192" cy="9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5" name="Rectangle 1244"/>
              <p:cNvSpPr>
                <a:spLocks noChangeArrowheads="1"/>
              </p:cNvSpPr>
              <p:nvPr/>
            </p:nvSpPr>
            <p:spPr bwMode="auto">
              <a:xfrm>
                <a:off x="867" y="4599"/>
                <a:ext cx="192" cy="9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8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6" name="Line 1245"/>
              <p:cNvSpPr>
                <a:spLocks noChangeShapeType="1"/>
              </p:cNvSpPr>
              <p:nvPr/>
            </p:nvSpPr>
            <p:spPr bwMode="auto">
              <a:xfrm>
                <a:off x="1059" y="4416"/>
                <a:ext cx="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7" name="Text Box 1246"/>
              <p:cNvSpPr txBox="1">
                <a:spLocks noChangeArrowheads="1"/>
              </p:cNvSpPr>
              <p:nvPr/>
            </p:nvSpPr>
            <p:spPr bwMode="auto">
              <a:xfrm>
                <a:off x="781" y="4302"/>
                <a:ext cx="345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( Y40 )</a:t>
                </a:r>
              </a:p>
            </p:txBody>
          </p:sp>
          <p:sp>
            <p:nvSpPr>
              <p:cNvPr id="14378" name="Line 1247"/>
              <p:cNvSpPr>
                <a:spLocks noChangeShapeType="1"/>
              </p:cNvSpPr>
              <p:nvPr/>
            </p:nvSpPr>
            <p:spPr bwMode="auto">
              <a:xfrm>
                <a:off x="1059" y="4649"/>
                <a:ext cx="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9" name="Line 1248"/>
              <p:cNvSpPr>
                <a:spLocks noChangeShapeType="1"/>
              </p:cNvSpPr>
              <p:nvPr/>
            </p:nvSpPr>
            <p:spPr bwMode="auto">
              <a:xfrm>
                <a:off x="339" y="4604"/>
                <a:ext cx="0" cy="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0" name="Line 1249"/>
              <p:cNvSpPr>
                <a:spLocks noChangeShapeType="1"/>
              </p:cNvSpPr>
              <p:nvPr/>
            </p:nvSpPr>
            <p:spPr bwMode="auto">
              <a:xfrm>
                <a:off x="387" y="4604"/>
                <a:ext cx="0" cy="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1" name="Line 1250"/>
              <p:cNvSpPr>
                <a:spLocks noChangeShapeType="1"/>
              </p:cNvSpPr>
              <p:nvPr/>
            </p:nvSpPr>
            <p:spPr bwMode="auto">
              <a:xfrm flipH="1">
                <a:off x="243" y="4649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2" name="Line 1251"/>
              <p:cNvSpPr>
                <a:spLocks noChangeShapeType="1"/>
              </p:cNvSpPr>
              <p:nvPr/>
            </p:nvSpPr>
            <p:spPr bwMode="auto">
              <a:xfrm>
                <a:off x="387" y="4649"/>
                <a:ext cx="2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3" name="Line 1252"/>
              <p:cNvSpPr>
                <a:spLocks noChangeShapeType="1"/>
              </p:cNvSpPr>
              <p:nvPr/>
            </p:nvSpPr>
            <p:spPr bwMode="auto">
              <a:xfrm flipV="1">
                <a:off x="1767" y="4148"/>
                <a:ext cx="0" cy="5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4" name="Text Box 1253"/>
              <p:cNvSpPr txBox="1">
                <a:spLocks noChangeArrowheads="1"/>
              </p:cNvSpPr>
              <p:nvPr/>
            </p:nvSpPr>
            <p:spPr bwMode="auto">
              <a:xfrm>
                <a:off x="275" y="4474"/>
                <a:ext cx="252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X1</a:t>
                </a:r>
              </a:p>
            </p:txBody>
          </p:sp>
          <p:sp>
            <p:nvSpPr>
              <p:cNvPr id="14385" name="Line 1254"/>
              <p:cNvSpPr>
                <a:spLocks noChangeShapeType="1"/>
              </p:cNvSpPr>
              <p:nvPr/>
            </p:nvSpPr>
            <p:spPr bwMode="auto">
              <a:xfrm>
                <a:off x="1261" y="4421"/>
                <a:ext cx="8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6" name="Text Box 1255"/>
              <p:cNvSpPr txBox="1">
                <a:spLocks noChangeArrowheads="1"/>
              </p:cNvSpPr>
              <p:nvPr/>
            </p:nvSpPr>
            <p:spPr bwMode="auto">
              <a:xfrm>
                <a:off x="1095" y="4325"/>
                <a:ext cx="249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X1</a:t>
                </a:r>
              </a:p>
            </p:txBody>
          </p:sp>
          <p:sp>
            <p:nvSpPr>
              <p:cNvPr id="14387" name="Rectangle 1256"/>
              <p:cNvSpPr>
                <a:spLocks noChangeArrowheads="1"/>
              </p:cNvSpPr>
              <p:nvPr/>
            </p:nvSpPr>
            <p:spPr bwMode="auto">
              <a:xfrm>
                <a:off x="1982" y="4325"/>
                <a:ext cx="63" cy="9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8" name="Line 1257"/>
              <p:cNvSpPr>
                <a:spLocks noChangeShapeType="1"/>
              </p:cNvSpPr>
              <p:nvPr/>
            </p:nvSpPr>
            <p:spPr bwMode="auto">
              <a:xfrm flipV="1">
                <a:off x="1982" y="4148"/>
                <a:ext cx="0" cy="5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9" name="Text Box 158"/>
              <p:cNvSpPr txBox="1">
                <a:spLocks noChangeArrowheads="1"/>
              </p:cNvSpPr>
              <p:nvPr/>
            </p:nvSpPr>
            <p:spPr bwMode="auto">
              <a:xfrm>
                <a:off x="857" y="4566"/>
                <a:ext cx="21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C0</a:t>
                </a:r>
              </a:p>
            </p:txBody>
          </p:sp>
          <p:sp>
            <p:nvSpPr>
              <p:cNvPr id="14390" name="Text Box 159"/>
              <p:cNvSpPr txBox="1">
                <a:spLocks noChangeArrowheads="1"/>
              </p:cNvSpPr>
              <p:nvPr/>
            </p:nvSpPr>
            <p:spPr bwMode="auto">
              <a:xfrm>
                <a:off x="645" y="4566"/>
                <a:ext cx="264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RST</a:t>
                </a:r>
              </a:p>
            </p:txBody>
          </p:sp>
          <p:sp>
            <p:nvSpPr>
              <p:cNvPr id="14391" name="Text Box 160"/>
              <p:cNvSpPr txBox="1">
                <a:spLocks noChangeArrowheads="1"/>
              </p:cNvSpPr>
              <p:nvPr/>
            </p:nvSpPr>
            <p:spPr bwMode="auto">
              <a:xfrm>
                <a:off x="757" y="4100"/>
                <a:ext cx="300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C0 ??</a:t>
                </a:r>
              </a:p>
            </p:txBody>
          </p:sp>
        </p:grpSp>
        <p:sp>
          <p:nvSpPr>
            <p:cNvPr id="14347" name="Rectangle 1256"/>
            <p:cNvSpPr>
              <a:spLocks noChangeArrowheads="1"/>
            </p:cNvSpPr>
            <p:nvPr/>
          </p:nvSpPr>
          <p:spPr bwMode="auto">
            <a:xfrm>
              <a:off x="5381625" y="5545138"/>
              <a:ext cx="207963" cy="17462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4348" name="Line 1252"/>
            <p:cNvSpPr>
              <a:spLocks noChangeShapeType="1"/>
            </p:cNvSpPr>
            <p:nvPr/>
          </p:nvSpPr>
          <p:spPr bwMode="auto">
            <a:xfrm flipV="1">
              <a:off x="5581650" y="5264150"/>
              <a:ext cx="0" cy="8302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725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6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PLC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14.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Đáp án sai khi nói về Timer?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① Có thể thay đổi đơn vị của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trong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Parameter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②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lệnh 4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step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.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K10, H10, v.v. có thể được đặt trực tiếp.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④ Giá trị cài đặt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K1 ~ K32767.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15.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Khi muốn Reset data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của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D0 ~ D1 cùng một lúc.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Lệnh thực hiện là gì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RST D0 K2 ② DMOV K0 D0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FMOV D0 D1 K2 ④ BMOV K0 D0 K2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16. Lệnh nào được sử dụng để chuyển một lượng lớn dữ liệu có giá trị như dữ liệu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Recipe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/</a:t>
            </a:r>
            <a:r>
              <a:rPr lang="vi-VN" altLang="ko-KR" sz="900" baseline="30000"/>
              <a:t>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ocation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data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nhiều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hơn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10 ~ 100) đến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vùn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g Latch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 </a:t>
            </a: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(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Lệnh ngắn nhất có thể viết khi viết chương trình)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BMOV ② FMOV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MOV ④ DMOV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17.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Khi viết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PLC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dạng Ladder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, viết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vào đâu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để mô tả một phần cụ thể của Ladder?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Edit Comment          ② Edit note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Parameter                 ④ Edit Statement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18.</a:t>
            </a:r>
            <a:r>
              <a:rPr lang="vi-VN" altLang="ko-KR" sz="900" baseline="30000" smtClean="0"/>
              <a:t>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Time Chart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nào của mạch tự giữ sử dụng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SET/RST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đúng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?</a:t>
            </a:r>
            <a:endParaRPr lang="vi-VN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19.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Phím tắt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để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chuyển đổi và lưu nội dung được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ghi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sang CPU PLC cùng một lúc?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①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Shift + F4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② F4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③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F3 + Shift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       ④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F2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20. Mạch </a:t>
            </a: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phía dưới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là môđun nào?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</a:t>
            </a: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①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Unit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đầu vào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②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Unit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đầu ra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</a:t>
            </a:r>
            <a:r>
              <a:rPr lang="vi-VN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③ </a:t>
            </a:r>
            <a:r>
              <a:rPr lang="en-US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Unit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định vị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smtClean="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      ④ </a:t>
            </a:r>
            <a:r>
              <a:rPr lang="vi-VN" altLang="ko-KR" sz="900">
                <a:latin typeface="Times New Roman" panose="02020603050405020304" pitchFamily="18" charset="0"/>
                <a:ea typeface="돋움" pitchFamily="50" charset="-127"/>
                <a:cs typeface="Times New Roman" panose="02020603050405020304" pitchFamily="18" charset="0"/>
              </a:rPr>
              <a:t>Standard Ram format</a:t>
            </a:r>
            <a:endParaRPr lang="en-US" altLang="ko-KR" sz="90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 smtClean="0">
              <a:latin typeface="Times New Roman" panose="02020603050405020304" pitchFamily="18" charset="0"/>
              <a:ea typeface="돋움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16390" name="Group 1"/>
          <p:cNvGrpSpPr>
            <a:grpSpLocks/>
          </p:cNvGrpSpPr>
          <p:nvPr/>
        </p:nvGrpSpPr>
        <p:grpSpPr bwMode="auto">
          <a:xfrm>
            <a:off x="304800" y="5247084"/>
            <a:ext cx="2979738" cy="3162300"/>
            <a:chOff x="304800" y="5481638"/>
            <a:chExt cx="2979738" cy="3162300"/>
          </a:xfrm>
        </p:grpSpPr>
        <p:grpSp>
          <p:nvGrpSpPr>
            <p:cNvPr id="16392" name="Group 904"/>
            <p:cNvGrpSpPr>
              <a:grpSpLocks/>
            </p:cNvGrpSpPr>
            <p:nvPr/>
          </p:nvGrpSpPr>
          <p:grpSpPr bwMode="auto">
            <a:xfrm>
              <a:off x="304800" y="5481638"/>
              <a:ext cx="2979738" cy="3162300"/>
              <a:chOff x="0" y="0"/>
              <a:chExt cx="1826" cy="1990"/>
            </a:xfrm>
          </p:grpSpPr>
          <p:sp>
            <p:nvSpPr>
              <p:cNvPr id="16394" name="Rectangle 905"/>
              <p:cNvSpPr>
                <a:spLocks noChangeArrowheads="1"/>
              </p:cNvSpPr>
              <p:nvPr/>
            </p:nvSpPr>
            <p:spPr bwMode="auto">
              <a:xfrm>
                <a:off x="27" y="563"/>
                <a:ext cx="18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ko-KR" altLang="en-US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①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395" name="Group 906"/>
              <p:cNvGrpSpPr>
                <a:grpSpLocks/>
              </p:cNvGrpSpPr>
              <p:nvPr/>
            </p:nvGrpSpPr>
            <p:grpSpPr bwMode="auto">
              <a:xfrm>
                <a:off x="172" y="0"/>
                <a:ext cx="1654" cy="479"/>
                <a:chOff x="172" y="0"/>
                <a:chExt cx="1654" cy="479"/>
              </a:xfrm>
            </p:grpSpPr>
            <p:sp>
              <p:nvSpPr>
                <p:cNvPr id="16426" name="Line 907"/>
                <p:cNvSpPr>
                  <a:spLocks noChangeShapeType="1"/>
                </p:cNvSpPr>
                <p:nvPr/>
              </p:nvSpPr>
              <p:spPr bwMode="auto">
                <a:xfrm>
                  <a:off x="172" y="65"/>
                  <a:ext cx="0" cy="41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7" name="Line 908"/>
                <p:cNvSpPr>
                  <a:spLocks noChangeShapeType="1"/>
                </p:cNvSpPr>
                <p:nvPr/>
              </p:nvSpPr>
              <p:spPr bwMode="auto">
                <a:xfrm>
                  <a:off x="1826" y="105"/>
                  <a:ext cx="0" cy="37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8" name="Line 909"/>
                <p:cNvSpPr>
                  <a:spLocks noChangeShapeType="1"/>
                </p:cNvSpPr>
                <p:nvPr/>
              </p:nvSpPr>
              <p:spPr bwMode="auto">
                <a:xfrm>
                  <a:off x="172" y="179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9" name="Line 910"/>
                <p:cNvSpPr>
                  <a:spLocks noChangeShapeType="1"/>
                </p:cNvSpPr>
                <p:nvPr/>
              </p:nvSpPr>
              <p:spPr bwMode="auto">
                <a:xfrm flipH="1" flipV="1">
                  <a:off x="1682" y="185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30" name="Text Box 911"/>
                <p:cNvSpPr txBox="1">
                  <a:spLocks noChangeArrowheads="1"/>
                </p:cNvSpPr>
                <p:nvPr/>
              </p:nvSpPr>
              <p:spPr bwMode="auto">
                <a:xfrm>
                  <a:off x="404" y="0"/>
                  <a:ext cx="2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X1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31" name="Line 912"/>
                <p:cNvSpPr>
                  <a:spLocks noChangeShapeType="1"/>
                </p:cNvSpPr>
                <p:nvPr/>
              </p:nvSpPr>
              <p:spPr bwMode="auto">
                <a:xfrm>
                  <a:off x="509" y="179"/>
                  <a:ext cx="78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32" name="Group 913"/>
                <p:cNvGrpSpPr>
                  <a:grpSpLocks/>
                </p:cNvGrpSpPr>
                <p:nvPr/>
              </p:nvGrpSpPr>
              <p:grpSpPr bwMode="auto">
                <a:xfrm>
                  <a:off x="448" y="128"/>
                  <a:ext cx="54" cy="104"/>
                  <a:chOff x="652" y="128"/>
                  <a:chExt cx="54" cy="182"/>
                </a:xfrm>
              </p:grpSpPr>
              <p:sp>
                <p:nvSpPr>
                  <p:cNvPr id="16456" name="Line 914"/>
                  <p:cNvSpPr>
                    <a:spLocks noChangeShapeType="1"/>
                  </p:cNvSpPr>
                  <p:nvPr/>
                </p:nvSpPr>
                <p:spPr bwMode="auto">
                  <a:xfrm>
                    <a:off x="652" y="128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457" name="Line 915"/>
                  <p:cNvSpPr>
                    <a:spLocks noChangeShapeType="1"/>
                  </p:cNvSpPr>
                  <p:nvPr/>
                </p:nvSpPr>
                <p:spPr bwMode="auto">
                  <a:xfrm>
                    <a:off x="706" y="128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6433" name="Group 916"/>
                <p:cNvGrpSpPr>
                  <a:grpSpLocks/>
                </p:cNvGrpSpPr>
                <p:nvPr/>
              </p:nvGrpSpPr>
              <p:grpSpPr bwMode="auto">
                <a:xfrm>
                  <a:off x="1292" y="104"/>
                  <a:ext cx="403" cy="144"/>
                  <a:chOff x="1286" y="104"/>
                  <a:chExt cx="624" cy="192"/>
                </a:xfrm>
              </p:grpSpPr>
              <p:grpSp>
                <p:nvGrpSpPr>
                  <p:cNvPr id="16450" name="Group 917"/>
                  <p:cNvGrpSpPr>
                    <a:grpSpLocks/>
                  </p:cNvGrpSpPr>
                  <p:nvPr/>
                </p:nvGrpSpPr>
                <p:grpSpPr bwMode="auto">
                  <a:xfrm>
                    <a:off x="1286" y="104"/>
                    <a:ext cx="48" cy="192"/>
                    <a:chOff x="1286" y="104"/>
                    <a:chExt cx="48" cy="192"/>
                  </a:xfrm>
                </p:grpSpPr>
                <p:sp>
                  <p:nvSpPr>
                    <p:cNvPr id="16454" name="Line 91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86" y="104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455" name="Line 9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86" y="200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6451" name="Group 920"/>
                  <p:cNvGrpSpPr>
                    <a:grpSpLocks/>
                  </p:cNvGrpSpPr>
                  <p:nvPr/>
                </p:nvGrpSpPr>
                <p:grpSpPr bwMode="auto">
                  <a:xfrm>
                    <a:off x="1862" y="104"/>
                    <a:ext cx="48" cy="192"/>
                    <a:chOff x="1862" y="104"/>
                    <a:chExt cx="48" cy="192"/>
                  </a:xfrm>
                </p:grpSpPr>
                <p:sp>
                  <p:nvSpPr>
                    <p:cNvPr id="16452" name="Line 9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62" y="104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453" name="Line 92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862" y="200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6434" name="Text Box 923"/>
                <p:cNvSpPr txBox="1">
                  <a:spLocks noChangeArrowheads="1"/>
                </p:cNvSpPr>
                <p:nvPr/>
              </p:nvSpPr>
              <p:spPr bwMode="auto">
                <a:xfrm>
                  <a:off x="1288" y="120"/>
                  <a:ext cx="40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SET Y40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35" name="Line 924"/>
                <p:cNvSpPr>
                  <a:spLocks noChangeShapeType="1"/>
                </p:cNvSpPr>
                <p:nvPr/>
              </p:nvSpPr>
              <p:spPr bwMode="auto">
                <a:xfrm>
                  <a:off x="172" y="395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36" name="Line 925"/>
                <p:cNvSpPr>
                  <a:spLocks noChangeShapeType="1"/>
                </p:cNvSpPr>
                <p:nvPr/>
              </p:nvSpPr>
              <p:spPr bwMode="auto">
                <a:xfrm flipH="1" flipV="1">
                  <a:off x="1682" y="401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37" name="Line 926"/>
                <p:cNvSpPr>
                  <a:spLocks noChangeShapeType="1"/>
                </p:cNvSpPr>
                <p:nvPr/>
              </p:nvSpPr>
              <p:spPr bwMode="auto">
                <a:xfrm>
                  <a:off x="507" y="395"/>
                  <a:ext cx="7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38" name="Group 927"/>
                <p:cNvGrpSpPr>
                  <a:grpSpLocks/>
                </p:cNvGrpSpPr>
                <p:nvPr/>
              </p:nvGrpSpPr>
              <p:grpSpPr bwMode="auto">
                <a:xfrm>
                  <a:off x="448" y="344"/>
                  <a:ext cx="54" cy="103"/>
                  <a:chOff x="652" y="344"/>
                  <a:chExt cx="54" cy="182"/>
                </a:xfrm>
              </p:grpSpPr>
              <p:sp>
                <p:nvSpPr>
                  <p:cNvPr id="16448" name="Line 928"/>
                  <p:cNvSpPr>
                    <a:spLocks noChangeShapeType="1"/>
                  </p:cNvSpPr>
                  <p:nvPr/>
                </p:nvSpPr>
                <p:spPr bwMode="auto">
                  <a:xfrm>
                    <a:off x="652" y="344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449" name="Line 929"/>
                  <p:cNvSpPr>
                    <a:spLocks noChangeShapeType="1"/>
                  </p:cNvSpPr>
                  <p:nvPr/>
                </p:nvSpPr>
                <p:spPr bwMode="auto">
                  <a:xfrm>
                    <a:off x="706" y="344"/>
                    <a:ext cx="0" cy="18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6439" name="Group 930"/>
                <p:cNvGrpSpPr>
                  <a:grpSpLocks/>
                </p:cNvGrpSpPr>
                <p:nvPr/>
              </p:nvGrpSpPr>
              <p:grpSpPr bwMode="auto">
                <a:xfrm>
                  <a:off x="1292" y="336"/>
                  <a:ext cx="403" cy="143"/>
                  <a:chOff x="1286" y="336"/>
                  <a:chExt cx="624" cy="192"/>
                </a:xfrm>
              </p:grpSpPr>
              <p:grpSp>
                <p:nvGrpSpPr>
                  <p:cNvPr id="16442" name="Group 931"/>
                  <p:cNvGrpSpPr>
                    <a:grpSpLocks/>
                  </p:cNvGrpSpPr>
                  <p:nvPr/>
                </p:nvGrpSpPr>
                <p:grpSpPr bwMode="auto">
                  <a:xfrm>
                    <a:off x="1286" y="336"/>
                    <a:ext cx="48" cy="192"/>
                    <a:chOff x="1286" y="336"/>
                    <a:chExt cx="48" cy="192"/>
                  </a:xfrm>
                </p:grpSpPr>
                <p:sp>
                  <p:nvSpPr>
                    <p:cNvPr id="16446" name="Line 93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86" y="336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447" name="Line 9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86" y="432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6443" name="Group 934"/>
                  <p:cNvGrpSpPr>
                    <a:grpSpLocks/>
                  </p:cNvGrpSpPr>
                  <p:nvPr/>
                </p:nvGrpSpPr>
                <p:grpSpPr bwMode="auto">
                  <a:xfrm>
                    <a:off x="1862" y="336"/>
                    <a:ext cx="48" cy="192"/>
                    <a:chOff x="1862" y="336"/>
                    <a:chExt cx="48" cy="192"/>
                  </a:xfrm>
                </p:grpSpPr>
                <p:sp>
                  <p:nvSpPr>
                    <p:cNvPr id="16444" name="Line 9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62" y="336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445" name="Line 9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862" y="432"/>
                      <a:ext cx="48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6440" name="Text Box 937"/>
                <p:cNvSpPr txBox="1">
                  <a:spLocks noChangeArrowheads="1"/>
                </p:cNvSpPr>
                <p:nvPr/>
              </p:nvSpPr>
              <p:spPr bwMode="auto">
                <a:xfrm>
                  <a:off x="1288" y="330"/>
                  <a:ext cx="40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RST Y40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41" name="Text Box 938"/>
                <p:cNvSpPr txBox="1">
                  <a:spLocks noChangeArrowheads="1"/>
                </p:cNvSpPr>
                <p:nvPr/>
              </p:nvSpPr>
              <p:spPr bwMode="auto">
                <a:xfrm>
                  <a:off x="409" y="216"/>
                  <a:ext cx="2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X2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396" name="Group 939"/>
              <p:cNvGrpSpPr>
                <a:grpSpLocks/>
              </p:cNvGrpSpPr>
              <p:nvPr/>
            </p:nvGrpSpPr>
            <p:grpSpPr bwMode="auto">
              <a:xfrm>
                <a:off x="13" y="1387"/>
                <a:ext cx="782" cy="603"/>
                <a:chOff x="13" y="1387"/>
                <a:chExt cx="782" cy="603"/>
              </a:xfrm>
            </p:grpSpPr>
            <p:sp>
              <p:nvSpPr>
                <p:cNvPr id="16420" name="Freeform 940"/>
                <p:cNvSpPr>
                  <a:spLocks/>
                </p:cNvSpPr>
                <p:nvPr/>
              </p:nvSpPr>
              <p:spPr bwMode="auto">
                <a:xfrm>
                  <a:off x="205" y="1387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1" name="Freeform 941"/>
                <p:cNvSpPr>
                  <a:spLocks/>
                </p:cNvSpPr>
                <p:nvPr/>
              </p:nvSpPr>
              <p:spPr bwMode="auto">
                <a:xfrm flipH="1">
                  <a:off x="205" y="1568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2" name="Freeform 942"/>
                <p:cNvSpPr>
                  <a:spLocks/>
                </p:cNvSpPr>
                <p:nvPr/>
              </p:nvSpPr>
              <p:spPr bwMode="auto">
                <a:xfrm>
                  <a:off x="205" y="1795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363 w 590"/>
                    <a:gd name="T7" fmla="*/ 0 h 136"/>
                    <a:gd name="T8" fmla="*/ 363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363" y="0"/>
                      </a:lnTo>
                      <a:lnTo>
                        <a:pt x="363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3" name="Text Box 943"/>
                <p:cNvSpPr txBox="1">
                  <a:spLocks noChangeArrowheads="1"/>
                </p:cNvSpPr>
                <p:nvPr/>
              </p:nvSpPr>
              <p:spPr bwMode="auto">
                <a:xfrm>
                  <a:off x="13" y="1846"/>
                  <a:ext cx="24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Y40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4" name="Text Box 944"/>
                <p:cNvSpPr txBox="1">
                  <a:spLocks noChangeArrowheads="1"/>
                </p:cNvSpPr>
                <p:nvPr/>
              </p:nvSpPr>
              <p:spPr bwMode="auto">
                <a:xfrm>
                  <a:off x="44" y="1439"/>
                  <a:ext cx="2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X1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5" name="Text Box 945"/>
                <p:cNvSpPr txBox="1">
                  <a:spLocks noChangeArrowheads="1"/>
                </p:cNvSpPr>
                <p:nvPr/>
              </p:nvSpPr>
              <p:spPr bwMode="auto">
                <a:xfrm>
                  <a:off x="40" y="1624"/>
                  <a:ext cx="20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X2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397" name="Group 946"/>
              <p:cNvGrpSpPr>
                <a:grpSpLocks/>
              </p:cNvGrpSpPr>
              <p:nvPr/>
            </p:nvGrpSpPr>
            <p:grpSpPr bwMode="auto">
              <a:xfrm>
                <a:off x="1000" y="616"/>
                <a:ext cx="781" cy="601"/>
                <a:chOff x="1000" y="616"/>
                <a:chExt cx="781" cy="601"/>
              </a:xfrm>
            </p:grpSpPr>
            <p:sp>
              <p:nvSpPr>
                <p:cNvPr id="16414" name="Freeform 947"/>
                <p:cNvSpPr>
                  <a:spLocks/>
                </p:cNvSpPr>
                <p:nvPr/>
              </p:nvSpPr>
              <p:spPr bwMode="auto">
                <a:xfrm>
                  <a:off x="1191" y="616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5" name="Freeform 948"/>
                <p:cNvSpPr>
                  <a:spLocks/>
                </p:cNvSpPr>
                <p:nvPr/>
              </p:nvSpPr>
              <p:spPr bwMode="auto">
                <a:xfrm flipH="1">
                  <a:off x="1191" y="797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6" name="Text Box 949"/>
                <p:cNvSpPr txBox="1">
                  <a:spLocks noChangeArrowheads="1"/>
                </p:cNvSpPr>
                <p:nvPr/>
              </p:nvSpPr>
              <p:spPr bwMode="auto">
                <a:xfrm>
                  <a:off x="1000" y="1073"/>
                  <a:ext cx="24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Y40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7" name="Text Box 950"/>
                <p:cNvSpPr txBox="1">
                  <a:spLocks noChangeArrowheads="1"/>
                </p:cNvSpPr>
                <p:nvPr/>
              </p:nvSpPr>
              <p:spPr bwMode="auto">
                <a:xfrm>
                  <a:off x="1031" y="665"/>
                  <a:ext cx="2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X1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8" name="Text Box 951"/>
                <p:cNvSpPr txBox="1">
                  <a:spLocks noChangeArrowheads="1"/>
                </p:cNvSpPr>
                <p:nvPr/>
              </p:nvSpPr>
              <p:spPr bwMode="auto">
                <a:xfrm>
                  <a:off x="1026" y="851"/>
                  <a:ext cx="20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X2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9" name="Freeform 952"/>
                <p:cNvSpPr>
                  <a:spLocks/>
                </p:cNvSpPr>
                <p:nvPr/>
              </p:nvSpPr>
              <p:spPr bwMode="auto">
                <a:xfrm>
                  <a:off x="1191" y="1024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398" name="Group 953"/>
              <p:cNvGrpSpPr>
                <a:grpSpLocks/>
              </p:cNvGrpSpPr>
              <p:nvPr/>
            </p:nvGrpSpPr>
            <p:grpSpPr bwMode="auto">
              <a:xfrm>
                <a:off x="1000" y="1387"/>
                <a:ext cx="826" cy="603"/>
                <a:chOff x="1000" y="1387"/>
                <a:chExt cx="826" cy="603"/>
              </a:xfrm>
            </p:grpSpPr>
            <p:sp>
              <p:nvSpPr>
                <p:cNvPr id="16408" name="Freeform 954"/>
                <p:cNvSpPr>
                  <a:spLocks/>
                </p:cNvSpPr>
                <p:nvPr/>
              </p:nvSpPr>
              <p:spPr bwMode="auto">
                <a:xfrm>
                  <a:off x="1191" y="1387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09" name="Freeform 955"/>
                <p:cNvSpPr>
                  <a:spLocks/>
                </p:cNvSpPr>
                <p:nvPr/>
              </p:nvSpPr>
              <p:spPr bwMode="auto">
                <a:xfrm flipH="1">
                  <a:off x="1191" y="1568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0" name="Text Box 956"/>
                <p:cNvSpPr txBox="1">
                  <a:spLocks noChangeArrowheads="1"/>
                </p:cNvSpPr>
                <p:nvPr/>
              </p:nvSpPr>
              <p:spPr bwMode="auto">
                <a:xfrm>
                  <a:off x="1000" y="1846"/>
                  <a:ext cx="24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Y40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1" name="Text Box 957"/>
                <p:cNvSpPr txBox="1">
                  <a:spLocks noChangeArrowheads="1"/>
                </p:cNvSpPr>
                <p:nvPr/>
              </p:nvSpPr>
              <p:spPr bwMode="auto">
                <a:xfrm>
                  <a:off x="1031" y="1439"/>
                  <a:ext cx="2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X1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2" name="Text Box 958"/>
                <p:cNvSpPr txBox="1">
                  <a:spLocks noChangeArrowheads="1"/>
                </p:cNvSpPr>
                <p:nvPr/>
              </p:nvSpPr>
              <p:spPr bwMode="auto">
                <a:xfrm>
                  <a:off x="1026" y="1624"/>
                  <a:ext cx="20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X2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3" name="Freeform 959"/>
                <p:cNvSpPr>
                  <a:spLocks/>
                </p:cNvSpPr>
                <p:nvPr/>
              </p:nvSpPr>
              <p:spPr bwMode="auto">
                <a:xfrm>
                  <a:off x="1191" y="1795"/>
                  <a:ext cx="635" cy="136"/>
                </a:xfrm>
                <a:custGeom>
                  <a:avLst/>
                  <a:gdLst>
                    <a:gd name="T0" fmla="*/ 0 w 635"/>
                    <a:gd name="T1" fmla="*/ 136 h 136"/>
                    <a:gd name="T2" fmla="*/ 136 w 635"/>
                    <a:gd name="T3" fmla="*/ 136 h 136"/>
                    <a:gd name="T4" fmla="*/ 136 w 635"/>
                    <a:gd name="T5" fmla="*/ 0 h 136"/>
                    <a:gd name="T6" fmla="*/ 454 w 635"/>
                    <a:gd name="T7" fmla="*/ 0 h 136"/>
                    <a:gd name="T8" fmla="*/ 454 w 635"/>
                    <a:gd name="T9" fmla="*/ 136 h 136"/>
                    <a:gd name="T10" fmla="*/ 635 w 635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35"/>
                    <a:gd name="T19" fmla="*/ 0 h 136"/>
                    <a:gd name="T20" fmla="*/ 635 w 635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35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454" y="0"/>
                      </a:lnTo>
                      <a:lnTo>
                        <a:pt x="454" y="136"/>
                      </a:lnTo>
                      <a:lnTo>
                        <a:pt x="635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399" name="Group 960"/>
              <p:cNvGrpSpPr>
                <a:grpSpLocks/>
              </p:cNvGrpSpPr>
              <p:nvPr/>
            </p:nvGrpSpPr>
            <p:grpSpPr bwMode="auto">
              <a:xfrm>
                <a:off x="0" y="616"/>
                <a:ext cx="783" cy="601"/>
                <a:chOff x="0" y="616"/>
                <a:chExt cx="783" cy="601"/>
              </a:xfrm>
            </p:grpSpPr>
            <p:sp>
              <p:nvSpPr>
                <p:cNvPr id="16403" name="Freeform 961"/>
                <p:cNvSpPr>
                  <a:spLocks/>
                </p:cNvSpPr>
                <p:nvPr/>
              </p:nvSpPr>
              <p:spPr bwMode="auto">
                <a:xfrm>
                  <a:off x="193" y="616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04" name="Freeform 962"/>
                <p:cNvSpPr>
                  <a:spLocks/>
                </p:cNvSpPr>
                <p:nvPr/>
              </p:nvSpPr>
              <p:spPr bwMode="auto">
                <a:xfrm flipH="1">
                  <a:off x="193" y="797"/>
                  <a:ext cx="590" cy="136"/>
                </a:xfrm>
                <a:custGeom>
                  <a:avLst/>
                  <a:gdLst>
                    <a:gd name="T0" fmla="*/ 0 w 590"/>
                    <a:gd name="T1" fmla="*/ 136 h 136"/>
                    <a:gd name="T2" fmla="*/ 136 w 590"/>
                    <a:gd name="T3" fmla="*/ 136 h 136"/>
                    <a:gd name="T4" fmla="*/ 136 w 590"/>
                    <a:gd name="T5" fmla="*/ 0 h 136"/>
                    <a:gd name="T6" fmla="*/ 227 w 590"/>
                    <a:gd name="T7" fmla="*/ 0 h 136"/>
                    <a:gd name="T8" fmla="*/ 227 w 590"/>
                    <a:gd name="T9" fmla="*/ 136 h 136"/>
                    <a:gd name="T10" fmla="*/ 590 w 590"/>
                    <a:gd name="T11" fmla="*/ 136 h 1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90"/>
                    <a:gd name="T19" fmla="*/ 0 h 136"/>
                    <a:gd name="T20" fmla="*/ 590 w 590"/>
                    <a:gd name="T21" fmla="*/ 136 h 1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90" h="136">
                      <a:moveTo>
                        <a:pt x="0" y="136"/>
                      </a:moveTo>
                      <a:lnTo>
                        <a:pt x="136" y="136"/>
                      </a:lnTo>
                      <a:lnTo>
                        <a:pt x="136" y="0"/>
                      </a:lnTo>
                      <a:lnTo>
                        <a:pt x="227" y="0"/>
                      </a:lnTo>
                      <a:lnTo>
                        <a:pt x="227" y="136"/>
                      </a:lnTo>
                      <a:lnTo>
                        <a:pt x="590" y="136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05" name="Text Box 963"/>
                <p:cNvSpPr txBox="1">
                  <a:spLocks noChangeArrowheads="1"/>
                </p:cNvSpPr>
                <p:nvPr/>
              </p:nvSpPr>
              <p:spPr bwMode="auto">
                <a:xfrm>
                  <a:off x="0" y="1073"/>
                  <a:ext cx="24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Y40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06" name="Text Box 964"/>
                <p:cNvSpPr txBox="1">
                  <a:spLocks noChangeArrowheads="1"/>
                </p:cNvSpPr>
                <p:nvPr/>
              </p:nvSpPr>
              <p:spPr bwMode="auto">
                <a:xfrm>
                  <a:off x="31" y="665"/>
                  <a:ext cx="2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X1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07" name="Text Box 965"/>
                <p:cNvSpPr txBox="1">
                  <a:spLocks noChangeArrowheads="1"/>
                </p:cNvSpPr>
                <p:nvPr/>
              </p:nvSpPr>
              <p:spPr bwMode="auto">
                <a:xfrm>
                  <a:off x="27" y="851"/>
                  <a:ext cx="20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돋움" pitchFamily="50" charset="-127"/>
                      <a:cs typeface="Times New Roman" panose="02020603050405020304" pitchFamily="18" charset="0"/>
                    </a:rPr>
                    <a:t>X2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400" name="Rectangle 967"/>
              <p:cNvSpPr>
                <a:spLocks noChangeArrowheads="1"/>
              </p:cNvSpPr>
              <p:nvPr/>
            </p:nvSpPr>
            <p:spPr bwMode="auto">
              <a:xfrm>
                <a:off x="920" y="563"/>
                <a:ext cx="18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ko-KR" altLang="en-US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②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01" name="Rectangle 968"/>
              <p:cNvSpPr>
                <a:spLocks noChangeArrowheads="1"/>
              </p:cNvSpPr>
              <p:nvPr/>
            </p:nvSpPr>
            <p:spPr bwMode="auto">
              <a:xfrm>
                <a:off x="27" y="1295"/>
                <a:ext cx="18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ko-KR" altLang="en-US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③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02" name="Rectangle 969"/>
              <p:cNvSpPr>
                <a:spLocks noChangeArrowheads="1"/>
              </p:cNvSpPr>
              <p:nvPr/>
            </p:nvSpPr>
            <p:spPr bwMode="auto">
              <a:xfrm>
                <a:off x="920" y="1295"/>
                <a:ext cx="18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ko-KR" altLang="en-US" sz="900">
                    <a:solidFill>
                      <a:srgbClr val="000000"/>
                    </a:solidFill>
                    <a:latin typeface="Times New Roman" panose="02020603050405020304" pitchFamily="18" charset="0"/>
                    <a:ea typeface="돋움" pitchFamily="50" charset="-127"/>
                    <a:cs typeface="Times New Roman" panose="02020603050405020304" pitchFamily="18" charset="0"/>
                  </a:rPr>
                  <a:t>④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900">
                  <a:solidFill>
                    <a:srgbClr val="000000"/>
                  </a:solidFill>
                  <a:latin typeface="Times New Roman" panose="02020603050405020304" pitchFamily="18" charset="0"/>
                  <a:ea typeface="돋움" pitchFamily="50" charset="-127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393" name="Freeform 942"/>
            <p:cNvSpPr>
              <a:spLocks/>
            </p:cNvSpPr>
            <p:nvPr/>
          </p:nvSpPr>
          <p:spPr bwMode="auto">
            <a:xfrm flipH="1">
              <a:off x="620713" y="7102475"/>
              <a:ext cx="936625" cy="215900"/>
            </a:xfrm>
            <a:custGeom>
              <a:avLst/>
              <a:gdLst>
                <a:gd name="T0" fmla="*/ 0 w 590"/>
                <a:gd name="T1" fmla="*/ 2147483647 h 136"/>
                <a:gd name="T2" fmla="*/ 2147483647 w 590"/>
                <a:gd name="T3" fmla="*/ 2147483647 h 136"/>
                <a:gd name="T4" fmla="*/ 2147483647 w 590"/>
                <a:gd name="T5" fmla="*/ 0 h 136"/>
                <a:gd name="T6" fmla="*/ 2147483647 w 590"/>
                <a:gd name="T7" fmla="*/ 0 h 136"/>
                <a:gd name="T8" fmla="*/ 2147483647 w 590"/>
                <a:gd name="T9" fmla="*/ 2147483647 h 136"/>
                <a:gd name="T10" fmla="*/ 2147483647 w 590"/>
                <a:gd name="T11" fmla="*/ 2147483647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90"/>
                <a:gd name="T19" fmla="*/ 0 h 136"/>
                <a:gd name="T20" fmla="*/ 590 w 590"/>
                <a:gd name="T21" fmla="*/ 136 h 1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90" h="136">
                  <a:moveTo>
                    <a:pt x="0" y="136"/>
                  </a:moveTo>
                  <a:lnTo>
                    <a:pt x="136" y="136"/>
                  </a:lnTo>
                  <a:lnTo>
                    <a:pt x="136" y="0"/>
                  </a:lnTo>
                  <a:lnTo>
                    <a:pt x="363" y="0"/>
                  </a:lnTo>
                  <a:lnTo>
                    <a:pt x="363" y="136"/>
                  </a:lnTo>
                  <a:lnTo>
                    <a:pt x="590" y="136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391" name="그림 7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38" y="2000672"/>
            <a:ext cx="295592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18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111028" y="386425"/>
            <a:ext cx="5838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473925" y="386425"/>
            <a:ext cx="59503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478323" y="386425"/>
            <a:ext cx="88678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Khí nén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851792" y="41024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PLC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296677"/>
              </p:ext>
            </p:extLst>
          </p:nvPr>
        </p:nvGraphicFramePr>
        <p:xfrm>
          <a:off x="2204864" y="796981"/>
          <a:ext cx="977689" cy="3195948"/>
        </p:xfrm>
        <a:graphic>
          <a:graphicData uri="http://schemas.openxmlformats.org/drawingml/2006/table">
            <a:tbl>
              <a:tblPr/>
              <a:tblGrid>
                <a:gridCol w="361937"/>
                <a:gridCol w="615752"/>
              </a:tblGrid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6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16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17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18" marR="6918" marT="69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858700"/>
              </p:ext>
            </p:extLst>
          </p:nvPr>
        </p:nvGraphicFramePr>
        <p:xfrm>
          <a:off x="3438086" y="796988"/>
          <a:ext cx="927018" cy="3211656"/>
        </p:xfrm>
        <a:graphic>
          <a:graphicData uri="http://schemas.openxmlformats.org/drawingml/2006/table">
            <a:tbl>
              <a:tblPr/>
              <a:tblGrid>
                <a:gridCol w="347207"/>
                <a:gridCol w="579811"/>
              </a:tblGrid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6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16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17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0" marR="9930" marT="99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54646"/>
              </p:ext>
            </p:extLst>
          </p:nvPr>
        </p:nvGraphicFramePr>
        <p:xfrm>
          <a:off x="4672228" y="796988"/>
          <a:ext cx="845004" cy="3211656"/>
        </p:xfrm>
        <a:graphic>
          <a:graphicData uri="http://schemas.openxmlformats.org/drawingml/2006/table">
            <a:tbl>
              <a:tblPr/>
              <a:tblGrid>
                <a:gridCol w="329402"/>
                <a:gridCol w="515602"/>
              </a:tblGrid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6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16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17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9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932" marR="9932" marT="99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240335"/>
              </p:ext>
            </p:extLst>
          </p:nvPr>
        </p:nvGraphicFramePr>
        <p:xfrm>
          <a:off x="902754" y="796987"/>
          <a:ext cx="985025" cy="3219909"/>
        </p:xfrm>
        <a:graphic>
          <a:graphicData uri="http://schemas.openxmlformats.org/drawingml/2006/table">
            <a:tbl>
              <a:tblPr/>
              <a:tblGrid>
                <a:gridCol w="385462"/>
                <a:gridCol w="599563"/>
              </a:tblGrid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6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16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17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832287"/>
      </p:ext>
    </p:extLst>
  </p:cSld>
  <p:clrMapOvr>
    <a:masterClrMapping/>
  </p:clrMapOvr>
</p:sld>
</file>

<file path=ppt/theme/theme1.xml><?xml version="1.0" encoding="utf-8"?>
<a:theme xmlns:a="http://schemas.openxmlformats.org/drawingml/2006/main" name="1_WS12차_1회_051119">
  <a:themeElements>
    <a:clrScheme name="1_WS12차_1회_05111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WS12차_1회_051119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1_WS12차_1회_05111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S12차_1회_0511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\\기술이론\문제지\WS12차_1회_051119.ppt</Template>
  <TotalTime>5649</TotalTime>
  <Words>3901</Words>
  <Application>Microsoft Office PowerPoint</Application>
  <PresentationFormat>A4 Paper (210x297 mm)</PresentationFormat>
  <Paragraphs>856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1_WS12차_1회_051119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ttc</dc:creator>
  <cp:lastModifiedBy>LGDVH</cp:lastModifiedBy>
  <cp:revision>465</cp:revision>
  <dcterms:created xsi:type="dcterms:W3CDTF">2006-01-07T00:13:15Z</dcterms:created>
  <dcterms:modified xsi:type="dcterms:W3CDTF">2022-03-24T07:56:01Z</dcterms:modified>
</cp:coreProperties>
</file>