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1" r:id="rId2"/>
  </p:sldMasterIdLst>
  <p:notesMasterIdLst>
    <p:notesMasterId r:id="rId197"/>
  </p:notesMasterIdLst>
  <p:handoutMasterIdLst>
    <p:handoutMasterId r:id="rId198"/>
  </p:handoutMasterIdLst>
  <p:sldIdLst>
    <p:sldId id="531" r:id="rId3"/>
    <p:sldId id="1513" r:id="rId4"/>
    <p:sldId id="1514" r:id="rId5"/>
    <p:sldId id="541" r:id="rId6"/>
    <p:sldId id="717" r:id="rId7"/>
    <p:sldId id="1057" r:id="rId8"/>
    <p:sldId id="1058" r:id="rId9"/>
    <p:sldId id="1059" r:id="rId10"/>
    <p:sldId id="1060" r:id="rId11"/>
    <p:sldId id="1064" r:id="rId12"/>
    <p:sldId id="1068" r:id="rId13"/>
    <p:sldId id="1061" r:id="rId14"/>
    <p:sldId id="1069" r:id="rId15"/>
    <p:sldId id="1076" r:id="rId16"/>
    <p:sldId id="1067" r:id="rId17"/>
    <p:sldId id="1062" r:id="rId18"/>
    <p:sldId id="1063" r:id="rId19"/>
    <p:sldId id="1070" r:id="rId20"/>
    <p:sldId id="1065" r:id="rId21"/>
    <p:sldId id="1071" r:id="rId22"/>
    <p:sldId id="1072" r:id="rId23"/>
    <p:sldId id="1073" r:id="rId24"/>
    <p:sldId id="1074" r:id="rId25"/>
    <p:sldId id="1080" r:id="rId26"/>
    <p:sldId id="1075" r:id="rId27"/>
    <p:sldId id="1077" r:id="rId28"/>
    <p:sldId id="1078" r:id="rId29"/>
    <p:sldId id="1066" r:id="rId30"/>
    <p:sldId id="1083" r:id="rId31"/>
    <p:sldId id="1091" r:id="rId32"/>
    <p:sldId id="1092" r:id="rId33"/>
    <p:sldId id="1089" r:id="rId34"/>
    <p:sldId id="1079" r:id="rId35"/>
    <p:sldId id="1082" r:id="rId36"/>
    <p:sldId id="1090" r:id="rId37"/>
    <p:sldId id="1093" r:id="rId38"/>
    <p:sldId id="1084" r:id="rId39"/>
    <p:sldId id="1100" r:id="rId40"/>
    <p:sldId id="1101" r:id="rId41"/>
    <p:sldId id="1102" r:id="rId42"/>
    <p:sldId id="1103" r:id="rId43"/>
    <p:sldId id="1111" r:id="rId44"/>
    <p:sldId id="1104" r:id="rId45"/>
    <p:sldId id="1112" r:id="rId46"/>
    <p:sldId id="1095" r:id="rId47"/>
    <p:sldId id="1105" r:id="rId48"/>
    <p:sldId id="1114" r:id="rId49"/>
    <p:sldId id="1115" r:id="rId50"/>
    <p:sldId id="1116" r:id="rId51"/>
    <p:sldId id="1117" r:id="rId52"/>
    <p:sldId id="1124" r:id="rId53"/>
    <p:sldId id="1118" r:id="rId54"/>
    <p:sldId id="1119" r:id="rId55"/>
    <p:sldId id="1120" r:id="rId56"/>
    <p:sldId id="1121" r:id="rId57"/>
    <p:sldId id="1122" r:id="rId58"/>
    <p:sldId id="1123" r:id="rId59"/>
    <p:sldId id="1113" r:id="rId60"/>
    <p:sldId id="1150" r:id="rId61"/>
    <p:sldId id="1377" r:id="rId62"/>
    <p:sldId id="1378" r:id="rId63"/>
    <p:sldId id="1379" r:id="rId64"/>
    <p:sldId id="1380" r:id="rId65"/>
    <p:sldId id="1381" r:id="rId66"/>
    <p:sldId id="1382" r:id="rId67"/>
    <p:sldId id="1383" r:id="rId68"/>
    <p:sldId id="1384" r:id="rId69"/>
    <p:sldId id="1385" r:id="rId70"/>
    <p:sldId id="1386" r:id="rId71"/>
    <p:sldId id="1387" r:id="rId72"/>
    <p:sldId id="1388" r:id="rId73"/>
    <p:sldId id="1389" r:id="rId74"/>
    <p:sldId id="1390" r:id="rId75"/>
    <p:sldId id="1391" r:id="rId76"/>
    <p:sldId id="1392" r:id="rId77"/>
    <p:sldId id="1401" r:id="rId78"/>
    <p:sldId id="1402" r:id="rId79"/>
    <p:sldId id="1403" r:id="rId80"/>
    <p:sldId id="1404" r:id="rId81"/>
    <p:sldId id="1405" r:id="rId82"/>
    <p:sldId id="1406" r:id="rId83"/>
    <p:sldId id="1407" r:id="rId84"/>
    <p:sldId id="1408" r:id="rId85"/>
    <p:sldId id="1409" r:id="rId86"/>
    <p:sldId id="1410" r:id="rId87"/>
    <p:sldId id="1411" r:id="rId88"/>
    <p:sldId id="1412" r:id="rId89"/>
    <p:sldId id="1413" r:id="rId90"/>
    <p:sldId id="1414" r:id="rId91"/>
    <p:sldId id="1415" r:id="rId92"/>
    <p:sldId id="1416" r:id="rId93"/>
    <p:sldId id="1417" r:id="rId94"/>
    <p:sldId id="1418" r:id="rId95"/>
    <p:sldId id="1419" r:id="rId96"/>
    <p:sldId id="1420" r:id="rId97"/>
    <p:sldId id="1421" r:id="rId98"/>
    <p:sldId id="1422" r:id="rId99"/>
    <p:sldId id="1423" r:id="rId100"/>
    <p:sldId id="1424" r:id="rId101"/>
    <p:sldId id="1425" r:id="rId102"/>
    <p:sldId id="1426" r:id="rId103"/>
    <p:sldId id="1427" r:id="rId104"/>
    <p:sldId id="1428" r:id="rId105"/>
    <p:sldId id="1429" r:id="rId106"/>
    <p:sldId id="1430" r:id="rId107"/>
    <p:sldId id="1431" r:id="rId108"/>
    <p:sldId id="1432" r:id="rId109"/>
    <p:sldId id="1433" r:id="rId110"/>
    <p:sldId id="1434" r:id="rId111"/>
    <p:sldId id="1435" r:id="rId112"/>
    <p:sldId id="1436" r:id="rId113"/>
    <p:sldId id="1437" r:id="rId114"/>
    <p:sldId id="1438" r:id="rId115"/>
    <p:sldId id="1439" r:id="rId116"/>
    <p:sldId id="1440" r:id="rId117"/>
    <p:sldId id="1441" r:id="rId118"/>
    <p:sldId id="1442" r:id="rId119"/>
    <p:sldId id="1443" r:id="rId120"/>
    <p:sldId id="1444" r:id="rId121"/>
    <p:sldId id="1445" r:id="rId122"/>
    <p:sldId id="1446" r:id="rId123"/>
    <p:sldId id="1447" r:id="rId124"/>
    <p:sldId id="1448" r:id="rId125"/>
    <p:sldId id="1449" r:id="rId126"/>
    <p:sldId id="1450" r:id="rId127"/>
    <p:sldId id="1451" r:id="rId128"/>
    <p:sldId id="1452" r:id="rId129"/>
    <p:sldId id="1453" r:id="rId130"/>
    <p:sldId id="1454" r:id="rId131"/>
    <p:sldId id="1455" r:id="rId132"/>
    <p:sldId id="1456" r:id="rId133"/>
    <p:sldId id="1457" r:id="rId134"/>
    <p:sldId id="1458" r:id="rId135"/>
    <p:sldId id="1459" r:id="rId136"/>
    <p:sldId id="1460" r:id="rId137"/>
    <p:sldId id="1461" r:id="rId138"/>
    <p:sldId id="1462" r:id="rId139"/>
    <p:sldId id="1463" r:id="rId140"/>
    <p:sldId id="1464" r:id="rId141"/>
    <p:sldId id="1465" r:id="rId142"/>
    <p:sldId id="1466" r:id="rId143"/>
    <p:sldId id="1467" r:id="rId144"/>
    <p:sldId id="1468" r:id="rId145"/>
    <p:sldId id="1469" r:id="rId146"/>
    <p:sldId id="1470" r:id="rId147"/>
    <p:sldId id="1471" r:id="rId148"/>
    <p:sldId id="1472" r:id="rId149"/>
    <p:sldId id="1473" r:id="rId150"/>
    <p:sldId id="1474" r:id="rId151"/>
    <p:sldId id="1475" r:id="rId152"/>
    <p:sldId id="1476" r:id="rId153"/>
    <p:sldId id="1477" r:id="rId154"/>
    <p:sldId id="1478" r:id="rId155"/>
    <p:sldId id="1479" r:id="rId156"/>
    <p:sldId id="1480" r:id="rId157"/>
    <p:sldId id="1481" r:id="rId158"/>
    <p:sldId id="1483" r:id="rId159"/>
    <p:sldId id="1484" r:id="rId160"/>
    <p:sldId id="1485" r:id="rId161"/>
    <p:sldId id="1486" r:id="rId162"/>
    <p:sldId id="1487" r:id="rId163"/>
    <p:sldId id="1488" r:id="rId164"/>
    <p:sldId id="1489" r:id="rId165"/>
    <p:sldId id="1490" r:id="rId166"/>
    <p:sldId id="1491" r:id="rId167"/>
    <p:sldId id="1492" r:id="rId168"/>
    <p:sldId id="1493" r:id="rId169"/>
    <p:sldId id="1494" r:id="rId170"/>
    <p:sldId id="1495" r:id="rId171"/>
    <p:sldId id="1496" r:id="rId172"/>
    <p:sldId id="1497" r:id="rId173"/>
    <p:sldId id="1498" r:id="rId174"/>
    <p:sldId id="1499" r:id="rId175"/>
    <p:sldId id="1500" r:id="rId176"/>
    <p:sldId id="1501" r:id="rId177"/>
    <p:sldId id="1502" r:id="rId178"/>
    <p:sldId id="1503" r:id="rId179"/>
    <p:sldId id="1504" r:id="rId180"/>
    <p:sldId id="1505" r:id="rId181"/>
    <p:sldId id="1506" r:id="rId182"/>
    <p:sldId id="1507" r:id="rId183"/>
    <p:sldId id="1508" r:id="rId184"/>
    <p:sldId id="1509" r:id="rId185"/>
    <p:sldId id="1510" r:id="rId186"/>
    <p:sldId id="1511" r:id="rId187"/>
    <p:sldId id="1482" r:id="rId188"/>
    <p:sldId id="1393" r:id="rId189"/>
    <p:sldId id="1394" r:id="rId190"/>
    <p:sldId id="1395" r:id="rId191"/>
    <p:sldId id="1396" r:id="rId192"/>
    <p:sldId id="1397" r:id="rId193"/>
    <p:sldId id="1398" r:id="rId194"/>
    <p:sldId id="1399" r:id="rId195"/>
    <p:sldId id="1512" r:id="rId196"/>
  </p:sldIdLst>
  <p:sldSz cx="9144000" cy="6858000" type="screen4x3"/>
  <p:notesSz cx="6858000" cy="9144000"/>
  <p:defaultTextStyle>
    <a:defPPr>
      <a:defRPr lang="ko-KR"/>
    </a:defPPr>
    <a:lvl1pPr algn="l" rtl="0" fontAlgn="base">
      <a:lnSpc>
        <a:spcPct val="120000"/>
      </a:lnSpc>
      <a:spcBef>
        <a:spcPct val="0"/>
      </a:spcBef>
      <a:spcAft>
        <a:spcPct val="0"/>
      </a:spcAft>
      <a:defRPr kumimoji="1" sz="1200" kern="1200">
        <a:solidFill>
          <a:schemeClr val="tx1"/>
        </a:solidFill>
        <a:latin typeface="굴림" pitchFamily="50" charset="-127"/>
        <a:ea typeface="굴림" pitchFamily="50" charset="-127"/>
        <a:cs typeface="+mn-cs"/>
      </a:defRPr>
    </a:lvl1pPr>
    <a:lvl2pPr marL="457200" algn="l" rtl="0" fontAlgn="base">
      <a:lnSpc>
        <a:spcPct val="120000"/>
      </a:lnSpc>
      <a:spcBef>
        <a:spcPct val="0"/>
      </a:spcBef>
      <a:spcAft>
        <a:spcPct val="0"/>
      </a:spcAft>
      <a:defRPr kumimoji="1" sz="1200" kern="1200">
        <a:solidFill>
          <a:schemeClr val="tx1"/>
        </a:solidFill>
        <a:latin typeface="굴림" pitchFamily="50" charset="-127"/>
        <a:ea typeface="굴림" pitchFamily="50" charset="-127"/>
        <a:cs typeface="+mn-cs"/>
      </a:defRPr>
    </a:lvl2pPr>
    <a:lvl3pPr marL="914400" algn="l" rtl="0" fontAlgn="base">
      <a:lnSpc>
        <a:spcPct val="120000"/>
      </a:lnSpc>
      <a:spcBef>
        <a:spcPct val="0"/>
      </a:spcBef>
      <a:spcAft>
        <a:spcPct val="0"/>
      </a:spcAft>
      <a:defRPr kumimoji="1" sz="1200" kern="1200">
        <a:solidFill>
          <a:schemeClr val="tx1"/>
        </a:solidFill>
        <a:latin typeface="굴림" pitchFamily="50" charset="-127"/>
        <a:ea typeface="굴림" pitchFamily="50" charset="-127"/>
        <a:cs typeface="+mn-cs"/>
      </a:defRPr>
    </a:lvl3pPr>
    <a:lvl4pPr marL="1371600" algn="l" rtl="0" fontAlgn="base">
      <a:lnSpc>
        <a:spcPct val="120000"/>
      </a:lnSpc>
      <a:spcBef>
        <a:spcPct val="0"/>
      </a:spcBef>
      <a:spcAft>
        <a:spcPct val="0"/>
      </a:spcAft>
      <a:defRPr kumimoji="1" sz="1200" kern="1200">
        <a:solidFill>
          <a:schemeClr val="tx1"/>
        </a:solidFill>
        <a:latin typeface="굴림" pitchFamily="50" charset="-127"/>
        <a:ea typeface="굴림" pitchFamily="50" charset="-127"/>
        <a:cs typeface="+mn-cs"/>
      </a:defRPr>
    </a:lvl4pPr>
    <a:lvl5pPr marL="1828800" algn="l" rtl="0" fontAlgn="base">
      <a:lnSpc>
        <a:spcPct val="120000"/>
      </a:lnSpc>
      <a:spcBef>
        <a:spcPct val="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kumimoji="1" sz="1200" kern="1200">
        <a:solidFill>
          <a:schemeClr val="tx1"/>
        </a:solidFill>
        <a:latin typeface="굴림" pitchFamily="50" charset="-127"/>
        <a:ea typeface="굴림" pitchFamily="50" charset="-127"/>
        <a:cs typeface="+mn-cs"/>
      </a:defRPr>
    </a:lvl6pPr>
    <a:lvl7pPr marL="2743200" algn="l" defTabSz="914400" rtl="0" eaLnBrk="1" latinLnBrk="1" hangingPunct="1">
      <a:defRPr kumimoji="1" sz="1200" kern="1200">
        <a:solidFill>
          <a:schemeClr val="tx1"/>
        </a:solidFill>
        <a:latin typeface="굴림" pitchFamily="50" charset="-127"/>
        <a:ea typeface="굴림" pitchFamily="50" charset="-127"/>
        <a:cs typeface="+mn-cs"/>
      </a:defRPr>
    </a:lvl7pPr>
    <a:lvl8pPr marL="3200400" algn="l" defTabSz="914400" rtl="0" eaLnBrk="1" latinLnBrk="1" hangingPunct="1">
      <a:defRPr kumimoji="1" sz="1200" kern="1200">
        <a:solidFill>
          <a:schemeClr val="tx1"/>
        </a:solidFill>
        <a:latin typeface="굴림" pitchFamily="50" charset="-127"/>
        <a:ea typeface="굴림" pitchFamily="50" charset="-127"/>
        <a:cs typeface="+mn-cs"/>
      </a:defRPr>
    </a:lvl8pPr>
    <a:lvl9pPr marL="3657600" algn="l" defTabSz="914400" rtl="0" eaLnBrk="1" latinLnBrk="1" hangingPunct="1">
      <a:defRPr kumimoji="1" sz="1200" kern="1200">
        <a:solidFill>
          <a:schemeClr val="tx1"/>
        </a:solidFill>
        <a:latin typeface="굴림" pitchFamily="50" charset="-127"/>
        <a:ea typeface="굴림" pitchFamily="50"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66FF"/>
    <a:srgbClr val="99FF33"/>
    <a:srgbClr val="FF0000"/>
    <a:srgbClr val="F8F8F8"/>
    <a:srgbClr val="DDDDDD"/>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99" autoAdjust="0"/>
    <p:restoredTop sz="96552" autoAdjust="0"/>
  </p:normalViewPr>
  <p:slideViewPr>
    <p:cSldViewPr showGuides="1">
      <p:cViewPr>
        <p:scale>
          <a:sx n="100" d="100"/>
          <a:sy n="100" d="100"/>
        </p:scale>
        <p:origin x="-2442" y="-372"/>
      </p:cViewPr>
      <p:guideLst>
        <p:guide orient="horz" pos="4110"/>
        <p:guide pos="2880"/>
        <p:guide pos="5602"/>
        <p:guide pos="15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1470" y="36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96" Type="http://schemas.openxmlformats.org/officeDocument/2006/relationships/slide" Target="slides/slide194.xml"/><Relationship Id="rId200"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slide" Target="slides/slide179.xml"/><Relationship Id="rId186" Type="http://schemas.openxmlformats.org/officeDocument/2006/relationships/slide" Target="slides/slide184.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notesMaster" Target="notesMasters/notesMaster1.xml"/><Relationship Id="rId201" Type="http://schemas.openxmlformats.org/officeDocument/2006/relationships/theme" Target="theme/theme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handoutMaster" Target="handoutMasters/handoutMaster1.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latinLnBrk="1">
              <a:lnSpc>
                <a:spcPct val="100000"/>
              </a:lnSpc>
              <a:defRPr>
                <a:latin typeface="굴림" pitchFamily="50" charset="-127"/>
                <a:ea typeface="굴림" pitchFamily="50" charset="-127"/>
              </a:defRPr>
            </a:lvl1pPr>
          </a:lstStyle>
          <a:p>
            <a:pPr>
              <a:defRPr/>
            </a:pPr>
            <a:endParaRPr lang="en-US" altLang="ko-KR"/>
          </a:p>
        </p:txBody>
      </p:sp>
      <p:sp>
        <p:nvSpPr>
          <p:cNvPr id="1229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latinLnBrk="1">
              <a:lnSpc>
                <a:spcPct val="100000"/>
              </a:lnSpc>
              <a:defRPr>
                <a:latin typeface="굴림" pitchFamily="50" charset="-127"/>
                <a:ea typeface="굴림" pitchFamily="50" charset="-127"/>
              </a:defRPr>
            </a:lvl1pPr>
          </a:lstStyle>
          <a:p>
            <a:pPr>
              <a:defRPr/>
            </a:pPr>
            <a:endParaRPr lang="en-US" altLang="ko-KR"/>
          </a:p>
        </p:txBody>
      </p:sp>
      <p:sp>
        <p:nvSpPr>
          <p:cNvPr id="1229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latinLnBrk="1">
              <a:lnSpc>
                <a:spcPct val="100000"/>
              </a:lnSpc>
              <a:defRPr>
                <a:latin typeface="굴림" pitchFamily="50" charset="-127"/>
                <a:ea typeface="굴림" pitchFamily="50" charset="-127"/>
              </a:defRPr>
            </a:lvl1pPr>
          </a:lstStyle>
          <a:p>
            <a:pPr>
              <a:defRPr/>
            </a:pPr>
            <a:endParaRPr lang="en-US" altLang="ko-KR"/>
          </a:p>
        </p:txBody>
      </p:sp>
      <p:sp>
        <p:nvSpPr>
          <p:cNvPr id="1229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latinLnBrk="1">
              <a:lnSpc>
                <a:spcPct val="100000"/>
              </a:lnSpc>
              <a:defRPr>
                <a:latin typeface="굴림" pitchFamily="50" charset="-127"/>
                <a:ea typeface="굴림" pitchFamily="50" charset="-127"/>
              </a:defRPr>
            </a:lvl1pPr>
          </a:lstStyle>
          <a:p>
            <a:pPr>
              <a:defRPr/>
            </a:pPr>
            <a:fld id="{AA5B6FC2-9499-4491-A260-4C27F5FAD711}" type="slidenum">
              <a:rPr lang="en-US" altLang="ko-KR"/>
              <a:pPr>
                <a:defRPr/>
              </a:pPr>
              <a:t>‹#›</a:t>
            </a:fld>
            <a:endParaRPr lang="en-US" altLang="ko-KR"/>
          </a:p>
        </p:txBody>
      </p:sp>
    </p:spTree>
    <p:extLst>
      <p:ext uri="{BB962C8B-B14F-4D97-AF65-F5344CB8AC3E}">
        <p14:creationId xmlns:p14="http://schemas.microsoft.com/office/powerpoint/2010/main" val="18786683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10000"/>
              </a:lnSpc>
              <a:defRPr b="1">
                <a:solidFill>
                  <a:srgbClr val="000000"/>
                </a:solidFill>
                <a:latin typeface="굴림" pitchFamily="50" charset="-127"/>
                <a:ea typeface="굴림" pitchFamily="50" charset="-127"/>
              </a:defRPr>
            </a:lvl1pPr>
          </a:lstStyle>
          <a:p>
            <a:pPr>
              <a:defRPr/>
            </a:pPr>
            <a:endParaRPr lang="en-US" altLang="ko-KR"/>
          </a:p>
        </p:txBody>
      </p:sp>
      <p:sp>
        <p:nvSpPr>
          <p:cNvPr id="96259" name="Rectangle 1027"/>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10000"/>
              </a:lnSpc>
              <a:defRPr b="1">
                <a:solidFill>
                  <a:srgbClr val="000000"/>
                </a:solidFill>
                <a:latin typeface="굴림" pitchFamily="50" charset="-127"/>
                <a:ea typeface="굴림" pitchFamily="50" charset="-127"/>
              </a:defRPr>
            </a:lvl1pPr>
          </a:lstStyle>
          <a:p>
            <a:pPr>
              <a:defRPr/>
            </a:pPr>
            <a:endParaRPr lang="en-US" altLang="ko-KR"/>
          </a:p>
        </p:txBody>
      </p:sp>
      <p:sp>
        <p:nvSpPr>
          <p:cNvPr id="204804"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61" name="Rectangle 1029"/>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96262" name="Rectangle 1030"/>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10000"/>
              </a:lnSpc>
              <a:defRPr b="1">
                <a:solidFill>
                  <a:srgbClr val="000000"/>
                </a:solidFill>
                <a:latin typeface="굴림" pitchFamily="50" charset="-127"/>
                <a:ea typeface="굴림" pitchFamily="50" charset="-127"/>
              </a:defRPr>
            </a:lvl1pPr>
          </a:lstStyle>
          <a:p>
            <a:pPr>
              <a:defRPr/>
            </a:pPr>
            <a:endParaRPr lang="en-US" altLang="ko-KR"/>
          </a:p>
        </p:txBody>
      </p:sp>
      <p:sp>
        <p:nvSpPr>
          <p:cNvPr id="96263" name="Rectangle 1031"/>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10000"/>
              </a:lnSpc>
              <a:defRPr b="1">
                <a:solidFill>
                  <a:srgbClr val="000000"/>
                </a:solidFill>
                <a:latin typeface="굴림" pitchFamily="50" charset="-127"/>
                <a:ea typeface="굴림" pitchFamily="50" charset="-127"/>
              </a:defRPr>
            </a:lvl1pPr>
          </a:lstStyle>
          <a:p>
            <a:pPr>
              <a:defRPr/>
            </a:pPr>
            <a:fld id="{364F4BD9-423C-4CB5-8EF3-600798001E5E}" type="slidenum">
              <a:rPr lang="en-US" altLang="ko-KR"/>
              <a:pPr>
                <a:defRPr/>
              </a:pPr>
              <a:t>‹#›</a:t>
            </a:fld>
            <a:endParaRPr lang="en-US" altLang="ko-KR"/>
          </a:p>
        </p:txBody>
      </p:sp>
    </p:spTree>
    <p:extLst>
      <p:ext uri="{BB962C8B-B14F-4D97-AF65-F5344CB8AC3E}">
        <p14:creationId xmlns:p14="http://schemas.microsoft.com/office/powerpoint/2010/main" val="2625799603"/>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91D97D5-D995-40EE-A5E2-4CE0D6AAE2E3}" type="slidenum">
              <a:rPr lang="en-US" altLang="ko-KR" smtClean="0">
                <a:solidFill>
                  <a:srgbClr val="000000"/>
                </a:solidFill>
              </a:rPr>
              <a:pPr eaLnBrk="1" latinLnBrk="0" hangingPunct="1">
                <a:spcBef>
                  <a:spcPct val="0"/>
                </a:spcBef>
              </a:pPr>
              <a:t>5</a:t>
            </a:fld>
            <a:endParaRPr lang="en-US" altLang="ko-KR" smtClean="0">
              <a:solidFill>
                <a:srgbClr val="000000"/>
              </a:solidFill>
            </a:endParaRPr>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F4AB607-18F2-4B9A-A7FC-A1E8D3B37766}" type="slidenum">
              <a:rPr lang="en-US" altLang="ko-KR" smtClean="0">
                <a:solidFill>
                  <a:srgbClr val="000000"/>
                </a:solidFill>
              </a:rPr>
              <a:pPr eaLnBrk="1" latinLnBrk="0" hangingPunct="1">
                <a:spcBef>
                  <a:spcPct val="0"/>
                </a:spcBef>
              </a:pPr>
              <a:t>6</a:t>
            </a:fld>
            <a:endParaRPr lang="en-US" altLang="ko-KR" smtClean="0">
              <a:solidFill>
                <a:srgbClr val="000000"/>
              </a:solidFill>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r>
              <a:rPr lang="en-US" altLang="ko-KR" smtClean="0"/>
              <a:t>1. </a:t>
            </a:r>
            <a:r>
              <a:rPr lang="ko-KR" altLang="en-US" smtClean="0"/>
              <a:t>도체</a:t>
            </a:r>
            <a:r>
              <a:rPr lang="en-US" altLang="ko-KR" smtClean="0"/>
              <a:t>, </a:t>
            </a:r>
            <a:r>
              <a:rPr lang="ko-KR" altLang="en-US" smtClean="0"/>
              <a:t>부도체</a:t>
            </a:r>
            <a:r>
              <a:rPr lang="en-US" altLang="ko-KR" smtClean="0"/>
              <a:t>, </a:t>
            </a:r>
            <a:r>
              <a:rPr lang="ko-KR" altLang="en-US" smtClean="0"/>
              <a:t>반도체의 전기적 특징</a:t>
            </a:r>
          </a:p>
          <a:p>
            <a:pPr eaLnBrk="1" hangingPunct="1"/>
            <a:r>
              <a:rPr lang="en-US" altLang="ko-KR" smtClean="0"/>
              <a:t>2. </a:t>
            </a:r>
            <a:r>
              <a:rPr lang="ko-KR" altLang="en-US" smtClean="0"/>
              <a:t>자유전자의 양에 따른 물질의 특징 및 종류에 대해 설명</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B09C17F-1516-41F9-A29F-1AE4D4E43895}" type="slidenum">
              <a:rPr lang="en-US" altLang="ko-KR" smtClean="0">
                <a:solidFill>
                  <a:srgbClr val="000000"/>
                </a:solidFill>
              </a:rPr>
              <a:pPr eaLnBrk="1" latinLnBrk="0" hangingPunct="1">
                <a:spcBef>
                  <a:spcPct val="0"/>
                </a:spcBef>
              </a:pPr>
              <a:t>7</a:t>
            </a:fld>
            <a:endParaRPr lang="en-US" altLang="ko-KR" smtClean="0">
              <a:solidFill>
                <a:srgbClr val="000000"/>
              </a:solidFill>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r>
              <a:rPr lang="en-US" altLang="ko-KR" smtClean="0"/>
              <a:t>3. </a:t>
            </a:r>
            <a:r>
              <a:rPr lang="ko-KR" altLang="en-US" smtClean="0"/>
              <a:t>원자는 원자핵과 전자로 구성되며</a:t>
            </a:r>
            <a:r>
              <a:rPr lang="en-US" altLang="ko-KR" smtClean="0"/>
              <a:t>, </a:t>
            </a:r>
            <a:r>
              <a:rPr lang="ko-KR" altLang="en-US" smtClean="0"/>
              <a:t>원자핵은 중성자와 양성자로 구성된다</a:t>
            </a:r>
            <a:r>
              <a:rPr lang="en-US" altLang="ko-KR"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AB7ECCA-3B75-4471-8ED4-B9DF08AF3E96}" type="slidenum">
              <a:rPr lang="en-US" altLang="ko-KR" smtClean="0">
                <a:solidFill>
                  <a:srgbClr val="000000"/>
                </a:solidFill>
              </a:rPr>
              <a:pPr eaLnBrk="1" latinLnBrk="0" hangingPunct="1">
                <a:spcBef>
                  <a:spcPct val="0"/>
                </a:spcBef>
              </a:pPr>
              <a:t>8</a:t>
            </a:fld>
            <a:endParaRPr lang="en-US" altLang="ko-KR" smtClean="0">
              <a:solidFill>
                <a:srgbClr val="000000"/>
              </a:solidFill>
            </a:endParaRPr>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p:spPr>
        <p:txBody>
          <a:bodyPr/>
          <a:lstStyle/>
          <a:p>
            <a:pPr eaLnBrk="1" hangingPunct="1"/>
            <a:r>
              <a:rPr lang="en-US" altLang="ko-KR" smtClean="0"/>
              <a:t>4. </a:t>
            </a:r>
            <a:r>
              <a:rPr lang="ko-KR" altLang="en-US" smtClean="0"/>
              <a:t>원자의 최외각에 존재하는 전자를 가전자라 한다</a:t>
            </a:r>
            <a:r>
              <a:rPr lang="en-US" altLang="ko-KR" smtClean="0"/>
              <a:t>.</a:t>
            </a:r>
          </a:p>
          <a:p>
            <a:pPr eaLnBrk="1" hangingPunct="1"/>
            <a:r>
              <a:rPr lang="en-US" altLang="ko-KR" smtClean="0"/>
              <a:t>5. </a:t>
            </a:r>
            <a:r>
              <a:rPr lang="ko-KR" altLang="en-US" smtClean="0"/>
              <a:t>원자핵 주위에 전자는 일정한 궤도를 따라 돌고있다</a:t>
            </a:r>
            <a:r>
              <a:rPr lang="en-US" altLang="ko-KR" smtClean="0"/>
              <a:t>. </a:t>
            </a:r>
            <a:r>
              <a:rPr lang="ko-KR" altLang="en-US" smtClean="0"/>
              <a:t>이러한 궤도를 전자각이라 한다</a:t>
            </a:r>
            <a:r>
              <a:rPr lang="en-US" altLang="ko-KR" smtClean="0"/>
              <a:t>.</a:t>
            </a:r>
          </a:p>
          <a:p>
            <a:pPr eaLnBrk="1" hangingPunct="1"/>
            <a:r>
              <a:rPr lang="en-US" altLang="ko-KR" smtClean="0"/>
              <a:t>6. </a:t>
            </a:r>
            <a:r>
              <a:rPr lang="ko-KR" altLang="en-US" smtClean="0"/>
              <a:t>자유전자란 가전자가 에너지를 얻어 원자의 구속으로부터 이탈된 전자이다</a:t>
            </a:r>
            <a:r>
              <a:rPr lang="en-US" altLang="ko-KR" smtClean="0"/>
              <a:t>.</a:t>
            </a:r>
          </a:p>
          <a:p>
            <a:pPr eaLnBrk="1" hangingPunct="1"/>
            <a:r>
              <a:rPr lang="en-US" altLang="ko-KR" smtClean="0"/>
              <a:t>7. </a:t>
            </a:r>
            <a:r>
              <a:rPr lang="ko-KR" altLang="en-US" smtClean="0"/>
              <a:t>자유전자의 많고 적음에 따라 </a:t>
            </a:r>
            <a:r>
              <a:rPr lang="en-US" altLang="ko-KR" smtClean="0"/>
              <a:t>(+),(-)</a:t>
            </a:r>
            <a:r>
              <a:rPr lang="ko-KR" altLang="en-US" smtClean="0"/>
              <a:t>의 전기적</a:t>
            </a:r>
            <a:endParaRPr lang="ko-KR" altLang="ko-KR" smtClean="0"/>
          </a:p>
          <a:p>
            <a:pPr eaLnBrk="1" hangingPunct="1"/>
            <a:endParaRPr lang="ko-KR" altLang="ko-KR" smtClean="0"/>
          </a:p>
          <a:p>
            <a:pPr eaLnBrk="1" hangingPunct="1"/>
            <a:endParaRPr lang="ko-KR" altLang="ko-K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E14A47D-A5C2-4EE6-A9F5-1436AF378B8E}" type="slidenum">
              <a:rPr lang="en-US" altLang="ko-KR" smtClean="0">
                <a:solidFill>
                  <a:srgbClr val="000000"/>
                </a:solidFill>
              </a:rPr>
              <a:pPr eaLnBrk="1" latinLnBrk="0" hangingPunct="1">
                <a:spcBef>
                  <a:spcPct val="0"/>
                </a:spcBef>
              </a:pPr>
              <a:t>9</a:t>
            </a:fld>
            <a:endParaRPr lang="en-US" altLang="ko-KR" smtClean="0">
              <a:solidFill>
                <a:srgbClr val="000000"/>
              </a:solidFill>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4B3FB16-1C55-41CD-B6AC-967397BB5D45}" type="slidenum">
              <a:rPr lang="en-US" altLang="ko-KR" smtClean="0">
                <a:solidFill>
                  <a:srgbClr val="000000"/>
                </a:solidFill>
              </a:rPr>
              <a:pPr eaLnBrk="1" latinLnBrk="0" hangingPunct="1">
                <a:spcBef>
                  <a:spcPct val="0"/>
                </a:spcBef>
              </a:pPr>
              <a:t>10</a:t>
            </a:fld>
            <a:endParaRPr lang="en-US" altLang="ko-KR" smtClean="0">
              <a:solidFill>
                <a:srgbClr val="000000"/>
              </a:solidFill>
            </a:endParaRPr>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p:spPr>
        <p:txBody>
          <a:bodyPr/>
          <a:lstStyle/>
          <a:p>
            <a:pPr eaLnBrk="1" hangingPunct="1"/>
            <a:r>
              <a:rPr lang="en-US" altLang="ko-KR" smtClean="0"/>
              <a:t>1. </a:t>
            </a:r>
            <a:r>
              <a:rPr lang="ko-KR" altLang="en-US" smtClean="0"/>
              <a:t>여기란 궤도의 전자가 에너지를 얻어서 더 높은 궤도로 이동하는것</a:t>
            </a:r>
            <a:r>
              <a:rPr lang="en-US" altLang="ko-KR" smtClean="0"/>
              <a:t>. (</a:t>
            </a:r>
            <a:r>
              <a:rPr lang="ko-KR" altLang="en-US" smtClean="0"/>
              <a:t>에너지 준위 상승</a:t>
            </a:r>
            <a:r>
              <a:rPr lang="en-US" altLang="ko-KR" smtClean="0"/>
              <a:t>)</a:t>
            </a:r>
          </a:p>
          <a:p>
            <a:pPr eaLnBrk="1" hangingPunct="1"/>
            <a:r>
              <a:rPr lang="en-US" altLang="ko-KR" smtClean="0"/>
              <a:t>2. </a:t>
            </a:r>
            <a:r>
              <a:rPr lang="ko-KR" altLang="en-US" smtClean="0"/>
              <a:t>이온화</a:t>
            </a:r>
            <a:r>
              <a:rPr lang="en-US" altLang="ko-KR" smtClean="0"/>
              <a:t>(</a:t>
            </a:r>
            <a:r>
              <a:rPr lang="ko-KR" altLang="en-US" smtClean="0"/>
              <a:t>전리</a:t>
            </a:r>
            <a:r>
              <a:rPr lang="en-US" altLang="ko-KR" smtClean="0"/>
              <a:t>)</a:t>
            </a:r>
            <a:r>
              <a:rPr lang="ko-KR" altLang="en-US" smtClean="0"/>
              <a:t>란 궤도의 전자가 에너지를 얻어서 자유전자가 되는것</a:t>
            </a:r>
            <a:r>
              <a:rPr lang="en-US" altLang="ko-KR" smtClean="0"/>
              <a:t>.</a:t>
            </a:r>
          </a:p>
          <a:p>
            <a:pPr eaLnBrk="1" hangingPunct="1"/>
            <a:r>
              <a:rPr lang="en-US" altLang="ko-KR" smtClean="0"/>
              <a:t>3. </a:t>
            </a:r>
            <a:r>
              <a:rPr lang="ko-KR" altLang="en-US" smtClean="0"/>
              <a:t>전자기파 방사란 자유전자나 상위궤도의 전자가 궤도로 복귀하거나</a:t>
            </a:r>
            <a:r>
              <a:rPr lang="en-US" altLang="ko-KR" smtClean="0"/>
              <a:t>, </a:t>
            </a:r>
            <a:r>
              <a:rPr lang="ko-KR" altLang="en-US" smtClean="0"/>
              <a:t>낮은 궤도로 떨어질때 에너지를 공간 방사</a:t>
            </a:r>
            <a:r>
              <a:rPr lang="en-US" altLang="ko-KR" smtClean="0"/>
              <a:t>(</a:t>
            </a:r>
            <a:r>
              <a:rPr lang="ko-KR" altLang="en-US" smtClean="0"/>
              <a:t>빛</a:t>
            </a:r>
            <a:r>
              <a:rPr lang="en-US" altLang="ko-KR" smtClean="0"/>
              <a:t>, </a:t>
            </a:r>
            <a:r>
              <a:rPr lang="ko-KR" altLang="en-US" smtClean="0"/>
              <a:t>열</a:t>
            </a:r>
            <a:r>
              <a:rPr lang="en-US" altLang="ko-KR" smtClean="0"/>
              <a:t>)</a:t>
            </a:r>
            <a:endParaRPr lang="ko-KR" altLang="ko-K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9C8FC37-E497-45B9-8AAB-B29D8BED2FF1}" type="slidenum">
              <a:rPr lang="en-US" altLang="ko-KR" smtClean="0">
                <a:solidFill>
                  <a:srgbClr val="000000"/>
                </a:solidFill>
              </a:rPr>
              <a:pPr eaLnBrk="1" latinLnBrk="0" hangingPunct="1">
                <a:spcBef>
                  <a:spcPct val="0"/>
                </a:spcBef>
              </a:pPr>
              <a:t>11</a:t>
            </a:fld>
            <a:endParaRPr lang="en-US" altLang="ko-KR" smtClean="0">
              <a:solidFill>
                <a:srgbClr val="000000"/>
              </a:solidFill>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p:spPr>
        <p:txBody>
          <a:bodyPr/>
          <a:lstStyle/>
          <a:p>
            <a:pPr eaLnBrk="1" hangingPunct="1"/>
            <a:r>
              <a:rPr lang="en-US" altLang="ko-KR" smtClean="0"/>
              <a:t>1. </a:t>
            </a:r>
            <a:r>
              <a:rPr lang="ko-KR" altLang="en-US" smtClean="0"/>
              <a:t>제</a:t>
            </a:r>
            <a:r>
              <a:rPr lang="en-US" altLang="ko-KR" smtClean="0"/>
              <a:t>1</a:t>
            </a:r>
            <a:r>
              <a:rPr lang="ko-KR" altLang="en-US" smtClean="0"/>
              <a:t>장벽 </a:t>
            </a:r>
            <a:r>
              <a:rPr lang="en-US" altLang="ko-KR" smtClean="0"/>
              <a:t>: </a:t>
            </a:r>
            <a:r>
              <a:rPr lang="ko-KR" altLang="en-US" smtClean="0"/>
              <a:t>원자의 구속부터 탈출하는데 필요한 에너지</a:t>
            </a:r>
          </a:p>
          <a:p>
            <a:pPr eaLnBrk="1" hangingPunct="1"/>
            <a:r>
              <a:rPr lang="en-US" altLang="ko-KR" smtClean="0"/>
              <a:t>2. </a:t>
            </a:r>
            <a:r>
              <a:rPr lang="ko-KR" altLang="en-US" smtClean="0"/>
              <a:t>제</a:t>
            </a:r>
            <a:r>
              <a:rPr lang="en-US" altLang="ko-KR" smtClean="0"/>
              <a:t>2</a:t>
            </a:r>
            <a:r>
              <a:rPr lang="ko-KR" altLang="en-US" smtClean="0"/>
              <a:t>장벽 </a:t>
            </a:r>
            <a:r>
              <a:rPr lang="en-US" altLang="ko-KR" smtClean="0"/>
              <a:t>: </a:t>
            </a:r>
            <a:r>
              <a:rPr lang="ko-KR" altLang="en-US" smtClean="0"/>
              <a:t>양전하의 정전력을 이탈하는데 필요한 에너지 → 전도전자</a:t>
            </a:r>
          </a:p>
          <a:p>
            <a:pPr eaLnBrk="1" hangingPunct="1"/>
            <a:r>
              <a:rPr lang="en-US" altLang="ko-KR" smtClean="0"/>
              <a:t>3. </a:t>
            </a:r>
            <a:r>
              <a:rPr lang="ko-KR" altLang="en-US" smtClean="0"/>
              <a:t>페르미 준위 </a:t>
            </a:r>
            <a:r>
              <a:rPr lang="en-US" altLang="ko-KR" smtClean="0"/>
              <a:t>: </a:t>
            </a:r>
            <a:r>
              <a:rPr lang="ko-KR" altLang="en-US" smtClean="0"/>
              <a:t>가전자의 에너지 준위</a:t>
            </a:r>
            <a:r>
              <a:rPr lang="en-US" altLang="ko-KR" smtClean="0"/>
              <a:t>. (</a:t>
            </a:r>
            <a:r>
              <a:rPr lang="ko-KR" altLang="en-US" smtClean="0"/>
              <a:t>최외각 전자의 에너지 높이</a:t>
            </a:r>
            <a:r>
              <a:rPr lang="en-US" altLang="ko-KR" smtClean="0"/>
              <a:t>)</a:t>
            </a:r>
          </a:p>
          <a:p>
            <a:pPr eaLnBrk="1" hangingPunct="1"/>
            <a:r>
              <a:rPr lang="en-US" altLang="ko-KR" smtClean="0"/>
              <a:t>4. </a:t>
            </a:r>
            <a:r>
              <a:rPr lang="ko-KR" altLang="en-US" smtClean="0"/>
              <a:t>기저 준위 </a:t>
            </a:r>
            <a:r>
              <a:rPr lang="en-US" altLang="ko-KR" smtClean="0"/>
              <a:t>: K</a:t>
            </a:r>
            <a:r>
              <a:rPr lang="ko-KR" altLang="en-US" smtClean="0"/>
              <a:t>각 의 에너지 준위</a:t>
            </a:r>
            <a:r>
              <a:rPr lang="en-US" altLang="ko-KR" smtClean="0"/>
              <a:t>.</a:t>
            </a:r>
            <a:endParaRPr lang="ko-KR" altLang="ko-K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4F8DE38-EA32-4F75-8A6A-B73AED7F3C8B}" type="slidenum">
              <a:rPr lang="en-US" altLang="ko-KR" smtClean="0">
                <a:solidFill>
                  <a:srgbClr val="000000"/>
                </a:solidFill>
              </a:rPr>
              <a:pPr eaLnBrk="1" latinLnBrk="0" hangingPunct="1">
                <a:spcBef>
                  <a:spcPct val="0"/>
                </a:spcBef>
              </a:pPr>
              <a:t>12</a:t>
            </a:fld>
            <a:endParaRPr lang="en-US" altLang="ko-KR" smtClean="0">
              <a:solidFill>
                <a:srgbClr val="000000"/>
              </a:solidFill>
            </a:endParaRPr>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A2CE20D-6E97-4DB0-BFEF-AED39AA35E38}" type="slidenum">
              <a:rPr lang="en-US" altLang="ko-KR" smtClean="0">
                <a:solidFill>
                  <a:srgbClr val="000000"/>
                </a:solidFill>
              </a:rPr>
              <a:pPr eaLnBrk="1" latinLnBrk="0" hangingPunct="1">
                <a:spcBef>
                  <a:spcPct val="0"/>
                </a:spcBef>
              </a:pPr>
              <a:t>13</a:t>
            </a:fld>
            <a:endParaRPr lang="en-US" altLang="ko-KR" smtClean="0">
              <a:solidFill>
                <a:srgbClr val="000000"/>
              </a:solidFill>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5721F1B-095D-49A2-ABCD-88EE503EB1AE}" type="slidenum">
              <a:rPr lang="en-US" altLang="ko-KR" smtClean="0">
                <a:solidFill>
                  <a:srgbClr val="000000"/>
                </a:solidFill>
              </a:rPr>
              <a:pPr eaLnBrk="1" latinLnBrk="0" hangingPunct="1">
                <a:spcBef>
                  <a:spcPct val="0"/>
                </a:spcBef>
              </a:pPr>
              <a:t>14</a:t>
            </a:fld>
            <a:endParaRPr lang="en-US" altLang="ko-KR" smtClean="0">
              <a:solidFill>
                <a:srgbClr val="000000"/>
              </a:solidFill>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p:spPr>
        <p:txBody>
          <a:bodyPr/>
          <a:lstStyle/>
          <a:p>
            <a:pPr eaLnBrk="1" hangingPunct="1"/>
            <a:r>
              <a:rPr lang="en-US" altLang="ko-KR" smtClean="0"/>
              <a:t>1. </a:t>
            </a:r>
            <a:r>
              <a:rPr lang="ko-KR" altLang="en-US" smtClean="0"/>
              <a:t>전원과 부하를 구분하고 전기회로의 기본 구성은 폐회로가 되어야 한다</a:t>
            </a:r>
            <a:r>
              <a:rPr lang="en-US" altLang="ko-KR" smtClean="0"/>
              <a:t>.</a:t>
            </a:r>
          </a:p>
          <a:p>
            <a:pPr eaLnBrk="1" hangingPunct="1"/>
            <a:r>
              <a:rPr lang="en-US" altLang="ko-KR" smtClean="0"/>
              <a:t>2. </a:t>
            </a:r>
            <a:r>
              <a:rPr lang="ko-KR" altLang="en-US" smtClean="0"/>
              <a:t>물의 흐름과 전기의 흐름을 교재 내용 </a:t>
            </a:r>
            <a:r>
              <a:rPr lang="en-US" altLang="ko-KR" smtClean="0"/>
              <a:t>3</a:t>
            </a:r>
            <a:r>
              <a:rPr lang="ko-KR" altLang="en-US" smtClean="0"/>
              <a:t>가지로 설명</a:t>
            </a:r>
            <a:r>
              <a:rPr lang="en-US" altLang="ko-KR" smtClean="0"/>
              <a:t>(</a:t>
            </a:r>
            <a:r>
              <a:rPr lang="ko-KR" altLang="en-US" smtClean="0"/>
              <a:t>비교</a:t>
            </a:r>
            <a:r>
              <a:rPr lang="en-US" altLang="ko-KR" smtClean="0"/>
              <a:t>)</a:t>
            </a:r>
          </a:p>
          <a:p>
            <a:pPr eaLnBrk="1" hangingPunct="1"/>
            <a:r>
              <a:rPr lang="en-US" altLang="ko-KR" smtClean="0"/>
              <a:t>3. </a:t>
            </a:r>
            <a:r>
              <a:rPr lang="ko-KR" altLang="en-US" smtClean="0"/>
              <a:t>전류를 초당 흐르는 전하의 양을 나타내고 전류의 기호</a:t>
            </a:r>
            <a:r>
              <a:rPr lang="en-US" altLang="ko-KR" smtClean="0"/>
              <a:t>(I)</a:t>
            </a:r>
            <a:r>
              <a:rPr lang="ko-KR" altLang="en-US" smtClean="0"/>
              <a:t>와 단위</a:t>
            </a:r>
            <a:r>
              <a:rPr lang="en-US" altLang="ko-KR" smtClean="0"/>
              <a:t>[A]</a:t>
            </a:r>
            <a:r>
              <a:rPr lang="ko-KR" altLang="en-US" smtClean="0"/>
              <a:t>에 대해 설명</a:t>
            </a:r>
          </a:p>
          <a:p>
            <a:pPr eaLnBrk="1" hangingPunct="1"/>
            <a:r>
              <a:rPr lang="en-US" altLang="ko-KR" smtClean="0"/>
              <a:t>4. </a:t>
            </a:r>
            <a:r>
              <a:rPr lang="ko-KR" altLang="en-US" smtClean="0"/>
              <a:t>전기적인 높이를 전위라고 하고 각각의 전위의 차이를 전위차 또는 전압이라 한다</a:t>
            </a:r>
            <a:r>
              <a:rPr lang="en-US" altLang="ko-KR" smtClean="0"/>
              <a:t>.</a:t>
            </a:r>
          </a:p>
          <a:p>
            <a:pPr eaLnBrk="1" hangingPunct="1"/>
            <a:r>
              <a:rPr lang="en-US" altLang="ko-KR" smtClean="0"/>
              <a:t>    </a:t>
            </a:r>
            <a:r>
              <a:rPr lang="ko-KR" altLang="en-US" smtClean="0"/>
              <a:t>전압의 기호는 </a:t>
            </a:r>
            <a:r>
              <a:rPr lang="en-US" altLang="ko-KR" smtClean="0"/>
              <a:t>E,V </a:t>
            </a:r>
            <a:r>
              <a:rPr lang="ko-KR" altLang="en-US" smtClean="0"/>
              <a:t>단위는</a:t>
            </a:r>
            <a:r>
              <a:rPr lang="en-US" altLang="ko-KR" smtClean="0"/>
              <a:t>[V]</a:t>
            </a:r>
            <a:r>
              <a:rPr lang="ko-KR" altLang="en-US" smtClean="0"/>
              <a:t>를 사용한다</a:t>
            </a:r>
            <a:r>
              <a:rPr lang="en-US" altLang="ko-KR" smtClean="0"/>
              <a:t>.</a:t>
            </a:r>
          </a:p>
          <a:p>
            <a:pPr eaLnBrk="1" hangingPunct="1"/>
            <a:r>
              <a:rPr lang="en-US" altLang="ko-KR" smtClean="0"/>
              <a:t>5. </a:t>
            </a:r>
            <a:r>
              <a:rPr lang="ko-KR" altLang="en-US" smtClean="0"/>
              <a:t>직류와 교류에 대해 그래프로 설명</a:t>
            </a:r>
          </a:p>
          <a:p>
            <a:pPr eaLnBrk="1" hangingPunct="1"/>
            <a:r>
              <a:rPr lang="ko-KR" altLang="en-US" smtClean="0"/>
              <a:t>    교류에는</a:t>
            </a:r>
            <a:endParaRPr lang="ko-KR" altLang="ko-K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134BC8D-032C-4B61-B5DB-84C4031C8B76}" type="slidenum">
              <a:rPr lang="en-US" altLang="ko-KR" smtClean="0">
                <a:solidFill>
                  <a:srgbClr val="000000"/>
                </a:solidFill>
              </a:rPr>
              <a:pPr eaLnBrk="1" latinLnBrk="0" hangingPunct="1">
                <a:spcBef>
                  <a:spcPct val="0"/>
                </a:spcBef>
              </a:pPr>
              <a:t>15</a:t>
            </a:fld>
            <a:endParaRPr lang="en-US" altLang="ko-KR" smtClean="0">
              <a:solidFill>
                <a:srgbClr val="000000"/>
              </a:solidFill>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35C3CED-20D6-4B8E-A2B8-60F79C1D0429}" type="slidenum">
              <a:rPr lang="en-US" altLang="ko-KR" smtClean="0">
                <a:solidFill>
                  <a:srgbClr val="000000"/>
                </a:solidFill>
              </a:rPr>
              <a:pPr eaLnBrk="1" latinLnBrk="0" hangingPunct="1">
                <a:spcBef>
                  <a:spcPct val="0"/>
                </a:spcBef>
              </a:pPr>
              <a:t>16</a:t>
            </a:fld>
            <a:endParaRPr lang="en-US" altLang="ko-KR" smtClean="0">
              <a:solidFill>
                <a:srgbClr val="000000"/>
              </a:solidFill>
            </a:endParaRPr>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D2C5A30-93DB-4B6F-885C-ED989641281B}" type="slidenum">
              <a:rPr lang="en-US" altLang="ko-KR" smtClean="0">
                <a:solidFill>
                  <a:srgbClr val="000000"/>
                </a:solidFill>
              </a:rPr>
              <a:pPr eaLnBrk="1" latinLnBrk="0" hangingPunct="1">
                <a:spcBef>
                  <a:spcPct val="0"/>
                </a:spcBef>
              </a:pPr>
              <a:t>17</a:t>
            </a:fld>
            <a:endParaRPr lang="en-US" altLang="ko-KR" smtClean="0">
              <a:solidFill>
                <a:srgbClr val="000000"/>
              </a:solidFill>
            </a:endParaRPr>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4529591-36E1-41EC-A787-B07940A27855}" type="slidenum">
              <a:rPr lang="en-US" altLang="ko-KR" smtClean="0">
                <a:solidFill>
                  <a:srgbClr val="000000"/>
                </a:solidFill>
              </a:rPr>
              <a:pPr eaLnBrk="1" latinLnBrk="0" hangingPunct="1">
                <a:spcBef>
                  <a:spcPct val="0"/>
                </a:spcBef>
              </a:pPr>
              <a:t>18</a:t>
            </a:fld>
            <a:endParaRPr lang="en-US" altLang="ko-KR" smtClean="0">
              <a:solidFill>
                <a:srgbClr val="000000"/>
              </a:solidFill>
            </a:endParaRPr>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507447B-8B18-4E7F-B8AF-492435B06672}" type="slidenum">
              <a:rPr lang="en-US" altLang="ko-KR" smtClean="0">
                <a:solidFill>
                  <a:srgbClr val="000000"/>
                </a:solidFill>
              </a:rPr>
              <a:pPr eaLnBrk="1" latinLnBrk="0" hangingPunct="1">
                <a:spcBef>
                  <a:spcPct val="0"/>
                </a:spcBef>
              </a:pPr>
              <a:t>19</a:t>
            </a:fld>
            <a:endParaRPr lang="en-US" altLang="ko-KR" smtClean="0">
              <a:solidFill>
                <a:srgbClr val="000000"/>
              </a:solidFill>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p:spPr>
        <p:txBody>
          <a:bodyPr/>
          <a:lstStyle/>
          <a:p>
            <a:pPr eaLnBrk="1" hangingPunct="1"/>
            <a:r>
              <a:rPr lang="en-US" altLang="ko-KR" smtClean="0"/>
              <a:t>1. </a:t>
            </a:r>
            <a:r>
              <a:rPr lang="ko-KR" altLang="en-US" smtClean="0"/>
              <a:t>접지의 정의와 기호 설명</a:t>
            </a:r>
          </a:p>
          <a:p>
            <a:pPr eaLnBrk="1" hangingPunct="1"/>
            <a:r>
              <a:rPr lang="en-US" altLang="ko-KR" smtClean="0"/>
              <a:t>2. </a:t>
            </a:r>
            <a:r>
              <a:rPr lang="ko-KR" altLang="en-US" smtClean="0"/>
              <a:t>접지란 여러 가지 전기 설비</a:t>
            </a:r>
            <a:r>
              <a:rPr lang="en-US" altLang="ko-KR" smtClean="0"/>
              <a:t>, </a:t>
            </a:r>
            <a:r>
              <a:rPr lang="ko-KR" altLang="en-US" smtClean="0"/>
              <a:t>구조물을 도체를 이용하여 대지에 전기적으로 완전히</a:t>
            </a:r>
          </a:p>
          <a:p>
            <a:pPr eaLnBrk="1" hangingPunct="1"/>
            <a:r>
              <a:rPr lang="ko-KR" altLang="en-US" smtClean="0"/>
              <a:t>   접속하는 것을 의미한다</a:t>
            </a:r>
            <a:r>
              <a:rPr lang="en-US" altLang="ko-KR" smtClean="0"/>
              <a:t>.</a:t>
            </a:r>
          </a:p>
          <a:p>
            <a:pPr eaLnBrk="1" hangingPunct="1"/>
            <a:r>
              <a:rPr lang="en-US" altLang="ko-KR" smtClean="0"/>
              <a:t>3. </a:t>
            </a:r>
            <a:r>
              <a:rPr lang="ko-KR" altLang="en-US" smtClean="0"/>
              <a:t>접지전극이란 금속체와 대지를 접속하는 단자 역할을 하는 것임</a:t>
            </a:r>
            <a:r>
              <a:rPr lang="en-US" altLang="ko-KR" smtClean="0"/>
              <a:t>.</a:t>
            </a:r>
          </a:p>
          <a:p>
            <a:pPr eaLnBrk="1" hangingPunct="1"/>
            <a:r>
              <a:rPr lang="en-US" altLang="ko-KR" smtClean="0"/>
              <a:t>4. </a:t>
            </a:r>
            <a:r>
              <a:rPr lang="ko-KR" altLang="en-US" smtClean="0"/>
              <a:t>접지도선및 접지선이란 접지전극과 접지를 연결하는 도선임</a:t>
            </a:r>
            <a:r>
              <a:rPr lang="en-US" altLang="ko-KR" smtClean="0"/>
              <a:t>.</a:t>
            </a:r>
          </a:p>
          <a:p>
            <a:pPr eaLnBrk="1" hangingPunct="1"/>
            <a:r>
              <a:rPr lang="en-US" altLang="ko-KR" smtClean="0"/>
              <a:t>5. </a:t>
            </a:r>
            <a:r>
              <a:rPr lang="ko-KR" altLang="en-US" smtClean="0"/>
              <a:t>접지전류는 접지도선을 통하여 대지로 흘러 들어가는 전류를 의미함</a:t>
            </a:r>
            <a:r>
              <a:rPr lang="en-US" altLang="ko-KR" smtClean="0"/>
              <a:t>.</a:t>
            </a:r>
          </a:p>
          <a:p>
            <a:pPr eaLnBrk="1" hangingPunct="1"/>
            <a:r>
              <a:rPr lang="en-US" altLang="ko-KR" smtClean="0"/>
              <a:t>6. </a:t>
            </a:r>
            <a:r>
              <a:rPr lang="ko-KR" altLang="en-US" smtClean="0"/>
              <a:t>접지저항은 접지전극과 대지와의 접속상태의 전기적저항을 말한다</a:t>
            </a:r>
            <a:r>
              <a:rPr lang="en-US" altLang="ko-KR" smtClean="0"/>
              <a:t>.</a:t>
            </a:r>
          </a:p>
          <a:p>
            <a:pPr eaLnBrk="1" hangingPunct="1"/>
            <a:r>
              <a:rPr lang="en-US" altLang="ko-KR" smtClean="0"/>
              <a:t>7. </a:t>
            </a:r>
            <a:r>
              <a:rPr lang="ko-KR" altLang="en-US" smtClean="0"/>
              <a:t>접지의 목적은 기기보호및</a:t>
            </a:r>
            <a:r>
              <a:rPr lang="en-US" altLang="ko-KR" smtClean="0"/>
              <a:t>, </a:t>
            </a:r>
            <a:r>
              <a:rPr lang="ko-KR" altLang="en-US" smtClean="0"/>
              <a:t>안전사고</a:t>
            </a:r>
            <a:endParaRPr lang="ko-KR" altLang="ko-K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653C9A2-DE01-45EC-83A9-0E88479D1B78}" type="slidenum">
              <a:rPr lang="en-US" altLang="ko-KR" smtClean="0">
                <a:solidFill>
                  <a:srgbClr val="000000"/>
                </a:solidFill>
              </a:rPr>
              <a:pPr eaLnBrk="1" latinLnBrk="0" hangingPunct="1">
                <a:spcBef>
                  <a:spcPct val="0"/>
                </a:spcBef>
              </a:pPr>
              <a:t>20</a:t>
            </a:fld>
            <a:endParaRPr lang="en-US" altLang="ko-KR" smtClean="0">
              <a:solidFill>
                <a:srgbClr val="000000"/>
              </a:solidFill>
            </a:endParaRPr>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EDCE47D-B206-4A7F-ADB6-BB8935FF62A4}" type="slidenum">
              <a:rPr lang="en-US" altLang="ko-KR" smtClean="0">
                <a:solidFill>
                  <a:srgbClr val="000000"/>
                </a:solidFill>
              </a:rPr>
              <a:pPr eaLnBrk="1" latinLnBrk="0" hangingPunct="1">
                <a:spcBef>
                  <a:spcPct val="0"/>
                </a:spcBef>
              </a:pPr>
              <a:t>21</a:t>
            </a:fld>
            <a:endParaRPr lang="en-US" altLang="ko-KR" smtClean="0">
              <a:solidFill>
                <a:srgbClr val="000000"/>
              </a:solidFill>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0A4134B-4E68-4F9D-B685-0CA3C9E3B808}" type="slidenum">
              <a:rPr lang="en-US" altLang="ko-KR" smtClean="0">
                <a:solidFill>
                  <a:srgbClr val="000000"/>
                </a:solidFill>
              </a:rPr>
              <a:pPr eaLnBrk="1" latinLnBrk="0" hangingPunct="1">
                <a:spcBef>
                  <a:spcPct val="0"/>
                </a:spcBef>
              </a:pPr>
              <a:t>22</a:t>
            </a:fld>
            <a:endParaRPr lang="en-US" altLang="ko-KR" smtClean="0">
              <a:solidFill>
                <a:srgbClr val="000000"/>
              </a:solidFill>
            </a:endParaRPr>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8C1CD11-8705-4021-9CA3-AA181551AA06}" type="slidenum">
              <a:rPr lang="en-US" altLang="ko-KR" smtClean="0">
                <a:solidFill>
                  <a:srgbClr val="000000"/>
                </a:solidFill>
              </a:rPr>
              <a:pPr eaLnBrk="1" latinLnBrk="0" hangingPunct="1">
                <a:spcBef>
                  <a:spcPct val="0"/>
                </a:spcBef>
              </a:pPr>
              <a:t>23</a:t>
            </a:fld>
            <a:endParaRPr lang="en-US" altLang="ko-KR" smtClean="0">
              <a:solidFill>
                <a:srgbClr val="000000"/>
              </a:solidFill>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048E045-186D-4188-9EA0-2C8BEE3C6DD1}" type="slidenum">
              <a:rPr lang="en-US" altLang="ko-KR" smtClean="0">
                <a:solidFill>
                  <a:srgbClr val="000000"/>
                </a:solidFill>
              </a:rPr>
              <a:pPr eaLnBrk="1" latinLnBrk="0" hangingPunct="1">
                <a:spcBef>
                  <a:spcPct val="0"/>
                </a:spcBef>
              </a:pPr>
              <a:t>24</a:t>
            </a:fld>
            <a:endParaRPr lang="en-US" altLang="ko-KR" smtClean="0">
              <a:solidFill>
                <a:srgbClr val="000000"/>
              </a:solidFill>
            </a:endParaRPr>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p:spPr>
        <p:txBody>
          <a:bodyPr/>
          <a:lstStyle/>
          <a:p>
            <a:pPr eaLnBrk="1" hangingPunct="1"/>
            <a:r>
              <a:rPr lang="en-US" altLang="ko-KR" smtClean="0"/>
              <a:t>1. Noise</a:t>
            </a:r>
            <a:r>
              <a:rPr lang="ko-KR" altLang="en-US" smtClean="0"/>
              <a:t>란 전자파에 의한 불규칙한 파동및 잡신호를 말한다</a:t>
            </a:r>
            <a:r>
              <a:rPr lang="en-US" altLang="ko-KR" smtClean="0"/>
              <a:t>.</a:t>
            </a:r>
          </a:p>
          <a:p>
            <a:pPr eaLnBrk="1" hangingPunct="1"/>
            <a:r>
              <a:rPr lang="en-US" altLang="ko-KR" smtClean="0"/>
              <a:t>2. </a:t>
            </a:r>
            <a:r>
              <a:rPr lang="ko-KR" altLang="en-US" smtClean="0"/>
              <a:t>노이즈의 발생 원인</a:t>
            </a:r>
          </a:p>
          <a:p>
            <a:pPr eaLnBrk="1" hangingPunct="1"/>
            <a:r>
              <a:rPr lang="ko-KR" altLang="en-US" smtClean="0"/>
              <a:t>  </a:t>
            </a:r>
            <a:r>
              <a:rPr lang="en-US" altLang="ko-KR" smtClean="0"/>
              <a:t>- </a:t>
            </a:r>
            <a:r>
              <a:rPr lang="ko-KR" altLang="en-US" smtClean="0"/>
              <a:t>우레서지란 낙뢰가 떨어졌을때의 대전류로 인하여 부근의 도체에 전자유도가 발생하여</a:t>
            </a:r>
          </a:p>
          <a:p>
            <a:pPr eaLnBrk="1" hangingPunct="1"/>
            <a:r>
              <a:rPr lang="ko-KR" altLang="en-US" smtClean="0"/>
              <a:t>    일시적으로 대전압</a:t>
            </a:r>
            <a:r>
              <a:rPr lang="en-US" altLang="ko-KR" smtClean="0"/>
              <a:t>(</a:t>
            </a:r>
            <a:r>
              <a:rPr lang="ko-KR" altLang="en-US" smtClean="0"/>
              <a:t>우레 서지</a:t>
            </a:r>
            <a:r>
              <a:rPr lang="en-US" altLang="ko-KR" smtClean="0"/>
              <a:t>)</a:t>
            </a:r>
            <a:r>
              <a:rPr lang="ko-KR" altLang="en-US" smtClean="0"/>
              <a:t>이 발생하는 현상</a:t>
            </a:r>
          </a:p>
          <a:p>
            <a:pPr eaLnBrk="1" hangingPunct="1"/>
            <a:r>
              <a:rPr lang="ko-KR" altLang="en-US" smtClean="0"/>
              <a:t>  </a:t>
            </a:r>
            <a:r>
              <a:rPr lang="en-US" altLang="ko-KR" smtClean="0"/>
              <a:t>- </a:t>
            </a:r>
            <a:r>
              <a:rPr lang="ko-KR" altLang="en-US" smtClean="0"/>
              <a:t>정전기 노이즈란 정전기는 대부분 인체에 대전 된것이 기기에 접촉했을 때에 방전되며 이때의</a:t>
            </a:r>
          </a:p>
          <a:p>
            <a:pPr eaLnBrk="1" hangingPunct="1"/>
            <a:r>
              <a:rPr lang="ko-KR" altLang="en-US" smtClean="0"/>
              <a:t>    방전전류가 기기의 케이스 등에 흘러 작용하는 현상</a:t>
            </a:r>
          </a:p>
          <a:p>
            <a:pPr eaLnBrk="1" hangingPunct="1"/>
            <a:r>
              <a:rPr lang="ko-KR" altLang="en-US" smtClean="0"/>
              <a:t>  </a:t>
            </a:r>
            <a:r>
              <a:rPr lang="en-US" altLang="ko-KR" smtClean="0"/>
              <a:t>- </a:t>
            </a:r>
            <a:r>
              <a:rPr lang="ko-KR" altLang="en-US" smtClean="0"/>
              <a:t>전압 변동 노이즈란 일반적으로 전원에서 대전류가 흐르면 전원전압</a:t>
            </a:r>
            <a:endParaRPr lang="ko-KR" altLang="ko-KR"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B9091A8-5E6E-41F5-A2DE-A9C75B9CB40A}" type="slidenum">
              <a:rPr lang="en-US" altLang="ko-KR" smtClean="0">
                <a:solidFill>
                  <a:srgbClr val="000000"/>
                </a:solidFill>
              </a:rPr>
              <a:pPr eaLnBrk="1" latinLnBrk="0" hangingPunct="1">
                <a:spcBef>
                  <a:spcPct val="0"/>
                </a:spcBef>
              </a:pPr>
              <a:t>25</a:t>
            </a:fld>
            <a:endParaRPr lang="en-US" altLang="ko-KR" smtClean="0">
              <a:solidFill>
                <a:srgbClr val="000000"/>
              </a:solidFill>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AB44FEB-4761-484B-AB43-4FF0329C7232}" type="slidenum">
              <a:rPr lang="en-US" altLang="ko-KR" smtClean="0">
                <a:solidFill>
                  <a:srgbClr val="000000"/>
                </a:solidFill>
              </a:rPr>
              <a:pPr eaLnBrk="1" latinLnBrk="0" hangingPunct="1">
                <a:spcBef>
                  <a:spcPct val="0"/>
                </a:spcBef>
              </a:pPr>
              <a:t>26</a:t>
            </a:fld>
            <a:endParaRPr lang="en-US" altLang="ko-KR" smtClean="0">
              <a:solidFill>
                <a:srgbClr val="000000"/>
              </a:solidFill>
            </a:endParaRPr>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AAE274F-67DF-49DC-AA37-7229396E93E1}" type="slidenum">
              <a:rPr lang="en-US" altLang="ko-KR" smtClean="0">
                <a:solidFill>
                  <a:srgbClr val="000000"/>
                </a:solidFill>
              </a:rPr>
              <a:pPr eaLnBrk="1" latinLnBrk="0" hangingPunct="1">
                <a:spcBef>
                  <a:spcPct val="0"/>
                </a:spcBef>
              </a:pPr>
              <a:t>27</a:t>
            </a:fld>
            <a:endParaRPr lang="en-US" altLang="ko-KR" smtClean="0">
              <a:solidFill>
                <a:srgbClr val="000000"/>
              </a:solidFill>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B27F29C-3AE9-475C-8975-AB8412A99B15}" type="slidenum">
              <a:rPr lang="en-US" altLang="ko-KR" smtClean="0">
                <a:solidFill>
                  <a:srgbClr val="000000"/>
                </a:solidFill>
              </a:rPr>
              <a:pPr eaLnBrk="1" latinLnBrk="0" hangingPunct="1">
                <a:spcBef>
                  <a:spcPct val="0"/>
                </a:spcBef>
              </a:pPr>
              <a:t>28</a:t>
            </a:fld>
            <a:endParaRPr lang="en-US" altLang="ko-KR" smtClean="0">
              <a:solidFill>
                <a:srgbClr val="000000"/>
              </a:solidFill>
            </a:endParaRPr>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p:spPr>
        <p:txBody>
          <a:bodyPr/>
          <a:lstStyle/>
          <a:p>
            <a:pPr eaLnBrk="1" hangingPunct="1"/>
            <a:r>
              <a:rPr lang="en-US" altLang="ko-KR" smtClean="0"/>
              <a:t>1. </a:t>
            </a:r>
            <a:r>
              <a:rPr lang="ko-KR" altLang="en-US" smtClean="0"/>
              <a:t>감전의 정의 설명</a:t>
            </a:r>
          </a:p>
          <a:p>
            <a:pPr eaLnBrk="1" hangingPunct="1"/>
            <a:r>
              <a:rPr lang="en-US" altLang="ko-KR" smtClean="0"/>
              <a:t>2. </a:t>
            </a:r>
            <a:r>
              <a:rPr lang="ko-KR" altLang="en-US" smtClean="0"/>
              <a:t>감전시 전류 및 시간에 따른 인체의 생리적반응 설명</a:t>
            </a:r>
          </a:p>
          <a:p>
            <a:pPr eaLnBrk="1" hangingPunct="1"/>
            <a:r>
              <a:rPr lang="en-US" altLang="ko-KR" smtClean="0"/>
              <a:t>3. </a:t>
            </a:r>
            <a:r>
              <a:rPr lang="ko-KR" altLang="en-US" smtClean="0"/>
              <a:t>전기감전 사고사례 설명</a:t>
            </a:r>
          </a:p>
          <a:p>
            <a:pPr eaLnBrk="1" hangingPunct="1"/>
            <a:r>
              <a:rPr lang="ko-KR" altLang="en-US" smtClean="0"/>
              <a:t>예</a:t>
            </a:r>
            <a:r>
              <a:rPr lang="en-US" altLang="ko-KR" smtClean="0"/>
              <a:t>) Bolt </a:t>
            </a:r>
            <a:r>
              <a:rPr lang="ko-KR" altLang="en-US" smtClean="0"/>
              <a:t>체결 중 히타 전원단자에 접촉 감전</a:t>
            </a:r>
          </a:p>
          <a:p>
            <a:pPr eaLnBrk="1" hangingPunct="1"/>
            <a:r>
              <a:rPr lang="ko-KR" altLang="en-US" smtClean="0"/>
              <a:t>     저압차단기 교체 작업 중 아크화상</a:t>
            </a:r>
          </a:p>
          <a:p>
            <a:pPr eaLnBrk="1" hangingPunct="1"/>
            <a:r>
              <a:rPr lang="ko-KR" altLang="en-US" smtClean="0"/>
              <a:t>     전동기 접지저항 측정 중 감전</a:t>
            </a:r>
            <a:endParaRPr lang="ko-KR" altLang="ko-KR"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4F9BF97-ABB8-410A-AEFB-85566E8C8B6C}" type="slidenum">
              <a:rPr lang="en-US" altLang="ko-KR" smtClean="0">
                <a:solidFill>
                  <a:srgbClr val="000000"/>
                </a:solidFill>
              </a:rPr>
              <a:pPr eaLnBrk="1" latinLnBrk="0" hangingPunct="1">
                <a:spcBef>
                  <a:spcPct val="0"/>
                </a:spcBef>
              </a:pPr>
              <a:t>29</a:t>
            </a:fld>
            <a:endParaRPr lang="en-US" altLang="ko-KR" smtClean="0">
              <a:solidFill>
                <a:srgbClr val="000000"/>
              </a:solidFill>
            </a:endParaRPr>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A1007F3-C999-4A61-B297-17922B8FDA55}" type="slidenum">
              <a:rPr lang="en-US" altLang="ko-KR" smtClean="0">
                <a:solidFill>
                  <a:srgbClr val="000000"/>
                </a:solidFill>
              </a:rPr>
              <a:pPr eaLnBrk="1" latinLnBrk="0" hangingPunct="1">
                <a:spcBef>
                  <a:spcPct val="0"/>
                </a:spcBef>
              </a:pPr>
              <a:t>30</a:t>
            </a:fld>
            <a:endParaRPr lang="en-US" altLang="ko-KR" smtClean="0">
              <a:solidFill>
                <a:srgbClr val="000000"/>
              </a:solidFill>
            </a:endParaRPr>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2CD41D8-63F3-4588-BD7B-7FD0A86FBF58}" type="slidenum">
              <a:rPr lang="en-US" altLang="ko-KR" smtClean="0">
                <a:solidFill>
                  <a:srgbClr val="000000"/>
                </a:solidFill>
              </a:rPr>
              <a:pPr eaLnBrk="1" latinLnBrk="0" hangingPunct="1">
                <a:spcBef>
                  <a:spcPct val="0"/>
                </a:spcBef>
              </a:pPr>
              <a:t>31</a:t>
            </a:fld>
            <a:endParaRPr lang="en-US" altLang="ko-KR" smtClean="0">
              <a:solidFill>
                <a:srgbClr val="000000"/>
              </a:solidFill>
            </a:endParaRPr>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1EB1280-7942-4F80-89C1-1D1C369D2536}" type="slidenum">
              <a:rPr lang="en-US" altLang="ko-KR" smtClean="0">
                <a:solidFill>
                  <a:srgbClr val="000000"/>
                </a:solidFill>
              </a:rPr>
              <a:pPr eaLnBrk="1" latinLnBrk="0" hangingPunct="1">
                <a:spcBef>
                  <a:spcPct val="0"/>
                </a:spcBef>
              </a:pPr>
              <a:t>32</a:t>
            </a:fld>
            <a:endParaRPr lang="en-US" altLang="ko-KR" smtClean="0">
              <a:solidFill>
                <a:srgbClr val="000000"/>
              </a:solidFill>
            </a:endParaRPr>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p:spPr>
        <p:txBody>
          <a:bodyPr/>
          <a:lstStyle/>
          <a:p>
            <a:pPr eaLnBrk="1" hangingPunct="1"/>
            <a:r>
              <a:rPr lang="en-US" altLang="ko-KR" smtClean="0"/>
              <a:t>1. </a:t>
            </a:r>
            <a:r>
              <a:rPr lang="ko-KR" altLang="en-US" smtClean="0"/>
              <a:t>누전은 절연 상태 불량으로 전기의 일부가 주변 도체에 흐르는 현상</a:t>
            </a:r>
          </a:p>
          <a:p>
            <a:pPr eaLnBrk="1" hangingPunct="1"/>
            <a:r>
              <a:rPr lang="en-US" altLang="ko-KR" smtClean="0"/>
              <a:t>2. </a:t>
            </a:r>
            <a:r>
              <a:rPr lang="ko-KR" altLang="en-US" smtClean="0"/>
              <a:t>누전차단기 정의 및 핸들표시</a:t>
            </a:r>
            <a:r>
              <a:rPr lang="en-US" altLang="ko-KR" smtClean="0"/>
              <a:t>,</a:t>
            </a:r>
            <a:r>
              <a:rPr lang="ko-KR" altLang="en-US" smtClean="0"/>
              <a:t>각종 표시장치에 따라 확인 방법</a:t>
            </a:r>
          </a:p>
          <a:p>
            <a:pPr eaLnBrk="1" hangingPunct="1"/>
            <a:r>
              <a:rPr lang="en-US" altLang="ko-KR" smtClean="0"/>
              <a:t>3. </a:t>
            </a:r>
            <a:r>
              <a:rPr lang="ko-KR" altLang="en-US" smtClean="0"/>
              <a:t>누전차단기와 배선용 차단기의 개념차이 설명</a:t>
            </a:r>
            <a:endParaRPr lang="ko-KR" altLang="ko-KR"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2495862-E96C-46DF-8DA7-536A7975E60C}" type="slidenum">
              <a:rPr lang="en-US" altLang="ko-KR" smtClean="0">
                <a:solidFill>
                  <a:srgbClr val="000000"/>
                </a:solidFill>
              </a:rPr>
              <a:pPr eaLnBrk="1" latinLnBrk="0" hangingPunct="1">
                <a:spcBef>
                  <a:spcPct val="0"/>
                </a:spcBef>
              </a:pPr>
              <a:t>33</a:t>
            </a:fld>
            <a:endParaRPr lang="en-US" altLang="ko-KR" smtClean="0">
              <a:solidFill>
                <a:srgbClr val="000000"/>
              </a:solidFill>
            </a:endParaRPr>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5D58184-3F64-477D-928E-74530AD9193E}" type="slidenum">
              <a:rPr lang="en-US" altLang="ko-KR" smtClean="0">
                <a:solidFill>
                  <a:srgbClr val="000000"/>
                </a:solidFill>
              </a:rPr>
              <a:pPr eaLnBrk="1" latinLnBrk="0" hangingPunct="1">
                <a:spcBef>
                  <a:spcPct val="0"/>
                </a:spcBef>
              </a:pPr>
              <a:t>34</a:t>
            </a:fld>
            <a:endParaRPr lang="en-US" altLang="ko-KR" smtClean="0">
              <a:solidFill>
                <a:srgbClr val="000000"/>
              </a:solidFill>
            </a:endParaRPr>
          </a:p>
        </p:txBody>
      </p:sp>
      <p:sp>
        <p:nvSpPr>
          <p:cNvPr id="235523" name="Rectangle 2"/>
          <p:cNvSpPr>
            <a:spLocks noGrp="1" noRot="1" noChangeAspect="1" noChangeArrowheads="1" noTextEdit="1"/>
          </p:cNvSpPr>
          <p:nvPr>
            <p:ph type="sldImg"/>
          </p:nvPr>
        </p:nvSpPr>
        <p:spPr>
          <a:ln/>
        </p:spPr>
      </p:sp>
      <p:sp>
        <p:nvSpPr>
          <p:cNvPr id="2355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FBC69D0-D249-4D98-BDA7-A083B10DF568}" type="slidenum">
              <a:rPr lang="en-US" altLang="ko-KR" smtClean="0">
                <a:solidFill>
                  <a:srgbClr val="000000"/>
                </a:solidFill>
              </a:rPr>
              <a:pPr eaLnBrk="1" latinLnBrk="0" hangingPunct="1">
                <a:spcBef>
                  <a:spcPct val="0"/>
                </a:spcBef>
              </a:pPr>
              <a:t>35</a:t>
            </a:fld>
            <a:endParaRPr lang="en-US" altLang="ko-KR" smtClean="0">
              <a:solidFill>
                <a:srgbClr val="000000"/>
              </a:solidFill>
            </a:endParaRPr>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p:spPr>
        <p:txBody>
          <a:bodyPr/>
          <a:lstStyle/>
          <a:p>
            <a:pPr eaLnBrk="1" hangingPunct="1"/>
            <a:r>
              <a:rPr lang="en-US" altLang="ko-KR" smtClean="0"/>
              <a:t>1. </a:t>
            </a:r>
            <a:r>
              <a:rPr lang="ko-KR" altLang="en-US" smtClean="0"/>
              <a:t>전기 화재 통계 및 사고사례 설명</a:t>
            </a:r>
          </a:p>
          <a:p>
            <a:pPr eaLnBrk="1" hangingPunct="1"/>
            <a:r>
              <a:rPr lang="en-US" altLang="ko-KR" smtClean="0"/>
              <a:t>2.</a:t>
            </a:r>
            <a:r>
              <a:rPr lang="ko-KR" altLang="en-US" smtClean="0"/>
              <a:t>시퀀스 기기 및 단자 연결 시 주의 사항 설명</a:t>
            </a:r>
          </a:p>
          <a:p>
            <a:pPr eaLnBrk="1" hangingPunct="1"/>
            <a:r>
              <a:rPr lang="ko-KR" altLang="en-US" smtClean="0"/>
              <a:t>    단자 </a:t>
            </a:r>
            <a:r>
              <a:rPr lang="en-US" altLang="ko-KR" smtClean="0"/>
              <a:t>Bolt </a:t>
            </a:r>
            <a:r>
              <a:rPr lang="ko-KR" altLang="en-US" smtClean="0"/>
              <a:t>조임 미숙으로 전기화재 및 접촉불량 사고사례 설명</a:t>
            </a:r>
          </a:p>
          <a:p>
            <a:pPr eaLnBrk="1" hangingPunct="1"/>
            <a:r>
              <a:rPr lang="ko-KR" altLang="en-US" smtClean="0"/>
              <a:t> </a:t>
            </a:r>
            <a:endParaRPr lang="ko-KR" altLang="ko-KR"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71E6466-6754-4516-BDC6-4ED72FBC76A3}" type="slidenum">
              <a:rPr lang="en-US" altLang="ko-KR" smtClean="0">
                <a:solidFill>
                  <a:srgbClr val="000000"/>
                </a:solidFill>
              </a:rPr>
              <a:pPr eaLnBrk="1" latinLnBrk="0" hangingPunct="1">
                <a:spcBef>
                  <a:spcPct val="0"/>
                </a:spcBef>
              </a:pPr>
              <a:t>36</a:t>
            </a:fld>
            <a:endParaRPr lang="en-US" altLang="ko-KR" smtClean="0">
              <a:solidFill>
                <a:srgbClr val="000000"/>
              </a:solidFill>
            </a:endParaRPr>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A3096E7-F6FD-4E73-B987-2541F265C05B}" type="slidenum">
              <a:rPr lang="en-US" altLang="ko-KR" smtClean="0">
                <a:solidFill>
                  <a:srgbClr val="000000"/>
                </a:solidFill>
              </a:rPr>
              <a:pPr eaLnBrk="1" latinLnBrk="0" hangingPunct="1">
                <a:spcBef>
                  <a:spcPct val="0"/>
                </a:spcBef>
              </a:pPr>
              <a:t>37</a:t>
            </a:fld>
            <a:endParaRPr lang="en-US" altLang="ko-KR" smtClean="0">
              <a:solidFill>
                <a:srgbClr val="000000"/>
              </a:solidFill>
            </a:endParaRPr>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63F32BD-F575-4D7A-914B-8AAC06F830E6}" type="slidenum">
              <a:rPr lang="en-US" altLang="ko-KR" smtClean="0">
                <a:solidFill>
                  <a:srgbClr val="000000"/>
                </a:solidFill>
              </a:rPr>
              <a:pPr eaLnBrk="1" latinLnBrk="0" hangingPunct="1">
                <a:spcBef>
                  <a:spcPct val="0"/>
                </a:spcBef>
              </a:pPr>
              <a:t>38</a:t>
            </a:fld>
            <a:endParaRPr lang="en-US" altLang="ko-KR" smtClean="0">
              <a:solidFill>
                <a:srgbClr val="000000"/>
              </a:solidFill>
            </a:endParaRPr>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p:spPr>
        <p:txBody>
          <a:bodyPr/>
          <a:lstStyle/>
          <a:p>
            <a:pPr eaLnBrk="1" hangingPunct="1"/>
            <a:r>
              <a:rPr lang="en-US" altLang="ko-KR" smtClean="0"/>
              <a:t>1.</a:t>
            </a:r>
            <a:r>
              <a:rPr lang="ko-KR" altLang="en-US" smtClean="0"/>
              <a:t>실물 보고 </a:t>
            </a:r>
            <a:r>
              <a:rPr lang="en-US" altLang="ko-KR" smtClean="0"/>
              <a:t>Display &amp; </a:t>
            </a:r>
            <a:r>
              <a:rPr lang="ko-KR" altLang="en-US" smtClean="0"/>
              <a:t>조작부 설명</a:t>
            </a:r>
          </a:p>
          <a:p>
            <a:pPr eaLnBrk="1" hangingPunct="1"/>
            <a:r>
              <a:rPr lang="ko-KR" altLang="en-US" smtClean="0"/>
              <a:t>①</a:t>
            </a:r>
            <a:r>
              <a:rPr lang="en-US" altLang="ko-KR" smtClean="0"/>
              <a:t>AC,DC </a:t>
            </a:r>
            <a:r>
              <a:rPr lang="ko-KR" altLang="en-US" smtClean="0"/>
              <a:t>전압 </a:t>
            </a:r>
            <a:r>
              <a:rPr lang="en-US" altLang="ko-KR" smtClean="0"/>
              <a:t>Mode </a:t>
            </a:r>
            <a:r>
              <a:rPr lang="ko-KR" altLang="en-US" smtClean="0"/>
              <a:t>변경 설명</a:t>
            </a:r>
          </a:p>
          <a:p>
            <a:pPr eaLnBrk="1" hangingPunct="1"/>
            <a:r>
              <a:rPr lang="ko-KR" altLang="en-US" smtClean="0"/>
              <a:t>②다이오드 측정 </a:t>
            </a:r>
            <a:r>
              <a:rPr lang="en-US" altLang="ko-KR" smtClean="0"/>
              <a:t>Mode &amp; </a:t>
            </a:r>
            <a:r>
              <a:rPr lang="ko-KR" altLang="en-US" smtClean="0"/>
              <a:t>저항 측정 </a:t>
            </a:r>
            <a:r>
              <a:rPr lang="en-US" altLang="ko-KR" smtClean="0"/>
              <a:t>Mode </a:t>
            </a:r>
            <a:r>
              <a:rPr lang="ko-KR" altLang="en-US" smtClean="0"/>
              <a:t>설명</a:t>
            </a:r>
          </a:p>
          <a:p>
            <a:pPr eaLnBrk="1" hangingPunct="1"/>
            <a:r>
              <a:rPr lang="en-US" altLang="ko-KR" smtClean="0"/>
              <a:t>2.Consol Box </a:t>
            </a:r>
            <a:r>
              <a:rPr lang="ko-KR" altLang="en-US" smtClean="0"/>
              <a:t>이용하여 전압</a:t>
            </a:r>
            <a:r>
              <a:rPr lang="en-US" altLang="ko-KR" smtClean="0"/>
              <a:t>(AC,DC) </a:t>
            </a:r>
            <a:r>
              <a:rPr lang="ko-KR" altLang="en-US" smtClean="0"/>
              <a:t>측정→</a:t>
            </a:r>
            <a:r>
              <a:rPr lang="en-US" altLang="ko-KR" smtClean="0"/>
              <a:t>AC 12V, DC 5V</a:t>
            </a:r>
          </a:p>
          <a:p>
            <a:pPr eaLnBrk="1" hangingPunct="1"/>
            <a:r>
              <a:rPr lang="en-US" altLang="ko-KR" smtClean="0"/>
              <a:t>3.M-4 </a:t>
            </a:r>
            <a:r>
              <a:rPr lang="ko-KR" altLang="en-US" smtClean="0"/>
              <a:t>이용하여 저항 및 콘덴서 측정</a:t>
            </a:r>
            <a:endParaRPr lang="ko-KR" altLang="ko-KR"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AF5BBE3-76F2-4E9D-BDF5-9698E4A0E393}" type="slidenum">
              <a:rPr lang="en-US" altLang="ko-KR" smtClean="0">
                <a:solidFill>
                  <a:srgbClr val="000000"/>
                </a:solidFill>
              </a:rPr>
              <a:pPr eaLnBrk="1" latinLnBrk="0" hangingPunct="1">
                <a:spcBef>
                  <a:spcPct val="0"/>
                </a:spcBef>
              </a:pPr>
              <a:t>39</a:t>
            </a:fld>
            <a:endParaRPr lang="en-US" altLang="ko-KR" smtClean="0">
              <a:solidFill>
                <a:srgbClr val="000000"/>
              </a:solidFill>
            </a:endParaRPr>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0A3B262-A55C-4FCC-A794-7B758476C931}" type="slidenum">
              <a:rPr lang="en-US" altLang="ko-KR" smtClean="0">
                <a:solidFill>
                  <a:srgbClr val="000000"/>
                </a:solidFill>
              </a:rPr>
              <a:pPr eaLnBrk="1" latinLnBrk="0" hangingPunct="1">
                <a:spcBef>
                  <a:spcPct val="0"/>
                </a:spcBef>
              </a:pPr>
              <a:t>40</a:t>
            </a:fld>
            <a:endParaRPr lang="en-US" altLang="ko-KR" smtClean="0">
              <a:solidFill>
                <a:srgbClr val="000000"/>
              </a:solidFill>
            </a:endParaRPr>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82F7025-3818-455D-9B2F-000230A381B2}" type="slidenum">
              <a:rPr lang="en-US" altLang="ko-KR" smtClean="0">
                <a:solidFill>
                  <a:srgbClr val="000000"/>
                </a:solidFill>
              </a:rPr>
              <a:pPr eaLnBrk="1" latinLnBrk="0" hangingPunct="1">
                <a:spcBef>
                  <a:spcPct val="0"/>
                </a:spcBef>
              </a:pPr>
              <a:t>41</a:t>
            </a:fld>
            <a:endParaRPr lang="en-US" altLang="ko-KR" smtClean="0">
              <a:solidFill>
                <a:srgbClr val="000000"/>
              </a:solidFill>
            </a:endParaRPr>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22ABF93-164F-4954-9933-9D13A411F211}" type="slidenum">
              <a:rPr lang="en-US" altLang="ko-KR" smtClean="0">
                <a:solidFill>
                  <a:srgbClr val="000000"/>
                </a:solidFill>
              </a:rPr>
              <a:pPr eaLnBrk="1" latinLnBrk="0" hangingPunct="1">
                <a:spcBef>
                  <a:spcPct val="0"/>
                </a:spcBef>
              </a:pPr>
              <a:t>42</a:t>
            </a:fld>
            <a:endParaRPr lang="en-US" altLang="ko-KR" smtClean="0">
              <a:solidFill>
                <a:srgbClr val="000000"/>
              </a:solidFill>
            </a:endParaRPr>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p:spPr>
        <p:txBody>
          <a:bodyPr/>
          <a:lstStyle/>
          <a:p>
            <a:pPr eaLnBrk="1" hangingPunct="1"/>
            <a:r>
              <a:rPr lang="en-US" altLang="ko-KR" smtClean="0"/>
              <a:t>1.</a:t>
            </a:r>
            <a:r>
              <a:rPr lang="ko-KR" altLang="en-US" smtClean="0"/>
              <a:t>교류전류를 측정함</a:t>
            </a:r>
            <a:r>
              <a:rPr lang="en-US" altLang="ko-KR" smtClean="0"/>
              <a:t>.</a:t>
            </a:r>
          </a:p>
          <a:p>
            <a:pPr eaLnBrk="1" hangingPunct="1"/>
            <a:r>
              <a:rPr lang="en-US" altLang="ko-KR" smtClean="0"/>
              <a:t>:</a:t>
            </a:r>
            <a:r>
              <a:rPr lang="ko-KR" altLang="en-US" smtClean="0"/>
              <a:t>전선을 자르지 않고 </a:t>
            </a:r>
            <a:r>
              <a:rPr lang="en-US" altLang="ko-KR" smtClean="0"/>
              <a:t>Clamp Meter </a:t>
            </a:r>
            <a:r>
              <a:rPr lang="ko-KR" altLang="en-US" smtClean="0"/>
              <a:t>원형에 넣어서 현재의 흐르는 전선의 전류를 측정 할 수 있는 계측기</a:t>
            </a:r>
          </a:p>
          <a:p>
            <a:pPr eaLnBrk="1" hangingPunct="1"/>
            <a:r>
              <a:rPr lang="en-US" altLang="ko-KR" smtClean="0"/>
              <a:t>2.Clamp Meter </a:t>
            </a:r>
            <a:r>
              <a:rPr lang="ko-KR" altLang="en-US" smtClean="0"/>
              <a:t>사용방법</a:t>
            </a:r>
          </a:p>
          <a:p>
            <a:pPr eaLnBrk="1" hangingPunct="1"/>
            <a:r>
              <a:rPr lang="en-US" altLang="ko-KR" smtClean="0"/>
              <a:t>:</a:t>
            </a:r>
            <a:r>
              <a:rPr lang="ko-KR" altLang="en-US" smtClean="0"/>
              <a:t>케이블 중 </a:t>
            </a:r>
            <a:r>
              <a:rPr lang="en-US" altLang="ko-KR" smtClean="0"/>
              <a:t>1</a:t>
            </a:r>
            <a:r>
              <a:rPr lang="ko-KR" altLang="en-US" smtClean="0"/>
              <a:t>선을 클램프 안에 넣어서 측정</a:t>
            </a:r>
            <a:endParaRPr lang="ko-KR" altLang="ko-KR"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56CA2D4-8CC7-4587-BCF3-99E6BEBC97C9}" type="slidenum">
              <a:rPr lang="en-US" altLang="ko-KR" smtClean="0">
                <a:solidFill>
                  <a:srgbClr val="000000"/>
                </a:solidFill>
              </a:rPr>
              <a:pPr eaLnBrk="1" latinLnBrk="0" hangingPunct="1">
                <a:spcBef>
                  <a:spcPct val="0"/>
                </a:spcBef>
              </a:pPr>
              <a:t>43</a:t>
            </a:fld>
            <a:endParaRPr lang="en-US" altLang="ko-KR" smtClean="0">
              <a:solidFill>
                <a:srgbClr val="000000"/>
              </a:solidFill>
            </a:endParaRPr>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17F4431-B990-4B90-B1C9-F5847215D0FE}" type="slidenum">
              <a:rPr lang="en-US" altLang="ko-KR" smtClean="0">
                <a:solidFill>
                  <a:srgbClr val="000000"/>
                </a:solidFill>
              </a:rPr>
              <a:pPr eaLnBrk="1" latinLnBrk="0" hangingPunct="1">
                <a:spcBef>
                  <a:spcPct val="0"/>
                </a:spcBef>
              </a:pPr>
              <a:t>44</a:t>
            </a:fld>
            <a:endParaRPr lang="en-US" altLang="ko-KR" smtClean="0">
              <a:solidFill>
                <a:srgbClr val="000000"/>
              </a:solidFill>
            </a:endParaRPr>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p:spPr>
        <p:txBody>
          <a:bodyPr/>
          <a:lstStyle/>
          <a:p>
            <a:pPr eaLnBrk="1" hangingPunct="1"/>
            <a:r>
              <a:rPr lang="en-US" altLang="ko-KR" smtClean="0"/>
              <a:t>1.</a:t>
            </a:r>
            <a:r>
              <a:rPr lang="ko-KR" altLang="en-US" smtClean="0"/>
              <a:t>절연 저항을 측정</a:t>
            </a:r>
            <a:r>
              <a:rPr lang="en-US" altLang="ko-KR" smtClean="0"/>
              <a:t>, </a:t>
            </a:r>
            <a:r>
              <a:rPr lang="ko-KR" altLang="en-US" smtClean="0"/>
              <a:t>누설 여부를 확인하는 측정기</a:t>
            </a:r>
            <a:endParaRPr lang="ko-KR" altLang="ko-KR"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760B6C3-85B1-40B3-9870-CBFE3763F8F1}" type="slidenum">
              <a:rPr lang="en-US" altLang="ko-KR" smtClean="0">
                <a:solidFill>
                  <a:srgbClr val="000000"/>
                </a:solidFill>
              </a:rPr>
              <a:pPr eaLnBrk="1" latinLnBrk="0" hangingPunct="1">
                <a:spcBef>
                  <a:spcPct val="0"/>
                </a:spcBef>
              </a:pPr>
              <a:t>45</a:t>
            </a:fld>
            <a:endParaRPr lang="en-US" altLang="ko-KR" smtClean="0">
              <a:solidFill>
                <a:srgbClr val="000000"/>
              </a:solidFill>
            </a:endParaRPr>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p:spPr>
        <p:txBody>
          <a:bodyPr/>
          <a:lstStyle/>
          <a:p>
            <a:pPr eaLnBrk="1" hangingPunct="1"/>
            <a:r>
              <a:rPr lang="en-US" altLang="ko-KR" smtClean="0"/>
              <a:t>1. </a:t>
            </a:r>
            <a:r>
              <a:rPr lang="ko-KR" altLang="en-US" smtClean="0"/>
              <a:t>직류와 교류의 정의</a:t>
            </a:r>
          </a:p>
          <a:p>
            <a:pPr eaLnBrk="1" hangingPunct="1"/>
            <a:r>
              <a:rPr lang="ko-KR" altLang="en-US" smtClean="0"/>
              <a:t>   </a:t>
            </a:r>
            <a:r>
              <a:rPr lang="en-US" altLang="ko-KR" smtClean="0"/>
              <a:t>- </a:t>
            </a:r>
            <a:r>
              <a:rPr lang="ko-KR" altLang="en-US" smtClean="0"/>
              <a:t>직류 </a:t>
            </a:r>
            <a:r>
              <a:rPr lang="en-US" altLang="ko-KR" smtClean="0"/>
              <a:t>: </a:t>
            </a:r>
            <a:r>
              <a:rPr lang="ko-KR" altLang="en-US" smtClean="0"/>
              <a:t>시간에 관계없이 방향과 크기가 일정</a:t>
            </a:r>
            <a:r>
              <a:rPr lang="en-US" altLang="ko-KR" smtClean="0"/>
              <a:t>.</a:t>
            </a:r>
          </a:p>
          <a:p>
            <a:pPr eaLnBrk="1" hangingPunct="1"/>
            <a:r>
              <a:rPr lang="en-US" altLang="ko-KR" smtClean="0"/>
              <a:t>   - </a:t>
            </a:r>
            <a:r>
              <a:rPr lang="ko-KR" altLang="en-US" smtClean="0"/>
              <a:t>교류 </a:t>
            </a:r>
            <a:r>
              <a:rPr lang="en-US" altLang="ko-KR" smtClean="0"/>
              <a:t>: </a:t>
            </a:r>
            <a:r>
              <a:rPr lang="ko-KR" altLang="en-US" smtClean="0"/>
              <a:t>시간에 따라 주기적으로 변하는 전류 또는 전압</a:t>
            </a:r>
            <a:r>
              <a:rPr lang="en-US" altLang="ko-KR" smtClean="0"/>
              <a:t>.( </a:t>
            </a:r>
            <a:r>
              <a:rPr lang="ko-KR" altLang="en-US" smtClean="0"/>
              <a:t>사인파</a:t>
            </a:r>
            <a:r>
              <a:rPr lang="en-US" altLang="ko-KR" smtClean="0"/>
              <a:t>,</a:t>
            </a:r>
            <a:r>
              <a:rPr lang="ko-KR" altLang="en-US" smtClean="0"/>
              <a:t>구형파 </a:t>
            </a:r>
            <a:r>
              <a:rPr lang="en-US" altLang="ko-KR" smtClean="0"/>
              <a:t>)</a:t>
            </a:r>
          </a:p>
          <a:p>
            <a:pPr eaLnBrk="1" hangingPunct="1"/>
            <a:r>
              <a:rPr lang="en-US" altLang="ko-KR" smtClean="0"/>
              <a:t>2. </a:t>
            </a:r>
            <a:r>
              <a:rPr lang="ko-KR" altLang="en-US" smtClean="0"/>
              <a:t>주기와 주파수에 대한 설명 </a:t>
            </a:r>
          </a:p>
          <a:p>
            <a:pPr eaLnBrk="1" hangingPunct="1"/>
            <a:r>
              <a:rPr lang="en-US" altLang="ko-KR" smtClean="0"/>
              <a:t>3. </a:t>
            </a:r>
            <a:r>
              <a:rPr lang="ko-KR" altLang="en-US" smtClean="0"/>
              <a:t>순시값</a:t>
            </a:r>
            <a:r>
              <a:rPr lang="en-US" altLang="ko-KR" smtClean="0"/>
              <a:t>,</a:t>
            </a:r>
            <a:r>
              <a:rPr lang="ko-KR" altLang="en-US" smtClean="0"/>
              <a:t>피크값</a:t>
            </a:r>
            <a:r>
              <a:rPr lang="en-US" altLang="ko-KR" smtClean="0"/>
              <a:t>,</a:t>
            </a:r>
            <a:r>
              <a:rPr lang="ko-KR" altLang="en-US" smtClean="0"/>
              <a:t>평균값에 대한 설명</a:t>
            </a:r>
          </a:p>
          <a:p>
            <a:pPr eaLnBrk="1" hangingPunct="1"/>
            <a:r>
              <a:rPr lang="en-US" altLang="ko-KR" smtClean="0"/>
              <a:t>4. </a:t>
            </a:r>
            <a:r>
              <a:rPr lang="ko-KR" altLang="en-US" smtClean="0"/>
              <a:t>파형의 판독</a:t>
            </a:r>
          </a:p>
          <a:p>
            <a:pPr eaLnBrk="1" hangingPunct="1"/>
            <a:r>
              <a:rPr lang="ko-KR" altLang="en-US" smtClean="0"/>
              <a:t>    </a:t>
            </a:r>
            <a:r>
              <a:rPr lang="en-US" altLang="ko-KR" smtClean="0"/>
              <a:t>- </a:t>
            </a:r>
            <a:r>
              <a:rPr lang="ko-KR" altLang="en-US" smtClean="0"/>
              <a:t>파형을 보면서 최대치</a:t>
            </a:r>
            <a:r>
              <a:rPr lang="en-US" altLang="ko-KR" smtClean="0"/>
              <a:t>,</a:t>
            </a:r>
            <a:r>
              <a:rPr lang="ko-KR" altLang="en-US" smtClean="0"/>
              <a:t>첨두치</a:t>
            </a:r>
            <a:r>
              <a:rPr lang="en-US" altLang="ko-KR" smtClean="0"/>
              <a:t>,</a:t>
            </a:r>
            <a:r>
              <a:rPr lang="ko-KR" altLang="en-US" smtClean="0"/>
              <a:t>실효치</a:t>
            </a:r>
            <a:r>
              <a:rPr lang="en-US" altLang="ko-KR" smtClean="0"/>
              <a:t>,</a:t>
            </a:r>
            <a:r>
              <a:rPr lang="ko-KR" altLang="en-US" smtClean="0"/>
              <a:t>평균치</a:t>
            </a:r>
            <a:r>
              <a:rPr lang="en-US" altLang="ko-KR" smtClean="0"/>
              <a:t>,</a:t>
            </a:r>
            <a:r>
              <a:rPr lang="ko-KR" altLang="en-US" smtClean="0"/>
              <a:t>주기</a:t>
            </a:r>
            <a:r>
              <a:rPr lang="en-US" altLang="ko-KR" smtClean="0"/>
              <a:t>,</a:t>
            </a:r>
            <a:r>
              <a:rPr lang="ko-KR" altLang="en-US" smtClean="0"/>
              <a:t>주파수 계산 방법 설명</a:t>
            </a:r>
          </a:p>
          <a:p>
            <a:pPr eaLnBrk="1" hangingPunct="1"/>
            <a:r>
              <a:rPr lang="ko-KR" altLang="en-US" smtClean="0"/>
              <a:t>    </a:t>
            </a:r>
            <a:r>
              <a:rPr lang="en-US" altLang="ko-KR" smtClean="0"/>
              <a:t>- </a:t>
            </a:r>
            <a:r>
              <a:rPr lang="ko-KR" altLang="en-US" smtClean="0"/>
              <a:t>실효값이란 교류전력과 동일한 일을 하는 직류 전력을 의미함</a:t>
            </a:r>
            <a:r>
              <a:rPr lang="en-US" altLang="ko-KR" smtClean="0"/>
              <a:t>. </a:t>
            </a:r>
          </a:p>
          <a:p>
            <a:pPr eaLnBrk="1" hangingPunct="1"/>
            <a:r>
              <a:rPr lang="en-US" altLang="ko-KR" smtClean="0"/>
              <a:t>       ( </a:t>
            </a:r>
            <a:r>
              <a:rPr lang="ko-KR" altLang="en-US" smtClean="0"/>
              <a:t>사인파에서의 실효치 설명 </a:t>
            </a:r>
            <a:r>
              <a:rPr lang="en-US" altLang="ko-KR" smtClean="0"/>
              <a:t>:</a:t>
            </a:r>
            <a:endParaRPr lang="ko-KR" altLang="ko-KR"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929FA98-29D6-4EDF-8325-E40F0FA100B5}" type="slidenum">
              <a:rPr lang="en-US" altLang="ko-KR" smtClean="0">
                <a:solidFill>
                  <a:srgbClr val="000000"/>
                </a:solidFill>
              </a:rPr>
              <a:pPr eaLnBrk="1" latinLnBrk="0" hangingPunct="1">
                <a:spcBef>
                  <a:spcPct val="0"/>
                </a:spcBef>
              </a:pPr>
              <a:t>46</a:t>
            </a:fld>
            <a:endParaRPr lang="en-US" altLang="ko-KR" smtClean="0">
              <a:solidFill>
                <a:srgbClr val="000000"/>
              </a:solidFill>
            </a:endParaRPr>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D6F2F08-DD11-4501-9CE0-F91704DB0271}" type="slidenum">
              <a:rPr lang="en-US" altLang="ko-KR" smtClean="0">
                <a:solidFill>
                  <a:srgbClr val="000000"/>
                </a:solidFill>
              </a:rPr>
              <a:pPr eaLnBrk="1" latinLnBrk="0" hangingPunct="1">
                <a:spcBef>
                  <a:spcPct val="0"/>
                </a:spcBef>
              </a:pPr>
              <a:t>47</a:t>
            </a:fld>
            <a:endParaRPr lang="en-US" altLang="ko-KR" smtClean="0">
              <a:solidFill>
                <a:srgbClr val="000000"/>
              </a:solidFill>
            </a:endParaRPr>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664511A-B0F8-4B78-AF61-3C44E66C44BB}" type="slidenum">
              <a:rPr lang="en-US" altLang="ko-KR" smtClean="0">
                <a:solidFill>
                  <a:srgbClr val="000000"/>
                </a:solidFill>
              </a:rPr>
              <a:pPr eaLnBrk="1" latinLnBrk="0" hangingPunct="1">
                <a:spcBef>
                  <a:spcPct val="0"/>
                </a:spcBef>
              </a:pPr>
              <a:t>48</a:t>
            </a:fld>
            <a:endParaRPr lang="en-US" altLang="ko-KR" smtClean="0">
              <a:solidFill>
                <a:srgbClr val="000000"/>
              </a:solidFill>
            </a:endParaRPr>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FCC4C76-A754-416C-AF4A-45CC8C744317}" type="slidenum">
              <a:rPr lang="en-US" altLang="ko-KR" smtClean="0">
                <a:solidFill>
                  <a:srgbClr val="000000"/>
                </a:solidFill>
              </a:rPr>
              <a:pPr eaLnBrk="1" latinLnBrk="0" hangingPunct="1">
                <a:spcBef>
                  <a:spcPct val="0"/>
                </a:spcBef>
              </a:pPr>
              <a:t>49</a:t>
            </a:fld>
            <a:endParaRPr lang="en-US" altLang="ko-KR" smtClean="0">
              <a:solidFill>
                <a:srgbClr val="000000"/>
              </a:solidFill>
            </a:endParaRPr>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E255624-49A9-40BE-91AF-F5A61D0CF5A3}" type="slidenum">
              <a:rPr lang="en-US" altLang="ko-KR" smtClean="0">
                <a:solidFill>
                  <a:srgbClr val="000000"/>
                </a:solidFill>
              </a:rPr>
              <a:pPr eaLnBrk="1" latinLnBrk="0" hangingPunct="1">
                <a:spcBef>
                  <a:spcPct val="0"/>
                </a:spcBef>
              </a:pPr>
              <a:t>50</a:t>
            </a:fld>
            <a:endParaRPr lang="en-US" altLang="ko-KR"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92616CF-B4AC-494D-B530-80F5B7937A90}" type="slidenum">
              <a:rPr lang="en-US" altLang="ko-KR" smtClean="0">
                <a:solidFill>
                  <a:srgbClr val="000000"/>
                </a:solidFill>
              </a:rPr>
              <a:pPr eaLnBrk="1" latinLnBrk="0" hangingPunct="1">
                <a:spcBef>
                  <a:spcPct val="0"/>
                </a:spcBef>
              </a:pPr>
              <a:t>51</a:t>
            </a:fld>
            <a:endParaRPr lang="en-US" altLang="ko-KR" smtClean="0">
              <a:solidFill>
                <a:srgbClr val="000000"/>
              </a:solidFill>
            </a:endParaRPr>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p:spPr>
        <p:txBody>
          <a:bodyPr/>
          <a:lstStyle/>
          <a:p>
            <a:pPr eaLnBrk="1" hangingPunct="1"/>
            <a:r>
              <a:rPr lang="en-US" altLang="ko-KR" smtClean="0"/>
              <a:t>1. Oscilloscope </a:t>
            </a:r>
            <a:r>
              <a:rPr lang="ko-KR" altLang="en-US" smtClean="0"/>
              <a:t>기능확인 </a:t>
            </a:r>
            <a:r>
              <a:rPr lang="en-US" altLang="ko-KR" smtClean="0"/>
              <a:t>( </a:t>
            </a:r>
            <a:r>
              <a:rPr lang="ko-KR" altLang="en-US" smtClean="0"/>
              <a:t>프로브 연결 및 </a:t>
            </a:r>
            <a:r>
              <a:rPr lang="en-US" altLang="ko-KR" smtClean="0"/>
              <a:t>Auto Set </a:t>
            </a:r>
            <a:r>
              <a:rPr lang="ko-KR" altLang="en-US" smtClean="0"/>
              <a:t>설명 </a:t>
            </a:r>
            <a:r>
              <a:rPr lang="en-US" altLang="ko-KR" smtClean="0"/>
              <a:t>)</a:t>
            </a:r>
          </a:p>
          <a:p>
            <a:pPr eaLnBrk="1" hangingPunct="1"/>
            <a:r>
              <a:rPr lang="en-US" altLang="ko-KR" smtClean="0"/>
              <a:t>2. </a:t>
            </a:r>
            <a:r>
              <a:rPr lang="ko-KR" altLang="en-US" smtClean="0"/>
              <a:t>수동 프로브 보정 방법 설명</a:t>
            </a:r>
          </a:p>
          <a:p>
            <a:pPr eaLnBrk="1" hangingPunct="1"/>
            <a:r>
              <a:rPr lang="en-US" altLang="ko-KR" smtClean="0"/>
              <a:t>3. Oscilloscope </a:t>
            </a:r>
            <a:r>
              <a:rPr lang="ko-KR" altLang="en-US" smtClean="0"/>
              <a:t>디스플레이 영역 설명</a:t>
            </a:r>
          </a:p>
          <a:p>
            <a:pPr eaLnBrk="1" hangingPunct="1"/>
            <a:r>
              <a:rPr lang="en-US" altLang="ko-KR" smtClean="0"/>
              <a:t>4. </a:t>
            </a:r>
            <a:r>
              <a:rPr lang="ko-KR" altLang="en-US" smtClean="0"/>
              <a:t>수직 컨트롤 및 수평 컨트롤에 대한 사용 방법 설명</a:t>
            </a:r>
          </a:p>
          <a:p>
            <a:pPr eaLnBrk="1" hangingPunct="1"/>
            <a:r>
              <a:rPr lang="en-US" altLang="ko-KR" smtClean="0"/>
              <a:t>5. </a:t>
            </a:r>
            <a:r>
              <a:rPr lang="ko-KR" altLang="en-US" smtClean="0"/>
              <a:t>메뉴 및 컨트롤 버튼에 대한 설명</a:t>
            </a:r>
            <a:endParaRPr lang="ko-KR" altLang="ko-KR"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DFCBE2A-DBA3-4DC7-97CC-E2FCA465DDC5}" type="slidenum">
              <a:rPr lang="en-US" altLang="ko-KR" smtClean="0">
                <a:solidFill>
                  <a:srgbClr val="000000"/>
                </a:solidFill>
              </a:rPr>
              <a:pPr eaLnBrk="1" latinLnBrk="0" hangingPunct="1">
                <a:spcBef>
                  <a:spcPct val="0"/>
                </a:spcBef>
              </a:pPr>
              <a:t>52</a:t>
            </a:fld>
            <a:endParaRPr lang="en-US" altLang="ko-KR" smtClean="0">
              <a:solidFill>
                <a:srgbClr val="000000"/>
              </a:solidFill>
            </a:endParaRPr>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7256560-63DA-4E09-80F8-338835DC5C18}" type="slidenum">
              <a:rPr lang="en-US" altLang="ko-KR" smtClean="0">
                <a:solidFill>
                  <a:srgbClr val="000000"/>
                </a:solidFill>
              </a:rPr>
              <a:pPr eaLnBrk="1" latinLnBrk="0" hangingPunct="1">
                <a:spcBef>
                  <a:spcPct val="0"/>
                </a:spcBef>
              </a:pPr>
              <a:t>53</a:t>
            </a:fld>
            <a:endParaRPr lang="en-US" altLang="ko-KR" smtClean="0">
              <a:solidFill>
                <a:srgbClr val="000000"/>
              </a:solidFill>
            </a:endParaRPr>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D992BB1-F3C2-4976-A34F-C0D53B2C45D4}" type="slidenum">
              <a:rPr lang="en-US" altLang="ko-KR" smtClean="0">
                <a:solidFill>
                  <a:srgbClr val="000000"/>
                </a:solidFill>
              </a:rPr>
              <a:pPr eaLnBrk="1" latinLnBrk="0" hangingPunct="1">
                <a:spcBef>
                  <a:spcPct val="0"/>
                </a:spcBef>
              </a:pPr>
              <a:t>54</a:t>
            </a:fld>
            <a:endParaRPr lang="en-US" altLang="ko-KR" smtClean="0">
              <a:solidFill>
                <a:srgbClr val="000000"/>
              </a:solidFill>
            </a:endParaRPr>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0C3E08F-398A-4B56-B5FE-8701BFC37E03}" type="slidenum">
              <a:rPr lang="en-US" altLang="ko-KR" smtClean="0">
                <a:solidFill>
                  <a:srgbClr val="000000"/>
                </a:solidFill>
              </a:rPr>
              <a:pPr eaLnBrk="1" latinLnBrk="0" hangingPunct="1">
                <a:spcBef>
                  <a:spcPct val="0"/>
                </a:spcBef>
              </a:pPr>
              <a:t>55</a:t>
            </a:fld>
            <a:endParaRPr lang="en-US" altLang="ko-KR" smtClean="0">
              <a:solidFill>
                <a:srgbClr val="000000"/>
              </a:solidFill>
            </a:endParaRPr>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24D96F6-3740-4BC4-8004-970EE9FE796D}" type="slidenum">
              <a:rPr lang="en-US" altLang="ko-KR" smtClean="0">
                <a:solidFill>
                  <a:srgbClr val="000000"/>
                </a:solidFill>
              </a:rPr>
              <a:pPr eaLnBrk="1" latinLnBrk="0" hangingPunct="1">
                <a:spcBef>
                  <a:spcPct val="0"/>
                </a:spcBef>
              </a:pPr>
              <a:t>56</a:t>
            </a:fld>
            <a:endParaRPr lang="en-US" altLang="ko-KR" smtClean="0">
              <a:solidFill>
                <a:srgbClr val="000000"/>
              </a:solidFill>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35C5607-0AC2-4564-BFEC-EB6AC3B647C2}" type="slidenum">
              <a:rPr lang="en-US" altLang="ko-KR" smtClean="0">
                <a:solidFill>
                  <a:srgbClr val="000000"/>
                </a:solidFill>
              </a:rPr>
              <a:pPr eaLnBrk="1" latinLnBrk="0" hangingPunct="1">
                <a:spcBef>
                  <a:spcPct val="0"/>
                </a:spcBef>
              </a:pPr>
              <a:t>57</a:t>
            </a:fld>
            <a:endParaRPr lang="en-US" altLang="ko-KR" smtClean="0">
              <a:solidFill>
                <a:srgbClr val="000000"/>
              </a:solidFill>
            </a:endParaRPr>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6815B7B-8AEE-4572-A736-62F61DBE3BBE}" type="slidenum">
              <a:rPr lang="en-US" altLang="ko-KR" smtClean="0">
                <a:solidFill>
                  <a:srgbClr val="000000"/>
                </a:solidFill>
              </a:rPr>
              <a:pPr eaLnBrk="1" latinLnBrk="0" hangingPunct="1">
                <a:spcBef>
                  <a:spcPct val="0"/>
                </a:spcBef>
              </a:pPr>
              <a:t>58</a:t>
            </a:fld>
            <a:endParaRPr lang="en-US" altLang="ko-KR" smtClean="0">
              <a:solidFill>
                <a:srgbClr val="000000"/>
              </a:solidFill>
            </a:endParaRPr>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p:spPr>
        <p:txBody>
          <a:bodyPr/>
          <a:lstStyle/>
          <a:p>
            <a:pPr eaLnBrk="1" hangingPunct="1"/>
            <a:r>
              <a:rPr lang="en-US" altLang="ko-KR" smtClean="0"/>
              <a:t>1. Function Generator</a:t>
            </a:r>
            <a:r>
              <a:rPr lang="ko-KR" altLang="en-US" smtClean="0"/>
              <a:t>의 기능 이해</a:t>
            </a:r>
          </a:p>
          <a:p>
            <a:pPr eaLnBrk="1" hangingPunct="1"/>
            <a:r>
              <a:rPr lang="en-US" altLang="ko-KR" smtClean="0"/>
              <a:t>2. Function Generator</a:t>
            </a:r>
            <a:r>
              <a:rPr lang="ko-KR" altLang="en-US" smtClean="0"/>
              <a:t>와 </a:t>
            </a:r>
            <a:r>
              <a:rPr lang="en-US" altLang="ko-KR" smtClean="0"/>
              <a:t>Oscilloscope</a:t>
            </a:r>
            <a:r>
              <a:rPr lang="ko-KR" altLang="en-US" smtClean="0"/>
              <a:t>를 이용하여 신호대역 별로 측정한다</a:t>
            </a:r>
            <a:r>
              <a:rPr lang="en-US" altLang="ko-KR" smtClean="0"/>
              <a:t>.</a:t>
            </a:r>
          </a:p>
          <a:p>
            <a:pPr eaLnBrk="1" hangingPunct="1"/>
            <a:r>
              <a:rPr lang="en-US" altLang="ko-KR" smtClean="0"/>
              <a:t>   ( </a:t>
            </a:r>
            <a:r>
              <a:rPr lang="ko-KR" altLang="en-US" smtClean="0"/>
              <a:t>실습 예제 </a:t>
            </a:r>
            <a:r>
              <a:rPr lang="en-US" altLang="ko-KR" smtClean="0"/>
              <a:t>)</a:t>
            </a:r>
            <a:endParaRPr lang="ko-KR" altLang="ko-KR"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E1326E6-558F-4D03-81F5-7EA86D8BDE18}" type="slidenum">
              <a:rPr lang="en-US" altLang="ko-KR" smtClean="0">
                <a:solidFill>
                  <a:srgbClr val="000000"/>
                </a:solidFill>
              </a:rPr>
              <a:pPr eaLnBrk="1" latinLnBrk="0" hangingPunct="1">
                <a:spcBef>
                  <a:spcPct val="0"/>
                </a:spcBef>
              </a:pPr>
              <a:t>59</a:t>
            </a:fld>
            <a:endParaRPr lang="en-US" altLang="ko-KR" smtClean="0">
              <a:solidFill>
                <a:srgbClr val="000000"/>
              </a:solidFill>
            </a:endParaRPr>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47C70D3-3FF5-46E0-ABAF-839E67B921F7}" type="slidenum">
              <a:rPr lang="en-US" altLang="ko-KR" smtClean="0">
                <a:solidFill>
                  <a:srgbClr val="000000"/>
                </a:solidFill>
              </a:rPr>
              <a:pPr eaLnBrk="1" latinLnBrk="0" hangingPunct="1">
                <a:spcBef>
                  <a:spcPct val="0"/>
                </a:spcBef>
              </a:pPr>
              <a:t>60</a:t>
            </a:fld>
            <a:endParaRPr lang="en-US" altLang="ko-KR" smtClean="0">
              <a:solidFill>
                <a:srgbClr val="000000"/>
              </a:solidFill>
            </a:endParaRPr>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p:spPr>
        <p:txBody>
          <a:bodyPr/>
          <a:lstStyle/>
          <a:p>
            <a:pPr eaLnBrk="1" hangingPunct="1"/>
            <a:r>
              <a:rPr lang="ko-KR" altLang="en-US" smtClean="0"/>
              <a:t>저항은 전류의 흐름을 제한하는 것으로 전기회로를 순조롭게 동작하도록 하는것</a:t>
            </a:r>
            <a:r>
              <a:rPr lang="en-US" altLang="ko-KR" smtClean="0"/>
              <a:t>(</a:t>
            </a:r>
            <a:r>
              <a:rPr lang="ko-KR" altLang="en-US" smtClean="0"/>
              <a:t>저항기</a:t>
            </a:r>
            <a:r>
              <a:rPr lang="en-US" altLang="ko-KR" smtClean="0"/>
              <a:t>)</a:t>
            </a:r>
            <a:endParaRPr lang="ko-KR" altLang="ko-KR"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79439FD-1079-44A7-B14F-0E23DAEF85CC}" type="slidenum">
              <a:rPr lang="en-US" altLang="ko-KR" smtClean="0">
                <a:solidFill>
                  <a:srgbClr val="000000"/>
                </a:solidFill>
              </a:rPr>
              <a:pPr eaLnBrk="1" latinLnBrk="0" hangingPunct="1">
                <a:spcBef>
                  <a:spcPct val="0"/>
                </a:spcBef>
              </a:pPr>
              <a:t>61</a:t>
            </a:fld>
            <a:endParaRPr lang="en-US" altLang="ko-KR" smtClean="0">
              <a:solidFill>
                <a:srgbClr val="000000"/>
              </a:solidFill>
            </a:endParaRPr>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p:spPr>
        <p:txBody>
          <a:bodyPr/>
          <a:lstStyle/>
          <a:p>
            <a:pPr eaLnBrk="1" hangingPunct="1"/>
            <a:r>
              <a:rPr lang="ko-KR" altLang="en-US" smtClean="0"/>
              <a:t>저항은 전류의 흐름을 제한하는 것으로 전기회로를 순조롭게 동작하도록 하는것</a:t>
            </a:r>
            <a:r>
              <a:rPr lang="en-US" altLang="ko-KR" smtClean="0"/>
              <a:t>(</a:t>
            </a:r>
            <a:r>
              <a:rPr lang="ko-KR" altLang="en-US" smtClean="0"/>
              <a:t>저항기</a:t>
            </a:r>
            <a:r>
              <a:rPr lang="en-US" altLang="ko-KR" smtClean="0"/>
              <a:t>)</a:t>
            </a:r>
            <a:endParaRPr lang="ko-KR" altLang="ko-KR"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C068AEA-5135-4516-B138-9799981F8E5E}" type="slidenum">
              <a:rPr lang="en-US" altLang="ko-KR" smtClean="0">
                <a:solidFill>
                  <a:srgbClr val="000000"/>
                </a:solidFill>
              </a:rPr>
              <a:pPr eaLnBrk="1" latinLnBrk="0" hangingPunct="1">
                <a:spcBef>
                  <a:spcPct val="0"/>
                </a:spcBef>
              </a:pPr>
              <a:t>62</a:t>
            </a:fld>
            <a:endParaRPr lang="en-US" altLang="ko-KR" smtClean="0">
              <a:solidFill>
                <a:srgbClr val="000000"/>
              </a:solidFill>
            </a:endParaRPr>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p:spPr>
        <p:txBody>
          <a:bodyPr/>
          <a:lstStyle/>
          <a:p>
            <a:pPr eaLnBrk="1" hangingPunct="1"/>
            <a:r>
              <a:rPr lang="en-US" altLang="ko-KR" smtClean="0"/>
              <a:t>1. </a:t>
            </a:r>
            <a:r>
              <a:rPr lang="ko-KR" altLang="en-US" smtClean="0"/>
              <a:t>전자의 이동을 방해하는 성질을 저항이라한다</a:t>
            </a:r>
          </a:p>
          <a:p>
            <a:pPr eaLnBrk="1" hangingPunct="1"/>
            <a:r>
              <a:rPr lang="en-US" altLang="ko-KR" smtClean="0"/>
              <a:t>2. </a:t>
            </a:r>
            <a:r>
              <a:rPr lang="ko-KR" altLang="en-US" smtClean="0"/>
              <a:t>저항의 단위</a:t>
            </a:r>
            <a:r>
              <a:rPr lang="en-US" altLang="ko-KR" smtClean="0"/>
              <a:t>Ω, </a:t>
            </a:r>
            <a:r>
              <a:rPr lang="ko-KR" altLang="en-US" smtClean="0"/>
              <a:t>기호</a:t>
            </a:r>
            <a:r>
              <a:rPr lang="en-US" altLang="ko-KR" smtClean="0"/>
              <a:t>(A : Ampere)</a:t>
            </a:r>
          </a:p>
          <a:p>
            <a:pPr eaLnBrk="1" hangingPunct="1"/>
            <a:r>
              <a:rPr lang="en-US" altLang="ko-KR" smtClean="0"/>
              <a:t>3. </a:t>
            </a:r>
            <a:r>
              <a:rPr lang="ko-KR" altLang="en-US" smtClean="0"/>
              <a:t>저항은 단면적이 클수록 작아지고</a:t>
            </a:r>
            <a:r>
              <a:rPr lang="en-US" altLang="ko-KR" smtClean="0"/>
              <a:t>, </a:t>
            </a:r>
            <a:r>
              <a:rPr lang="ko-KR" altLang="en-US" smtClean="0"/>
              <a:t>길이가 길어질수록 커진다</a:t>
            </a:r>
          </a:p>
          <a:p>
            <a:pPr eaLnBrk="1" hangingPunct="1"/>
            <a:r>
              <a:rPr lang="ko-KR" altLang="en-US" smtClean="0"/>
              <a:t> </a:t>
            </a:r>
            <a:r>
              <a:rPr lang="en-US" altLang="ko-KR" smtClean="0"/>
              <a:t>- (</a:t>
            </a:r>
            <a:r>
              <a:rPr lang="ko-KR" altLang="en-US" smtClean="0"/>
              <a:t>물질의 저항</a:t>
            </a:r>
            <a:r>
              <a:rPr lang="en-US" altLang="ko-KR" smtClean="0"/>
              <a:t>)=(</a:t>
            </a:r>
            <a:r>
              <a:rPr lang="ko-KR" altLang="en-US" smtClean="0"/>
              <a:t>물질의 종류에 따르는 상수</a:t>
            </a:r>
            <a:r>
              <a:rPr lang="en-US" altLang="ko-KR" smtClean="0"/>
              <a:t>) X (</a:t>
            </a:r>
            <a:r>
              <a:rPr lang="ko-KR" altLang="en-US" smtClean="0"/>
              <a:t>길이</a:t>
            </a:r>
            <a:r>
              <a:rPr lang="en-US" altLang="ko-KR" smtClean="0"/>
              <a:t>) / (</a:t>
            </a:r>
            <a:r>
              <a:rPr lang="ko-KR" altLang="en-US" smtClean="0"/>
              <a:t>단면적</a:t>
            </a:r>
            <a:r>
              <a:rPr lang="en-US" altLang="ko-KR" smtClean="0"/>
              <a:t>)</a:t>
            </a:r>
          </a:p>
          <a:p>
            <a:pPr eaLnBrk="1" hangingPunct="1"/>
            <a:r>
              <a:rPr lang="en-US" altLang="ko-KR" smtClean="0"/>
              <a:t>4. </a:t>
            </a:r>
            <a:r>
              <a:rPr lang="ko-KR" altLang="en-US" smtClean="0"/>
              <a:t>온도가 높아질수록 저항은 증가한다</a:t>
            </a:r>
            <a:endParaRPr lang="ko-KR" altLang="ko-KR"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E7FEBEF-F8EC-446B-942C-66EFAB4665B2}" type="slidenum">
              <a:rPr lang="en-US" altLang="ko-KR" smtClean="0">
                <a:solidFill>
                  <a:srgbClr val="000000"/>
                </a:solidFill>
              </a:rPr>
              <a:pPr eaLnBrk="1" latinLnBrk="0" hangingPunct="1">
                <a:spcBef>
                  <a:spcPct val="0"/>
                </a:spcBef>
              </a:pPr>
              <a:t>63</a:t>
            </a:fld>
            <a:endParaRPr lang="en-US" altLang="ko-KR" smtClean="0">
              <a:solidFill>
                <a:srgbClr val="000000"/>
              </a:solidFill>
            </a:endParaRPr>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p:spPr>
        <p:txBody>
          <a:bodyPr/>
          <a:lstStyle/>
          <a:p>
            <a:pPr eaLnBrk="1" hangingPunct="1"/>
            <a:r>
              <a:rPr lang="en-US" altLang="ko-KR" smtClean="0"/>
              <a:t>1.</a:t>
            </a:r>
            <a:r>
              <a:rPr lang="ko-KR" altLang="en-US" smtClean="0"/>
              <a:t>줄열의 정의 및 공식 설명</a:t>
            </a:r>
          </a:p>
          <a:p>
            <a:pPr eaLnBrk="1" hangingPunct="1"/>
            <a:r>
              <a:rPr lang="ko-KR" altLang="en-US" smtClean="0"/>
              <a:t> </a:t>
            </a:r>
            <a:r>
              <a:rPr lang="en-US" altLang="ko-KR" smtClean="0"/>
              <a:t>-.</a:t>
            </a:r>
            <a:r>
              <a:rPr lang="ko-KR" altLang="en-US" smtClean="0"/>
              <a:t>도체내부에 자유전자가 이동할때일부전자는 원자 등과 부딪쳐서 운동에너지의 일부가 빛이나 열로써 방출되는데 이열을 줄열이라 한다</a:t>
            </a:r>
            <a:r>
              <a:rPr lang="en-US" altLang="ko-KR" smtClean="0"/>
              <a:t>.</a:t>
            </a:r>
          </a:p>
          <a:p>
            <a:pPr eaLnBrk="1" hangingPunct="1"/>
            <a:r>
              <a:rPr lang="en-US" altLang="ko-KR" smtClean="0"/>
              <a:t>  -. J = I^2 * R [W]  (</a:t>
            </a:r>
            <a:r>
              <a:rPr lang="ko-KR" altLang="en-US" smtClean="0"/>
              <a:t>단위 </a:t>
            </a:r>
            <a:r>
              <a:rPr lang="en-US" altLang="ko-KR" smtClean="0"/>
              <a:t>[W])</a:t>
            </a:r>
          </a:p>
          <a:p>
            <a:pPr eaLnBrk="1" hangingPunct="1"/>
            <a:r>
              <a:rPr lang="en-US" altLang="ko-KR" smtClean="0"/>
              <a:t>2. </a:t>
            </a:r>
            <a:r>
              <a:rPr lang="ko-KR" altLang="en-US" smtClean="0"/>
              <a:t>저항체의 종류</a:t>
            </a:r>
            <a:r>
              <a:rPr lang="en-US" altLang="ko-KR" smtClean="0"/>
              <a:t>(</a:t>
            </a:r>
            <a:r>
              <a:rPr lang="ko-KR" altLang="en-US" smtClean="0"/>
              <a:t>백열전구의 필라 멘트</a:t>
            </a:r>
            <a:r>
              <a:rPr lang="en-US" altLang="ko-KR" smtClean="0"/>
              <a:t>)</a:t>
            </a:r>
            <a:r>
              <a:rPr lang="ko-KR" altLang="en-US" smtClean="0"/>
              <a:t>를 예를 들어 설명한다</a:t>
            </a:r>
            <a:r>
              <a:rPr lang="en-US" altLang="ko-KR" smtClean="0"/>
              <a:t>.</a:t>
            </a:r>
          </a:p>
          <a:p>
            <a:pPr eaLnBrk="1" hangingPunct="1"/>
            <a:r>
              <a:rPr lang="en-US" altLang="ko-KR" smtClean="0"/>
              <a:t>3. </a:t>
            </a:r>
            <a:r>
              <a:rPr lang="ko-KR" altLang="en-US" smtClean="0"/>
              <a:t>송전선로의 전선은 줄열이 적은</a:t>
            </a:r>
            <a:r>
              <a:rPr lang="en-US" altLang="ko-KR" smtClean="0"/>
              <a:t>(</a:t>
            </a:r>
            <a:r>
              <a:rPr lang="ko-KR" altLang="en-US" smtClean="0"/>
              <a:t>손실이 적은</a:t>
            </a:r>
            <a:r>
              <a:rPr lang="en-US" altLang="ko-KR" smtClean="0"/>
              <a:t>)  </a:t>
            </a:r>
            <a:r>
              <a:rPr lang="ko-KR" altLang="en-US" smtClean="0"/>
              <a:t>구리나 알루미늄선을 사용한다</a:t>
            </a:r>
            <a:r>
              <a:rPr lang="en-US" altLang="ko-KR" smtClean="0"/>
              <a:t>. </a:t>
            </a:r>
            <a:endParaRPr lang="ko-KR" altLang="ko-KR"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48B2223-178A-4A61-9856-E543DD114FBA}" type="slidenum">
              <a:rPr lang="en-US" altLang="ko-KR" smtClean="0">
                <a:solidFill>
                  <a:srgbClr val="000000"/>
                </a:solidFill>
              </a:rPr>
              <a:pPr eaLnBrk="1" latinLnBrk="0" hangingPunct="1">
                <a:spcBef>
                  <a:spcPct val="0"/>
                </a:spcBef>
              </a:pPr>
              <a:t>64</a:t>
            </a:fld>
            <a:endParaRPr lang="en-US" altLang="ko-KR" smtClean="0">
              <a:solidFill>
                <a:srgbClr val="000000"/>
              </a:solidFill>
            </a:endParaRPr>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p:spPr>
        <p:txBody>
          <a:bodyPr/>
          <a:lstStyle/>
          <a:p>
            <a:pPr eaLnBrk="1" hangingPunct="1"/>
            <a:r>
              <a:rPr lang="en-US" altLang="ko-KR" smtClean="0"/>
              <a:t>1. </a:t>
            </a:r>
            <a:r>
              <a:rPr lang="ko-KR" altLang="en-US" smtClean="0"/>
              <a:t>저항 기호</a:t>
            </a:r>
            <a:r>
              <a:rPr lang="en-US" altLang="ko-KR" smtClean="0"/>
              <a:t>:R / </a:t>
            </a:r>
            <a:r>
              <a:rPr lang="ko-KR" altLang="en-US" smtClean="0"/>
              <a:t>단위</a:t>
            </a:r>
            <a:r>
              <a:rPr lang="en-US" altLang="ko-KR" smtClean="0"/>
              <a:t>:Ohm(Ω) , </a:t>
            </a:r>
            <a:r>
              <a:rPr lang="ko-KR" altLang="en-US" smtClean="0"/>
              <a:t>회로 기호를 설명한다</a:t>
            </a:r>
            <a:r>
              <a:rPr lang="en-US" altLang="ko-KR" smtClean="0"/>
              <a:t>.</a:t>
            </a:r>
          </a:p>
          <a:p>
            <a:pPr eaLnBrk="1" hangingPunct="1"/>
            <a:r>
              <a:rPr lang="en-US" altLang="ko-KR" smtClean="0"/>
              <a:t>2. 1[V]</a:t>
            </a:r>
            <a:r>
              <a:rPr lang="ko-KR" altLang="en-US" smtClean="0"/>
              <a:t>전압에 </a:t>
            </a:r>
            <a:r>
              <a:rPr lang="en-US" altLang="ko-KR" smtClean="0"/>
              <a:t>1[A]</a:t>
            </a:r>
            <a:r>
              <a:rPr lang="ko-KR" altLang="en-US" smtClean="0"/>
              <a:t>의 전류가 흐르는 경우를 </a:t>
            </a:r>
            <a:r>
              <a:rPr lang="en-US" altLang="ko-KR" smtClean="0"/>
              <a:t>1Ω </a:t>
            </a:r>
            <a:r>
              <a:rPr lang="ko-KR" altLang="en-US" smtClean="0"/>
              <a:t>이라 한다</a:t>
            </a:r>
            <a:r>
              <a:rPr lang="en-US" altLang="ko-KR" smtClean="0"/>
              <a:t>.</a:t>
            </a:r>
          </a:p>
          <a:p>
            <a:pPr eaLnBrk="1" hangingPunct="1"/>
            <a:r>
              <a:rPr lang="en-US" altLang="ko-KR" smtClean="0"/>
              <a:t>3. </a:t>
            </a:r>
            <a:r>
              <a:rPr lang="ko-KR" altLang="en-US" smtClean="0"/>
              <a:t>저항 색깔을 통해 저항의 크기를 확인 할수 있도록 설명한다</a:t>
            </a:r>
            <a:r>
              <a:rPr lang="en-US" altLang="ko-KR" smtClean="0"/>
              <a:t>.</a:t>
            </a:r>
          </a:p>
          <a:p>
            <a:pPr eaLnBrk="1" hangingPunct="1"/>
            <a:r>
              <a:rPr lang="en-US" altLang="ko-KR" smtClean="0"/>
              <a:t>  -. </a:t>
            </a:r>
            <a:r>
              <a:rPr lang="ko-KR" altLang="en-US" smtClean="0"/>
              <a:t>황색 </a:t>
            </a:r>
            <a:r>
              <a:rPr lang="en-US" altLang="ko-KR" smtClean="0"/>
              <a:t>, </a:t>
            </a:r>
            <a:r>
              <a:rPr lang="ko-KR" altLang="en-US" smtClean="0"/>
              <a:t>자색 </a:t>
            </a:r>
            <a:r>
              <a:rPr lang="en-US" altLang="ko-KR" smtClean="0"/>
              <a:t>, </a:t>
            </a:r>
            <a:r>
              <a:rPr lang="ko-KR" altLang="en-US" smtClean="0"/>
              <a:t>등색 </a:t>
            </a:r>
            <a:r>
              <a:rPr lang="en-US" altLang="ko-KR" smtClean="0"/>
              <a:t>, </a:t>
            </a:r>
            <a:r>
              <a:rPr lang="ko-KR" altLang="en-US" smtClean="0"/>
              <a:t>금색일 경우  </a:t>
            </a:r>
            <a:r>
              <a:rPr lang="en-US" altLang="ko-KR" smtClean="0"/>
              <a:t>4 ,7, 1000 = 47 [KΩ] </a:t>
            </a:r>
            <a:r>
              <a:rPr lang="ko-KR" altLang="en-US" smtClean="0"/>
              <a:t>이며</a:t>
            </a:r>
            <a:r>
              <a:rPr lang="en-US" altLang="ko-KR" smtClean="0"/>
              <a:t>, </a:t>
            </a:r>
            <a:r>
              <a:rPr lang="ko-KR" altLang="en-US" smtClean="0"/>
              <a:t>오차는 </a:t>
            </a:r>
            <a:r>
              <a:rPr lang="en-US" altLang="ko-KR" smtClean="0"/>
              <a:t>±5% </a:t>
            </a:r>
            <a:r>
              <a:rPr lang="ko-KR" altLang="en-US" smtClean="0"/>
              <a:t>이내이다</a:t>
            </a:r>
            <a:r>
              <a:rPr lang="en-US" altLang="ko-KR" smtClean="0"/>
              <a:t>.</a:t>
            </a:r>
          </a:p>
          <a:p>
            <a:pPr eaLnBrk="1" hangingPunct="1"/>
            <a:r>
              <a:rPr lang="en-US" altLang="ko-KR" smtClean="0"/>
              <a:t>  -. 4K7J</a:t>
            </a:r>
            <a:r>
              <a:rPr lang="ko-KR" altLang="en-US" smtClean="0"/>
              <a:t>일 경우  </a:t>
            </a:r>
            <a:r>
              <a:rPr lang="en-US" altLang="ko-KR" smtClean="0"/>
              <a:t>47 [KΩ] </a:t>
            </a:r>
            <a:r>
              <a:rPr lang="ko-KR" altLang="en-US" smtClean="0"/>
              <a:t>이며</a:t>
            </a:r>
            <a:r>
              <a:rPr lang="en-US" altLang="ko-KR" smtClean="0"/>
              <a:t>, </a:t>
            </a:r>
            <a:r>
              <a:rPr lang="ko-KR" altLang="en-US" smtClean="0"/>
              <a:t>오차는 </a:t>
            </a:r>
            <a:r>
              <a:rPr lang="en-US" altLang="ko-KR" smtClean="0"/>
              <a:t>±5% </a:t>
            </a:r>
            <a:r>
              <a:rPr lang="ko-KR" altLang="en-US" smtClean="0"/>
              <a:t>이내이다</a:t>
            </a:r>
            <a:r>
              <a:rPr lang="en-US" altLang="ko-KR" smtClean="0"/>
              <a:t>.</a:t>
            </a:r>
          </a:p>
          <a:p>
            <a:pPr eaLnBrk="1" hangingPunct="1"/>
            <a:r>
              <a:rPr lang="en-US" altLang="ko-KR" smtClean="0"/>
              <a:t>  -. M03 </a:t>
            </a:r>
            <a:r>
              <a:rPr lang="ko-KR" altLang="en-US" smtClean="0"/>
              <a:t>실습 </a:t>
            </a:r>
            <a:r>
              <a:rPr lang="en-US" altLang="ko-KR" smtClean="0"/>
              <a:t>Kit</a:t>
            </a:r>
            <a:r>
              <a:rPr lang="ko-KR" altLang="en-US" smtClean="0"/>
              <a:t>를 이용하여 색깔로 저항의 크기를</a:t>
            </a:r>
            <a:endParaRPr lang="ko-KR" altLang="ko-KR"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72378D4-77BF-44AA-B95D-86E00D321B96}" type="slidenum">
              <a:rPr lang="en-US" altLang="ko-KR" smtClean="0">
                <a:solidFill>
                  <a:srgbClr val="000000"/>
                </a:solidFill>
              </a:rPr>
              <a:pPr eaLnBrk="1" latinLnBrk="0" hangingPunct="1">
                <a:spcBef>
                  <a:spcPct val="0"/>
                </a:spcBef>
              </a:pPr>
              <a:t>65</a:t>
            </a:fld>
            <a:endParaRPr lang="en-US" altLang="ko-KR" smtClean="0">
              <a:solidFill>
                <a:srgbClr val="000000"/>
              </a:solidFill>
            </a:endParaRPr>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p:spPr>
        <p:txBody>
          <a:bodyPr/>
          <a:lstStyle/>
          <a:p>
            <a:pPr eaLnBrk="1" hangingPunct="1"/>
            <a:r>
              <a:rPr lang="en-US" altLang="ko-KR" smtClean="0"/>
              <a:t>1.</a:t>
            </a:r>
            <a:r>
              <a:rPr lang="ko-KR" altLang="en-US" smtClean="0"/>
              <a:t>소형 탄소 피막 저항</a:t>
            </a:r>
          </a:p>
          <a:p>
            <a:pPr eaLnBrk="1" hangingPunct="1"/>
            <a:r>
              <a:rPr lang="ko-KR" altLang="en-US" smtClean="0"/>
              <a:t> </a:t>
            </a:r>
            <a:r>
              <a:rPr lang="en-US" altLang="ko-KR" smtClean="0"/>
              <a:t>-. Ceramic </a:t>
            </a:r>
            <a:r>
              <a:rPr lang="ko-KR" altLang="en-US" smtClean="0"/>
              <a:t>탄송계의 저항체를 구워 붙이고</a:t>
            </a:r>
            <a:r>
              <a:rPr lang="en-US" altLang="ko-KR" smtClean="0"/>
              <a:t>, </a:t>
            </a:r>
            <a:r>
              <a:rPr lang="ko-KR" altLang="en-US" smtClean="0"/>
              <a:t>여기에 나선형 홈을 파서 원하는 저항 값을 만든것</a:t>
            </a:r>
          </a:p>
          <a:p>
            <a:pPr eaLnBrk="1" hangingPunct="1"/>
            <a:r>
              <a:rPr lang="ko-KR" altLang="en-US" smtClean="0"/>
              <a:t> </a:t>
            </a:r>
            <a:r>
              <a:rPr lang="en-US" altLang="ko-KR" smtClean="0"/>
              <a:t>-. </a:t>
            </a:r>
            <a:r>
              <a:rPr lang="ko-KR" altLang="en-US" smtClean="0"/>
              <a:t>가장 값싼 저항이며</a:t>
            </a:r>
            <a:r>
              <a:rPr lang="en-US" altLang="ko-KR" smtClean="0"/>
              <a:t>, </a:t>
            </a:r>
            <a:r>
              <a:rPr lang="ko-KR" altLang="en-US" smtClean="0"/>
              <a:t>보통 </a:t>
            </a:r>
            <a:r>
              <a:rPr lang="en-US" altLang="ko-KR" smtClean="0"/>
              <a:t>Carbon </a:t>
            </a:r>
            <a:r>
              <a:rPr lang="ko-KR" altLang="en-US" smtClean="0"/>
              <a:t>저항이라 부르며</a:t>
            </a:r>
            <a:r>
              <a:rPr lang="en-US" altLang="ko-KR" smtClean="0"/>
              <a:t>, </a:t>
            </a:r>
            <a:r>
              <a:rPr lang="ko-KR" altLang="en-US" smtClean="0"/>
              <a:t>정밀한 용도로는 부적합하다</a:t>
            </a:r>
            <a:r>
              <a:rPr lang="en-US" altLang="ko-KR" smtClean="0"/>
              <a:t>.</a:t>
            </a:r>
          </a:p>
          <a:p>
            <a:pPr eaLnBrk="1" hangingPunct="1"/>
            <a:r>
              <a:rPr lang="en-US" altLang="ko-KR" smtClean="0"/>
              <a:t>2. </a:t>
            </a:r>
            <a:r>
              <a:rPr lang="ko-KR" altLang="en-US" smtClean="0"/>
              <a:t>금속 피막 저항</a:t>
            </a:r>
          </a:p>
          <a:p>
            <a:pPr eaLnBrk="1" hangingPunct="1"/>
            <a:r>
              <a:rPr lang="ko-KR" altLang="en-US" smtClean="0"/>
              <a:t> </a:t>
            </a:r>
            <a:r>
              <a:rPr lang="en-US" altLang="ko-KR" smtClean="0"/>
              <a:t>-. Ceramic </a:t>
            </a:r>
            <a:r>
              <a:rPr lang="ko-KR" altLang="en-US" smtClean="0"/>
              <a:t>봉에 금속피막을 증착 또는 소결하고</a:t>
            </a:r>
            <a:r>
              <a:rPr lang="en-US" altLang="ko-KR" smtClean="0"/>
              <a:t>, </a:t>
            </a:r>
            <a:r>
              <a:rPr lang="ko-KR" altLang="en-US" smtClean="0"/>
              <a:t>이것에 선형 홈을 파서 원하는 저항 값을 </a:t>
            </a:r>
          </a:p>
          <a:p>
            <a:pPr eaLnBrk="1" hangingPunct="1"/>
            <a:r>
              <a:rPr lang="ko-KR" altLang="en-US" smtClean="0"/>
              <a:t>    만든것</a:t>
            </a:r>
          </a:p>
          <a:p>
            <a:pPr eaLnBrk="1" hangingPunct="1"/>
            <a:r>
              <a:rPr lang="ko-KR" altLang="en-US" smtClean="0"/>
              <a:t> </a:t>
            </a:r>
            <a:r>
              <a:rPr lang="en-US" altLang="ko-KR" smtClean="0"/>
              <a:t>-. </a:t>
            </a:r>
            <a:r>
              <a:rPr lang="ko-KR" altLang="en-US" smtClean="0"/>
              <a:t>높은 정밀도를 얻을수가 있어</a:t>
            </a:r>
            <a:r>
              <a:rPr lang="en-US" altLang="ko-KR" smtClean="0"/>
              <a:t>, </a:t>
            </a:r>
            <a:r>
              <a:rPr lang="ko-KR" altLang="en-US" smtClean="0"/>
              <a:t>정밀도가 필요한 일반 아날로그 회로에 사용 된다</a:t>
            </a:r>
            <a:r>
              <a:rPr lang="en-US" altLang="ko-KR" smtClean="0"/>
              <a:t>.</a:t>
            </a:r>
          </a:p>
          <a:p>
            <a:pPr eaLnBrk="1" hangingPunct="1"/>
            <a:r>
              <a:rPr lang="en-US" altLang="ko-KR" smtClean="0"/>
              <a:t>3.</a:t>
            </a:r>
            <a:r>
              <a:rPr lang="ko-KR" altLang="en-US" smtClean="0"/>
              <a:t>시멘트</a:t>
            </a:r>
            <a:endParaRPr lang="ko-KR" altLang="ko-KR"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67386E2-D35F-446B-BD9E-7118CE3E064E}" type="slidenum">
              <a:rPr lang="en-US" altLang="ko-KR" smtClean="0">
                <a:solidFill>
                  <a:srgbClr val="000000"/>
                </a:solidFill>
              </a:rPr>
              <a:pPr eaLnBrk="1" latinLnBrk="0" hangingPunct="1">
                <a:spcBef>
                  <a:spcPct val="0"/>
                </a:spcBef>
              </a:pPr>
              <a:t>66</a:t>
            </a:fld>
            <a:endParaRPr lang="en-US" altLang="ko-KR" smtClean="0">
              <a:solidFill>
                <a:srgbClr val="000000"/>
              </a:solidFill>
            </a:endParaRPr>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AA8DF96-B03B-453D-859A-873A0A38BE0F}" type="slidenum">
              <a:rPr lang="en-US" altLang="ko-KR" smtClean="0">
                <a:solidFill>
                  <a:srgbClr val="000000"/>
                </a:solidFill>
              </a:rPr>
              <a:pPr eaLnBrk="1" latinLnBrk="0" hangingPunct="1">
                <a:spcBef>
                  <a:spcPct val="0"/>
                </a:spcBef>
              </a:pPr>
              <a:t>67</a:t>
            </a:fld>
            <a:endParaRPr lang="en-US" altLang="ko-KR" smtClean="0">
              <a:solidFill>
                <a:srgbClr val="000000"/>
              </a:solidFill>
            </a:endParaRPr>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p:spPr>
        <p:txBody>
          <a:bodyPr/>
          <a:lstStyle/>
          <a:p>
            <a:pPr eaLnBrk="1" hangingPunct="1"/>
            <a:r>
              <a:rPr lang="en-US" altLang="ko-KR" smtClean="0"/>
              <a:t>1. </a:t>
            </a:r>
            <a:r>
              <a:rPr lang="ko-KR" altLang="en-US" smtClean="0"/>
              <a:t>가변저항이란 저항을 가변 할수 있도록 만든 저항의 일종이다</a:t>
            </a:r>
            <a:r>
              <a:rPr lang="en-US" altLang="ko-KR" smtClean="0"/>
              <a:t>.</a:t>
            </a:r>
          </a:p>
          <a:p>
            <a:pPr eaLnBrk="1" hangingPunct="1"/>
            <a:r>
              <a:rPr lang="en-US" altLang="ko-KR" smtClean="0"/>
              <a:t>2. </a:t>
            </a:r>
            <a:r>
              <a:rPr lang="ko-KR" altLang="en-US" smtClean="0"/>
              <a:t>저항체로는 탄소 피막계</a:t>
            </a:r>
            <a:r>
              <a:rPr lang="en-US" altLang="ko-KR" smtClean="0"/>
              <a:t>, </a:t>
            </a:r>
            <a:r>
              <a:rPr lang="ko-KR" altLang="en-US" smtClean="0"/>
              <a:t>금속 피막계</a:t>
            </a:r>
            <a:r>
              <a:rPr lang="en-US" altLang="ko-KR" smtClean="0"/>
              <a:t>,  </a:t>
            </a:r>
            <a:r>
              <a:rPr lang="ko-KR" altLang="en-US" smtClean="0"/>
              <a:t>코일이 사용된다</a:t>
            </a:r>
            <a:r>
              <a:rPr lang="en-US" altLang="ko-KR" smtClean="0"/>
              <a:t>.</a:t>
            </a:r>
          </a:p>
          <a:p>
            <a:pPr eaLnBrk="1" hangingPunct="1"/>
            <a:r>
              <a:rPr lang="en-US" altLang="ko-KR" smtClean="0"/>
              <a:t>3. </a:t>
            </a:r>
            <a:r>
              <a:rPr lang="ko-KR" altLang="en-US" smtClean="0"/>
              <a:t>회로상의 기호를 설명 한다</a:t>
            </a:r>
            <a:r>
              <a:rPr lang="en-US" altLang="ko-KR" smtClean="0"/>
              <a:t>.</a:t>
            </a:r>
          </a:p>
          <a:p>
            <a:pPr eaLnBrk="1" hangingPunct="1"/>
            <a:r>
              <a:rPr lang="en-US" altLang="ko-KR" smtClean="0"/>
              <a:t>4. </a:t>
            </a:r>
            <a:r>
              <a:rPr lang="ko-KR" altLang="en-US" smtClean="0"/>
              <a:t>가변저항의 형태와 종류는 크게 볼륨 </a:t>
            </a:r>
            <a:r>
              <a:rPr lang="en-US" altLang="ko-KR" smtClean="0"/>
              <a:t>Type </a:t>
            </a:r>
            <a:r>
              <a:rPr lang="ko-KR" altLang="en-US" smtClean="0"/>
              <a:t>과 반고정 </a:t>
            </a:r>
            <a:r>
              <a:rPr lang="en-US" altLang="ko-KR" smtClean="0"/>
              <a:t>Type</a:t>
            </a:r>
            <a:r>
              <a:rPr lang="ko-KR" altLang="en-US" smtClean="0"/>
              <a:t>이 있다</a:t>
            </a:r>
            <a:endParaRPr lang="ko-KR" altLang="ko-KR"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51726E1-04A9-4B0F-B40E-CF5BDE12C05F}" type="slidenum">
              <a:rPr lang="en-US" altLang="ko-KR" smtClean="0">
                <a:solidFill>
                  <a:srgbClr val="000000"/>
                </a:solidFill>
              </a:rPr>
              <a:pPr eaLnBrk="1" latinLnBrk="0" hangingPunct="1">
                <a:spcBef>
                  <a:spcPct val="0"/>
                </a:spcBef>
              </a:pPr>
              <a:t>68</a:t>
            </a:fld>
            <a:endParaRPr lang="en-US" altLang="ko-KR" smtClean="0">
              <a:solidFill>
                <a:srgbClr val="000000"/>
              </a:solidFill>
            </a:endParaRPr>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D9D22F1-7980-49A6-8D37-7CAC16FF5756}" type="slidenum">
              <a:rPr lang="en-US" altLang="ko-KR" smtClean="0">
                <a:solidFill>
                  <a:srgbClr val="000000"/>
                </a:solidFill>
              </a:rPr>
              <a:pPr eaLnBrk="1" latinLnBrk="0" hangingPunct="1">
                <a:spcBef>
                  <a:spcPct val="0"/>
                </a:spcBef>
              </a:pPr>
              <a:t>69</a:t>
            </a:fld>
            <a:endParaRPr lang="en-US" altLang="ko-KR" smtClean="0">
              <a:solidFill>
                <a:srgbClr val="000000"/>
              </a:solidFill>
            </a:endParaRPr>
          </a:p>
        </p:txBody>
      </p:sp>
      <p:sp>
        <p:nvSpPr>
          <p:cNvPr id="271363" name="Rectangle 2"/>
          <p:cNvSpPr>
            <a:spLocks noGrp="1" noRot="1" noChangeAspect="1" noChangeArrowheads="1" noTextEdit="1"/>
          </p:cNvSpPr>
          <p:nvPr>
            <p:ph type="sldImg"/>
          </p:nvPr>
        </p:nvSpPr>
        <p:spPr>
          <a:ln/>
        </p:spPr>
      </p:sp>
      <p:sp>
        <p:nvSpPr>
          <p:cNvPr id="27136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EC2F722-E190-47C0-80DF-6099196D1583}" type="slidenum">
              <a:rPr lang="en-US" altLang="ko-KR" smtClean="0">
                <a:solidFill>
                  <a:srgbClr val="000000"/>
                </a:solidFill>
              </a:rPr>
              <a:pPr eaLnBrk="1" latinLnBrk="0" hangingPunct="1">
                <a:spcBef>
                  <a:spcPct val="0"/>
                </a:spcBef>
              </a:pPr>
              <a:t>70</a:t>
            </a:fld>
            <a:endParaRPr lang="en-US" altLang="ko-KR" smtClean="0">
              <a:solidFill>
                <a:srgbClr val="000000"/>
              </a:solidFill>
            </a:endParaRPr>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B788815-0905-4D87-AA39-C8CDC7693633}" type="slidenum">
              <a:rPr lang="en-US" altLang="ko-KR" smtClean="0">
                <a:solidFill>
                  <a:srgbClr val="000000"/>
                </a:solidFill>
              </a:rPr>
              <a:pPr eaLnBrk="1" latinLnBrk="0" hangingPunct="1">
                <a:spcBef>
                  <a:spcPct val="0"/>
                </a:spcBef>
              </a:pPr>
              <a:t>71</a:t>
            </a:fld>
            <a:endParaRPr lang="en-US" altLang="ko-KR" smtClean="0">
              <a:solidFill>
                <a:srgbClr val="000000"/>
              </a:solidFill>
            </a:endParaRPr>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4B38497-BE90-4793-B320-E057800C7092}" type="slidenum">
              <a:rPr lang="en-US" altLang="ko-KR" smtClean="0">
                <a:solidFill>
                  <a:srgbClr val="000000"/>
                </a:solidFill>
              </a:rPr>
              <a:pPr eaLnBrk="1" latinLnBrk="0" hangingPunct="1">
                <a:spcBef>
                  <a:spcPct val="0"/>
                </a:spcBef>
              </a:pPr>
              <a:t>72</a:t>
            </a:fld>
            <a:endParaRPr lang="en-US" altLang="ko-KR" smtClean="0">
              <a:solidFill>
                <a:srgbClr val="000000"/>
              </a:solidFill>
            </a:endParaRPr>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p:spPr>
        <p:txBody>
          <a:bodyPr/>
          <a:lstStyle/>
          <a:p>
            <a:pPr eaLnBrk="1" hangingPunct="1"/>
            <a:r>
              <a:rPr lang="ko-KR" altLang="en-US" smtClean="0"/>
              <a:t>가변 저항 핀 넘버 에 따른 저항치 설명</a:t>
            </a:r>
            <a:endParaRPr lang="ko-KR" altLang="ko-KR"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70FA110-83F1-471D-9FA3-4D8957D44ED7}" type="slidenum">
              <a:rPr lang="en-US" altLang="ko-KR" smtClean="0">
                <a:solidFill>
                  <a:srgbClr val="000000"/>
                </a:solidFill>
              </a:rPr>
              <a:pPr eaLnBrk="1" latinLnBrk="0" hangingPunct="1">
                <a:spcBef>
                  <a:spcPct val="0"/>
                </a:spcBef>
              </a:pPr>
              <a:t>73</a:t>
            </a:fld>
            <a:endParaRPr lang="en-US" altLang="ko-KR" smtClean="0">
              <a:solidFill>
                <a:srgbClr val="000000"/>
              </a:solidFill>
            </a:endParaRPr>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p:spPr>
        <p:txBody>
          <a:bodyPr/>
          <a:lstStyle/>
          <a:p>
            <a:pPr eaLnBrk="1" hangingPunct="1"/>
            <a:r>
              <a:rPr lang="ko-KR" altLang="en-US" smtClean="0"/>
              <a:t>가변 저항 핀 넘버 에 따른 저항치 설명</a:t>
            </a:r>
            <a:endParaRPr lang="ko-KR" altLang="ko-KR"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EDE4DEC-CA03-4B1F-BB57-31376E9C4D44}" type="slidenum">
              <a:rPr lang="en-US" altLang="ko-KR" smtClean="0">
                <a:solidFill>
                  <a:srgbClr val="000000"/>
                </a:solidFill>
              </a:rPr>
              <a:pPr eaLnBrk="1" latinLnBrk="0" hangingPunct="1">
                <a:spcBef>
                  <a:spcPct val="0"/>
                </a:spcBef>
              </a:pPr>
              <a:t>74</a:t>
            </a:fld>
            <a:endParaRPr lang="en-US" altLang="ko-KR" smtClean="0">
              <a:solidFill>
                <a:srgbClr val="000000"/>
              </a:solidFill>
            </a:endParaRPr>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p:spPr>
        <p:txBody>
          <a:bodyPr/>
          <a:lstStyle/>
          <a:p>
            <a:endParaRPr lang="ko-KR" altLang="ko-KR"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81438D8-EBBC-48ED-A89B-9ED4F325A503}" type="slidenum">
              <a:rPr lang="en-US" altLang="ko-KR" smtClean="0">
                <a:solidFill>
                  <a:srgbClr val="000000"/>
                </a:solidFill>
              </a:rPr>
              <a:pPr eaLnBrk="1" latinLnBrk="0" hangingPunct="1">
                <a:spcBef>
                  <a:spcPct val="0"/>
                </a:spcBef>
              </a:pPr>
              <a:t>75</a:t>
            </a:fld>
            <a:endParaRPr lang="en-US" altLang="ko-KR" smtClean="0">
              <a:solidFill>
                <a:srgbClr val="000000"/>
              </a:solidFill>
            </a:endParaRPr>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p:spPr>
        <p:txBody>
          <a:bodyPr/>
          <a:lstStyle/>
          <a:p>
            <a:pPr eaLnBrk="1" hangingPunct="1"/>
            <a:r>
              <a:rPr lang="ko-KR" altLang="en-US" smtClean="0"/>
              <a:t>전압 전류 의 특성을 설명 </a:t>
            </a:r>
            <a:endParaRPr lang="en-US" altLang="ko-KR" smtClean="0"/>
          </a:p>
          <a:p>
            <a:pPr eaLnBrk="1" hangingPunct="1"/>
            <a:r>
              <a:rPr lang="ko-KR" altLang="en-US" smtClean="0"/>
              <a:t>저항의 흐르는 전압은 직렬 연결시 걸리는 전압은 달라지며 병렬 연결시 동일</a:t>
            </a:r>
            <a:endParaRPr lang="en-US" altLang="ko-KR" smtClean="0"/>
          </a:p>
          <a:p>
            <a:pPr eaLnBrk="1" hangingPunct="1"/>
            <a:r>
              <a:rPr lang="ko-KR" altLang="en-US" smtClean="0"/>
              <a:t>저항의 흐르는 전류는 직렬 연결 시 동일 하며 병렬 연결시 달라진다</a:t>
            </a:r>
            <a:r>
              <a:rPr lang="en-US" altLang="ko-KR" smtClean="0"/>
              <a:t>.</a:t>
            </a:r>
          </a:p>
          <a:p>
            <a:pPr eaLnBrk="1" hangingPunct="1"/>
            <a:endParaRPr lang="ko-KR" altLang="ko-KR"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2414F29-7593-45DB-B813-0E991B57D894}" type="slidenum">
              <a:rPr lang="en-US" altLang="ko-KR" smtClean="0">
                <a:solidFill>
                  <a:srgbClr val="000000"/>
                </a:solidFill>
              </a:rPr>
              <a:pPr eaLnBrk="1" latinLnBrk="0" hangingPunct="1">
                <a:spcBef>
                  <a:spcPct val="0"/>
                </a:spcBef>
              </a:pPr>
              <a:t>76</a:t>
            </a:fld>
            <a:endParaRPr lang="en-US" altLang="ko-KR" smtClean="0">
              <a:solidFill>
                <a:srgbClr val="000000"/>
              </a:solidFill>
            </a:endParaRPr>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p:spPr>
        <p:txBody>
          <a:bodyPr/>
          <a:lstStyle/>
          <a:p>
            <a:pPr eaLnBrk="1" hangingPunct="1"/>
            <a:r>
              <a:rPr lang="en-US" altLang="ko-KR" smtClean="0"/>
              <a:t>1. </a:t>
            </a:r>
            <a:r>
              <a:rPr lang="ko-KR" altLang="en-US" smtClean="0"/>
              <a:t>콘덴서 기능 </a:t>
            </a:r>
            <a:r>
              <a:rPr lang="en-US" altLang="ko-KR" smtClean="0"/>
              <a:t>: </a:t>
            </a:r>
            <a:r>
              <a:rPr lang="ko-KR" altLang="en-US" smtClean="0"/>
              <a:t>전기를 저장하는 축전기로서의 기능</a:t>
            </a:r>
            <a:r>
              <a:rPr lang="en-US" altLang="ko-KR" smtClean="0"/>
              <a:t>, </a:t>
            </a:r>
            <a:r>
              <a:rPr lang="ko-KR" altLang="en-US" smtClean="0"/>
              <a:t>직류를 통하지 않는 성질을 이용하는 기능</a:t>
            </a:r>
          </a:p>
          <a:p>
            <a:pPr eaLnBrk="1" hangingPunct="1"/>
            <a:r>
              <a:rPr lang="en-US" altLang="ko-KR" smtClean="0"/>
              <a:t>2. </a:t>
            </a:r>
            <a:r>
              <a:rPr lang="ko-KR" altLang="en-US" smtClean="0"/>
              <a:t>축전지 기능 </a:t>
            </a:r>
            <a:r>
              <a:rPr lang="en-US" altLang="ko-KR" smtClean="0"/>
              <a:t>: </a:t>
            </a:r>
            <a:r>
              <a:rPr lang="ko-KR" altLang="en-US" smtClean="0"/>
              <a:t>전원 회로</a:t>
            </a:r>
            <a:r>
              <a:rPr lang="en-US" altLang="ko-KR" smtClean="0"/>
              <a:t>,</a:t>
            </a:r>
            <a:r>
              <a:rPr lang="ko-KR" altLang="en-US" smtClean="0"/>
              <a:t>평활 회로 </a:t>
            </a:r>
            <a:r>
              <a:rPr lang="en-US" altLang="ko-KR" smtClean="0"/>
              <a:t>,</a:t>
            </a:r>
            <a:r>
              <a:rPr lang="ko-KR" altLang="en-US" smtClean="0"/>
              <a:t>마이크로 컴퓨터 등의 백업 회로</a:t>
            </a:r>
            <a:r>
              <a:rPr lang="en-US" altLang="ko-KR" smtClean="0"/>
              <a:t>,</a:t>
            </a:r>
            <a:r>
              <a:rPr lang="ko-KR" altLang="en-US" smtClean="0"/>
              <a:t>콘덴서의 충방전에 필요한 시간을</a:t>
            </a:r>
          </a:p>
          <a:p>
            <a:pPr eaLnBrk="1" hangingPunct="1"/>
            <a:r>
              <a:rPr lang="ko-KR" altLang="en-US" smtClean="0"/>
              <a:t>                         이용한 타이머 회로</a:t>
            </a:r>
          </a:p>
          <a:p>
            <a:pPr eaLnBrk="1" hangingPunct="1"/>
            <a:r>
              <a:rPr lang="en-US" altLang="ko-KR" smtClean="0"/>
              <a:t>3. </a:t>
            </a:r>
            <a:r>
              <a:rPr lang="ko-KR" altLang="en-US" smtClean="0"/>
              <a:t>직류차단 기능 </a:t>
            </a:r>
            <a:r>
              <a:rPr lang="en-US" altLang="ko-KR" smtClean="0"/>
              <a:t>: </a:t>
            </a:r>
            <a:r>
              <a:rPr lang="ko-KR" altLang="en-US" smtClean="0"/>
              <a:t>특정주파수 성분 추출 또는 제거하는 필터 기능등</a:t>
            </a:r>
            <a:r>
              <a:rPr lang="en-US" altLang="ko-KR" smtClean="0"/>
              <a:t>.</a:t>
            </a:r>
          </a:p>
          <a:p>
            <a:pPr eaLnBrk="1" hangingPunct="1"/>
            <a:r>
              <a:rPr lang="en-US" altLang="ko-KR" smtClean="0"/>
              <a:t>4. </a:t>
            </a:r>
            <a:r>
              <a:rPr lang="ko-KR" altLang="en-US" smtClean="0"/>
              <a:t>콘덴서의 본명은 캐패시터</a:t>
            </a:r>
            <a:r>
              <a:rPr lang="en-US" altLang="ko-KR" smtClean="0"/>
              <a:t>(Capacitor), Condeser </a:t>
            </a:r>
            <a:r>
              <a:rPr lang="ko-KR" altLang="en-US" smtClean="0"/>
              <a:t>는 일본식 표현</a:t>
            </a:r>
            <a:endParaRPr lang="ko-KR" altLang="ko-KR"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4462B3A-0A57-4883-BC7B-A5AC67B365AD}" type="slidenum">
              <a:rPr lang="en-US" altLang="ko-KR" smtClean="0">
                <a:solidFill>
                  <a:srgbClr val="000000"/>
                </a:solidFill>
              </a:rPr>
              <a:pPr eaLnBrk="1" latinLnBrk="0" hangingPunct="1">
                <a:spcBef>
                  <a:spcPct val="0"/>
                </a:spcBef>
              </a:pPr>
              <a:t>77</a:t>
            </a:fld>
            <a:endParaRPr lang="en-US" altLang="ko-KR" smtClean="0">
              <a:solidFill>
                <a:srgbClr val="000000"/>
              </a:solidFill>
            </a:endParaRPr>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p:spPr>
        <p:txBody>
          <a:bodyPr/>
          <a:lstStyle/>
          <a:p>
            <a:pPr eaLnBrk="1" hangingPunct="1"/>
            <a:r>
              <a:rPr lang="en-US" altLang="ko-KR" smtClean="0"/>
              <a:t>1. </a:t>
            </a:r>
            <a:r>
              <a:rPr lang="ko-KR" altLang="en-US" smtClean="0"/>
              <a:t>직류에서는 전기저장</a:t>
            </a:r>
          </a:p>
          <a:p>
            <a:pPr eaLnBrk="1" hangingPunct="1"/>
            <a:r>
              <a:rPr lang="en-US" altLang="ko-KR" smtClean="0"/>
              <a:t>2. </a:t>
            </a:r>
            <a:r>
              <a:rPr lang="ko-KR" altLang="en-US" smtClean="0"/>
              <a:t>교류에서는 주파수에 의하여 저항치가 변하는 저항으로서 기능</a:t>
            </a:r>
          </a:p>
          <a:p>
            <a:pPr eaLnBrk="1" hangingPunct="1"/>
            <a:r>
              <a:rPr lang="en-US" altLang="ko-KR" smtClean="0"/>
              <a:t>3. </a:t>
            </a:r>
            <a:r>
              <a:rPr lang="ko-KR" altLang="en-US" smtClean="0"/>
              <a:t>저장된양을 정전 용량 또는 용량이라고 표현</a:t>
            </a:r>
            <a:r>
              <a:rPr lang="en-US" altLang="ko-KR" smtClean="0"/>
              <a:t>.(</a:t>
            </a:r>
            <a:r>
              <a:rPr lang="ko-KR" altLang="en-US" smtClean="0"/>
              <a:t>단위는 </a:t>
            </a:r>
            <a:r>
              <a:rPr lang="en-US" altLang="ko-KR" smtClean="0"/>
              <a:t>F(</a:t>
            </a:r>
            <a:r>
              <a:rPr lang="ko-KR" altLang="en-US" smtClean="0"/>
              <a:t>패럿</a:t>
            </a:r>
            <a:r>
              <a:rPr lang="en-US" altLang="ko-KR" smtClean="0"/>
              <a:t>))</a:t>
            </a:r>
          </a:p>
          <a:p>
            <a:pPr eaLnBrk="1" hangingPunct="1"/>
            <a:r>
              <a:rPr lang="en-US" altLang="ko-KR" smtClean="0"/>
              <a:t>4. 1F</a:t>
            </a:r>
            <a:r>
              <a:rPr lang="ko-KR" altLang="en-US" smtClean="0"/>
              <a:t>은 대단히 큰용량이므로 전자 회로에서는 통상 </a:t>
            </a:r>
            <a:r>
              <a:rPr lang="en-US" altLang="ko-KR" smtClean="0"/>
              <a:t>pF,uF</a:t>
            </a:r>
            <a:r>
              <a:rPr lang="ko-KR" altLang="en-US" smtClean="0"/>
              <a:t>을 이용한다</a:t>
            </a:r>
            <a:r>
              <a:rPr lang="en-US" altLang="ko-KR" smtClean="0"/>
              <a:t>.</a:t>
            </a:r>
          </a:p>
          <a:p>
            <a:pPr eaLnBrk="1" hangingPunct="1"/>
            <a:r>
              <a:rPr lang="en-US" altLang="ko-KR" smtClean="0"/>
              <a:t>5. </a:t>
            </a:r>
            <a:r>
              <a:rPr lang="ko-KR" altLang="en-US" smtClean="0"/>
              <a:t>콘덴서의 전극간에 입력 가능한 최대 전압을 정격 내전압이라하며 이이상의 전압 인가시 콘덴서 파손위험</a:t>
            </a:r>
            <a:r>
              <a:rPr lang="en-US" altLang="ko-KR" smtClean="0"/>
              <a:t>.</a:t>
            </a:r>
            <a:endParaRPr lang="ko-KR" altLang="ko-KR"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E01D166-8372-4357-B934-32CBAF3F7ADB}" type="slidenum">
              <a:rPr lang="en-US" altLang="ko-KR" smtClean="0">
                <a:solidFill>
                  <a:srgbClr val="000000"/>
                </a:solidFill>
              </a:rPr>
              <a:pPr eaLnBrk="1" latinLnBrk="0" hangingPunct="1">
                <a:spcBef>
                  <a:spcPct val="0"/>
                </a:spcBef>
              </a:pPr>
              <a:t>78</a:t>
            </a:fld>
            <a:endParaRPr lang="en-US" altLang="ko-KR" smtClean="0">
              <a:solidFill>
                <a:srgbClr val="000000"/>
              </a:solidFill>
            </a:endParaRPr>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p:spPr>
        <p:txBody>
          <a:bodyPr/>
          <a:lstStyle/>
          <a:p>
            <a:pPr eaLnBrk="1" hangingPunct="1"/>
            <a:r>
              <a:rPr lang="en-US" altLang="ko-KR" smtClean="0"/>
              <a:t>1. </a:t>
            </a:r>
            <a:r>
              <a:rPr lang="ko-KR" altLang="en-US" smtClean="0"/>
              <a:t>정전 용량 </a:t>
            </a:r>
            <a:r>
              <a:rPr lang="en-US" altLang="ko-KR" smtClean="0"/>
              <a:t>: </a:t>
            </a:r>
            <a:r>
              <a:rPr lang="ko-KR" altLang="en-US" smtClean="0"/>
              <a:t>콘덴서에 저장할수 있는 에너지의 양을 표현하는 수치</a:t>
            </a:r>
          </a:p>
          <a:p>
            <a:pPr eaLnBrk="1" hangingPunct="1"/>
            <a:r>
              <a:rPr lang="en-US" altLang="ko-KR" smtClean="0"/>
              <a:t>2. </a:t>
            </a:r>
            <a:r>
              <a:rPr lang="ko-KR" altLang="en-US" smtClean="0"/>
              <a:t>유전율</a:t>
            </a:r>
          </a:p>
          <a:p>
            <a:pPr eaLnBrk="1" hangingPunct="1"/>
            <a:r>
              <a:rPr lang="en-US" altLang="ko-KR" smtClean="0"/>
              <a:t>3. </a:t>
            </a:r>
            <a:r>
              <a:rPr lang="ko-KR" altLang="en-US" smtClean="0"/>
              <a:t>유전손실 탄젠</a:t>
            </a:r>
          </a:p>
          <a:p>
            <a:pPr eaLnBrk="1" hangingPunct="1"/>
            <a:r>
              <a:rPr lang="en-US" altLang="ko-KR" smtClean="0"/>
              <a:t>4. </a:t>
            </a:r>
            <a:r>
              <a:rPr lang="ko-KR" altLang="en-US" smtClean="0"/>
              <a:t>절연저항 </a:t>
            </a:r>
            <a:r>
              <a:rPr lang="en-US" altLang="ko-KR" smtClean="0"/>
              <a:t>: </a:t>
            </a:r>
            <a:r>
              <a:rPr lang="ko-KR" altLang="en-US" smtClean="0"/>
              <a:t>콘덴서의 전극은 서로 분리 되어 있기때문에 이론적으로 전극간 저항값은 무한대</a:t>
            </a:r>
          </a:p>
          <a:p>
            <a:pPr eaLnBrk="1" hangingPunct="1"/>
            <a:r>
              <a:rPr lang="ko-KR" altLang="en-US" smtClean="0"/>
              <a:t>실제적으로는 약간의 유한 저항이 존재하면 이를 절연저항이라 한다</a:t>
            </a:r>
            <a:r>
              <a:rPr lang="en-US" altLang="ko-KR" smtClean="0"/>
              <a:t>.</a:t>
            </a:r>
          </a:p>
          <a:p>
            <a:pPr eaLnBrk="1" hangingPunct="1"/>
            <a:r>
              <a:rPr lang="en-US" altLang="ko-KR" smtClean="0"/>
              <a:t>5. </a:t>
            </a:r>
            <a:r>
              <a:rPr lang="ko-KR" altLang="en-US" smtClean="0"/>
              <a:t>회로도 기호 </a:t>
            </a:r>
            <a:endParaRPr lang="ko-KR" altLang="ko-KR"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60D8BEF-5828-4A49-A0AD-F7697A05F19B}" type="slidenum">
              <a:rPr lang="en-US" altLang="ko-KR" smtClean="0">
                <a:solidFill>
                  <a:srgbClr val="000000"/>
                </a:solidFill>
              </a:rPr>
              <a:pPr eaLnBrk="1" latinLnBrk="0" hangingPunct="1">
                <a:spcBef>
                  <a:spcPct val="0"/>
                </a:spcBef>
              </a:pPr>
              <a:t>79</a:t>
            </a:fld>
            <a:endParaRPr lang="en-US" altLang="ko-KR" smtClean="0">
              <a:solidFill>
                <a:srgbClr val="000000"/>
              </a:solidFill>
            </a:endParaRPr>
          </a:p>
        </p:txBody>
      </p:sp>
      <p:sp>
        <p:nvSpPr>
          <p:cNvPr id="281603" name="Rectangle 2"/>
          <p:cNvSpPr>
            <a:spLocks noGrp="1" noRot="1" noChangeAspect="1" noChangeArrowheads="1" noTextEdit="1"/>
          </p:cNvSpPr>
          <p:nvPr>
            <p:ph type="sldImg"/>
          </p:nvPr>
        </p:nvSpPr>
        <p:spPr>
          <a:ln/>
        </p:spPr>
      </p:sp>
      <p:sp>
        <p:nvSpPr>
          <p:cNvPr id="28160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79D9F85-748D-443F-9508-B1F3D8D45E42}" type="slidenum">
              <a:rPr lang="en-US" altLang="ko-KR" smtClean="0">
                <a:solidFill>
                  <a:srgbClr val="000000"/>
                </a:solidFill>
              </a:rPr>
              <a:pPr eaLnBrk="1" latinLnBrk="0" hangingPunct="1">
                <a:spcBef>
                  <a:spcPct val="0"/>
                </a:spcBef>
              </a:pPr>
              <a:t>80</a:t>
            </a:fld>
            <a:endParaRPr lang="en-US" altLang="ko-KR" smtClean="0">
              <a:solidFill>
                <a:srgbClr val="000000"/>
              </a:solidFill>
            </a:endParaRPr>
          </a:p>
        </p:txBody>
      </p:sp>
      <p:sp>
        <p:nvSpPr>
          <p:cNvPr id="282627" name="Rectangle 2"/>
          <p:cNvSpPr>
            <a:spLocks noGrp="1" noRot="1" noChangeAspect="1" noChangeArrowheads="1" noTextEdit="1"/>
          </p:cNvSpPr>
          <p:nvPr>
            <p:ph type="sldImg"/>
          </p:nvPr>
        </p:nvSpPr>
        <p:spPr>
          <a:ln/>
        </p:spPr>
      </p:sp>
      <p:sp>
        <p:nvSpPr>
          <p:cNvPr id="282628" name="Rectangle 3"/>
          <p:cNvSpPr>
            <a:spLocks noGrp="1" noChangeArrowheads="1"/>
          </p:cNvSpPr>
          <p:nvPr>
            <p:ph type="body" idx="1"/>
          </p:nvPr>
        </p:nvSpPr>
        <p:spPr>
          <a:noFill/>
        </p:spPr>
        <p:txBody>
          <a:bodyPr/>
          <a:lstStyle/>
          <a:p>
            <a:pPr eaLnBrk="1" hangingPunct="1"/>
            <a:r>
              <a:rPr lang="en-US" altLang="ko-KR" smtClean="0"/>
              <a:t>1. </a:t>
            </a:r>
            <a:r>
              <a:rPr lang="ko-KR" altLang="en-US" smtClean="0"/>
              <a:t>전해 콘덴서 </a:t>
            </a:r>
            <a:r>
              <a:rPr lang="en-US" altLang="ko-KR" smtClean="0"/>
              <a:t>: </a:t>
            </a:r>
            <a:r>
              <a:rPr lang="ko-KR" altLang="en-US" smtClean="0"/>
              <a:t>극성이 있으며 저주파수에 사용</a:t>
            </a:r>
            <a:r>
              <a:rPr lang="en-US" altLang="ko-KR" smtClean="0"/>
              <a:t>(Power_60Hz,</a:t>
            </a:r>
            <a:r>
              <a:rPr lang="ko-KR" altLang="en-US" smtClean="0"/>
              <a:t>오디오 입력</a:t>
            </a:r>
            <a:r>
              <a:rPr lang="en-US" altLang="ko-KR" smtClean="0"/>
              <a:t>, </a:t>
            </a:r>
            <a:r>
              <a:rPr lang="ko-KR" altLang="en-US" smtClean="0"/>
              <a:t>마이크</a:t>
            </a:r>
            <a:r>
              <a:rPr lang="en-US" altLang="ko-KR" smtClean="0"/>
              <a:t>,</a:t>
            </a:r>
            <a:r>
              <a:rPr lang="ko-KR" altLang="en-US" smtClean="0"/>
              <a:t>방송장비등</a:t>
            </a:r>
            <a:r>
              <a:rPr lang="en-US" altLang="ko-KR" smtClean="0"/>
              <a:t>…)</a:t>
            </a:r>
          </a:p>
          <a:p>
            <a:pPr eaLnBrk="1" hangingPunct="1"/>
            <a:r>
              <a:rPr lang="en-US" altLang="ko-KR" smtClean="0"/>
              <a:t>2. </a:t>
            </a:r>
            <a:r>
              <a:rPr lang="ko-KR" altLang="en-US" smtClean="0"/>
              <a:t>전해 콘덴서 사용상 주의점은 극성에 주의 하며</a:t>
            </a:r>
            <a:r>
              <a:rPr lang="en-US" altLang="ko-KR" smtClean="0"/>
              <a:t>, </a:t>
            </a:r>
            <a:r>
              <a:rPr lang="ko-KR" altLang="en-US" smtClean="0"/>
              <a:t>정격전압에 맞게 사용</a:t>
            </a:r>
          </a:p>
          <a:p>
            <a:pPr eaLnBrk="1" hangingPunct="1"/>
            <a:r>
              <a:rPr lang="en-US" altLang="ko-KR" smtClean="0"/>
              <a:t>3. </a:t>
            </a:r>
            <a:r>
              <a:rPr lang="ko-KR" altLang="en-US" smtClean="0"/>
              <a:t>마일러 콘덴서 </a:t>
            </a:r>
            <a:r>
              <a:rPr lang="en-US" altLang="ko-KR" smtClean="0"/>
              <a:t>: </a:t>
            </a:r>
            <a:r>
              <a:rPr lang="ko-KR" altLang="en-US" smtClean="0"/>
              <a:t>중주파수대에 사용</a:t>
            </a:r>
          </a:p>
          <a:p>
            <a:pPr eaLnBrk="1" hangingPunct="1"/>
            <a:r>
              <a:rPr lang="en-US" altLang="ko-KR" smtClean="0"/>
              <a:t>4. </a:t>
            </a:r>
            <a:r>
              <a:rPr lang="ko-KR" altLang="en-US" smtClean="0"/>
              <a:t>마일러 콘덴서 용량 판독법 설명</a:t>
            </a:r>
          </a:p>
          <a:p>
            <a:pPr eaLnBrk="1" hangingPunct="1"/>
            <a:r>
              <a:rPr lang="en-US" altLang="ko-KR" smtClean="0"/>
              <a:t>5. </a:t>
            </a:r>
            <a:r>
              <a:rPr lang="ko-KR" altLang="en-US" smtClean="0"/>
              <a:t>세라믹 콘덴서 </a:t>
            </a:r>
            <a:r>
              <a:rPr lang="en-US" altLang="ko-KR" smtClean="0"/>
              <a:t>: </a:t>
            </a:r>
            <a:r>
              <a:rPr lang="ko-KR" altLang="en-US" smtClean="0"/>
              <a:t>고주파대역에서 사용 </a:t>
            </a:r>
            <a:r>
              <a:rPr lang="en-US" altLang="ko-KR" smtClean="0"/>
              <a:t>(AM,FM</a:t>
            </a:r>
            <a:r>
              <a:rPr lang="ko-KR" altLang="en-US" smtClean="0"/>
              <a:t>에서 주파수 선정</a:t>
            </a:r>
            <a:r>
              <a:rPr lang="en-US" altLang="ko-KR" smtClean="0"/>
              <a:t>,</a:t>
            </a:r>
            <a:r>
              <a:rPr lang="ko-KR" altLang="en-US" smtClean="0"/>
              <a:t>전자시 </a:t>
            </a:r>
            <a:r>
              <a:rPr lang="en-US" altLang="ko-KR" smtClean="0"/>
              <a:t>TV</a:t>
            </a:r>
            <a:r>
              <a:rPr lang="ko-KR" altLang="en-US" smtClean="0"/>
              <a:t>튜너에서 사용</a:t>
            </a:r>
            <a:r>
              <a:rPr lang="en-US" altLang="ko-KR" smtClean="0"/>
              <a:t>)</a:t>
            </a:r>
          </a:p>
          <a:p>
            <a:pPr eaLnBrk="1" hangingPunct="1"/>
            <a:r>
              <a:rPr lang="en-US" altLang="ko-KR" smtClean="0"/>
              <a:t>6. </a:t>
            </a:r>
            <a:r>
              <a:rPr lang="ko-KR" altLang="en-US" smtClean="0"/>
              <a:t>탄탈 콘덴서 </a:t>
            </a:r>
            <a:r>
              <a:rPr lang="en-US" altLang="ko-KR" smtClean="0"/>
              <a:t>: </a:t>
            </a:r>
            <a:r>
              <a:rPr lang="ko-KR" altLang="en-US" smtClean="0"/>
              <a:t>콘덴서중 극성과 내압이 있는 두가지중 한가지</a:t>
            </a:r>
            <a:r>
              <a:rPr lang="en-US" altLang="ko-KR" smtClean="0"/>
              <a:t>(</a:t>
            </a:r>
            <a:r>
              <a:rPr lang="ko-KR" altLang="en-US" smtClean="0"/>
              <a:t>정격전압</a:t>
            </a:r>
            <a:r>
              <a:rPr lang="en-US" altLang="ko-KR" smtClean="0"/>
              <a:t>,</a:t>
            </a:r>
            <a:r>
              <a:rPr lang="ko-KR" altLang="en-US" smtClean="0"/>
              <a:t>극성 있음</a:t>
            </a:r>
            <a:r>
              <a:rPr lang="en-US" altLang="ko-KR" smtClean="0"/>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2F8F760-F1EB-474E-A699-75BAAF556258}" type="slidenum">
              <a:rPr lang="en-US" altLang="ko-KR" smtClean="0">
                <a:solidFill>
                  <a:srgbClr val="000000"/>
                </a:solidFill>
              </a:rPr>
              <a:pPr eaLnBrk="1" latinLnBrk="0" hangingPunct="1">
                <a:spcBef>
                  <a:spcPct val="0"/>
                </a:spcBef>
              </a:pPr>
              <a:t>81</a:t>
            </a:fld>
            <a:endParaRPr lang="en-US" altLang="ko-KR" smtClean="0">
              <a:solidFill>
                <a:srgbClr val="000000"/>
              </a:solidFill>
            </a:endParaRPr>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FBFE11B-DC8F-4BC4-8861-9CDFCFC92516}" type="slidenum">
              <a:rPr lang="en-US" altLang="ko-KR" smtClean="0">
                <a:solidFill>
                  <a:srgbClr val="000000"/>
                </a:solidFill>
              </a:rPr>
              <a:pPr eaLnBrk="1" latinLnBrk="0" hangingPunct="1">
                <a:spcBef>
                  <a:spcPct val="0"/>
                </a:spcBef>
              </a:pPr>
              <a:t>82</a:t>
            </a:fld>
            <a:endParaRPr lang="en-US" altLang="ko-KR" smtClean="0">
              <a:solidFill>
                <a:srgbClr val="000000"/>
              </a:solidFill>
            </a:endParaRPr>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CDAE288-8E8B-44BE-ACA6-D11BB8CFF862}" type="slidenum">
              <a:rPr lang="en-US" altLang="ko-KR" smtClean="0">
                <a:solidFill>
                  <a:srgbClr val="000000"/>
                </a:solidFill>
              </a:rPr>
              <a:pPr eaLnBrk="1" latinLnBrk="0" hangingPunct="1">
                <a:spcBef>
                  <a:spcPct val="0"/>
                </a:spcBef>
              </a:pPr>
              <a:t>83</a:t>
            </a:fld>
            <a:endParaRPr lang="en-US" altLang="ko-KR" smtClean="0">
              <a:solidFill>
                <a:srgbClr val="000000"/>
              </a:solidFill>
            </a:endParaRPr>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57C6CDC-C893-4992-8761-19BA6A103370}" type="slidenum">
              <a:rPr lang="en-US" altLang="ko-KR" smtClean="0">
                <a:solidFill>
                  <a:srgbClr val="000000"/>
                </a:solidFill>
              </a:rPr>
              <a:pPr eaLnBrk="1" latinLnBrk="0" hangingPunct="1">
                <a:spcBef>
                  <a:spcPct val="0"/>
                </a:spcBef>
              </a:pPr>
              <a:t>84</a:t>
            </a:fld>
            <a:endParaRPr lang="en-US" altLang="ko-KR" smtClean="0">
              <a:solidFill>
                <a:srgbClr val="000000"/>
              </a:solidFill>
            </a:endParaRPr>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p:spPr>
        <p:txBody>
          <a:bodyPr/>
          <a:lstStyle/>
          <a:p>
            <a:pPr eaLnBrk="1" hangingPunct="1"/>
            <a:r>
              <a:rPr lang="en-US" altLang="ko-KR" smtClean="0"/>
              <a:t>1.DVM </a:t>
            </a:r>
            <a:r>
              <a:rPr lang="ko-KR" altLang="en-US" smtClean="0"/>
              <a:t>또는 </a:t>
            </a:r>
            <a:r>
              <a:rPr lang="en-US" altLang="ko-KR" smtClean="0"/>
              <a:t>LCR Meter</a:t>
            </a:r>
            <a:r>
              <a:rPr lang="ko-KR" altLang="en-US" smtClean="0"/>
              <a:t>로 사용하여 측정 실습</a:t>
            </a:r>
            <a:endParaRPr lang="ko-KR" altLang="ko-KR"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93B503A-DD82-4AEA-A58D-97C8EDFFAB5F}" type="slidenum">
              <a:rPr lang="en-US" altLang="ko-KR" smtClean="0">
                <a:solidFill>
                  <a:srgbClr val="000000"/>
                </a:solidFill>
              </a:rPr>
              <a:pPr eaLnBrk="1" latinLnBrk="0" hangingPunct="1">
                <a:spcBef>
                  <a:spcPct val="0"/>
                </a:spcBef>
              </a:pPr>
              <a:t>85</a:t>
            </a:fld>
            <a:endParaRPr lang="en-US" altLang="ko-KR" smtClean="0">
              <a:solidFill>
                <a:srgbClr val="000000"/>
              </a:solidFill>
            </a:endParaRPr>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7F99476-0D67-4A05-ACC9-C7B7642875B4}" type="slidenum">
              <a:rPr lang="en-US" altLang="ko-KR" smtClean="0">
                <a:solidFill>
                  <a:srgbClr val="000000"/>
                </a:solidFill>
              </a:rPr>
              <a:pPr eaLnBrk="1" latinLnBrk="0" hangingPunct="1">
                <a:spcBef>
                  <a:spcPct val="0"/>
                </a:spcBef>
              </a:pPr>
              <a:t>86</a:t>
            </a:fld>
            <a:endParaRPr lang="en-US" altLang="ko-KR" smtClean="0">
              <a:solidFill>
                <a:srgbClr val="000000"/>
              </a:solidFill>
            </a:endParaRPr>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352423D-D290-4E0C-956E-F8D9ADABBC75}" type="slidenum">
              <a:rPr lang="en-US" altLang="ko-KR" smtClean="0">
                <a:solidFill>
                  <a:srgbClr val="000000"/>
                </a:solidFill>
              </a:rPr>
              <a:pPr eaLnBrk="1" latinLnBrk="0" hangingPunct="1">
                <a:spcBef>
                  <a:spcPct val="0"/>
                </a:spcBef>
              </a:pPr>
              <a:t>87</a:t>
            </a:fld>
            <a:endParaRPr lang="en-US" altLang="ko-KR" smtClean="0">
              <a:solidFill>
                <a:srgbClr val="000000"/>
              </a:solidFill>
            </a:endParaRPr>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p:spPr>
        <p:txBody>
          <a:bodyPr/>
          <a:lstStyle/>
          <a:p>
            <a:pPr eaLnBrk="1" hangingPunct="1"/>
            <a:r>
              <a:rPr lang="en-US" altLang="ko-KR" smtClean="0"/>
              <a:t>1.</a:t>
            </a:r>
            <a:r>
              <a:rPr lang="ko-KR" altLang="en-US" smtClean="0"/>
              <a:t>코일은 선재를 나선 모양으로 감은것이며 단위는 헨리 </a:t>
            </a:r>
            <a:r>
              <a:rPr lang="en-US" altLang="ko-KR" smtClean="0"/>
              <a:t>(Henry:H) </a:t>
            </a:r>
            <a:r>
              <a:rPr lang="ko-KR" altLang="en-US" smtClean="0"/>
              <a:t>로 표현한다</a:t>
            </a:r>
          </a:p>
          <a:p>
            <a:pPr eaLnBrk="1" hangingPunct="1"/>
            <a:r>
              <a:rPr lang="en-US" altLang="ko-KR" smtClean="0"/>
              <a:t>2.</a:t>
            </a:r>
            <a:r>
              <a:rPr lang="ko-KR" altLang="en-US" smtClean="0"/>
              <a:t>코일은 선재를 많이 감을수록</a:t>
            </a:r>
            <a:r>
              <a:rPr lang="en-US" altLang="ko-KR" smtClean="0"/>
              <a:t>, </a:t>
            </a:r>
            <a:r>
              <a:rPr lang="ko-KR" altLang="en-US" smtClean="0"/>
              <a:t>코일 내부를 공심보다는 철심이나</a:t>
            </a:r>
            <a:r>
              <a:rPr lang="en-US" altLang="ko-KR" smtClean="0"/>
              <a:t>, </a:t>
            </a:r>
            <a:r>
              <a:rPr lang="ko-KR" altLang="en-US" smtClean="0"/>
              <a:t>코어에 감는것이 헨리값이 커진다</a:t>
            </a:r>
            <a:r>
              <a:rPr lang="en-US" altLang="ko-KR" smtClean="0"/>
              <a:t>.</a:t>
            </a:r>
          </a:p>
          <a:p>
            <a:pPr eaLnBrk="1" hangingPunct="1"/>
            <a:r>
              <a:rPr lang="en-US" altLang="ko-KR" smtClean="0"/>
              <a:t>3. </a:t>
            </a:r>
            <a:r>
              <a:rPr lang="ko-KR" altLang="en-US" smtClean="0"/>
              <a:t>상호 인덕턴스 </a:t>
            </a:r>
            <a:r>
              <a:rPr lang="en-US" altLang="ko-KR" smtClean="0"/>
              <a:t>- </a:t>
            </a:r>
            <a:r>
              <a:rPr lang="ko-KR" altLang="en-US" smtClean="0"/>
              <a:t>두 코일간에 작용하는 인덕턴스</a:t>
            </a:r>
          </a:p>
          <a:p>
            <a:pPr eaLnBrk="1" hangingPunct="1"/>
            <a:r>
              <a:rPr lang="ko-KR" altLang="en-US" smtClean="0"/>
              <a:t>    자기 인덕턴스 </a:t>
            </a:r>
            <a:r>
              <a:rPr lang="en-US" altLang="ko-KR" smtClean="0"/>
              <a:t>- </a:t>
            </a:r>
            <a:r>
              <a:rPr lang="ko-KR" altLang="en-US" smtClean="0"/>
              <a:t>자신의 자속변화에 작용하는 인덕턴스</a:t>
            </a:r>
          </a:p>
          <a:p>
            <a:pPr eaLnBrk="1" hangingPunct="1"/>
            <a:r>
              <a:rPr lang="en-US" altLang="ko-KR" smtClean="0"/>
              <a:t>4. 1[H] - </a:t>
            </a:r>
            <a:r>
              <a:rPr lang="ko-KR" altLang="en-US" smtClean="0"/>
              <a:t>전류의 변화율이 </a:t>
            </a:r>
            <a:r>
              <a:rPr lang="en-US" altLang="ko-KR" smtClean="0"/>
              <a:t>1A/s</a:t>
            </a:r>
            <a:r>
              <a:rPr lang="ko-KR" altLang="en-US" smtClean="0"/>
              <a:t>일때 </a:t>
            </a:r>
            <a:r>
              <a:rPr lang="en-US" altLang="ko-KR" smtClean="0"/>
              <a:t>1V</a:t>
            </a:r>
            <a:r>
              <a:rPr lang="ko-KR" altLang="en-US" smtClean="0"/>
              <a:t>의 기전력을 발생하는 경우의 인덕턴스 </a:t>
            </a:r>
          </a:p>
          <a:p>
            <a:pPr eaLnBrk="1" hangingPunct="1"/>
            <a:r>
              <a:rPr lang="en-US" altLang="ko-KR" smtClean="0"/>
              <a:t>5. </a:t>
            </a:r>
            <a:r>
              <a:rPr lang="ko-KR" altLang="en-US" smtClean="0"/>
              <a:t>전자유도 </a:t>
            </a:r>
            <a:r>
              <a:rPr lang="en-US" altLang="ko-KR" smtClean="0"/>
              <a:t>- </a:t>
            </a:r>
            <a:r>
              <a:rPr lang="ko-KR" altLang="en-US" smtClean="0"/>
              <a:t>코일을 관통하는 자속을 변화 시킬때 기전력이 발</a:t>
            </a:r>
            <a:endParaRPr lang="ko-KR" altLang="ko-KR"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748DB6A-A525-40D9-969F-7873F9F182B6}" type="slidenum">
              <a:rPr lang="en-US" altLang="ko-KR" smtClean="0">
                <a:solidFill>
                  <a:srgbClr val="000000"/>
                </a:solidFill>
              </a:rPr>
              <a:pPr eaLnBrk="1" latinLnBrk="0" hangingPunct="1">
                <a:spcBef>
                  <a:spcPct val="0"/>
                </a:spcBef>
              </a:pPr>
              <a:t>88</a:t>
            </a:fld>
            <a:endParaRPr lang="en-US" altLang="ko-KR" smtClean="0">
              <a:solidFill>
                <a:srgbClr val="000000"/>
              </a:solidFill>
            </a:endParaRPr>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9FA2D87-35DF-49E0-A4C7-D1D3270AB9C5}" type="slidenum">
              <a:rPr lang="en-US" altLang="ko-KR" smtClean="0">
                <a:solidFill>
                  <a:srgbClr val="000000"/>
                </a:solidFill>
              </a:rPr>
              <a:pPr eaLnBrk="1" latinLnBrk="0" hangingPunct="1">
                <a:spcBef>
                  <a:spcPct val="0"/>
                </a:spcBef>
              </a:pPr>
              <a:t>89</a:t>
            </a:fld>
            <a:endParaRPr lang="en-US" altLang="ko-KR" smtClean="0">
              <a:solidFill>
                <a:srgbClr val="000000"/>
              </a:solidFill>
            </a:endParaRPr>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E8DD5AF-FC4A-456D-B2E4-0EAB7DC7EFAE}" type="slidenum">
              <a:rPr lang="en-US" altLang="ko-KR" smtClean="0">
                <a:solidFill>
                  <a:srgbClr val="000000"/>
                </a:solidFill>
              </a:rPr>
              <a:pPr eaLnBrk="1" latinLnBrk="0" hangingPunct="1">
                <a:spcBef>
                  <a:spcPct val="0"/>
                </a:spcBef>
              </a:pPr>
              <a:t>90</a:t>
            </a:fld>
            <a:endParaRPr lang="en-US" altLang="ko-KR" smtClean="0">
              <a:solidFill>
                <a:srgbClr val="000000"/>
              </a:solidFill>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7DDFDEE-EFEB-4B3A-8CE2-F52482FC2922}" type="slidenum">
              <a:rPr lang="en-US" altLang="ko-KR" smtClean="0">
                <a:solidFill>
                  <a:srgbClr val="000000"/>
                </a:solidFill>
              </a:rPr>
              <a:pPr eaLnBrk="1" latinLnBrk="0" hangingPunct="1">
                <a:spcBef>
                  <a:spcPct val="0"/>
                </a:spcBef>
              </a:pPr>
              <a:t>91</a:t>
            </a:fld>
            <a:endParaRPr lang="en-US" altLang="ko-KR" smtClean="0">
              <a:solidFill>
                <a:srgbClr val="000000"/>
              </a:solidFill>
            </a:endParaRPr>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p:spPr>
        <p:txBody>
          <a:bodyPr/>
          <a:lstStyle/>
          <a:p>
            <a:pPr eaLnBrk="1" hangingPunct="1"/>
            <a:r>
              <a:rPr lang="en-US" altLang="ko-KR" smtClean="0"/>
              <a:t>1.</a:t>
            </a:r>
            <a:r>
              <a:rPr lang="ko-KR" altLang="en-US" smtClean="0"/>
              <a:t>전류의 변화를 안정시키려는 성질</a:t>
            </a:r>
          </a:p>
          <a:p>
            <a:pPr eaLnBrk="1" hangingPunct="1"/>
            <a:r>
              <a:rPr lang="ko-KR" altLang="en-US" smtClean="0"/>
              <a:t>   </a:t>
            </a:r>
            <a:r>
              <a:rPr lang="en-US" altLang="ko-KR" smtClean="0"/>
              <a:t>- AC/DC </a:t>
            </a:r>
            <a:r>
              <a:rPr lang="ko-KR" altLang="en-US" smtClean="0"/>
              <a:t>변환하는 전원의 평활회로에 사용</a:t>
            </a:r>
          </a:p>
          <a:p>
            <a:pPr eaLnBrk="1" hangingPunct="1"/>
            <a:r>
              <a:rPr lang="en-US" altLang="ko-KR" smtClean="0"/>
              <a:t>2.</a:t>
            </a:r>
            <a:r>
              <a:rPr lang="ko-KR" altLang="en-US" smtClean="0"/>
              <a:t>상호유도 작용</a:t>
            </a:r>
          </a:p>
          <a:p>
            <a:pPr eaLnBrk="1" hangingPunct="1"/>
            <a:r>
              <a:rPr lang="ko-KR" altLang="en-US" smtClean="0"/>
              <a:t>   </a:t>
            </a:r>
            <a:r>
              <a:rPr lang="en-US" altLang="ko-KR" smtClean="0"/>
              <a:t>- </a:t>
            </a:r>
            <a:r>
              <a:rPr lang="ko-KR" altLang="en-US" smtClean="0"/>
              <a:t>전원 트랜스에 사용 </a:t>
            </a:r>
            <a:r>
              <a:rPr lang="en-US" altLang="ko-KR" smtClean="0"/>
              <a:t>(1,2</a:t>
            </a:r>
            <a:r>
              <a:rPr lang="ko-KR" altLang="en-US" smtClean="0"/>
              <a:t>차측 권수의 비율에 따라 </a:t>
            </a:r>
            <a:r>
              <a:rPr lang="en-US" altLang="ko-KR" smtClean="0"/>
              <a:t>2</a:t>
            </a:r>
            <a:r>
              <a:rPr lang="ko-KR" altLang="en-US" smtClean="0"/>
              <a:t>차측의 전압변화</a:t>
            </a:r>
            <a:r>
              <a:rPr lang="en-US" altLang="ko-KR" smtClean="0"/>
              <a:t>)</a:t>
            </a:r>
          </a:p>
          <a:p>
            <a:pPr eaLnBrk="1" hangingPunct="1"/>
            <a:r>
              <a:rPr lang="en-US" altLang="ko-KR" smtClean="0"/>
              <a:t>3.</a:t>
            </a:r>
            <a:r>
              <a:rPr lang="ko-KR" altLang="en-US" smtClean="0"/>
              <a:t>전자석의 성질</a:t>
            </a:r>
          </a:p>
          <a:p>
            <a:pPr eaLnBrk="1" hangingPunct="1"/>
            <a:r>
              <a:rPr lang="ko-KR" altLang="en-US" smtClean="0"/>
              <a:t>   </a:t>
            </a:r>
            <a:r>
              <a:rPr lang="en-US" altLang="ko-KR" smtClean="0"/>
              <a:t>- </a:t>
            </a:r>
            <a:r>
              <a:rPr lang="ko-KR" altLang="en-US" smtClean="0"/>
              <a:t>계전기 릴레이</a:t>
            </a:r>
            <a:r>
              <a:rPr lang="en-US" altLang="ko-KR" smtClean="0"/>
              <a:t>,</a:t>
            </a:r>
            <a:r>
              <a:rPr lang="ko-KR" altLang="en-US" smtClean="0"/>
              <a:t>스피커의 원리에 사용 </a:t>
            </a:r>
            <a:r>
              <a:rPr lang="en-US" altLang="ko-KR" smtClean="0"/>
              <a:t>(</a:t>
            </a:r>
            <a:r>
              <a:rPr lang="ko-KR" altLang="en-US" smtClean="0"/>
              <a:t>코일에 전류를 흘리면 자석이 된다</a:t>
            </a:r>
            <a:r>
              <a:rPr lang="en-US" altLang="ko-KR" smtClean="0"/>
              <a:t>)</a:t>
            </a:r>
          </a:p>
          <a:p>
            <a:pPr eaLnBrk="1" hangingPunct="1"/>
            <a:r>
              <a:rPr lang="en-US" altLang="ko-KR" smtClean="0"/>
              <a:t>4.</a:t>
            </a:r>
            <a:r>
              <a:rPr lang="ko-KR" altLang="en-US" smtClean="0"/>
              <a:t>공진하는 성질</a:t>
            </a:r>
          </a:p>
          <a:p>
            <a:pPr eaLnBrk="1" hangingPunct="1"/>
            <a:r>
              <a:rPr lang="ko-KR" altLang="en-US" smtClean="0"/>
              <a:t>   </a:t>
            </a:r>
            <a:r>
              <a:rPr lang="en-US" altLang="ko-KR" smtClean="0"/>
              <a:t>- </a:t>
            </a:r>
            <a:r>
              <a:rPr lang="ko-KR" altLang="en-US" smtClean="0"/>
              <a:t>코일과 콘덴서로 회로를 구성하여 특정 주파수의 교류 전류가 흐르지 않게 되거나</a:t>
            </a:r>
          </a:p>
          <a:p>
            <a:pPr eaLnBrk="1" hangingPunct="1"/>
            <a:r>
              <a:rPr lang="ko-KR" altLang="en-US" smtClean="0"/>
              <a:t>      흐르기 쉽게 되거나 하는 성질 </a:t>
            </a:r>
            <a:r>
              <a:rPr lang="en-US" altLang="ko-KR" smtClean="0"/>
              <a:t>(Ex </a:t>
            </a:r>
            <a:r>
              <a:rPr lang="ko-KR" altLang="en-US" smtClean="0"/>
              <a:t>필터회로 사용</a:t>
            </a:r>
            <a:r>
              <a:rPr lang="en-US" altLang="ko-KR" smtClean="0"/>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9620C7D-D97C-4B13-A4CA-E885ACDAD80A}" type="slidenum">
              <a:rPr lang="en-US" altLang="ko-KR" smtClean="0">
                <a:solidFill>
                  <a:srgbClr val="000000"/>
                </a:solidFill>
              </a:rPr>
              <a:pPr eaLnBrk="1" latinLnBrk="0" hangingPunct="1">
                <a:spcBef>
                  <a:spcPct val="0"/>
                </a:spcBef>
              </a:pPr>
              <a:t>92</a:t>
            </a:fld>
            <a:endParaRPr lang="en-US" altLang="ko-KR" smtClean="0">
              <a:solidFill>
                <a:srgbClr val="000000"/>
              </a:solidFill>
            </a:endParaRPr>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C4CA62B-CB53-43D4-B903-A939FE7E8268}" type="slidenum">
              <a:rPr lang="en-US" altLang="ko-KR" smtClean="0">
                <a:solidFill>
                  <a:srgbClr val="000000"/>
                </a:solidFill>
              </a:rPr>
              <a:pPr eaLnBrk="1" latinLnBrk="0" hangingPunct="1">
                <a:spcBef>
                  <a:spcPct val="0"/>
                </a:spcBef>
              </a:pPr>
              <a:t>93</a:t>
            </a:fld>
            <a:endParaRPr lang="en-US" altLang="ko-KR" smtClean="0">
              <a:solidFill>
                <a:srgbClr val="000000"/>
              </a:solidFill>
            </a:endParaRPr>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43F8186-8C95-42EE-A237-1EE5619C1E38}" type="slidenum">
              <a:rPr lang="en-US" altLang="ko-KR" smtClean="0">
                <a:solidFill>
                  <a:srgbClr val="000000"/>
                </a:solidFill>
              </a:rPr>
              <a:pPr eaLnBrk="1" latinLnBrk="0" hangingPunct="1">
                <a:spcBef>
                  <a:spcPct val="0"/>
                </a:spcBef>
              </a:pPr>
              <a:t>94</a:t>
            </a:fld>
            <a:endParaRPr lang="en-US" altLang="ko-KR" smtClean="0">
              <a:solidFill>
                <a:srgbClr val="000000"/>
              </a:solidFill>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p:spPr>
        <p:txBody>
          <a:bodyPr/>
          <a:lstStyle/>
          <a:p>
            <a:pPr eaLnBrk="1" hangingPunct="1"/>
            <a:r>
              <a:rPr lang="en-US" altLang="ko-KR" smtClean="0"/>
              <a:t>1.</a:t>
            </a:r>
            <a:r>
              <a:rPr lang="ko-KR" altLang="en-US" smtClean="0"/>
              <a:t>코일의 기호와 단위를 설명한다</a:t>
            </a:r>
          </a:p>
          <a:p>
            <a:pPr eaLnBrk="1" hangingPunct="1"/>
            <a:r>
              <a:rPr lang="ko-KR" altLang="en-US" smtClean="0"/>
              <a:t>   </a:t>
            </a:r>
            <a:r>
              <a:rPr lang="en-US" altLang="ko-KR" smtClean="0"/>
              <a:t>(</a:t>
            </a:r>
            <a:r>
              <a:rPr lang="ko-KR" altLang="en-US" smtClean="0"/>
              <a:t>초크</a:t>
            </a:r>
            <a:r>
              <a:rPr lang="en-US" altLang="ko-KR" smtClean="0"/>
              <a:t>,</a:t>
            </a:r>
            <a:r>
              <a:rPr lang="ko-KR" altLang="en-US" smtClean="0"/>
              <a:t>동조</a:t>
            </a:r>
            <a:r>
              <a:rPr lang="en-US" altLang="ko-KR" smtClean="0"/>
              <a:t>,</a:t>
            </a:r>
            <a:r>
              <a:rPr lang="ko-KR" altLang="en-US" smtClean="0"/>
              <a:t>전원트랜스</a:t>
            </a:r>
            <a:r>
              <a:rPr lang="en-US" altLang="ko-KR" smtClean="0"/>
              <a:t>,</a:t>
            </a:r>
            <a:r>
              <a:rPr lang="ko-KR" altLang="en-US" smtClean="0"/>
              <a:t>코일용량 표시</a:t>
            </a:r>
            <a:r>
              <a:rPr lang="en-US" altLang="ko-KR" smtClean="0"/>
              <a:t>)</a:t>
            </a:r>
            <a:endParaRPr lang="ko-KR" altLang="ko-KR"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F86B0F9-BF69-45B8-BA91-530986520419}" type="slidenum">
              <a:rPr lang="en-US" altLang="ko-KR" smtClean="0">
                <a:solidFill>
                  <a:srgbClr val="000000"/>
                </a:solidFill>
              </a:rPr>
              <a:pPr eaLnBrk="1" latinLnBrk="0" hangingPunct="1">
                <a:spcBef>
                  <a:spcPct val="0"/>
                </a:spcBef>
              </a:pPr>
              <a:t>95</a:t>
            </a:fld>
            <a:endParaRPr lang="en-US" altLang="ko-KR" smtClean="0">
              <a:solidFill>
                <a:srgbClr val="000000"/>
              </a:solidFill>
            </a:endParaRPr>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p:spPr>
        <p:txBody>
          <a:bodyPr/>
          <a:lstStyle/>
          <a:p>
            <a:pPr eaLnBrk="1" hangingPunct="1"/>
            <a:r>
              <a:rPr lang="en-US" altLang="ko-KR" smtClean="0"/>
              <a:t>1.</a:t>
            </a:r>
            <a:r>
              <a:rPr lang="ko-KR" altLang="en-US" smtClean="0"/>
              <a:t>코일의 특성에 따른 용도를 예로 설명한다</a:t>
            </a:r>
            <a:endParaRPr lang="ko-KR" altLang="ko-KR"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A904392-CD70-49DC-A569-9352DA778D31}" type="slidenum">
              <a:rPr lang="en-US" altLang="ko-KR" smtClean="0">
                <a:solidFill>
                  <a:srgbClr val="000000"/>
                </a:solidFill>
              </a:rPr>
              <a:pPr eaLnBrk="1" latinLnBrk="0" hangingPunct="1">
                <a:spcBef>
                  <a:spcPct val="0"/>
                </a:spcBef>
              </a:pPr>
              <a:t>96</a:t>
            </a:fld>
            <a:endParaRPr lang="en-US" altLang="ko-KR" smtClean="0">
              <a:solidFill>
                <a:srgbClr val="000000"/>
              </a:solidFill>
            </a:endParaRPr>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C409E89-4DE2-45FA-9E5D-EBE670404A36}" type="slidenum">
              <a:rPr lang="en-US" altLang="ko-KR" smtClean="0">
                <a:solidFill>
                  <a:srgbClr val="000000"/>
                </a:solidFill>
              </a:rPr>
              <a:pPr eaLnBrk="1" latinLnBrk="0" hangingPunct="1">
                <a:spcBef>
                  <a:spcPct val="0"/>
                </a:spcBef>
              </a:pPr>
              <a:t>97</a:t>
            </a:fld>
            <a:endParaRPr lang="en-US" altLang="ko-KR" smtClean="0">
              <a:solidFill>
                <a:srgbClr val="000000"/>
              </a:solidFill>
            </a:endParaRPr>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A470B6C-199A-40FE-9101-276900AB46C1}" type="slidenum">
              <a:rPr lang="en-US" altLang="ko-KR" smtClean="0">
                <a:solidFill>
                  <a:srgbClr val="000000"/>
                </a:solidFill>
              </a:rPr>
              <a:pPr eaLnBrk="1" latinLnBrk="0" hangingPunct="1">
                <a:spcBef>
                  <a:spcPct val="0"/>
                </a:spcBef>
              </a:pPr>
              <a:t>98</a:t>
            </a:fld>
            <a:endParaRPr lang="en-US" altLang="ko-KR" smtClean="0">
              <a:solidFill>
                <a:srgbClr val="000000"/>
              </a:solidFill>
            </a:endParaRPr>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C1DE35F-BE9F-4E55-863C-6F3AD23FF9A0}" type="slidenum">
              <a:rPr lang="en-US" altLang="ko-KR" smtClean="0">
                <a:solidFill>
                  <a:srgbClr val="000000"/>
                </a:solidFill>
              </a:rPr>
              <a:pPr eaLnBrk="1" latinLnBrk="0" hangingPunct="1">
                <a:spcBef>
                  <a:spcPct val="0"/>
                </a:spcBef>
              </a:pPr>
              <a:t>99</a:t>
            </a:fld>
            <a:endParaRPr lang="en-US" altLang="ko-KR" smtClean="0">
              <a:solidFill>
                <a:srgbClr val="000000"/>
              </a:solidFill>
            </a:endParaRPr>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p:spPr>
        <p:txBody>
          <a:bodyPr/>
          <a:lstStyle/>
          <a:p>
            <a:pPr eaLnBrk="1" hangingPunct="1"/>
            <a:r>
              <a:rPr lang="en-US" altLang="ko-KR" smtClean="0"/>
              <a:t>1. </a:t>
            </a:r>
            <a:r>
              <a:rPr lang="ko-KR" altLang="en-US" smtClean="0"/>
              <a:t>매우 작은 저항으로 휴대용 기기에 많이 사용된다</a:t>
            </a:r>
            <a:r>
              <a:rPr lang="en-US" altLang="ko-KR" smtClean="0"/>
              <a:t>.</a:t>
            </a:r>
          </a:p>
          <a:p>
            <a:pPr eaLnBrk="1" hangingPunct="1"/>
            <a:r>
              <a:rPr lang="en-US" altLang="ko-KR" smtClean="0"/>
              <a:t>2. </a:t>
            </a:r>
            <a:r>
              <a:rPr lang="ko-KR" altLang="en-US" smtClean="0"/>
              <a:t>여러 개의 저항은 묶어 놓은 </a:t>
            </a:r>
            <a:r>
              <a:rPr lang="en-US" altLang="ko-KR" smtClean="0"/>
              <a:t>Array Type</a:t>
            </a:r>
            <a:r>
              <a:rPr lang="ko-KR" altLang="en-US" smtClean="0"/>
              <a:t>이 존재한다</a:t>
            </a:r>
            <a:r>
              <a:rPr lang="en-US" altLang="ko-KR" smtClean="0"/>
              <a:t>.</a:t>
            </a:r>
          </a:p>
          <a:p>
            <a:pPr eaLnBrk="1" hangingPunct="1"/>
            <a:r>
              <a:rPr lang="en-US" altLang="ko-KR" smtClean="0"/>
              <a:t>3. </a:t>
            </a:r>
            <a:r>
              <a:rPr lang="ko-KR" altLang="en-US" smtClean="0"/>
              <a:t>저항의 크기별로 </a:t>
            </a:r>
            <a:r>
              <a:rPr lang="en-US" altLang="ko-KR" smtClean="0"/>
              <a:t>TYPE</a:t>
            </a:r>
            <a:r>
              <a:rPr lang="ko-KR" altLang="en-US" smtClean="0"/>
              <a:t>이 결정된다</a:t>
            </a:r>
            <a:r>
              <a:rPr lang="en-US" altLang="ko-KR" smtClean="0"/>
              <a:t>.</a:t>
            </a:r>
          </a:p>
          <a:p>
            <a:pPr eaLnBrk="1" hangingPunct="1"/>
            <a:r>
              <a:rPr lang="en-US" altLang="ko-KR" smtClean="0"/>
              <a:t>4. </a:t>
            </a:r>
            <a:r>
              <a:rPr lang="ko-KR" altLang="en-US" smtClean="0"/>
              <a:t>칩저항의 판독</a:t>
            </a:r>
            <a:r>
              <a:rPr lang="en-US" altLang="ko-KR" smtClean="0"/>
              <a:t>(</a:t>
            </a:r>
            <a:r>
              <a:rPr lang="ko-KR" altLang="en-US" smtClean="0"/>
              <a:t>예제를 내고 판독하기</a:t>
            </a:r>
            <a:r>
              <a:rPr lang="en-US" altLang="ko-KR" smtClean="0"/>
              <a:t>), 10</a:t>
            </a:r>
            <a:r>
              <a:rPr lang="ko-KR" altLang="en-US" smtClean="0"/>
              <a:t>옴 이하의 저항은 </a:t>
            </a:r>
            <a:r>
              <a:rPr lang="en-US" altLang="ko-KR" smtClean="0"/>
              <a:t>R</a:t>
            </a:r>
            <a:r>
              <a:rPr lang="ko-KR" altLang="en-US" smtClean="0"/>
              <a:t>이 사용된다</a:t>
            </a:r>
            <a:r>
              <a:rPr lang="en-US" altLang="ko-KR" smtClean="0"/>
              <a:t>.</a:t>
            </a:r>
            <a:endParaRPr lang="ko-KR" altLang="ko-KR"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CCAC778-D8B4-4F56-BA63-27BCBEDB46DA}" type="slidenum">
              <a:rPr lang="en-US" altLang="ko-KR" smtClean="0">
                <a:solidFill>
                  <a:srgbClr val="000000"/>
                </a:solidFill>
              </a:rPr>
              <a:pPr eaLnBrk="1" latinLnBrk="0" hangingPunct="1">
                <a:spcBef>
                  <a:spcPct val="0"/>
                </a:spcBef>
              </a:pPr>
              <a:t>100</a:t>
            </a:fld>
            <a:endParaRPr lang="en-US" altLang="ko-KR" smtClean="0">
              <a:solidFill>
                <a:srgbClr val="000000"/>
              </a:solidFill>
            </a:endParaRPr>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2508F45-5DC1-4625-913A-ED4169D59195}" type="slidenum">
              <a:rPr lang="en-US" altLang="ko-KR" smtClean="0">
                <a:solidFill>
                  <a:srgbClr val="000000"/>
                </a:solidFill>
              </a:rPr>
              <a:pPr eaLnBrk="1" latinLnBrk="0" hangingPunct="1">
                <a:spcBef>
                  <a:spcPct val="0"/>
                </a:spcBef>
              </a:pPr>
              <a:t>101</a:t>
            </a:fld>
            <a:endParaRPr lang="en-US" altLang="ko-KR" smtClean="0">
              <a:solidFill>
                <a:srgbClr val="000000"/>
              </a:solidFill>
            </a:endParaRPr>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8B4A300-8EDB-4519-9174-649F5260DE63}" type="slidenum">
              <a:rPr lang="en-US" altLang="ko-KR" smtClean="0">
                <a:solidFill>
                  <a:srgbClr val="000000"/>
                </a:solidFill>
              </a:rPr>
              <a:pPr eaLnBrk="1" latinLnBrk="0" hangingPunct="1">
                <a:spcBef>
                  <a:spcPct val="0"/>
                </a:spcBef>
              </a:pPr>
              <a:t>102</a:t>
            </a:fld>
            <a:endParaRPr lang="en-US" altLang="ko-KR" smtClean="0">
              <a:solidFill>
                <a:srgbClr val="000000"/>
              </a:solidFill>
            </a:endParaRPr>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p:spPr>
        <p:txBody>
          <a:bodyPr/>
          <a:lstStyle/>
          <a:p>
            <a:pPr eaLnBrk="1" hangingPunct="1"/>
            <a:r>
              <a:rPr lang="en-US" altLang="ko-KR" smtClean="0"/>
              <a:t>1. </a:t>
            </a:r>
            <a:r>
              <a:rPr lang="ko-KR" altLang="en-US" smtClean="0"/>
              <a:t>세라믹 칩콘덴서는 칩저항과 동일한 외형을 가지고 있고 용량값이 표기되어 있지 않다</a:t>
            </a:r>
          </a:p>
          <a:p>
            <a:pPr eaLnBrk="1" hangingPunct="1"/>
            <a:r>
              <a:rPr lang="en-US" altLang="ko-KR" smtClean="0"/>
              <a:t>2. </a:t>
            </a:r>
            <a:r>
              <a:rPr lang="ko-KR" altLang="en-US" smtClean="0"/>
              <a:t>용량값이 표기되어 있지 않아 혼합시 구분이 어렵다</a:t>
            </a:r>
          </a:p>
          <a:p>
            <a:pPr eaLnBrk="1" hangingPunct="1"/>
            <a:r>
              <a:rPr lang="en-US" altLang="ko-KR" smtClean="0"/>
              <a:t>3. </a:t>
            </a:r>
            <a:r>
              <a:rPr lang="ko-KR" altLang="en-US" smtClean="0"/>
              <a:t>비틀림에도 쉽게 부러지는 특성이 있어 취급</a:t>
            </a:r>
            <a:r>
              <a:rPr lang="en-US" altLang="ko-KR" smtClean="0"/>
              <a:t>/</a:t>
            </a:r>
            <a:r>
              <a:rPr lang="ko-KR" altLang="en-US" smtClean="0"/>
              <a:t>납땜시 주의 필요</a:t>
            </a:r>
          </a:p>
          <a:p>
            <a:pPr eaLnBrk="1" hangingPunct="1"/>
            <a:r>
              <a:rPr lang="en-US" altLang="ko-KR" smtClean="0"/>
              <a:t>4. </a:t>
            </a:r>
            <a:r>
              <a:rPr lang="ko-KR" altLang="en-US" smtClean="0"/>
              <a:t>탄탈칩 콘덴서의 특징</a:t>
            </a:r>
            <a:r>
              <a:rPr lang="en-US" altLang="ko-KR" smtClean="0"/>
              <a:t>,</a:t>
            </a:r>
            <a:r>
              <a:rPr lang="ko-KR" altLang="en-US" smtClean="0"/>
              <a:t>외형</a:t>
            </a:r>
            <a:r>
              <a:rPr lang="en-US" altLang="ko-KR" smtClean="0"/>
              <a:t>,</a:t>
            </a:r>
            <a:r>
              <a:rPr lang="ko-KR" altLang="en-US" smtClean="0"/>
              <a:t>용량 설명</a:t>
            </a:r>
            <a:r>
              <a:rPr lang="en-US" altLang="ko-KR" smtClean="0"/>
              <a:t>(</a:t>
            </a:r>
            <a:r>
              <a:rPr lang="ko-KR" altLang="en-US" smtClean="0"/>
              <a:t>간략하게</a:t>
            </a:r>
            <a:r>
              <a:rPr lang="en-US" altLang="ko-KR" smtClean="0"/>
              <a:t>)</a:t>
            </a:r>
            <a:endParaRPr lang="ko-KR" altLang="ko-KR"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6095CDA-A349-4199-87BD-BEAD2677001A}" type="slidenum">
              <a:rPr lang="en-US" altLang="ko-KR" smtClean="0">
                <a:solidFill>
                  <a:srgbClr val="000000"/>
                </a:solidFill>
              </a:rPr>
              <a:pPr eaLnBrk="1" latinLnBrk="0" hangingPunct="1">
                <a:spcBef>
                  <a:spcPct val="0"/>
                </a:spcBef>
              </a:pPr>
              <a:t>103</a:t>
            </a:fld>
            <a:endParaRPr lang="en-US" altLang="ko-KR" smtClean="0">
              <a:solidFill>
                <a:srgbClr val="000000"/>
              </a:solidFill>
            </a:endParaRPr>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8B14BF4-231D-4C96-B865-EC6E60ED7617}" type="slidenum">
              <a:rPr lang="en-US" altLang="ko-KR" smtClean="0">
                <a:solidFill>
                  <a:srgbClr val="000000"/>
                </a:solidFill>
              </a:rPr>
              <a:pPr eaLnBrk="1" latinLnBrk="0" hangingPunct="1">
                <a:spcBef>
                  <a:spcPct val="0"/>
                </a:spcBef>
              </a:pPr>
              <a:t>104</a:t>
            </a:fld>
            <a:endParaRPr lang="en-US" altLang="ko-KR" smtClean="0">
              <a:solidFill>
                <a:srgbClr val="000000"/>
              </a:solidFill>
            </a:endParaRPr>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p:spPr>
        <p:txBody>
          <a:bodyPr/>
          <a:lstStyle/>
          <a:p>
            <a:pPr eaLnBrk="1" hangingPunct="1"/>
            <a:r>
              <a:rPr lang="en-US" altLang="ko-KR" smtClean="0"/>
              <a:t>1. </a:t>
            </a:r>
            <a:r>
              <a:rPr lang="ko-KR" altLang="en-US" smtClean="0"/>
              <a:t>디지털 기기의 전자파 노이즈 제거 및 이동기기의 임피던스 매칭용으로 사용됨</a:t>
            </a:r>
          </a:p>
          <a:p>
            <a:pPr eaLnBrk="1" hangingPunct="1"/>
            <a:r>
              <a:rPr lang="en-US" altLang="ko-KR" smtClean="0"/>
              <a:t>2. </a:t>
            </a:r>
            <a:r>
              <a:rPr lang="ko-KR" altLang="en-US" smtClean="0"/>
              <a:t>용량이 표기되어 있지 않고 외형이 저항</a:t>
            </a:r>
            <a:r>
              <a:rPr lang="en-US" altLang="ko-KR" smtClean="0"/>
              <a:t>,</a:t>
            </a:r>
            <a:r>
              <a:rPr lang="ko-KR" altLang="en-US" smtClean="0"/>
              <a:t>콘덴서와 유사하여 혼합시 구분이 어려움</a:t>
            </a:r>
            <a:endParaRPr lang="ko-KR" altLang="ko-KR"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705BB3C-9740-481D-BA4B-10D924B128AA}" type="slidenum">
              <a:rPr lang="en-US" altLang="ko-KR" smtClean="0">
                <a:solidFill>
                  <a:srgbClr val="000000"/>
                </a:solidFill>
              </a:rPr>
              <a:pPr eaLnBrk="1" latinLnBrk="0" hangingPunct="1">
                <a:spcBef>
                  <a:spcPct val="0"/>
                </a:spcBef>
              </a:pPr>
              <a:t>105</a:t>
            </a:fld>
            <a:endParaRPr lang="en-US" altLang="ko-KR" smtClean="0">
              <a:solidFill>
                <a:srgbClr val="000000"/>
              </a:solidFill>
            </a:endParaRPr>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p:spPr>
        <p:txBody>
          <a:bodyPr/>
          <a:lstStyle/>
          <a:p>
            <a:pPr eaLnBrk="1" hangingPunct="1"/>
            <a:r>
              <a:rPr lang="en-US" altLang="ko-KR" smtClean="0"/>
              <a:t>&lt;</a:t>
            </a:r>
            <a:r>
              <a:rPr lang="ko-KR" altLang="en-US" smtClean="0"/>
              <a:t>형명의 표시법</a:t>
            </a:r>
            <a:r>
              <a:rPr lang="en-US" altLang="ko-KR" smtClean="0"/>
              <a:t>&gt;</a:t>
            </a:r>
          </a:p>
          <a:p>
            <a:pPr eaLnBrk="1" hangingPunct="1"/>
            <a:r>
              <a:rPr lang="en-US" altLang="ko-KR" smtClean="0"/>
              <a:t> </a:t>
            </a:r>
            <a:r>
              <a:rPr lang="ko-KR" altLang="en-US" smtClean="0"/>
              <a:t>반도체 소자의 형명 표시법  ① 숫자 </a:t>
            </a:r>
            <a:r>
              <a:rPr lang="en-US" altLang="ko-KR" smtClean="0"/>
              <a:t>S ② </a:t>
            </a:r>
            <a:r>
              <a:rPr lang="ko-KR" altLang="en-US" smtClean="0"/>
              <a:t>문자 ③ 숫자 ④ 문자</a:t>
            </a:r>
          </a:p>
          <a:p>
            <a:pPr eaLnBrk="1" hangingPunct="1"/>
            <a:r>
              <a:rPr lang="ko-KR" altLang="en-US" smtClean="0"/>
              <a:t>①의 숫자 </a:t>
            </a:r>
            <a:r>
              <a:rPr lang="en-US" altLang="ko-KR" smtClean="0"/>
              <a:t>: </a:t>
            </a:r>
            <a:r>
              <a:rPr lang="ko-KR" altLang="en-US" smtClean="0"/>
              <a:t>반도체의 접합면수</a:t>
            </a:r>
          </a:p>
          <a:p>
            <a:pPr eaLnBrk="1" hangingPunct="1"/>
            <a:r>
              <a:rPr lang="en-US" altLang="ko-KR" smtClean="0"/>
              <a:t>(0 : </a:t>
            </a:r>
            <a:r>
              <a:rPr lang="ko-KR" altLang="en-US" smtClean="0"/>
              <a:t>광트랜지스터</a:t>
            </a:r>
            <a:r>
              <a:rPr lang="en-US" altLang="ko-KR" smtClean="0"/>
              <a:t>, </a:t>
            </a:r>
            <a:r>
              <a:rPr lang="ko-KR" altLang="en-US" smtClean="0"/>
              <a:t>광다이오드</a:t>
            </a:r>
            <a:r>
              <a:rPr lang="en-US" altLang="ko-KR" smtClean="0"/>
              <a:t>, 1 : </a:t>
            </a:r>
            <a:r>
              <a:rPr lang="ko-KR" altLang="en-US" smtClean="0"/>
              <a:t>각종 다이오드</a:t>
            </a:r>
            <a:r>
              <a:rPr lang="en-US" altLang="ko-KR" smtClean="0"/>
              <a:t>, </a:t>
            </a:r>
            <a:r>
              <a:rPr lang="ko-KR" altLang="en-US" smtClean="0"/>
              <a:t>정류기</a:t>
            </a:r>
            <a:r>
              <a:rPr lang="en-US" altLang="ko-KR" smtClean="0"/>
              <a:t>, 2 : </a:t>
            </a:r>
            <a:r>
              <a:rPr lang="ko-KR" altLang="en-US" smtClean="0"/>
              <a:t>트랜지스터</a:t>
            </a:r>
            <a:r>
              <a:rPr lang="en-US" altLang="ko-KR" smtClean="0"/>
              <a:t>, </a:t>
            </a:r>
            <a:r>
              <a:rPr lang="ko-KR" altLang="en-US" smtClean="0"/>
              <a:t>전기장 효과 트랜지스터</a:t>
            </a:r>
            <a:r>
              <a:rPr lang="en-US" altLang="ko-KR" smtClean="0"/>
              <a:t>, </a:t>
            </a:r>
            <a:r>
              <a:rPr lang="ko-KR" altLang="en-US" smtClean="0"/>
              <a:t>사이리스터</a:t>
            </a:r>
            <a:r>
              <a:rPr lang="en-US" altLang="ko-KR" smtClean="0"/>
              <a:t>, </a:t>
            </a:r>
            <a:r>
              <a:rPr lang="ko-KR" altLang="en-US" smtClean="0"/>
              <a:t>단접합 트랜지스터</a:t>
            </a:r>
            <a:r>
              <a:rPr lang="en-US" altLang="ko-KR" smtClean="0"/>
              <a:t>, 3 : </a:t>
            </a:r>
            <a:r>
              <a:rPr lang="ko-KR" altLang="en-US" smtClean="0"/>
              <a:t>전기장 효과 트랜지스터로 게이트가 </a:t>
            </a:r>
            <a:r>
              <a:rPr lang="en-US" altLang="ko-KR" smtClean="0"/>
              <a:t>2</a:t>
            </a:r>
            <a:r>
              <a:rPr lang="ko-KR" altLang="en-US" smtClean="0"/>
              <a:t>개 나온 것</a:t>
            </a:r>
            <a:r>
              <a:rPr lang="en-US" altLang="ko-KR" smtClean="0"/>
              <a:t>). </a:t>
            </a:r>
          </a:p>
          <a:p>
            <a:pPr eaLnBrk="1" hangingPunct="1"/>
            <a:r>
              <a:rPr lang="en-US" altLang="ko-KR" smtClean="0"/>
              <a:t>S</a:t>
            </a:r>
            <a:r>
              <a:rPr lang="ko-KR" altLang="en-US" smtClean="0"/>
              <a:t>는 반도체</a:t>
            </a:r>
            <a:r>
              <a:rPr lang="en-US" altLang="ko-KR" smtClean="0"/>
              <a:t>(Semiconductor)</a:t>
            </a:r>
            <a:r>
              <a:rPr lang="ko-KR" altLang="en-US" smtClean="0"/>
              <a:t>의 머리 문자</a:t>
            </a:r>
            <a:r>
              <a:rPr lang="en-US" altLang="ko-KR" smtClean="0"/>
              <a:t>.</a:t>
            </a:r>
          </a:p>
          <a:p>
            <a:pPr eaLnBrk="1" hangingPunct="1"/>
            <a:r>
              <a:rPr lang="en-US" altLang="ko-KR" smtClean="0"/>
              <a:t>②</a:t>
            </a:r>
            <a:r>
              <a:rPr lang="ko-KR" altLang="en-US" smtClean="0"/>
              <a:t>의 문자 </a:t>
            </a:r>
            <a:r>
              <a:rPr lang="en-US" altLang="ko-KR" smtClean="0"/>
              <a:t>: A,B,C,D </a:t>
            </a:r>
            <a:r>
              <a:rPr lang="ko-KR" altLang="en-US" smtClean="0"/>
              <a:t>등 </a:t>
            </a:r>
            <a:r>
              <a:rPr lang="en-US" altLang="ko-KR" smtClean="0"/>
              <a:t>9</a:t>
            </a:r>
            <a:r>
              <a:rPr lang="ko-KR" altLang="en-US" smtClean="0"/>
              <a:t>개의 문자</a:t>
            </a:r>
          </a:p>
          <a:p>
            <a:pPr eaLnBrk="1" hangingPunct="1"/>
            <a:r>
              <a:rPr lang="en-US" altLang="ko-KR" smtClean="0"/>
              <a:t>(A : pnp</a:t>
            </a:r>
            <a:r>
              <a:rPr lang="ko-KR" altLang="en-US" smtClean="0"/>
              <a:t>형의 고주파용</a:t>
            </a:r>
            <a:r>
              <a:rPr lang="en-US" altLang="ko-KR" smtClean="0"/>
              <a:t>, B : pnp</a:t>
            </a:r>
            <a:r>
              <a:rPr lang="ko-KR" altLang="en-US" smtClean="0"/>
              <a:t>형의 저주파형</a:t>
            </a:r>
            <a:r>
              <a:rPr lang="en-US" altLang="ko-KR" smtClean="0"/>
              <a:t>, C : npn</a:t>
            </a:r>
            <a:r>
              <a:rPr lang="ko-KR" altLang="en-US" smtClean="0"/>
              <a:t>형의 고주파형</a:t>
            </a:r>
            <a:r>
              <a:rPr lang="en-US" altLang="ko-KR" smtClean="0"/>
              <a:t>, D : npn</a:t>
            </a:r>
            <a:r>
              <a:rPr lang="ko-KR" altLang="en-US" smtClean="0"/>
              <a:t>형의 저주파용</a:t>
            </a:r>
            <a:r>
              <a:rPr lang="en-US" altLang="ko-KR" smtClean="0"/>
              <a:t>, F : pnpn</a:t>
            </a:r>
            <a:r>
              <a:rPr lang="ko-KR" altLang="en-US" smtClean="0"/>
              <a:t>사이리스터</a:t>
            </a:r>
            <a:r>
              <a:rPr lang="en-US" altLang="ko-KR" smtClean="0"/>
              <a:t>, G : npnp </a:t>
            </a:r>
            <a:r>
              <a:rPr lang="ko-KR" altLang="en-US" smtClean="0"/>
              <a:t>사이리스터</a:t>
            </a:r>
            <a:r>
              <a:rPr lang="en-US" altLang="ko-KR" smtClean="0"/>
              <a:t>, H : </a:t>
            </a:r>
            <a:r>
              <a:rPr lang="ko-KR" altLang="en-US" smtClean="0"/>
              <a:t>단접합 트랜지스터</a:t>
            </a:r>
            <a:r>
              <a:rPr lang="en-US" altLang="ko-KR" smtClean="0"/>
              <a:t>, J : p</a:t>
            </a:r>
            <a:r>
              <a:rPr lang="ko-KR" altLang="en-US" smtClean="0"/>
              <a:t>채널 전기장 효과 트랜지스터</a:t>
            </a:r>
            <a:r>
              <a:rPr lang="en-US" altLang="ko-KR" smtClean="0"/>
              <a:t>, K : n</a:t>
            </a:r>
            <a:r>
              <a:rPr lang="ko-KR" altLang="en-US" smtClean="0"/>
              <a:t>채널 전기장 효과 트랜지스터</a:t>
            </a:r>
            <a:r>
              <a:rPr lang="en-US" altLang="ko-KR" smtClean="0"/>
              <a:t>) </a:t>
            </a:r>
          </a:p>
          <a:p>
            <a:pPr eaLnBrk="1" hangingPunct="1"/>
            <a:r>
              <a:rPr lang="en-US" altLang="ko-KR" smtClean="0"/>
              <a:t>③</a:t>
            </a:r>
            <a:r>
              <a:rPr lang="ko-KR" altLang="en-US" smtClean="0"/>
              <a:t>의 숫자 </a:t>
            </a:r>
            <a:r>
              <a:rPr lang="en-US" altLang="ko-KR" smtClean="0"/>
              <a:t>: </a:t>
            </a:r>
            <a:r>
              <a:rPr lang="ko-KR" altLang="en-US" smtClean="0"/>
              <a:t>등록 순서에 따른 번호</a:t>
            </a:r>
            <a:r>
              <a:rPr lang="en-US" altLang="ko-KR" smtClean="0"/>
              <a:t>. 11</a:t>
            </a:r>
            <a:r>
              <a:rPr lang="ko-KR" altLang="en-US" smtClean="0"/>
              <a:t>부터 시작</a:t>
            </a:r>
            <a:r>
              <a:rPr lang="en-US" altLang="ko-KR" smtClean="0"/>
              <a:t>. </a:t>
            </a:r>
          </a:p>
          <a:p>
            <a:pPr eaLnBrk="1" hangingPunct="1"/>
            <a:r>
              <a:rPr lang="en-US" altLang="ko-KR" smtClean="0"/>
              <a:t>④</a:t>
            </a:r>
            <a:r>
              <a:rPr lang="ko-KR" altLang="en-US" smtClean="0"/>
              <a:t>의 문자 </a:t>
            </a:r>
            <a:r>
              <a:rPr lang="en-US" altLang="ko-KR" smtClean="0"/>
              <a:t>: </a:t>
            </a:r>
            <a:r>
              <a:rPr lang="ko-KR" altLang="en-US" smtClean="0"/>
              <a:t>보통은 붙지 않으나</a:t>
            </a:r>
            <a:r>
              <a:rPr lang="en-US" altLang="ko-KR" smtClean="0"/>
              <a:t>, </a:t>
            </a:r>
            <a:r>
              <a:rPr lang="ko-KR" altLang="en-US" smtClean="0"/>
              <a:t>특히 개량품이 생길 경우에 </a:t>
            </a:r>
            <a:r>
              <a:rPr lang="en-US" altLang="ko-KR" smtClean="0"/>
              <a:t>A, B, …, J</a:t>
            </a:r>
            <a:r>
              <a:rPr lang="ko-KR" altLang="en-US" smtClean="0"/>
              <a:t>까지의 알파벳 문자를 붙여 개량 부품임을 나타냄</a:t>
            </a:r>
            <a:r>
              <a:rPr lang="en-US" altLang="ko-KR" smtClean="0"/>
              <a:t>. </a:t>
            </a:r>
          </a:p>
          <a:p>
            <a:pPr eaLnBrk="1" hangingPunct="1"/>
            <a:r>
              <a:rPr lang="ko-KR" altLang="en-US" smtClean="0"/>
              <a:t>예</a:t>
            </a:r>
            <a:r>
              <a:rPr lang="en-US" altLang="ko-KR" smtClean="0"/>
              <a:t>) 2SC316A → npn</a:t>
            </a:r>
            <a:r>
              <a:rPr lang="ko-KR" altLang="en-US" smtClean="0"/>
              <a:t>형의 개량형 고주파용 트랜지스터 </a:t>
            </a:r>
            <a:endParaRPr lang="ko-KR" altLang="ko-KR"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699DBFD-9477-4021-9520-6C0612B2BD33}" type="slidenum">
              <a:rPr lang="en-US" altLang="ko-KR" smtClean="0">
                <a:solidFill>
                  <a:srgbClr val="000000"/>
                </a:solidFill>
              </a:rPr>
              <a:pPr eaLnBrk="1" latinLnBrk="0" hangingPunct="1">
                <a:spcBef>
                  <a:spcPct val="0"/>
                </a:spcBef>
              </a:pPr>
              <a:t>106</a:t>
            </a:fld>
            <a:endParaRPr lang="en-US" altLang="ko-KR" smtClean="0">
              <a:solidFill>
                <a:srgbClr val="000000"/>
              </a:solidFill>
            </a:endParaRPr>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p:spPr>
        <p:txBody>
          <a:bodyPr/>
          <a:lstStyle/>
          <a:p>
            <a:pPr eaLnBrk="1" hangingPunct="1"/>
            <a:r>
              <a:rPr lang="en-US" altLang="ko-KR" smtClean="0"/>
              <a:t>1. </a:t>
            </a:r>
            <a:r>
              <a:rPr lang="ko-KR" altLang="en-US" smtClean="0"/>
              <a:t>다이오드란</a:t>
            </a:r>
            <a:r>
              <a:rPr lang="en-US" altLang="ko-KR" smtClean="0"/>
              <a:t>?</a:t>
            </a:r>
          </a:p>
          <a:p>
            <a:pPr eaLnBrk="1" hangingPunct="1"/>
            <a:r>
              <a:rPr lang="en-US" altLang="ko-KR" smtClean="0"/>
              <a:t>  -. P</a:t>
            </a:r>
            <a:r>
              <a:rPr lang="ko-KR" altLang="en-US" smtClean="0"/>
              <a:t>형 반도체와 </a:t>
            </a:r>
            <a:r>
              <a:rPr lang="en-US" altLang="ko-KR" smtClean="0"/>
              <a:t>N</a:t>
            </a:r>
            <a:r>
              <a:rPr lang="ko-KR" altLang="en-US" smtClean="0"/>
              <a:t>형 반도체의 접합이다</a:t>
            </a:r>
            <a:r>
              <a:rPr lang="en-US" altLang="ko-KR" smtClean="0"/>
              <a:t>.</a:t>
            </a:r>
          </a:p>
          <a:p>
            <a:pPr eaLnBrk="1" hangingPunct="1"/>
            <a:endParaRPr lang="en-US" altLang="ko-KR" smtClean="0"/>
          </a:p>
          <a:p>
            <a:pPr eaLnBrk="1" hangingPunct="1"/>
            <a:r>
              <a:rPr lang="ko-KR" altLang="en-US" smtClean="0">
                <a:solidFill>
                  <a:srgbClr val="000000"/>
                </a:solidFill>
                <a:latin typeface="Tahoma" pitchFamily="34" charset="0"/>
                <a:cs typeface="Tahoma" pitchFamily="34" charset="0"/>
              </a:rPr>
              <a:t>2. P</a:t>
            </a:r>
            <a:r>
              <a:rPr lang="ko-KR" altLang="en-US" smtClean="0">
                <a:solidFill>
                  <a:srgbClr val="000000"/>
                </a:solidFill>
                <a:latin typeface="돋움" pitchFamily="50" charset="-127"/>
                <a:ea typeface="돋움" pitchFamily="50" charset="-127"/>
                <a:cs typeface="Tahoma" pitchFamily="34" charset="0"/>
              </a:rPr>
              <a:t>형</a:t>
            </a:r>
            <a:r>
              <a:rPr lang="ko-KR" altLang="en-US" smtClean="0">
                <a:solidFill>
                  <a:srgbClr val="000000"/>
                </a:solidFill>
                <a:latin typeface="Tahoma" pitchFamily="34" charset="0"/>
                <a:ea typeface="돋움" pitchFamily="50" charset="-127"/>
                <a:cs typeface="Tahoma" pitchFamily="34" charset="0"/>
              </a:rPr>
              <a:t> </a:t>
            </a:r>
            <a:r>
              <a:rPr lang="ko-KR" altLang="en-US" smtClean="0">
                <a:solidFill>
                  <a:srgbClr val="000000"/>
                </a:solidFill>
                <a:latin typeface="돋움" pitchFamily="50" charset="-127"/>
                <a:ea typeface="돋움" pitchFamily="50" charset="-127"/>
                <a:cs typeface="Tahoma" pitchFamily="34" charset="0"/>
              </a:rPr>
              <a:t>반도체와</a:t>
            </a:r>
            <a:r>
              <a:rPr lang="ko-KR" altLang="en-US" smtClean="0">
                <a:solidFill>
                  <a:srgbClr val="000000"/>
                </a:solidFill>
                <a:latin typeface="Tahoma" pitchFamily="34" charset="0"/>
                <a:ea typeface="돋움" pitchFamily="50" charset="-127"/>
                <a:cs typeface="Tahoma" pitchFamily="34" charset="0"/>
              </a:rPr>
              <a:t> N</a:t>
            </a:r>
            <a:r>
              <a:rPr lang="ko-KR" altLang="en-US" smtClean="0">
                <a:solidFill>
                  <a:srgbClr val="000000"/>
                </a:solidFill>
                <a:latin typeface="돋움" pitchFamily="50" charset="-127"/>
                <a:ea typeface="돋움" pitchFamily="50" charset="-127"/>
                <a:cs typeface="Tahoma" pitchFamily="34" charset="0"/>
              </a:rPr>
              <a:t>형</a:t>
            </a:r>
            <a:r>
              <a:rPr lang="ko-KR" altLang="en-US" smtClean="0">
                <a:solidFill>
                  <a:srgbClr val="000000"/>
                </a:solidFill>
                <a:latin typeface="Tahoma" pitchFamily="34" charset="0"/>
                <a:ea typeface="돋움" pitchFamily="50" charset="-127"/>
                <a:cs typeface="Tahoma" pitchFamily="34" charset="0"/>
              </a:rPr>
              <a:t> </a:t>
            </a:r>
            <a:r>
              <a:rPr lang="ko-KR" altLang="en-US" smtClean="0">
                <a:solidFill>
                  <a:srgbClr val="000000"/>
                </a:solidFill>
                <a:latin typeface="돋움" pitchFamily="50" charset="-127"/>
                <a:ea typeface="돋움" pitchFamily="50" charset="-127"/>
                <a:cs typeface="Tahoma" pitchFamily="34" charset="0"/>
              </a:rPr>
              <a:t>반도체</a:t>
            </a:r>
          </a:p>
          <a:p>
            <a:pPr eaLnBrk="1" hangingPunct="1"/>
            <a:r>
              <a:rPr lang="ko-KR" altLang="en-US" smtClean="0">
                <a:solidFill>
                  <a:srgbClr val="000000"/>
                </a:solidFill>
                <a:latin typeface="Tahoma" pitchFamily="34" charset="0"/>
                <a:cs typeface="Tahoma" pitchFamily="34" charset="0"/>
              </a:rPr>
              <a:t>  &lt;P</a:t>
            </a:r>
            <a:r>
              <a:rPr lang="ko-KR" altLang="en-US" smtClean="0">
                <a:solidFill>
                  <a:srgbClr val="000000"/>
                </a:solidFill>
                <a:latin typeface="돋움" pitchFamily="50" charset="-127"/>
                <a:ea typeface="돋움" pitchFamily="50" charset="-127"/>
              </a:rPr>
              <a:t>형</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반도체</a:t>
            </a:r>
            <a:r>
              <a:rPr lang="ko-KR" altLang="en-US" smtClean="0">
                <a:solidFill>
                  <a:srgbClr val="000000"/>
                </a:solidFill>
                <a:latin typeface="Tahoma" pitchFamily="34" charset="0"/>
                <a:ea typeface="돋움" pitchFamily="50" charset="-127"/>
              </a:rPr>
              <a:t>&gt;</a:t>
            </a:r>
            <a:endParaRPr lang="ko-KR" altLang="en-US" smtClean="0">
              <a:solidFill>
                <a:srgbClr val="000000"/>
              </a:solidFill>
              <a:latin typeface="돋움" pitchFamily="50" charset="-127"/>
              <a:ea typeface="돋움" pitchFamily="50" charset="-127"/>
            </a:endParaRPr>
          </a:p>
          <a:p>
            <a:pPr eaLnBrk="1" hangingPunct="1"/>
            <a:r>
              <a:rPr lang="ko-KR" altLang="en-US" smtClean="0">
                <a:solidFill>
                  <a:srgbClr val="000000"/>
                </a:solidFill>
                <a:latin typeface="Tahoma" pitchFamily="34" charset="0"/>
                <a:cs typeface="Tahoma" pitchFamily="34" charset="0"/>
              </a:rPr>
              <a:t> - 4</a:t>
            </a:r>
            <a:r>
              <a:rPr lang="ko-KR" altLang="en-US" smtClean="0">
                <a:solidFill>
                  <a:srgbClr val="000000"/>
                </a:solidFill>
                <a:latin typeface="돋움" pitchFamily="50" charset="-127"/>
                <a:ea typeface="돋움" pitchFamily="50" charset="-127"/>
              </a:rPr>
              <a:t>족</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원소인</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규소</a:t>
            </a:r>
            <a:r>
              <a:rPr lang="ko-KR" altLang="en-US" smtClean="0">
                <a:solidFill>
                  <a:srgbClr val="000000"/>
                </a:solidFill>
                <a:latin typeface="Tahoma" pitchFamily="34" charset="0"/>
                <a:ea typeface="돋움" pitchFamily="50" charset="-127"/>
              </a:rPr>
              <a:t>(Si), </a:t>
            </a:r>
            <a:r>
              <a:rPr lang="ko-KR" altLang="en-US" smtClean="0">
                <a:solidFill>
                  <a:srgbClr val="000000"/>
                </a:solidFill>
                <a:latin typeface="돋움" pitchFamily="50" charset="-127"/>
                <a:ea typeface="돋움" pitchFamily="50" charset="-127"/>
              </a:rPr>
              <a:t>게르마늄</a:t>
            </a:r>
            <a:r>
              <a:rPr lang="ko-KR" altLang="en-US" smtClean="0">
                <a:solidFill>
                  <a:srgbClr val="000000"/>
                </a:solidFill>
                <a:latin typeface="Tahoma" pitchFamily="34" charset="0"/>
                <a:ea typeface="돋움" pitchFamily="50" charset="-127"/>
              </a:rPr>
              <a:t>(Ge) </a:t>
            </a:r>
            <a:r>
              <a:rPr lang="ko-KR" altLang="en-US" smtClean="0">
                <a:solidFill>
                  <a:srgbClr val="000000"/>
                </a:solidFill>
                <a:latin typeface="돋움" pitchFamily="50" charset="-127"/>
                <a:ea typeface="돋움" pitchFamily="50" charset="-127"/>
              </a:rPr>
              <a:t>결정에</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실리콘이나</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게르마늄에</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인듐</a:t>
            </a:r>
            <a:r>
              <a:rPr lang="ko-KR" altLang="en-US" smtClean="0">
                <a:solidFill>
                  <a:srgbClr val="000000"/>
                </a:solidFill>
                <a:latin typeface="Tahoma" pitchFamily="34" charset="0"/>
                <a:ea typeface="돋움" pitchFamily="50" charset="-127"/>
              </a:rPr>
              <a:t>(In),</a:t>
            </a:r>
          </a:p>
          <a:p>
            <a:pPr eaLnBrk="1" hangingPunct="1"/>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알루미늄</a:t>
            </a:r>
            <a:r>
              <a:rPr lang="ko-KR" altLang="en-US" smtClean="0">
                <a:solidFill>
                  <a:srgbClr val="000000"/>
                </a:solidFill>
                <a:latin typeface="Tahoma" pitchFamily="34" charset="0"/>
                <a:ea typeface="돋움" pitchFamily="50" charset="-127"/>
              </a:rPr>
              <a:t>(Al) </a:t>
            </a:r>
            <a:r>
              <a:rPr lang="ko-KR" altLang="en-US" smtClean="0">
                <a:solidFill>
                  <a:srgbClr val="000000"/>
                </a:solidFill>
                <a:latin typeface="돋움" pitchFamily="50" charset="-127"/>
                <a:ea typeface="돋움" pitchFamily="50" charset="-127"/>
              </a:rPr>
              <a:t>등의</a:t>
            </a:r>
            <a:r>
              <a:rPr lang="ko-KR" altLang="en-US" smtClean="0">
                <a:solidFill>
                  <a:srgbClr val="000000"/>
                </a:solidFill>
                <a:latin typeface="Tahoma" pitchFamily="34" charset="0"/>
                <a:ea typeface="돋움" pitchFamily="50" charset="-127"/>
              </a:rPr>
              <a:t> 3</a:t>
            </a:r>
            <a:r>
              <a:rPr lang="ko-KR" altLang="en-US" smtClean="0">
                <a:solidFill>
                  <a:srgbClr val="000000"/>
                </a:solidFill>
                <a:latin typeface="돋움" pitchFamily="50" charset="-127"/>
                <a:ea typeface="돋움" pitchFamily="50" charset="-127"/>
              </a:rPr>
              <a:t>가</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원소를</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소량</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첨가</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하면</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인듐은</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전자가</a:t>
            </a:r>
            <a:r>
              <a:rPr lang="ko-KR" altLang="en-US" smtClean="0">
                <a:solidFill>
                  <a:srgbClr val="000000"/>
                </a:solidFill>
                <a:latin typeface="Tahoma" pitchFamily="34" charset="0"/>
                <a:ea typeface="돋움" pitchFamily="50" charset="-127"/>
              </a:rPr>
              <a:t> 3</a:t>
            </a:r>
            <a:r>
              <a:rPr lang="ko-KR" altLang="en-US" smtClean="0">
                <a:solidFill>
                  <a:srgbClr val="000000"/>
                </a:solidFill>
                <a:latin typeface="돋움" pitchFamily="50" charset="-127"/>
                <a:ea typeface="돋움" pitchFamily="50" charset="-127"/>
              </a:rPr>
              <a:t>개로</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부족하기</a:t>
            </a:r>
          </a:p>
          <a:p>
            <a:pPr eaLnBrk="1" hangingPunct="1"/>
            <a:r>
              <a:rPr lang="ko-KR" altLang="en-US" smtClean="0">
                <a:solidFill>
                  <a:srgbClr val="000000"/>
                </a:solidFill>
                <a:latin typeface="Tahoma" pitchFamily="34" charset="0"/>
                <a:cs typeface="Tahoma" pitchFamily="34" charset="0"/>
              </a:rPr>
              <a:t>   </a:t>
            </a:r>
            <a:r>
              <a:rPr lang="ko-KR" altLang="en-US" smtClean="0">
                <a:solidFill>
                  <a:srgbClr val="000000"/>
                </a:solidFill>
                <a:latin typeface="돋움" pitchFamily="50" charset="-127"/>
                <a:ea typeface="돋움" pitchFamily="50" charset="-127"/>
              </a:rPr>
              <a:t>때문에</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정공</a:t>
            </a:r>
            <a:r>
              <a:rPr lang="ko-KR" altLang="en-US" smtClean="0">
                <a:solidFill>
                  <a:srgbClr val="000000"/>
                </a:solidFill>
                <a:latin typeface="Tahoma" pitchFamily="34" charset="0"/>
                <a:ea typeface="돋움" pitchFamily="50" charset="-127"/>
              </a:rPr>
              <a:t>(</a:t>
            </a:r>
            <a:r>
              <a:rPr lang="ko-KR" altLang="en-US" smtClean="0">
                <a:solidFill>
                  <a:srgbClr val="000000"/>
                </a:solidFill>
                <a:latin typeface="돋움" pitchFamily="50" charset="-127"/>
                <a:ea typeface="돋움" pitchFamily="50" charset="-127"/>
              </a:rPr>
              <a:t>양공</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전자가</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빈자리</a:t>
            </a:r>
            <a:r>
              <a:rPr lang="ko-KR" altLang="en-US" smtClean="0">
                <a:solidFill>
                  <a:srgbClr val="000000"/>
                </a:solidFill>
                <a:latin typeface="Tahoma" pitchFamily="34" charset="0"/>
                <a:ea typeface="돋움" pitchFamily="50" charset="-127"/>
              </a:rPr>
              <a:t>,hole)</a:t>
            </a:r>
            <a:r>
              <a:rPr lang="ko-KR" altLang="en-US" smtClean="0">
                <a:solidFill>
                  <a:srgbClr val="000000"/>
                </a:solidFill>
                <a:latin typeface="돋움" pitchFamily="50" charset="-127"/>
                <a:ea typeface="돋움" pitchFamily="50" charset="-127"/>
              </a:rPr>
              <a:t>이</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생김</a:t>
            </a:r>
          </a:p>
          <a:p>
            <a:pPr eaLnBrk="1" hangingPunct="1"/>
            <a:r>
              <a:rPr lang="ko-KR" altLang="en-US" smtClean="0">
                <a:solidFill>
                  <a:srgbClr val="000000"/>
                </a:solidFill>
                <a:latin typeface="Tahoma" pitchFamily="34" charset="0"/>
                <a:cs typeface="Tahoma" pitchFamily="34" charset="0"/>
              </a:rPr>
              <a:t>  &lt;N</a:t>
            </a:r>
            <a:r>
              <a:rPr lang="ko-KR" altLang="en-US" smtClean="0">
                <a:solidFill>
                  <a:srgbClr val="000000"/>
                </a:solidFill>
                <a:latin typeface="돋움" pitchFamily="50" charset="-127"/>
                <a:ea typeface="돋움" pitchFamily="50" charset="-127"/>
              </a:rPr>
              <a:t>형</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반도체</a:t>
            </a:r>
            <a:r>
              <a:rPr lang="ko-KR" altLang="en-US" smtClean="0">
                <a:solidFill>
                  <a:srgbClr val="000000"/>
                </a:solidFill>
                <a:latin typeface="Tahoma" pitchFamily="34" charset="0"/>
                <a:ea typeface="돋움" pitchFamily="50" charset="-127"/>
              </a:rPr>
              <a:t>&gt;</a:t>
            </a:r>
            <a:endParaRPr lang="ko-KR" altLang="en-US" smtClean="0">
              <a:solidFill>
                <a:srgbClr val="000000"/>
              </a:solidFill>
              <a:latin typeface="돋움" pitchFamily="50" charset="-127"/>
              <a:ea typeface="돋움" pitchFamily="50" charset="-127"/>
            </a:endParaRPr>
          </a:p>
          <a:p>
            <a:pPr eaLnBrk="1" hangingPunct="1">
              <a:lnSpc>
                <a:spcPts val="1200"/>
              </a:lnSpc>
            </a:pPr>
            <a:r>
              <a:rPr lang="ko-KR" altLang="en-US" smtClean="0">
                <a:solidFill>
                  <a:srgbClr val="000000"/>
                </a:solidFill>
                <a:latin typeface="Tahoma" pitchFamily="34" charset="0"/>
                <a:cs typeface="Tahoma" pitchFamily="34" charset="0"/>
              </a:rPr>
              <a:t> - 4</a:t>
            </a:r>
            <a:r>
              <a:rPr lang="ko-KR" altLang="en-US" smtClean="0">
                <a:solidFill>
                  <a:srgbClr val="000000"/>
                </a:solidFill>
                <a:latin typeface="돋움" pitchFamily="50" charset="-127"/>
                <a:ea typeface="돋움" pitchFamily="50" charset="-127"/>
              </a:rPr>
              <a:t>가인</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게르마늄</a:t>
            </a:r>
            <a:r>
              <a:rPr lang="ko-KR" altLang="en-US" smtClean="0">
                <a:solidFill>
                  <a:srgbClr val="000000"/>
                </a:solidFill>
                <a:latin typeface="Tahoma" pitchFamily="34" charset="0"/>
                <a:ea typeface="돋움" pitchFamily="50" charset="-127"/>
              </a:rPr>
              <a:t>(Ge)</a:t>
            </a:r>
            <a:r>
              <a:rPr lang="ko-KR" altLang="en-US" smtClean="0">
                <a:solidFill>
                  <a:srgbClr val="000000"/>
                </a:solidFill>
                <a:latin typeface="돋움" pitchFamily="50" charset="-127"/>
                <a:ea typeface="돋움" pitchFamily="50" charset="-127"/>
              </a:rPr>
              <a:t>이나</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실리콘</a:t>
            </a:r>
            <a:r>
              <a:rPr lang="ko-KR" altLang="en-US" smtClean="0">
                <a:solidFill>
                  <a:srgbClr val="000000"/>
                </a:solidFill>
                <a:latin typeface="Tahoma" pitchFamily="34" charset="0"/>
                <a:ea typeface="돋움" pitchFamily="50" charset="-127"/>
              </a:rPr>
              <a:t>(Si)</a:t>
            </a:r>
            <a:r>
              <a:rPr lang="ko-KR" altLang="en-US" smtClean="0">
                <a:solidFill>
                  <a:srgbClr val="000000"/>
                </a:solidFill>
                <a:latin typeface="돋움" pitchFamily="50" charset="-127"/>
                <a:ea typeface="돋움" pitchFamily="50" charset="-127"/>
              </a:rPr>
              <a:t>의</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결정에</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극소량의</a:t>
            </a:r>
            <a:r>
              <a:rPr lang="ko-KR" altLang="en-US" smtClean="0">
                <a:solidFill>
                  <a:srgbClr val="000000"/>
                </a:solidFill>
                <a:latin typeface="Tahoma" pitchFamily="34" charset="0"/>
                <a:ea typeface="돋움" pitchFamily="50" charset="-127"/>
              </a:rPr>
              <a:t> 5</a:t>
            </a:r>
            <a:r>
              <a:rPr lang="ko-KR" altLang="en-US" smtClean="0">
                <a:solidFill>
                  <a:srgbClr val="000000"/>
                </a:solidFill>
                <a:latin typeface="돋움" pitchFamily="50" charset="-127"/>
                <a:ea typeface="돋움" pitchFamily="50" charset="-127"/>
              </a:rPr>
              <a:t>가인</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인</a:t>
            </a:r>
            <a:r>
              <a:rPr lang="ko-KR" altLang="en-US" smtClean="0">
                <a:solidFill>
                  <a:srgbClr val="000000"/>
                </a:solidFill>
                <a:latin typeface="Tahoma" pitchFamily="34" charset="0"/>
                <a:ea typeface="돋움" pitchFamily="50" charset="-127"/>
              </a:rPr>
              <a:t>(P),</a:t>
            </a:r>
            <a:r>
              <a:rPr lang="ko-KR" altLang="en-US" smtClean="0">
                <a:solidFill>
                  <a:srgbClr val="000000"/>
                </a:solidFill>
                <a:latin typeface="돋움" pitchFamily="50" charset="-127"/>
                <a:ea typeface="돋움" pitchFamily="50" charset="-127"/>
              </a:rPr>
              <a:t>비소</a:t>
            </a:r>
            <a:r>
              <a:rPr lang="ko-KR" altLang="en-US" smtClean="0">
                <a:solidFill>
                  <a:srgbClr val="000000"/>
                </a:solidFill>
                <a:latin typeface="Tahoma" pitchFamily="34" charset="0"/>
                <a:ea typeface="돋움" pitchFamily="50" charset="-127"/>
              </a:rPr>
              <a:t>(As),</a:t>
            </a:r>
          </a:p>
          <a:p>
            <a:pPr eaLnBrk="1" hangingPunct="1"/>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안티몬</a:t>
            </a:r>
            <a:r>
              <a:rPr lang="ko-KR" altLang="en-US" smtClean="0">
                <a:solidFill>
                  <a:srgbClr val="000000"/>
                </a:solidFill>
                <a:latin typeface="Tahoma" pitchFamily="34" charset="0"/>
                <a:ea typeface="돋움" pitchFamily="50" charset="-127"/>
              </a:rPr>
              <a:t>(Sb)</a:t>
            </a:r>
            <a:r>
              <a:rPr lang="ko-KR" altLang="en-US" smtClean="0">
                <a:solidFill>
                  <a:srgbClr val="000000"/>
                </a:solidFill>
                <a:latin typeface="돋움" pitchFamily="50" charset="-127"/>
                <a:ea typeface="돋움" pitchFamily="50" charset="-127"/>
              </a:rPr>
              <a:t>을</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소량</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첨가하면</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비소는</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전자를</a:t>
            </a:r>
            <a:r>
              <a:rPr lang="ko-KR" altLang="en-US" smtClean="0">
                <a:solidFill>
                  <a:srgbClr val="000000"/>
                </a:solidFill>
                <a:latin typeface="Tahoma" pitchFamily="34" charset="0"/>
                <a:ea typeface="돋움" pitchFamily="50" charset="-127"/>
              </a:rPr>
              <a:t> 5</a:t>
            </a:r>
            <a:r>
              <a:rPr lang="ko-KR" altLang="en-US" smtClean="0">
                <a:solidFill>
                  <a:srgbClr val="000000"/>
                </a:solidFill>
                <a:latin typeface="돋움" pitchFamily="50" charset="-127"/>
                <a:ea typeface="돋움" pitchFamily="50" charset="-127"/>
              </a:rPr>
              <a:t>개</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갖고</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있으나</a:t>
            </a:r>
            <a:r>
              <a:rPr lang="ko-KR" altLang="en-US" smtClean="0">
                <a:solidFill>
                  <a:srgbClr val="000000"/>
                </a:solidFill>
                <a:latin typeface="Tahoma" pitchFamily="34" charset="0"/>
                <a:ea typeface="돋움" pitchFamily="50" charset="-127"/>
              </a:rPr>
              <a:t>,</a:t>
            </a:r>
            <a:r>
              <a:rPr lang="ko-KR" altLang="en-US" smtClean="0">
                <a:solidFill>
                  <a:srgbClr val="000000"/>
                </a:solidFill>
                <a:latin typeface="돋움" pitchFamily="50" charset="-127"/>
                <a:ea typeface="돋움" pitchFamily="50" charset="-127"/>
              </a:rPr>
              <a:t>실리콘은</a:t>
            </a:r>
            <a:r>
              <a:rPr lang="ko-KR" altLang="en-US" smtClean="0">
                <a:solidFill>
                  <a:srgbClr val="000000"/>
                </a:solidFill>
                <a:latin typeface="Tahoma" pitchFamily="34" charset="0"/>
                <a:ea typeface="돋움" pitchFamily="50" charset="-127"/>
              </a:rPr>
              <a:t> 4</a:t>
            </a:r>
            <a:r>
              <a:rPr lang="ko-KR" altLang="en-US" smtClean="0">
                <a:solidFill>
                  <a:srgbClr val="000000"/>
                </a:solidFill>
                <a:latin typeface="돋움" pitchFamily="50" charset="-127"/>
                <a:ea typeface="돋움" pitchFamily="50" charset="-127"/>
              </a:rPr>
              <a:t>개이므로</a:t>
            </a:r>
          </a:p>
          <a:p>
            <a:pPr eaLnBrk="1" hangingPunct="1">
              <a:lnSpc>
                <a:spcPts val="1200"/>
              </a:lnSpc>
            </a:pPr>
            <a:r>
              <a:rPr lang="ko-KR" altLang="en-US" smtClean="0">
                <a:solidFill>
                  <a:srgbClr val="000000"/>
                </a:solidFill>
                <a:latin typeface="Tahoma" pitchFamily="34" charset="0"/>
                <a:cs typeface="Tahoma" pitchFamily="34" charset="0"/>
              </a:rPr>
              <a:t>   </a:t>
            </a:r>
            <a:r>
              <a:rPr lang="ko-KR" altLang="en-US" smtClean="0">
                <a:solidFill>
                  <a:srgbClr val="000000"/>
                </a:solidFill>
                <a:latin typeface="돋움" pitchFamily="50" charset="-127"/>
                <a:ea typeface="돋움" pitchFamily="50" charset="-127"/>
              </a:rPr>
              <a:t>비소의</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원자</a:t>
            </a:r>
            <a:r>
              <a:rPr lang="ko-KR" altLang="en-US" smtClean="0">
                <a:solidFill>
                  <a:srgbClr val="000000"/>
                </a:solidFill>
                <a:latin typeface="Tahoma" pitchFamily="34" charset="0"/>
                <a:ea typeface="돋움" pitchFamily="50" charset="-127"/>
              </a:rPr>
              <a:t> 1</a:t>
            </a:r>
            <a:r>
              <a:rPr lang="ko-KR" altLang="en-US" smtClean="0">
                <a:solidFill>
                  <a:srgbClr val="000000"/>
                </a:solidFill>
                <a:latin typeface="돋움" pitchFamily="50" charset="-127"/>
                <a:ea typeface="돋움" pitchFamily="50" charset="-127"/>
              </a:rPr>
              <a:t>개는</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자유전자가</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되어</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결정</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내에서</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쉅게</a:t>
            </a:r>
            <a:r>
              <a:rPr lang="ko-KR" altLang="en-US" smtClean="0">
                <a:solidFill>
                  <a:srgbClr val="000000"/>
                </a:solidFill>
                <a:latin typeface="Tahoma" pitchFamily="34" charset="0"/>
                <a:ea typeface="돋움" pitchFamily="50" charset="-127"/>
              </a:rPr>
              <a:t> </a:t>
            </a:r>
            <a:r>
              <a:rPr lang="ko-KR" altLang="en-US" smtClean="0">
                <a:solidFill>
                  <a:srgbClr val="000000"/>
                </a:solidFill>
                <a:latin typeface="돋움" pitchFamily="50" charset="-127"/>
                <a:ea typeface="돋움" pitchFamily="50" charset="-127"/>
              </a:rPr>
              <a:t>움직인다</a:t>
            </a:r>
            <a:r>
              <a:rPr lang="ko-KR" altLang="en-US" smtClean="0">
                <a:solidFill>
                  <a:srgbClr val="000000"/>
                </a:solidFill>
                <a:latin typeface="Tahoma" pitchFamily="34" charset="0"/>
                <a:ea typeface="돋움" pitchFamily="50" charset="-127"/>
              </a:rPr>
              <a:t>.</a:t>
            </a:r>
            <a:endParaRPr lang="ko-KR" altLang="en-US" smtClean="0">
              <a:solidFill>
                <a:srgbClr val="000000"/>
              </a:solidFill>
              <a:latin typeface="Tahoma" pitchFamily="34" charset="0"/>
              <a:cs typeface="Tahoma" pitchFamily="34" charset="0"/>
            </a:endParaRPr>
          </a:p>
          <a:p>
            <a:pPr eaLnBrk="1" hangingPunct="1"/>
            <a:endParaRPr lang="en-US" altLang="ko-KR" smtClean="0"/>
          </a:p>
          <a:p>
            <a:pPr eaLnBrk="1" hangingPunct="1"/>
            <a:r>
              <a:rPr lang="en-US" altLang="ko-KR" smtClean="0"/>
              <a:t>  -. P</a:t>
            </a:r>
            <a:r>
              <a:rPr lang="ko-KR" altLang="en-US" smtClean="0"/>
              <a:t>형과 </a:t>
            </a:r>
            <a:r>
              <a:rPr lang="en-US" altLang="ko-KR" smtClean="0"/>
              <a:t>N</a:t>
            </a:r>
            <a:r>
              <a:rPr lang="ko-KR" altLang="en-US" smtClean="0"/>
              <a:t>형 반도체의 접합부에는 공핍층이 형성되어 있다</a:t>
            </a:r>
            <a:r>
              <a:rPr lang="en-US" altLang="ko-KR" smtClean="0"/>
              <a:t>.</a:t>
            </a:r>
          </a:p>
          <a:p>
            <a:pPr eaLnBrk="1" hangingPunct="1"/>
            <a:r>
              <a:rPr lang="en-US" altLang="ko-KR" smtClean="0"/>
              <a:t>      ○ : </a:t>
            </a:r>
            <a:r>
              <a:rPr lang="ko-KR" altLang="en-US" smtClean="0"/>
              <a:t>정공 ● </a:t>
            </a:r>
            <a:r>
              <a:rPr lang="en-US" altLang="ko-KR" smtClean="0"/>
              <a:t>: </a:t>
            </a:r>
            <a:r>
              <a:rPr lang="ko-KR" altLang="en-US" smtClean="0"/>
              <a:t>전자</a:t>
            </a:r>
          </a:p>
          <a:p>
            <a:pPr eaLnBrk="1" hangingPunct="1"/>
            <a:endParaRPr lang="ko-KR" altLang="en-US" smtClean="0"/>
          </a:p>
          <a:p>
            <a:pPr eaLnBrk="1" hangingPunct="1"/>
            <a:endParaRPr lang="ko-KR" altLang="en-US" smtClean="0"/>
          </a:p>
          <a:p>
            <a:pPr eaLnBrk="1" hangingPunct="1"/>
            <a:endParaRPr lang="ko-KR" altLang="en-US" smtClean="0"/>
          </a:p>
          <a:p>
            <a:pPr eaLnBrk="1" hangingPunct="1"/>
            <a:endParaRPr lang="ko-KR" altLang="en-US" smtClean="0"/>
          </a:p>
          <a:p>
            <a:pPr eaLnBrk="1" hangingPunct="1"/>
            <a:endParaRPr lang="ko-KR" altLang="en-US" smtClean="0"/>
          </a:p>
          <a:p>
            <a:pPr eaLnBrk="1" hangingPunct="1"/>
            <a:endParaRPr lang="ko-KR" altLang="ko-KR"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A437246-153E-4DCC-9D63-31EEDA4EA5DF}" type="slidenum">
              <a:rPr lang="en-US" altLang="ko-KR" smtClean="0">
                <a:solidFill>
                  <a:srgbClr val="000000"/>
                </a:solidFill>
              </a:rPr>
              <a:pPr eaLnBrk="1" latinLnBrk="0" hangingPunct="1">
                <a:spcBef>
                  <a:spcPct val="0"/>
                </a:spcBef>
              </a:pPr>
              <a:t>107</a:t>
            </a:fld>
            <a:endParaRPr lang="en-US" altLang="ko-KR" smtClean="0">
              <a:solidFill>
                <a:srgbClr val="000000"/>
              </a:solidFill>
            </a:endParaRPr>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p:spPr>
        <p:txBody>
          <a:bodyPr/>
          <a:lstStyle/>
          <a:p>
            <a:pPr eaLnBrk="1" hangingPunct="1"/>
            <a:r>
              <a:rPr lang="ko-KR" altLang="en-US" smtClean="0"/>
              <a:t>다이오드 순방향</a:t>
            </a:r>
            <a:r>
              <a:rPr lang="en-US" altLang="ko-KR" smtClean="0"/>
              <a:t>,</a:t>
            </a:r>
            <a:r>
              <a:rPr lang="ko-KR" altLang="en-US" smtClean="0"/>
              <a:t>역방향 일때의 전압 측정 실험을 실시한다</a:t>
            </a:r>
            <a:r>
              <a:rPr lang="en-US" altLang="ko-KR" smtClean="0"/>
              <a:t>.</a:t>
            </a:r>
          </a:p>
          <a:p>
            <a:pPr eaLnBrk="1" hangingPunct="1"/>
            <a:r>
              <a:rPr lang="ko-KR" altLang="en-US" smtClean="0"/>
              <a:t>다이오드 도통 </a:t>
            </a:r>
            <a:r>
              <a:rPr lang="en-US" altLang="ko-KR" smtClean="0"/>
              <a:t>Test</a:t>
            </a:r>
            <a:r>
              <a:rPr lang="ko-KR" altLang="en-US" smtClean="0"/>
              <a:t>를 해 본다</a:t>
            </a:r>
            <a:r>
              <a:rPr lang="en-US" altLang="ko-KR" smtClean="0"/>
              <a:t>.  (Test </a:t>
            </a:r>
            <a:r>
              <a:rPr lang="ko-KR" altLang="en-US" smtClean="0"/>
              <a:t>예 공유</a:t>
            </a:r>
            <a:r>
              <a:rPr lang="en-US" altLang="ko-KR" smtClean="0"/>
              <a:t>)</a:t>
            </a:r>
          </a:p>
          <a:p>
            <a:pPr eaLnBrk="1" hangingPunct="1"/>
            <a:r>
              <a:rPr lang="en-US" altLang="ko-KR" smtClean="0"/>
              <a:t>4.</a:t>
            </a:r>
            <a:r>
              <a:rPr lang="ko-KR" altLang="en-US" smtClean="0"/>
              <a:t>다이오드 순방향과 역방향의 설명</a:t>
            </a:r>
          </a:p>
          <a:p>
            <a:pPr eaLnBrk="1" hangingPunct="1"/>
            <a:r>
              <a:rPr lang="ko-KR" altLang="en-US" smtClean="0"/>
              <a:t>  </a:t>
            </a:r>
            <a:r>
              <a:rPr lang="en-US" altLang="ko-KR" smtClean="0"/>
              <a:t>- </a:t>
            </a:r>
            <a:r>
              <a:rPr lang="ko-KR" altLang="en-US" smtClean="0"/>
              <a:t>공핍층 </a:t>
            </a:r>
            <a:r>
              <a:rPr lang="en-US" altLang="ko-KR" smtClean="0"/>
              <a:t>: </a:t>
            </a:r>
            <a:r>
              <a:rPr lang="ko-KR" altLang="en-US" smtClean="0"/>
              <a:t>반도체의 </a:t>
            </a:r>
            <a:r>
              <a:rPr lang="en-US" altLang="ko-KR" smtClean="0"/>
              <a:t>p-n </a:t>
            </a:r>
            <a:r>
              <a:rPr lang="ko-KR" altLang="en-US" smtClean="0"/>
              <a:t>접합 부근에 다수 반송파를 갖지 않는 영역</a:t>
            </a:r>
            <a:r>
              <a:rPr lang="en-US" altLang="ko-KR" smtClean="0"/>
              <a:t>. p</a:t>
            </a:r>
            <a:r>
              <a:rPr lang="ko-KR" altLang="en-US" smtClean="0"/>
              <a:t>형 반도체와 </a:t>
            </a:r>
            <a:r>
              <a:rPr lang="en-US" altLang="ko-KR" smtClean="0"/>
              <a:t>n</a:t>
            </a:r>
            <a:r>
              <a:rPr lang="ko-KR" altLang="en-US" smtClean="0"/>
              <a:t>형 반도체를 접합시키면 접합이 이루어지는 순간 </a:t>
            </a:r>
            <a:r>
              <a:rPr lang="en-US" altLang="ko-KR" smtClean="0"/>
              <a:t>p-n</a:t>
            </a:r>
          </a:p>
          <a:p>
            <a:pPr eaLnBrk="1" hangingPunct="1"/>
            <a:r>
              <a:rPr lang="en-US" altLang="ko-KR" smtClean="0"/>
              <a:t>    </a:t>
            </a:r>
            <a:r>
              <a:rPr lang="ko-KR" altLang="en-US" smtClean="0"/>
              <a:t>접합 부근에서 이온층이 형성되고</a:t>
            </a:r>
            <a:r>
              <a:rPr lang="en-US" altLang="ko-KR" smtClean="0"/>
              <a:t>,</a:t>
            </a:r>
            <a:r>
              <a:rPr lang="ko-KR" altLang="en-US" smtClean="0"/>
              <a:t>접합의 양쪽 영역에는 어떠한 전도 전자나 정공</a:t>
            </a:r>
            <a:r>
              <a:rPr lang="en-US" altLang="ko-KR" smtClean="0"/>
              <a:t>(hole)</a:t>
            </a:r>
            <a:r>
              <a:rPr lang="ko-KR" altLang="en-US" smtClean="0"/>
              <a:t>도 존재하지 않는 층이 생기며</a:t>
            </a:r>
            <a:r>
              <a:rPr lang="en-US" altLang="ko-KR" smtClean="0"/>
              <a:t>, </a:t>
            </a:r>
            <a:r>
              <a:rPr lang="ko-KR" altLang="en-US" smtClean="0"/>
              <a:t>이 층 양쪽 끝에는 전위 장벽이 형성된다</a:t>
            </a:r>
            <a:r>
              <a:rPr lang="en-US" altLang="ko-KR" smtClean="0"/>
              <a:t>. </a:t>
            </a:r>
          </a:p>
          <a:p>
            <a:pPr eaLnBrk="1" hangingPunct="1"/>
            <a:endParaRPr lang="en-US" altLang="ko-KR" smtClean="0"/>
          </a:p>
          <a:p>
            <a:pPr eaLnBrk="1" hangingPunct="1"/>
            <a:r>
              <a:rPr lang="en-US" altLang="ko-KR" smtClean="0"/>
              <a:t>Si </a:t>
            </a:r>
            <a:r>
              <a:rPr lang="ko-KR" altLang="en-US" smtClean="0"/>
              <a:t>다이오드 약 </a:t>
            </a:r>
            <a:r>
              <a:rPr lang="en-US" altLang="ko-KR" smtClean="0"/>
              <a:t>0.7V, Ge </a:t>
            </a:r>
            <a:r>
              <a:rPr lang="ko-KR" altLang="en-US" smtClean="0"/>
              <a:t>다이오드 약</a:t>
            </a:r>
            <a:r>
              <a:rPr lang="en-US" altLang="ko-KR" smtClean="0"/>
              <a:t>0.2V</a:t>
            </a:r>
            <a:r>
              <a:rPr lang="ko-KR" altLang="en-US" smtClean="0"/>
              <a:t>이상에서 전류가 급격히 증가함을 볼수 있음 이전압을 다이오드의 </a:t>
            </a:r>
            <a:r>
              <a:rPr lang="en-US" altLang="ko-KR" smtClean="0"/>
              <a:t>Cutin </a:t>
            </a:r>
            <a:r>
              <a:rPr lang="ko-KR" altLang="en-US" smtClean="0"/>
              <a:t>전압 또는 문턱전압</a:t>
            </a:r>
            <a:r>
              <a:rPr lang="en-US" altLang="ko-KR" smtClean="0"/>
              <a:t>(threshold voltage)</a:t>
            </a:r>
            <a:endParaRPr lang="ko-KR" altLang="ko-KR"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ED78961-5C9A-4E27-BC0F-FC16F957ECE2}" type="slidenum">
              <a:rPr lang="en-US" altLang="ko-KR" smtClean="0">
                <a:solidFill>
                  <a:srgbClr val="000000"/>
                </a:solidFill>
              </a:rPr>
              <a:pPr eaLnBrk="1" latinLnBrk="0" hangingPunct="1">
                <a:spcBef>
                  <a:spcPct val="0"/>
                </a:spcBef>
              </a:pPr>
              <a:t>108</a:t>
            </a:fld>
            <a:endParaRPr lang="en-US" altLang="ko-KR" smtClean="0">
              <a:solidFill>
                <a:srgbClr val="000000"/>
              </a:solidFill>
            </a:endParaRPr>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p:spPr>
        <p:txBody>
          <a:bodyPr/>
          <a:lstStyle/>
          <a:p>
            <a:pPr eaLnBrk="1" hangingPunct="1"/>
            <a:r>
              <a:rPr lang="en-US" altLang="ko-KR" smtClean="0"/>
              <a:t>5. </a:t>
            </a:r>
            <a:r>
              <a:rPr lang="ko-KR" altLang="en-US" smtClean="0"/>
              <a:t>다이오드 특성 그래프 설명 </a:t>
            </a:r>
          </a:p>
          <a:p>
            <a:pPr eaLnBrk="1" hangingPunct="1"/>
            <a:r>
              <a:rPr lang="ko-KR" altLang="en-US" smtClean="0"/>
              <a:t> </a:t>
            </a:r>
            <a:r>
              <a:rPr lang="en-US" altLang="ko-KR" smtClean="0"/>
              <a:t>- </a:t>
            </a:r>
            <a:r>
              <a:rPr lang="ko-KR" altLang="en-US" smtClean="0"/>
              <a:t>문턱 전압 </a:t>
            </a:r>
            <a:r>
              <a:rPr lang="en-US" altLang="ko-KR" smtClean="0"/>
              <a:t>: </a:t>
            </a:r>
            <a:r>
              <a:rPr lang="ko-KR" altLang="en-US" smtClean="0"/>
              <a:t>순방향 접속 시 일정 전압</a:t>
            </a:r>
            <a:r>
              <a:rPr lang="en-US" altLang="ko-KR" smtClean="0"/>
              <a:t>(Ge:0.2, Si:0.7V) </a:t>
            </a:r>
            <a:r>
              <a:rPr lang="ko-KR" altLang="en-US" smtClean="0"/>
              <a:t>이상이 가해지면 전류가</a:t>
            </a:r>
          </a:p>
          <a:p>
            <a:pPr eaLnBrk="1" hangingPunct="1"/>
            <a:r>
              <a:rPr lang="ko-KR" altLang="en-US" smtClean="0"/>
              <a:t>                  급격히 증가하는 데 이 때의 전압</a:t>
            </a:r>
          </a:p>
          <a:p>
            <a:pPr eaLnBrk="1" hangingPunct="1"/>
            <a:r>
              <a:rPr lang="ko-KR" altLang="en-US" smtClean="0"/>
              <a:t> </a:t>
            </a:r>
            <a:r>
              <a:rPr lang="en-US" altLang="ko-KR" smtClean="0"/>
              <a:t>- </a:t>
            </a:r>
            <a:r>
              <a:rPr lang="ko-KR" altLang="en-US" smtClean="0"/>
              <a:t>항복 전압 </a:t>
            </a:r>
            <a:r>
              <a:rPr lang="en-US" altLang="ko-KR" smtClean="0"/>
              <a:t>: </a:t>
            </a:r>
            <a:r>
              <a:rPr lang="ko-KR" altLang="en-US" smtClean="0"/>
              <a:t>역방향으로 전압 인가 시 해당 다이오드가 견딜 수 없는 전압이</a:t>
            </a:r>
          </a:p>
          <a:p>
            <a:pPr eaLnBrk="1" hangingPunct="1"/>
            <a:r>
              <a:rPr lang="ko-KR" altLang="en-US" smtClean="0"/>
              <a:t>                  가해져 고장이 발생되는 전압</a:t>
            </a:r>
          </a:p>
          <a:p>
            <a:pPr eaLnBrk="1" hangingPunct="1"/>
            <a:endParaRPr lang="ko-KR" altLang="en-US" smtClean="0"/>
          </a:p>
          <a:p>
            <a:pPr eaLnBrk="1" hangingPunct="1"/>
            <a:r>
              <a:rPr lang="en-US" altLang="ko-KR" smtClean="0"/>
              <a:t>4. DVM</a:t>
            </a:r>
            <a:r>
              <a:rPr lang="ko-KR" altLang="en-US" smtClean="0"/>
              <a:t>을 이용한 다이오드 양불 판정 </a:t>
            </a:r>
            <a:r>
              <a:rPr lang="en-US" altLang="ko-KR" smtClean="0"/>
              <a:t>Test </a:t>
            </a:r>
            <a:r>
              <a:rPr lang="ko-KR" altLang="en-US" smtClean="0"/>
              <a:t>진행</a:t>
            </a:r>
          </a:p>
          <a:p>
            <a:pPr eaLnBrk="1" hangingPunct="1"/>
            <a:r>
              <a:rPr lang="ko-KR" altLang="en-US" smtClean="0"/>
              <a:t> </a:t>
            </a:r>
            <a:r>
              <a:rPr lang="en-US" altLang="ko-KR" smtClean="0"/>
              <a:t>- </a:t>
            </a:r>
            <a:r>
              <a:rPr lang="ko-KR" altLang="en-US" smtClean="0"/>
              <a:t>교재의 회로도를 보고 설명 및 </a:t>
            </a:r>
            <a:r>
              <a:rPr lang="en-US" altLang="ko-KR" smtClean="0"/>
              <a:t>Test </a:t>
            </a:r>
            <a:r>
              <a:rPr lang="ko-KR" altLang="en-US" smtClean="0"/>
              <a:t>진행한다</a:t>
            </a:r>
            <a:r>
              <a:rPr lang="en-US" altLang="ko-KR" smtClean="0"/>
              <a:t>.</a:t>
            </a:r>
          </a:p>
          <a:p>
            <a:pPr eaLnBrk="1" hangingPunct="1"/>
            <a:r>
              <a:rPr lang="en-US" altLang="ko-KR" smtClean="0"/>
              <a:t> - </a:t>
            </a:r>
            <a:r>
              <a:rPr lang="ko-KR" altLang="en-US" smtClean="0"/>
              <a:t>아날로그 테스터기 이용 시 옴 레인지의 </a:t>
            </a:r>
            <a:r>
              <a:rPr lang="en-US" altLang="ko-KR" smtClean="0"/>
              <a:t>×1K</a:t>
            </a:r>
            <a:r>
              <a:rPr lang="ko-KR" altLang="en-US" smtClean="0"/>
              <a:t>나 </a:t>
            </a:r>
            <a:r>
              <a:rPr lang="en-US" altLang="ko-KR" smtClean="0"/>
              <a:t>×10</a:t>
            </a:r>
            <a:r>
              <a:rPr lang="ko-KR" altLang="en-US" smtClean="0"/>
              <a:t>의 레인지에서 </a:t>
            </a:r>
            <a:r>
              <a:rPr lang="en-US" altLang="ko-KR" smtClean="0"/>
              <a:t>Test </a:t>
            </a:r>
            <a:r>
              <a:rPr lang="ko-KR" altLang="en-US" smtClean="0"/>
              <a:t>한다</a:t>
            </a:r>
            <a:r>
              <a:rPr lang="en-US" altLang="ko-KR" smtClean="0"/>
              <a:t>.</a:t>
            </a:r>
          </a:p>
          <a:p>
            <a:pPr eaLnBrk="1" hangingPunct="1"/>
            <a:r>
              <a:rPr lang="en-US" altLang="ko-KR" smtClean="0"/>
              <a:t>    </a:t>
            </a:r>
            <a:r>
              <a:rPr lang="ko-KR" altLang="en-US" smtClean="0"/>
              <a:t>레인지 오기입 시 다이오드 고장의 위험 있음</a:t>
            </a:r>
            <a:endParaRPr lang="ko-KR" altLang="ko-KR"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EBD4394-51F0-4F82-93B6-9A41016AC996}" type="slidenum">
              <a:rPr lang="en-US" altLang="ko-KR" smtClean="0">
                <a:solidFill>
                  <a:srgbClr val="000000"/>
                </a:solidFill>
              </a:rPr>
              <a:pPr eaLnBrk="1" latinLnBrk="0" hangingPunct="1">
                <a:spcBef>
                  <a:spcPct val="0"/>
                </a:spcBef>
              </a:pPr>
              <a:t>109</a:t>
            </a:fld>
            <a:endParaRPr lang="en-US" altLang="ko-KR" smtClean="0">
              <a:solidFill>
                <a:srgbClr val="000000"/>
              </a:solidFill>
            </a:endParaRPr>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4A7D89B-2C29-4EF7-9DFC-FA1B4235DD2C}" type="slidenum">
              <a:rPr lang="en-US" altLang="ko-KR" smtClean="0">
                <a:solidFill>
                  <a:srgbClr val="000000"/>
                </a:solidFill>
              </a:rPr>
              <a:pPr eaLnBrk="1" latinLnBrk="0" hangingPunct="1">
                <a:spcBef>
                  <a:spcPct val="0"/>
                </a:spcBef>
              </a:pPr>
              <a:t>110</a:t>
            </a:fld>
            <a:endParaRPr lang="en-US" altLang="ko-KR" smtClean="0">
              <a:solidFill>
                <a:srgbClr val="000000"/>
              </a:solidFill>
            </a:endParaRPr>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1638C14-C6F0-4DC9-A283-80C618B6EB81}" type="slidenum">
              <a:rPr lang="en-US" altLang="ko-KR" smtClean="0">
                <a:solidFill>
                  <a:srgbClr val="000000"/>
                </a:solidFill>
              </a:rPr>
              <a:pPr eaLnBrk="1" latinLnBrk="0" hangingPunct="1">
                <a:spcBef>
                  <a:spcPct val="0"/>
                </a:spcBef>
              </a:pPr>
              <a:t>112</a:t>
            </a:fld>
            <a:endParaRPr lang="en-US" altLang="ko-KR" smtClean="0">
              <a:solidFill>
                <a:srgbClr val="000000"/>
              </a:solidFill>
            </a:endParaRPr>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p:spPr>
        <p:txBody>
          <a:bodyPr/>
          <a:lstStyle/>
          <a:p>
            <a:pPr eaLnBrk="1" hangingPunct="1"/>
            <a:r>
              <a:rPr lang="en-US" altLang="ko-KR" smtClean="0"/>
              <a:t>1.</a:t>
            </a:r>
            <a:r>
              <a:rPr lang="ko-KR" altLang="en-US" smtClean="0"/>
              <a:t>제너다이오드 </a:t>
            </a:r>
            <a:r>
              <a:rPr lang="en-US" altLang="ko-KR" smtClean="0"/>
              <a:t>- </a:t>
            </a:r>
            <a:r>
              <a:rPr lang="ko-KR" altLang="en-US" smtClean="0"/>
              <a:t>순방향은 일반 다이오드 특성과 같고 역방향일때는 규격전압을 </a:t>
            </a:r>
          </a:p>
          <a:p>
            <a:pPr eaLnBrk="1" hangingPunct="1"/>
            <a:r>
              <a:rPr lang="ko-KR" altLang="en-US" smtClean="0"/>
              <a:t>                         넘으면서 제너효과에 의해서 규격전압으로 유지됨</a:t>
            </a:r>
            <a:r>
              <a:rPr lang="en-US" altLang="ko-KR" smtClean="0"/>
              <a:t>.</a:t>
            </a:r>
          </a:p>
          <a:p>
            <a:pPr eaLnBrk="1" hangingPunct="1"/>
            <a:r>
              <a:rPr lang="en-US" altLang="ko-KR" smtClean="0"/>
              <a:t>                       - </a:t>
            </a:r>
            <a:r>
              <a:rPr lang="ko-KR" altLang="en-US" smtClean="0"/>
              <a:t>역방향 항복영역을 동작에 활용</a:t>
            </a:r>
          </a:p>
          <a:p>
            <a:pPr eaLnBrk="1" hangingPunct="1"/>
            <a:r>
              <a:rPr lang="ko-KR" altLang="en-US" smtClean="0"/>
              <a:t>                       </a:t>
            </a:r>
            <a:r>
              <a:rPr lang="en-US" altLang="ko-KR" smtClean="0"/>
              <a:t>- </a:t>
            </a:r>
            <a:r>
              <a:rPr lang="ko-KR" altLang="en-US" smtClean="0"/>
              <a:t>전류가 급격히 변화되어도 전압은 거의 일정하게 유지</a:t>
            </a:r>
          </a:p>
          <a:p>
            <a:pPr eaLnBrk="1" hangingPunct="1"/>
            <a:r>
              <a:rPr lang="ko-KR" altLang="en-US" smtClean="0"/>
              <a:t>                       </a:t>
            </a:r>
            <a:r>
              <a:rPr lang="en-US" altLang="ko-KR" smtClean="0"/>
              <a:t>- </a:t>
            </a:r>
            <a:r>
              <a:rPr lang="ko-KR" altLang="en-US" smtClean="0"/>
              <a:t>제너 전압은 </a:t>
            </a:r>
            <a:r>
              <a:rPr lang="en-US" altLang="ko-KR" smtClean="0"/>
              <a:t>2~3V</a:t>
            </a:r>
            <a:r>
              <a:rPr lang="ko-KR" altLang="en-US" smtClean="0"/>
              <a:t>로 부터 </a:t>
            </a:r>
            <a:r>
              <a:rPr lang="en-US" altLang="ko-KR" smtClean="0"/>
              <a:t>200V </a:t>
            </a:r>
            <a:r>
              <a:rPr lang="ko-KR" altLang="en-US" smtClean="0"/>
              <a:t>까지 얻을수 있음</a:t>
            </a:r>
          </a:p>
          <a:p>
            <a:pPr eaLnBrk="1" hangingPunct="1"/>
            <a:r>
              <a:rPr lang="ko-KR" altLang="en-US" smtClean="0"/>
              <a:t>        </a:t>
            </a:r>
          </a:p>
          <a:p>
            <a:pPr eaLnBrk="1" hangingPunct="1"/>
            <a:r>
              <a:rPr lang="en-US" altLang="ko-KR" smtClean="0"/>
              <a:t>2. </a:t>
            </a:r>
            <a:r>
              <a:rPr lang="ko-KR" altLang="en-US" smtClean="0"/>
              <a:t>제너다이오드 특성곡선을 이해시킨다</a:t>
            </a:r>
          </a:p>
          <a:p>
            <a:pPr eaLnBrk="1" hangingPunct="1"/>
            <a:r>
              <a:rPr lang="en-US" altLang="ko-KR" smtClean="0"/>
              <a:t>- Izk : </a:t>
            </a:r>
            <a:r>
              <a:rPr lang="ko-KR" altLang="en-US" smtClean="0"/>
              <a:t>다이오드가 항복영역 내에서 동작할 때의 최소 역방향 전류</a:t>
            </a:r>
          </a:p>
          <a:p>
            <a:pPr eaLnBrk="1" hangingPunct="1"/>
            <a:r>
              <a:rPr lang="en-US" altLang="ko-KR" smtClean="0"/>
              <a:t>- Izm : </a:t>
            </a:r>
            <a:r>
              <a:rPr lang="ko-KR" altLang="en-US" smtClean="0"/>
              <a:t>다이오드가 정격전력을 초과하지 않고 견딜 수 있는 최대역방향전류</a:t>
            </a:r>
          </a:p>
          <a:p>
            <a:pPr eaLnBrk="1" hangingPunct="1"/>
            <a:r>
              <a:rPr lang="en-US" altLang="ko-KR" smtClean="0"/>
              <a:t>- Zz(</a:t>
            </a:r>
            <a:r>
              <a:rPr lang="ko-KR" altLang="en-US" smtClean="0"/>
              <a:t>제너임피던스</a:t>
            </a:r>
            <a:r>
              <a:rPr lang="en-US" altLang="ko-KR" smtClean="0"/>
              <a:t>) : Izk ↔ Izm </a:t>
            </a:r>
            <a:r>
              <a:rPr lang="ko-KR" altLang="en-US" smtClean="0"/>
              <a:t>사이에 곡선의 기울기</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91ED44A-15C3-454E-9A27-771149564DBF}" type="slidenum">
              <a:rPr lang="en-US" altLang="ko-KR" smtClean="0">
                <a:solidFill>
                  <a:srgbClr val="000000"/>
                </a:solidFill>
              </a:rPr>
              <a:pPr eaLnBrk="1" latinLnBrk="0" hangingPunct="1">
                <a:spcBef>
                  <a:spcPct val="0"/>
                </a:spcBef>
              </a:pPr>
              <a:t>113</a:t>
            </a:fld>
            <a:endParaRPr lang="en-US" altLang="ko-KR" smtClean="0">
              <a:solidFill>
                <a:srgbClr val="000000"/>
              </a:solidFill>
            </a:endParaRPr>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p:spPr>
        <p:txBody>
          <a:bodyPr/>
          <a:lstStyle/>
          <a:p>
            <a:pPr eaLnBrk="1" hangingPunct="1"/>
            <a:r>
              <a:rPr lang="en-US" altLang="ko-KR" smtClean="0"/>
              <a:t>3.M-5 Kit 2</a:t>
            </a:r>
            <a:r>
              <a:rPr lang="ko-KR" altLang="en-US" smtClean="0"/>
              <a:t>번 회로를 활용하여 제너다이오드 전압 측정</a:t>
            </a:r>
            <a:endParaRPr lang="ko-KR" altLang="ko-KR"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CECA3F3-1109-4DFE-8839-6736667B012B}" type="slidenum">
              <a:rPr lang="en-US" altLang="ko-KR" smtClean="0">
                <a:solidFill>
                  <a:srgbClr val="000000"/>
                </a:solidFill>
              </a:rPr>
              <a:pPr eaLnBrk="1" latinLnBrk="0" hangingPunct="1">
                <a:spcBef>
                  <a:spcPct val="0"/>
                </a:spcBef>
              </a:pPr>
              <a:t>114</a:t>
            </a:fld>
            <a:endParaRPr lang="en-US" altLang="ko-KR" smtClean="0">
              <a:solidFill>
                <a:srgbClr val="000000"/>
              </a:solidFill>
            </a:endParaRPr>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02790D5-505B-463C-B0EB-5EC4E9DE2120}" type="slidenum">
              <a:rPr lang="en-US" altLang="ko-KR" smtClean="0">
                <a:solidFill>
                  <a:srgbClr val="000000"/>
                </a:solidFill>
              </a:rPr>
              <a:pPr eaLnBrk="1" latinLnBrk="0" hangingPunct="1">
                <a:spcBef>
                  <a:spcPct val="0"/>
                </a:spcBef>
              </a:pPr>
              <a:t>115</a:t>
            </a:fld>
            <a:endParaRPr lang="en-US" altLang="ko-KR" smtClean="0">
              <a:solidFill>
                <a:srgbClr val="000000"/>
              </a:solidFill>
            </a:endParaRPr>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p:spPr>
        <p:txBody>
          <a:bodyPr/>
          <a:lstStyle/>
          <a:p>
            <a:pPr eaLnBrk="1" hangingPunct="1"/>
            <a:r>
              <a:rPr lang="en-US" altLang="ko-KR" smtClean="0"/>
              <a:t>1. </a:t>
            </a:r>
            <a:r>
              <a:rPr lang="ko-KR" altLang="en-US" smtClean="0"/>
              <a:t>다이오드 기호 설명한다</a:t>
            </a:r>
          </a:p>
          <a:p>
            <a:pPr eaLnBrk="1" hangingPunct="1"/>
            <a:r>
              <a:rPr lang="en-US" altLang="ko-KR" smtClean="0"/>
              <a:t>- </a:t>
            </a:r>
            <a:r>
              <a:rPr lang="ko-KR" altLang="en-US" smtClean="0"/>
              <a:t>교재활용</a:t>
            </a:r>
          </a:p>
          <a:p>
            <a:pPr eaLnBrk="1" hangingPunct="1"/>
            <a:r>
              <a:rPr lang="en-US" altLang="ko-KR" smtClean="0"/>
              <a:t>2. </a:t>
            </a:r>
            <a:r>
              <a:rPr lang="ko-KR" altLang="en-US" smtClean="0"/>
              <a:t>다이오드의 종류 설명한다</a:t>
            </a:r>
          </a:p>
          <a:p>
            <a:pPr eaLnBrk="1" hangingPunct="1"/>
            <a:r>
              <a:rPr lang="en-US" altLang="ko-KR" smtClean="0"/>
              <a:t>- </a:t>
            </a:r>
            <a:r>
              <a:rPr lang="ko-KR" altLang="en-US" smtClean="0"/>
              <a:t>범용 다이오드 </a:t>
            </a:r>
            <a:r>
              <a:rPr lang="en-US" altLang="ko-KR" smtClean="0"/>
              <a:t>: </a:t>
            </a:r>
            <a:r>
              <a:rPr lang="ko-KR" altLang="en-US" smtClean="0"/>
              <a:t>검파</a:t>
            </a:r>
            <a:r>
              <a:rPr lang="en-US" altLang="ko-KR" smtClean="0"/>
              <a:t>, </a:t>
            </a:r>
            <a:r>
              <a:rPr lang="ko-KR" altLang="en-US" smtClean="0"/>
              <a:t>정류</a:t>
            </a:r>
            <a:r>
              <a:rPr lang="en-US" altLang="ko-KR" smtClean="0"/>
              <a:t>, </a:t>
            </a:r>
            <a:r>
              <a:rPr lang="ko-KR" altLang="en-US" smtClean="0"/>
              <a:t>스위칭 </a:t>
            </a:r>
            <a:r>
              <a:rPr lang="en-US" altLang="ko-KR" smtClean="0"/>
              <a:t>, </a:t>
            </a:r>
            <a:r>
              <a:rPr lang="ko-KR" altLang="en-US" smtClean="0"/>
              <a:t>순방향 전압강하 </a:t>
            </a:r>
            <a:r>
              <a:rPr lang="en-US" altLang="ko-KR" smtClean="0"/>
              <a:t>: 0.6V~0.7V</a:t>
            </a:r>
          </a:p>
          <a:p>
            <a:pPr eaLnBrk="1" hangingPunct="1"/>
            <a:r>
              <a:rPr lang="en-US" altLang="ko-KR" smtClean="0"/>
              <a:t>- </a:t>
            </a:r>
            <a:r>
              <a:rPr lang="ko-KR" altLang="en-US" smtClean="0"/>
              <a:t>쇼트키 베어리 다이오드 </a:t>
            </a:r>
            <a:r>
              <a:rPr lang="en-US" altLang="ko-KR" smtClean="0"/>
              <a:t>: </a:t>
            </a:r>
            <a:r>
              <a:rPr lang="ko-KR" altLang="en-US" smtClean="0"/>
              <a:t>고속 스위칭 </a:t>
            </a:r>
            <a:r>
              <a:rPr lang="en-US" altLang="ko-KR" smtClean="0"/>
              <a:t>, </a:t>
            </a:r>
            <a:r>
              <a:rPr lang="ko-KR" altLang="en-US" smtClean="0"/>
              <a:t>순방향 전압강하 </a:t>
            </a:r>
            <a:r>
              <a:rPr lang="en-US" altLang="ko-KR" smtClean="0"/>
              <a:t>: 0.2V</a:t>
            </a:r>
          </a:p>
          <a:p>
            <a:pPr eaLnBrk="1" hangingPunct="1"/>
            <a:r>
              <a:rPr lang="en-US" altLang="ko-KR" smtClean="0"/>
              <a:t>- Pin </a:t>
            </a:r>
            <a:r>
              <a:rPr lang="ko-KR" altLang="en-US" smtClean="0"/>
              <a:t>다이오드 </a:t>
            </a:r>
            <a:r>
              <a:rPr lang="en-US" altLang="ko-KR" smtClean="0"/>
              <a:t>: </a:t>
            </a:r>
            <a:r>
              <a:rPr lang="ko-KR" altLang="en-US" smtClean="0"/>
              <a:t>고속 스위칭</a:t>
            </a:r>
            <a:r>
              <a:rPr lang="en-US" altLang="ko-KR" smtClean="0"/>
              <a:t>, </a:t>
            </a:r>
            <a:r>
              <a:rPr lang="ko-KR" altLang="en-US" smtClean="0"/>
              <a:t>고주파 회로 스위칭</a:t>
            </a:r>
            <a:r>
              <a:rPr lang="en-US" altLang="ko-KR" smtClean="0"/>
              <a:t>, PN</a:t>
            </a:r>
            <a:r>
              <a:rPr lang="ko-KR" altLang="en-US" smtClean="0"/>
              <a:t>접합이 특수한 구조</a:t>
            </a:r>
          </a:p>
          <a:p>
            <a:pPr eaLnBrk="1" hangingPunct="1"/>
            <a:r>
              <a:rPr lang="en-US" altLang="ko-KR" smtClean="0"/>
              <a:t>- </a:t>
            </a:r>
            <a:r>
              <a:rPr lang="ko-KR" altLang="en-US" smtClean="0"/>
              <a:t>제너다이오드 </a:t>
            </a:r>
            <a:r>
              <a:rPr lang="en-US" altLang="ko-KR" smtClean="0"/>
              <a:t>: </a:t>
            </a:r>
            <a:r>
              <a:rPr lang="ko-KR" altLang="en-US" smtClean="0"/>
              <a:t>정전압 회로</a:t>
            </a:r>
            <a:r>
              <a:rPr lang="en-US" altLang="ko-KR" smtClean="0"/>
              <a:t>, </a:t>
            </a:r>
            <a:r>
              <a:rPr lang="ko-KR" altLang="en-US" smtClean="0"/>
              <a:t>기준전압 用</a:t>
            </a:r>
            <a:r>
              <a:rPr lang="en-US" altLang="ko-KR" smtClean="0"/>
              <a:t>, </a:t>
            </a:r>
            <a:r>
              <a:rPr lang="ko-KR" altLang="en-US" smtClean="0"/>
              <a:t>역방향 전류 제어</a:t>
            </a:r>
          </a:p>
          <a:p>
            <a:pPr eaLnBrk="1" hangingPunct="1"/>
            <a:r>
              <a:rPr lang="en-US" altLang="ko-KR" smtClean="0"/>
              <a:t>3. </a:t>
            </a:r>
            <a:r>
              <a:rPr lang="ko-KR" altLang="en-US" smtClean="0"/>
              <a:t>전원 정류용 다이오드</a:t>
            </a:r>
            <a:r>
              <a:rPr lang="en-US" altLang="ko-KR" smtClean="0"/>
              <a:t>(</a:t>
            </a:r>
            <a:r>
              <a:rPr lang="ko-KR" altLang="en-US" smtClean="0"/>
              <a:t>브리지 다이오드</a:t>
            </a:r>
            <a:r>
              <a:rPr lang="en-US" altLang="ko-KR" smtClean="0"/>
              <a:t>)</a:t>
            </a:r>
          </a:p>
          <a:p>
            <a:pPr eaLnBrk="1" hangingPunct="1"/>
            <a:r>
              <a:rPr lang="en-US" altLang="ko-KR" smtClean="0"/>
              <a:t>- </a:t>
            </a:r>
            <a:r>
              <a:rPr lang="ko-KR" altLang="en-US" smtClean="0"/>
              <a:t>일정한 방향으로 전류를 흐르게 하는 특성을 이용하여 교류를 직류로 변환함</a:t>
            </a:r>
            <a:r>
              <a:rPr lang="en-US" altLang="ko-KR" smtClean="0"/>
              <a:t>(</a:t>
            </a:r>
            <a:r>
              <a:rPr lang="ko-KR" altLang="en-US" smtClean="0"/>
              <a:t>정류</a:t>
            </a:r>
            <a:r>
              <a:rPr lang="en-US" altLang="ko-KR" smtClean="0"/>
              <a:t>)</a:t>
            </a:r>
          </a:p>
          <a:p>
            <a:pPr eaLnBrk="1" hangingPunct="1"/>
            <a:r>
              <a:rPr lang="en-US" altLang="ko-KR" smtClean="0"/>
              <a:t>- </a:t>
            </a:r>
            <a:r>
              <a:rPr lang="ko-KR" altLang="en-US" smtClean="0"/>
              <a:t>브리지 방식 정류용 </a:t>
            </a:r>
            <a:r>
              <a:rPr lang="en-US" altLang="ko-KR" smtClean="0"/>
              <a:t>: 4</a:t>
            </a:r>
            <a:r>
              <a:rPr lang="ko-KR" altLang="en-US" smtClean="0"/>
              <a:t>개 다이오드를 브리지 접속</a:t>
            </a:r>
            <a:r>
              <a:rPr lang="en-US" altLang="ko-KR" smtClean="0"/>
              <a:t>/</a:t>
            </a:r>
            <a:r>
              <a:rPr lang="ko-KR" altLang="en-US" smtClean="0"/>
              <a:t>일체화</a:t>
            </a:r>
          </a:p>
          <a:p>
            <a:pPr eaLnBrk="1" hangingPunct="1"/>
            <a:r>
              <a:rPr lang="en-US" altLang="ko-KR" smtClean="0"/>
              <a:t>- </a:t>
            </a:r>
            <a:r>
              <a:rPr lang="ko-KR" altLang="en-US" smtClean="0"/>
              <a:t>대형 브리지 </a:t>
            </a:r>
            <a:r>
              <a:rPr lang="en-US" altLang="ko-KR" smtClean="0"/>
              <a:t>: </a:t>
            </a:r>
            <a:r>
              <a:rPr lang="ko-KR" altLang="en-US" smtClean="0"/>
              <a:t>발열대비 방열기 필요함</a:t>
            </a:r>
            <a:r>
              <a:rPr lang="en-US" altLang="ko-KR" smtClean="0"/>
              <a:t>.</a:t>
            </a:r>
            <a:endParaRPr lang="ko-KR" altLang="ko-KR"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6CD5995-462B-431C-B1E4-A85CE81FA226}" type="slidenum">
              <a:rPr lang="en-US" altLang="ko-KR" smtClean="0">
                <a:solidFill>
                  <a:srgbClr val="000000"/>
                </a:solidFill>
              </a:rPr>
              <a:pPr eaLnBrk="1" latinLnBrk="0" hangingPunct="1">
                <a:spcBef>
                  <a:spcPct val="0"/>
                </a:spcBef>
              </a:pPr>
              <a:t>116</a:t>
            </a:fld>
            <a:endParaRPr lang="en-US" altLang="ko-KR" smtClean="0">
              <a:solidFill>
                <a:srgbClr val="000000"/>
              </a:solidFill>
            </a:endParaRPr>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A6D88A6-9D0D-49D5-9962-A2CBF053CC64}" type="slidenum">
              <a:rPr lang="en-US" altLang="ko-KR" smtClean="0">
                <a:solidFill>
                  <a:srgbClr val="000000"/>
                </a:solidFill>
              </a:rPr>
              <a:pPr eaLnBrk="1" latinLnBrk="0" hangingPunct="1">
                <a:spcBef>
                  <a:spcPct val="0"/>
                </a:spcBef>
              </a:pPr>
              <a:t>117</a:t>
            </a:fld>
            <a:endParaRPr lang="en-US" altLang="ko-KR" smtClean="0">
              <a:solidFill>
                <a:srgbClr val="000000"/>
              </a:solidFill>
            </a:endParaRPr>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E8DC70D-74AE-46AC-9859-D29D5BC887CA}" type="slidenum">
              <a:rPr lang="en-US" altLang="ko-KR" smtClean="0">
                <a:solidFill>
                  <a:srgbClr val="000000"/>
                </a:solidFill>
              </a:rPr>
              <a:pPr eaLnBrk="1" latinLnBrk="0" hangingPunct="1">
                <a:spcBef>
                  <a:spcPct val="0"/>
                </a:spcBef>
              </a:pPr>
              <a:t>118</a:t>
            </a:fld>
            <a:endParaRPr lang="en-US" altLang="ko-KR" smtClean="0">
              <a:solidFill>
                <a:srgbClr val="000000"/>
              </a:solidFill>
            </a:endParaRPr>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p:spPr>
        <p:txBody>
          <a:bodyPr/>
          <a:lstStyle/>
          <a:p>
            <a:pPr eaLnBrk="1" hangingPunct="1"/>
            <a:r>
              <a:rPr lang="en-US" altLang="ko-KR" smtClean="0"/>
              <a:t>1.Transistor </a:t>
            </a:r>
            <a:r>
              <a:rPr lang="ko-KR" altLang="en-US" smtClean="0"/>
              <a:t>동작 원리</a:t>
            </a:r>
          </a:p>
          <a:p>
            <a:pPr eaLnBrk="1" hangingPunct="1"/>
            <a:r>
              <a:rPr lang="ko-KR" altLang="en-US" smtClean="0"/>
              <a:t> </a:t>
            </a:r>
            <a:r>
              <a:rPr lang="en-US" altLang="ko-KR" smtClean="0"/>
              <a:t>-. B </a:t>
            </a:r>
            <a:r>
              <a:rPr lang="ko-KR" altLang="en-US" smtClean="0"/>
              <a:t>와 </a:t>
            </a:r>
            <a:r>
              <a:rPr lang="en-US" altLang="ko-KR" smtClean="0"/>
              <a:t>E</a:t>
            </a:r>
            <a:r>
              <a:rPr lang="ko-KR" altLang="en-US" smtClean="0"/>
              <a:t>사이에 </a:t>
            </a:r>
            <a:r>
              <a:rPr lang="en-US" altLang="ko-KR" smtClean="0"/>
              <a:t>0.7 [V] </a:t>
            </a:r>
            <a:r>
              <a:rPr lang="ko-KR" altLang="en-US" smtClean="0"/>
              <a:t>이상의 순바어스를 시키면 </a:t>
            </a:r>
            <a:r>
              <a:rPr lang="en-US" altLang="ko-KR" smtClean="0"/>
              <a:t>E → B </a:t>
            </a:r>
            <a:r>
              <a:rPr lang="ko-KR" altLang="en-US" smtClean="0"/>
              <a:t>로 전자가 흐른다</a:t>
            </a:r>
            <a:r>
              <a:rPr lang="en-US" altLang="ko-KR" smtClean="0"/>
              <a:t>.</a:t>
            </a:r>
          </a:p>
          <a:p>
            <a:pPr eaLnBrk="1" hangingPunct="1"/>
            <a:r>
              <a:rPr lang="en-US" altLang="ko-KR" smtClean="0"/>
              <a:t> -. B</a:t>
            </a:r>
            <a:r>
              <a:rPr lang="ko-KR" altLang="en-US" smtClean="0"/>
              <a:t>로 층이 앏아 </a:t>
            </a:r>
            <a:r>
              <a:rPr lang="en-US" altLang="ko-KR" smtClean="0"/>
              <a:t>B</a:t>
            </a:r>
            <a:r>
              <a:rPr lang="ko-KR" altLang="en-US" smtClean="0"/>
              <a:t>로 흘러가는 전자는 제한적이며</a:t>
            </a:r>
            <a:r>
              <a:rPr lang="en-US" altLang="ko-KR" smtClean="0"/>
              <a:t>, B</a:t>
            </a:r>
            <a:r>
              <a:rPr lang="ko-KR" altLang="en-US" smtClean="0"/>
              <a:t>로 흘러간 전자가 </a:t>
            </a:r>
            <a:r>
              <a:rPr lang="en-US" altLang="ko-KR" smtClean="0"/>
              <a:t>C</a:t>
            </a:r>
            <a:r>
              <a:rPr lang="ko-KR" altLang="en-US" smtClean="0"/>
              <a:t>로 흘러</a:t>
            </a:r>
          </a:p>
          <a:p>
            <a:pPr eaLnBrk="1" hangingPunct="1"/>
            <a:r>
              <a:rPr lang="ko-KR" altLang="en-US" smtClean="0"/>
              <a:t>    트랜지스터가 동작 하게 된다</a:t>
            </a:r>
            <a:r>
              <a:rPr lang="en-US" altLang="ko-KR" smtClean="0"/>
              <a:t>. </a:t>
            </a:r>
          </a:p>
          <a:p>
            <a:pPr eaLnBrk="1" hangingPunct="1"/>
            <a:r>
              <a:rPr lang="en-US" altLang="ko-KR" smtClean="0"/>
              <a:t> -.</a:t>
            </a:r>
            <a:r>
              <a:rPr lang="ko-KR" altLang="en-US" smtClean="0"/>
              <a:t>전류의 방향을 보면 </a:t>
            </a:r>
            <a:r>
              <a:rPr lang="en-US" altLang="ko-KR" smtClean="0"/>
              <a:t>IE = IB +IC </a:t>
            </a:r>
            <a:r>
              <a:rPr lang="ko-KR" altLang="en-US" smtClean="0"/>
              <a:t>가 된다</a:t>
            </a:r>
            <a:r>
              <a:rPr lang="en-US" altLang="ko-KR" smtClean="0"/>
              <a:t>(</a:t>
            </a:r>
            <a:r>
              <a:rPr lang="ko-KR" altLang="en-US" smtClean="0"/>
              <a:t>키로히 호프의 법칙</a:t>
            </a:r>
            <a:r>
              <a:rPr lang="en-US" altLang="ko-KR" smtClean="0"/>
              <a:t>) </a:t>
            </a:r>
          </a:p>
          <a:p>
            <a:pPr eaLnBrk="1" hangingPunct="1"/>
            <a:r>
              <a:rPr lang="en-US" altLang="ko-KR" smtClean="0"/>
              <a:t> -. NPN Transistor </a:t>
            </a:r>
            <a:r>
              <a:rPr lang="ko-KR" altLang="en-US" smtClean="0"/>
              <a:t>전류 이득 </a:t>
            </a:r>
            <a:r>
              <a:rPr lang="en-US" altLang="ko-KR" smtClean="0"/>
              <a:t>hfe(</a:t>
            </a:r>
            <a:r>
              <a:rPr lang="ko-KR" altLang="en-US" smtClean="0"/>
              <a:t>출력</a:t>
            </a:r>
            <a:r>
              <a:rPr lang="en-US" altLang="ko-KR" smtClean="0"/>
              <a:t>/</a:t>
            </a:r>
            <a:r>
              <a:rPr lang="ko-KR" altLang="en-US" smtClean="0"/>
              <a:t>입력</a:t>
            </a:r>
            <a:r>
              <a:rPr lang="en-US" altLang="ko-KR" smtClean="0"/>
              <a:t>)</a:t>
            </a:r>
          </a:p>
          <a:p>
            <a:pPr eaLnBrk="1" hangingPunct="1"/>
            <a:r>
              <a:rPr lang="en-US" altLang="ko-KR" smtClean="0"/>
              <a:t>     hfe = β = IC/IB </a:t>
            </a:r>
            <a:endParaRPr lang="ko-KR" altLang="ko-KR"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69A5D3F-68B9-4D99-88DB-35A9462A0582}" type="slidenum">
              <a:rPr lang="en-US" altLang="ko-KR" smtClean="0">
                <a:solidFill>
                  <a:srgbClr val="000000"/>
                </a:solidFill>
              </a:rPr>
              <a:pPr eaLnBrk="1" latinLnBrk="0" hangingPunct="1">
                <a:spcBef>
                  <a:spcPct val="0"/>
                </a:spcBef>
              </a:pPr>
              <a:t>119</a:t>
            </a:fld>
            <a:endParaRPr lang="en-US" altLang="ko-KR" smtClean="0">
              <a:solidFill>
                <a:srgbClr val="000000"/>
              </a:solidFill>
            </a:endParaRPr>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A51AE35-AFE4-46D0-A417-5BEED394E1A5}" type="slidenum">
              <a:rPr lang="en-US" altLang="ko-KR" smtClean="0">
                <a:solidFill>
                  <a:srgbClr val="000000"/>
                </a:solidFill>
              </a:rPr>
              <a:pPr eaLnBrk="1" latinLnBrk="0" hangingPunct="1">
                <a:spcBef>
                  <a:spcPct val="0"/>
                </a:spcBef>
              </a:pPr>
              <a:t>120</a:t>
            </a:fld>
            <a:endParaRPr lang="en-US" altLang="ko-KR" smtClean="0">
              <a:solidFill>
                <a:srgbClr val="000000"/>
              </a:solidFill>
            </a:endParaRPr>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p:spPr>
        <p:txBody>
          <a:bodyPr/>
          <a:lstStyle/>
          <a:p>
            <a:pPr eaLnBrk="1" hangingPunct="1"/>
            <a:r>
              <a:rPr lang="en-US" altLang="ko-KR" smtClean="0"/>
              <a:t>2. </a:t>
            </a:r>
            <a:r>
              <a:rPr lang="ko-KR" altLang="en-US" smtClean="0"/>
              <a:t>트랜지스터의 기능</a:t>
            </a:r>
          </a:p>
          <a:p>
            <a:pPr eaLnBrk="1" hangingPunct="1"/>
            <a:r>
              <a:rPr lang="ko-KR" altLang="en-US" smtClean="0"/>
              <a:t> </a:t>
            </a:r>
            <a:r>
              <a:rPr lang="en-US" altLang="ko-KR" smtClean="0"/>
              <a:t>- </a:t>
            </a:r>
            <a:r>
              <a:rPr lang="ko-KR" altLang="en-US" smtClean="0"/>
              <a:t>스위칭 기능</a:t>
            </a:r>
          </a:p>
          <a:p>
            <a:pPr eaLnBrk="1" hangingPunct="1"/>
            <a:r>
              <a:rPr lang="ko-KR" altLang="en-US" smtClean="0"/>
              <a:t> </a:t>
            </a:r>
            <a:r>
              <a:rPr lang="en-US" altLang="ko-KR" smtClean="0"/>
              <a:t>- </a:t>
            </a:r>
            <a:r>
              <a:rPr lang="ko-KR" altLang="en-US" smtClean="0"/>
              <a:t>증폭 기능 </a:t>
            </a:r>
            <a:r>
              <a:rPr lang="en-US" altLang="ko-KR" smtClean="0"/>
              <a:t>: </a:t>
            </a:r>
            <a:r>
              <a:rPr lang="ko-KR" altLang="en-US" smtClean="0"/>
              <a:t>입력대비 출력 상태로 정의함</a:t>
            </a:r>
          </a:p>
          <a:p>
            <a:pPr eaLnBrk="1" hangingPunct="1"/>
            <a:r>
              <a:rPr lang="ko-KR" altLang="en-US" smtClean="0"/>
              <a:t>   </a:t>
            </a:r>
            <a:r>
              <a:rPr lang="en-US" altLang="ko-KR" smtClean="0"/>
              <a:t>hfe=IC/IB </a:t>
            </a:r>
            <a:r>
              <a:rPr lang="ko-KR" altLang="en-US" smtClean="0"/>
              <a:t>라는 입력대비 출력의 전류 이득이 얻어진다</a:t>
            </a:r>
          </a:p>
          <a:p>
            <a:pPr eaLnBrk="1" hangingPunct="1"/>
            <a:r>
              <a:rPr lang="ko-KR" altLang="en-US" smtClean="0"/>
              <a:t>  이미터 전류 </a:t>
            </a:r>
            <a:r>
              <a:rPr lang="en-US" altLang="ko-KR" smtClean="0"/>
              <a:t>IE=IC+IB</a:t>
            </a:r>
          </a:p>
          <a:p>
            <a:pPr eaLnBrk="1" hangingPunct="1"/>
            <a:endParaRPr lang="en-US" altLang="ko-KR" smtClean="0"/>
          </a:p>
          <a:p>
            <a:pPr eaLnBrk="1" hangingPunct="1"/>
            <a:r>
              <a:rPr lang="en-US" altLang="ko-KR" smtClean="0"/>
              <a:t>3.NPN Transistor </a:t>
            </a:r>
            <a:r>
              <a:rPr lang="ko-KR" altLang="en-US" smtClean="0"/>
              <a:t>측정</a:t>
            </a:r>
            <a:r>
              <a:rPr lang="en-US" altLang="ko-KR" smtClean="0"/>
              <a:t>(TR</a:t>
            </a:r>
            <a:r>
              <a:rPr lang="ko-KR" altLang="en-US" smtClean="0"/>
              <a:t>의 영역 찾기 실습</a:t>
            </a:r>
            <a:r>
              <a:rPr lang="en-US" altLang="ko-KR" smtClean="0"/>
              <a:t>)</a:t>
            </a:r>
          </a:p>
          <a:p>
            <a:pPr eaLnBrk="1" hangingPunct="1"/>
            <a:r>
              <a:rPr lang="en-US" altLang="ko-KR" smtClean="0"/>
              <a:t> - DVM </a:t>
            </a:r>
            <a:r>
              <a:rPr lang="ko-KR" altLang="en-US" smtClean="0"/>
              <a:t>측정모드를 다이오드 측정에 높고 </a:t>
            </a:r>
            <a:r>
              <a:rPr lang="en-US" altLang="ko-KR" smtClean="0"/>
              <a:t>+</a:t>
            </a:r>
            <a:r>
              <a:rPr lang="ko-KR" altLang="en-US" smtClean="0"/>
              <a:t>극</a:t>
            </a:r>
            <a:r>
              <a:rPr lang="en-US" altLang="ko-KR" smtClean="0"/>
              <a:t>(</a:t>
            </a:r>
            <a:r>
              <a:rPr lang="ko-KR" altLang="en-US" smtClean="0"/>
              <a:t>적색</a:t>
            </a:r>
            <a:r>
              <a:rPr lang="en-US" altLang="ko-KR" smtClean="0"/>
              <a:t>)</a:t>
            </a:r>
            <a:r>
              <a:rPr lang="ko-KR" altLang="en-US" smtClean="0"/>
              <a:t>을 한쪽 단자에 고정하고 측정했을때 양쪽 모두 약 </a:t>
            </a:r>
            <a:r>
              <a:rPr lang="en-US" altLang="ko-KR" smtClean="0"/>
              <a:t>0.7V </a:t>
            </a:r>
            <a:r>
              <a:rPr lang="ko-KR" altLang="en-US" smtClean="0"/>
              <a:t>나오는 곳의 기준이 베이스 단자이다</a:t>
            </a:r>
            <a:r>
              <a:rPr lang="en-US" altLang="ko-KR" smtClean="0"/>
              <a:t>.</a:t>
            </a:r>
          </a:p>
          <a:p>
            <a:pPr eaLnBrk="1" hangingPunct="1"/>
            <a:r>
              <a:rPr lang="en-US" altLang="ko-KR" smtClean="0"/>
              <a:t> - Base</a:t>
            </a:r>
            <a:r>
              <a:rPr lang="ko-KR" altLang="en-US" smtClean="0"/>
              <a:t>단자를 기준으로 </a:t>
            </a:r>
            <a:r>
              <a:rPr lang="en-US" altLang="ko-KR" smtClean="0"/>
              <a:t>DVM </a:t>
            </a:r>
            <a:r>
              <a:rPr lang="ko-KR" altLang="en-US" smtClean="0"/>
              <a:t>측정모드를 저항 측정으로 높고 측정 후 약 </a:t>
            </a:r>
            <a:r>
              <a:rPr lang="en-US" altLang="ko-KR" smtClean="0"/>
              <a:t>0.2~0.4MΩ </a:t>
            </a:r>
            <a:r>
              <a:rPr lang="ko-KR" altLang="en-US" smtClean="0"/>
              <a:t>정도 높게 나오는 곳이 이미터이다</a:t>
            </a:r>
            <a:r>
              <a:rPr lang="en-US" altLang="ko-KR" smtClean="0"/>
              <a:t>.</a:t>
            </a:r>
            <a:endParaRPr lang="ko-KR" altLang="ko-KR"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87C205F-F5C0-4D68-97A3-D4EE5D3EFEB9}" type="slidenum">
              <a:rPr lang="en-US" altLang="ko-KR" smtClean="0">
                <a:solidFill>
                  <a:srgbClr val="000000"/>
                </a:solidFill>
              </a:rPr>
              <a:pPr eaLnBrk="1" latinLnBrk="0" hangingPunct="1">
                <a:spcBef>
                  <a:spcPct val="0"/>
                </a:spcBef>
              </a:pPr>
              <a:t>121</a:t>
            </a:fld>
            <a:endParaRPr lang="en-US" altLang="ko-KR" smtClean="0">
              <a:solidFill>
                <a:srgbClr val="000000"/>
              </a:solidFill>
            </a:endParaRPr>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70AC8D7-2E42-4EED-9B8D-37EE7807434F}" type="slidenum">
              <a:rPr lang="en-US" altLang="ko-KR" smtClean="0">
                <a:solidFill>
                  <a:srgbClr val="000000"/>
                </a:solidFill>
              </a:rPr>
              <a:pPr eaLnBrk="1" latinLnBrk="0" hangingPunct="1">
                <a:spcBef>
                  <a:spcPct val="0"/>
                </a:spcBef>
              </a:pPr>
              <a:t>123</a:t>
            </a:fld>
            <a:endParaRPr lang="en-US" altLang="ko-KR" smtClean="0">
              <a:solidFill>
                <a:srgbClr val="000000"/>
              </a:solidFill>
            </a:endParaRPr>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p:spPr>
        <p:txBody>
          <a:bodyPr/>
          <a:lstStyle/>
          <a:p>
            <a:pPr eaLnBrk="1" hangingPunct="1"/>
            <a:endParaRPr lang="ko-KR" altLang="en-US" smtClean="0"/>
          </a:p>
          <a:p>
            <a:pPr eaLnBrk="1" hangingPunct="1"/>
            <a:endParaRPr lang="ko-KR" altLang="en-US" smtClean="0"/>
          </a:p>
          <a:p>
            <a:pPr eaLnBrk="1" hangingPunct="1"/>
            <a:r>
              <a:rPr lang="en-US" altLang="ko-KR" smtClean="0"/>
              <a:t>1. PNP </a:t>
            </a:r>
            <a:r>
              <a:rPr lang="ko-KR" altLang="en-US" smtClean="0"/>
              <a:t>트랜지스터의 특징</a:t>
            </a:r>
          </a:p>
          <a:p>
            <a:pPr eaLnBrk="1" hangingPunct="1"/>
            <a:r>
              <a:rPr lang="ko-KR" altLang="en-US" smtClean="0"/>
              <a:t>   </a:t>
            </a:r>
            <a:r>
              <a:rPr lang="en-US" altLang="ko-KR" smtClean="0"/>
              <a:t>- </a:t>
            </a:r>
            <a:r>
              <a:rPr lang="ko-KR" altLang="en-US" smtClean="0"/>
              <a:t>좌</a:t>
            </a:r>
            <a:r>
              <a:rPr lang="en-US" altLang="ko-KR" smtClean="0"/>
              <a:t>/</a:t>
            </a:r>
            <a:r>
              <a:rPr lang="ko-KR" altLang="en-US" smtClean="0"/>
              <a:t>우가 </a:t>
            </a:r>
            <a:r>
              <a:rPr lang="en-US" altLang="ko-KR" smtClean="0"/>
              <a:t>P</a:t>
            </a:r>
            <a:r>
              <a:rPr lang="ko-KR" altLang="en-US" smtClean="0"/>
              <a:t>형이며</a:t>
            </a:r>
            <a:r>
              <a:rPr lang="en-US" altLang="ko-KR" smtClean="0"/>
              <a:t>, </a:t>
            </a:r>
            <a:r>
              <a:rPr lang="ko-KR" altLang="en-US" smtClean="0"/>
              <a:t>중앙이 </a:t>
            </a:r>
            <a:r>
              <a:rPr lang="en-US" altLang="ko-KR" smtClean="0"/>
              <a:t>N</a:t>
            </a:r>
            <a:r>
              <a:rPr lang="ko-KR" altLang="en-US" smtClean="0"/>
              <a:t>형으로 형성된 물질로 </a:t>
            </a:r>
            <a:r>
              <a:rPr lang="en-US" altLang="ko-KR" smtClean="0"/>
              <a:t>P</a:t>
            </a:r>
            <a:r>
              <a:rPr lang="ko-KR" altLang="en-US" smtClean="0"/>
              <a:t>의한영역을 콜렉터 또다른 영역을 이미터 중앙을 베이스로 부른다</a:t>
            </a:r>
            <a:r>
              <a:rPr lang="en-US" altLang="ko-KR" smtClean="0"/>
              <a:t>.</a:t>
            </a:r>
          </a:p>
          <a:p>
            <a:pPr eaLnBrk="1" hangingPunct="1"/>
            <a:r>
              <a:rPr lang="en-US" altLang="ko-KR" smtClean="0"/>
              <a:t>   -  </a:t>
            </a:r>
            <a:r>
              <a:rPr lang="ko-KR" altLang="en-US" smtClean="0"/>
              <a:t>스위칭 과 도전 작용을 이용하여 증폭 작용을 하도록 사용</a:t>
            </a:r>
          </a:p>
          <a:p>
            <a:pPr eaLnBrk="1" hangingPunct="1"/>
            <a:r>
              <a:rPr lang="en-US" altLang="ko-KR" smtClean="0"/>
              <a:t>2. PNP </a:t>
            </a:r>
            <a:r>
              <a:rPr lang="ko-KR" altLang="en-US" smtClean="0"/>
              <a:t>트랜지스터의 동작 조건</a:t>
            </a:r>
          </a:p>
          <a:p>
            <a:pPr eaLnBrk="1" hangingPunct="1"/>
            <a:r>
              <a:rPr lang="ko-KR" altLang="en-US" smtClean="0"/>
              <a:t>   </a:t>
            </a:r>
            <a:r>
              <a:rPr lang="en-US" altLang="ko-KR" smtClean="0"/>
              <a:t>-  </a:t>
            </a:r>
            <a:r>
              <a:rPr lang="ko-KR" altLang="en-US" smtClean="0"/>
              <a:t>베이스측으로 </a:t>
            </a:r>
            <a:r>
              <a:rPr lang="en-US" altLang="ko-KR" smtClean="0"/>
              <a:t>0.7v</a:t>
            </a:r>
            <a:r>
              <a:rPr lang="ko-KR" altLang="en-US" smtClean="0"/>
              <a:t>이하 전압이 인가되어야 이미터에서 콜렉터로 전류가 흐르게 된다</a:t>
            </a:r>
            <a:r>
              <a:rPr lang="en-US" altLang="ko-KR" smtClean="0"/>
              <a:t>.</a:t>
            </a:r>
          </a:p>
          <a:p>
            <a:pPr eaLnBrk="1" hangingPunct="1"/>
            <a:endParaRPr lang="en-US" altLang="ko-KR" smtClean="0"/>
          </a:p>
          <a:p>
            <a:pPr eaLnBrk="1" hangingPunct="1"/>
            <a:r>
              <a:rPr lang="en-US" altLang="ko-KR" smtClean="0"/>
              <a:t>3. TR</a:t>
            </a:r>
            <a:r>
              <a:rPr lang="ko-KR" altLang="en-US" smtClean="0"/>
              <a:t>의 종류</a:t>
            </a:r>
          </a:p>
          <a:p>
            <a:pPr eaLnBrk="1" hangingPunct="1"/>
            <a:r>
              <a:rPr lang="en-US" altLang="ko-KR" smtClean="0"/>
              <a:t>2SAxxx PNP </a:t>
            </a:r>
            <a:r>
              <a:rPr lang="ko-KR" altLang="en-US" smtClean="0"/>
              <a:t>타입의 고주파용</a:t>
            </a:r>
          </a:p>
          <a:p>
            <a:pPr eaLnBrk="1" hangingPunct="1"/>
            <a:r>
              <a:rPr lang="en-US" altLang="ko-KR" smtClean="0"/>
              <a:t>2SBxxx PNP </a:t>
            </a:r>
            <a:r>
              <a:rPr lang="ko-KR" altLang="en-US" smtClean="0"/>
              <a:t>타입의 저주파용</a:t>
            </a:r>
          </a:p>
          <a:p>
            <a:pPr eaLnBrk="1" hangingPunct="1"/>
            <a:r>
              <a:rPr lang="en-US" altLang="ko-KR" smtClean="0"/>
              <a:t>2SCxxx NPN </a:t>
            </a:r>
            <a:r>
              <a:rPr lang="ko-KR" altLang="en-US" smtClean="0"/>
              <a:t>타입의 고주파용</a:t>
            </a:r>
          </a:p>
          <a:p>
            <a:pPr eaLnBrk="1" hangingPunct="1"/>
            <a:r>
              <a:rPr lang="en-US" altLang="ko-KR" smtClean="0"/>
              <a:t>2SDxxx NPN </a:t>
            </a:r>
            <a:r>
              <a:rPr lang="ko-KR" altLang="en-US" smtClean="0"/>
              <a:t>타입의 저주파용</a:t>
            </a:r>
          </a:p>
          <a:p>
            <a:pPr eaLnBrk="1" hangingPunct="1"/>
            <a:r>
              <a:rPr lang="en-US" altLang="ko-KR" smtClean="0"/>
              <a:t>4. </a:t>
            </a:r>
            <a:r>
              <a:rPr lang="ko-KR" altLang="en-US" smtClean="0"/>
              <a:t>양불 확인 방법 </a:t>
            </a:r>
            <a:r>
              <a:rPr lang="en-US" altLang="ko-KR" smtClean="0"/>
              <a:t>(</a:t>
            </a:r>
            <a:r>
              <a:rPr lang="ko-KR" altLang="en-US" smtClean="0"/>
              <a:t>실습</a:t>
            </a:r>
            <a:r>
              <a:rPr lang="en-US" altLang="ko-KR" smtClean="0"/>
              <a:t>)</a:t>
            </a:r>
          </a:p>
          <a:p>
            <a:pPr eaLnBrk="1" hangingPunct="1"/>
            <a:r>
              <a:rPr lang="en-US" altLang="ko-KR" smtClean="0"/>
              <a:t> -E-B </a:t>
            </a:r>
            <a:r>
              <a:rPr lang="ko-KR" altLang="en-US" smtClean="0"/>
              <a:t>다이오드 전압이 </a:t>
            </a:r>
            <a:r>
              <a:rPr lang="en-US" altLang="ko-KR" smtClean="0"/>
              <a:t>0.5v~0.7v </a:t>
            </a:r>
            <a:r>
              <a:rPr lang="ko-KR" altLang="en-US" smtClean="0"/>
              <a:t>양품</a:t>
            </a:r>
            <a:endParaRPr lang="ko-KR" altLang="ko-KR"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04FCBE8-EB15-4AB5-8B42-780E477C49E4}" type="slidenum">
              <a:rPr lang="en-US" altLang="ko-KR" smtClean="0">
                <a:solidFill>
                  <a:srgbClr val="000000"/>
                </a:solidFill>
              </a:rPr>
              <a:pPr eaLnBrk="1" latinLnBrk="0" hangingPunct="1">
                <a:spcBef>
                  <a:spcPct val="0"/>
                </a:spcBef>
              </a:pPr>
              <a:t>124</a:t>
            </a:fld>
            <a:endParaRPr lang="en-US" altLang="ko-KR" smtClean="0">
              <a:solidFill>
                <a:srgbClr val="000000"/>
              </a:solidFill>
            </a:endParaRPr>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E6E4FB2-8074-4D2B-BD31-0ED73CFE2BF7}" type="slidenum">
              <a:rPr lang="en-US" altLang="ko-KR" smtClean="0">
                <a:solidFill>
                  <a:srgbClr val="000000"/>
                </a:solidFill>
              </a:rPr>
              <a:pPr eaLnBrk="1" latinLnBrk="0" hangingPunct="1">
                <a:spcBef>
                  <a:spcPct val="0"/>
                </a:spcBef>
              </a:pPr>
              <a:t>126</a:t>
            </a:fld>
            <a:endParaRPr lang="en-US" altLang="ko-KR" smtClean="0">
              <a:solidFill>
                <a:srgbClr val="000000"/>
              </a:solidFill>
            </a:endParaRPr>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16E2E71-6372-498C-9BE0-C7A9A9499CF4}" type="slidenum">
              <a:rPr lang="en-US" altLang="ko-KR" smtClean="0">
                <a:solidFill>
                  <a:srgbClr val="000000"/>
                </a:solidFill>
              </a:rPr>
              <a:pPr eaLnBrk="1" latinLnBrk="0" hangingPunct="1">
                <a:spcBef>
                  <a:spcPct val="0"/>
                </a:spcBef>
              </a:pPr>
              <a:t>127</a:t>
            </a:fld>
            <a:endParaRPr lang="en-US" altLang="ko-KR" smtClean="0">
              <a:solidFill>
                <a:srgbClr val="000000"/>
              </a:solidFill>
            </a:endParaRPr>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B712EDE-A5B4-4127-B00A-229AFBF8C5E3}" type="slidenum">
              <a:rPr lang="en-US" altLang="ko-KR" smtClean="0">
                <a:solidFill>
                  <a:srgbClr val="000000"/>
                </a:solidFill>
              </a:rPr>
              <a:pPr eaLnBrk="1" latinLnBrk="0" hangingPunct="1">
                <a:spcBef>
                  <a:spcPct val="0"/>
                </a:spcBef>
              </a:pPr>
              <a:t>128</a:t>
            </a:fld>
            <a:endParaRPr lang="en-US" altLang="ko-KR" smtClean="0">
              <a:solidFill>
                <a:srgbClr val="000000"/>
              </a:solidFill>
            </a:endParaRPr>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p:spPr>
        <p:txBody>
          <a:bodyPr/>
          <a:lstStyle/>
          <a:p>
            <a:pPr eaLnBrk="1" hangingPunct="1"/>
            <a:r>
              <a:rPr lang="en-US" altLang="ko-KR" smtClean="0"/>
              <a:t>1. SCR</a:t>
            </a:r>
            <a:r>
              <a:rPr lang="ko-KR" altLang="en-US" smtClean="0"/>
              <a:t>의 기호 설명</a:t>
            </a:r>
          </a:p>
          <a:p>
            <a:pPr eaLnBrk="1" hangingPunct="1"/>
            <a:r>
              <a:rPr lang="ko-KR" altLang="en-US" smtClean="0"/>
              <a:t> </a:t>
            </a:r>
            <a:r>
              <a:rPr lang="en-US" altLang="ko-KR" smtClean="0"/>
              <a:t>- </a:t>
            </a:r>
            <a:r>
              <a:rPr lang="ko-KR" altLang="en-US" smtClean="0"/>
              <a:t>사이리스터라고도 함</a:t>
            </a:r>
          </a:p>
          <a:p>
            <a:pPr eaLnBrk="1" hangingPunct="1"/>
            <a:r>
              <a:rPr lang="ko-KR" altLang="en-US" smtClean="0"/>
              <a:t> </a:t>
            </a:r>
            <a:r>
              <a:rPr lang="en-US" altLang="ko-KR" smtClean="0"/>
              <a:t>- 4</a:t>
            </a:r>
            <a:r>
              <a:rPr lang="ko-KR" altLang="en-US" smtClean="0"/>
              <a:t>층 구조 와 </a:t>
            </a:r>
            <a:r>
              <a:rPr lang="en-US" altLang="ko-KR" smtClean="0"/>
              <a:t>3</a:t>
            </a:r>
            <a:r>
              <a:rPr lang="ko-KR" altLang="en-US" smtClean="0"/>
              <a:t>개의 단자를 갖는다</a:t>
            </a:r>
            <a:r>
              <a:rPr lang="en-US" altLang="ko-KR" smtClean="0"/>
              <a:t>(Anode,Gate,Cathode)</a:t>
            </a:r>
          </a:p>
          <a:p>
            <a:pPr eaLnBrk="1" hangingPunct="1"/>
            <a:r>
              <a:rPr lang="en-US" altLang="ko-KR" smtClean="0"/>
              <a:t> - </a:t>
            </a:r>
            <a:r>
              <a:rPr lang="ko-KR" altLang="en-US" smtClean="0"/>
              <a:t>고역전압</a:t>
            </a:r>
            <a:r>
              <a:rPr lang="en-US" altLang="ko-KR" smtClean="0"/>
              <a:t>, </a:t>
            </a:r>
            <a:r>
              <a:rPr lang="ko-KR" altLang="en-US" smtClean="0"/>
              <a:t>대전력용 스위칭 소자로 개발</a:t>
            </a:r>
          </a:p>
          <a:p>
            <a:pPr eaLnBrk="1" hangingPunct="1"/>
            <a:r>
              <a:rPr lang="ko-KR" altLang="en-US" smtClean="0"/>
              <a:t> </a:t>
            </a:r>
            <a:r>
              <a:rPr lang="en-US" altLang="ko-KR" smtClean="0"/>
              <a:t>- </a:t>
            </a:r>
            <a:r>
              <a:rPr lang="ko-KR" altLang="en-US" smtClean="0"/>
              <a:t>등가 회로로 해석 시 </a:t>
            </a:r>
            <a:r>
              <a:rPr lang="en-US" altLang="ko-KR" smtClean="0"/>
              <a:t>NPN</a:t>
            </a:r>
            <a:r>
              <a:rPr lang="ko-KR" altLang="en-US" smtClean="0"/>
              <a:t>과 </a:t>
            </a:r>
            <a:r>
              <a:rPr lang="en-US" altLang="ko-KR" smtClean="0"/>
              <a:t>PNP TR 2</a:t>
            </a:r>
            <a:r>
              <a:rPr lang="ko-KR" altLang="en-US" smtClean="0"/>
              <a:t>개를 연결 해 놓은 회로가 된다</a:t>
            </a:r>
            <a:r>
              <a:rPr lang="en-US" altLang="ko-KR" smtClean="0"/>
              <a:t>.</a:t>
            </a:r>
          </a:p>
          <a:p>
            <a:pPr eaLnBrk="1" hangingPunct="1"/>
            <a:endParaRPr lang="en-US" altLang="ko-KR" smtClean="0"/>
          </a:p>
          <a:p>
            <a:pPr eaLnBrk="1" hangingPunct="1"/>
            <a:r>
              <a:rPr lang="en-US" altLang="ko-KR" smtClean="0"/>
              <a:t>2. SCR</a:t>
            </a:r>
            <a:r>
              <a:rPr lang="ko-KR" altLang="en-US" smtClean="0"/>
              <a:t>의 구조 및 등가 회로</a:t>
            </a:r>
          </a:p>
          <a:p>
            <a:pPr eaLnBrk="1" hangingPunct="1"/>
            <a:r>
              <a:rPr lang="ko-KR" altLang="en-US" smtClean="0"/>
              <a:t> </a:t>
            </a:r>
            <a:r>
              <a:rPr lang="en-US" altLang="ko-KR" smtClean="0"/>
              <a:t>-.SCR</a:t>
            </a:r>
            <a:r>
              <a:rPr lang="ko-KR" altLang="en-US" smtClean="0"/>
              <a:t>을 등가적으로 보면 </a:t>
            </a:r>
            <a:r>
              <a:rPr lang="en-US" altLang="ko-KR" smtClean="0"/>
              <a:t>PNP,NPN </a:t>
            </a:r>
            <a:r>
              <a:rPr lang="ko-KR" altLang="en-US" smtClean="0"/>
              <a:t>두개의 </a:t>
            </a:r>
            <a:r>
              <a:rPr lang="en-US" altLang="ko-KR" smtClean="0"/>
              <a:t>TR</a:t>
            </a:r>
            <a:r>
              <a:rPr lang="ko-KR" altLang="en-US" smtClean="0"/>
              <a:t>을 붙여놓은 형태이다</a:t>
            </a:r>
            <a:r>
              <a:rPr lang="en-US" altLang="ko-KR" smtClean="0"/>
              <a:t>.</a:t>
            </a:r>
          </a:p>
          <a:p>
            <a:pPr eaLnBrk="1" hangingPunct="1"/>
            <a:endParaRPr lang="en-US" altLang="ko-KR" smtClean="0"/>
          </a:p>
          <a:p>
            <a:pPr eaLnBrk="1" hangingPunct="1"/>
            <a:r>
              <a:rPr lang="en-US" altLang="ko-KR" smtClean="0"/>
              <a:t>3. SCR</a:t>
            </a:r>
            <a:r>
              <a:rPr lang="ko-KR" altLang="en-US" smtClean="0"/>
              <a:t>의 동작 원리</a:t>
            </a:r>
          </a:p>
          <a:p>
            <a:pPr eaLnBrk="1" hangingPunct="1"/>
            <a:r>
              <a:rPr lang="ko-KR" altLang="en-US" smtClean="0"/>
              <a:t>  </a:t>
            </a:r>
            <a:r>
              <a:rPr lang="en-US" altLang="ko-KR" smtClean="0"/>
              <a:t>-. </a:t>
            </a:r>
            <a:r>
              <a:rPr lang="ko-KR" altLang="en-US" smtClean="0"/>
              <a:t>먼저 </a:t>
            </a:r>
            <a:r>
              <a:rPr lang="en-US" altLang="ko-KR" smtClean="0"/>
              <a:t>Q1 </a:t>
            </a:r>
            <a:r>
              <a:rPr lang="ko-KR" altLang="en-US" smtClean="0"/>
              <a:t>을 동작 시키기 위에 </a:t>
            </a:r>
            <a:r>
              <a:rPr lang="en-US" altLang="ko-KR" smtClean="0"/>
              <a:t>G</a:t>
            </a:r>
            <a:r>
              <a:rPr lang="ko-KR" altLang="en-US" smtClean="0"/>
              <a:t>와 </a:t>
            </a:r>
            <a:r>
              <a:rPr lang="en-US" altLang="ko-KR" smtClean="0"/>
              <a:t>K </a:t>
            </a:r>
            <a:r>
              <a:rPr lang="ko-KR" altLang="en-US" smtClean="0"/>
              <a:t>사이에 순바이어스를 걸어주면 </a:t>
            </a:r>
            <a:r>
              <a:rPr lang="en-US" altLang="ko-KR" smtClean="0"/>
              <a:t>Q1 Trurn On</a:t>
            </a:r>
          </a:p>
          <a:p>
            <a:pPr eaLnBrk="1" hangingPunct="1"/>
            <a:r>
              <a:rPr lang="en-US" altLang="ko-KR" smtClean="0"/>
              <a:t>  -. Q1 Turn ON</a:t>
            </a:r>
            <a:r>
              <a:rPr lang="ko-KR" altLang="en-US" smtClean="0"/>
              <a:t>되면 </a:t>
            </a:r>
            <a:r>
              <a:rPr lang="en-US" altLang="ko-KR" smtClean="0"/>
              <a:t>Q1</a:t>
            </a:r>
            <a:r>
              <a:rPr lang="ko-KR" altLang="en-US" smtClean="0"/>
              <a:t>의 콜렉터가 </a:t>
            </a:r>
            <a:r>
              <a:rPr lang="en-US" altLang="ko-KR" smtClean="0"/>
              <a:t>LOW</a:t>
            </a:r>
            <a:r>
              <a:rPr lang="ko-KR" altLang="en-US" smtClean="0"/>
              <a:t>가 되면서 </a:t>
            </a:r>
            <a:r>
              <a:rPr lang="en-US" altLang="ko-KR" smtClean="0"/>
              <a:t>PNP TR</a:t>
            </a:r>
            <a:r>
              <a:rPr lang="ko-KR" altLang="en-US" smtClean="0"/>
              <a:t>인 </a:t>
            </a:r>
            <a:r>
              <a:rPr lang="en-US" altLang="ko-KR" smtClean="0"/>
              <a:t>Q2</a:t>
            </a:r>
            <a:r>
              <a:rPr lang="ko-KR" altLang="en-US" smtClean="0"/>
              <a:t>가 </a:t>
            </a:r>
            <a:r>
              <a:rPr lang="en-US" altLang="ko-KR" smtClean="0"/>
              <a:t>ON</a:t>
            </a:r>
            <a:r>
              <a:rPr lang="ko-KR" altLang="en-US" smtClean="0"/>
              <a:t>이 되면서 </a:t>
            </a:r>
          </a:p>
          <a:p>
            <a:pPr eaLnBrk="1" hangingPunct="1"/>
            <a:r>
              <a:rPr lang="ko-KR" altLang="en-US" smtClean="0"/>
              <a:t>      </a:t>
            </a:r>
            <a:r>
              <a:rPr lang="en-US" altLang="ko-KR" smtClean="0"/>
              <a:t>Q2</a:t>
            </a:r>
            <a:r>
              <a:rPr lang="ko-KR" altLang="en-US" smtClean="0"/>
              <a:t>의 콜렉터로 </a:t>
            </a:r>
            <a:r>
              <a:rPr lang="en-US" altLang="ko-KR" smtClean="0"/>
              <a:t>+</a:t>
            </a:r>
            <a:r>
              <a:rPr lang="ko-KR" altLang="en-US" smtClean="0"/>
              <a:t>전류가 흐릅니다</a:t>
            </a:r>
          </a:p>
          <a:p>
            <a:pPr eaLnBrk="1" hangingPunct="1"/>
            <a:r>
              <a:rPr lang="ko-KR" altLang="en-US" smtClean="0"/>
              <a:t>  </a:t>
            </a:r>
            <a:r>
              <a:rPr lang="en-US" altLang="ko-KR" smtClean="0"/>
              <a:t>-. Q1</a:t>
            </a:r>
            <a:r>
              <a:rPr lang="ko-KR" altLang="en-US" smtClean="0"/>
              <a:t>과 </a:t>
            </a:r>
            <a:r>
              <a:rPr lang="en-US" altLang="ko-KR" smtClean="0"/>
              <a:t>Q2 Turn ON  </a:t>
            </a:r>
            <a:r>
              <a:rPr lang="ko-KR" altLang="en-US" smtClean="0"/>
              <a:t>되면 </a:t>
            </a:r>
            <a:r>
              <a:rPr lang="en-US" altLang="ko-KR" smtClean="0"/>
              <a:t>A → K </a:t>
            </a:r>
            <a:r>
              <a:rPr lang="ko-KR" altLang="en-US" smtClean="0"/>
              <a:t>로 전류가 흐른다</a:t>
            </a:r>
            <a:r>
              <a:rPr lang="en-US" altLang="ko-KR" smtClean="0"/>
              <a:t>.(</a:t>
            </a:r>
            <a:r>
              <a:rPr lang="ko-KR" altLang="en-US" smtClean="0"/>
              <a:t>정궤환</a:t>
            </a:r>
            <a:r>
              <a:rPr lang="en-US" altLang="ko-KR" smtClean="0"/>
              <a:t>)</a:t>
            </a:r>
          </a:p>
          <a:p>
            <a:pPr eaLnBrk="1" hangingPunct="1"/>
            <a:r>
              <a:rPr lang="en-US" altLang="ko-KR" smtClean="0"/>
              <a:t>  -. </a:t>
            </a:r>
            <a:r>
              <a:rPr lang="ko-KR" altLang="en-US" smtClean="0"/>
              <a:t>이때 </a:t>
            </a:r>
            <a:r>
              <a:rPr lang="en-US" altLang="ko-KR" smtClean="0"/>
              <a:t>Gate</a:t>
            </a:r>
            <a:r>
              <a:rPr lang="ko-KR" altLang="en-US" smtClean="0"/>
              <a:t>에 인가된 전원을 제거하여도 </a:t>
            </a:r>
            <a:r>
              <a:rPr lang="en-US" altLang="ko-KR" smtClean="0"/>
              <a:t>Q1,Q2</a:t>
            </a:r>
            <a:r>
              <a:rPr lang="ko-KR" altLang="en-US" smtClean="0"/>
              <a:t>는 </a:t>
            </a:r>
            <a:r>
              <a:rPr lang="en-US" altLang="ko-KR" smtClean="0"/>
              <a:t>Turn-On</a:t>
            </a:r>
            <a:r>
              <a:rPr lang="ko-KR" altLang="en-US" smtClean="0"/>
              <a:t>을 유지한다</a:t>
            </a:r>
            <a:r>
              <a:rPr lang="en-US" altLang="ko-KR" smtClean="0"/>
              <a:t>.</a:t>
            </a:r>
          </a:p>
          <a:p>
            <a:pPr eaLnBrk="1" hangingPunct="1"/>
            <a:endParaRPr lang="en-US" altLang="ko-KR" smtClean="0"/>
          </a:p>
          <a:p>
            <a:pPr eaLnBrk="1" hangingPunct="1"/>
            <a:r>
              <a:rPr lang="en-US" altLang="ko-KR" smtClean="0"/>
              <a:t>4. SCR</a:t>
            </a:r>
            <a:r>
              <a:rPr lang="ko-KR" altLang="en-US" smtClean="0"/>
              <a:t>의 </a:t>
            </a:r>
            <a:r>
              <a:rPr lang="en-US" altLang="ko-KR" smtClean="0"/>
              <a:t>Turn_Off</a:t>
            </a:r>
          </a:p>
          <a:p>
            <a:pPr eaLnBrk="1" hangingPunct="1"/>
            <a:r>
              <a:rPr lang="en-US" altLang="ko-KR" smtClean="0"/>
              <a:t> -. A </a:t>
            </a:r>
            <a:r>
              <a:rPr lang="ko-KR" altLang="en-US" smtClean="0"/>
              <a:t>의 전압을 </a:t>
            </a:r>
            <a:r>
              <a:rPr lang="en-US" altLang="ko-KR" smtClean="0"/>
              <a:t>"0' Or "-" </a:t>
            </a:r>
            <a:r>
              <a:rPr lang="ko-KR" altLang="en-US" smtClean="0"/>
              <a:t>로 구동 </a:t>
            </a:r>
          </a:p>
          <a:p>
            <a:pPr eaLnBrk="1" hangingPunct="1"/>
            <a:r>
              <a:rPr lang="ko-KR" altLang="en-US" smtClean="0"/>
              <a:t> </a:t>
            </a:r>
            <a:r>
              <a:rPr lang="en-US" altLang="ko-KR" smtClean="0"/>
              <a:t>-. </a:t>
            </a:r>
            <a:r>
              <a:rPr lang="ko-KR" altLang="en-US" smtClean="0"/>
              <a:t>전원을 제거한다</a:t>
            </a:r>
            <a:r>
              <a:rPr lang="en-US" altLang="ko-KR" smtClean="0"/>
              <a:t>.</a:t>
            </a:r>
          </a:p>
          <a:p>
            <a:pPr eaLnBrk="1" hangingPunct="1"/>
            <a:endParaRPr lang="en-US" altLang="ko-KR" smtClean="0"/>
          </a:p>
          <a:p>
            <a:pPr eaLnBrk="1" hangingPunct="1"/>
            <a:r>
              <a:rPr lang="ko-KR" altLang="en-US" smtClean="0">
                <a:solidFill>
                  <a:srgbClr val="000000"/>
                </a:solidFill>
                <a:latin typeface="돋움" pitchFamily="50" charset="-127"/>
                <a:ea typeface="돋움" pitchFamily="50" charset="-127"/>
              </a:rPr>
              <a:t>5. 사이리스터의 장 단점</a:t>
            </a:r>
          </a:p>
          <a:p>
            <a:pPr eaLnBrk="1" hangingPunct="1"/>
            <a:r>
              <a:rPr lang="ko-KR" altLang="en-US" smtClean="0">
                <a:solidFill>
                  <a:srgbClr val="000000"/>
                </a:solidFill>
                <a:latin typeface="돋움" pitchFamily="50" charset="-127"/>
                <a:ea typeface="돋움" pitchFamily="50" charset="-127"/>
              </a:rPr>
              <a:t>장점</a:t>
            </a:r>
          </a:p>
          <a:p>
            <a:pPr eaLnBrk="1" hangingPunct="1"/>
            <a:r>
              <a:rPr lang="ko-KR" altLang="en-US" smtClean="0">
                <a:solidFill>
                  <a:srgbClr val="000000"/>
                </a:solidFill>
                <a:latin typeface="돋움" pitchFamily="50" charset="-127"/>
                <a:ea typeface="돋움" pitchFamily="50" charset="-127"/>
              </a:rPr>
              <a:t>가. 고전압 대전류의 제어가 용이하다.</a:t>
            </a:r>
          </a:p>
          <a:p>
            <a:pPr eaLnBrk="1" hangingPunct="1"/>
            <a:r>
              <a:rPr lang="ko-KR" altLang="en-US" smtClean="0">
                <a:solidFill>
                  <a:srgbClr val="000000"/>
                </a:solidFill>
                <a:latin typeface="돋움" pitchFamily="50" charset="-127"/>
                <a:ea typeface="돋움" pitchFamily="50" charset="-127"/>
              </a:rPr>
              <a:t>나. 제어이득이 높고, 게이트 신호가 소멸하여도 온 상태를 유지할 수 있다.</a:t>
            </a:r>
          </a:p>
          <a:p>
            <a:pPr eaLnBrk="1" hangingPunct="1"/>
            <a:r>
              <a:rPr lang="ko-KR" altLang="en-US" smtClean="0">
                <a:solidFill>
                  <a:srgbClr val="000000"/>
                </a:solidFill>
                <a:latin typeface="돋움" pitchFamily="50" charset="-127"/>
                <a:ea typeface="돋움" pitchFamily="50" charset="-127"/>
              </a:rPr>
              <a:t>다. 수명은 반영구적으로 신뢰성이 높다. 또 써지 전압 전류에도 강하다.</a:t>
            </a:r>
          </a:p>
          <a:p>
            <a:pPr eaLnBrk="1" hangingPunct="1"/>
            <a:r>
              <a:rPr lang="ko-KR" altLang="en-US" smtClean="0">
                <a:solidFill>
                  <a:srgbClr val="000000"/>
                </a:solidFill>
                <a:latin typeface="돋움" pitchFamily="50" charset="-127"/>
                <a:ea typeface="돋움" pitchFamily="50" charset="-127"/>
              </a:rPr>
              <a:t>라. 소형, 경량으로 기기나 장치에의 설치가 용이하다.</a:t>
            </a:r>
          </a:p>
          <a:p>
            <a:pPr eaLnBrk="1" hangingPunct="1"/>
            <a:r>
              <a:rPr lang="ko-KR" altLang="en-US" smtClean="0">
                <a:solidFill>
                  <a:srgbClr val="000000"/>
                </a:solidFill>
                <a:latin typeface="돋움" pitchFamily="50" charset="-127"/>
                <a:ea typeface="돋움" pitchFamily="50" charset="-127"/>
              </a:rPr>
              <a:t>단점</a:t>
            </a:r>
          </a:p>
          <a:p>
            <a:pPr eaLnBrk="1" hangingPunct="1"/>
            <a:r>
              <a:rPr lang="ko-KR" altLang="en-US" smtClean="0">
                <a:solidFill>
                  <a:srgbClr val="000000"/>
                </a:solidFill>
                <a:latin typeface="돋움" pitchFamily="50" charset="-127"/>
                <a:ea typeface="돋움" pitchFamily="50" charset="-127"/>
              </a:rPr>
              <a:t>가. 반도체소자는 고장나면 전문가의 도움이 필요하다.</a:t>
            </a:r>
          </a:p>
          <a:p>
            <a:pPr eaLnBrk="1" hangingPunct="1"/>
            <a:r>
              <a:rPr lang="ko-KR" altLang="en-US" smtClean="0">
                <a:solidFill>
                  <a:srgbClr val="000000"/>
                </a:solidFill>
                <a:latin typeface="돋움" pitchFamily="50" charset="-127"/>
                <a:ea typeface="돋움" pitchFamily="50" charset="-127"/>
              </a:rPr>
              <a:t>나. 반도체 소자의 급격한 발전으로 부품의 조달이 어려울 수 있다.</a:t>
            </a:r>
          </a:p>
          <a:p>
            <a:pPr eaLnBrk="1" hangingPunct="1">
              <a:lnSpc>
                <a:spcPts val="900"/>
              </a:lnSpc>
            </a:pPr>
            <a:r>
              <a:rPr lang="ko-KR" altLang="en-US" smtClean="0">
                <a:solidFill>
                  <a:srgbClr val="000000"/>
                </a:solidFill>
                <a:latin typeface="돋움" pitchFamily="50" charset="-127"/>
                <a:ea typeface="돋움" pitchFamily="50" charset="-127"/>
              </a:rPr>
              <a:t>다. 온도와 습도에 민감하여 주위온도, 배기, 환기 등의 세심한 배려가 필요하다</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A7718C0-695B-448A-9DFD-DEA193C46101}" type="slidenum">
              <a:rPr lang="en-US" altLang="ko-KR" smtClean="0">
                <a:solidFill>
                  <a:srgbClr val="000000"/>
                </a:solidFill>
              </a:rPr>
              <a:pPr eaLnBrk="1" latinLnBrk="0" hangingPunct="1">
                <a:spcBef>
                  <a:spcPct val="0"/>
                </a:spcBef>
              </a:pPr>
              <a:t>129</a:t>
            </a:fld>
            <a:endParaRPr lang="en-US" altLang="ko-KR" smtClean="0">
              <a:solidFill>
                <a:srgbClr val="000000"/>
              </a:solidFill>
            </a:endParaRPr>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p:spPr>
        <p:txBody>
          <a:bodyPr/>
          <a:lstStyle/>
          <a:p>
            <a:pPr eaLnBrk="1" hangingPunct="1"/>
            <a:r>
              <a:rPr lang="en-US" altLang="ko-KR" smtClean="0"/>
              <a:t>1.TRIAC </a:t>
            </a:r>
            <a:r>
              <a:rPr lang="ko-KR" altLang="en-US" smtClean="0"/>
              <a:t>란</a:t>
            </a:r>
            <a:r>
              <a:rPr lang="en-US" altLang="ko-KR" smtClean="0"/>
              <a:t>?</a:t>
            </a:r>
          </a:p>
          <a:p>
            <a:pPr eaLnBrk="1" hangingPunct="1"/>
            <a:r>
              <a:rPr lang="en-US" altLang="ko-KR" smtClean="0"/>
              <a:t> - </a:t>
            </a:r>
            <a:r>
              <a:rPr lang="ko-KR" altLang="en-US" smtClean="0"/>
              <a:t>역병렬로 접속된 </a:t>
            </a:r>
            <a:r>
              <a:rPr lang="en-US" altLang="ko-KR" smtClean="0"/>
              <a:t>2</a:t>
            </a:r>
            <a:r>
              <a:rPr lang="ko-KR" altLang="en-US" smtClean="0"/>
              <a:t>개의 </a:t>
            </a:r>
            <a:r>
              <a:rPr lang="en-US" altLang="ko-KR" smtClean="0"/>
              <a:t>SCR </a:t>
            </a:r>
            <a:r>
              <a:rPr lang="ko-KR" altLang="en-US" smtClean="0"/>
              <a:t>과 거의 같은 기능을 가진 </a:t>
            </a:r>
            <a:r>
              <a:rPr lang="en-US" altLang="ko-KR" smtClean="0"/>
              <a:t>3</a:t>
            </a:r>
            <a:r>
              <a:rPr lang="ko-KR" altLang="en-US" smtClean="0"/>
              <a:t>단자 교류 스위칭 소자</a:t>
            </a:r>
          </a:p>
          <a:p>
            <a:pPr eaLnBrk="1" hangingPunct="1"/>
            <a:r>
              <a:rPr lang="ko-KR" altLang="en-US" smtClean="0"/>
              <a:t>   그 이름은 </a:t>
            </a:r>
            <a:r>
              <a:rPr lang="en-US" altLang="ko-KR" smtClean="0"/>
              <a:t>3</a:t>
            </a:r>
            <a:r>
              <a:rPr lang="ko-KR" altLang="en-US" smtClean="0"/>
              <a:t>극으로 교류전력을 제어한다는 의미에서 유래</a:t>
            </a:r>
          </a:p>
          <a:p>
            <a:pPr eaLnBrk="1" hangingPunct="1"/>
            <a:r>
              <a:rPr lang="en-US" altLang="ko-KR" smtClean="0"/>
              <a:t>2.TRIAC </a:t>
            </a:r>
            <a:r>
              <a:rPr lang="ko-KR" altLang="en-US" smtClean="0"/>
              <a:t>특성</a:t>
            </a:r>
          </a:p>
          <a:p>
            <a:pPr eaLnBrk="1" hangingPunct="1"/>
            <a:r>
              <a:rPr lang="ko-KR" altLang="en-US" smtClean="0"/>
              <a:t> </a:t>
            </a:r>
            <a:r>
              <a:rPr lang="en-US" altLang="ko-KR" smtClean="0"/>
              <a:t>- SCR </a:t>
            </a:r>
            <a:r>
              <a:rPr lang="ko-KR" altLang="en-US" smtClean="0"/>
              <a:t>의 구조에 역방향 바이어스 기능이 추가 되었으므로 </a:t>
            </a:r>
            <a:r>
              <a:rPr lang="en-US" altLang="ko-KR" smtClean="0"/>
              <a:t>SCR </a:t>
            </a:r>
            <a:r>
              <a:rPr lang="ko-KR" altLang="en-US" smtClean="0"/>
              <a:t>과 다르게 교류 전원</a:t>
            </a:r>
          </a:p>
          <a:p>
            <a:pPr eaLnBrk="1" hangingPunct="1"/>
            <a:r>
              <a:rPr lang="ko-KR" altLang="en-US" smtClean="0"/>
              <a:t>    인가시에도 자동 </a:t>
            </a:r>
            <a:r>
              <a:rPr lang="en-US" altLang="ko-KR" smtClean="0"/>
              <a:t>Tun Off </a:t>
            </a:r>
            <a:r>
              <a:rPr lang="ko-KR" altLang="en-US" smtClean="0"/>
              <a:t>되지 않고 연속된 전류 흐름이 가능함 단 </a:t>
            </a:r>
            <a:r>
              <a:rPr lang="en-US" altLang="ko-KR" smtClean="0"/>
              <a:t>Gate </a:t>
            </a:r>
            <a:r>
              <a:rPr lang="ko-KR" altLang="en-US" smtClean="0"/>
              <a:t>전류 인가시</a:t>
            </a:r>
          </a:p>
          <a:p>
            <a:pPr eaLnBrk="1" hangingPunct="1"/>
            <a:r>
              <a:rPr lang="ko-KR" altLang="en-US" smtClean="0"/>
              <a:t>    에 한함 </a:t>
            </a:r>
            <a:r>
              <a:rPr lang="en-US" altLang="ko-KR" smtClean="0"/>
              <a:t>(SCR </a:t>
            </a:r>
            <a:r>
              <a:rPr lang="ko-KR" altLang="en-US" smtClean="0"/>
              <a:t>구조에서 역방향 바이어스時 자동 </a:t>
            </a:r>
            <a:r>
              <a:rPr lang="en-US" altLang="ko-KR" smtClean="0"/>
              <a:t>Turn Off </a:t>
            </a:r>
            <a:r>
              <a:rPr lang="ko-KR" altLang="en-US" smtClean="0"/>
              <a:t>되므로 연속 </a:t>
            </a:r>
            <a:r>
              <a:rPr lang="en-US" altLang="ko-KR" smtClean="0"/>
              <a:t>Turn On </a:t>
            </a:r>
            <a:r>
              <a:rPr lang="ko-KR" altLang="en-US" smtClean="0"/>
              <a:t>시</a:t>
            </a:r>
          </a:p>
          <a:p>
            <a:pPr eaLnBrk="1" hangingPunct="1"/>
            <a:r>
              <a:rPr lang="ko-KR" altLang="en-US" smtClean="0"/>
              <a:t>    </a:t>
            </a:r>
            <a:r>
              <a:rPr lang="en-US" altLang="ko-KR" smtClean="0"/>
              <a:t>Gate </a:t>
            </a:r>
            <a:r>
              <a:rPr lang="ko-KR" altLang="en-US" smtClean="0"/>
              <a:t>신호 인가 필요</a:t>
            </a:r>
            <a:r>
              <a:rPr lang="en-US" altLang="ko-KR" smtClean="0"/>
              <a:t>)</a:t>
            </a:r>
          </a:p>
          <a:p>
            <a:pPr eaLnBrk="1" hangingPunct="1"/>
            <a:r>
              <a:rPr lang="en-US" altLang="ko-KR" smtClean="0"/>
              <a:t>    </a:t>
            </a:r>
            <a:r>
              <a:rPr lang="ko-KR" altLang="en-US" smtClean="0"/>
              <a:t>제어 회로가 간단하고 부품수도 적게 든다</a:t>
            </a:r>
            <a:r>
              <a:rPr lang="en-US" altLang="ko-KR" smtClean="0"/>
              <a:t>.</a:t>
            </a:r>
          </a:p>
          <a:p>
            <a:pPr eaLnBrk="1" hangingPunct="1"/>
            <a:r>
              <a:rPr lang="en-US" altLang="ko-KR" smtClean="0"/>
              <a:t>3.4</a:t>
            </a:r>
            <a:r>
              <a:rPr lang="ko-KR" altLang="en-US" smtClean="0"/>
              <a:t>가지 형태의 트리거 형태가 있으며 각각 트리거의 감도 차이가 있다</a:t>
            </a:r>
            <a:r>
              <a:rPr lang="en-US" altLang="ko-KR" smtClean="0"/>
              <a:t>.</a:t>
            </a:r>
          </a:p>
          <a:p>
            <a:pPr eaLnBrk="1" hangingPunct="1"/>
            <a:r>
              <a:rPr lang="en-US" altLang="ko-KR" smtClean="0"/>
              <a:t>    →p.133 </a:t>
            </a:r>
            <a:r>
              <a:rPr lang="ko-KR" altLang="en-US" smtClean="0"/>
              <a:t>그림참조</a:t>
            </a:r>
          </a:p>
          <a:p>
            <a:pPr eaLnBrk="1" hangingPunct="1"/>
            <a:r>
              <a:rPr lang="en-US" altLang="ko-KR" smtClean="0"/>
              <a:t>4. TRIAC</a:t>
            </a:r>
            <a:r>
              <a:rPr lang="ko-KR" altLang="en-US" smtClean="0"/>
              <a:t>는 </a:t>
            </a:r>
            <a:r>
              <a:rPr lang="en-US" altLang="ko-KR" smtClean="0"/>
              <a:t>SCR</a:t>
            </a:r>
            <a:r>
              <a:rPr lang="ko-KR" altLang="en-US" smtClean="0"/>
              <a:t>을 역방향으로 </a:t>
            </a:r>
            <a:r>
              <a:rPr lang="en-US" altLang="ko-KR" smtClean="0"/>
              <a:t>2</a:t>
            </a:r>
            <a:r>
              <a:rPr lang="ko-KR" altLang="en-US" smtClean="0"/>
              <a:t>개를 이용한 것으로 양방향을 전원을 제어 할수 있어</a:t>
            </a:r>
          </a:p>
          <a:p>
            <a:pPr eaLnBrk="1" hangingPunct="1"/>
            <a:r>
              <a:rPr lang="ko-KR" altLang="en-US" smtClean="0"/>
              <a:t>   교류 전원을 제어하는데 적합하다</a:t>
            </a:r>
            <a:r>
              <a:rPr lang="en-US" altLang="ko-KR" smtClean="0"/>
              <a:t>. gate</a:t>
            </a:r>
            <a:r>
              <a:rPr lang="ko-KR" altLang="en-US" smtClean="0"/>
              <a:t>의 </a:t>
            </a:r>
            <a:r>
              <a:rPr lang="en-US" altLang="ko-KR" smtClean="0"/>
              <a:t>turn on</a:t>
            </a:r>
            <a:r>
              <a:rPr lang="ko-KR" altLang="en-US" smtClean="0"/>
              <a:t>시간을 </a:t>
            </a:r>
            <a:r>
              <a:rPr lang="en-US" altLang="ko-KR" smtClean="0"/>
              <a:t>60hz </a:t>
            </a:r>
            <a:r>
              <a:rPr lang="ko-KR" altLang="en-US" smtClean="0"/>
              <a:t>사인파의 각도에 맞</a:t>
            </a:r>
          </a:p>
          <a:p>
            <a:pPr eaLnBrk="1" hangingPunct="1"/>
            <a:r>
              <a:rPr lang="ko-KR" altLang="en-US" smtClean="0"/>
              <a:t>   추어 적당한 시간후에 </a:t>
            </a:r>
            <a:r>
              <a:rPr lang="en-US" altLang="ko-KR" smtClean="0"/>
              <a:t>on</a:t>
            </a:r>
            <a:r>
              <a:rPr lang="ko-KR" altLang="en-US" smtClean="0"/>
              <a:t>을 시켜줌으로써 전력제어를 하는 것입니다</a:t>
            </a:r>
            <a:r>
              <a:rPr lang="en-US" altLang="ko-KR" smtClean="0"/>
              <a:t>.</a:t>
            </a:r>
          </a:p>
          <a:p>
            <a:pPr eaLnBrk="1" hangingPunct="1"/>
            <a:r>
              <a:rPr lang="en-US" altLang="ko-KR" smtClean="0"/>
              <a:t>   A</a:t>
            </a:r>
            <a:r>
              <a:rPr lang="ko-KR" altLang="en-US" smtClean="0"/>
              <a:t>파형이 들어오는 사인파이고</a:t>
            </a:r>
            <a:r>
              <a:rPr lang="en-US" altLang="ko-KR" smtClean="0"/>
              <a:t>, B,D,F</a:t>
            </a:r>
            <a:r>
              <a:rPr lang="ko-KR" altLang="en-US" smtClean="0"/>
              <a:t>가  </a:t>
            </a:r>
            <a:r>
              <a:rPr lang="en-US" altLang="ko-KR" smtClean="0"/>
              <a:t>GATE</a:t>
            </a:r>
            <a:r>
              <a:rPr lang="ko-KR" altLang="en-US" smtClean="0"/>
              <a:t>에 가해주는 </a:t>
            </a:r>
            <a:r>
              <a:rPr lang="en-US" altLang="ko-KR" smtClean="0"/>
              <a:t>PULSE </a:t>
            </a:r>
            <a:r>
              <a:rPr lang="ko-KR" altLang="en-US" smtClean="0"/>
              <a:t>신호입니다</a:t>
            </a:r>
            <a:r>
              <a:rPr lang="en-US" altLang="ko-KR" smtClean="0"/>
              <a:t>.</a:t>
            </a:r>
          </a:p>
          <a:p>
            <a:pPr eaLnBrk="1" hangingPunct="1"/>
            <a:r>
              <a:rPr lang="en-US" altLang="ko-KR" smtClean="0"/>
              <a:t>   B</a:t>
            </a:r>
            <a:r>
              <a:rPr lang="ko-KR" altLang="en-US" smtClean="0"/>
              <a:t>와 같이 사인파 앞부분에서 신호를 주면 출력신호는 </a:t>
            </a:r>
            <a:r>
              <a:rPr lang="en-US" altLang="ko-KR" smtClean="0"/>
              <a:t>C</a:t>
            </a:r>
            <a:r>
              <a:rPr lang="ko-KR" altLang="en-US" smtClean="0"/>
              <a:t>와 같이 거의 다나오지만 </a:t>
            </a:r>
          </a:p>
          <a:p>
            <a:pPr eaLnBrk="1" hangingPunct="1"/>
            <a:r>
              <a:rPr lang="ko-KR" altLang="en-US" smtClean="0"/>
              <a:t>   </a:t>
            </a:r>
            <a:r>
              <a:rPr lang="en-US" altLang="ko-KR" smtClean="0"/>
              <a:t>D</a:t>
            </a:r>
            <a:r>
              <a:rPr lang="ko-KR" altLang="en-US" smtClean="0"/>
              <a:t>와 </a:t>
            </a:r>
            <a:r>
              <a:rPr lang="en-US" altLang="ko-KR" smtClean="0"/>
              <a:t>F</a:t>
            </a:r>
            <a:r>
              <a:rPr lang="ko-KR" altLang="en-US" smtClean="0"/>
              <a:t>처럼 시간을 조금 지연시켜 </a:t>
            </a:r>
            <a:r>
              <a:rPr lang="en-US" altLang="ko-KR" smtClean="0"/>
              <a:t>on</a:t>
            </a:r>
            <a:r>
              <a:rPr lang="ko-KR" altLang="en-US" smtClean="0"/>
              <a:t>시호를 주면 출력신호는 </a:t>
            </a:r>
            <a:r>
              <a:rPr lang="en-US" altLang="ko-KR" smtClean="0"/>
              <a:t>E,G</a:t>
            </a:r>
            <a:r>
              <a:rPr lang="ko-KR" altLang="en-US" smtClean="0"/>
              <a:t>처럼 조금만 나오</a:t>
            </a:r>
          </a:p>
          <a:p>
            <a:pPr eaLnBrk="1" hangingPunct="1"/>
            <a:r>
              <a:rPr lang="ko-KR" altLang="en-US" smtClean="0"/>
              <a:t>   므로 전력이 줄어들게 되는 것이죠</a:t>
            </a:r>
            <a:r>
              <a:rPr lang="en-US" altLang="ko-KR" smtClean="0"/>
              <a:t>.</a:t>
            </a:r>
          </a:p>
          <a:p>
            <a:pPr eaLnBrk="1" hangingPunct="1"/>
            <a:endParaRPr lang="ko-KR" altLang="ko-KR"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377D933F-FA04-4BDF-A5DF-66A41332D9FA}" type="slidenum">
              <a:rPr lang="en-US" altLang="ko-KR" smtClean="0">
                <a:solidFill>
                  <a:srgbClr val="000000"/>
                </a:solidFill>
              </a:rPr>
              <a:pPr eaLnBrk="1" latinLnBrk="0" hangingPunct="1">
                <a:spcBef>
                  <a:spcPct val="0"/>
                </a:spcBef>
              </a:pPr>
              <a:t>130</a:t>
            </a:fld>
            <a:endParaRPr lang="en-US" altLang="ko-KR" smtClean="0">
              <a:solidFill>
                <a:srgbClr val="000000"/>
              </a:solidFill>
            </a:endParaRPr>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8F8E01C-90CA-411F-9FF5-BBC57AD386D9}" type="slidenum">
              <a:rPr lang="en-US" altLang="ko-KR" smtClean="0">
                <a:solidFill>
                  <a:srgbClr val="000000"/>
                </a:solidFill>
              </a:rPr>
              <a:pPr eaLnBrk="1" latinLnBrk="0" hangingPunct="1">
                <a:spcBef>
                  <a:spcPct val="0"/>
                </a:spcBef>
              </a:pPr>
              <a:t>131</a:t>
            </a:fld>
            <a:endParaRPr lang="en-US" altLang="ko-KR" smtClean="0">
              <a:solidFill>
                <a:srgbClr val="000000"/>
              </a:solidFill>
            </a:endParaRPr>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p:spPr>
        <p:txBody>
          <a:bodyPr/>
          <a:lstStyle/>
          <a:p>
            <a:pPr eaLnBrk="1" hangingPunct="1"/>
            <a:r>
              <a:rPr lang="en-US" altLang="ko-KR" smtClean="0"/>
              <a:t>1.SSR </a:t>
            </a:r>
            <a:r>
              <a:rPr lang="ko-KR" altLang="en-US" smtClean="0"/>
              <a:t>이란</a:t>
            </a:r>
            <a:r>
              <a:rPr lang="en-US" altLang="ko-KR" smtClean="0"/>
              <a:t>?</a:t>
            </a:r>
          </a:p>
          <a:p>
            <a:pPr eaLnBrk="1" hangingPunct="1"/>
            <a:r>
              <a:rPr lang="en-US" altLang="ko-KR" smtClean="0"/>
              <a:t> - </a:t>
            </a:r>
            <a:r>
              <a:rPr lang="ko-KR" altLang="en-US" smtClean="0"/>
              <a:t>입력 신호가 인가 되는 동안 출력이 </a:t>
            </a:r>
            <a:r>
              <a:rPr lang="en-US" altLang="ko-KR" smtClean="0"/>
              <a:t>ON </a:t>
            </a:r>
            <a:r>
              <a:rPr lang="ko-KR" altLang="en-US" smtClean="0"/>
              <a:t>되고 입력 신호 </a:t>
            </a:r>
            <a:r>
              <a:rPr lang="en-US" altLang="ko-KR" smtClean="0"/>
              <a:t>Off </a:t>
            </a:r>
            <a:r>
              <a:rPr lang="ko-KR" altLang="en-US" smtClean="0"/>
              <a:t>時 출력 </a:t>
            </a:r>
            <a:r>
              <a:rPr lang="en-US" altLang="ko-KR" smtClean="0"/>
              <a:t>Off </a:t>
            </a:r>
            <a:r>
              <a:rPr lang="ko-KR" altLang="en-US" smtClean="0"/>
              <a:t>되는 소자</a:t>
            </a:r>
          </a:p>
          <a:p>
            <a:pPr eaLnBrk="1" hangingPunct="1"/>
            <a:r>
              <a:rPr lang="ko-KR" altLang="en-US" smtClean="0"/>
              <a:t>   </a:t>
            </a:r>
            <a:r>
              <a:rPr lang="en-US" altLang="ko-KR" smtClean="0"/>
              <a:t>(</a:t>
            </a:r>
            <a:r>
              <a:rPr lang="ko-KR" altLang="en-US" smtClean="0"/>
              <a:t>무접점 릴레이 소자</a:t>
            </a:r>
            <a:r>
              <a:rPr lang="en-US" altLang="ko-KR" smtClean="0"/>
              <a:t>)</a:t>
            </a:r>
          </a:p>
          <a:p>
            <a:pPr eaLnBrk="1" hangingPunct="1"/>
            <a:r>
              <a:rPr lang="en-US" altLang="ko-KR" smtClean="0"/>
              <a:t>2.SSR </a:t>
            </a:r>
            <a:r>
              <a:rPr lang="ko-KR" altLang="en-US" smtClean="0"/>
              <a:t>의 특징</a:t>
            </a:r>
          </a:p>
          <a:p>
            <a:pPr eaLnBrk="1" hangingPunct="1"/>
            <a:r>
              <a:rPr lang="ko-KR" altLang="en-US" smtClean="0"/>
              <a:t> </a:t>
            </a:r>
            <a:r>
              <a:rPr lang="en-US" altLang="ko-KR" smtClean="0"/>
              <a:t>- </a:t>
            </a:r>
            <a:r>
              <a:rPr lang="ko-KR" altLang="en-US" smtClean="0"/>
              <a:t>저잡음</a:t>
            </a:r>
            <a:r>
              <a:rPr lang="en-US" altLang="ko-KR" smtClean="0"/>
              <a:t>: </a:t>
            </a:r>
            <a:r>
              <a:rPr lang="ko-KR" altLang="en-US" smtClean="0"/>
              <a:t>제어회로에 기계적 접점을 가지는 요소가 없으므로 스파크의 채터링 발생무</a:t>
            </a:r>
          </a:p>
          <a:p>
            <a:pPr eaLnBrk="1" hangingPunct="1"/>
            <a:r>
              <a:rPr lang="ko-KR" altLang="en-US" smtClean="0"/>
              <a:t> </a:t>
            </a:r>
            <a:r>
              <a:rPr lang="en-US" altLang="ko-KR" smtClean="0"/>
              <a:t>- </a:t>
            </a:r>
            <a:r>
              <a:rPr lang="ko-KR" altLang="en-US" smtClean="0"/>
              <a:t>무소음</a:t>
            </a:r>
            <a:r>
              <a:rPr lang="en-US" altLang="ko-KR" smtClean="0"/>
              <a:t>: </a:t>
            </a:r>
            <a:r>
              <a:rPr lang="ko-KR" altLang="en-US" smtClean="0"/>
              <a:t>무접점 릴레이</a:t>
            </a:r>
          </a:p>
          <a:p>
            <a:pPr eaLnBrk="1" hangingPunct="1"/>
            <a:r>
              <a:rPr lang="ko-KR" altLang="en-US" smtClean="0"/>
              <a:t> </a:t>
            </a:r>
            <a:r>
              <a:rPr lang="en-US" altLang="ko-KR" smtClean="0"/>
              <a:t>- </a:t>
            </a:r>
            <a:r>
              <a:rPr lang="ko-KR" altLang="en-US" smtClean="0"/>
              <a:t>내진동성</a:t>
            </a:r>
            <a:r>
              <a:rPr lang="en-US" altLang="ko-KR" smtClean="0"/>
              <a:t>: </a:t>
            </a:r>
            <a:r>
              <a:rPr lang="ko-KR" altLang="en-US" smtClean="0"/>
              <a:t>무접점 릴레이</a:t>
            </a:r>
          </a:p>
          <a:p>
            <a:pPr eaLnBrk="1" hangingPunct="1"/>
            <a:r>
              <a:rPr lang="ko-KR" altLang="en-US" smtClean="0"/>
              <a:t> </a:t>
            </a:r>
            <a:r>
              <a:rPr lang="en-US" altLang="ko-KR" smtClean="0"/>
              <a:t>- </a:t>
            </a:r>
            <a:r>
              <a:rPr lang="ko-KR" altLang="en-US" smtClean="0"/>
              <a:t>고기능</a:t>
            </a:r>
            <a:r>
              <a:rPr lang="en-US" altLang="ko-KR" smtClean="0"/>
              <a:t>: </a:t>
            </a:r>
            <a:r>
              <a:rPr lang="ko-KR" altLang="en-US" smtClean="0"/>
              <a:t>스위칭이 빠르고 위상제어 가능</a:t>
            </a:r>
          </a:p>
          <a:p>
            <a:pPr eaLnBrk="1" hangingPunct="1"/>
            <a:r>
              <a:rPr lang="ko-KR" altLang="en-US" smtClean="0"/>
              <a:t> </a:t>
            </a:r>
            <a:r>
              <a:rPr lang="en-US" altLang="ko-KR" smtClean="0"/>
              <a:t>- </a:t>
            </a:r>
            <a:r>
              <a:rPr lang="ko-KR" altLang="en-US" smtClean="0"/>
              <a:t>고신뢰성</a:t>
            </a:r>
            <a:r>
              <a:rPr lang="en-US" altLang="ko-KR" smtClean="0"/>
              <a:t>: </a:t>
            </a:r>
            <a:r>
              <a:rPr lang="ko-KR" altLang="en-US" smtClean="0"/>
              <a:t>무접점으로 기계적 마모와 몰딩으로 되어 있어 먼지등에 강함</a:t>
            </a:r>
          </a:p>
          <a:p>
            <a:pPr eaLnBrk="1" hangingPunct="1"/>
            <a:r>
              <a:rPr lang="en-US" altLang="ko-KR" smtClean="0"/>
              <a:t>3.</a:t>
            </a:r>
            <a:r>
              <a:rPr lang="ko-KR" altLang="en-US" smtClean="0"/>
              <a:t>사용상 주의 사항</a:t>
            </a:r>
          </a:p>
          <a:p>
            <a:pPr eaLnBrk="1" hangingPunct="1"/>
            <a:r>
              <a:rPr lang="ko-KR" altLang="en-US" smtClean="0"/>
              <a:t> </a:t>
            </a:r>
            <a:r>
              <a:rPr lang="en-US" altLang="ko-KR" smtClean="0"/>
              <a:t>- </a:t>
            </a:r>
            <a:r>
              <a:rPr lang="ko-KR" altLang="en-US" smtClean="0"/>
              <a:t>출력단자간 </a:t>
            </a:r>
            <a:r>
              <a:rPr lang="en-US" altLang="ko-KR" smtClean="0"/>
              <a:t>1~1.5 [Vrms] </a:t>
            </a:r>
            <a:r>
              <a:rPr lang="ko-KR" altLang="en-US" smtClean="0"/>
              <a:t>정도의 </a:t>
            </a:r>
            <a:r>
              <a:rPr lang="en-US" altLang="ko-KR" smtClean="0"/>
              <a:t>ON </a:t>
            </a:r>
            <a:r>
              <a:rPr lang="ko-KR" altLang="en-US" smtClean="0"/>
              <a:t>전압이 발생하며 이에 따른 전력손실이 발열</a:t>
            </a:r>
          </a:p>
          <a:p>
            <a:pPr eaLnBrk="1" hangingPunct="1"/>
            <a:r>
              <a:rPr lang="ko-KR" altLang="en-US" smtClean="0"/>
              <a:t>   로 나타남</a:t>
            </a:r>
          </a:p>
          <a:p>
            <a:pPr eaLnBrk="1" hangingPunct="1"/>
            <a:r>
              <a:rPr lang="ko-KR" altLang="en-US" smtClean="0"/>
              <a:t> </a:t>
            </a:r>
            <a:r>
              <a:rPr lang="en-US" altLang="ko-KR" smtClean="0"/>
              <a:t>- </a:t>
            </a:r>
            <a:r>
              <a:rPr lang="ko-KR" altLang="en-US" smtClean="0"/>
              <a:t>출력 </a:t>
            </a:r>
            <a:r>
              <a:rPr lang="en-US" altLang="ko-KR" smtClean="0"/>
              <a:t>Off </a:t>
            </a:r>
            <a:r>
              <a:rPr lang="ko-KR" altLang="en-US" smtClean="0"/>
              <a:t>시에도 미세한 누설전류가 흐른다</a:t>
            </a:r>
          </a:p>
          <a:p>
            <a:pPr eaLnBrk="1" hangingPunct="1"/>
            <a:r>
              <a:rPr lang="en-US" altLang="ko-KR" smtClean="0"/>
              <a:t>4. SSR </a:t>
            </a:r>
            <a:r>
              <a:rPr lang="ko-KR" altLang="en-US" smtClean="0"/>
              <a:t>의 측정방법에 대해 습득한다 </a:t>
            </a:r>
          </a:p>
          <a:p>
            <a:pPr eaLnBrk="1" hangingPunct="1"/>
            <a:endParaRPr lang="ko-KR" altLang="en-US" smtClean="0"/>
          </a:p>
          <a:p>
            <a:pPr eaLnBrk="1" hangingPunct="1"/>
            <a:r>
              <a:rPr lang="en-US" altLang="ko-KR" smtClean="0"/>
              <a:t> -.SSR </a:t>
            </a:r>
            <a:r>
              <a:rPr lang="ko-KR" altLang="en-US" smtClean="0"/>
              <a:t>측정방법</a:t>
            </a:r>
          </a:p>
          <a:p>
            <a:pPr eaLnBrk="1" hangingPunct="1"/>
            <a:r>
              <a:rPr lang="ko-KR" altLang="en-US" smtClean="0"/>
              <a:t> ①입력 부에 극성에 맞게 전원을 인가</a:t>
            </a:r>
          </a:p>
          <a:p>
            <a:pPr eaLnBrk="1" hangingPunct="1"/>
            <a:r>
              <a:rPr lang="ko-KR" altLang="en-US" smtClean="0"/>
              <a:t> ②출력 부가 서로 도통이 되었는지 측정</a:t>
            </a:r>
            <a:r>
              <a:rPr lang="en-US" altLang="ko-KR" smtClean="0"/>
              <a:t>[</a:t>
            </a:r>
            <a:r>
              <a:rPr lang="ko-KR" altLang="en-US" smtClean="0"/>
              <a:t>도통이 되어야 정상</a:t>
            </a:r>
            <a:r>
              <a:rPr lang="en-US" altLang="ko-KR" smtClean="0"/>
              <a:t>]</a:t>
            </a:r>
          </a:p>
          <a:p>
            <a:pPr eaLnBrk="1" hangingPunct="1"/>
            <a:r>
              <a:rPr lang="en-US" altLang="ko-KR" smtClean="0"/>
              <a:t> ③</a:t>
            </a:r>
            <a:r>
              <a:rPr lang="ko-KR" altLang="en-US" smtClean="0"/>
              <a:t>입력 부에 전원을 인가하지 않은 상태에서 출력부의 도통 상태 </a:t>
            </a:r>
            <a:r>
              <a:rPr lang="en-US" altLang="ko-KR" smtClean="0"/>
              <a:t>Check[</a:t>
            </a:r>
            <a:r>
              <a:rPr lang="ko-KR" altLang="en-US" smtClean="0"/>
              <a:t>도통이 안되</a:t>
            </a:r>
          </a:p>
          <a:p>
            <a:pPr eaLnBrk="1" hangingPunct="1"/>
            <a:r>
              <a:rPr lang="ko-KR" altLang="en-US" smtClean="0"/>
              <a:t>   어야 정상</a:t>
            </a:r>
            <a:r>
              <a:rPr lang="en-US" altLang="ko-KR" smtClean="0"/>
              <a:t>]</a:t>
            </a:r>
          </a:p>
          <a:p>
            <a:pPr eaLnBrk="1" hangingPunct="1"/>
            <a:r>
              <a:rPr lang="en-US" altLang="ko-KR" smtClean="0"/>
              <a:t> ④</a:t>
            </a:r>
            <a:r>
              <a:rPr lang="ko-KR" altLang="en-US" smtClean="0"/>
              <a:t>정상 연결 상태에서 전류 공급 시 클램프 메타를 이용하여 출력부 전류 </a:t>
            </a:r>
            <a:r>
              <a:rPr lang="en-US" altLang="ko-KR" smtClean="0"/>
              <a:t>Check</a:t>
            </a:r>
          </a:p>
          <a:p>
            <a:pPr eaLnBrk="1" hangingPunct="1"/>
            <a:r>
              <a:rPr lang="en-US" altLang="ko-KR" smtClean="0"/>
              <a:t>     [</a:t>
            </a:r>
            <a:r>
              <a:rPr lang="ko-KR" altLang="en-US" smtClean="0"/>
              <a:t>전압은 측정되나 전류가 흐르지 않는 경우도 있으므로 전류 측정 필요</a:t>
            </a:r>
            <a:r>
              <a:rPr lang="en-US" altLang="ko-KR" smtClean="0"/>
              <a:t>]</a:t>
            </a:r>
            <a:endParaRPr lang="ko-KR" altLang="ko-KR"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42BA43D-8A73-48B5-A10D-6495311762D4}" type="slidenum">
              <a:rPr lang="en-US" altLang="ko-KR" smtClean="0">
                <a:solidFill>
                  <a:srgbClr val="000000"/>
                </a:solidFill>
              </a:rPr>
              <a:pPr eaLnBrk="1" latinLnBrk="0" hangingPunct="1">
                <a:spcBef>
                  <a:spcPct val="0"/>
                </a:spcBef>
              </a:pPr>
              <a:t>132</a:t>
            </a:fld>
            <a:endParaRPr lang="en-US" altLang="ko-KR" smtClean="0">
              <a:solidFill>
                <a:srgbClr val="000000"/>
              </a:solidFill>
            </a:endParaRPr>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5C6749D-7F08-4C45-A1DD-D71B82AE26DF}" type="slidenum">
              <a:rPr lang="en-US" altLang="ko-KR" smtClean="0">
                <a:solidFill>
                  <a:srgbClr val="000000"/>
                </a:solidFill>
              </a:rPr>
              <a:pPr eaLnBrk="1" latinLnBrk="0" hangingPunct="1">
                <a:spcBef>
                  <a:spcPct val="0"/>
                </a:spcBef>
              </a:pPr>
              <a:t>133</a:t>
            </a:fld>
            <a:endParaRPr lang="en-US" altLang="ko-KR" smtClean="0">
              <a:solidFill>
                <a:srgbClr val="000000"/>
              </a:solidFill>
            </a:endParaRPr>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16E5AFC-BE93-401F-BE63-5D497DFDEDC5}" type="slidenum">
              <a:rPr lang="en-US" altLang="ko-KR" smtClean="0">
                <a:solidFill>
                  <a:srgbClr val="000000"/>
                </a:solidFill>
              </a:rPr>
              <a:pPr eaLnBrk="1" latinLnBrk="0" hangingPunct="1">
                <a:spcBef>
                  <a:spcPct val="0"/>
                </a:spcBef>
              </a:pPr>
              <a:t>134</a:t>
            </a:fld>
            <a:endParaRPr lang="en-US" altLang="ko-KR" smtClean="0">
              <a:solidFill>
                <a:srgbClr val="000000"/>
              </a:solidFill>
            </a:endParaRPr>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p:spPr>
        <p:txBody>
          <a:bodyPr/>
          <a:lstStyle/>
          <a:p>
            <a:pPr eaLnBrk="1" hangingPunct="1"/>
            <a:r>
              <a:rPr lang="en-US" altLang="ko-KR" smtClean="0"/>
              <a:t>1. </a:t>
            </a:r>
            <a:r>
              <a:rPr lang="ko-KR" altLang="en-US" smtClean="0"/>
              <a:t>빛은 광자라고 부르는 에너지의 불연속적 다발로 이루어져 있다</a:t>
            </a:r>
            <a:r>
              <a:rPr lang="en-US" altLang="ko-KR" smtClean="0"/>
              <a:t>.</a:t>
            </a:r>
          </a:p>
          <a:p>
            <a:pPr eaLnBrk="1" hangingPunct="1"/>
            <a:r>
              <a:rPr lang="en-US" altLang="ko-KR" smtClean="0"/>
              <a:t>    ' ε = hf '</a:t>
            </a:r>
          </a:p>
          <a:p>
            <a:pPr eaLnBrk="1" hangingPunct="1"/>
            <a:r>
              <a:rPr lang="en-US" altLang="ko-KR" smtClean="0"/>
              <a:t>2. </a:t>
            </a:r>
            <a:r>
              <a:rPr lang="ko-KR" altLang="en-US" smtClean="0"/>
              <a:t>파장 </a:t>
            </a:r>
            <a:r>
              <a:rPr lang="en-US" altLang="ko-KR" smtClean="0"/>
              <a:t>λ = C/F </a:t>
            </a:r>
            <a:r>
              <a:rPr lang="ko-KR" altLang="en-US" smtClean="0"/>
              <a:t>이며 이때 </a:t>
            </a:r>
            <a:r>
              <a:rPr lang="en-US" altLang="ko-KR" smtClean="0"/>
              <a:t>C=</a:t>
            </a:r>
            <a:r>
              <a:rPr lang="ko-KR" altLang="en-US" smtClean="0"/>
              <a:t>광속</a:t>
            </a:r>
            <a:r>
              <a:rPr lang="en-US" altLang="ko-KR" smtClean="0"/>
              <a:t>= 3*10^8[m/s] </a:t>
            </a:r>
            <a:r>
              <a:rPr lang="ko-KR" altLang="en-US" smtClean="0"/>
              <a:t>이다</a:t>
            </a:r>
            <a:r>
              <a:rPr lang="en-US" altLang="ko-KR" smtClean="0"/>
              <a:t>.</a:t>
            </a:r>
          </a:p>
          <a:p>
            <a:pPr eaLnBrk="1" hangingPunct="1"/>
            <a:r>
              <a:rPr lang="en-US" altLang="ko-KR" smtClean="0"/>
              <a:t>3. </a:t>
            </a:r>
            <a:r>
              <a:rPr lang="ko-KR" altLang="en-US" smtClean="0"/>
              <a:t>빛 에너지의 파장 스펙트럼 설명한다</a:t>
            </a:r>
            <a:r>
              <a:rPr lang="en-US" altLang="ko-KR" smtClean="0"/>
              <a:t>.</a:t>
            </a:r>
          </a:p>
          <a:p>
            <a:pPr eaLnBrk="1" hangingPunct="1"/>
            <a:endParaRPr lang="en-US" altLang="ko-KR" smtClean="0"/>
          </a:p>
          <a:p>
            <a:pPr eaLnBrk="1" hangingPunct="1"/>
            <a:endParaRPr lang="en-US" altLang="ko-KR" smtClean="0"/>
          </a:p>
          <a:p>
            <a:pPr eaLnBrk="1" hangingPunct="1"/>
            <a:r>
              <a:rPr lang="en-US" altLang="ko-KR" smtClean="0"/>
              <a:t>4. </a:t>
            </a:r>
            <a:r>
              <a:rPr lang="ko-KR" altLang="en-US" smtClean="0"/>
              <a:t>발광 다이오드</a:t>
            </a:r>
          </a:p>
          <a:p>
            <a:pPr eaLnBrk="1" hangingPunct="1"/>
            <a:r>
              <a:rPr lang="ko-KR" altLang="en-US" smtClean="0"/>
              <a:t> </a:t>
            </a:r>
            <a:r>
              <a:rPr lang="en-US" altLang="ko-KR" smtClean="0"/>
              <a:t>-. </a:t>
            </a:r>
            <a:r>
              <a:rPr lang="ko-KR" altLang="en-US" smtClean="0"/>
              <a:t>전기에너지에 의해 빛을 방출하는 발광 소자</a:t>
            </a:r>
          </a:p>
          <a:p>
            <a:pPr eaLnBrk="1" hangingPunct="1"/>
            <a:r>
              <a:rPr lang="ko-KR" altLang="en-US" smtClean="0"/>
              <a:t> </a:t>
            </a:r>
            <a:r>
              <a:rPr lang="en-US" altLang="ko-KR" smtClean="0"/>
              <a:t>-. LED</a:t>
            </a:r>
            <a:r>
              <a:rPr lang="ko-KR" altLang="en-US" smtClean="0"/>
              <a:t>는 순 방향 바이어스로 사용</a:t>
            </a:r>
          </a:p>
          <a:p>
            <a:pPr eaLnBrk="1" hangingPunct="1"/>
            <a:r>
              <a:rPr lang="ko-KR" altLang="en-US" smtClean="0"/>
              <a:t> </a:t>
            </a:r>
          </a:p>
          <a:p>
            <a:pPr eaLnBrk="1" hangingPunct="1"/>
            <a:r>
              <a:rPr lang="en-US" altLang="ko-KR" smtClean="0"/>
              <a:t>5. LED </a:t>
            </a:r>
            <a:r>
              <a:rPr lang="ko-KR" altLang="en-US" smtClean="0"/>
              <a:t>기본 동작</a:t>
            </a:r>
          </a:p>
          <a:p>
            <a:pPr eaLnBrk="1" hangingPunct="1"/>
            <a:r>
              <a:rPr lang="ko-KR" altLang="en-US" smtClean="0"/>
              <a:t> </a:t>
            </a:r>
            <a:r>
              <a:rPr lang="en-US" altLang="ko-KR" smtClean="0"/>
              <a:t>-. PN </a:t>
            </a:r>
            <a:r>
              <a:rPr lang="ko-KR" altLang="en-US" smtClean="0"/>
              <a:t>접합 양단에 순방향 바이어스를 인가</a:t>
            </a:r>
          </a:p>
          <a:p>
            <a:pPr eaLnBrk="1" hangingPunct="1"/>
            <a:r>
              <a:rPr lang="ko-KR" altLang="en-US" smtClean="0"/>
              <a:t> </a:t>
            </a:r>
            <a:r>
              <a:rPr lang="en-US" altLang="ko-KR" smtClean="0"/>
              <a:t>-. N</a:t>
            </a:r>
            <a:r>
              <a:rPr lang="ko-KR" altLang="en-US" smtClean="0"/>
              <a:t>형 전자가 </a:t>
            </a:r>
            <a:r>
              <a:rPr lang="en-US" altLang="ko-KR" smtClean="0"/>
              <a:t>P</a:t>
            </a:r>
            <a:r>
              <a:rPr lang="ko-KR" altLang="en-US" smtClean="0"/>
              <a:t>형 영역으로 주입 </a:t>
            </a:r>
            <a:r>
              <a:rPr lang="en-US" altLang="ko-KR" smtClean="0"/>
              <a:t>/ </a:t>
            </a:r>
            <a:r>
              <a:rPr lang="ko-KR" altLang="en-US" smtClean="0"/>
              <a:t>주입된 전자는 정공과 재결합</a:t>
            </a:r>
          </a:p>
          <a:p>
            <a:pPr eaLnBrk="1" hangingPunct="1"/>
            <a:r>
              <a:rPr lang="ko-KR" altLang="en-US" smtClean="0"/>
              <a:t> </a:t>
            </a:r>
            <a:r>
              <a:rPr lang="en-US" altLang="ko-KR" smtClean="0"/>
              <a:t>-. </a:t>
            </a:r>
            <a:r>
              <a:rPr lang="ko-KR" altLang="en-US" smtClean="0"/>
              <a:t>전도대의 자유전자는 가전자대의 정공보다 에너지 준위가 높기 때문에 재 결합</a:t>
            </a:r>
          </a:p>
          <a:p>
            <a:pPr eaLnBrk="1" hangingPunct="1"/>
            <a:r>
              <a:rPr lang="ko-KR" altLang="en-US" smtClean="0"/>
              <a:t>    할때 에너지 방출한다</a:t>
            </a:r>
            <a:r>
              <a:rPr lang="en-US" altLang="ko-KR" smtClean="0"/>
              <a:t>. </a:t>
            </a:r>
            <a:r>
              <a:rPr lang="ko-KR" altLang="en-US" smtClean="0"/>
              <a:t>이러한 발광을 전기 발광이라 함</a:t>
            </a:r>
          </a:p>
          <a:p>
            <a:pPr eaLnBrk="1" hangingPunct="1"/>
            <a:r>
              <a:rPr lang="ko-KR" altLang="en-US" smtClean="0"/>
              <a:t> </a:t>
            </a:r>
            <a:r>
              <a:rPr lang="en-US" altLang="ko-KR" smtClean="0"/>
              <a:t>-. LED</a:t>
            </a:r>
            <a:r>
              <a:rPr lang="ko-KR" altLang="en-US" smtClean="0"/>
              <a:t>의 재료는 갈륨비소</a:t>
            </a:r>
            <a:r>
              <a:rPr lang="en-US" altLang="ko-KR" smtClean="0"/>
              <a:t>, </a:t>
            </a:r>
            <a:r>
              <a:rPr lang="ko-KR" altLang="en-US" smtClean="0"/>
              <a:t>갈륨 비소인 등을 사용한다</a:t>
            </a:r>
            <a:r>
              <a:rPr lang="en-US" altLang="ko-KR" smtClean="0"/>
              <a:t>.</a:t>
            </a:r>
          </a:p>
          <a:p>
            <a:pPr eaLnBrk="1" hangingPunct="1"/>
            <a:r>
              <a:rPr lang="en-US" altLang="ko-KR" smtClean="0"/>
              <a:t>6. LED</a:t>
            </a:r>
            <a:r>
              <a:rPr lang="ko-KR" altLang="en-US" smtClean="0"/>
              <a:t>의 구분</a:t>
            </a:r>
          </a:p>
          <a:p>
            <a:pPr eaLnBrk="1" hangingPunct="1"/>
            <a:r>
              <a:rPr lang="ko-KR" altLang="en-US" smtClean="0"/>
              <a:t> </a:t>
            </a:r>
            <a:r>
              <a:rPr lang="en-US" altLang="ko-KR" smtClean="0"/>
              <a:t>-. Infraed Led Chip(</a:t>
            </a:r>
            <a:r>
              <a:rPr lang="ko-KR" altLang="en-US" smtClean="0"/>
              <a:t>적외선 발광 </a:t>
            </a:r>
            <a:r>
              <a:rPr lang="en-US" altLang="ko-KR" smtClean="0"/>
              <a:t>LED)</a:t>
            </a:r>
          </a:p>
          <a:p>
            <a:pPr eaLnBrk="1" hangingPunct="1"/>
            <a:r>
              <a:rPr lang="en-US" altLang="ko-KR" smtClean="0"/>
              <a:t>    (TV </a:t>
            </a:r>
            <a:r>
              <a:rPr lang="ko-KR" altLang="en-US" smtClean="0"/>
              <a:t>리모컨</a:t>
            </a:r>
            <a:r>
              <a:rPr lang="en-US" altLang="ko-KR" smtClean="0"/>
              <a:t>, </a:t>
            </a:r>
            <a:r>
              <a:rPr lang="ko-KR" altLang="en-US" smtClean="0"/>
              <a:t>광학 스위치</a:t>
            </a:r>
            <a:r>
              <a:rPr lang="en-US" altLang="ko-KR" smtClean="0"/>
              <a:t>, IR RAN, </a:t>
            </a:r>
            <a:r>
              <a:rPr lang="ko-KR" altLang="en-US" smtClean="0"/>
              <a:t>무선 디지털 데이터 통신</a:t>
            </a:r>
            <a:r>
              <a:rPr lang="en-US" altLang="ko-KR" smtClean="0"/>
              <a:t>)</a:t>
            </a:r>
          </a:p>
          <a:p>
            <a:pPr eaLnBrk="1" hangingPunct="1"/>
            <a:r>
              <a:rPr lang="en-US" altLang="ko-KR" smtClean="0"/>
              <a:t> -.Visible LED Chip(</a:t>
            </a:r>
            <a:r>
              <a:rPr lang="ko-KR" altLang="en-US" smtClean="0"/>
              <a:t>일반적 </a:t>
            </a:r>
            <a:r>
              <a:rPr lang="en-US" altLang="ko-KR" smtClean="0"/>
              <a:t>LED)</a:t>
            </a:r>
          </a:p>
          <a:p>
            <a:pPr eaLnBrk="1" hangingPunct="1"/>
            <a:r>
              <a:rPr lang="en-US" altLang="ko-KR" smtClean="0"/>
              <a:t>    (</a:t>
            </a:r>
            <a:r>
              <a:rPr lang="ko-KR" altLang="en-US" smtClean="0"/>
              <a:t>조명</a:t>
            </a:r>
            <a:r>
              <a:rPr lang="en-US" altLang="ko-KR" smtClean="0"/>
              <a:t>,</a:t>
            </a:r>
            <a:r>
              <a:rPr lang="ko-KR" altLang="en-US" smtClean="0"/>
              <a:t>신호등</a:t>
            </a:r>
            <a:r>
              <a:rPr lang="en-US" altLang="ko-KR" smtClean="0"/>
              <a:t>, </a:t>
            </a:r>
            <a:r>
              <a:rPr lang="ko-KR" altLang="en-US" smtClean="0"/>
              <a:t>전광판</a:t>
            </a:r>
          </a:p>
          <a:p>
            <a:pPr eaLnBrk="1" hangingPunct="1"/>
            <a:r>
              <a:rPr lang="en-US" altLang="ko-KR" smtClean="0"/>
              <a:t>7. </a:t>
            </a:r>
            <a:r>
              <a:rPr lang="ko-KR" altLang="en-US" smtClean="0"/>
              <a:t>발광 다이오드 특징</a:t>
            </a:r>
          </a:p>
          <a:p>
            <a:pPr eaLnBrk="1" hangingPunct="1"/>
            <a:r>
              <a:rPr lang="ko-KR" altLang="en-US" smtClean="0"/>
              <a:t> </a:t>
            </a:r>
            <a:r>
              <a:rPr lang="en-US" altLang="ko-KR" smtClean="0"/>
              <a:t>-.</a:t>
            </a:r>
            <a:r>
              <a:rPr lang="ko-KR" altLang="en-US" smtClean="0"/>
              <a:t>발광효율이 높고</a:t>
            </a:r>
            <a:r>
              <a:rPr lang="en-US" altLang="ko-KR" smtClean="0"/>
              <a:t>, </a:t>
            </a:r>
            <a:r>
              <a:rPr lang="ko-KR" altLang="en-US" smtClean="0"/>
              <a:t>저전류</a:t>
            </a:r>
            <a:r>
              <a:rPr lang="en-US" altLang="ko-KR" smtClean="0"/>
              <a:t>, </a:t>
            </a:r>
            <a:r>
              <a:rPr lang="ko-KR" altLang="en-US" smtClean="0"/>
              <a:t>고출력</a:t>
            </a:r>
          </a:p>
          <a:p>
            <a:pPr eaLnBrk="1" hangingPunct="1"/>
            <a:r>
              <a:rPr lang="ko-KR" altLang="en-US" smtClean="0"/>
              <a:t> </a:t>
            </a:r>
            <a:r>
              <a:rPr lang="en-US" altLang="ko-KR" smtClean="0"/>
              <a:t>-.</a:t>
            </a:r>
            <a:r>
              <a:rPr lang="ko-KR" altLang="en-US" smtClean="0"/>
              <a:t>직 교류 어떤것이든 동작 가능 </a:t>
            </a:r>
          </a:p>
          <a:p>
            <a:pPr eaLnBrk="1" hangingPunct="1"/>
            <a:r>
              <a:rPr lang="ko-KR" altLang="en-US" smtClean="0"/>
              <a:t> </a:t>
            </a:r>
            <a:r>
              <a:rPr lang="en-US" altLang="ko-KR" smtClean="0"/>
              <a:t>-.</a:t>
            </a:r>
            <a:r>
              <a:rPr lang="ko-KR" altLang="en-US" smtClean="0"/>
              <a:t>소형 경량</a:t>
            </a:r>
            <a:r>
              <a:rPr lang="en-US" altLang="ko-KR" smtClean="0"/>
              <a:t>, </a:t>
            </a:r>
            <a:r>
              <a:rPr lang="ko-KR" altLang="en-US" smtClean="0"/>
              <a:t>장수명</a:t>
            </a:r>
            <a:r>
              <a:rPr lang="en-US" altLang="ko-KR" smtClean="0"/>
              <a:t>, </a:t>
            </a:r>
            <a:r>
              <a:rPr lang="ko-KR" altLang="en-US" smtClean="0"/>
              <a:t>소비전력이 작다</a:t>
            </a:r>
            <a:r>
              <a:rPr lang="en-US" altLang="ko-KR" smtClean="0"/>
              <a:t>.</a:t>
            </a:r>
          </a:p>
          <a:p>
            <a:pPr eaLnBrk="1" hangingPunct="1"/>
            <a:r>
              <a:rPr lang="en-US" altLang="ko-KR" smtClean="0"/>
              <a:t>8. LED </a:t>
            </a:r>
            <a:r>
              <a:rPr lang="ko-KR" altLang="en-US" smtClean="0"/>
              <a:t>극성 구분</a:t>
            </a:r>
          </a:p>
          <a:p>
            <a:pPr eaLnBrk="1" hangingPunct="1"/>
            <a:r>
              <a:rPr lang="ko-KR" altLang="en-US" smtClean="0"/>
              <a:t> </a:t>
            </a:r>
            <a:r>
              <a:rPr lang="en-US" altLang="ko-KR" smtClean="0"/>
              <a:t>-. Lead </a:t>
            </a:r>
            <a:r>
              <a:rPr lang="ko-KR" altLang="en-US" smtClean="0"/>
              <a:t>가 길며 </a:t>
            </a:r>
            <a:r>
              <a:rPr lang="en-US" altLang="ko-KR" smtClean="0"/>
              <a:t>(+) Or </a:t>
            </a:r>
            <a:r>
              <a:rPr lang="ko-KR" altLang="en-US" smtClean="0"/>
              <a:t>한면이 면취 되어 있는 부분이 </a:t>
            </a:r>
            <a:r>
              <a:rPr lang="en-US" altLang="ko-KR" smtClean="0"/>
              <a:t>(-) </a:t>
            </a:r>
            <a:r>
              <a:rPr lang="ko-KR" altLang="en-US" smtClean="0"/>
              <a:t>이다</a:t>
            </a:r>
            <a:r>
              <a:rPr lang="en-US" altLang="ko-KR" smtClean="0"/>
              <a:t>.</a:t>
            </a:r>
            <a:endParaRPr lang="ko-KR" altLang="ko-KR"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9AEB8FC-0D7F-4E34-94CE-FD1F07B4EC0D}" type="slidenum">
              <a:rPr lang="en-US" altLang="ko-KR" smtClean="0">
                <a:solidFill>
                  <a:srgbClr val="000000"/>
                </a:solidFill>
              </a:rPr>
              <a:pPr eaLnBrk="1" latinLnBrk="0" hangingPunct="1">
                <a:spcBef>
                  <a:spcPct val="0"/>
                </a:spcBef>
              </a:pPr>
              <a:t>135</a:t>
            </a:fld>
            <a:endParaRPr lang="en-US" altLang="ko-KR" smtClean="0">
              <a:solidFill>
                <a:srgbClr val="000000"/>
              </a:solidFill>
            </a:endParaRPr>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A401F00-A239-4A87-B6F4-4413FBD31002}" type="slidenum">
              <a:rPr lang="en-US" altLang="ko-KR" smtClean="0">
                <a:solidFill>
                  <a:srgbClr val="000000"/>
                </a:solidFill>
              </a:rPr>
              <a:pPr eaLnBrk="1" latinLnBrk="0" hangingPunct="1">
                <a:spcBef>
                  <a:spcPct val="0"/>
                </a:spcBef>
              </a:pPr>
              <a:t>136</a:t>
            </a:fld>
            <a:endParaRPr lang="en-US" altLang="ko-KR" smtClean="0">
              <a:solidFill>
                <a:srgbClr val="000000"/>
              </a:solidFill>
            </a:endParaRPr>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8F47732-15A9-4915-BBD1-D5FFBABF824E}" type="slidenum">
              <a:rPr lang="en-US" altLang="ko-KR" smtClean="0">
                <a:solidFill>
                  <a:srgbClr val="000000"/>
                </a:solidFill>
              </a:rPr>
              <a:pPr eaLnBrk="1" latinLnBrk="0" hangingPunct="1">
                <a:spcBef>
                  <a:spcPct val="0"/>
                </a:spcBef>
              </a:pPr>
              <a:t>137</a:t>
            </a:fld>
            <a:endParaRPr lang="en-US" altLang="ko-KR" smtClean="0">
              <a:solidFill>
                <a:srgbClr val="000000"/>
              </a:solidFill>
            </a:endParaRPr>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64A2A54-D46D-4EB8-A028-8302FB0EE145}" type="slidenum">
              <a:rPr lang="en-US" altLang="ko-KR" smtClean="0">
                <a:solidFill>
                  <a:srgbClr val="000000"/>
                </a:solidFill>
              </a:rPr>
              <a:pPr eaLnBrk="1" latinLnBrk="0" hangingPunct="1">
                <a:spcBef>
                  <a:spcPct val="0"/>
                </a:spcBef>
              </a:pPr>
              <a:t>138</a:t>
            </a:fld>
            <a:endParaRPr lang="en-US" altLang="ko-KR" smtClean="0">
              <a:solidFill>
                <a:srgbClr val="000000"/>
              </a:solidFill>
            </a:endParaRPr>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B7931004-C794-49B9-8058-FBB490FFA46F}" type="slidenum">
              <a:rPr lang="en-US" altLang="ko-KR" smtClean="0">
                <a:solidFill>
                  <a:srgbClr val="000000"/>
                </a:solidFill>
              </a:rPr>
              <a:pPr eaLnBrk="1" latinLnBrk="0" hangingPunct="1">
                <a:spcBef>
                  <a:spcPct val="0"/>
                </a:spcBef>
              </a:pPr>
              <a:t>139</a:t>
            </a:fld>
            <a:endParaRPr lang="en-US" altLang="ko-KR" smtClean="0">
              <a:solidFill>
                <a:srgbClr val="000000"/>
              </a:solidFill>
            </a:endParaRPr>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C277BE3D-6FF8-4771-B1BA-79FDE2465462}" type="slidenum">
              <a:rPr lang="en-US" altLang="ko-KR" smtClean="0">
                <a:solidFill>
                  <a:srgbClr val="000000"/>
                </a:solidFill>
              </a:rPr>
              <a:pPr eaLnBrk="1" latinLnBrk="0" hangingPunct="1">
                <a:spcBef>
                  <a:spcPct val="0"/>
                </a:spcBef>
              </a:pPr>
              <a:t>140</a:t>
            </a:fld>
            <a:endParaRPr lang="en-US" altLang="ko-KR" smtClean="0">
              <a:solidFill>
                <a:srgbClr val="000000"/>
              </a:solidFill>
            </a:endParaRPr>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p:spPr>
        <p:txBody>
          <a:bodyPr/>
          <a:lstStyle/>
          <a:p>
            <a:pPr eaLnBrk="1" hangingPunct="1"/>
            <a:r>
              <a:rPr lang="ko-KR" altLang="en-US" smtClean="0"/>
              <a:t>단점</a:t>
            </a:r>
          </a:p>
          <a:p>
            <a:pPr eaLnBrk="1" hangingPunct="1"/>
            <a:r>
              <a:rPr lang="en-US" altLang="ko-KR" smtClean="0"/>
              <a:t>1. </a:t>
            </a:r>
            <a:r>
              <a:rPr lang="ko-KR" altLang="en-US" smtClean="0"/>
              <a:t>광다이오드는 포토트랜지스터 대비 광 감도가 낮다</a:t>
            </a:r>
          </a:p>
          <a:p>
            <a:pPr eaLnBrk="1" hangingPunct="1"/>
            <a:r>
              <a:rPr lang="ko-KR" altLang="en-US" smtClean="0"/>
              <a:t>장점</a:t>
            </a:r>
          </a:p>
          <a:p>
            <a:pPr eaLnBrk="1" hangingPunct="1"/>
            <a:r>
              <a:rPr lang="en-US" altLang="ko-KR" smtClean="0"/>
              <a:t>1. </a:t>
            </a:r>
            <a:r>
              <a:rPr lang="ko-KR" altLang="en-US" smtClean="0"/>
              <a:t>입사광량과 출력전류의 직선성이 양호하다</a:t>
            </a:r>
            <a:r>
              <a:rPr lang="en-US" altLang="ko-KR" smtClean="0"/>
              <a:t>.</a:t>
            </a:r>
          </a:p>
          <a:p>
            <a:pPr eaLnBrk="1" hangingPunct="1"/>
            <a:r>
              <a:rPr lang="en-US" altLang="ko-KR" smtClean="0"/>
              <a:t>2.</a:t>
            </a:r>
            <a:r>
              <a:rPr lang="ko-KR" altLang="en-US" smtClean="0"/>
              <a:t>응답속도가 빠르다</a:t>
            </a:r>
          </a:p>
          <a:p>
            <a:pPr eaLnBrk="1" hangingPunct="1"/>
            <a:r>
              <a:rPr lang="en-US" altLang="ko-KR" smtClean="0"/>
              <a:t>3. </a:t>
            </a:r>
            <a:r>
              <a:rPr lang="ko-KR" altLang="en-US" smtClean="0"/>
              <a:t>출력의 분산이 적다</a:t>
            </a:r>
            <a:r>
              <a:rPr lang="en-US" altLang="ko-KR" smtClean="0"/>
              <a:t>.</a:t>
            </a:r>
          </a:p>
          <a:p>
            <a:pPr eaLnBrk="1" hangingPunct="1"/>
            <a:r>
              <a:rPr lang="en-US" altLang="ko-KR" smtClean="0"/>
              <a:t>4. </a:t>
            </a:r>
            <a:r>
              <a:rPr lang="ko-KR" altLang="en-US" smtClean="0"/>
              <a:t>주위온도의 변화에 따른 출력변동이 적다</a:t>
            </a:r>
            <a:r>
              <a:rPr lang="en-US" altLang="ko-KR" smtClean="0"/>
              <a:t>.</a:t>
            </a:r>
            <a:endParaRPr lang="ko-KR" altLang="ko-KR"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4B0A52E-05DE-43C5-A46B-EF9C1AF8760A}" type="slidenum">
              <a:rPr lang="en-US" altLang="ko-KR" smtClean="0">
                <a:solidFill>
                  <a:srgbClr val="000000"/>
                </a:solidFill>
              </a:rPr>
              <a:pPr eaLnBrk="1" latinLnBrk="0" hangingPunct="1">
                <a:spcBef>
                  <a:spcPct val="0"/>
                </a:spcBef>
              </a:pPr>
              <a:t>141</a:t>
            </a:fld>
            <a:endParaRPr lang="en-US" altLang="ko-KR" smtClean="0">
              <a:solidFill>
                <a:srgbClr val="000000"/>
              </a:solidFill>
            </a:endParaRPr>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p:spPr>
        <p:txBody>
          <a:bodyPr/>
          <a:lstStyle/>
          <a:p>
            <a:pPr eaLnBrk="1" hangingPunct="1"/>
            <a:r>
              <a:rPr lang="en-US" altLang="ko-KR" smtClean="0"/>
              <a:t>1. </a:t>
            </a:r>
            <a:r>
              <a:rPr lang="ko-KR" altLang="en-US" smtClean="0"/>
              <a:t>광트랜지스터의 기호</a:t>
            </a:r>
            <a:r>
              <a:rPr lang="en-US" altLang="ko-KR" smtClean="0"/>
              <a:t>,</a:t>
            </a:r>
            <a:r>
              <a:rPr lang="ko-KR" altLang="en-US" smtClean="0"/>
              <a:t>실물을 보여주고 빛의 양에 따른 저항의 변화를 </a:t>
            </a:r>
            <a:r>
              <a:rPr lang="en-US" altLang="ko-KR" smtClean="0"/>
              <a:t>DVM</a:t>
            </a:r>
            <a:r>
              <a:rPr lang="ko-KR" altLang="en-US" smtClean="0"/>
              <a:t>을 이용</a:t>
            </a:r>
          </a:p>
          <a:p>
            <a:pPr eaLnBrk="1" hangingPunct="1"/>
            <a:r>
              <a:rPr lang="ko-KR" altLang="en-US" smtClean="0"/>
              <a:t>  하여 직접 측정하는 실습을 한다</a:t>
            </a:r>
            <a:r>
              <a:rPr lang="en-US" altLang="ko-KR" smtClean="0"/>
              <a:t>.</a:t>
            </a:r>
          </a:p>
          <a:p>
            <a:pPr eaLnBrk="1" hangingPunct="1"/>
            <a:r>
              <a:rPr lang="en-US" altLang="ko-KR" smtClean="0"/>
              <a:t>2. </a:t>
            </a:r>
            <a:r>
              <a:rPr lang="ko-KR" altLang="en-US" smtClean="0"/>
              <a:t>포터커플러의 기호와 간단한 회로도</a:t>
            </a:r>
            <a:r>
              <a:rPr lang="en-US" altLang="ko-KR" smtClean="0"/>
              <a:t>(</a:t>
            </a:r>
            <a:r>
              <a:rPr lang="ko-KR" altLang="en-US" smtClean="0"/>
              <a:t>입력과 출력에 서로 다른 </a:t>
            </a:r>
            <a:r>
              <a:rPr lang="en-US" altLang="ko-KR" smtClean="0"/>
              <a:t>DC</a:t>
            </a:r>
            <a:r>
              <a:rPr lang="ko-KR" altLang="en-US" smtClean="0"/>
              <a:t>전압</a:t>
            </a:r>
            <a:r>
              <a:rPr lang="en-US" altLang="ko-KR" smtClean="0"/>
              <a:t>)</a:t>
            </a:r>
            <a:r>
              <a:rPr lang="ko-KR" altLang="en-US" smtClean="0"/>
              <a:t>를 그려서</a:t>
            </a:r>
          </a:p>
          <a:p>
            <a:pPr eaLnBrk="1" hangingPunct="1"/>
            <a:r>
              <a:rPr lang="ko-KR" altLang="en-US" smtClean="0"/>
              <a:t>  동작 및 특성 설명</a:t>
            </a:r>
          </a:p>
          <a:p>
            <a:pPr eaLnBrk="1" hangingPunct="1"/>
            <a:r>
              <a:rPr lang="ko-KR" altLang="en-US" smtClean="0"/>
              <a:t>  </a:t>
            </a:r>
            <a:r>
              <a:rPr lang="en-US" altLang="ko-KR" smtClean="0"/>
              <a:t>- </a:t>
            </a:r>
            <a:r>
              <a:rPr lang="ko-KR" altLang="en-US" smtClean="0"/>
              <a:t>동작</a:t>
            </a:r>
            <a:r>
              <a:rPr lang="en-US" altLang="ko-KR" smtClean="0"/>
              <a:t>:</a:t>
            </a:r>
            <a:r>
              <a:rPr lang="ko-KR" altLang="en-US" smtClean="0"/>
              <a:t>입력단에 전원이 인가되면 </a:t>
            </a:r>
            <a:r>
              <a:rPr lang="en-US" altLang="ko-KR" smtClean="0"/>
              <a:t>LED</a:t>
            </a:r>
            <a:r>
              <a:rPr lang="ko-KR" altLang="en-US" smtClean="0"/>
              <a:t>과 발광하여 광트랜지스터의 이미터</a:t>
            </a:r>
            <a:r>
              <a:rPr lang="en-US" altLang="ko-KR" smtClean="0"/>
              <a:t>,</a:t>
            </a:r>
            <a:r>
              <a:rPr lang="ko-KR" altLang="en-US" smtClean="0"/>
              <a:t>컬렉터</a:t>
            </a:r>
          </a:p>
          <a:p>
            <a:pPr eaLnBrk="1" hangingPunct="1"/>
            <a:r>
              <a:rPr lang="ko-KR" altLang="en-US" smtClean="0"/>
              <a:t>    단이 </a:t>
            </a:r>
            <a:r>
              <a:rPr lang="en-US" altLang="ko-KR" smtClean="0"/>
              <a:t>Close</a:t>
            </a:r>
            <a:r>
              <a:rPr lang="ko-KR" altLang="en-US" smtClean="0"/>
              <a:t>되어 출력단의 신호 또는 전원이 도통된다</a:t>
            </a:r>
            <a:r>
              <a:rPr lang="en-US" altLang="ko-KR" smtClean="0"/>
              <a:t>.</a:t>
            </a:r>
          </a:p>
          <a:p>
            <a:pPr eaLnBrk="1" hangingPunct="1"/>
            <a:r>
              <a:rPr lang="en-US" altLang="ko-KR" smtClean="0"/>
              <a:t>  - </a:t>
            </a:r>
            <a:r>
              <a:rPr lang="ko-KR" altLang="en-US" smtClean="0"/>
              <a:t>특성 </a:t>
            </a:r>
            <a:r>
              <a:rPr lang="en-US" altLang="ko-KR" smtClean="0"/>
              <a:t>: </a:t>
            </a:r>
            <a:r>
              <a:rPr lang="ko-KR" altLang="en-US" smtClean="0"/>
              <a:t>빛을 이용한 소자가 가지는 특성에 대해 전반적으로 설명</a:t>
            </a:r>
            <a:r>
              <a:rPr lang="en-US" altLang="ko-KR" smtClean="0"/>
              <a:t>(Noise,</a:t>
            </a:r>
            <a:r>
              <a:rPr lang="ko-KR" altLang="en-US" smtClean="0"/>
              <a:t>응답속도</a:t>
            </a:r>
          </a:p>
          <a:p>
            <a:pPr eaLnBrk="1" hangingPunct="1"/>
            <a:r>
              <a:rPr lang="ko-KR" altLang="en-US" smtClean="0"/>
              <a:t>            입출력단의 독립성 등</a:t>
            </a:r>
            <a:r>
              <a:rPr lang="en-US" altLang="ko-KR" smtClean="0"/>
              <a:t>)</a:t>
            </a:r>
          </a:p>
          <a:p>
            <a:pPr eaLnBrk="1" hangingPunct="1"/>
            <a:r>
              <a:rPr lang="en-US" altLang="ko-KR" smtClean="0"/>
              <a:t>3. </a:t>
            </a:r>
            <a:r>
              <a:rPr lang="ko-KR" altLang="en-US" smtClean="0"/>
              <a:t>포터커플러의 마킹된 문자의 의미 </a:t>
            </a:r>
            <a:r>
              <a:rPr lang="en-US" altLang="ko-KR" smtClean="0"/>
              <a:t>: PC817,PC827,PC847 </a:t>
            </a:r>
            <a:r>
              <a:rPr lang="ko-KR" altLang="en-US" smtClean="0"/>
              <a:t>등</a:t>
            </a:r>
            <a:r>
              <a:rPr lang="en-US" altLang="ko-KR" smtClean="0"/>
              <a:t>(</a:t>
            </a:r>
            <a:r>
              <a:rPr lang="ko-KR" altLang="en-US" smtClean="0"/>
              <a:t>포터커플러 </a:t>
            </a:r>
            <a:r>
              <a:rPr lang="en-US" altLang="ko-KR" smtClean="0"/>
              <a:t>1set,2set,4set)</a:t>
            </a:r>
          </a:p>
          <a:p>
            <a:pPr eaLnBrk="1" hangingPunct="1"/>
            <a:endParaRPr lang="en-US" altLang="ko-KR" smtClean="0"/>
          </a:p>
          <a:p>
            <a:pPr eaLnBrk="1" hangingPunct="1"/>
            <a:r>
              <a:rPr lang="en-US" altLang="ko-KR" smtClean="0"/>
              <a:t>4. PC817</a:t>
            </a:r>
            <a:r>
              <a:rPr lang="ko-KR" altLang="en-US" smtClean="0"/>
              <a:t>의 데이터쉬트</a:t>
            </a:r>
            <a:r>
              <a:rPr lang="en-US" altLang="ko-KR" smtClean="0"/>
              <a:t>(</a:t>
            </a:r>
            <a:r>
              <a:rPr lang="ko-KR" altLang="en-US" smtClean="0"/>
              <a:t>카달로그</a:t>
            </a:r>
            <a:r>
              <a:rPr lang="en-US" altLang="ko-KR" smtClean="0"/>
              <a:t>)</a:t>
            </a:r>
            <a:r>
              <a:rPr lang="ko-KR" altLang="en-US" smtClean="0"/>
              <a:t>를 그려놓고 입출력 단자의 배선 방법에 대해 설명</a:t>
            </a:r>
          </a:p>
          <a:p>
            <a:pPr eaLnBrk="1" hangingPunct="1"/>
            <a:endParaRPr lang="ko-KR" altLang="en-US" smtClean="0"/>
          </a:p>
          <a:p>
            <a:pPr eaLnBrk="1" hangingPunct="1"/>
            <a:r>
              <a:rPr lang="en-US" altLang="ko-KR" smtClean="0"/>
              <a:t>5. </a:t>
            </a:r>
            <a:r>
              <a:rPr lang="ko-KR" altLang="en-US" smtClean="0"/>
              <a:t>포터커플러 실물을 가지고 </a:t>
            </a:r>
            <a:r>
              <a:rPr lang="en-US" altLang="ko-KR" smtClean="0"/>
              <a:t>2</a:t>
            </a:r>
            <a:r>
              <a:rPr lang="ko-KR" altLang="en-US" smtClean="0"/>
              <a:t>인 </a:t>
            </a:r>
            <a:r>
              <a:rPr lang="en-US" altLang="ko-KR" smtClean="0"/>
              <a:t>1</a:t>
            </a:r>
            <a:r>
              <a:rPr lang="ko-KR" altLang="en-US" smtClean="0"/>
              <a:t>조로 측정하는 실습을 한다</a:t>
            </a:r>
            <a:r>
              <a:rPr lang="en-US" altLang="ko-KR" smtClean="0"/>
              <a:t>.(</a:t>
            </a:r>
            <a:r>
              <a:rPr lang="ko-KR" altLang="en-US" smtClean="0"/>
              <a:t>교재 </a:t>
            </a:r>
            <a:r>
              <a:rPr lang="en-US" altLang="ko-KR" smtClean="0"/>
              <a:t>147P)</a:t>
            </a:r>
            <a:endParaRPr lang="ko-KR" altLang="ko-KR"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7F37F16-AB29-4F59-9333-49726F6ADA3C}" type="slidenum">
              <a:rPr lang="en-US" altLang="ko-KR" smtClean="0">
                <a:solidFill>
                  <a:srgbClr val="000000"/>
                </a:solidFill>
              </a:rPr>
              <a:pPr eaLnBrk="1" latinLnBrk="0" hangingPunct="1">
                <a:spcBef>
                  <a:spcPct val="0"/>
                </a:spcBef>
              </a:pPr>
              <a:t>142</a:t>
            </a:fld>
            <a:endParaRPr lang="en-US" altLang="ko-KR" smtClean="0">
              <a:solidFill>
                <a:srgbClr val="000000"/>
              </a:solidFill>
            </a:endParaRPr>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E802692-0660-4228-99A9-12CEA6792A64}" type="slidenum">
              <a:rPr lang="en-US" altLang="ko-KR" smtClean="0">
                <a:solidFill>
                  <a:srgbClr val="000000"/>
                </a:solidFill>
              </a:rPr>
              <a:pPr eaLnBrk="1" latinLnBrk="0" hangingPunct="1">
                <a:spcBef>
                  <a:spcPct val="0"/>
                </a:spcBef>
              </a:pPr>
              <a:t>143</a:t>
            </a:fld>
            <a:endParaRPr lang="en-US" altLang="ko-KR" smtClean="0">
              <a:solidFill>
                <a:srgbClr val="000000"/>
              </a:solidFill>
            </a:endParaRPr>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E408378-9D9D-41B8-9227-1B5BD82B0954}" type="slidenum">
              <a:rPr lang="en-US" altLang="ko-KR" smtClean="0">
                <a:solidFill>
                  <a:srgbClr val="000000"/>
                </a:solidFill>
              </a:rPr>
              <a:pPr eaLnBrk="1" latinLnBrk="0" hangingPunct="1">
                <a:spcBef>
                  <a:spcPct val="0"/>
                </a:spcBef>
              </a:pPr>
              <a:t>144</a:t>
            </a:fld>
            <a:endParaRPr lang="en-US" altLang="ko-KR" smtClean="0">
              <a:solidFill>
                <a:srgbClr val="000000"/>
              </a:solidFill>
            </a:endParaRPr>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4763D39-1E3F-4C0B-8F49-2A79FF13BA50}" type="slidenum">
              <a:rPr lang="en-US" altLang="ko-KR" smtClean="0">
                <a:solidFill>
                  <a:srgbClr val="000000"/>
                </a:solidFill>
              </a:rPr>
              <a:pPr eaLnBrk="1" latinLnBrk="0" hangingPunct="1">
                <a:spcBef>
                  <a:spcPct val="0"/>
                </a:spcBef>
              </a:pPr>
              <a:t>146</a:t>
            </a:fld>
            <a:endParaRPr lang="en-US" altLang="ko-KR" smtClean="0">
              <a:solidFill>
                <a:srgbClr val="000000"/>
              </a:solidFill>
            </a:endParaRPr>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p:spPr>
        <p:txBody>
          <a:bodyPr/>
          <a:lstStyle/>
          <a:p>
            <a:pPr eaLnBrk="1" hangingPunct="1"/>
            <a:r>
              <a:rPr lang="en-US" altLang="ko-KR" smtClean="0"/>
              <a:t>1.Thermistor..?</a:t>
            </a:r>
          </a:p>
          <a:p>
            <a:pPr eaLnBrk="1" hangingPunct="1"/>
            <a:r>
              <a:rPr lang="en-US" altLang="ko-KR" smtClean="0"/>
              <a:t> </a:t>
            </a:r>
            <a:r>
              <a:rPr lang="ko-KR" altLang="en-US" smtClean="0"/>
              <a:t>온도에 따른 저장값 특성을 가진 소자</a:t>
            </a:r>
          </a:p>
          <a:p>
            <a:pPr eaLnBrk="1" hangingPunct="1"/>
            <a:r>
              <a:rPr lang="en-US" altLang="ko-KR" smtClean="0"/>
              <a:t>(</a:t>
            </a:r>
            <a:r>
              <a:rPr lang="ko-KR" altLang="en-US" smtClean="0"/>
              <a:t>반도체의 도전율이 주위 온도 변화에 민감한 것을 이용한 전자회로용 소자</a:t>
            </a:r>
            <a:r>
              <a:rPr lang="en-US" altLang="ko-KR" smtClean="0"/>
              <a:t>(</a:t>
            </a:r>
            <a:r>
              <a:rPr lang="ko-KR" altLang="en-US" smtClean="0"/>
              <a:t>素子</a:t>
            </a:r>
            <a:r>
              <a:rPr lang="en-US" altLang="ko-KR" smtClean="0"/>
              <a:t>))</a:t>
            </a:r>
          </a:p>
          <a:p>
            <a:pPr eaLnBrk="1" hangingPunct="1"/>
            <a:r>
              <a:rPr lang="en-US" altLang="ko-KR" smtClean="0"/>
              <a:t>  NTC : </a:t>
            </a:r>
            <a:r>
              <a:rPr lang="ko-KR" altLang="en-US" smtClean="0"/>
              <a:t>온도가  높아지면 저항값이 감소하는 부저항 온도계수의 특성 </a:t>
            </a:r>
          </a:p>
          <a:p>
            <a:pPr eaLnBrk="1" hangingPunct="1"/>
            <a:r>
              <a:rPr lang="ko-KR" altLang="en-US" smtClean="0"/>
              <a:t>  </a:t>
            </a:r>
            <a:r>
              <a:rPr lang="en-US" altLang="ko-KR" smtClean="0"/>
              <a:t>PTC : </a:t>
            </a:r>
            <a:r>
              <a:rPr lang="ko-KR" altLang="en-US" smtClean="0"/>
              <a:t>온도가 높아지면 저항값이 증가하는 특수한 서미스터로서 정저항 온도계수를 가진 정특성</a:t>
            </a:r>
          </a:p>
          <a:p>
            <a:pPr eaLnBrk="1" hangingPunct="1"/>
            <a:r>
              <a:rPr lang="ko-KR" altLang="en-US" smtClean="0"/>
              <a:t>  </a:t>
            </a:r>
            <a:r>
              <a:rPr lang="en-US" altLang="ko-KR" smtClean="0"/>
              <a:t>CTR : </a:t>
            </a:r>
            <a:r>
              <a:rPr lang="ko-KR" altLang="en-US" smtClean="0"/>
              <a:t>어떤 온도에서 저항값이 급변하는 것</a:t>
            </a:r>
          </a:p>
          <a:p>
            <a:pPr eaLnBrk="1" hangingPunct="1"/>
            <a:r>
              <a:rPr lang="en-US" altLang="ko-KR" smtClean="0"/>
              <a:t>2.</a:t>
            </a:r>
            <a:r>
              <a:rPr lang="ko-KR" altLang="en-US" smtClean="0"/>
              <a:t>특성</a:t>
            </a:r>
          </a:p>
          <a:p>
            <a:pPr eaLnBrk="1" hangingPunct="1"/>
            <a:r>
              <a:rPr lang="en-US" altLang="ko-KR" smtClean="0"/>
              <a:t>- </a:t>
            </a:r>
            <a:r>
              <a:rPr lang="ko-KR" altLang="en-US" smtClean="0"/>
              <a:t>온도에대한 저항 온도 계수가 커서 미소 온도 및 정밀 측정이 양호</a:t>
            </a:r>
          </a:p>
          <a:p>
            <a:pPr eaLnBrk="1" hangingPunct="1"/>
            <a:r>
              <a:rPr lang="en-US" altLang="ko-KR" smtClean="0"/>
              <a:t>- </a:t>
            </a:r>
            <a:r>
              <a:rPr lang="ko-KR" altLang="en-US" smtClean="0"/>
              <a:t>구조가 간단하여 소형화가 가능</a:t>
            </a:r>
          </a:p>
          <a:p>
            <a:pPr eaLnBrk="1" hangingPunct="1"/>
            <a:r>
              <a:rPr lang="en-US" altLang="ko-KR" smtClean="0"/>
              <a:t>- </a:t>
            </a:r>
            <a:r>
              <a:rPr lang="ko-KR" altLang="en-US" smtClean="0"/>
              <a:t>무접점이므로 신뢰성이 높고 경시 변화가 적다 </a:t>
            </a:r>
            <a:r>
              <a:rPr lang="en-US" altLang="ko-KR" smtClean="0"/>
              <a:t>(</a:t>
            </a:r>
            <a:r>
              <a:rPr lang="ko-KR" altLang="en-US" smtClean="0"/>
              <a:t>경시 변화 </a:t>
            </a:r>
            <a:r>
              <a:rPr lang="en-US" altLang="ko-KR" smtClean="0"/>
              <a:t>: </a:t>
            </a:r>
            <a:r>
              <a:rPr lang="ko-KR" altLang="en-US" smtClean="0"/>
              <a:t>시간이 지날수록 오차가 적다</a:t>
            </a:r>
            <a:r>
              <a:rPr lang="en-US" altLang="ko-KR" smtClean="0"/>
              <a:t>)</a:t>
            </a:r>
          </a:p>
          <a:p>
            <a:pPr eaLnBrk="1" hangingPunct="1"/>
            <a:r>
              <a:rPr lang="en-US" altLang="ko-KR" smtClean="0"/>
              <a:t>- </a:t>
            </a:r>
            <a:r>
              <a:rPr lang="ko-KR" altLang="en-US" smtClean="0"/>
              <a:t>압력</a:t>
            </a:r>
            <a:r>
              <a:rPr lang="en-US" altLang="ko-KR" smtClean="0"/>
              <a:t>,</a:t>
            </a:r>
            <a:r>
              <a:rPr lang="ko-KR" altLang="en-US" smtClean="0"/>
              <a:t>자기</a:t>
            </a:r>
            <a:r>
              <a:rPr lang="en-US" altLang="ko-KR" smtClean="0"/>
              <a:t>,</a:t>
            </a:r>
            <a:r>
              <a:rPr lang="ko-KR" altLang="en-US" smtClean="0"/>
              <a:t>기타 </a:t>
            </a:r>
            <a:r>
              <a:rPr lang="en-US" altLang="ko-KR" smtClean="0"/>
              <a:t>Factor</a:t>
            </a:r>
            <a:r>
              <a:rPr lang="ko-KR" altLang="en-US" smtClean="0"/>
              <a:t>에 대해 둔감</a:t>
            </a:r>
            <a:r>
              <a:rPr lang="en-US" altLang="ko-KR" smtClean="0"/>
              <a:t>.</a:t>
            </a:r>
          </a:p>
          <a:p>
            <a:pPr eaLnBrk="1" hangingPunct="1"/>
            <a:r>
              <a:rPr lang="en-US" altLang="ko-KR" smtClean="0"/>
              <a:t>- </a:t>
            </a:r>
            <a:r>
              <a:rPr lang="ko-KR" altLang="en-US" smtClean="0"/>
              <a:t>양산성이 우수</a:t>
            </a:r>
            <a:r>
              <a:rPr lang="en-US" altLang="ko-KR" smtClean="0"/>
              <a:t>, </a:t>
            </a:r>
            <a:r>
              <a:rPr lang="ko-KR" altLang="en-US" smtClean="0"/>
              <a:t>안정한 가격으로 대량 공급이 가능</a:t>
            </a:r>
          </a:p>
          <a:p>
            <a:pPr eaLnBrk="1" hangingPunct="1"/>
            <a:r>
              <a:rPr lang="en-US" altLang="ko-KR" smtClean="0"/>
              <a:t>- </a:t>
            </a:r>
            <a:r>
              <a:rPr lang="ko-KR" altLang="en-US" smtClean="0"/>
              <a:t>기계적 강도와 가공성이 우수</a:t>
            </a:r>
          </a:p>
          <a:p>
            <a:pPr eaLnBrk="1" hangingPunct="1"/>
            <a:r>
              <a:rPr lang="en-US" altLang="ko-KR" smtClean="0"/>
              <a:t>3. </a:t>
            </a:r>
            <a:r>
              <a:rPr lang="ko-KR" altLang="en-US" smtClean="0"/>
              <a:t>용도</a:t>
            </a:r>
          </a:p>
          <a:p>
            <a:pPr eaLnBrk="1" hangingPunct="1"/>
            <a:r>
              <a:rPr lang="ko-KR" altLang="en-US" smtClean="0"/>
              <a:t>조리용</a:t>
            </a:r>
            <a:r>
              <a:rPr lang="en-US" altLang="ko-KR" smtClean="0"/>
              <a:t>(</a:t>
            </a:r>
            <a:r>
              <a:rPr lang="ko-KR" altLang="en-US" smtClean="0"/>
              <a:t>전자렌지</a:t>
            </a:r>
            <a:r>
              <a:rPr lang="en-US" altLang="ko-KR" smtClean="0"/>
              <a:t>,</a:t>
            </a:r>
            <a:r>
              <a:rPr lang="ko-KR" altLang="en-US" smtClean="0"/>
              <a:t>전기 밥솥 등</a:t>
            </a:r>
            <a:r>
              <a:rPr lang="en-US" altLang="ko-KR" smtClean="0"/>
              <a:t>), </a:t>
            </a:r>
            <a:r>
              <a:rPr lang="ko-KR" altLang="en-US" smtClean="0"/>
              <a:t>공조기</a:t>
            </a:r>
            <a:r>
              <a:rPr lang="en-US" altLang="ko-KR" smtClean="0"/>
              <a:t>, </a:t>
            </a:r>
            <a:r>
              <a:rPr lang="ko-KR" altLang="en-US" smtClean="0"/>
              <a:t>냉</a:t>
            </a:r>
            <a:r>
              <a:rPr lang="en-US" altLang="ko-KR" smtClean="0"/>
              <a:t>/</a:t>
            </a:r>
            <a:r>
              <a:rPr lang="ko-KR" altLang="en-US" smtClean="0"/>
              <a:t>난방기</a:t>
            </a:r>
            <a:r>
              <a:rPr lang="en-US" altLang="ko-KR" smtClean="0"/>
              <a:t>, </a:t>
            </a:r>
            <a:r>
              <a:rPr lang="ko-KR" altLang="en-US" smtClean="0"/>
              <a:t>사무기기</a:t>
            </a:r>
            <a:r>
              <a:rPr lang="en-US" altLang="ko-KR" smtClean="0"/>
              <a:t>(</a:t>
            </a:r>
            <a:r>
              <a:rPr lang="ko-KR" altLang="en-US" smtClean="0"/>
              <a:t>복사기</a:t>
            </a:r>
            <a:r>
              <a:rPr lang="en-US" altLang="ko-KR" smtClean="0"/>
              <a:t>,</a:t>
            </a:r>
            <a:r>
              <a:rPr lang="ko-KR" altLang="en-US" smtClean="0"/>
              <a:t>프린트 등</a:t>
            </a:r>
            <a:r>
              <a:rPr lang="en-US" altLang="ko-KR" smtClean="0"/>
              <a:t>) </a:t>
            </a:r>
            <a:r>
              <a:rPr lang="ko-KR" altLang="en-US" smtClean="0"/>
              <a:t>자동차전장 부픔</a:t>
            </a:r>
            <a:r>
              <a:rPr lang="en-US" altLang="ko-KR" smtClean="0"/>
              <a:t>, </a:t>
            </a:r>
            <a:r>
              <a:rPr lang="ko-KR" altLang="en-US" smtClean="0"/>
              <a:t>상업</a:t>
            </a:r>
            <a:r>
              <a:rPr lang="en-US" altLang="ko-KR" smtClean="0"/>
              <a:t>, </a:t>
            </a:r>
            <a:r>
              <a:rPr lang="ko-KR" altLang="en-US" smtClean="0"/>
              <a:t>서비스 용 기기</a:t>
            </a:r>
            <a:r>
              <a:rPr lang="en-US" altLang="ko-KR" smtClean="0"/>
              <a:t>.....</a:t>
            </a:r>
            <a:endParaRPr lang="ko-KR" altLang="ko-KR"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B582071-2D2F-4231-9A17-1B8A0323984A}" type="slidenum">
              <a:rPr lang="en-US" altLang="ko-KR" smtClean="0">
                <a:solidFill>
                  <a:srgbClr val="000000"/>
                </a:solidFill>
              </a:rPr>
              <a:pPr eaLnBrk="1" latinLnBrk="0" hangingPunct="1">
                <a:spcBef>
                  <a:spcPct val="0"/>
                </a:spcBef>
              </a:pPr>
              <a:t>147</a:t>
            </a:fld>
            <a:endParaRPr lang="en-US" altLang="ko-KR" smtClean="0">
              <a:solidFill>
                <a:srgbClr val="000000"/>
              </a:solidFill>
            </a:endParaRPr>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322F8FE-0767-4D7E-9B3E-6CDBBE07FDD2}" type="slidenum">
              <a:rPr lang="en-US" altLang="ko-KR" smtClean="0">
                <a:solidFill>
                  <a:srgbClr val="000000"/>
                </a:solidFill>
              </a:rPr>
              <a:pPr eaLnBrk="1" latinLnBrk="0" hangingPunct="1">
                <a:spcBef>
                  <a:spcPct val="0"/>
                </a:spcBef>
              </a:pPr>
              <a:t>148</a:t>
            </a:fld>
            <a:endParaRPr lang="en-US" altLang="ko-KR" smtClean="0">
              <a:solidFill>
                <a:srgbClr val="000000"/>
              </a:solidFill>
            </a:endParaRPr>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p:spPr>
        <p:txBody>
          <a:bodyPr/>
          <a:lstStyle/>
          <a:p>
            <a:pPr eaLnBrk="1" hangingPunct="1"/>
            <a:r>
              <a:rPr lang="en-US" altLang="ko-KR" smtClean="0"/>
              <a:t>1. </a:t>
            </a:r>
            <a:r>
              <a:rPr lang="ko-KR" altLang="en-US" smtClean="0"/>
              <a:t>원칙적으로 기준접점은 </a:t>
            </a:r>
            <a:r>
              <a:rPr lang="en-US" altLang="ko-KR" smtClean="0"/>
              <a:t>0</a:t>
            </a:r>
            <a:r>
              <a:rPr lang="ko-KR" altLang="en-US" smtClean="0"/>
              <a:t>도를 기준으로 하나 현장에서는 실온이 기준이다</a:t>
            </a:r>
            <a:r>
              <a:rPr lang="en-US" altLang="ko-KR" smtClean="0"/>
              <a:t>.</a:t>
            </a:r>
          </a:p>
          <a:p>
            <a:pPr eaLnBrk="1" hangingPunct="1"/>
            <a:r>
              <a:rPr lang="en-US" altLang="ko-KR" smtClean="0"/>
              <a:t>2.</a:t>
            </a:r>
            <a:r>
              <a:rPr lang="ko-KR" altLang="en-US" smtClean="0"/>
              <a:t>기준접점을 기준으로 열기전력의 수치를 측정함으로써 측온접점의 온도를 안다</a:t>
            </a:r>
            <a:r>
              <a:rPr lang="en-US" altLang="ko-KR" smtClean="0"/>
              <a:t>.</a:t>
            </a:r>
          </a:p>
          <a:p>
            <a:pPr eaLnBrk="1" hangingPunct="1"/>
            <a:r>
              <a:rPr lang="en-US" altLang="ko-KR" smtClean="0"/>
              <a:t>3.</a:t>
            </a:r>
            <a:r>
              <a:rPr lang="ko-KR" altLang="en-US" smtClean="0"/>
              <a:t>열전대의 종류는 </a:t>
            </a:r>
            <a:r>
              <a:rPr lang="en-US" altLang="ko-KR" smtClean="0"/>
              <a:t>7</a:t>
            </a:r>
            <a:r>
              <a:rPr lang="ko-KR" altLang="en-US" smtClean="0"/>
              <a:t>종이 있으며</a:t>
            </a:r>
            <a:r>
              <a:rPr lang="en-US" altLang="ko-KR" smtClean="0"/>
              <a:t>, </a:t>
            </a:r>
            <a:r>
              <a:rPr lang="ko-KR" altLang="en-US" smtClean="0"/>
              <a:t>현장에서 </a:t>
            </a:r>
            <a:r>
              <a:rPr lang="en-US" altLang="ko-KR" smtClean="0"/>
              <a:t>J,K </a:t>
            </a:r>
            <a:r>
              <a:rPr lang="ko-KR" altLang="en-US" smtClean="0"/>
              <a:t>열전대를 가장 많이 사용하고 특히 </a:t>
            </a:r>
            <a:r>
              <a:rPr lang="en-US" altLang="ko-KR" smtClean="0"/>
              <a:t>K </a:t>
            </a:r>
            <a:r>
              <a:rPr lang="ko-KR" altLang="en-US" smtClean="0"/>
              <a:t>열전대가 리니어 형태의 변화량을 보이므로 사용하기는 가장 좋다</a:t>
            </a:r>
            <a:r>
              <a:rPr lang="en-US" altLang="ko-KR" smtClean="0"/>
              <a:t>.</a:t>
            </a:r>
            <a:endParaRPr lang="ko-KR" altLang="ko-KR" smtClean="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DD212D8D-DEB5-42B7-8CA1-652262227179}" type="slidenum">
              <a:rPr lang="en-US" altLang="ko-KR" smtClean="0">
                <a:solidFill>
                  <a:srgbClr val="000000"/>
                </a:solidFill>
              </a:rPr>
              <a:pPr eaLnBrk="1" latinLnBrk="0" hangingPunct="1">
                <a:spcBef>
                  <a:spcPct val="0"/>
                </a:spcBef>
              </a:pPr>
              <a:t>149</a:t>
            </a:fld>
            <a:endParaRPr lang="en-US" altLang="ko-KR" smtClean="0">
              <a:solidFill>
                <a:srgbClr val="000000"/>
              </a:solidFill>
            </a:endParaRPr>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p:spPr>
        <p:txBody>
          <a:bodyPr/>
          <a:lstStyle/>
          <a:p>
            <a:pPr eaLnBrk="1" hangingPunct="1"/>
            <a:r>
              <a:rPr lang="en-US" altLang="ko-KR" smtClean="0"/>
              <a:t>(1) Sensor </a:t>
            </a:r>
            <a:r>
              <a:rPr lang="ko-KR" altLang="en-US" smtClean="0"/>
              <a:t>출력 회로</a:t>
            </a:r>
          </a:p>
          <a:p>
            <a:pPr eaLnBrk="1" hangingPunct="1"/>
            <a:r>
              <a:rPr lang="ko-KR" altLang="en-US" smtClean="0"/>
              <a:t>주요 센서의 출력회로 구분설명</a:t>
            </a:r>
            <a:r>
              <a:rPr lang="en-US" altLang="ko-KR" smtClean="0"/>
              <a:t>(</a:t>
            </a:r>
            <a:r>
              <a:rPr lang="ko-KR" altLang="en-US" smtClean="0"/>
              <a:t>교재 그림 참조</a:t>
            </a:r>
            <a:r>
              <a:rPr lang="en-US" altLang="ko-KR" smtClean="0"/>
              <a:t>)</a:t>
            </a:r>
          </a:p>
          <a:p>
            <a:pPr eaLnBrk="1" hangingPunct="1"/>
            <a:endParaRPr lang="en-US" altLang="ko-KR" smtClean="0"/>
          </a:p>
          <a:p>
            <a:pPr eaLnBrk="1" hangingPunct="1"/>
            <a:r>
              <a:rPr lang="en-US" altLang="ko-KR" smtClean="0"/>
              <a:t>Light On : </a:t>
            </a:r>
            <a:r>
              <a:rPr lang="ko-KR" altLang="en-US" smtClean="0"/>
              <a:t>발광에서 나온빛이 수광으로 들어 갔을때 사전 설정된 수준 이상의 </a:t>
            </a:r>
          </a:p>
          <a:p>
            <a:pPr eaLnBrk="1" hangingPunct="1"/>
            <a:r>
              <a:rPr lang="ko-KR" altLang="en-US" smtClean="0"/>
              <a:t>광량이 검출되면 센서 헤드가 </a:t>
            </a:r>
            <a:r>
              <a:rPr lang="en-US" altLang="ko-KR" smtClean="0"/>
              <a:t>ON</a:t>
            </a:r>
            <a:r>
              <a:rPr lang="ko-KR" altLang="en-US" smtClean="0"/>
              <a:t>신호를 출력하는 모드</a:t>
            </a:r>
            <a:r>
              <a:rPr lang="en-US" altLang="ko-KR" smtClean="0"/>
              <a:t>(</a:t>
            </a:r>
            <a:r>
              <a:rPr lang="ko-KR" altLang="en-US" smtClean="0"/>
              <a:t>교안 예제 그림 참조</a:t>
            </a:r>
            <a:r>
              <a:rPr lang="en-US" altLang="ko-KR" smtClean="0"/>
              <a:t>)</a:t>
            </a:r>
          </a:p>
          <a:p>
            <a:pPr eaLnBrk="1" hangingPunct="1"/>
            <a:endParaRPr lang="en-US" altLang="ko-KR" smtClean="0"/>
          </a:p>
          <a:p>
            <a:pPr eaLnBrk="1" hangingPunct="1"/>
            <a:r>
              <a:rPr lang="en-US" altLang="ko-KR" smtClean="0"/>
              <a:t>Dark On : </a:t>
            </a:r>
            <a:r>
              <a:rPr lang="ko-KR" altLang="en-US" smtClean="0"/>
              <a:t>발광에서 나온빛이 수광으로 들어 가고 있을때 사전 설정된 수준 이상의 </a:t>
            </a:r>
          </a:p>
          <a:p>
            <a:pPr eaLnBrk="1" hangingPunct="1"/>
            <a:r>
              <a:rPr lang="ko-KR" altLang="en-US" smtClean="0"/>
              <a:t>광량이 차단되면 센서 헤드가 </a:t>
            </a:r>
            <a:r>
              <a:rPr lang="en-US" altLang="ko-KR" smtClean="0"/>
              <a:t>ON</a:t>
            </a:r>
            <a:r>
              <a:rPr lang="ko-KR" altLang="en-US" smtClean="0"/>
              <a:t>신호를 출력하는 모드</a:t>
            </a:r>
            <a:r>
              <a:rPr lang="en-US" altLang="ko-KR" smtClean="0"/>
              <a:t>(</a:t>
            </a:r>
            <a:r>
              <a:rPr lang="ko-KR" altLang="en-US" smtClean="0"/>
              <a:t>교안 예제 그림 참조</a:t>
            </a:r>
            <a:r>
              <a:rPr lang="en-US" altLang="ko-KR" smtClean="0"/>
              <a:t>)</a:t>
            </a:r>
          </a:p>
          <a:p>
            <a:pPr eaLnBrk="1" hangingPunct="1"/>
            <a:r>
              <a:rPr lang="en-US" altLang="ko-KR" smtClean="0"/>
              <a:t>※ Light on </a:t>
            </a:r>
            <a:r>
              <a:rPr lang="ko-KR" altLang="en-US" smtClean="0"/>
              <a:t>과의 반대 개념으로 설명 </a:t>
            </a:r>
          </a:p>
          <a:p>
            <a:pPr eaLnBrk="1" hangingPunct="1"/>
            <a:endParaRPr lang="ko-KR" altLang="en-US" smtClean="0"/>
          </a:p>
          <a:p>
            <a:pPr eaLnBrk="1" hangingPunct="1"/>
            <a:r>
              <a:rPr lang="en-US" altLang="ko-KR" smtClean="0"/>
              <a:t>Analog </a:t>
            </a:r>
            <a:r>
              <a:rPr lang="ko-KR" altLang="en-US" smtClean="0"/>
              <a:t>출력 </a:t>
            </a:r>
            <a:r>
              <a:rPr lang="en-US" altLang="ko-KR" smtClean="0"/>
              <a:t>: </a:t>
            </a:r>
            <a:r>
              <a:rPr lang="ko-KR" altLang="en-US" smtClean="0"/>
              <a:t>입광에 따라 출력 전압 또는 전류의 변동이 있음</a:t>
            </a:r>
            <a:r>
              <a:rPr lang="en-US" altLang="ko-KR" smtClean="0"/>
              <a:t>.</a:t>
            </a:r>
          </a:p>
          <a:p>
            <a:pPr eaLnBrk="1" hangingPunct="1"/>
            <a:endParaRPr lang="en-US" altLang="ko-KR" smtClean="0"/>
          </a:p>
          <a:p>
            <a:pPr eaLnBrk="1" hangingPunct="1"/>
            <a:r>
              <a:rPr lang="en-US" altLang="ko-KR" smtClean="0"/>
              <a:t>NPN</a:t>
            </a:r>
            <a:r>
              <a:rPr lang="ko-KR" altLang="en-US" smtClean="0"/>
              <a:t>형 </a:t>
            </a:r>
            <a:r>
              <a:rPr lang="en-US" altLang="ko-KR" smtClean="0"/>
              <a:t>Sensor : </a:t>
            </a:r>
            <a:r>
              <a:rPr lang="ko-KR" altLang="en-US" smtClean="0"/>
              <a:t>부하는 갈색</a:t>
            </a:r>
            <a:r>
              <a:rPr lang="en-US" altLang="ko-KR" smtClean="0"/>
              <a:t>(+V)</a:t>
            </a:r>
            <a:r>
              <a:rPr lang="ko-KR" altLang="en-US" smtClean="0"/>
              <a:t>과 흑색 </a:t>
            </a:r>
            <a:r>
              <a:rPr lang="en-US" altLang="ko-KR" smtClean="0"/>
              <a:t>Out </a:t>
            </a:r>
            <a:r>
              <a:rPr lang="ko-KR" altLang="en-US" smtClean="0"/>
              <a:t>에 위치</a:t>
            </a:r>
            <a:r>
              <a:rPr lang="en-US" altLang="ko-KR" smtClean="0"/>
              <a:t>,Sensor On</a:t>
            </a:r>
            <a:r>
              <a:rPr lang="ko-KR" altLang="en-US" smtClean="0"/>
              <a:t>시 </a:t>
            </a:r>
            <a:r>
              <a:rPr lang="en-US" altLang="ko-KR" smtClean="0"/>
              <a:t>0V </a:t>
            </a:r>
            <a:r>
              <a:rPr lang="ko-KR" altLang="en-US" smtClean="0"/>
              <a:t>출력</a:t>
            </a:r>
          </a:p>
          <a:p>
            <a:pPr eaLnBrk="1" hangingPunct="1"/>
            <a:r>
              <a:rPr lang="en-US" altLang="ko-KR" smtClean="0"/>
              <a:t>PNP</a:t>
            </a:r>
            <a:r>
              <a:rPr lang="ko-KR" altLang="en-US" smtClean="0"/>
              <a:t>형 </a:t>
            </a:r>
            <a:r>
              <a:rPr lang="en-US" altLang="ko-KR" smtClean="0"/>
              <a:t>Sensor : </a:t>
            </a:r>
            <a:r>
              <a:rPr lang="ko-KR" altLang="en-US" smtClean="0"/>
              <a:t>부하는 흑색</a:t>
            </a:r>
            <a:r>
              <a:rPr lang="en-US" altLang="ko-KR" smtClean="0"/>
              <a:t>(Out)</a:t>
            </a:r>
            <a:r>
              <a:rPr lang="ko-KR" altLang="en-US" smtClean="0"/>
              <a:t>과 청색</a:t>
            </a:r>
            <a:r>
              <a:rPr lang="en-US" altLang="ko-KR" smtClean="0"/>
              <a:t>(GND)</a:t>
            </a:r>
            <a:r>
              <a:rPr lang="ko-KR" altLang="en-US" smtClean="0"/>
              <a:t>에 위치 </a:t>
            </a:r>
            <a:r>
              <a:rPr lang="en-US" altLang="ko-KR" smtClean="0"/>
              <a:t>, Sensor On</a:t>
            </a:r>
            <a:r>
              <a:rPr lang="ko-KR" altLang="en-US" smtClean="0"/>
              <a:t>시 </a:t>
            </a:r>
            <a:r>
              <a:rPr lang="en-US" altLang="ko-KR" smtClean="0"/>
              <a:t>+V </a:t>
            </a:r>
            <a:r>
              <a:rPr lang="ko-KR" altLang="en-US" smtClean="0"/>
              <a:t>출력</a:t>
            </a:r>
            <a:endParaRPr lang="ko-KR" altLang="ko-KR"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ECFD3E4-67D0-4C44-BB6C-007084BDB6F0}" type="slidenum">
              <a:rPr lang="en-US" altLang="ko-KR" smtClean="0">
                <a:solidFill>
                  <a:srgbClr val="000000"/>
                </a:solidFill>
              </a:rPr>
              <a:pPr eaLnBrk="1" latinLnBrk="0" hangingPunct="1">
                <a:spcBef>
                  <a:spcPct val="0"/>
                </a:spcBef>
              </a:pPr>
              <a:t>150</a:t>
            </a:fld>
            <a:endParaRPr lang="en-US" altLang="ko-KR" smtClean="0">
              <a:solidFill>
                <a:srgbClr val="000000"/>
              </a:solidFill>
            </a:endParaRPr>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F220EB6-5D97-4D85-8045-74798AFE2107}" type="slidenum">
              <a:rPr lang="en-US" altLang="ko-KR" smtClean="0">
                <a:solidFill>
                  <a:srgbClr val="000000"/>
                </a:solidFill>
              </a:rPr>
              <a:pPr eaLnBrk="1" latinLnBrk="0" hangingPunct="1">
                <a:spcBef>
                  <a:spcPct val="0"/>
                </a:spcBef>
              </a:pPr>
              <a:t>151</a:t>
            </a:fld>
            <a:endParaRPr lang="en-US" altLang="ko-KR" smtClean="0">
              <a:solidFill>
                <a:srgbClr val="000000"/>
              </a:solidFill>
            </a:endParaRPr>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654E950-1393-4597-98E2-15BDA09D54D4}" type="slidenum">
              <a:rPr lang="en-US" altLang="ko-KR" smtClean="0">
                <a:solidFill>
                  <a:srgbClr val="000000"/>
                </a:solidFill>
              </a:rPr>
              <a:pPr eaLnBrk="1" latinLnBrk="0" hangingPunct="1">
                <a:spcBef>
                  <a:spcPct val="0"/>
                </a:spcBef>
              </a:pPr>
              <a:t>152</a:t>
            </a:fld>
            <a:endParaRPr lang="en-US" altLang="ko-KR" smtClean="0">
              <a:solidFill>
                <a:srgbClr val="000000"/>
              </a:solidFill>
            </a:endParaRPr>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FA6DAAC-B42B-49FA-A9C7-3E4CF5FF769F}" type="slidenum">
              <a:rPr lang="en-US" altLang="ko-KR" smtClean="0">
                <a:solidFill>
                  <a:srgbClr val="000000"/>
                </a:solidFill>
              </a:rPr>
              <a:pPr eaLnBrk="1" latinLnBrk="0" hangingPunct="1">
                <a:spcBef>
                  <a:spcPct val="0"/>
                </a:spcBef>
              </a:pPr>
              <a:t>153</a:t>
            </a:fld>
            <a:endParaRPr lang="en-US" altLang="ko-KR" smtClean="0">
              <a:solidFill>
                <a:srgbClr val="000000"/>
              </a:solidFill>
            </a:endParaRPr>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A3DD12EB-32A1-42CE-BE4F-20E3377888F6}" type="slidenum">
              <a:rPr lang="en-US" altLang="ko-KR" smtClean="0">
                <a:solidFill>
                  <a:srgbClr val="000000"/>
                </a:solidFill>
              </a:rPr>
              <a:pPr eaLnBrk="1" latinLnBrk="0" hangingPunct="1">
                <a:spcBef>
                  <a:spcPct val="0"/>
                </a:spcBef>
              </a:pPr>
              <a:t>154</a:t>
            </a:fld>
            <a:endParaRPr lang="en-US" altLang="ko-KR" smtClean="0">
              <a:solidFill>
                <a:srgbClr val="000000"/>
              </a:solidFill>
            </a:endParaRPr>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D8CDF7B-5657-4F37-943D-8FEA3ED276A6}" type="slidenum">
              <a:rPr lang="en-US" altLang="ko-KR" smtClean="0">
                <a:solidFill>
                  <a:srgbClr val="000000"/>
                </a:solidFill>
              </a:rPr>
              <a:pPr eaLnBrk="1" latinLnBrk="0" hangingPunct="1">
                <a:spcBef>
                  <a:spcPct val="0"/>
                </a:spcBef>
              </a:pPr>
              <a:t>155</a:t>
            </a:fld>
            <a:endParaRPr lang="en-US" altLang="ko-KR" smtClean="0">
              <a:solidFill>
                <a:srgbClr val="000000"/>
              </a:solidFill>
            </a:endParaRPr>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p:spPr>
        <p:txBody>
          <a:bodyPr/>
          <a:lstStyle/>
          <a:p>
            <a:pPr eaLnBrk="1" hangingPunct="1"/>
            <a:r>
              <a:rPr lang="en-US" altLang="ko-KR" smtClean="0"/>
              <a:t>(2)Sensor </a:t>
            </a:r>
            <a:r>
              <a:rPr lang="ko-KR" altLang="en-US" smtClean="0"/>
              <a:t>결선 방식 </a:t>
            </a:r>
          </a:p>
          <a:p>
            <a:pPr eaLnBrk="1" hangingPunct="1"/>
            <a:r>
              <a:rPr lang="ko-KR" altLang="en-US" smtClean="0"/>
              <a:t>직류 </a:t>
            </a:r>
            <a:r>
              <a:rPr lang="en-US" altLang="ko-KR" smtClean="0"/>
              <a:t>2</a:t>
            </a:r>
            <a:r>
              <a:rPr lang="ko-KR" altLang="en-US" smtClean="0"/>
              <a:t>선식</a:t>
            </a:r>
            <a:r>
              <a:rPr lang="en-US" altLang="ko-KR" smtClean="0"/>
              <a:t>,</a:t>
            </a:r>
            <a:r>
              <a:rPr lang="ko-KR" altLang="en-US" smtClean="0"/>
              <a:t>직류 </a:t>
            </a:r>
            <a:r>
              <a:rPr lang="en-US" altLang="ko-KR" smtClean="0"/>
              <a:t>3</a:t>
            </a:r>
            <a:r>
              <a:rPr lang="ko-KR" altLang="en-US" smtClean="0"/>
              <a:t>선식</a:t>
            </a:r>
            <a:r>
              <a:rPr lang="en-US" altLang="ko-KR" smtClean="0"/>
              <a:t>(NPN),</a:t>
            </a:r>
            <a:r>
              <a:rPr lang="ko-KR" altLang="en-US" smtClean="0"/>
              <a:t>직류 </a:t>
            </a:r>
            <a:r>
              <a:rPr lang="en-US" altLang="ko-KR" smtClean="0"/>
              <a:t>4</a:t>
            </a:r>
            <a:r>
              <a:rPr lang="ko-KR" altLang="en-US" smtClean="0"/>
              <a:t>선식</a:t>
            </a:r>
            <a:r>
              <a:rPr lang="en-US" altLang="ko-KR" smtClean="0"/>
              <a:t>,</a:t>
            </a:r>
            <a:r>
              <a:rPr lang="ko-KR" altLang="en-US" smtClean="0"/>
              <a:t>직류 </a:t>
            </a:r>
            <a:r>
              <a:rPr lang="en-US" altLang="ko-KR" smtClean="0"/>
              <a:t>5</a:t>
            </a:r>
            <a:r>
              <a:rPr lang="ko-KR" altLang="en-US" smtClean="0"/>
              <a:t>선식 그림 참조 설명</a:t>
            </a:r>
          </a:p>
          <a:p>
            <a:pPr eaLnBrk="1" hangingPunct="1"/>
            <a:r>
              <a:rPr lang="en-US" altLang="ko-KR" smtClean="0"/>
              <a:t>Analog </a:t>
            </a:r>
            <a:r>
              <a:rPr lang="ko-KR" altLang="en-US" smtClean="0"/>
              <a:t>전류 출력 </a:t>
            </a:r>
            <a:r>
              <a:rPr lang="en-US" altLang="ko-KR" smtClean="0"/>
              <a:t>Type</a:t>
            </a:r>
          </a:p>
          <a:p>
            <a:pPr eaLnBrk="1" hangingPunct="1"/>
            <a:r>
              <a:rPr lang="en-US" altLang="ko-KR" smtClean="0"/>
              <a:t>Analog </a:t>
            </a:r>
            <a:r>
              <a:rPr lang="ko-KR" altLang="en-US" smtClean="0"/>
              <a:t>전압 출력 </a:t>
            </a:r>
            <a:r>
              <a:rPr lang="en-US" altLang="ko-KR" smtClean="0"/>
              <a:t>Type</a:t>
            </a:r>
          </a:p>
          <a:p>
            <a:pPr eaLnBrk="1" hangingPunct="1"/>
            <a:endParaRPr lang="en-US" altLang="ko-KR" smtClean="0"/>
          </a:p>
          <a:p>
            <a:pPr eaLnBrk="1" hangingPunct="1"/>
            <a:r>
              <a:rPr lang="en-US" altLang="ko-KR" smtClean="0"/>
              <a:t>(3) Sensor </a:t>
            </a:r>
            <a:r>
              <a:rPr lang="ko-KR" altLang="en-US" smtClean="0"/>
              <a:t>교체시 주의사항</a:t>
            </a:r>
          </a:p>
          <a:p>
            <a:pPr eaLnBrk="1" hangingPunct="1"/>
            <a:r>
              <a:rPr lang="en-US" altLang="ko-KR" smtClean="0"/>
              <a:t>1.</a:t>
            </a:r>
            <a:r>
              <a:rPr lang="ko-KR" altLang="en-US" smtClean="0"/>
              <a:t>결선주의 </a:t>
            </a:r>
            <a:r>
              <a:rPr lang="en-US" altLang="ko-KR" smtClean="0"/>
              <a:t>: </a:t>
            </a:r>
            <a:r>
              <a:rPr lang="ko-KR" altLang="en-US" smtClean="0"/>
              <a:t>갈색은 </a:t>
            </a:r>
            <a:r>
              <a:rPr lang="en-US" altLang="ko-KR" smtClean="0"/>
              <a:t>+V, </a:t>
            </a:r>
            <a:r>
              <a:rPr lang="ko-KR" altLang="en-US" smtClean="0"/>
              <a:t>청색은 </a:t>
            </a:r>
            <a:r>
              <a:rPr lang="en-US" altLang="ko-KR" smtClean="0"/>
              <a:t>GND, </a:t>
            </a:r>
            <a:r>
              <a:rPr lang="ko-KR" altLang="en-US" smtClean="0"/>
              <a:t>흑색은 </a:t>
            </a:r>
            <a:r>
              <a:rPr lang="en-US" altLang="ko-KR" smtClean="0"/>
              <a:t>Out(</a:t>
            </a:r>
            <a:r>
              <a:rPr lang="ko-KR" altLang="en-US" smtClean="0"/>
              <a:t>출력</a:t>
            </a:r>
            <a:r>
              <a:rPr lang="en-US" altLang="ko-KR" smtClean="0"/>
              <a:t>) </a:t>
            </a:r>
            <a:r>
              <a:rPr lang="ko-KR" altLang="en-US" smtClean="0"/>
              <a:t>이며 국제 표준</a:t>
            </a:r>
          </a:p>
          <a:p>
            <a:pPr eaLnBrk="1" hangingPunct="1"/>
            <a:r>
              <a:rPr lang="en-US" altLang="ko-KR" smtClean="0"/>
              <a:t>2.</a:t>
            </a:r>
            <a:r>
              <a:rPr lang="ko-KR" altLang="en-US" smtClean="0"/>
              <a:t>출력 회로에 따른 결선 주의</a:t>
            </a:r>
            <a:r>
              <a:rPr lang="en-US" altLang="ko-KR" smtClean="0"/>
              <a:t>:NPN,PNP</a:t>
            </a:r>
            <a:r>
              <a:rPr lang="ko-KR" altLang="en-US" smtClean="0"/>
              <a:t>에 따라 부하의 위치가 달라진다</a:t>
            </a:r>
            <a:r>
              <a:rPr lang="en-US" altLang="ko-KR" smtClean="0"/>
              <a:t>.</a:t>
            </a:r>
          </a:p>
          <a:p>
            <a:pPr eaLnBrk="1" hangingPunct="1"/>
            <a:r>
              <a:rPr lang="en-US" altLang="ko-KR" smtClean="0"/>
              <a:t>3.</a:t>
            </a:r>
            <a:r>
              <a:rPr lang="ko-KR" altLang="en-US" smtClean="0"/>
              <a:t>반사형과 회귀 반사형 차이 차이 </a:t>
            </a:r>
            <a:r>
              <a:rPr lang="en-US" altLang="ko-KR" smtClean="0"/>
              <a:t>: </a:t>
            </a:r>
            <a:r>
              <a:rPr lang="ko-KR" altLang="en-US" smtClean="0"/>
              <a:t>반사형과 회귀 반사형은 </a:t>
            </a:r>
            <a:r>
              <a:rPr lang="en-US" altLang="ko-KR" smtClean="0"/>
              <a:t>Sensor Body </a:t>
            </a:r>
            <a:r>
              <a:rPr lang="ko-KR" altLang="en-US" smtClean="0"/>
              <a:t>만 보았을때 유의차가 없어 보인다</a:t>
            </a:r>
            <a:r>
              <a:rPr lang="en-US" altLang="ko-KR" smtClean="0"/>
              <a:t>.</a:t>
            </a:r>
          </a:p>
          <a:p>
            <a:pPr eaLnBrk="1" hangingPunct="1"/>
            <a:r>
              <a:rPr lang="en-US" altLang="ko-KR" smtClean="0"/>
              <a:t>                                              </a:t>
            </a:r>
            <a:r>
              <a:rPr lang="ko-KR" altLang="en-US" smtClean="0"/>
              <a:t>그러나 회귀반사형은 반사판과 한 </a:t>
            </a:r>
            <a:r>
              <a:rPr lang="en-US" altLang="ko-KR" smtClean="0"/>
              <a:t>Set </a:t>
            </a:r>
            <a:r>
              <a:rPr lang="ko-KR" altLang="en-US" smtClean="0"/>
              <a:t>임</a:t>
            </a:r>
            <a:r>
              <a:rPr lang="en-US" altLang="ko-KR" smtClean="0"/>
              <a:t>.</a:t>
            </a:r>
          </a:p>
          <a:p>
            <a:pPr eaLnBrk="1" hangingPunct="1"/>
            <a:r>
              <a:rPr lang="en-US" altLang="ko-KR" smtClean="0"/>
              <a:t>4.</a:t>
            </a:r>
            <a:r>
              <a:rPr lang="ko-KR" altLang="en-US" smtClean="0"/>
              <a:t>범용 반사형과 편광 필터형 회귀 반사 </a:t>
            </a:r>
            <a:r>
              <a:rPr lang="en-US" altLang="ko-KR" smtClean="0"/>
              <a:t>Sensor</a:t>
            </a:r>
          </a:p>
          <a:p>
            <a:pPr eaLnBrk="1" hangingPunct="1"/>
            <a:r>
              <a:rPr lang="en-US" altLang="ko-KR" smtClean="0"/>
              <a:t>   </a:t>
            </a:r>
            <a:r>
              <a:rPr lang="ko-KR" altLang="en-US" smtClean="0"/>
              <a:t>일반 범용 회귀 반사형센서는 반사율이 낮은 검출 물체를 대상으로하며 경면체는 검출 못함</a:t>
            </a:r>
            <a:r>
              <a:rPr lang="en-US" altLang="ko-KR" smtClean="0"/>
              <a:t>.</a:t>
            </a:r>
          </a:p>
          <a:p>
            <a:pPr eaLnBrk="1" hangingPunct="1"/>
            <a:r>
              <a:rPr lang="en-US" altLang="ko-KR" smtClean="0"/>
              <a:t>   </a:t>
            </a:r>
            <a:r>
              <a:rPr lang="ko-KR" altLang="en-US" smtClean="0"/>
              <a:t>그러나 편광 필터형의 경우 반사판이 코너 큐브형으로서 경면체 검출이 가능하므로 주의 해야 한다</a:t>
            </a:r>
            <a:r>
              <a:rPr lang="en-US" altLang="ko-KR" smtClean="0"/>
              <a:t>(</a:t>
            </a:r>
            <a:r>
              <a:rPr lang="ko-KR" altLang="en-US" smtClean="0"/>
              <a:t>오작동 주의</a:t>
            </a:r>
            <a:r>
              <a:rPr lang="en-US" altLang="ko-KR" smtClean="0"/>
              <a:t>)</a:t>
            </a:r>
          </a:p>
          <a:p>
            <a:pPr eaLnBrk="1" hangingPunct="1"/>
            <a:r>
              <a:rPr lang="en-US" altLang="ko-KR" smtClean="0"/>
              <a:t>5. </a:t>
            </a:r>
            <a:r>
              <a:rPr lang="ko-KR" altLang="en-US" smtClean="0"/>
              <a:t>근접 센서의 경우 검출 물체의 재질</a:t>
            </a:r>
            <a:r>
              <a:rPr lang="en-US" altLang="ko-KR" smtClean="0"/>
              <a:t>,</a:t>
            </a:r>
            <a:r>
              <a:rPr lang="ko-KR" altLang="en-US" smtClean="0"/>
              <a:t>크기</a:t>
            </a:r>
            <a:r>
              <a:rPr lang="en-US" altLang="ko-KR" smtClean="0"/>
              <a:t>,</a:t>
            </a:r>
            <a:r>
              <a:rPr lang="ko-KR" altLang="en-US" smtClean="0"/>
              <a:t>두께에 주의</a:t>
            </a:r>
          </a:p>
          <a:p>
            <a:pPr eaLnBrk="1" hangingPunct="1"/>
            <a:r>
              <a:rPr lang="ko-KR" altLang="en-US" smtClean="0"/>
              <a:t>    대부분의 근접센서가 표준검출물체를 철로 하고 있으므로 비철금속일 경우 검출거리의 차일가 크므로 주의 해야 한다</a:t>
            </a:r>
            <a:r>
              <a:rPr lang="en-US" altLang="ko-KR" smtClean="0"/>
              <a:t>.</a:t>
            </a:r>
          </a:p>
          <a:p>
            <a:pPr eaLnBrk="1" hangingPunct="1"/>
            <a:r>
              <a:rPr lang="en-US" altLang="ko-KR" smtClean="0"/>
              <a:t>    </a:t>
            </a:r>
            <a:r>
              <a:rPr lang="ko-KR" altLang="en-US" smtClean="0"/>
              <a:t>특히 정전 용량형 근접 센서는 유기물 까지 모두 검출 하므로 특히 주의 가 필요하다</a:t>
            </a:r>
            <a:r>
              <a:rPr lang="en-US" altLang="ko-KR" smtClean="0"/>
              <a:t>.</a:t>
            </a:r>
          </a:p>
          <a:p>
            <a:pPr eaLnBrk="1" hangingPunct="1"/>
            <a:r>
              <a:rPr lang="en-US" altLang="ko-KR" smtClean="0"/>
              <a:t>6. </a:t>
            </a:r>
            <a:r>
              <a:rPr lang="ko-KR" altLang="en-US" smtClean="0"/>
              <a:t>근접 센선 </a:t>
            </a:r>
            <a:r>
              <a:rPr lang="en-US" altLang="ko-KR" smtClean="0"/>
              <a:t>Shield </a:t>
            </a:r>
            <a:r>
              <a:rPr lang="ko-KR" altLang="en-US" smtClean="0"/>
              <a:t>과 </a:t>
            </a:r>
            <a:r>
              <a:rPr lang="en-US" altLang="ko-KR" smtClean="0"/>
              <a:t>Non shield type </a:t>
            </a:r>
            <a:r>
              <a:rPr lang="ko-KR" altLang="en-US" smtClean="0"/>
              <a:t>의 경우 측면에서도 검출이 되므로 취부및 감지 여부에 주의 해야한다</a:t>
            </a:r>
            <a:r>
              <a:rPr lang="en-US" altLang="ko-KR" smtClean="0"/>
              <a:t>.(</a:t>
            </a:r>
            <a:r>
              <a:rPr lang="ko-KR" altLang="en-US" smtClean="0"/>
              <a:t>그림 참조</a:t>
            </a:r>
            <a:r>
              <a:rPr lang="en-US" altLang="ko-KR" smtClean="0"/>
              <a:t>)</a:t>
            </a:r>
          </a:p>
          <a:p>
            <a:pPr eaLnBrk="1" hangingPunct="1"/>
            <a:endParaRPr lang="en-US" altLang="ko-KR" smtClean="0"/>
          </a:p>
          <a:p>
            <a:pPr eaLnBrk="1" hangingPunct="1"/>
            <a:r>
              <a:rPr lang="en-US" altLang="ko-KR" smtClean="0"/>
              <a:t>ex)</a:t>
            </a:r>
            <a:r>
              <a:rPr lang="ko-KR" altLang="en-US" smtClean="0"/>
              <a:t>응차 거리 설명</a:t>
            </a:r>
            <a:endParaRPr lang="ko-KR" altLang="ko-KR"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EB0C5788-9E01-4A4A-A368-F4004E8E0A16}" type="slidenum">
              <a:rPr lang="en-US" altLang="ko-KR" smtClean="0">
                <a:solidFill>
                  <a:srgbClr val="000000"/>
                </a:solidFill>
              </a:rPr>
              <a:pPr eaLnBrk="1" latinLnBrk="0" hangingPunct="1">
                <a:spcBef>
                  <a:spcPct val="0"/>
                </a:spcBef>
              </a:pPr>
              <a:t>156</a:t>
            </a:fld>
            <a:endParaRPr lang="en-US" altLang="ko-KR" smtClean="0">
              <a:solidFill>
                <a:srgbClr val="000000"/>
              </a:solidFill>
            </a:endParaRPr>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29301423-7397-405D-AEBC-7C9FD8FE494A}" type="slidenum">
              <a:rPr lang="en-US" altLang="ko-KR" smtClean="0">
                <a:solidFill>
                  <a:srgbClr val="000000"/>
                </a:solidFill>
              </a:rPr>
              <a:pPr eaLnBrk="1" latinLnBrk="0" hangingPunct="1">
                <a:spcBef>
                  <a:spcPct val="0"/>
                </a:spcBef>
              </a:pPr>
              <a:t>157</a:t>
            </a:fld>
            <a:endParaRPr lang="en-US" altLang="ko-KR" smtClean="0">
              <a:solidFill>
                <a:srgbClr val="000000"/>
              </a:solidFill>
            </a:endParaRPr>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7A5FE17A-0E2D-496C-BD4C-52C12B3C00C1}" type="slidenum">
              <a:rPr lang="en-US" altLang="ko-KR" smtClean="0">
                <a:solidFill>
                  <a:srgbClr val="000000"/>
                </a:solidFill>
              </a:rPr>
              <a:pPr eaLnBrk="1" latinLnBrk="0" hangingPunct="1">
                <a:spcBef>
                  <a:spcPct val="0"/>
                </a:spcBef>
              </a:pPr>
              <a:t>158</a:t>
            </a:fld>
            <a:endParaRPr lang="en-US" altLang="ko-KR" smtClean="0">
              <a:solidFill>
                <a:srgbClr val="000000"/>
              </a:solidFill>
            </a:endParaRPr>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A391F68-EC26-4ABC-A580-53D7E9FDA016}" type="slidenum">
              <a:rPr lang="en-US" altLang="ko-KR" smtClean="0">
                <a:solidFill>
                  <a:srgbClr val="000000"/>
                </a:solidFill>
              </a:rPr>
              <a:pPr eaLnBrk="1" latinLnBrk="0" hangingPunct="1">
                <a:spcBef>
                  <a:spcPct val="0"/>
                </a:spcBef>
              </a:pPr>
              <a:t>159</a:t>
            </a:fld>
            <a:endParaRPr lang="en-US" altLang="ko-KR" smtClean="0">
              <a:solidFill>
                <a:srgbClr val="000000"/>
              </a:solidFill>
            </a:endParaRPr>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14D16FD9-8415-4688-B542-5AB2C4C94CE5}" type="slidenum">
              <a:rPr lang="en-US" altLang="ko-KR" smtClean="0">
                <a:solidFill>
                  <a:srgbClr val="000000"/>
                </a:solidFill>
              </a:rPr>
              <a:pPr eaLnBrk="1" latinLnBrk="0" hangingPunct="1">
                <a:spcBef>
                  <a:spcPct val="0"/>
                </a:spcBef>
              </a:pPr>
              <a:t>160</a:t>
            </a:fld>
            <a:endParaRPr lang="en-US" altLang="ko-KR" smtClean="0">
              <a:solidFill>
                <a:srgbClr val="000000"/>
              </a:solidFill>
            </a:endParaRPr>
          </a:p>
        </p:txBody>
      </p:sp>
      <p:sp>
        <p:nvSpPr>
          <p:cNvPr id="360451" name="Rectangle 2"/>
          <p:cNvSpPr>
            <a:spLocks noGrp="1" noRot="1" noChangeAspect="1" noChangeArrowheads="1" noTextEdit="1"/>
          </p:cNvSpPr>
          <p:nvPr>
            <p:ph type="sldImg"/>
          </p:nvPr>
        </p:nvSpPr>
        <p:spPr>
          <a:ln/>
        </p:spPr>
      </p:sp>
      <p:sp>
        <p:nvSpPr>
          <p:cNvPr id="36045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732075C-2674-453F-B94D-E75C7CB2AEA1}" type="slidenum">
              <a:rPr lang="en-US" altLang="ko-KR" smtClean="0">
                <a:solidFill>
                  <a:srgbClr val="000000"/>
                </a:solidFill>
              </a:rPr>
              <a:pPr eaLnBrk="1" latinLnBrk="0" hangingPunct="1">
                <a:spcBef>
                  <a:spcPct val="0"/>
                </a:spcBef>
              </a:pPr>
              <a:t>161</a:t>
            </a:fld>
            <a:endParaRPr lang="en-US" altLang="ko-KR" smtClean="0">
              <a:solidFill>
                <a:srgbClr val="000000"/>
              </a:solidFill>
            </a:endParaRPr>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F455E470-8781-4CE6-AFA8-A9EB9BD87016}" type="slidenum">
              <a:rPr lang="en-US" altLang="ko-KR" smtClean="0">
                <a:solidFill>
                  <a:srgbClr val="000000"/>
                </a:solidFill>
              </a:rPr>
              <a:pPr eaLnBrk="1" latinLnBrk="0" hangingPunct="1">
                <a:spcBef>
                  <a:spcPct val="0"/>
                </a:spcBef>
              </a:pPr>
              <a:t>162</a:t>
            </a:fld>
            <a:endParaRPr lang="en-US" altLang="ko-KR" smtClean="0">
              <a:solidFill>
                <a:srgbClr val="000000"/>
              </a:solidFill>
            </a:endParaRPr>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904C33FF-F81D-4E15-B717-A304B17A722E}" type="slidenum">
              <a:rPr lang="en-US" altLang="ko-KR" smtClean="0">
                <a:solidFill>
                  <a:srgbClr val="000000"/>
                </a:solidFill>
              </a:rPr>
              <a:pPr eaLnBrk="1" latinLnBrk="0" hangingPunct="1">
                <a:spcBef>
                  <a:spcPct val="0"/>
                </a:spcBef>
              </a:pPr>
              <a:t>163</a:t>
            </a:fld>
            <a:endParaRPr lang="en-US" altLang="ko-KR" smtClean="0">
              <a:solidFill>
                <a:srgbClr val="000000"/>
              </a:solidFill>
            </a:endParaRPr>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093483C0-8F45-4F74-960E-99AB174E1149}" type="slidenum">
              <a:rPr lang="en-US" altLang="ko-KR" smtClean="0">
                <a:solidFill>
                  <a:srgbClr val="000000"/>
                </a:solidFill>
              </a:rPr>
              <a:pPr eaLnBrk="1" latinLnBrk="0" hangingPunct="1">
                <a:spcBef>
                  <a:spcPct val="0"/>
                </a:spcBef>
              </a:pPr>
              <a:t>164</a:t>
            </a:fld>
            <a:endParaRPr lang="en-US" altLang="ko-KR" smtClean="0">
              <a:solidFill>
                <a:srgbClr val="000000"/>
              </a:solidFill>
            </a:endParaRPr>
          </a:p>
        </p:txBody>
      </p:sp>
      <p:sp>
        <p:nvSpPr>
          <p:cNvPr id="364547" name="Rectangle 2"/>
          <p:cNvSpPr>
            <a:spLocks noGrp="1" noRot="1" noChangeAspect="1" noChangeArrowheads="1" noTextEdit="1"/>
          </p:cNvSpPr>
          <p:nvPr>
            <p:ph type="sldImg"/>
          </p:nvPr>
        </p:nvSpPr>
        <p:spPr>
          <a:ln/>
        </p:spPr>
      </p:sp>
      <p:sp>
        <p:nvSpPr>
          <p:cNvPr id="36454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585E0668-2952-442A-A80D-09CCC0F4280B}" type="slidenum">
              <a:rPr lang="en-US" altLang="ko-KR" smtClean="0">
                <a:solidFill>
                  <a:srgbClr val="000000"/>
                </a:solidFill>
              </a:rPr>
              <a:pPr eaLnBrk="1" latinLnBrk="0" hangingPunct="1">
                <a:spcBef>
                  <a:spcPct val="0"/>
                </a:spcBef>
              </a:pPr>
              <a:t>165</a:t>
            </a:fld>
            <a:endParaRPr lang="en-US" altLang="ko-KR" smtClean="0">
              <a:solidFill>
                <a:srgbClr val="000000"/>
              </a:solidFill>
            </a:endParaRPr>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013A1E1-222F-40EB-9658-2A7C37F4E0C2}" type="slidenum">
              <a:rPr lang="en-US" altLang="ko-KR" smtClean="0">
                <a:solidFill>
                  <a:srgbClr val="000000"/>
                </a:solidFill>
              </a:rPr>
              <a:pPr eaLnBrk="1" latinLnBrk="0" hangingPunct="1">
                <a:spcBef>
                  <a:spcPct val="0"/>
                </a:spcBef>
              </a:pPr>
              <a:t>169</a:t>
            </a:fld>
            <a:endParaRPr lang="en-US" altLang="ko-KR" smtClean="0">
              <a:solidFill>
                <a:srgbClr val="000000"/>
              </a:solidFill>
            </a:endParaRPr>
          </a:p>
        </p:txBody>
      </p:sp>
      <p:sp>
        <p:nvSpPr>
          <p:cNvPr id="366595" name="Rectangle 2"/>
          <p:cNvSpPr>
            <a:spLocks noGrp="1" noRot="1" noChangeAspect="1" noChangeArrowheads="1" noTextEdit="1"/>
          </p:cNvSpPr>
          <p:nvPr>
            <p:ph type="sldImg"/>
          </p:nvPr>
        </p:nvSpPr>
        <p:spPr>
          <a:ln/>
        </p:spPr>
      </p:sp>
      <p:sp>
        <p:nvSpPr>
          <p:cNvPr id="366596"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57B7935-D3D1-45D6-ABCF-3EFE56E06D24}" type="slidenum">
              <a:rPr lang="en-US" altLang="ko-KR" smtClean="0">
                <a:solidFill>
                  <a:srgbClr val="000000"/>
                </a:solidFill>
              </a:rPr>
              <a:pPr eaLnBrk="1" latinLnBrk="0" hangingPunct="1">
                <a:spcBef>
                  <a:spcPct val="0"/>
                </a:spcBef>
              </a:pPr>
              <a:t>186</a:t>
            </a:fld>
            <a:endParaRPr lang="en-US" altLang="ko-KR" smtClean="0">
              <a:solidFill>
                <a:srgbClr val="000000"/>
              </a:solidFill>
            </a:endParaRPr>
          </a:p>
        </p:txBody>
      </p:sp>
      <p:sp>
        <p:nvSpPr>
          <p:cNvPr id="367619" name="Rectangle 2"/>
          <p:cNvSpPr>
            <a:spLocks noGrp="1" noRot="1" noChangeAspect="1" noChangeArrowheads="1" noTextEdit="1"/>
          </p:cNvSpPr>
          <p:nvPr>
            <p:ph type="sldImg"/>
          </p:nvPr>
        </p:nvSpPr>
        <p:spPr>
          <a:ln/>
        </p:spPr>
      </p:sp>
      <p:sp>
        <p:nvSpPr>
          <p:cNvPr id="36762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85BC09AB-12FE-4386-92EE-E84A57BBC2A5}" type="slidenum">
              <a:rPr lang="en-US" altLang="ko-KR" smtClean="0">
                <a:solidFill>
                  <a:srgbClr val="000000"/>
                </a:solidFill>
              </a:rPr>
              <a:pPr eaLnBrk="1" latinLnBrk="0" hangingPunct="1">
                <a:spcBef>
                  <a:spcPct val="0"/>
                </a:spcBef>
              </a:pPr>
              <a:t>187</a:t>
            </a:fld>
            <a:endParaRPr lang="en-US" altLang="ko-KR" smtClean="0">
              <a:solidFill>
                <a:srgbClr val="000000"/>
              </a:solidFill>
            </a:endParaRPr>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6E5632BC-51B9-4BD7-BA06-4037F30958A0}" type="slidenum">
              <a:rPr lang="en-US" altLang="ko-KR" smtClean="0">
                <a:solidFill>
                  <a:srgbClr val="000000"/>
                </a:solidFill>
              </a:rPr>
              <a:pPr eaLnBrk="1" latinLnBrk="0" hangingPunct="1">
                <a:spcBef>
                  <a:spcPct val="0"/>
                </a:spcBef>
              </a:pPr>
              <a:t>188</a:t>
            </a:fld>
            <a:endParaRPr lang="en-US" altLang="ko-KR" smtClean="0">
              <a:solidFill>
                <a:srgbClr val="000000"/>
              </a:solidFill>
            </a:endParaRPr>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1031"/>
          <p:cNvSpPr>
            <a:spLocks noGrp="1" noChangeArrowheads="1"/>
          </p:cNvSpPr>
          <p:nvPr>
            <p:ph type="sldNum" sz="quarter" idx="5"/>
          </p:nvPr>
        </p:nvSpPr>
        <p:spPr>
          <a:noFill/>
        </p:spPr>
        <p:txBody>
          <a:bodyPr/>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latinLnBrk="0" hangingPunct="1">
              <a:spcBef>
                <a:spcPct val="0"/>
              </a:spcBef>
            </a:pPr>
            <a:fld id="{49036802-7F87-4228-9414-804F8CB04558}" type="slidenum">
              <a:rPr lang="en-US" altLang="ko-KR" smtClean="0">
                <a:solidFill>
                  <a:srgbClr val="000000"/>
                </a:solidFill>
              </a:rPr>
              <a:pPr eaLnBrk="1" latinLnBrk="0" hangingPunct="1">
                <a:spcBef>
                  <a:spcPct val="0"/>
                </a:spcBef>
              </a:pPr>
              <a:t>189</a:t>
            </a:fld>
            <a:endParaRPr lang="en-US" altLang="ko-KR" smtClean="0">
              <a:solidFill>
                <a:srgbClr val="000000"/>
              </a:solidFill>
            </a:endParaRPr>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1031"/>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latinLnBrk="0" hangingPunct="1">
              <a:lnSpc>
                <a:spcPct val="110000"/>
              </a:lnSpc>
              <a:spcBef>
                <a:spcPct val="0"/>
              </a:spcBef>
            </a:pPr>
            <a:fld id="{4FFAF13D-4F99-4A12-B542-222A04DED1F8}" type="slidenum">
              <a:rPr lang="en-US" altLang="ko-KR" b="1">
                <a:solidFill>
                  <a:srgbClr val="000000"/>
                </a:solidFill>
              </a:rPr>
              <a:pPr algn="r" eaLnBrk="1" latinLnBrk="0" hangingPunct="1">
                <a:lnSpc>
                  <a:spcPct val="110000"/>
                </a:lnSpc>
                <a:spcBef>
                  <a:spcPct val="0"/>
                </a:spcBef>
              </a:pPr>
              <a:t>190</a:t>
            </a:fld>
            <a:endParaRPr lang="en-US" altLang="ko-KR" b="1">
              <a:solidFill>
                <a:srgbClr val="000000"/>
              </a:solidFill>
            </a:endParaRPr>
          </a:p>
        </p:txBody>
      </p:sp>
      <p:sp>
        <p:nvSpPr>
          <p:cNvPr id="371715" name="Rectangle 2"/>
          <p:cNvSpPr>
            <a:spLocks noGrp="1" noRot="1" noChangeAspect="1" noChangeArrowheads="1" noTextEdit="1"/>
          </p:cNvSpPr>
          <p:nvPr>
            <p:ph type="sldImg"/>
          </p:nvPr>
        </p:nvSpPr>
        <p:spPr>
          <a:ln/>
        </p:spPr>
      </p:sp>
      <p:sp>
        <p:nvSpPr>
          <p:cNvPr id="371716" name="Rectangle 3"/>
          <p:cNvSpPr>
            <a:spLocks noGrp="1" noChangeArrowheads="1"/>
          </p:cNvSpPr>
          <p:nvPr>
            <p:ph type="body" idx="1"/>
          </p:nvPr>
        </p:nvSpPr>
        <p:spPr>
          <a:noFill/>
        </p:spPr>
        <p:txBody>
          <a:bodyPr/>
          <a:lstStyle/>
          <a:p>
            <a:pPr eaLnBrk="1" hangingPunct="1"/>
            <a:r>
              <a:rPr lang="ko-KR" altLang="en-US" smtClean="0"/>
              <a:t>아날로그 테스터기는 부록</a:t>
            </a:r>
            <a:r>
              <a:rPr lang="en-US" altLang="ko-KR" smtClean="0"/>
              <a:t>!!</a:t>
            </a: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1031"/>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latinLnBrk="0" hangingPunct="1">
              <a:lnSpc>
                <a:spcPct val="110000"/>
              </a:lnSpc>
              <a:spcBef>
                <a:spcPct val="0"/>
              </a:spcBef>
            </a:pPr>
            <a:fld id="{221A19B4-EE1C-45A6-B316-8450D8CE6A1B}" type="slidenum">
              <a:rPr lang="en-US" altLang="ko-KR" b="1">
                <a:solidFill>
                  <a:srgbClr val="000000"/>
                </a:solidFill>
              </a:rPr>
              <a:pPr algn="r" eaLnBrk="1" latinLnBrk="0" hangingPunct="1">
                <a:lnSpc>
                  <a:spcPct val="110000"/>
                </a:lnSpc>
                <a:spcBef>
                  <a:spcPct val="0"/>
                </a:spcBef>
              </a:pPr>
              <a:t>191</a:t>
            </a:fld>
            <a:endParaRPr lang="en-US" altLang="ko-KR" b="1">
              <a:solidFill>
                <a:srgbClr val="000000"/>
              </a:solidFill>
            </a:endParaRPr>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1031"/>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latinLnBrk="0" hangingPunct="1">
              <a:lnSpc>
                <a:spcPct val="110000"/>
              </a:lnSpc>
              <a:spcBef>
                <a:spcPct val="0"/>
              </a:spcBef>
            </a:pPr>
            <a:fld id="{8732684E-FA25-4529-99DF-CC673745AF32}" type="slidenum">
              <a:rPr lang="en-US" altLang="ko-KR" b="1">
                <a:solidFill>
                  <a:srgbClr val="000000"/>
                </a:solidFill>
              </a:rPr>
              <a:pPr algn="r" eaLnBrk="1" latinLnBrk="0" hangingPunct="1">
                <a:lnSpc>
                  <a:spcPct val="110000"/>
                </a:lnSpc>
                <a:spcBef>
                  <a:spcPct val="0"/>
                </a:spcBef>
              </a:pPr>
              <a:t>192</a:t>
            </a:fld>
            <a:endParaRPr lang="en-US" altLang="ko-KR" b="1">
              <a:solidFill>
                <a:srgbClr val="000000"/>
              </a:solidFill>
            </a:endParaRPr>
          </a:p>
        </p:txBody>
      </p:sp>
      <p:sp>
        <p:nvSpPr>
          <p:cNvPr id="373763" name="Rectangle 2"/>
          <p:cNvSpPr>
            <a:spLocks noGrp="1" noRot="1" noChangeAspect="1" noChangeArrowheads="1" noTextEdit="1"/>
          </p:cNvSpPr>
          <p:nvPr>
            <p:ph type="sldImg"/>
          </p:nvPr>
        </p:nvSpPr>
        <p:spPr>
          <a:ln/>
        </p:spPr>
      </p:sp>
      <p:sp>
        <p:nvSpPr>
          <p:cNvPr id="373764"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1031"/>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latinLnBrk="1" hangingPunct="0">
              <a:spcBef>
                <a:spcPct val="30000"/>
              </a:spcBef>
              <a:defRPr kumimoji="1" sz="1200">
                <a:solidFill>
                  <a:schemeClr val="tx1"/>
                </a:solidFill>
                <a:latin typeface="굴림" pitchFamily="50" charset="-127"/>
                <a:ea typeface="굴림" pitchFamily="50" charset="-127"/>
              </a:defRPr>
            </a:lvl1pPr>
            <a:lvl2pPr marL="742950" indent="-285750" eaLnBrk="0" latinLnBrk="1" hangingPunct="0">
              <a:spcBef>
                <a:spcPct val="30000"/>
              </a:spcBef>
              <a:defRPr kumimoji="1" sz="1200">
                <a:solidFill>
                  <a:schemeClr val="tx1"/>
                </a:solidFill>
                <a:latin typeface="굴림" pitchFamily="50" charset="-127"/>
                <a:ea typeface="굴림" pitchFamily="50" charset="-127"/>
              </a:defRPr>
            </a:lvl2pPr>
            <a:lvl3pPr marL="1143000" indent="-228600" eaLnBrk="0" latinLnBrk="1" hangingPunct="0">
              <a:spcBef>
                <a:spcPct val="30000"/>
              </a:spcBef>
              <a:defRPr kumimoji="1" sz="1200">
                <a:solidFill>
                  <a:schemeClr val="tx1"/>
                </a:solidFill>
                <a:latin typeface="굴림" pitchFamily="50" charset="-127"/>
                <a:ea typeface="굴림" pitchFamily="50" charset="-127"/>
              </a:defRPr>
            </a:lvl3pPr>
            <a:lvl4pPr marL="1600200" indent="-228600" eaLnBrk="0" latinLnBrk="1" hangingPunct="0">
              <a:spcBef>
                <a:spcPct val="30000"/>
              </a:spcBef>
              <a:defRPr kumimoji="1" sz="1200">
                <a:solidFill>
                  <a:schemeClr val="tx1"/>
                </a:solidFill>
                <a:latin typeface="굴림" pitchFamily="50" charset="-127"/>
                <a:ea typeface="굴림" pitchFamily="50" charset="-127"/>
              </a:defRPr>
            </a:lvl4pPr>
            <a:lvl5pPr marL="2057400" indent="-228600" eaLnBrk="0" latinLnBrk="1"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latinLnBrk="0" hangingPunct="1">
              <a:lnSpc>
                <a:spcPct val="110000"/>
              </a:lnSpc>
              <a:spcBef>
                <a:spcPct val="0"/>
              </a:spcBef>
            </a:pPr>
            <a:fld id="{AAA082B1-79F8-444C-858C-3BD1E3C549E7}" type="slidenum">
              <a:rPr lang="en-US" altLang="ko-KR" b="1">
                <a:solidFill>
                  <a:srgbClr val="000000"/>
                </a:solidFill>
              </a:rPr>
              <a:pPr algn="r" eaLnBrk="1" latinLnBrk="0" hangingPunct="1">
                <a:lnSpc>
                  <a:spcPct val="110000"/>
                </a:lnSpc>
                <a:spcBef>
                  <a:spcPct val="0"/>
                </a:spcBef>
              </a:pPr>
              <a:t>193</a:t>
            </a:fld>
            <a:endParaRPr lang="en-US" altLang="ko-KR" b="1">
              <a:solidFill>
                <a:srgbClr val="000000"/>
              </a:solidFill>
            </a:endParaRPr>
          </a:p>
        </p:txBody>
      </p:sp>
      <p:sp>
        <p:nvSpPr>
          <p:cNvPr id="374787" name="Rectangle 2"/>
          <p:cNvSpPr>
            <a:spLocks noGrp="1" noRot="1" noChangeAspect="1" noChangeArrowheads="1" noTextEdit="1"/>
          </p:cNvSpPr>
          <p:nvPr>
            <p:ph type="sldImg"/>
          </p:nvPr>
        </p:nvSpPr>
        <p:spPr>
          <a:ln/>
        </p:spPr>
      </p:sp>
      <p:sp>
        <p:nvSpPr>
          <p:cNvPr id="374788" name="Rectangle 3"/>
          <p:cNvSpPr>
            <a:spLocks noGrp="1" noChangeArrowheads="1"/>
          </p:cNvSpPr>
          <p:nvPr>
            <p:ph type="body" idx="1"/>
          </p:nvPr>
        </p:nvSpPr>
        <p:spPr>
          <a:noFill/>
        </p:spPr>
        <p:txBody>
          <a:bodyPr/>
          <a:lstStyle/>
          <a:p>
            <a:pPr eaLnBrk="1" hangingPunct="1"/>
            <a:endParaRPr lang="ko-KR" altLang="ko-K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414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a:xfrm>
            <a:off x="457200" y="1600200"/>
            <a:ext cx="8229600" cy="4525963"/>
          </a:xfrm>
          <a:prstGeom prst="rect">
            <a:avLst/>
          </a:prstGeo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7"/>
          <p:cNvSpPr>
            <a:spLocks noGrp="1" noChangeArrowheads="1"/>
          </p:cNvSpPr>
          <p:nvPr>
            <p:ph type="sldNum" sz="quarter" idx="10"/>
          </p:nvPr>
        </p:nvSpPr>
        <p:spPr>
          <a:ln/>
        </p:spPr>
        <p:txBody>
          <a:bodyPr/>
          <a:lstStyle>
            <a:lvl1pPr>
              <a:defRPr/>
            </a:lvl1pPr>
          </a:lstStyle>
          <a:p>
            <a:pPr>
              <a:defRPr/>
            </a:pPr>
            <a:fld id="{0088AB1F-7F3C-419E-B986-3E6CC2939E4B}" type="slidenum">
              <a:rPr lang="en-US" altLang="ko-KR"/>
              <a:pPr>
                <a:defRPr/>
              </a:pPr>
              <a:t>‹#›</a:t>
            </a:fld>
            <a:endParaRPr lang="en-US" altLang="ko-KR"/>
          </a:p>
        </p:txBody>
      </p:sp>
    </p:spTree>
    <p:extLst>
      <p:ext uri="{BB962C8B-B14F-4D97-AF65-F5344CB8AC3E}">
        <p14:creationId xmlns:p14="http://schemas.microsoft.com/office/powerpoint/2010/main" val="3559968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7"/>
          <p:cNvSpPr>
            <a:spLocks noGrp="1" noChangeArrowheads="1"/>
          </p:cNvSpPr>
          <p:nvPr>
            <p:ph type="sldNum" sz="quarter" idx="10"/>
          </p:nvPr>
        </p:nvSpPr>
        <p:spPr>
          <a:ln/>
        </p:spPr>
        <p:txBody>
          <a:bodyPr/>
          <a:lstStyle>
            <a:lvl1pPr>
              <a:defRPr/>
            </a:lvl1pPr>
          </a:lstStyle>
          <a:p>
            <a:pPr>
              <a:defRPr/>
            </a:pPr>
            <a:fld id="{1A7090EA-9982-4441-B237-1B9B5ED3F8AA}" type="slidenum">
              <a:rPr lang="en-US" altLang="ko-KR"/>
              <a:pPr>
                <a:defRPr/>
              </a:pPr>
              <a:t>‹#›</a:t>
            </a:fld>
            <a:endParaRPr lang="en-US" altLang="ko-KR"/>
          </a:p>
        </p:txBody>
      </p:sp>
    </p:spTree>
    <p:extLst>
      <p:ext uri="{BB962C8B-B14F-4D97-AF65-F5344CB8AC3E}">
        <p14:creationId xmlns:p14="http://schemas.microsoft.com/office/powerpoint/2010/main" val="3962130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7"/>
          <p:cNvSpPr>
            <a:spLocks noGrp="1" noChangeArrowheads="1"/>
          </p:cNvSpPr>
          <p:nvPr>
            <p:ph type="sldNum" sz="quarter" idx="10"/>
          </p:nvPr>
        </p:nvSpPr>
        <p:spPr>
          <a:ln/>
        </p:spPr>
        <p:txBody>
          <a:bodyPr/>
          <a:lstStyle>
            <a:lvl1pPr>
              <a:defRPr/>
            </a:lvl1pPr>
          </a:lstStyle>
          <a:p>
            <a:pPr>
              <a:defRPr/>
            </a:pPr>
            <a:fld id="{5FE004EE-9D69-4D5E-AB7E-3BA4FDE5F656}" type="slidenum">
              <a:rPr lang="en-US" altLang="ko-KR"/>
              <a:pPr>
                <a:defRPr/>
              </a:pPr>
              <a:t>‹#›</a:t>
            </a:fld>
            <a:endParaRPr lang="en-US" altLang="ko-KR"/>
          </a:p>
        </p:txBody>
      </p:sp>
    </p:spTree>
    <p:extLst>
      <p:ext uri="{BB962C8B-B14F-4D97-AF65-F5344CB8AC3E}">
        <p14:creationId xmlns:p14="http://schemas.microsoft.com/office/powerpoint/2010/main" val="302556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7"/>
          <p:cNvSpPr>
            <a:spLocks noGrp="1" noChangeArrowheads="1"/>
          </p:cNvSpPr>
          <p:nvPr>
            <p:ph type="sldNum" sz="quarter" idx="10"/>
          </p:nvPr>
        </p:nvSpPr>
        <p:spPr>
          <a:ln/>
        </p:spPr>
        <p:txBody>
          <a:bodyPr/>
          <a:lstStyle>
            <a:lvl1pPr>
              <a:defRPr/>
            </a:lvl1pPr>
          </a:lstStyle>
          <a:p>
            <a:pPr>
              <a:defRPr/>
            </a:pPr>
            <a:fld id="{804B834C-4118-4655-B412-2D3D2D79B25A}" type="slidenum">
              <a:rPr lang="en-US" altLang="ko-KR"/>
              <a:pPr>
                <a:defRPr/>
              </a:pPr>
              <a:t>‹#›</a:t>
            </a:fld>
            <a:endParaRPr lang="en-US" altLang="ko-KR"/>
          </a:p>
        </p:txBody>
      </p:sp>
    </p:spTree>
    <p:extLst>
      <p:ext uri="{BB962C8B-B14F-4D97-AF65-F5344CB8AC3E}">
        <p14:creationId xmlns:p14="http://schemas.microsoft.com/office/powerpoint/2010/main" val="10317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smtClean="0"/>
              <a:t>마스터 제목 스타일 편집</a:t>
            </a:r>
            <a:endParaRPr lang="ko-KR" altLang="en-US"/>
          </a:p>
        </p:txBody>
      </p:sp>
      <p:sp>
        <p:nvSpPr>
          <p:cNvPr id="3" name="Rectangle 7"/>
          <p:cNvSpPr>
            <a:spLocks noGrp="1" noChangeArrowheads="1"/>
          </p:cNvSpPr>
          <p:nvPr>
            <p:ph type="sldNum" sz="quarter" idx="10"/>
          </p:nvPr>
        </p:nvSpPr>
        <p:spPr>
          <a:ln/>
        </p:spPr>
        <p:txBody>
          <a:bodyPr/>
          <a:lstStyle>
            <a:lvl1pPr>
              <a:defRPr/>
            </a:lvl1pPr>
          </a:lstStyle>
          <a:p>
            <a:pPr>
              <a:defRPr/>
            </a:pPr>
            <a:fld id="{C8B88C6E-FF8F-4E01-8861-AF34CD0429EA}" type="slidenum">
              <a:rPr lang="en-US" altLang="ko-KR"/>
              <a:pPr>
                <a:defRPr/>
              </a:pPr>
              <a:t>‹#›</a:t>
            </a:fld>
            <a:endParaRPr lang="en-US" altLang="ko-KR"/>
          </a:p>
        </p:txBody>
      </p:sp>
    </p:spTree>
    <p:extLst>
      <p:ext uri="{BB962C8B-B14F-4D97-AF65-F5344CB8AC3E}">
        <p14:creationId xmlns:p14="http://schemas.microsoft.com/office/powerpoint/2010/main" val="1910169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pPr>
              <a:defRPr/>
            </a:pPr>
            <a:fld id="{2EFC11D2-8C1D-457C-AA74-39F4AAD82568}" type="slidenum">
              <a:rPr lang="en-US" altLang="ko-KR"/>
              <a:pPr>
                <a:defRPr/>
              </a:pPr>
              <a:t>‹#›</a:t>
            </a:fld>
            <a:endParaRPr lang="en-US" altLang="ko-KR"/>
          </a:p>
        </p:txBody>
      </p:sp>
    </p:spTree>
    <p:extLst>
      <p:ext uri="{BB962C8B-B14F-4D97-AF65-F5344CB8AC3E}">
        <p14:creationId xmlns:p14="http://schemas.microsoft.com/office/powerpoint/2010/main" val="3241421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a:prstGeom prst="rect">
            <a:avLst/>
          </a:prstGeo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7"/>
          <p:cNvSpPr>
            <a:spLocks noGrp="1" noChangeArrowheads="1"/>
          </p:cNvSpPr>
          <p:nvPr>
            <p:ph type="sldNum" sz="quarter" idx="10"/>
          </p:nvPr>
        </p:nvSpPr>
        <p:spPr>
          <a:ln/>
        </p:spPr>
        <p:txBody>
          <a:bodyPr/>
          <a:lstStyle>
            <a:lvl1pPr>
              <a:defRPr/>
            </a:lvl1pPr>
          </a:lstStyle>
          <a:p>
            <a:pPr>
              <a:defRPr/>
            </a:pPr>
            <a:fld id="{346841C7-58AB-42FE-ADAB-EC16DC268E87}" type="slidenum">
              <a:rPr lang="en-US" altLang="ko-KR"/>
              <a:pPr>
                <a:defRPr/>
              </a:pPr>
              <a:t>‹#›</a:t>
            </a:fld>
            <a:endParaRPr lang="en-US" altLang="ko-KR"/>
          </a:p>
        </p:txBody>
      </p:sp>
    </p:spTree>
    <p:extLst>
      <p:ext uri="{BB962C8B-B14F-4D97-AF65-F5344CB8AC3E}">
        <p14:creationId xmlns:p14="http://schemas.microsoft.com/office/powerpoint/2010/main" val="127714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a:prstGeom prst="rect">
            <a:avLst/>
          </a:prstGeo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7"/>
          <p:cNvSpPr>
            <a:spLocks noGrp="1" noChangeArrowheads="1"/>
          </p:cNvSpPr>
          <p:nvPr>
            <p:ph type="sldNum" sz="quarter" idx="10"/>
          </p:nvPr>
        </p:nvSpPr>
        <p:spPr>
          <a:ln/>
        </p:spPr>
        <p:txBody>
          <a:bodyPr/>
          <a:lstStyle>
            <a:lvl1pPr>
              <a:defRPr/>
            </a:lvl1pPr>
          </a:lstStyle>
          <a:p>
            <a:pPr>
              <a:defRPr/>
            </a:pPr>
            <a:fld id="{39A22997-5E86-40D3-90F4-929431783D20}" type="slidenum">
              <a:rPr lang="en-US" altLang="ko-KR"/>
              <a:pPr>
                <a:defRPr/>
              </a:pPr>
              <a:t>‹#›</a:t>
            </a:fld>
            <a:endParaRPr lang="en-US" altLang="ko-KR"/>
          </a:p>
        </p:txBody>
      </p:sp>
    </p:spTree>
    <p:extLst>
      <p:ext uri="{BB962C8B-B14F-4D97-AF65-F5344CB8AC3E}">
        <p14:creationId xmlns:p14="http://schemas.microsoft.com/office/powerpoint/2010/main" val="3651881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1600200"/>
            <a:ext cx="8229600" cy="4525963"/>
          </a:xfrm>
          <a:prstGeom prst="rect">
            <a:avLst/>
          </a:prstGeo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7"/>
          <p:cNvSpPr>
            <a:spLocks noGrp="1" noChangeArrowheads="1"/>
          </p:cNvSpPr>
          <p:nvPr>
            <p:ph type="sldNum" sz="quarter" idx="10"/>
          </p:nvPr>
        </p:nvSpPr>
        <p:spPr>
          <a:ln/>
        </p:spPr>
        <p:txBody>
          <a:bodyPr/>
          <a:lstStyle>
            <a:lvl1pPr>
              <a:defRPr/>
            </a:lvl1pPr>
          </a:lstStyle>
          <a:p>
            <a:pPr>
              <a:defRPr/>
            </a:pPr>
            <a:fld id="{DBBB1B61-3DE4-4614-A43B-BC67A1B4C24F}" type="slidenum">
              <a:rPr lang="en-US" altLang="ko-KR"/>
              <a:pPr>
                <a:defRPr/>
              </a:pPr>
              <a:t>‹#›</a:t>
            </a:fld>
            <a:endParaRPr lang="en-US" altLang="ko-KR"/>
          </a:p>
        </p:txBody>
      </p:sp>
    </p:spTree>
    <p:extLst>
      <p:ext uri="{BB962C8B-B14F-4D97-AF65-F5344CB8AC3E}">
        <p14:creationId xmlns:p14="http://schemas.microsoft.com/office/powerpoint/2010/main" val="2964795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a:prstGeom prst="rect">
            <a:avLst/>
          </a:prstGeo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a:prstGeom prst="rect">
            <a:avLst/>
          </a:prstGeo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7"/>
          <p:cNvSpPr>
            <a:spLocks noGrp="1" noChangeArrowheads="1"/>
          </p:cNvSpPr>
          <p:nvPr>
            <p:ph type="sldNum" sz="quarter" idx="10"/>
          </p:nvPr>
        </p:nvSpPr>
        <p:spPr>
          <a:ln/>
        </p:spPr>
        <p:txBody>
          <a:bodyPr/>
          <a:lstStyle>
            <a:lvl1pPr>
              <a:defRPr/>
            </a:lvl1pPr>
          </a:lstStyle>
          <a:p>
            <a:pPr>
              <a:defRPr/>
            </a:pPr>
            <a:fld id="{08DB0065-EFC5-42D9-92B5-1C2E9CDB2015}" type="slidenum">
              <a:rPr lang="en-US" altLang="ko-KR"/>
              <a:pPr>
                <a:defRPr/>
              </a:pPr>
              <a:t>‹#›</a:t>
            </a:fld>
            <a:endParaRPr lang="en-US" altLang="ko-KR"/>
          </a:p>
        </p:txBody>
      </p:sp>
    </p:spTree>
    <p:extLst>
      <p:ext uri="{BB962C8B-B14F-4D97-AF65-F5344CB8AC3E}">
        <p14:creationId xmlns:p14="http://schemas.microsoft.com/office/powerpoint/2010/main" val="3320542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sldNum" sz="quarter" idx="11"/>
          </p:nvPr>
        </p:nvSpPr>
        <p:spPr>
          <a:ln/>
        </p:spPr>
        <p:txBody>
          <a:bodyPr/>
          <a:lstStyle>
            <a:lvl1pPr>
              <a:defRPr/>
            </a:lvl1pPr>
          </a:lstStyle>
          <a:p>
            <a:pPr>
              <a:defRPr/>
            </a:pPr>
            <a:fld id="{0B8A6C62-300E-4651-BF0B-D2E9C928A01D}" type="slidenum">
              <a:rPr lang="en-US" altLang="ko-KR"/>
              <a:pPr>
                <a:defRPr/>
              </a:pPr>
              <a:t>‹#›</a:t>
            </a:fld>
            <a:endParaRPr lang="en-US" altLang="ko-KR" dirty="0"/>
          </a:p>
        </p:txBody>
      </p:sp>
    </p:spTree>
    <p:extLst>
      <p:ext uri="{BB962C8B-B14F-4D97-AF65-F5344CB8AC3E}">
        <p14:creationId xmlns:p14="http://schemas.microsoft.com/office/powerpoint/2010/main" val="1103912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sldNum" sz="quarter" idx="11"/>
          </p:nvPr>
        </p:nvSpPr>
        <p:spPr>
          <a:ln/>
        </p:spPr>
        <p:txBody>
          <a:bodyPr/>
          <a:lstStyle>
            <a:lvl1pPr>
              <a:defRPr/>
            </a:lvl1pPr>
          </a:lstStyle>
          <a:p>
            <a:pPr>
              <a:defRPr/>
            </a:pPr>
            <a:fld id="{62A91B8D-F6AB-4E0D-9145-B2485F735D8E}" type="slidenum">
              <a:rPr lang="en-US" altLang="ko-KR"/>
              <a:pPr>
                <a:defRPr/>
              </a:pPr>
              <a:t>‹#›</a:t>
            </a:fld>
            <a:endParaRPr lang="en-US" altLang="ko-KR" dirty="0"/>
          </a:p>
        </p:txBody>
      </p:sp>
    </p:spTree>
    <p:extLst>
      <p:ext uri="{BB962C8B-B14F-4D97-AF65-F5344CB8AC3E}">
        <p14:creationId xmlns:p14="http://schemas.microsoft.com/office/powerpoint/2010/main" val="282457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sldNum" sz="quarter" idx="11"/>
          </p:nvPr>
        </p:nvSpPr>
        <p:spPr>
          <a:ln/>
        </p:spPr>
        <p:txBody>
          <a:bodyPr/>
          <a:lstStyle>
            <a:lvl1pPr>
              <a:defRPr/>
            </a:lvl1pPr>
          </a:lstStyle>
          <a:p>
            <a:pPr>
              <a:defRPr/>
            </a:pPr>
            <a:fld id="{C519FC9A-2D9C-49A9-B837-9C8D20332819}" type="slidenum">
              <a:rPr lang="en-US" altLang="ko-KR"/>
              <a:pPr>
                <a:defRPr/>
              </a:pPr>
              <a:t>‹#›</a:t>
            </a:fld>
            <a:endParaRPr lang="en-US" altLang="ko-KR" dirty="0"/>
          </a:p>
        </p:txBody>
      </p:sp>
    </p:spTree>
    <p:extLst>
      <p:ext uri="{BB962C8B-B14F-4D97-AF65-F5344CB8AC3E}">
        <p14:creationId xmlns:p14="http://schemas.microsoft.com/office/powerpoint/2010/main" val="1449256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sldNum" sz="quarter" idx="11"/>
          </p:nvPr>
        </p:nvSpPr>
        <p:spPr>
          <a:ln/>
        </p:spPr>
        <p:txBody>
          <a:bodyPr/>
          <a:lstStyle>
            <a:lvl1pPr>
              <a:defRPr/>
            </a:lvl1pPr>
          </a:lstStyle>
          <a:p>
            <a:pPr>
              <a:defRPr/>
            </a:pPr>
            <a:fld id="{CE5283FF-4A80-449A-84C4-020074499F1B}" type="slidenum">
              <a:rPr lang="en-US" altLang="ko-KR"/>
              <a:pPr>
                <a:defRPr/>
              </a:pPr>
              <a:t>‹#›</a:t>
            </a:fld>
            <a:endParaRPr lang="en-US" altLang="ko-KR" dirty="0"/>
          </a:p>
        </p:txBody>
      </p:sp>
    </p:spTree>
    <p:extLst>
      <p:ext uri="{BB962C8B-B14F-4D97-AF65-F5344CB8AC3E}">
        <p14:creationId xmlns:p14="http://schemas.microsoft.com/office/powerpoint/2010/main" val="4226765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sldNum" sz="quarter" idx="11"/>
          </p:nvPr>
        </p:nvSpPr>
        <p:spPr>
          <a:ln/>
        </p:spPr>
        <p:txBody>
          <a:bodyPr/>
          <a:lstStyle>
            <a:lvl1pPr>
              <a:defRPr/>
            </a:lvl1pPr>
          </a:lstStyle>
          <a:p>
            <a:pPr>
              <a:defRPr/>
            </a:pPr>
            <a:fld id="{B6D08CBC-CFF4-4152-9DBC-C1FDF501BF6C}" type="slidenum">
              <a:rPr lang="en-US" altLang="ko-KR"/>
              <a:pPr>
                <a:defRPr/>
              </a:pPr>
              <a:t>‹#›</a:t>
            </a:fld>
            <a:endParaRPr lang="en-US" altLang="ko-KR" dirty="0"/>
          </a:p>
        </p:txBody>
      </p:sp>
    </p:spTree>
    <p:extLst>
      <p:ext uri="{BB962C8B-B14F-4D97-AF65-F5344CB8AC3E}">
        <p14:creationId xmlns:p14="http://schemas.microsoft.com/office/powerpoint/2010/main" val="408778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sldNum" sz="quarter" idx="11"/>
          </p:nvPr>
        </p:nvSpPr>
        <p:spPr>
          <a:ln/>
        </p:spPr>
        <p:txBody>
          <a:bodyPr/>
          <a:lstStyle>
            <a:lvl1pPr>
              <a:defRPr/>
            </a:lvl1pPr>
          </a:lstStyle>
          <a:p>
            <a:pPr>
              <a:defRPr/>
            </a:pPr>
            <a:fld id="{A882D1DD-954A-4442-A39B-8834C8C350BA}" type="slidenum">
              <a:rPr lang="en-US" altLang="ko-KR"/>
              <a:pPr>
                <a:defRPr/>
              </a:pPr>
              <a:t>‹#›</a:t>
            </a:fld>
            <a:endParaRPr lang="en-US" altLang="ko-KR" dirty="0"/>
          </a:p>
        </p:txBody>
      </p:sp>
    </p:spTree>
    <p:extLst>
      <p:ext uri="{BB962C8B-B14F-4D97-AF65-F5344CB8AC3E}">
        <p14:creationId xmlns:p14="http://schemas.microsoft.com/office/powerpoint/2010/main" val="27725981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sldNum" sz="quarter" idx="11"/>
          </p:nvPr>
        </p:nvSpPr>
        <p:spPr>
          <a:ln/>
        </p:spPr>
        <p:txBody>
          <a:bodyPr/>
          <a:lstStyle>
            <a:lvl1pPr>
              <a:defRPr/>
            </a:lvl1pPr>
          </a:lstStyle>
          <a:p>
            <a:pPr>
              <a:defRPr/>
            </a:pPr>
            <a:fld id="{099339DE-D9E4-4C95-89C1-EEF76AC3E692}" type="slidenum">
              <a:rPr lang="en-US" altLang="ko-KR"/>
              <a:pPr>
                <a:defRPr/>
              </a:pPr>
              <a:t>‹#›</a:t>
            </a:fld>
            <a:endParaRPr lang="en-US" altLang="ko-KR" dirty="0"/>
          </a:p>
        </p:txBody>
      </p:sp>
    </p:spTree>
    <p:extLst>
      <p:ext uri="{BB962C8B-B14F-4D97-AF65-F5344CB8AC3E}">
        <p14:creationId xmlns:p14="http://schemas.microsoft.com/office/powerpoint/2010/main" val="11471284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sldNum" sz="quarter" idx="11"/>
          </p:nvPr>
        </p:nvSpPr>
        <p:spPr>
          <a:ln/>
        </p:spPr>
        <p:txBody>
          <a:bodyPr/>
          <a:lstStyle>
            <a:lvl1pPr>
              <a:defRPr/>
            </a:lvl1pPr>
          </a:lstStyle>
          <a:p>
            <a:pPr>
              <a:defRPr/>
            </a:pPr>
            <a:fld id="{38010724-6914-40D9-B251-EB6729A66672}" type="slidenum">
              <a:rPr lang="en-US" altLang="ko-KR"/>
              <a:pPr>
                <a:defRPr/>
              </a:pPr>
              <a:t>‹#›</a:t>
            </a:fld>
            <a:endParaRPr lang="en-US" altLang="ko-KR" dirty="0"/>
          </a:p>
        </p:txBody>
      </p:sp>
    </p:spTree>
    <p:extLst>
      <p:ext uri="{BB962C8B-B14F-4D97-AF65-F5344CB8AC3E}">
        <p14:creationId xmlns:p14="http://schemas.microsoft.com/office/powerpoint/2010/main" val="2922594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sldNum" sz="quarter" idx="11"/>
          </p:nvPr>
        </p:nvSpPr>
        <p:spPr>
          <a:ln/>
        </p:spPr>
        <p:txBody>
          <a:bodyPr/>
          <a:lstStyle>
            <a:lvl1pPr>
              <a:defRPr/>
            </a:lvl1pPr>
          </a:lstStyle>
          <a:p>
            <a:pPr>
              <a:defRPr/>
            </a:pPr>
            <a:fld id="{2A627DC8-3190-46C7-A024-4B4D745CB8A7}" type="slidenum">
              <a:rPr lang="en-US" altLang="ko-KR"/>
              <a:pPr>
                <a:defRPr/>
              </a:pPr>
              <a:t>‹#›</a:t>
            </a:fld>
            <a:endParaRPr lang="en-US" altLang="ko-KR" dirty="0"/>
          </a:p>
        </p:txBody>
      </p:sp>
    </p:spTree>
    <p:extLst>
      <p:ext uri="{BB962C8B-B14F-4D97-AF65-F5344CB8AC3E}">
        <p14:creationId xmlns:p14="http://schemas.microsoft.com/office/powerpoint/2010/main" val="619196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sldNum" sz="quarter" idx="11"/>
          </p:nvPr>
        </p:nvSpPr>
        <p:spPr>
          <a:ln/>
        </p:spPr>
        <p:txBody>
          <a:bodyPr/>
          <a:lstStyle>
            <a:lvl1pPr>
              <a:defRPr/>
            </a:lvl1pPr>
          </a:lstStyle>
          <a:p>
            <a:pPr>
              <a:defRPr/>
            </a:pPr>
            <a:fld id="{A2C5EEF5-8783-49C8-8352-8D4CF1628634}" type="slidenum">
              <a:rPr lang="en-US" altLang="ko-KR"/>
              <a:pPr>
                <a:defRPr/>
              </a:pPr>
              <a:t>‹#›</a:t>
            </a:fld>
            <a:endParaRPr lang="en-US" altLang="ko-KR" dirty="0"/>
          </a:p>
        </p:txBody>
      </p:sp>
    </p:spTree>
    <p:extLst>
      <p:ext uri="{BB962C8B-B14F-4D97-AF65-F5344CB8AC3E}">
        <p14:creationId xmlns:p14="http://schemas.microsoft.com/office/powerpoint/2010/main" val="2868336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0" y="609600"/>
            <a:ext cx="1943100" cy="54864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5800" y="609600"/>
            <a:ext cx="5676900" cy="54864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sldNum" sz="quarter" idx="11"/>
          </p:nvPr>
        </p:nvSpPr>
        <p:spPr>
          <a:ln/>
        </p:spPr>
        <p:txBody>
          <a:bodyPr/>
          <a:lstStyle>
            <a:lvl1pPr>
              <a:defRPr/>
            </a:lvl1pPr>
          </a:lstStyle>
          <a:p>
            <a:pPr>
              <a:defRPr/>
            </a:pPr>
            <a:fld id="{F3D10A4B-4E4C-46D7-9DE1-18F0F7C3D5E8}" type="slidenum">
              <a:rPr lang="en-US" altLang="ko-KR"/>
              <a:pPr>
                <a:defRPr/>
              </a:pPr>
              <a:t>‹#›</a:t>
            </a:fld>
            <a:endParaRPr lang="en-US" altLang="ko-KR" dirty="0"/>
          </a:p>
        </p:txBody>
      </p:sp>
    </p:spTree>
    <p:extLst>
      <p:ext uri="{BB962C8B-B14F-4D97-AF65-F5344CB8AC3E}">
        <p14:creationId xmlns:p14="http://schemas.microsoft.com/office/powerpoint/2010/main" val="1028010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4583" name="Rectangle 7"/>
          <p:cNvSpPr>
            <a:spLocks noGrp="1" noChangeArrowheads="1"/>
          </p:cNvSpPr>
          <p:nvPr>
            <p:ph type="sldNum" sz="quarter" idx="4"/>
          </p:nvPr>
        </p:nvSpPr>
        <p:spPr bwMode="auto">
          <a:xfrm>
            <a:off x="3527425" y="656748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latinLnBrk="1">
              <a:lnSpc>
                <a:spcPct val="100000"/>
              </a:lnSpc>
              <a:defRPr sz="1400">
                <a:latin typeface="굴림" pitchFamily="50" charset="-127"/>
                <a:ea typeface="굴림" pitchFamily="50" charset="-127"/>
              </a:defRPr>
            </a:lvl1pPr>
          </a:lstStyle>
          <a:p>
            <a:pPr>
              <a:defRPr/>
            </a:pPr>
            <a:fld id="{36A421F1-C2CE-48F3-B0DB-FADCB276D8B9}" type="slidenum">
              <a:rPr lang="en-US" altLang="ko-KR"/>
              <a:pPr>
                <a:defRPr/>
              </a:pPr>
              <a:t>‹#›</a:t>
            </a:fld>
            <a:endParaRPr lang="en-US" altLang="ko-KR"/>
          </a:p>
        </p:txBody>
      </p:sp>
      <p:sp>
        <p:nvSpPr>
          <p:cNvPr id="1027" name="Text Box 15"/>
          <p:cNvSpPr txBox="1">
            <a:spLocks noChangeArrowheads="1"/>
          </p:cNvSpPr>
          <p:nvPr userDrawn="1"/>
        </p:nvSpPr>
        <p:spPr bwMode="auto">
          <a:xfrm>
            <a:off x="31750" y="6553200"/>
            <a:ext cx="30527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ko-KR" sz="1100" dirty="0" smtClean="0">
                <a:solidFill>
                  <a:srgbClr val="333333"/>
                </a:solidFill>
                <a:latin typeface="Arial" charset="0"/>
              </a:rPr>
              <a:t>CONFIDENTIAL ⓒ</a:t>
            </a:r>
            <a:r>
              <a:rPr lang="en-US" altLang="ko-KR" sz="1100" dirty="0" smtClean="0">
                <a:solidFill>
                  <a:srgbClr val="333333"/>
                </a:solidFill>
                <a:latin typeface="Arial" charset="0"/>
                <a:ea typeface="돋움" pitchFamily="50" charset="-127"/>
              </a:rPr>
              <a:t> LG Display Co., Ltd. 2015</a:t>
            </a:r>
            <a:endParaRPr lang="en-US" altLang="ko-KR" sz="1100" dirty="0">
              <a:solidFill>
                <a:srgbClr val="333333"/>
              </a:solidFill>
              <a:latin typeface="Arial" charset="0"/>
              <a:ea typeface="돋움" pitchFamily="50" charset="-127"/>
            </a:endParaRPr>
          </a:p>
        </p:txBody>
      </p:sp>
      <p:pic>
        <p:nvPicPr>
          <p:cNvPr id="1028" name="Picture 16"/>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451725" y="6524625"/>
            <a:ext cx="167798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9" name="Line 19"/>
          <p:cNvSpPr>
            <a:spLocks noChangeShapeType="1"/>
          </p:cNvSpPr>
          <p:nvPr userDrawn="1"/>
        </p:nvSpPr>
        <p:spPr bwMode="auto">
          <a:xfrm>
            <a:off x="34925" y="6524625"/>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030" name="Line 20"/>
          <p:cNvSpPr>
            <a:spLocks noChangeShapeType="1"/>
          </p:cNvSpPr>
          <p:nvPr userDrawn="1"/>
        </p:nvSpPr>
        <p:spPr bwMode="auto">
          <a:xfrm>
            <a:off x="1588" y="420688"/>
            <a:ext cx="91424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00" r:id="rId1"/>
    <p:sldLayoutId id="2147484579" r:id="rId2"/>
    <p:sldLayoutId id="2147484580" r:id="rId3"/>
    <p:sldLayoutId id="2147484581" r:id="rId4"/>
    <p:sldLayoutId id="2147484582" r:id="rId5"/>
    <p:sldLayoutId id="2147484583" r:id="rId6"/>
    <p:sldLayoutId id="2147484584" r:id="rId7"/>
    <p:sldLayoutId id="2147484585" r:id="rId8"/>
    <p:sldLayoutId id="2147484586" r:id="rId9"/>
    <p:sldLayoutId id="2147484587" r:id="rId10"/>
    <p:sldLayoutId id="2147484588" r:id="rId11"/>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034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latinLnBrk="1">
              <a:lnSpc>
                <a:spcPct val="100000"/>
              </a:lnSpc>
              <a:defRPr sz="1400">
                <a:latin typeface="+mn-lt"/>
                <a:ea typeface="굴림" pitchFamily="50" charset="-127"/>
              </a:defRPr>
            </a:lvl1pPr>
          </a:lstStyle>
          <a:p>
            <a:pPr>
              <a:defRPr/>
            </a:pPr>
            <a:endParaRPr lang="en-US" altLang="ko-KR"/>
          </a:p>
        </p:txBody>
      </p:sp>
      <p:sp>
        <p:nvSpPr>
          <p:cNvPr id="103429" name="Rectangle 5"/>
          <p:cNvSpPr>
            <a:spLocks noGrp="1" noChangeArrowheads="1"/>
          </p:cNvSpPr>
          <p:nvPr>
            <p:ph type="sldNum" sz="quarter" idx="4"/>
          </p:nvPr>
        </p:nvSpPr>
        <p:spPr bwMode="auto">
          <a:xfrm>
            <a:off x="2881313" y="6556375"/>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1">
              <a:lnSpc>
                <a:spcPct val="100000"/>
              </a:lnSpc>
              <a:defRPr sz="1000">
                <a:latin typeface="+mn-lt"/>
                <a:ea typeface="굴림" pitchFamily="50" charset="-127"/>
              </a:defRPr>
            </a:lvl1pPr>
          </a:lstStyle>
          <a:p>
            <a:pPr>
              <a:defRPr/>
            </a:pPr>
            <a:fld id="{594ECC61-D6F6-44C1-830B-9E43F914E497}" type="slidenum">
              <a:rPr lang="en-US" altLang="ko-KR"/>
              <a:pPr>
                <a:defRPr/>
              </a:pPr>
              <a:t>‹#›</a:t>
            </a:fld>
            <a:endParaRPr lang="en-US" altLang="ko-KR" dirty="0"/>
          </a:p>
        </p:txBody>
      </p:sp>
      <p:sp>
        <p:nvSpPr>
          <p:cNvPr id="2054" name="Line 6"/>
          <p:cNvSpPr>
            <a:spLocks noChangeShapeType="1"/>
          </p:cNvSpPr>
          <p:nvPr userDrawn="1"/>
        </p:nvSpPr>
        <p:spPr bwMode="auto">
          <a:xfrm>
            <a:off x="1588" y="6526213"/>
            <a:ext cx="91440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2055" name="Text Box 7"/>
          <p:cNvSpPr txBox="1">
            <a:spLocks noChangeArrowheads="1"/>
          </p:cNvSpPr>
          <p:nvPr userDrawn="1"/>
        </p:nvSpPr>
        <p:spPr bwMode="auto">
          <a:xfrm>
            <a:off x="0" y="6557963"/>
            <a:ext cx="30527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ko-KR" sz="1100" dirty="0" smtClean="0">
                <a:solidFill>
                  <a:srgbClr val="333333"/>
                </a:solidFill>
                <a:latin typeface="Arial" charset="0"/>
              </a:rPr>
              <a:t>CONFIDENTIAL ⓒ</a:t>
            </a:r>
            <a:r>
              <a:rPr lang="en-US" altLang="ko-KR" sz="1100" dirty="0" smtClean="0">
                <a:solidFill>
                  <a:srgbClr val="333333"/>
                </a:solidFill>
                <a:latin typeface="Arial" charset="0"/>
                <a:ea typeface="돋움" pitchFamily="50" charset="-127"/>
              </a:rPr>
              <a:t> LG Display Co., Ltd. 2015</a:t>
            </a:r>
            <a:endParaRPr lang="en-US" altLang="ko-KR" sz="1100" dirty="0">
              <a:solidFill>
                <a:srgbClr val="333333"/>
              </a:solidFill>
              <a:latin typeface="Arial" charset="0"/>
              <a:ea typeface="돋움" pitchFamily="50" charset="-127"/>
            </a:endParaRPr>
          </a:p>
        </p:txBody>
      </p:sp>
      <p:sp>
        <p:nvSpPr>
          <p:cNvPr id="2056" name="Line 8"/>
          <p:cNvSpPr>
            <a:spLocks noChangeShapeType="1"/>
          </p:cNvSpPr>
          <p:nvPr userDrawn="1"/>
        </p:nvSpPr>
        <p:spPr bwMode="auto">
          <a:xfrm>
            <a:off x="1588" y="420688"/>
            <a:ext cx="91424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pic>
        <p:nvPicPr>
          <p:cNvPr id="2057" name="Picture 10" descr="LG Display_English"/>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89850" y="6602413"/>
            <a:ext cx="1150938"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589" r:id="rId1"/>
    <p:sldLayoutId id="2147484590" r:id="rId2"/>
    <p:sldLayoutId id="2147484591" r:id="rId3"/>
    <p:sldLayoutId id="2147484592" r:id="rId4"/>
    <p:sldLayoutId id="2147484593" r:id="rId5"/>
    <p:sldLayoutId id="2147484594" r:id="rId6"/>
    <p:sldLayoutId id="2147484595" r:id="rId7"/>
    <p:sldLayoutId id="2147484596" r:id="rId8"/>
    <p:sldLayoutId id="2147484597" r:id="rId9"/>
    <p:sldLayoutId id="2147484598" r:id="rId10"/>
    <p:sldLayoutId id="2147484599" r:id="rId11"/>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png"/><Relationship Id="rId7" Type="http://schemas.openxmlformats.org/officeDocument/2006/relationships/image" Target="../media/image12.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9" Type="http://schemas.openxmlformats.org/officeDocument/2006/relationships/image" Target="../media/image14.wmf"/></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3.wmf"/></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jpeg"/></Relationships>
</file>

<file path=ppt/slides/_rels/slide4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63.jpeg"/></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wmf"/></Relationships>
</file>

<file path=ppt/slides/_rels/slide48.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78.wmf"/></Relationships>
</file>

<file path=ppt/slides/_rels/slide50.x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2.wmf"/><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81.wmf"/><Relationship Id="rId5" Type="http://schemas.openxmlformats.org/officeDocument/2006/relationships/image" Target="../media/image78.wmf"/><Relationship Id="rId4" Type="http://schemas.openxmlformats.org/officeDocument/2006/relationships/image" Target="../media/image80.wmf"/></Relationships>
</file>

<file path=ppt/slides/_rels/slide51.xml.rels><?xml version="1.0" encoding="UTF-8" standalone="yes"?>
<Relationships xmlns="http://schemas.openxmlformats.org/package/2006/relationships"><Relationship Id="rId8" Type="http://schemas.openxmlformats.org/officeDocument/2006/relationships/image" Target="../media/image88.jpe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5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91.jpeg"/><Relationship Id="rId4" Type="http://schemas.openxmlformats.org/officeDocument/2006/relationships/image" Target="../media/image90.png"/></Relationships>
</file>

<file path=ppt/slides/_rels/slide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95.wmf"/></Relationships>
</file>

<file path=ppt/slides/_rels/slide5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5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png"/></Relationships>
</file>

<file path=ppt/slides/_rels/slide5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jpeg"/><Relationship Id="rId4" Type="http://schemas.openxmlformats.org/officeDocument/2006/relationships/image" Target="../media/image104.jpeg"/></Relationships>
</file>

<file path=ppt/slides/_rels/slide6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6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113.jpeg"/></Relationships>
</file>

<file path=ppt/slides/_rels/slide67.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115.jpeg"/></Relationships>
</file>

<file path=ppt/slides/_rels/slide6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117.jpeg"/></Relationships>
</file>

<file path=ppt/slides/_rels/slide69.xml.rels><?xml version="1.0" encoding="UTF-8" standalone="yes"?>
<Relationships xmlns="http://schemas.openxmlformats.org/package/2006/relationships"><Relationship Id="rId8" Type="http://schemas.openxmlformats.org/officeDocument/2006/relationships/image" Target="../media/image123.jpeg"/><Relationship Id="rId3" Type="http://schemas.openxmlformats.org/officeDocument/2006/relationships/image" Target="../media/image118.jpeg"/><Relationship Id="rId7" Type="http://schemas.openxmlformats.org/officeDocument/2006/relationships/image" Target="../media/image122.jpeg"/><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image" Target="../media/image121.jpeg"/><Relationship Id="rId5" Type="http://schemas.openxmlformats.org/officeDocument/2006/relationships/image" Target="../media/image120.jpeg"/><Relationship Id="rId4" Type="http://schemas.openxmlformats.org/officeDocument/2006/relationships/image" Target="../media/image119.jpeg"/></Relationships>
</file>

<file path=ppt/slides/_rels/slide70.xml.rels><?xml version="1.0" encoding="UTF-8" standalone="yes"?>
<Relationships xmlns="http://schemas.openxmlformats.org/package/2006/relationships"><Relationship Id="rId3" Type="http://schemas.openxmlformats.org/officeDocument/2006/relationships/image" Target="../media/image124.png"/><Relationship Id="rId7" Type="http://schemas.openxmlformats.org/officeDocument/2006/relationships/image" Target="../media/image58.wmf"/><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7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image" Target="../media/image130.jpeg"/><Relationship Id="rId4" Type="http://schemas.openxmlformats.org/officeDocument/2006/relationships/image" Target="../media/image129.jpeg"/></Relationships>
</file>

<file path=ppt/slides/_rels/slide72.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132.jpeg"/></Relationships>
</file>

<file path=ppt/slides/_rels/slide73.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136.png"/><Relationship Id="rId5" Type="http://schemas.openxmlformats.org/officeDocument/2006/relationships/image" Target="../media/image135.wmf"/><Relationship Id="rId4" Type="http://schemas.openxmlformats.org/officeDocument/2006/relationships/image" Target="../media/image134.w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141.png"/><Relationship Id="rId4" Type="http://schemas.openxmlformats.org/officeDocument/2006/relationships/image" Target="../media/image14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143.jpeg"/></Relationships>
</file>

<file path=ppt/slides/_rels/slide81.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145.jpeg"/></Relationships>
</file>

<file path=ppt/slides/_rels/slide82.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78.xml"/><Relationship Id="rId1" Type="http://schemas.openxmlformats.org/officeDocument/2006/relationships/slideLayout" Target="../slideLayouts/slideLayout7.xml"/><Relationship Id="rId5" Type="http://schemas.openxmlformats.org/officeDocument/2006/relationships/image" Target="../media/image148.png"/><Relationship Id="rId4" Type="http://schemas.openxmlformats.org/officeDocument/2006/relationships/image" Target="../media/image147.jpeg"/></Relationships>
</file>

<file path=ppt/slides/_rels/slide83.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150.jpeg"/></Relationships>
</file>

<file path=ppt/slides/_rels/slide84.xml.rels><?xml version="1.0" encoding="UTF-8" standalone="yes"?>
<Relationships xmlns="http://schemas.openxmlformats.org/package/2006/relationships"><Relationship Id="rId3" Type="http://schemas.openxmlformats.org/officeDocument/2006/relationships/image" Target="../media/image151.png"/><Relationship Id="rId7" Type="http://schemas.openxmlformats.org/officeDocument/2006/relationships/image" Target="../media/image58.wmf"/><Relationship Id="rId2" Type="http://schemas.openxmlformats.org/officeDocument/2006/relationships/notesSlide" Target="../notesSlides/notesSlide80.xml"/><Relationship Id="rId1" Type="http://schemas.openxmlformats.org/officeDocument/2006/relationships/slideLayout" Target="../slideLayouts/slideLayout7.xml"/><Relationship Id="rId6" Type="http://schemas.openxmlformats.org/officeDocument/2006/relationships/image" Target="../media/image152.png"/><Relationship Id="rId5" Type="http://schemas.openxmlformats.org/officeDocument/2006/relationships/image" Target="../media/image126.png"/><Relationship Id="rId4" Type="http://schemas.openxmlformats.org/officeDocument/2006/relationships/image" Target="../media/image125.png"/></Relationships>
</file>

<file path=ppt/slides/_rels/slide85.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81.xml"/><Relationship Id="rId1" Type="http://schemas.openxmlformats.org/officeDocument/2006/relationships/slideLayout" Target="../slideLayouts/slideLayout7.xml"/><Relationship Id="rId5" Type="http://schemas.openxmlformats.org/officeDocument/2006/relationships/image" Target="../media/image155.jpeg"/><Relationship Id="rId4" Type="http://schemas.openxmlformats.org/officeDocument/2006/relationships/image" Target="../media/image154.jpeg"/></Relationships>
</file>

<file path=ppt/slides/_rels/slide86.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163.png"/></Relationships>
</file>

<file path=ppt/slides/_rels/slide9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165.png"/></Relationships>
</file>

<file path=ppt/slides/_rels/slide9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90.xml"/><Relationship Id="rId1" Type="http://schemas.openxmlformats.org/officeDocument/2006/relationships/slideLayout" Target="../slideLayouts/slideLayout7.xml"/><Relationship Id="rId5" Type="http://schemas.openxmlformats.org/officeDocument/2006/relationships/image" Target="../media/image168.png"/><Relationship Id="rId4" Type="http://schemas.openxmlformats.org/officeDocument/2006/relationships/image" Target="../media/image167.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92.xml"/><Relationship Id="rId1" Type="http://schemas.openxmlformats.org/officeDocument/2006/relationships/slideLayout" Target="../slideLayouts/slideLayout7.xml"/><Relationship Id="rId4" Type="http://schemas.openxmlformats.org/officeDocument/2006/relationships/image" Target="../media/image170.jpeg"/></Relationships>
</file>

<file path=ppt/slides/_rels/slide97.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93.xml"/><Relationship Id="rId1" Type="http://schemas.openxmlformats.org/officeDocument/2006/relationships/slideLayout" Target="../slideLayouts/slideLayout7.xml"/><Relationship Id="rId5" Type="http://schemas.openxmlformats.org/officeDocument/2006/relationships/image" Target="../media/image173.jpeg"/><Relationship Id="rId4" Type="http://schemas.openxmlformats.org/officeDocument/2006/relationships/image" Target="../media/image172.jpeg"/></Relationships>
</file>

<file path=ppt/slides/_rels/slide98.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94.xml"/><Relationship Id="rId1" Type="http://schemas.openxmlformats.org/officeDocument/2006/relationships/slideLayout" Target="../slideLayouts/slideLayout7.xml"/><Relationship Id="rId4" Type="http://schemas.openxmlformats.org/officeDocument/2006/relationships/image" Target="../media/image175.jpeg"/></Relationships>
</file>

<file path=ppt/slides/_rels/slide99.xml.rels><?xml version="1.0" encoding="UTF-8" standalone="yes"?>
<Relationships xmlns="http://schemas.openxmlformats.org/package/2006/relationships"><Relationship Id="rId3" Type="http://schemas.openxmlformats.org/officeDocument/2006/relationships/image" Target="../media/image176.jpeg"/><Relationship Id="rId7" Type="http://schemas.openxmlformats.org/officeDocument/2006/relationships/image" Target="../media/image180.png"/><Relationship Id="rId2" Type="http://schemas.openxmlformats.org/officeDocument/2006/relationships/notesSlide" Target="../notesSlides/notesSlide95.xml"/><Relationship Id="rId1" Type="http://schemas.openxmlformats.org/officeDocument/2006/relationships/slideLayout" Target="../slideLayouts/slideLayout7.xml"/><Relationship Id="rId6" Type="http://schemas.openxmlformats.org/officeDocument/2006/relationships/image" Target="../media/image179.jpeg"/><Relationship Id="rId5" Type="http://schemas.openxmlformats.org/officeDocument/2006/relationships/image" Target="../media/image178.jpeg"/><Relationship Id="rId4" Type="http://schemas.openxmlformats.org/officeDocument/2006/relationships/image" Target="../media/image177.png"/></Relationships>
</file>

<file path=ppt/slides/_rels/slide100.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96.xml"/><Relationship Id="rId1" Type="http://schemas.openxmlformats.org/officeDocument/2006/relationships/slideLayout" Target="../slideLayouts/slideLayout7.xml"/><Relationship Id="rId4" Type="http://schemas.openxmlformats.org/officeDocument/2006/relationships/image" Target="../media/image182.png"/></Relationships>
</file>

<file path=ppt/slides/_rels/slide101.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97.xml"/><Relationship Id="rId1" Type="http://schemas.openxmlformats.org/officeDocument/2006/relationships/slideLayout" Target="../slideLayouts/slideLayout7.xml"/><Relationship Id="rId4" Type="http://schemas.openxmlformats.org/officeDocument/2006/relationships/image" Target="../media/image184.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notesSlide" Target="../notesSlides/notesSlide101.xml"/><Relationship Id="rId1" Type="http://schemas.openxmlformats.org/officeDocument/2006/relationships/slideLayout" Target="../slideLayouts/slideLayout7.xml"/><Relationship Id="rId4" Type="http://schemas.openxmlformats.org/officeDocument/2006/relationships/image" Target="../media/image188.png"/></Relationships>
</file>

<file path=ppt/slides/_rels/slide10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05.xml"/><Relationship Id="rId1" Type="http://schemas.openxmlformats.org/officeDocument/2006/relationships/slideLayout" Target="../slideLayouts/slideLayout7.xml"/><Relationship Id="rId4" Type="http://schemas.openxmlformats.org/officeDocument/2006/relationships/image" Target="../media/image192.png"/></Relationships>
</file>

<file path=ppt/slides/_rels/slide110.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06.xml"/><Relationship Id="rId1" Type="http://schemas.openxmlformats.org/officeDocument/2006/relationships/slideLayout" Target="../slideLayouts/slideLayout7.xml"/><Relationship Id="rId5" Type="http://schemas.openxmlformats.org/officeDocument/2006/relationships/image" Target="../media/image58.wmf"/><Relationship Id="rId4" Type="http://schemas.openxmlformats.org/officeDocument/2006/relationships/image" Target="../media/image194.jpe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2" Type="http://schemas.openxmlformats.org/officeDocument/2006/relationships/notesSlide" Target="../notesSlides/notesSlide110.xml"/><Relationship Id="rId1"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116.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13.xml"/><Relationship Id="rId1" Type="http://schemas.openxmlformats.org/officeDocument/2006/relationships/slideLayout" Target="../slideLayouts/slideLayout7.xml"/><Relationship Id="rId4" Type="http://schemas.openxmlformats.org/officeDocument/2006/relationships/image" Target="../media/image206.wmf"/></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208.png"/></Relationships>
</file>

<file path=ppt/slides/_rels/slide122.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17.xml"/><Relationship Id="rId1" Type="http://schemas.openxmlformats.org/officeDocument/2006/relationships/slideLayout" Target="../slideLayouts/slideLayout7.xml"/><Relationship Id="rId5" Type="http://schemas.openxmlformats.org/officeDocument/2006/relationships/image" Target="../media/image212.wmf"/><Relationship Id="rId4" Type="http://schemas.openxmlformats.org/officeDocument/2006/relationships/image" Target="../media/image211.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119.xml"/><Relationship Id="rId1" Type="http://schemas.openxmlformats.org/officeDocument/2006/relationships/slideLayout" Target="../slideLayouts/slideLayout7.xml"/><Relationship Id="rId4" Type="http://schemas.openxmlformats.org/officeDocument/2006/relationships/image" Target="../media/image208.png"/></Relationships>
</file>

<file path=ppt/slides/_rels/slide127.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notesSlide" Target="../notesSlides/notesSlide120.xml"/><Relationship Id="rId1" Type="http://schemas.openxmlformats.org/officeDocument/2006/relationships/slideLayout" Target="../slideLayouts/slideLayout7.xml"/><Relationship Id="rId4" Type="http://schemas.openxmlformats.org/officeDocument/2006/relationships/image" Target="../media/image216.jpeg"/></Relationships>
</file>

<file path=ppt/slides/_rels/slide128.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124.xml"/><Relationship Id="rId1" Type="http://schemas.openxmlformats.org/officeDocument/2006/relationships/slideLayout" Target="../slideLayouts/slideLayout7.xml"/><Relationship Id="rId5" Type="http://schemas.openxmlformats.org/officeDocument/2006/relationships/image" Target="../media/image221.jpeg"/><Relationship Id="rId4" Type="http://schemas.openxmlformats.org/officeDocument/2006/relationships/image" Target="../media/image220.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notesSlide" Target="../notesSlides/notesSlide126.xml"/><Relationship Id="rId1" Type="http://schemas.openxmlformats.org/officeDocument/2006/relationships/slideLayout" Target="../slideLayouts/slideLayout7.xml"/><Relationship Id="rId4" Type="http://schemas.openxmlformats.org/officeDocument/2006/relationships/image" Target="../media/image223.jpeg"/></Relationships>
</file>

<file path=ppt/slides/_rels/slide134.x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notesSlide" Target="../notesSlides/notesSlide127.xml"/><Relationship Id="rId1" Type="http://schemas.openxmlformats.org/officeDocument/2006/relationships/slideLayout" Target="../slideLayouts/slideLayout7.xml"/><Relationship Id="rId4" Type="http://schemas.openxmlformats.org/officeDocument/2006/relationships/image" Target="../media/image225.wmf"/></Relationships>
</file>

<file path=ppt/slides/_rels/slide135.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29.xml"/><Relationship Id="rId1" Type="http://schemas.openxmlformats.org/officeDocument/2006/relationships/slideLayout" Target="../slideLayouts/slideLayout7.xml"/><Relationship Id="rId4" Type="http://schemas.openxmlformats.org/officeDocument/2006/relationships/image" Target="../media/image228.png"/></Relationships>
</file>

<file path=ppt/slides/_rels/slide137.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notesSlide" Target="../notesSlides/notesSlide130.xml"/><Relationship Id="rId1" Type="http://schemas.openxmlformats.org/officeDocument/2006/relationships/slideLayout" Target="../slideLayouts/slideLayout7.xml"/><Relationship Id="rId4" Type="http://schemas.openxmlformats.org/officeDocument/2006/relationships/image" Target="../media/image230.jpe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132.xml"/><Relationship Id="rId1" Type="http://schemas.openxmlformats.org/officeDocument/2006/relationships/slideLayout" Target="../slideLayouts/slideLayout7.xml"/><Relationship Id="rId4" Type="http://schemas.openxmlformats.org/officeDocument/2006/relationships/image" Target="../media/image232.wmf"/></Relationships>
</file>

<file path=ppt/slides/_rels/slide140.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133.xml"/><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141.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236.jpeg"/><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237.jpeg"/></Relationships>
</file>

<file path=ppt/slides/_rels/slide143.xml.rels><?xml version="1.0" encoding="UTF-8" standalone="yes"?>
<Relationships xmlns="http://schemas.openxmlformats.org/package/2006/relationships"><Relationship Id="rId3" Type="http://schemas.openxmlformats.org/officeDocument/2006/relationships/image" Target="../media/image238.jpeg"/><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239.jpeg"/></Relationships>
</file>

<file path=ppt/slides/_rels/slide144.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40.png"/><Relationship Id="rId7" Type="http://schemas.openxmlformats.org/officeDocument/2006/relationships/image" Target="../media/image208.png"/><Relationship Id="rId2" Type="http://schemas.openxmlformats.org/officeDocument/2006/relationships/notesSlide" Target="../notesSlides/notesSlide137.xml"/><Relationship Id="rId1" Type="http://schemas.openxmlformats.org/officeDocument/2006/relationships/slideLayout" Target="../slideLayouts/slideLayout7.x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1.png"/><Relationship Id="rId9" Type="http://schemas.openxmlformats.org/officeDocument/2006/relationships/image" Target="../media/image24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246.jpeg"/><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139.xml"/><Relationship Id="rId1" Type="http://schemas.openxmlformats.org/officeDocument/2006/relationships/slideLayout" Target="../slideLayouts/slideLayout7.xml"/><Relationship Id="rId4" Type="http://schemas.openxmlformats.org/officeDocument/2006/relationships/image" Target="../media/image248.pn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8" Type="http://schemas.openxmlformats.org/officeDocument/2006/relationships/image" Target="../media/image253.jpeg"/><Relationship Id="rId3" Type="http://schemas.openxmlformats.org/officeDocument/2006/relationships/image" Target="../media/image250.jpeg"/><Relationship Id="rId7" Type="http://schemas.openxmlformats.org/officeDocument/2006/relationships/image" Target="../media/image252.jpeg"/><Relationship Id="rId2" Type="http://schemas.openxmlformats.org/officeDocument/2006/relationships/notesSlide" Target="../notesSlides/notesSlide142.xml"/><Relationship Id="rId1" Type="http://schemas.openxmlformats.org/officeDocument/2006/relationships/slideLayout" Target="../slideLayouts/slideLayout7.xml"/><Relationship Id="rId6" Type="http://schemas.openxmlformats.org/officeDocument/2006/relationships/image" Target="../media/image251.jpeg"/><Relationship Id="rId5" Type="http://schemas.openxmlformats.org/officeDocument/2006/relationships/image" Target="../media/image240.png"/><Relationship Id="rId10" Type="http://schemas.openxmlformats.org/officeDocument/2006/relationships/image" Target="../media/image255.png"/><Relationship Id="rId4" Type="http://schemas.openxmlformats.org/officeDocument/2006/relationships/image" Target="../media/image241.png"/><Relationship Id="rId9" Type="http://schemas.openxmlformats.org/officeDocument/2006/relationships/image" Target="../media/image254.jpeg"/></Relationships>
</file>

<file path=ppt/slides/_rels/slide151.xml.rels><?xml version="1.0" encoding="UTF-8" standalone="yes"?>
<Relationships xmlns="http://schemas.openxmlformats.org/package/2006/relationships"><Relationship Id="rId3" Type="http://schemas.openxmlformats.org/officeDocument/2006/relationships/image" Target="../media/image256.jpeg"/><Relationship Id="rId2" Type="http://schemas.openxmlformats.org/officeDocument/2006/relationships/notesSlide" Target="../notesSlides/notesSlide143.xml"/><Relationship Id="rId1" Type="http://schemas.openxmlformats.org/officeDocument/2006/relationships/slideLayout" Target="../slideLayouts/slideLayout7.xml"/><Relationship Id="rId5" Type="http://schemas.openxmlformats.org/officeDocument/2006/relationships/image" Target="../media/image258.jpeg"/><Relationship Id="rId4" Type="http://schemas.openxmlformats.org/officeDocument/2006/relationships/image" Target="../media/image257.jpe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259.jpeg"/><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46.xml"/><Relationship Id="rId1" Type="http://schemas.openxmlformats.org/officeDocument/2006/relationships/slideLayout" Target="../slideLayouts/slideLayout7.xml"/><Relationship Id="rId4" Type="http://schemas.openxmlformats.org/officeDocument/2006/relationships/image" Target="../media/image213.png"/></Relationships>
</file>

<file path=ppt/slides/_rels/slide15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47.xml"/><Relationship Id="rId1" Type="http://schemas.openxmlformats.org/officeDocument/2006/relationships/slideLayout" Target="../slideLayouts/slideLayout7.xml"/><Relationship Id="rId6" Type="http://schemas.openxmlformats.org/officeDocument/2006/relationships/image" Target="../media/image263.png"/><Relationship Id="rId5" Type="http://schemas.openxmlformats.org/officeDocument/2006/relationships/image" Target="../media/image262.png"/><Relationship Id="rId4" Type="http://schemas.openxmlformats.org/officeDocument/2006/relationships/image" Target="../media/image261.png"/></Relationships>
</file>

<file path=ppt/slides/_rels/slide156.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notesSlide" Target="../notesSlides/notesSlide148.xml"/><Relationship Id="rId1" Type="http://schemas.openxmlformats.org/officeDocument/2006/relationships/slideLayout" Target="../slideLayouts/slideLayout7.xml"/><Relationship Id="rId4" Type="http://schemas.openxmlformats.org/officeDocument/2006/relationships/image" Target="../media/image265.png"/></Relationships>
</file>

<file path=ppt/slides/_rels/slide157.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267.jpeg"/><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268.jpeg"/><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269.jpeg"/><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70.jpeg"/><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55.xml"/><Relationship Id="rId1" Type="http://schemas.openxmlformats.org/officeDocument/2006/relationships/slideLayout" Target="../slideLayouts/slideLayout7.xml"/><Relationship Id="rId4" Type="http://schemas.openxmlformats.org/officeDocument/2006/relationships/image" Target="../media/image272.jpeg"/></Relationships>
</file>

<file path=ppt/slides/_rels/slide164.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156.xml"/><Relationship Id="rId1" Type="http://schemas.openxmlformats.org/officeDocument/2006/relationships/slideLayout" Target="../slideLayouts/slideLayout7.xml"/><Relationship Id="rId4" Type="http://schemas.openxmlformats.org/officeDocument/2006/relationships/image" Target="../media/image274.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275.jpe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276.jpe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277.jpe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278.jpe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279.jpe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280.jpe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281.jpe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282.jpe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283.jpe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284.jpe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285.jpe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286.jpe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287.jpe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288.jpe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289.jpe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image" Target="../media/image290.jpe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291.jpe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292.jpe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159.xml"/><Relationship Id="rId1" Type="http://schemas.openxmlformats.org/officeDocument/2006/relationships/slideLayout" Target="../slideLayouts/slideLayout7.xml"/><Relationship Id="rId4" Type="http://schemas.openxmlformats.org/officeDocument/2006/relationships/image" Target="../media/image294.png"/></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3" Type="http://schemas.openxmlformats.org/officeDocument/2006/relationships/image" Target="../media/image297.jpeg"/><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66.xml"/><Relationship Id="rId1" Type="http://schemas.openxmlformats.org/officeDocument/2006/relationships/slideLayout" Target="../slideLayouts/slideLayout7.xml"/><Relationship Id="rId4" Type="http://schemas.openxmlformats.org/officeDocument/2006/relationships/image" Target="../media/image58.wmf"/></Relationships>
</file>

<file path=ppt/slides/_rels/slide1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0" y="1387475"/>
            <a:ext cx="9144000" cy="136366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099" name="Rectangle 4"/>
          <p:cNvSpPr>
            <a:spLocks noChangeArrowheads="1"/>
          </p:cNvSpPr>
          <p:nvPr/>
        </p:nvSpPr>
        <p:spPr bwMode="auto">
          <a:xfrm>
            <a:off x="0" y="1449388"/>
            <a:ext cx="9144000" cy="1222375"/>
          </a:xfrm>
          <a:prstGeom prst="rect">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100" name="WordArt 6"/>
          <p:cNvSpPr>
            <a:spLocks noChangeArrowheads="1" noChangeShapeType="1" noTextEdit="1"/>
          </p:cNvSpPr>
          <p:nvPr/>
        </p:nvSpPr>
        <p:spPr bwMode="auto">
          <a:xfrm>
            <a:off x="1692275" y="1643063"/>
            <a:ext cx="5975350" cy="777875"/>
          </a:xfrm>
          <a:prstGeom prst="rect">
            <a:avLst/>
          </a:prstGeom>
        </p:spPr>
        <p:txBody>
          <a:bodyPr wrap="none" fromWordArt="1">
            <a:prstTxWarp prst="textPlain">
              <a:avLst>
                <a:gd name="adj" fmla="val 50000"/>
              </a:avLst>
            </a:prstTxWarp>
          </a:bodyPr>
          <a:lstStyle/>
          <a:p>
            <a:pPr algn="ctr"/>
            <a:r>
              <a:rPr lang="en-US" altLang="ko-KR" sz="2800" kern="10" dirty="0">
                <a:ln w="9525">
                  <a:solidFill>
                    <a:srgbClr val="000000"/>
                  </a:solidFill>
                  <a:round/>
                  <a:headEnd/>
                  <a:tailEnd/>
                </a:ln>
                <a:solidFill>
                  <a:srgbClr val="FFFFFF"/>
                </a:solidFill>
                <a:latin typeface="Times New Roman"/>
                <a:cs typeface="Times New Roman"/>
              </a:rPr>
              <a:t>QUÁ TRÌNH ĐIỆN-ĐIỆN TỬ CĂN BẢN</a:t>
            </a:r>
            <a:endParaRPr lang="ko-KR" altLang="en-US" sz="2800" kern="10" dirty="0">
              <a:ln w="9525">
                <a:solidFill>
                  <a:srgbClr val="000000"/>
                </a:solidFill>
                <a:round/>
                <a:headEnd/>
                <a:tailEnd/>
              </a:ln>
              <a:solidFill>
                <a:srgbClr val="FFFFFF"/>
              </a:solidFill>
              <a:latin typeface="Times New Roman"/>
              <a:cs typeface="Times New Roman"/>
            </a:endParaRPr>
          </a:p>
        </p:txBody>
      </p:sp>
      <p:pic>
        <p:nvPicPr>
          <p:cNvPr id="410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6550" y="5876925"/>
            <a:ext cx="3490913"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Rectangle 11"/>
          <p:cNvSpPr>
            <a:spLocks noChangeArrowheads="1"/>
          </p:cNvSpPr>
          <p:nvPr/>
        </p:nvSpPr>
        <p:spPr bwMode="auto">
          <a:xfrm>
            <a:off x="7308850" y="260350"/>
            <a:ext cx="1331913" cy="298450"/>
          </a:xfrm>
          <a:prstGeom prst="rect">
            <a:avLst/>
          </a:prstGeom>
          <a:noFill/>
          <a:ln w="9525">
            <a:solidFill>
              <a:srgbClr val="77777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spcBef>
                <a:spcPct val="20000"/>
              </a:spcBef>
            </a:pPr>
            <a:r>
              <a:rPr lang="en-US" altLang="ko-KR" b="1">
                <a:solidFill>
                  <a:srgbClr val="5F5F5F"/>
                </a:solidFill>
                <a:latin typeface="Times New Roman" pitchFamily="18" charset="0"/>
                <a:cs typeface="Times New Roman" pitchFamily="18" charset="0"/>
              </a:rPr>
              <a:t>Phát hành nội bộ</a:t>
            </a:r>
            <a:endParaRPr lang="ko-KR" altLang="en-US" b="1">
              <a:solidFill>
                <a:srgbClr val="5F5F5F"/>
              </a:solidFill>
              <a:latin typeface="Times New Roman" pitchFamily="18" charset="0"/>
              <a:cs typeface="Times New Roman" pitchFamily="18" charset="0"/>
            </a:endParaRPr>
          </a:p>
        </p:txBody>
      </p:sp>
      <p:sp>
        <p:nvSpPr>
          <p:cNvPr id="4103" name="Rectangle 12"/>
          <p:cNvSpPr>
            <a:spLocks noChangeArrowheads="1"/>
          </p:cNvSpPr>
          <p:nvPr/>
        </p:nvSpPr>
        <p:spPr bwMode="auto">
          <a:xfrm>
            <a:off x="219074" y="168275"/>
            <a:ext cx="2768749" cy="596900"/>
          </a:xfrm>
          <a:prstGeom prst="rect">
            <a:avLst/>
          </a:prstGeom>
          <a:noFill/>
          <a:ln w="9525">
            <a:solidFill>
              <a:srgbClr val="77777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r>
              <a:rPr lang="en-US" altLang="ko-KR" b="1">
                <a:solidFill>
                  <a:srgbClr val="5F5F5F"/>
                </a:solidFill>
                <a:latin typeface="Times New Roman" pitchFamily="18" charset="0"/>
                <a:cs typeface="Times New Roman" pitchFamily="18" charset="0"/>
              </a:rPr>
              <a:t>LG Display Co, . Ltd</a:t>
            </a:r>
          </a:p>
          <a:p>
            <a:pPr eaLnBrk="1" latinLnBrk="1" hangingPunct="1">
              <a:lnSpc>
                <a:spcPct val="100000"/>
              </a:lnSpc>
              <a:spcBef>
                <a:spcPct val="20000"/>
              </a:spcBef>
            </a:pPr>
            <a:r>
              <a:rPr lang="en-US" altLang="ko-KR" b="1">
                <a:solidFill>
                  <a:srgbClr val="5F5F5F"/>
                </a:solidFill>
                <a:latin typeface="Times New Roman" pitchFamily="18" charset="0"/>
                <a:cs typeface="Times New Roman" pitchFamily="18" charset="0"/>
              </a:rPr>
              <a:t>Trung tâm kỹ thuật sản xuất-2009-T000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714500" y="44450"/>
            <a:ext cx="574137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1689" tIns="35844" rIns="71689" bIns="35844">
            <a:spAutoFit/>
          </a:bodyPr>
          <a:lstStyle>
            <a:lvl1pPr defTabSz="717550"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717550"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717550"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717550"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717550"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lnSpc>
                <a:spcPct val="100000"/>
              </a:lnSpc>
              <a:spcBef>
                <a:spcPct val="50000"/>
              </a:spcBef>
              <a:buFontTx/>
              <a:buNone/>
            </a:pPr>
            <a:r>
              <a:rPr lang="en-US" altLang="ko-KR">
                <a:latin typeface="Times New Roman" pitchFamily="18" charset="0"/>
                <a:ea typeface="HY견고딕" pitchFamily="18" charset="-127"/>
                <a:cs typeface="Times New Roman" pitchFamily="18" charset="0"/>
              </a:rPr>
              <a:t>Nguyên tắc nhân sự LG</a:t>
            </a:r>
            <a:endParaRPr lang="ko-KR" altLang="en-US">
              <a:latin typeface="Times New Roman" pitchFamily="18" charset="0"/>
              <a:ea typeface="HY견고딕" pitchFamily="18" charset="-127"/>
              <a:cs typeface="Times New Roman" pitchFamily="18" charset="0"/>
            </a:endParaRPr>
          </a:p>
        </p:txBody>
      </p:sp>
      <p:sp>
        <p:nvSpPr>
          <p:cNvPr id="8195" name="AutoShape 3"/>
          <p:cNvSpPr>
            <a:spLocks noChangeArrowheads="1"/>
          </p:cNvSpPr>
          <p:nvPr/>
        </p:nvSpPr>
        <p:spPr bwMode="auto">
          <a:xfrm>
            <a:off x="1343758" y="1276350"/>
            <a:ext cx="6482862" cy="5233988"/>
          </a:xfrm>
          <a:prstGeom prst="roundRect">
            <a:avLst>
              <a:gd name="adj" fmla="val 2111"/>
            </a:avLst>
          </a:prstGeom>
          <a:solidFill>
            <a:schemeClr val="bg1"/>
          </a:solidFill>
          <a:ln w="9525">
            <a:solidFill>
              <a:schemeClr val="tx1"/>
            </a:solidFill>
            <a:round/>
            <a:headEnd/>
            <a:tailEnd/>
          </a:ln>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2000">
              <a:latin typeface="Times New Roman" pitchFamily="18" charset="0"/>
              <a:ea typeface="HY견고딕" pitchFamily="18" charset="-127"/>
              <a:cs typeface="Times New Roman" pitchFamily="18" charset="0"/>
            </a:endParaRPr>
          </a:p>
        </p:txBody>
      </p:sp>
      <p:sp>
        <p:nvSpPr>
          <p:cNvPr id="8196" name="Rectangle 4"/>
          <p:cNvSpPr>
            <a:spLocks noChangeArrowheads="1"/>
          </p:cNvSpPr>
          <p:nvPr/>
        </p:nvSpPr>
        <p:spPr bwMode="auto">
          <a:xfrm>
            <a:off x="1543051" y="820738"/>
            <a:ext cx="642717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a:latin typeface="Times New Roman" pitchFamily="18" charset="0"/>
                <a:ea typeface="Dotum" pitchFamily="50" charset="-127"/>
                <a:cs typeface="Times New Roman" pitchFamily="18" charset="0"/>
              </a:rPr>
              <a:t>Để  LG trở thành nơi làm việc có thể phát huy toàn bộ năng lực và kỹ thuật xuất sắc của nhân viên, yêu cầu thực hiện như dưới đây.</a:t>
            </a:r>
          </a:p>
        </p:txBody>
      </p:sp>
      <p:sp>
        <p:nvSpPr>
          <p:cNvPr id="8197" name="Text Box 5"/>
          <p:cNvSpPr txBox="1">
            <a:spLocks noChangeArrowheads="1"/>
          </p:cNvSpPr>
          <p:nvPr/>
        </p:nvSpPr>
        <p:spPr bwMode="auto">
          <a:xfrm>
            <a:off x="1601666" y="1416051"/>
            <a:ext cx="4996962"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a:latin typeface="Times New Roman" pitchFamily="18" charset="0"/>
                <a:ea typeface="Dotum" pitchFamily="50" charset="-127"/>
                <a:cs typeface="Times New Roman" pitchFamily="18" charset="0"/>
              </a:rPr>
              <a:t>1. Tôn trọng việc tự quản và sáng tạo của cá nhân</a:t>
            </a:r>
            <a:endParaRPr lang="ko-KR" altLang="en-US" sz="1200" b="1">
              <a:latin typeface="Times New Roman" pitchFamily="18" charset="0"/>
              <a:ea typeface="Dotum" pitchFamily="50" charset="-127"/>
              <a:cs typeface="Times New Roman" pitchFamily="18" charset="0"/>
            </a:endParaRPr>
          </a:p>
        </p:txBody>
      </p:sp>
      <p:sp>
        <p:nvSpPr>
          <p:cNvPr id="8198" name="Text Box 6"/>
          <p:cNvSpPr txBox="1">
            <a:spLocks noChangeArrowheads="1"/>
          </p:cNvSpPr>
          <p:nvPr/>
        </p:nvSpPr>
        <p:spPr bwMode="auto">
          <a:xfrm>
            <a:off x="1601666" y="2471738"/>
            <a:ext cx="2338754"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a:latin typeface="Times New Roman" pitchFamily="18" charset="0"/>
                <a:ea typeface="Dotum" pitchFamily="50" charset="-127"/>
                <a:cs typeface="Times New Roman" pitchFamily="18" charset="0"/>
              </a:rPr>
              <a:t>2. Xem trọng năng lực</a:t>
            </a:r>
            <a:endParaRPr lang="ko-KR" altLang="en-US" sz="1200" b="1">
              <a:latin typeface="Times New Roman" pitchFamily="18" charset="0"/>
              <a:ea typeface="Dotum" pitchFamily="50" charset="-127"/>
              <a:cs typeface="Times New Roman" pitchFamily="18" charset="0"/>
            </a:endParaRPr>
          </a:p>
        </p:txBody>
      </p:sp>
      <p:sp>
        <p:nvSpPr>
          <p:cNvPr id="8199" name="Text Box 7"/>
          <p:cNvSpPr txBox="1">
            <a:spLocks noChangeArrowheads="1"/>
          </p:cNvSpPr>
          <p:nvPr/>
        </p:nvSpPr>
        <p:spPr bwMode="auto">
          <a:xfrm>
            <a:off x="1601666" y="3525838"/>
            <a:ext cx="2237642"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a:latin typeface="Times New Roman" pitchFamily="18" charset="0"/>
                <a:ea typeface="Dotum" pitchFamily="50" charset="-127"/>
                <a:cs typeface="Times New Roman" pitchFamily="18" charset="0"/>
              </a:rPr>
              <a:t>3. Thưởng dựa trên hiệu suất</a:t>
            </a:r>
            <a:endParaRPr lang="ko-KR" altLang="en-US" sz="1200" b="1">
              <a:latin typeface="Times New Roman" pitchFamily="18" charset="0"/>
              <a:ea typeface="Dotum" pitchFamily="50" charset="-127"/>
              <a:cs typeface="Times New Roman" pitchFamily="18" charset="0"/>
            </a:endParaRPr>
          </a:p>
        </p:txBody>
      </p:sp>
      <p:sp>
        <p:nvSpPr>
          <p:cNvPr id="8200" name="Text Box 8"/>
          <p:cNvSpPr txBox="1">
            <a:spLocks noChangeArrowheads="1"/>
          </p:cNvSpPr>
          <p:nvPr/>
        </p:nvSpPr>
        <p:spPr bwMode="auto">
          <a:xfrm>
            <a:off x="1601666" y="4527551"/>
            <a:ext cx="2146788"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dirty="0">
                <a:latin typeface="Times New Roman" pitchFamily="18" charset="0"/>
                <a:ea typeface="Dotum" pitchFamily="50" charset="-127"/>
                <a:cs typeface="Times New Roman" pitchFamily="18" charset="0"/>
              </a:rPr>
              <a:t>4. </a:t>
            </a:r>
            <a:r>
              <a:rPr lang="en-US" altLang="ko-KR" sz="1200" b="1" dirty="0" err="1">
                <a:latin typeface="Times New Roman" pitchFamily="18" charset="0"/>
                <a:ea typeface="Dotum" pitchFamily="50" charset="-127"/>
                <a:cs typeface="Times New Roman" pitchFamily="18" charset="0"/>
              </a:rPr>
              <a:t>Tạo</a:t>
            </a:r>
            <a:r>
              <a:rPr lang="en-US" altLang="ko-KR" sz="1200" b="1" dirty="0">
                <a:latin typeface="Times New Roman" pitchFamily="18" charset="0"/>
                <a:ea typeface="Dotum" pitchFamily="50" charset="-127"/>
                <a:cs typeface="Times New Roman" pitchFamily="18" charset="0"/>
              </a:rPr>
              <a:t> </a:t>
            </a:r>
            <a:r>
              <a:rPr lang="en-US" altLang="ko-KR" sz="1200" b="1" dirty="0" err="1">
                <a:latin typeface="Times New Roman" pitchFamily="18" charset="0"/>
                <a:ea typeface="Dotum" pitchFamily="50" charset="-127"/>
                <a:cs typeface="Times New Roman" pitchFamily="18" charset="0"/>
              </a:rPr>
              <a:t>cơ</a:t>
            </a:r>
            <a:r>
              <a:rPr lang="en-US" altLang="ko-KR" sz="1200" b="1" dirty="0">
                <a:latin typeface="Times New Roman" pitchFamily="18" charset="0"/>
                <a:ea typeface="Dotum" pitchFamily="50" charset="-127"/>
                <a:cs typeface="Times New Roman" pitchFamily="18" charset="0"/>
              </a:rPr>
              <a:t> </a:t>
            </a:r>
            <a:r>
              <a:rPr lang="en-US" altLang="ko-KR" sz="1200" b="1" dirty="0" err="1">
                <a:latin typeface="Times New Roman" pitchFamily="18" charset="0"/>
                <a:ea typeface="Dotum" pitchFamily="50" charset="-127"/>
                <a:cs typeface="Times New Roman" pitchFamily="18" charset="0"/>
              </a:rPr>
              <a:t>hội</a:t>
            </a:r>
            <a:r>
              <a:rPr lang="en-US" altLang="ko-KR" sz="1200" b="1" dirty="0">
                <a:latin typeface="Times New Roman" pitchFamily="18" charset="0"/>
                <a:ea typeface="Dotum" pitchFamily="50" charset="-127"/>
                <a:cs typeface="Times New Roman" pitchFamily="18" charset="0"/>
              </a:rPr>
              <a:t> </a:t>
            </a:r>
            <a:r>
              <a:rPr lang="en-US" altLang="ko-KR" sz="1200" b="1" dirty="0" err="1">
                <a:latin typeface="Times New Roman" pitchFamily="18" charset="0"/>
                <a:ea typeface="Dotum" pitchFamily="50" charset="-127"/>
                <a:cs typeface="Times New Roman" pitchFamily="18" charset="0"/>
              </a:rPr>
              <a:t>công</a:t>
            </a:r>
            <a:r>
              <a:rPr lang="en-US" altLang="ko-KR" sz="1200" b="1" dirty="0">
                <a:latin typeface="Times New Roman" pitchFamily="18" charset="0"/>
                <a:ea typeface="Dotum" pitchFamily="50" charset="-127"/>
                <a:cs typeface="Times New Roman" pitchFamily="18" charset="0"/>
              </a:rPr>
              <a:t> </a:t>
            </a:r>
            <a:r>
              <a:rPr lang="en-US" altLang="ko-KR" sz="1200" b="1" dirty="0" err="1">
                <a:latin typeface="Times New Roman" pitchFamily="18" charset="0"/>
                <a:ea typeface="Dotum" pitchFamily="50" charset="-127"/>
                <a:cs typeface="Times New Roman" pitchFamily="18" charset="0"/>
              </a:rPr>
              <a:t>bằng</a:t>
            </a:r>
            <a:endParaRPr lang="ko-KR" altLang="en-US" sz="1200" b="1" dirty="0">
              <a:latin typeface="Times New Roman" pitchFamily="18" charset="0"/>
              <a:ea typeface="Dotum" pitchFamily="50" charset="-127"/>
              <a:cs typeface="Times New Roman" pitchFamily="18" charset="0"/>
            </a:endParaRPr>
          </a:p>
        </p:txBody>
      </p:sp>
      <p:sp>
        <p:nvSpPr>
          <p:cNvPr id="8201" name="Text Box 9"/>
          <p:cNvSpPr txBox="1">
            <a:spLocks noChangeArrowheads="1"/>
          </p:cNvSpPr>
          <p:nvPr/>
        </p:nvSpPr>
        <p:spPr bwMode="auto">
          <a:xfrm>
            <a:off x="1601666" y="5318126"/>
            <a:ext cx="1699846"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0"/>
              </a:spcBef>
              <a:buFontTx/>
              <a:buNone/>
            </a:pPr>
            <a:r>
              <a:rPr lang="en-US" altLang="ko-KR" sz="1200" b="1">
                <a:latin typeface="Times New Roman" pitchFamily="18" charset="0"/>
                <a:ea typeface="Dotum" pitchFamily="50" charset="-127"/>
                <a:cs typeface="Times New Roman" pitchFamily="18" charset="0"/>
              </a:rPr>
              <a:t>5. Lập trường</a:t>
            </a:r>
            <a:endParaRPr lang="ko-KR" altLang="en-US" sz="1200" b="1">
              <a:latin typeface="Times New Roman" pitchFamily="18" charset="0"/>
              <a:ea typeface="Dotum" pitchFamily="50" charset="-127"/>
              <a:cs typeface="Times New Roman" pitchFamily="18" charset="0"/>
            </a:endParaRPr>
          </a:p>
        </p:txBody>
      </p:sp>
      <p:sp>
        <p:nvSpPr>
          <p:cNvPr id="8202" name="Rectangle 10"/>
          <p:cNvSpPr>
            <a:spLocks noChangeArrowheads="1"/>
          </p:cNvSpPr>
          <p:nvPr/>
        </p:nvSpPr>
        <p:spPr bwMode="auto">
          <a:xfrm>
            <a:off x="1871296" y="1697039"/>
            <a:ext cx="5860073" cy="6953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pPr>
            <a:r>
              <a:rPr lang="en-US" altLang="ko-KR" sz="1100" b="1" dirty="0" err="1">
                <a:latin typeface="Times New Roman" pitchFamily="18" charset="0"/>
                <a:cs typeface="Times New Roman" pitchFamily="18" charset="0"/>
              </a:rPr>
              <a:t>Giá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trị</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nhân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khởi</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nguồn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của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việc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sáng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tạo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giá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trị</a:t>
            </a:r>
            <a:r>
              <a:rPr lang="en-US" altLang="ko-KR" sz="1100" b="1" dirty="0">
                <a:latin typeface="Times New Roman" pitchFamily="18" charset="0"/>
                <a:cs typeface="Times New Roman" pitchFamily="18" charset="0"/>
              </a:rPr>
              <a:t>.</a:t>
            </a:r>
            <a:endParaRPr lang="ko-KR" altLang="en-US" sz="1100" b="1" dirty="0">
              <a:latin typeface="Times New Roman" pitchFamily="18" charset="0"/>
              <a:cs typeface="Times New Roman" pitchFamily="18" charset="0"/>
            </a:endParaRPr>
          </a:p>
          <a:p>
            <a:pPr eaLnBrk="1" hangingPunct="1">
              <a:spcBef>
                <a:spcPct val="0"/>
              </a:spcBef>
            </a:pPr>
            <a:r>
              <a:rPr lang="en-US" altLang="ko-KR" sz="1100" b="1" dirty="0" err="1">
                <a:latin typeface="Times New Roman" pitchFamily="18" charset="0"/>
                <a:cs typeface="Times New Roman" pitchFamily="18" charset="0"/>
              </a:rPr>
              <a:t>Tôn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trọng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việc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tự</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quản</a:t>
            </a:r>
            <a:r>
              <a:rPr lang="en-US" altLang="ko-KR" sz="1100" b="1" dirty="0" smtClean="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xem</a:t>
            </a:r>
            <a:r>
              <a:rPr lang="en-US" altLang="ko-KR" sz="1100" b="1" dirty="0" smtClean="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trọng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tính</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đa</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dạng</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và</a:t>
            </a:r>
            <a:r>
              <a:rPr lang="en-US" altLang="ko-KR" sz="1100" b="1" dirty="0" smtClean="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cá</a:t>
            </a:r>
            <a:r>
              <a:rPr lang="en-US" altLang="ko-KR" sz="1100" b="1" dirty="0" smtClean="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tính</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để</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mỗi</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nhân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có</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thể</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phát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huy</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toàn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diện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khả</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năng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sáng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tạo</a:t>
            </a:r>
            <a:r>
              <a:rPr lang="en-US" altLang="ko-KR" sz="1100" b="1" dirty="0">
                <a:latin typeface="Times New Roman" pitchFamily="18" charset="0"/>
                <a:cs typeface="Times New Roman" pitchFamily="18" charset="0"/>
              </a:rPr>
              <a:t>.</a:t>
            </a:r>
          </a:p>
        </p:txBody>
      </p:sp>
      <p:sp>
        <p:nvSpPr>
          <p:cNvPr id="8203" name="Rectangle 11"/>
          <p:cNvSpPr>
            <a:spLocks noChangeArrowheads="1"/>
          </p:cNvSpPr>
          <p:nvPr/>
        </p:nvSpPr>
        <p:spPr bwMode="auto">
          <a:xfrm>
            <a:off x="1871296" y="2752726"/>
            <a:ext cx="5860073" cy="6953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pPr>
            <a:r>
              <a:rPr lang="en-US" altLang="ko-KR" sz="1100" b="1">
                <a:latin typeface="Times New Roman" pitchFamily="18" charset="0"/>
                <a:cs typeface="Times New Roman" pitchFamily="18" charset="0"/>
              </a:rPr>
              <a:t>Năng lực là nguồn gốc tạo nên thành  quả.</a:t>
            </a:r>
          </a:p>
          <a:p>
            <a:pPr eaLnBrk="1" hangingPunct="1">
              <a:spcBef>
                <a:spcPct val="0"/>
              </a:spcBef>
            </a:pPr>
            <a:r>
              <a:rPr lang="en-US" altLang="ko-KR" sz="1100" b="1">
                <a:latin typeface="Times New Roman" pitchFamily="18" charset="0"/>
                <a:cs typeface="Times New Roman" pitchFamily="18" charset="0"/>
              </a:rPr>
              <a:t>Triển khai hoạt động bồi dưỡng.mở rộng theo tiêu chuẩn năng lực  cá nhân và thiết lập trình tự và điều kiện cần thiết để vận hành.</a:t>
            </a:r>
          </a:p>
        </p:txBody>
      </p:sp>
      <p:sp>
        <p:nvSpPr>
          <p:cNvPr id="8204" name="Rectangle 12"/>
          <p:cNvSpPr>
            <a:spLocks noChangeArrowheads="1"/>
          </p:cNvSpPr>
          <p:nvPr/>
        </p:nvSpPr>
        <p:spPr bwMode="auto">
          <a:xfrm>
            <a:off x="1896208" y="3819526"/>
            <a:ext cx="5838092" cy="69556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pPr>
            <a:r>
              <a:rPr lang="en-US" altLang="ko-KR" sz="1100" b="1" dirty="0" err="1">
                <a:latin typeface="Times New Roman" pitchFamily="18" charset="0"/>
                <a:cs typeface="Times New Roman" pitchFamily="18" charset="0"/>
              </a:rPr>
              <a:t>Thưởng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dựa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trên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hiệu</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suất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trọng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tâm</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tạo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động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lực</a:t>
            </a:r>
            <a:r>
              <a:rPr lang="en-US" altLang="ko-KR" sz="1100" b="1" dirty="0">
                <a:latin typeface="Times New Roman" pitchFamily="18" charset="0"/>
                <a:cs typeface="Times New Roman" pitchFamily="18" charset="0"/>
              </a:rPr>
              <a:t>.</a:t>
            </a:r>
          </a:p>
          <a:p>
            <a:pPr eaLnBrk="1" hangingPunct="1">
              <a:spcBef>
                <a:spcPct val="0"/>
              </a:spcBef>
            </a:pPr>
            <a:r>
              <a:rPr lang="en-US" altLang="ko-KR" sz="1100" b="1" dirty="0" err="1">
                <a:latin typeface="Times New Roman" pitchFamily="18" charset="0"/>
                <a:cs typeface="Times New Roman" pitchFamily="18" charset="0"/>
              </a:rPr>
              <a:t>Đánh</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giá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công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bằng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hiệu</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suất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thực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tế</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thưởng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theo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mức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độ</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đóng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góp</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từng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tổ</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chức</a:t>
            </a:r>
            <a:r>
              <a:rPr lang="en-US" altLang="ko-KR" sz="1100" b="1" dirty="0" smtClean="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từng</a:t>
            </a:r>
            <a:r>
              <a:rPr lang="en-US" altLang="ko-KR" sz="1100" b="1" dirty="0" smtClean="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nhân</a:t>
            </a:r>
            <a:r>
              <a:rPr lang="en-US" altLang="ko-KR" sz="1100" b="1" dirty="0">
                <a:latin typeface="Times New Roman" pitchFamily="18" charset="0"/>
                <a:cs typeface="Times New Roman" pitchFamily="18" charset="0"/>
              </a:rPr>
              <a:t>.</a:t>
            </a:r>
          </a:p>
        </p:txBody>
      </p:sp>
      <p:sp>
        <p:nvSpPr>
          <p:cNvPr id="8205" name="Rectangle 13"/>
          <p:cNvSpPr>
            <a:spLocks noChangeArrowheads="1"/>
          </p:cNvSpPr>
          <p:nvPr/>
        </p:nvSpPr>
        <p:spPr bwMode="auto">
          <a:xfrm>
            <a:off x="1890347" y="4808539"/>
            <a:ext cx="5842489" cy="4921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pPr>
            <a:r>
              <a:rPr lang="en-US" altLang="ko-KR" sz="1100" b="1" dirty="0" err="1">
                <a:latin typeface="Times New Roman" pitchFamily="18" charset="0"/>
                <a:cs typeface="Times New Roman" pitchFamily="18" charset="0"/>
              </a:rPr>
              <a:t>Tạo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hội</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công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bằng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nền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tảng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của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sự</a:t>
            </a:r>
            <a:r>
              <a:rPr lang="en-US" altLang="ko-KR" sz="1100" b="1" dirty="0">
                <a:latin typeface="Times New Roman" pitchFamily="18" charset="0"/>
                <a:cs typeface="Times New Roman" pitchFamily="18" charset="0"/>
              </a:rPr>
              <a:t> tin </a:t>
            </a:r>
            <a:r>
              <a:rPr lang="en-US" altLang="ko-KR" sz="1100" b="1" dirty="0" err="1">
                <a:latin typeface="Times New Roman" pitchFamily="18" charset="0"/>
                <a:cs typeface="Times New Roman" pitchFamily="18" charset="0"/>
              </a:rPr>
              <a:t>tưởng</a:t>
            </a:r>
            <a:r>
              <a:rPr lang="en-US" altLang="ko-KR" sz="1100" b="1" dirty="0">
                <a:latin typeface="Times New Roman" pitchFamily="18" charset="0"/>
                <a:cs typeface="Times New Roman" pitchFamily="18" charset="0"/>
              </a:rPr>
              <a:t>.</a:t>
            </a:r>
          </a:p>
          <a:p>
            <a:pPr eaLnBrk="1" hangingPunct="1">
              <a:spcBef>
                <a:spcPct val="0"/>
              </a:spcBef>
            </a:pPr>
            <a:r>
              <a:rPr lang="en-US" altLang="ko-KR" sz="1100" b="1" dirty="0" err="1">
                <a:latin typeface="Times New Roman" pitchFamily="18" charset="0"/>
                <a:cs typeface="Times New Roman" pitchFamily="18" charset="0"/>
              </a:rPr>
              <a:t>Tạo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hội</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công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bằng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tùy</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theo</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tư</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chất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năng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lực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của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thành</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viên</a:t>
            </a:r>
            <a:r>
              <a:rPr lang="en-US" altLang="ko-KR" sz="1100" b="1" dirty="0">
                <a:latin typeface="Times New Roman" pitchFamily="18" charset="0"/>
                <a:cs typeface="Times New Roman" pitchFamily="18" charset="0"/>
              </a:rPr>
              <a:t>.</a:t>
            </a:r>
          </a:p>
        </p:txBody>
      </p:sp>
      <p:sp>
        <p:nvSpPr>
          <p:cNvPr id="8206" name="Rectangle 14"/>
          <p:cNvSpPr>
            <a:spLocks noChangeArrowheads="1"/>
          </p:cNvSpPr>
          <p:nvPr/>
        </p:nvSpPr>
        <p:spPr bwMode="auto">
          <a:xfrm>
            <a:off x="1919654" y="5737226"/>
            <a:ext cx="5816112" cy="69556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5337" tIns="42669" rIns="85337" bIns="42669">
            <a:spAutoFit/>
          </a:bodyPr>
          <a:lstStyle>
            <a:lvl1pPr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pPr>
            <a:r>
              <a:rPr lang="en-US" altLang="ko-KR" sz="1100" b="1" dirty="0" err="1">
                <a:latin typeface="Times New Roman" pitchFamily="18" charset="0"/>
                <a:cs typeface="Times New Roman" pitchFamily="18" charset="0"/>
              </a:rPr>
              <a:t>Lập</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trường</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suy</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nghĩ</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cơ</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bản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của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việc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vận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hành</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tổ</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chức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và</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nhân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sự</a:t>
            </a:r>
            <a:r>
              <a:rPr lang="en-US" altLang="ko-KR" sz="1100" b="1" dirty="0">
                <a:latin typeface="Times New Roman" pitchFamily="18" charset="0"/>
                <a:cs typeface="Times New Roman" pitchFamily="18" charset="0"/>
              </a:rPr>
              <a:t>.</a:t>
            </a:r>
          </a:p>
          <a:p>
            <a:pPr eaLnBrk="1" hangingPunct="1">
              <a:spcBef>
                <a:spcPct val="0"/>
              </a:spcBef>
            </a:pPr>
            <a:r>
              <a:rPr lang="en-US" altLang="ko-KR" sz="1100" b="1" dirty="0" err="1">
                <a:latin typeface="Times New Roman" pitchFamily="18" charset="0"/>
                <a:cs typeface="Times New Roman" pitchFamily="18" charset="0"/>
              </a:rPr>
              <a:t>Xúc</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tiến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nhất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quán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quyết</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định</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và</a:t>
            </a:r>
            <a:r>
              <a:rPr lang="en-US" altLang="ko-KR" sz="1100" b="1" dirty="0" smtClean="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hoạt</a:t>
            </a:r>
            <a:r>
              <a:rPr lang="en-US" altLang="ko-KR" sz="1100" b="1" dirty="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động</a:t>
            </a:r>
            <a:r>
              <a:rPr lang="en-US" altLang="ko-KR" sz="1100" b="1" dirty="0" smtClean="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quan</a:t>
            </a:r>
            <a:r>
              <a:rPr lang="en-US" altLang="ko-KR" sz="1100" b="1" dirty="0" smtClean="0">
                <a:latin typeface="Times New Roman" pitchFamily="18" charset="0"/>
                <a:cs typeface="Times New Roman" pitchFamily="18" charset="0"/>
              </a:rPr>
              <a:t> </a:t>
            </a:r>
            <a:r>
              <a:rPr lang="en-US" altLang="ko-KR" sz="1100" b="1" dirty="0" err="1" smtClean="0">
                <a:latin typeface="Times New Roman" pitchFamily="18" charset="0"/>
                <a:cs typeface="Times New Roman" pitchFamily="18" charset="0"/>
              </a:rPr>
              <a:t>trọng</a:t>
            </a:r>
            <a:r>
              <a:rPr lang="en-US" altLang="ko-KR" sz="1100" b="1" dirty="0" smtClean="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liên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quan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đến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nhân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sự</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dựa</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trên</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lập</a:t>
            </a:r>
            <a:r>
              <a:rPr lang="en-US" altLang="ko-KR" sz="1100" b="1" dirty="0">
                <a:latin typeface="Times New Roman" pitchFamily="18" charset="0"/>
                <a:cs typeface="Times New Roman" pitchFamily="18" charset="0"/>
              </a:rPr>
              <a:t> </a:t>
            </a:r>
            <a:r>
              <a:rPr lang="en-US" altLang="ko-KR" sz="1100" b="1" dirty="0" err="1">
                <a:latin typeface="Times New Roman" pitchFamily="18" charset="0"/>
                <a:cs typeface="Times New Roman" pitchFamily="18" charset="0"/>
              </a:rPr>
              <a:t>trường</a:t>
            </a:r>
            <a:r>
              <a:rPr lang="en-US" altLang="ko-KR" sz="1100" b="1" dirty="0">
                <a:latin typeface="Times New Roman" pitchFamily="18" charset="0"/>
                <a:cs typeface="Times New Roman" pitchFamily="18" charset="0"/>
              </a:rPr>
              <a:t>.</a:t>
            </a:r>
          </a:p>
        </p:txBody>
      </p:sp>
    </p:spTree>
    <p:extLst>
      <p:ext uri="{BB962C8B-B14F-4D97-AF65-F5344CB8AC3E}">
        <p14:creationId xmlns:p14="http://schemas.microsoft.com/office/powerpoint/2010/main" val="7710229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054469" y="100013"/>
            <a:ext cx="5300297"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689" tIns="35844" rIns="71689" bIns="35844">
            <a:spAutoFit/>
          </a:bodyPr>
          <a:lstStyle>
            <a:lvl1pPr defTabSz="717550"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717550"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717550"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717550"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717550"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71755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00000"/>
              </a:lnSpc>
              <a:spcBef>
                <a:spcPct val="50000"/>
              </a:spcBef>
              <a:buFontTx/>
              <a:buNone/>
            </a:pPr>
            <a:r>
              <a:rPr lang="en-US" altLang="ko-KR">
                <a:latin typeface="Times New Roman" pitchFamily="18" charset="0"/>
                <a:ea typeface="HY견고딕" pitchFamily="18" charset="-127"/>
                <a:cs typeface="Times New Roman" pitchFamily="18" charset="0"/>
              </a:rPr>
              <a:t>Hệ thống nhân sự LG Display</a:t>
            </a:r>
            <a:endParaRPr lang="ko-KR" altLang="en-US">
              <a:latin typeface="Times New Roman" pitchFamily="18" charset="0"/>
              <a:ea typeface="HY견고딕" pitchFamily="18" charset="-127"/>
              <a:cs typeface="Times New Roman" pitchFamily="18" charset="0"/>
            </a:endParaRPr>
          </a:p>
        </p:txBody>
      </p:sp>
      <p:grpSp>
        <p:nvGrpSpPr>
          <p:cNvPr id="9219" name="그룹 1"/>
          <p:cNvGrpSpPr>
            <a:grpSpLocks/>
          </p:cNvGrpSpPr>
          <p:nvPr/>
        </p:nvGrpSpPr>
        <p:grpSpPr bwMode="auto">
          <a:xfrm>
            <a:off x="208084" y="1052736"/>
            <a:ext cx="8869974" cy="5557838"/>
            <a:chOff x="207963" y="1184275"/>
            <a:chExt cx="8869362" cy="5557838"/>
          </a:xfrm>
        </p:grpSpPr>
        <p:pic>
          <p:nvPicPr>
            <p:cNvPr id="92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3" y="1184275"/>
              <a:ext cx="8188325" cy="55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4"/>
            <p:cNvSpPr>
              <a:spLocks noChangeArrowheads="1"/>
            </p:cNvSpPr>
            <p:nvPr/>
          </p:nvSpPr>
          <p:spPr bwMode="auto">
            <a:xfrm>
              <a:off x="3706813" y="6273800"/>
              <a:ext cx="1908175" cy="4683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1200"/>
            </a:p>
          </p:txBody>
        </p:sp>
        <p:pic>
          <p:nvPicPr>
            <p:cNvPr id="922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3" y="1184275"/>
              <a:ext cx="8869362" cy="55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직사각형 5"/>
            <p:cNvSpPr/>
            <p:nvPr/>
          </p:nvSpPr>
          <p:spPr bwMode="auto">
            <a:xfrm>
              <a:off x="1747070" y="2503290"/>
              <a:ext cx="864096" cy="677102"/>
            </a:xfrm>
            <a:prstGeom prst="rect">
              <a:avLst/>
            </a:prstGeom>
            <a:solidFill>
              <a:srgbClr val="FFA3A3"/>
            </a:solidFill>
            <a:ln w="9525" cap="flat" cmpd="sng" algn="ctr">
              <a:noFill/>
              <a:prstDash val="solid"/>
              <a:round/>
              <a:headEnd type="none" w="med" len="med"/>
              <a:tailEnd type="none" w="med" len="med"/>
            </a:ln>
            <a:effectLst/>
            <a:scene3d>
              <a:camera prst="isometricRightUp"/>
              <a:lightRig rig="threePt" dir="t"/>
            </a:scene3d>
          </p:spPr>
          <p:txBody>
            <a:bodyPr lIns="85337" tIns="42669" rIns="85337" bIns="42669" anchor="ctr">
              <a:spAutoFit/>
            </a:bodyPr>
            <a:lstStyle/>
            <a:p>
              <a:pPr marL="342900" indent="-342900" defTabSz="854075">
                <a:defRPr/>
              </a:pPr>
              <a:r>
                <a:rPr lang="en-US" altLang="ko-KR" sz="1600" b="1" dirty="0" err="1">
                  <a:solidFill>
                    <a:srgbClr val="FF0000"/>
                  </a:solidFill>
                  <a:latin typeface="Times New Roman" panose="02020603050405020304" pitchFamily="18" charset="0"/>
                  <a:cs typeface="Times New Roman" panose="02020603050405020304" pitchFamily="18" charset="0"/>
                </a:rPr>
                <a:t>Nhiệt</a:t>
              </a:r>
              <a:endParaRPr lang="en-US" altLang="ko-KR" sz="1600" b="1" dirty="0">
                <a:solidFill>
                  <a:srgbClr val="FF0000"/>
                </a:solidFill>
                <a:latin typeface="Times New Roman" panose="02020603050405020304" pitchFamily="18" charset="0"/>
                <a:cs typeface="Times New Roman" panose="02020603050405020304" pitchFamily="18" charset="0"/>
              </a:endParaRPr>
            </a:p>
            <a:p>
              <a:pPr marL="342900" indent="-342900" defTabSz="854075">
                <a:defRPr/>
              </a:pPr>
              <a:r>
                <a:rPr lang="en-US" altLang="ko-KR" sz="1600" b="1" dirty="0" err="1">
                  <a:solidFill>
                    <a:srgbClr val="FF0000"/>
                  </a:solidFill>
                  <a:latin typeface="Times New Roman" panose="02020603050405020304" pitchFamily="18" charset="0"/>
                  <a:cs typeface="Times New Roman" panose="02020603050405020304" pitchFamily="18" charset="0"/>
                </a:rPr>
                <a:t>huyết</a:t>
              </a:r>
              <a:endParaRPr lang="ko-KR" altLang="en-US" sz="1600" b="1" dirty="0">
                <a:solidFill>
                  <a:srgbClr val="FF0000"/>
                </a:solidFill>
                <a:latin typeface="Times New Roman" panose="02020603050405020304" pitchFamily="18" charset="0"/>
                <a:cs typeface="Times New Roman" panose="02020603050405020304" pitchFamily="18" charset="0"/>
              </a:endParaRPr>
            </a:p>
          </p:txBody>
        </p:sp>
        <p:sp>
          <p:nvSpPr>
            <p:cNvPr id="7" name="직사각형 6"/>
            <p:cNvSpPr/>
            <p:nvPr/>
          </p:nvSpPr>
          <p:spPr bwMode="auto">
            <a:xfrm>
              <a:off x="2699793" y="2490402"/>
              <a:ext cx="1152128" cy="677102"/>
            </a:xfrm>
            <a:prstGeom prst="rect">
              <a:avLst/>
            </a:prstGeom>
            <a:solidFill>
              <a:srgbClr val="69B4FF"/>
            </a:solidFill>
            <a:ln w="9525" cap="flat" cmpd="sng" algn="ctr">
              <a:noFill/>
              <a:prstDash val="solid"/>
              <a:round/>
              <a:headEnd type="none" w="med" len="med"/>
              <a:tailEnd type="none" w="med" len="med"/>
            </a:ln>
            <a:effectLst/>
            <a:scene3d>
              <a:camera prst="isometricLeftDown"/>
              <a:lightRig rig="threePt" dir="t"/>
            </a:scene3d>
          </p:spPr>
          <p:txBody>
            <a:bodyPr lIns="85337" tIns="42669" rIns="85337" bIns="42669" anchor="ctr">
              <a:spAutoFit/>
            </a:bodyPr>
            <a:lstStyle/>
            <a:p>
              <a:pPr marL="342900" indent="-342900" defTabSz="854075">
                <a:defRPr/>
              </a:pPr>
              <a:r>
                <a:rPr lang="en-US" altLang="ko-KR" sz="1600" b="1" dirty="0" err="1">
                  <a:solidFill>
                    <a:srgbClr val="003399"/>
                  </a:solidFill>
                  <a:latin typeface="Times New Roman" panose="02020603050405020304" pitchFamily="18" charset="0"/>
                  <a:cs typeface="Times New Roman" panose="02020603050405020304" pitchFamily="18" charset="0"/>
                </a:rPr>
                <a:t>Chuyên</a:t>
              </a:r>
              <a:r>
                <a:rPr lang="en-US" altLang="ko-KR" sz="1600" b="1" dirty="0">
                  <a:solidFill>
                    <a:srgbClr val="003399"/>
                  </a:solidFill>
                  <a:latin typeface="Times New Roman" panose="02020603050405020304" pitchFamily="18" charset="0"/>
                  <a:cs typeface="Times New Roman" panose="02020603050405020304" pitchFamily="18" charset="0"/>
                </a:rPr>
                <a:t> </a:t>
              </a:r>
              <a:r>
                <a:rPr lang="en-US" altLang="ko-KR" sz="1600" b="1" dirty="0" err="1">
                  <a:solidFill>
                    <a:srgbClr val="003399"/>
                  </a:solidFill>
                  <a:latin typeface="Times New Roman" panose="02020603050405020304" pitchFamily="18" charset="0"/>
                  <a:cs typeface="Times New Roman" panose="02020603050405020304" pitchFamily="18" charset="0"/>
                </a:rPr>
                <a:t>nghiệp</a:t>
              </a:r>
              <a:endParaRPr lang="ko-KR" altLang="en-US" sz="1600" b="1" dirty="0">
                <a:solidFill>
                  <a:srgbClr val="003399"/>
                </a:solidFill>
                <a:latin typeface="Times New Roman" panose="02020603050405020304" pitchFamily="18" charset="0"/>
                <a:cs typeface="Times New Roman" panose="02020603050405020304" pitchFamily="18" charset="0"/>
              </a:endParaRPr>
            </a:p>
          </p:txBody>
        </p:sp>
        <p:sp>
          <p:nvSpPr>
            <p:cNvPr id="8" name="직사각형 7"/>
            <p:cNvSpPr/>
            <p:nvPr/>
          </p:nvSpPr>
          <p:spPr bwMode="auto">
            <a:xfrm>
              <a:off x="2345291" y="3363036"/>
              <a:ext cx="830862" cy="714036"/>
            </a:xfrm>
            <a:prstGeom prst="rect">
              <a:avLst/>
            </a:prstGeom>
            <a:solidFill>
              <a:srgbClr val="00C060"/>
            </a:solidFill>
            <a:ln w="9525" cap="flat" cmpd="sng" algn="ctr">
              <a:noFill/>
              <a:prstDash val="solid"/>
              <a:round/>
              <a:headEnd type="none" w="med" len="med"/>
              <a:tailEnd type="none" w="med" len="med"/>
            </a:ln>
            <a:effectLst/>
            <a:scene3d>
              <a:camera prst="isometricTopUp"/>
              <a:lightRig rig="threePt" dir="t"/>
            </a:scene3d>
          </p:spPr>
          <p:txBody>
            <a:bodyPr lIns="85337" tIns="42669" rIns="85337" bIns="42669" anchor="ctr">
              <a:spAutoFit/>
            </a:bodyPr>
            <a:lstStyle/>
            <a:p>
              <a:pPr marL="342900" indent="-342900" defTabSz="854075">
                <a:defRPr/>
              </a:pPr>
              <a:r>
                <a:rPr lang="en-US" altLang="ko-KR" sz="1700" b="1" dirty="0">
                  <a:solidFill>
                    <a:srgbClr val="008000"/>
                  </a:solidFill>
                  <a:latin typeface="Times New Roman" panose="02020603050405020304" pitchFamily="18" charset="0"/>
                  <a:cs typeface="Times New Roman" panose="02020603050405020304" pitchFamily="18" charset="0"/>
                </a:rPr>
                <a:t>Team</a:t>
              </a:r>
            </a:p>
            <a:p>
              <a:pPr marL="342900" indent="-342900" defTabSz="854075">
                <a:defRPr/>
              </a:pPr>
              <a:r>
                <a:rPr lang="en-US" altLang="ko-KR" sz="1700" b="1" dirty="0">
                  <a:solidFill>
                    <a:srgbClr val="008000"/>
                  </a:solidFill>
                  <a:latin typeface="Times New Roman" panose="02020603050405020304" pitchFamily="18" charset="0"/>
                  <a:cs typeface="Times New Roman" panose="02020603050405020304" pitchFamily="18" charset="0"/>
                </a:rPr>
                <a:t>work</a:t>
              </a:r>
              <a:endParaRPr lang="ko-KR" altLang="en-US" sz="1700" b="1" dirty="0">
                <a:solidFill>
                  <a:srgbClr val="008000"/>
                </a:solidFill>
                <a:latin typeface="Times New Roman" panose="02020603050405020304" pitchFamily="18" charset="0"/>
                <a:cs typeface="Times New Roman" panose="02020603050405020304" pitchFamily="18" charset="0"/>
              </a:endParaRPr>
            </a:p>
          </p:txBody>
        </p:sp>
        <p:sp>
          <p:nvSpPr>
            <p:cNvPr id="9226" name="직사각형 8"/>
            <p:cNvSpPr>
              <a:spLocks noChangeArrowheads="1"/>
            </p:cNvSpPr>
            <p:nvPr/>
          </p:nvSpPr>
          <p:spPr bwMode="auto">
            <a:xfrm>
              <a:off x="3995738" y="2708275"/>
              <a:ext cx="5081587" cy="917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lIns="85337" tIns="42669" rIns="85337" bIns="42669" anchor="ctr">
              <a:spAutoFit/>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Người</a:t>
              </a:r>
              <a:r>
                <a:rPr lang="en-US" altLang="ko-KR" sz="1500" b="1" dirty="0">
                  <a:latin typeface="Times New Roman" pitchFamily="18" charset="0"/>
                  <a:cs typeface="Times New Roman" pitchFamily="18" charset="0"/>
                </a:rPr>
                <a:t> LGD </a:t>
              </a:r>
              <a:r>
                <a:rPr lang="en-US" altLang="ko-KR" sz="1500" b="1" dirty="0" err="1">
                  <a:latin typeface="Times New Roman" pitchFamily="18" charset="0"/>
                  <a:cs typeface="Times New Roman" pitchFamily="18" charset="0"/>
                </a:rPr>
                <a:t>xây</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dựng</a:t>
              </a:r>
              <a:r>
                <a:rPr lang="en-US" altLang="ko-KR" sz="1500" b="1" dirty="0">
                  <a:latin typeface="Times New Roman" pitchFamily="18" charset="0"/>
                  <a:cs typeface="Times New Roman" pitchFamily="18" charset="0"/>
                </a:rPr>
                <a:t> teamwork </a:t>
              </a:r>
              <a:r>
                <a:rPr lang="en-US" altLang="ko-KR" sz="1500" b="1" dirty="0" err="1">
                  <a:latin typeface="Times New Roman" pitchFamily="18" charset="0"/>
                  <a:cs typeface="Times New Roman" pitchFamily="18" charset="0"/>
                </a:rPr>
                <a:t>dựa</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trên</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nền</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tảng</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quan</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tâm</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lẫn</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nhau</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và</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hướng</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tới</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trở</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thành</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chuyên</a:t>
              </a:r>
              <a:r>
                <a:rPr lang="en-US" altLang="ko-KR" sz="1500" b="1" dirty="0">
                  <a:latin typeface="Times New Roman" pitchFamily="18" charset="0"/>
                  <a:cs typeface="Times New Roman" pitchFamily="18" charset="0"/>
                </a:rPr>
                <a:t> </a:t>
              </a:r>
              <a:r>
                <a:rPr lang="en-US" altLang="ko-KR" sz="1500" b="1" dirty="0" err="1">
                  <a:latin typeface="Times New Roman" pitchFamily="18" charset="0"/>
                  <a:cs typeface="Times New Roman" pitchFamily="18" charset="0"/>
                </a:rPr>
                <a:t>gia</a:t>
              </a:r>
              <a:r>
                <a:rPr lang="en-US" altLang="ko-KR" sz="1500" b="1" dirty="0">
                  <a:latin typeface="Times New Roman" pitchFamily="18" charset="0"/>
                  <a:cs typeface="Times New Roman" pitchFamily="18" charset="0"/>
                </a:rPr>
                <a:t> </a:t>
              </a:r>
              <a:r>
                <a:rPr lang="en-US" altLang="ko-KR" sz="1500" b="1" dirty="0" err="1" smtClean="0">
                  <a:latin typeface="Times New Roman" pitchFamily="18" charset="0"/>
                  <a:cs typeface="Times New Roman" pitchFamily="18" charset="0"/>
                </a:rPr>
                <a:t>tràn</a:t>
              </a:r>
              <a:r>
                <a:rPr lang="en-US" altLang="ko-KR" sz="1500" b="1" dirty="0" smtClean="0">
                  <a:latin typeface="Times New Roman" pitchFamily="18" charset="0"/>
                  <a:cs typeface="Times New Roman" pitchFamily="18" charset="0"/>
                </a:rPr>
                <a:t> </a:t>
              </a:r>
              <a:r>
                <a:rPr lang="en-US" altLang="ko-KR" sz="1500" b="1" dirty="0" err="1" smtClean="0">
                  <a:latin typeface="Times New Roman" pitchFamily="18" charset="0"/>
                  <a:cs typeface="Times New Roman" pitchFamily="18" charset="0"/>
                </a:rPr>
                <a:t>đầy</a:t>
              </a:r>
              <a:r>
                <a:rPr lang="en-US" altLang="ko-KR" sz="1500" b="1" dirty="0" smtClean="0">
                  <a:latin typeface="Times New Roman" pitchFamily="18" charset="0"/>
                  <a:cs typeface="Times New Roman" pitchFamily="18" charset="0"/>
                </a:rPr>
                <a:t> </a:t>
              </a:r>
              <a:r>
                <a:rPr lang="en-US" altLang="ko-KR" sz="1500" b="1" dirty="0" err="1" smtClean="0">
                  <a:latin typeface="Times New Roman" pitchFamily="18" charset="0"/>
                  <a:cs typeface="Times New Roman" pitchFamily="18" charset="0"/>
                </a:rPr>
                <a:t>nhiệt</a:t>
              </a:r>
              <a:r>
                <a:rPr lang="en-US" altLang="ko-KR" sz="1500" b="1" dirty="0" smtClean="0">
                  <a:latin typeface="Times New Roman" pitchFamily="18" charset="0"/>
                  <a:cs typeface="Times New Roman" pitchFamily="18" charset="0"/>
                </a:rPr>
                <a:t> </a:t>
              </a:r>
              <a:r>
                <a:rPr lang="en-US" altLang="ko-KR" sz="1500" b="1" dirty="0" err="1" smtClean="0">
                  <a:latin typeface="Times New Roman" pitchFamily="18" charset="0"/>
                  <a:cs typeface="Times New Roman" pitchFamily="18" charset="0"/>
                </a:rPr>
                <a:t>huyết</a:t>
              </a:r>
              <a:r>
                <a:rPr lang="en-US" altLang="ko-KR" sz="1500" b="1" dirty="0" smtClean="0">
                  <a:latin typeface="Times New Roman" pitchFamily="18" charset="0"/>
                  <a:cs typeface="Times New Roman" pitchFamily="18" charset="0"/>
                </a:rPr>
                <a:t>. </a:t>
              </a:r>
              <a:endParaRPr lang="ko-KR" altLang="en-US" sz="1500" b="1" dirty="0">
                <a:latin typeface="Times New Roman" pitchFamily="18" charset="0"/>
                <a:cs typeface="Times New Roman" pitchFamily="18" charset="0"/>
              </a:endParaRPr>
            </a:p>
          </p:txBody>
        </p:sp>
        <p:sp>
          <p:nvSpPr>
            <p:cNvPr id="9227" name="직사각형 8"/>
            <p:cNvSpPr>
              <a:spLocks noChangeArrowheads="1"/>
            </p:cNvSpPr>
            <p:nvPr/>
          </p:nvSpPr>
          <p:spPr bwMode="auto">
            <a:xfrm>
              <a:off x="1042988" y="1773238"/>
              <a:ext cx="2233612" cy="4175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lIns="85337" tIns="42669" rIns="85337" bIns="42669" anchor="ctr">
              <a:spAutoFit/>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b="1" dirty="0" err="1">
                  <a:latin typeface="Times New Roman" pitchFamily="18" charset="0"/>
                  <a:cs typeface="Times New Roman" pitchFamily="18" charset="0"/>
                </a:rPr>
                <a:t>Tinh</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thần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chiến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thắng</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thử</a:t>
              </a:r>
              <a:r>
                <a:rPr lang="en-US" altLang="ko-KR" sz="900" b="1" dirty="0">
                  <a:latin typeface="Times New Roman" pitchFamily="18" charset="0"/>
                  <a:cs typeface="Times New Roman" pitchFamily="18" charset="0"/>
                </a:rPr>
                <a:t> </a:t>
              </a:r>
              <a:r>
                <a:rPr lang="en-US" altLang="ko-KR" sz="900" b="1" dirty="0" err="1" smtClean="0">
                  <a:latin typeface="Times New Roman" pitchFamily="18" charset="0"/>
                  <a:cs typeface="Times New Roman" pitchFamily="18" charset="0"/>
                </a:rPr>
                <a:t>thách</a:t>
              </a:r>
              <a:endParaRPr lang="en-US" altLang="ko-KR" sz="900" b="1" dirty="0" smtClean="0">
                <a:latin typeface="Times New Roman" pitchFamily="18" charset="0"/>
                <a:cs typeface="Times New Roman" pitchFamily="18" charset="0"/>
              </a:endParaRPr>
            </a:p>
            <a:p>
              <a:pPr eaLnBrk="1" hangingPunct="1">
                <a:spcBef>
                  <a:spcPct val="0"/>
                </a:spcBef>
                <a:buFontTx/>
                <a:buNone/>
              </a:pPr>
              <a:r>
                <a:rPr lang="en-US" altLang="ko-KR" sz="900" b="1" dirty="0" err="1" smtClean="0">
                  <a:latin typeface="Times New Roman" pitchFamily="18" charset="0"/>
                  <a:cs typeface="Times New Roman" pitchFamily="18" charset="0"/>
                </a:rPr>
                <a:t>Nhiệt</a:t>
              </a:r>
              <a:r>
                <a:rPr lang="en-US" altLang="ko-KR" sz="900" b="1" dirty="0" smtClean="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huyết</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với</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công</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việc</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và</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công</a:t>
              </a:r>
              <a:r>
                <a:rPr lang="en-US" altLang="ko-KR" sz="900" b="1" dirty="0">
                  <a:latin typeface="Times New Roman" pitchFamily="18" charset="0"/>
                  <a:cs typeface="Times New Roman" pitchFamily="18" charset="0"/>
                </a:rPr>
                <a:t> ty</a:t>
              </a:r>
              <a:endParaRPr lang="ko-KR" altLang="en-US" sz="900" b="1" dirty="0">
                <a:latin typeface="Times New Roman" pitchFamily="18" charset="0"/>
                <a:cs typeface="Times New Roman" pitchFamily="18" charset="0"/>
              </a:endParaRPr>
            </a:p>
          </p:txBody>
        </p:sp>
        <p:sp>
          <p:nvSpPr>
            <p:cNvPr id="9228" name="직사각형 8"/>
            <p:cNvSpPr>
              <a:spLocks noChangeArrowheads="1"/>
            </p:cNvSpPr>
            <p:nvPr/>
          </p:nvSpPr>
          <p:spPr bwMode="auto">
            <a:xfrm>
              <a:off x="5435600" y="1762125"/>
              <a:ext cx="2157413" cy="4175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lIns="85337" tIns="42669" rIns="85337" bIns="42669" anchor="ctr">
              <a:spAutoFit/>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b="1" dirty="0" err="1">
                  <a:latin typeface="Times New Roman" pitchFamily="18" charset="0"/>
                  <a:cs typeface="Times New Roman" pitchFamily="18" charset="0"/>
                </a:rPr>
                <a:t>Tiến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tới</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tính</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chuyên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nghiệp</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cao</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nhất</a:t>
              </a:r>
              <a:r>
                <a:rPr lang="en-US" altLang="ko-KR" sz="900" b="1" dirty="0">
                  <a:latin typeface="Times New Roman" pitchFamily="18" charset="0"/>
                  <a:cs typeface="Times New Roman" pitchFamily="18" charset="0"/>
                </a:rPr>
                <a:t>,</a:t>
              </a:r>
            </a:p>
            <a:p>
              <a:pPr eaLnBrk="1" hangingPunct="1">
                <a:spcBef>
                  <a:spcPct val="0"/>
                </a:spcBef>
                <a:buFontTx/>
                <a:buNone/>
              </a:pPr>
              <a:r>
                <a:rPr lang="en-US" altLang="ko-KR" sz="900" b="1" dirty="0" err="1">
                  <a:latin typeface="Times New Roman" pitchFamily="18" charset="0"/>
                  <a:cs typeface="Times New Roman" pitchFamily="18" charset="0"/>
                </a:rPr>
                <a:t>Sáng</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tạo</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tạo</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nên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thành</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quả</a:t>
              </a:r>
              <a:endParaRPr lang="ko-KR" altLang="en-US" sz="900" b="1" dirty="0">
                <a:latin typeface="Times New Roman" pitchFamily="18" charset="0"/>
                <a:cs typeface="Times New Roman" pitchFamily="18" charset="0"/>
              </a:endParaRPr>
            </a:p>
          </p:txBody>
        </p:sp>
        <p:sp>
          <p:nvSpPr>
            <p:cNvPr id="9229" name="직사각형 8"/>
            <p:cNvSpPr>
              <a:spLocks noChangeArrowheads="1"/>
            </p:cNvSpPr>
            <p:nvPr/>
          </p:nvSpPr>
          <p:spPr bwMode="auto">
            <a:xfrm>
              <a:off x="5197475" y="4221163"/>
              <a:ext cx="2157413" cy="419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lIns="85337" tIns="42669" rIns="85337" bIns="42669" anchor="ctr">
              <a:spAutoFit/>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b="1" dirty="0" err="1" smtClean="0">
                  <a:latin typeface="Times New Roman" pitchFamily="18" charset="0"/>
                  <a:cs typeface="Times New Roman" pitchFamily="18" charset="0"/>
                </a:rPr>
                <a:t>Thực</a:t>
              </a:r>
              <a:r>
                <a:rPr lang="en-US" altLang="ko-KR" sz="900" b="1" dirty="0" smtClean="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hiện</a:t>
              </a:r>
              <a:r>
                <a:rPr lang="en-US" altLang="ko-KR" sz="900" b="1" dirty="0">
                  <a:latin typeface="Times New Roman" pitchFamily="18" charset="0"/>
                  <a:cs typeface="Times New Roman" pitchFamily="18" charset="0"/>
                </a:rPr>
                <a:t> teamwork </a:t>
              </a:r>
              <a:r>
                <a:rPr lang="en-US" altLang="ko-KR" sz="900" b="1" dirty="0" err="1">
                  <a:latin typeface="Times New Roman" pitchFamily="18" charset="0"/>
                  <a:cs typeface="Times New Roman" pitchFamily="18" charset="0"/>
                </a:rPr>
                <a:t>trên</a:t>
              </a:r>
              <a:endParaRPr lang="en-US" altLang="ko-KR" sz="900" b="1" dirty="0">
                <a:latin typeface="Times New Roman" pitchFamily="18" charset="0"/>
                <a:cs typeface="Times New Roman" pitchFamily="18" charset="0"/>
              </a:endParaRPr>
            </a:p>
            <a:p>
              <a:pPr eaLnBrk="1" hangingPunct="1">
                <a:spcBef>
                  <a:spcPct val="0"/>
                </a:spcBef>
                <a:buFontTx/>
                <a:buNone/>
              </a:pPr>
              <a:r>
                <a:rPr lang="en-US" altLang="ko-KR" sz="900" b="1" dirty="0" err="1">
                  <a:latin typeface="Times New Roman" pitchFamily="18" charset="0"/>
                  <a:cs typeface="Times New Roman" pitchFamily="18" charset="0"/>
                </a:rPr>
                <a:t>tinh</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thần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quan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tâm</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lẫn</a:t>
              </a:r>
              <a:r>
                <a:rPr lang="en-US" altLang="ko-KR" sz="900" b="1" dirty="0">
                  <a:latin typeface="Times New Roman" pitchFamily="18" charset="0"/>
                  <a:cs typeface="Times New Roman" pitchFamily="18" charset="0"/>
                </a:rPr>
                <a:t> </a:t>
              </a:r>
              <a:r>
                <a:rPr lang="en-US" altLang="ko-KR" sz="900" b="1" dirty="0" err="1">
                  <a:latin typeface="Times New Roman" pitchFamily="18" charset="0"/>
                  <a:cs typeface="Times New Roman" pitchFamily="18" charset="0"/>
                </a:rPr>
                <a:t>nhau</a:t>
              </a:r>
              <a:endParaRPr lang="ko-KR" altLang="en-US" sz="900" b="1" dirty="0">
                <a:latin typeface="Times New Roman" pitchFamily="18" charset="0"/>
                <a:cs typeface="Times New Roman" pitchFamily="18" charset="0"/>
              </a:endParaRPr>
            </a:p>
          </p:txBody>
        </p:sp>
      </p:grpSp>
      <p:sp>
        <p:nvSpPr>
          <p:cNvPr id="2" name="직사각형 1"/>
          <p:cNvSpPr/>
          <p:nvPr/>
        </p:nvSpPr>
        <p:spPr bwMode="auto">
          <a:xfrm>
            <a:off x="85348" y="4725144"/>
            <a:ext cx="8574491" cy="1417117"/>
          </a:xfrm>
          <a:prstGeom prst="rect">
            <a:avLst/>
          </a:prstGeom>
          <a:solidFill>
            <a:schemeClr val="bg1"/>
          </a:solidFill>
          <a:ln w="9525" cap="flat" cmpd="sng" algn="ctr">
            <a:noFill/>
            <a:prstDash val="solid"/>
            <a:round/>
            <a:headEnd type="none" w="med" len="med"/>
            <a:tailEnd type="none" w="med" len="med"/>
          </a:ln>
          <a:effectLst/>
        </p:spPr>
        <p:txBody>
          <a:bodyPr vert="horz" wrap="square" lIns="85337" tIns="42669" rIns="85337" bIns="42669" numCol="1" rtlCol="0" anchor="ctr" anchorCtr="0" compatLnSpc="1">
            <a:prstTxWarp prst="textNoShape">
              <a:avLst/>
            </a:prstTxWarp>
            <a:noAutofit/>
          </a:bodyPr>
          <a:lstStyle/>
          <a:p>
            <a:pPr marL="342900" marR="0" indent="-342900" algn="l" defTabSz="854075" rtl="0" eaLnBrk="1" fontAlgn="base" latinLnBrk="1" hangingPunct="1">
              <a:lnSpc>
                <a:spcPct val="120000"/>
              </a:lnSpc>
              <a:spcBef>
                <a:spcPct val="0"/>
              </a:spcBef>
              <a:spcAft>
                <a:spcPct val="0"/>
              </a:spcAft>
              <a:buClrTx/>
              <a:buSzTx/>
              <a:buFontTx/>
              <a:buNone/>
              <a:tabLst/>
            </a:pPr>
            <a:endParaRPr kumimoji="1" lang="ko-KR" altLang="en-US" sz="2000" b="0" i="0" u="none" strike="noStrike" cap="none" normalizeH="0" baseline="0" smtClean="0">
              <a:ln>
                <a:noFill/>
              </a:ln>
              <a:solidFill>
                <a:schemeClr val="tx1"/>
              </a:solidFill>
              <a:effectLst/>
              <a:latin typeface="HY견고딕" pitchFamily="18" charset="-127"/>
              <a:ea typeface="HY견고딕" pitchFamily="18" charset="-127"/>
            </a:endParaRPr>
          </a:p>
        </p:txBody>
      </p:sp>
    </p:spTree>
    <p:extLst>
      <p:ext uri="{BB962C8B-B14F-4D97-AF65-F5344CB8AC3E}">
        <p14:creationId xmlns:p14="http://schemas.microsoft.com/office/powerpoint/2010/main" val="37430264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1" name="Arc 3"/>
          <p:cNvSpPr>
            <a:spLocks/>
          </p:cNvSpPr>
          <p:nvPr/>
        </p:nvSpPr>
        <p:spPr bwMode="auto">
          <a:xfrm>
            <a:off x="0" y="839788"/>
            <a:ext cx="3398838" cy="60182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gradFill rotWithShape="0">
            <a:gsLst>
              <a:gs pos="0">
                <a:schemeClr val="accent2">
                  <a:gamma/>
                  <a:tint val="0"/>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latinLnBrk="1">
              <a:lnSpc>
                <a:spcPct val="100000"/>
              </a:lnSpc>
              <a:defRPr/>
            </a:pPr>
            <a:endParaRPr lang="ko-KR" altLang="ko-KR" sz="2400">
              <a:latin typeface="Times New Roman" pitchFamily="18" charset="0"/>
            </a:endParaRPr>
          </a:p>
        </p:txBody>
      </p:sp>
      <p:sp>
        <p:nvSpPr>
          <p:cNvPr id="9220" name="Line 5"/>
          <p:cNvSpPr>
            <a:spLocks noChangeShapeType="1"/>
          </p:cNvSpPr>
          <p:nvPr/>
        </p:nvSpPr>
        <p:spPr bwMode="auto">
          <a:xfrm>
            <a:off x="2836863" y="1125538"/>
            <a:ext cx="3903662" cy="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9221" name="Text Box 389"/>
          <p:cNvSpPr txBox="1">
            <a:spLocks noChangeArrowheads="1"/>
          </p:cNvSpPr>
          <p:nvPr/>
        </p:nvSpPr>
        <p:spPr bwMode="auto">
          <a:xfrm>
            <a:off x="3589338" y="1133475"/>
            <a:ext cx="2959100" cy="402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latinLnBrk="1">
              <a:lnSpc>
                <a:spcPct val="100000"/>
              </a:lnSpc>
            </a:pPr>
            <a:r>
              <a:rPr lang="en-US" altLang="ko-KR" sz="1600" b="1">
                <a:latin typeface="Times New Roman" pitchFamily="18" charset="0"/>
                <a:cs typeface="Times New Roman" pitchFamily="18" charset="0"/>
              </a:rPr>
              <a:t>1. Điện-Điện tử căn bản</a:t>
            </a:r>
            <a:endParaRPr lang="ko-KR" altLang="en-US" sz="1600" b="1">
              <a:latin typeface="Times New Roman" pitchFamily="18" charset="0"/>
              <a:cs typeface="Times New Roman" pitchFamily="18" charset="0"/>
            </a:endParaRPr>
          </a:p>
          <a:p>
            <a:pPr eaLnBrk="1" hangingPunct="1"/>
            <a:r>
              <a:rPr lang="en-US" altLang="ko-KR" sz="1400" b="1">
                <a:latin typeface="Times New Roman" pitchFamily="18" charset="0"/>
                <a:cs typeface="Times New Roman" pitchFamily="18" charset="0"/>
              </a:rPr>
              <a:t>    1. Khái niệm điện-điện tử</a:t>
            </a:r>
            <a:endParaRPr lang="ko-KR" altLang="en-US" sz="1400" b="1">
              <a:latin typeface="Times New Roman" pitchFamily="18" charset="0"/>
              <a:cs typeface="Times New Roman" pitchFamily="18" charset="0"/>
            </a:endParaRPr>
          </a:p>
          <a:p>
            <a:pPr eaLnBrk="1" latinLnBrk="1" hangingPunct="1">
              <a:lnSpc>
                <a:spcPct val="100000"/>
              </a:lnSpc>
            </a:pPr>
            <a:r>
              <a:rPr lang="ko-KR" altLang="en-US" sz="1400" b="1">
                <a:latin typeface="Times New Roman" pitchFamily="18" charset="0"/>
                <a:cs typeface="Times New Roman" pitchFamily="18" charset="0"/>
              </a:rPr>
              <a:t>    </a:t>
            </a:r>
            <a:r>
              <a:rPr lang="en-US" altLang="ko-KR" sz="1400" b="1">
                <a:latin typeface="Times New Roman" pitchFamily="18" charset="0"/>
                <a:cs typeface="Times New Roman" pitchFamily="18" charset="0"/>
              </a:rPr>
              <a:t>2. An toàn điện</a:t>
            </a:r>
            <a:endParaRPr lang="ko-KR" altLang="en-US" sz="1400" b="1">
              <a:latin typeface="Times New Roman" pitchFamily="18" charset="0"/>
              <a:cs typeface="Times New Roman" pitchFamily="18" charset="0"/>
            </a:endParaRPr>
          </a:p>
          <a:p>
            <a:pPr eaLnBrk="1" latinLnBrk="1" hangingPunct="1"/>
            <a:r>
              <a:rPr lang="en-US" altLang="ko-KR" sz="1400" b="1">
                <a:latin typeface="Times New Roman" pitchFamily="18" charset="0"/>
                <a:cs typeface="Times New Roman" pitchFamily="18" charset="0"/>
              </a:rPr>
              <a:t>    3. Đo điện</a:t>
            </a:r>
            <a:endParaRPr lang="en-US" altLang="ko-KR" sz="1400">
              <a:latin typeface="Times New Roman" pitchFamily="18" charset="0"/>
              <a:cs typeface="Times New Roman" pitchFamily="18" charset="0"/>
            </a:endParaRPr>
          </a:p>
          <a:p>
            <a:pPr eaLnBrk="1" latinLnBrk="1" hangingPunct="1"/>
            <a:r>
              <a:rPr lang="en-US" altLang="ko-KR" sz="1400">
                <a:latin typeface="Times New Roman" pitchFamily="18" charset="0"/>
                <a:cs typeface="Times New Roman" pitchFamily="18" charset="0"/>
              </a:rPr>
              <a:t>    </a:t>
            </a:r>
            <a:r>
              <a:rPr lang="en-US" altLang="ko-KR" sz="1400" b="1">
                <a:latin typeface="Times New Roman" pitchFamily="18" charset="0"/>
                <a:cs typeface="Times New Roman" pitchFamily="18" charset="0"/>
              </a:rPr>
              <a:t>4. Đo tín hiệu</a:t>
            </a:r>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r>
              <a:rPr lang="en-US" altLang="ko-KR" sz="1600" b="1">
                <a:latin typeface="Times New Roman" pitchFamily="18" charset="0"/>
                <a:cs typeface="Times New Roman" pitchFamily="18" charset="0"/>
              </a:rPr>
              <a:t>2. Linh kiện điện tử thụ động</a:t>
            </a:r>
          </a:p>
          <a:p>
            <a:pPr latinLnBrk="1">
              <a:lnSpc>
                <a:spcPct val="100000"/>
              </a:lnSpc>
            </a:pPr>
            <a:r>
              <a:rPr lang="en-US" altLang="ko-KR" b="1">
                <a:latin typeface="Times New Roman" pitchFamily="18" charset="0"/>
                <a:cs typeface="Times New Roman" pitchFamily="18" charset="0"/>
              </a:rPr>
              <a:t>     </a:t>
            </a:r>
            <a:r>
              <a:rPr lang="en-US" altLang="ko-KR" sz="1400" b="1">
                <a:latin typeface="Times New Roman" pitchFamily="18" charset="0"/>
                <a:cs typeface="Times New Roman" pitchFamily="18" charset="0"/>
              </a:rPr>
              <a:t>1. Điện trở</a:t>
            </a:r>
          </a:p>
          <a:p>
            <a:pPr latinLnBrk="1"/>
            <a:r>
              <a:rPr lang="en-US" altLang="ko-KR" sz="1400" b="1">
                <a:latin typeface="Times New Roman" pitchFamily="18" charset="0"/>
                <a:cs typeface="Times New Roman" pitchFamily="18" charset="0"/>
              </a:rPr>
              <a:t>    2. Tụ điện</a:t>
            </a:r>
          </a:p>
          <a:p>
            <a:pPr latinLnBrk="1"/>
            <a:r>
              <a:rPr lang="en-US" altLang="ko-KR" sz="1400" b="1">
                <a:latin typeface="Times New Roman" pitchFamily="18" charset="0"/>
                <a:cs typeface="Times New Roman" pitchFamily="18" charset="0"/>
              </a:rPr>
              <a:t>    3. Cuộn cảm</a:t>
            </a:r>
            <a:endParaRPr lang="ko-KR" altLang="en-US" sz="1400" b="1">
              <a:latin typeface="Times New Roman" pitchFamily="18" charset="0"/>
              <a:cs typeface="Times New Roman" pitchFamily="18" charset="0"/>
            </a:endParaRPr>
          </a:p>
          <a:p>
            <a:pPr latinLnBrk="1"/>
            <a:r>
              <a:rPr lang="en-US" altLang="ko-KR" sz="1400" b="1">
                <a:latin typeface="Times New Roman" pitchFamily="18" charset="0"/>
                <a:cs typeface="Times New Roman" pitchFamily="18" charset="0"/>
              </a:rPr>
              <a:t>    4. Thiết bị chip</a:t>
            </a:r>
          </a:p>
          <a:p>
            <a:pPr latinLnBrk="1">
              <a:lnSpc>
                <a:spcPct val="100000"/>
              </a:lnSpc>
            </a:pPr>
            <a:endParaRPr lang="en-US" altLang="ko-KR" sz="1400" b="1">
              <a:latin typeface="Times New Roman" pitchFamily="18" charset="0"/>
              <a:cs typeface="Times New Roman" pitchFamily="18" charset="0"/>
            </a:endParaRPr>
          </a:p>
          <a:p>
            <a:pPr latinLnBrk="1">
              <a:lnSpc>
                <a:spcPct val="100000"/>
              </a:lnSpc>
            </a:pPr>
            <a:r>
              <a:rPr lang="en-US" altLang="ko-KR" sz="1600" b="1">
                <a:latin typeface="Times New Roman" pitchFamily="18" charset="0"/>
                <a:cs typeface="Times New Roman" pitchFamily="18" charset="0"/>
              </a:rPr>
              <a:t>3. Linh kiện điện tử chủ động</a:t>
            </a:r>
            <a:endParaRPr lang="ko-KR" altLang="en-US" sz="1600" b="1">
              <a:latin typeface="Times New Roman" pitchFamily="18" charset="0"/>
              <a:cs typeface="Times New Roman" pitchFamily="18" charset="0"/>
            </a:endParaRPr>
          </a:p>
          <a:p>
            <a:pPr latinLnBrk="1">
              <a:lnSpc>
                <a:spcPct val="100000"/>
              </a:lnSpc>
            </a:pPr>
            <a:r>
              <a:rPr lang="en-US" altLang="ko-KR" sz="1400" b="1">
                <a:latin typeface="Times New Roman" pitchFamily="18" charset="0"/>
                <a:cs typeface="Times New Roman" pitchFamily="18" charset="0"/>
              </a:rPr>
              <a:t>    1. Linh kiện điện tử bán dẫn</a:t>
            </a:r>
            <a:endParaRPr lang="ko-KR" altLang="en-US" sz="1400" b="1">
              <a:latin typeface="Times New Roman" pitchFamily="18" charset="0"/>
              <a:cs typeface="Times New Roman" pitchFamily="18" charset="0"/>
            </a:endParaRPr>
          </a:p>
          <a:p>
            <a:pPr latinLnBrk="1">
              <a:lnSpc>
                <a:spcPct val="100000"/>
              </a:lnSpc>
            </a:pPr>
            <a:r>
              <a:rPr lang="en-US" altLang="ko-KR" sz="1400" b="1">
                <a:latin typeface="Times New Roman" pitchFamily="18" charset="0"/>
                <a:cs typeface="Times New Roman" pitchFamily="18" charset="0"/>
              </a:rPr>
              <a:t>    2. Linh kiện kiểm soát nguồn điện</a:t>
            </a:r>
            <a:endParaRPr lang="ko-KR" altLang="en-US" sz="1400" b="1">
              <a:latin typeface="Times New Roman" pitchFamily="18" charset="0"/>
              <a:cs typeface="Times New Roman" pitchFamily="18" charset="0"/>
            </a:endParaRPr>
          </a:p>
          <a:p>
            <a:pPr latinLnBrk="1"/>
            <a:r>
              <a:rPr lang="en-US" altLang="ko-KR" sz="1400" b="1">
                <a:latin typeface="Times New Roman" pitchFamily="18" charset="0"/>
                <a:cs typeface="Times New Roman" pitchFamily="18" charset="0"/>
              </a:rPr>
              <a:t>    3. Máy dò</a:t>
            </a:r>
            <a:endParaRPr lang="ko-KR" altLang="en-US" sz="1400" b="1">
              <a:latin typeface="Times New Roman" pitchFamily="18" charset="0"/>
              <a:cs typeface="Times New Roman" pitchFamily="18" charset="0"/>
            </a:endParaRPr>
          </a:p>
        </p:txBody>
      </p:sp>
      <p:sp>
        <p:nvSpPr>
          <p:cNvPr id="6" name="Text Box 2"/>
          <p:cNvSpPr txBox="1">
            <a:spLocks noChangeArrowheads="1"/>
          </p:cNvSpPr>
          <p:nvPr/>
        </p:nvSpPr>
        <p:spPr bwMode="auto">
          <a:xfrm>
            <a:off x="2209800" y="512763"/>
            <a:ext cx="4892675"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689" tIns="35844" rIns="71689" bIns="35844">
            <a:spAutoFit/>
          </a:bodyPr>
          <a:lstStyle>
            <a:lvl1pPr defTabSz="717550" eaLnBrk="0" hangingPunct="0">
              <a:defRPr kumimoji="1" sz="1200">
                <a:solidFill>
                  <a:schemeClr val="tx1"/>
                </a:solidFill>
                <a:latin typeface="굴림" pitchFamily="50" charset="-127"/>
                <a:ea typeface="굴림" pitchFamily="50" charset="-127"/>
              </a:defRPr>
            </a:lvl1pPr>
            <a:lvl2pPr marL="742950" indent="-285750" defTabSz="717550" eaLnBrk="0" hangingPunct="0">
              <a:defRPr kumimoji="1" sz="1200">
                <a:solidFill>
                  <a:schemeClr val="tx1"/>
                </a:solidFill>
                <a:latin typeface="굴림" pitchFamily="50" charset="-127"/>
                <a:ea typeface="굴림" pitchFamily="50" charset="-127"/>
              </a:defRPr>
            </a:lvl2pPr>
            <a:lvl3pPr marL="1143000" indent="-228600" defTabSz="717550" eaLnBrk="0" hangingPunct="0">
              <a:defRPr kumimoji="1" sz="1200">
                <a:solidFill>
                  <a:schemeClr val="tx1"/>
                </a:solidFill>
                <a:latin typeface="굴림" pitchFamily="50" charset="-127"/>
                <a:ea typeface="굴림" pitchFamily="50" charset="-127"/>
              </a:defRPr>
            </a:lvl3pPr>
            <a:lvl4pPr marL="1600200" indent="-228600" defTabSz="717550" eaLnBrk="0" hangingPunct="0">
              <a:defRPr kumimoji="1" sz="1200">
                <a:solidFill>
                  <a:schemeClr val="tx1"/>
                </a:solidFill>
                <a:latin typeface="굴림" pitchFamily="50" charset="-127"/>
                <a:ea typeface="굴림" pitchFamily="50" charset="-127"/>
              </a:defRPr>
            </a:lvl4pPr>
            <a:lvl5pPr marL="2057400" indent="-228600" defTabSz="717550" eaLnBrk="0" hangingPunct="0">
              <a:defRPr kumimoji="1" sz="1200">
                <a:solidFill>
                  <a:schemeClr val="tx1"/>
                </a:solidFill>
                <a:latin typeface="굴림" pitchFamily="50" charset="-127"/>
                <a:ea typeface="굴림" pitchFamily="50" charset="-127"/>
              </a:defRPr>
            </a:lvl5pPr>
            <a:lvl6pPr marL="2514600" indent="-228600" algn="ctr" defTabSz="71755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algn="ctr" defTabSz="71755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algn="ctr" defTabSz="71755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algn="ctr" defTabSz="71755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spcBef>
                <a:spcPct val="50000"/>
              </a:spcBef>
            </a:pPr>
            <a:r>
              <a:rPr lang="en-US" altLang="ko-KR" sz="3200" dirty="0" err="1" smtClean="0">
                <a:latin typeface="Times New Roman" panose="02020603050405020304" pitchFamily="18" charset="0"/>
                <a:ea typeface="HY견고딕" pitchFamily="18" charset="-127"/>
                <a:cs typeface="Times New Roman" panose="02020603050405020304" pitchFamily="18" charset="0"/>
              </a:rPr>
              <a:t>Mục</a:t>
            </a:r>
            <a:r>
              <a:rPr lang="en-US" altLang="ko-KR" sz="3200" dirty="0" smtClean="0">
                <a:latin typeface="Times New Roman" panose="02020603050405020304" pitchFamily="18" charset="0"/>
                <a:ea typeface="HY견고딕" pitchFamily="18" charset="-127"/>
                <a:cs typeface="Times New Roman" panose="02020603050405020304" pitchFamily="18" charset="0"/>
              </a:rPr>
              <a:t> </a:t>
            </a:r>
            <a:r>
              <a:rPr lang="en-US" altLang="ko-KR" sz="3200" dirty="0" err="1" smtClean="0">
                <a:latin typeface="Times New Roman" panose="02020603050405020304" pitchFamily="18" charset="0"/>
                <a:ea typeface="HY견고딕" pitchFamily="18" charset="-127"/>
                <a:cs typeface="Times New Roman" panose="02020603050405020304" pitchFamily="18" charset="0"/>
              </a:rPr>
              <a:t>lục</a:t>
            </a:r>
            <a:endParaRPr lang="ko-KR" altLang="en-US" sz="3200" dirty="0">
              <a:latin typeface="Times New Roman" panose="02020603050405020304" pitchFamily="18" charset="0"/>
              <a:ea typeface="HY견고딕" pitchFamily="18" charset="-127"/>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DD28B10-49C5-484D-92A9-26706587BC38}" type="slidenum">
              <a:rPr lang="en-US" altLang="ko-KR" sz="1400" smtClean="0"/>
              <a:pPr eaLnBrk="1" hangingPunct="1"/>
              <a:t>5</a:t>
            </a:fld>
            <a:endParaRPr lang="en-US" altLang="ko-KR" sz="1400" smtClean="0"/>
          </a:p>
        </p:txBody>
      </p:sp>
      <p:pic>
        <p:nvPicPr>
          <p:cNvPr id="10243" name="Picture 7" descr="MCj0436917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03675"/>
            <a:ext cx="2484438"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10" descr="MCj0441458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2420938"/>
            <a:ext cx="274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3"/>
          <p:cNvSpPr>
            <a:spLocks noChangeArrowheads="1"/>
          </p:cNvSpPr>
          <p:nvPr/>
        </p:nvSpPr>
        <p:spPr bwMode="auto">
          <a:xfrm>
            <a:off x="2484438" y="1219200"/>
            <a:ext cx="4175125" cy="914400"/>
          </a:xfrm>
          <a:prstGeom prst="rect">
            <a:avLst/>
          </a:prstGeom>
          <a:solidFill>
            <a:schemeClr val="bg1"/>
          </a:solidFill>
          <a:ln w="19050">
            <a:solidFill>
              <a:schemeClr val="tx1"/>
            </a:solidFill>
            <a:miter lim="800000"/>
            <a:headEnd/>
            <a:tailEnd/>
          </a:ln>
          <a:effectLst>
            <a:outerShdw dist="107763" dir="2700000" algn="ctr" rotWithShape="0">
              <a:schemeClr val="bg2"/>
            </a:outerShdw>
          </a:effec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2400" b="1">
                <a:latin typeface="Times New Roman" pitchFamily="18" charset="0"/>
                <a:cs typeface="Times New Roman" pitchFamily="18" charset="0"/>
              </a:rPr>
              <a:t>1. Điện- Điện tử căn bản</a:t>
            </a:r>
            <a:endParaRPr lang="ko-KR" altLang="en-US" sz="2400" b="1">
              <a:latin typeface="Times New Roman" pitchFamily="18" charset="0"/>
              <a:cs typeface="Times New Roman" pitchFamily="18" charset="0"/>
            </a:endParaRPr>
          </a:p>
        </p:txBody>
      </p:sp>
      <p:sp>
        <p:nvSpPr>
          <p:cNvPr id="10246" name="Text Box 4"/>
          <p:cNvSpPr txBox="1">
            <a:spLocks noChangeArrowheads="1"/>
          </p:cNvSpPr>
          <p:nvPr/>
        </p:nvSpPr>
        <p:spPr bwMode="auto">
          <a:xfrm>
            <a:off x="2098675" y="2817813"/>
            <a:ext cx="2192338" cy="273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 Khái niệm điện-điện tử</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1-1. </a:t>
            </a:r>
            <a:r>
              <a:rPr lang="en-US" altLang="en-US">
                <a:latin typeface="Times New Roman" pitchFamily="18" charset="0"/>
                <a:cs typeface="Times New Roman" pitchFamily="18" charset="0"/>
              </a:rPr>
              <a:t>Nguyên tử và điện tử</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1-2. Phóng xung điện hạt nhân</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1-3. Mức năng lượng điện tử</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1-4. Tìm hiểu về điện</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1-5. Tiếp địa</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1-6. Nhiễu</a:t>
            </a:r>
          </a:p>
          <a:p>
            <a:pPr eaLnBrk="1" latinLnBrk="1" hangingPunct="1"/>
            <a:r>
              <a:rPr lang="en-US" altLang="ko-KR">
                <a:latin typeface="Times New Roman" pitchFamily="18" charset="0"/>
                <a:cs typeface="Times New Roman" pitchFamily="18" charset="0"/>
              </a:rPr>
              <a:t>   </a:t>
            </a:r>
            <a:endParaRPr lang="en-US" altLang="ko-KR" sz="900">
              <a:latin typeface="Times New Roman" pitchFamily="18" charset="0"/>
              <a:cs typeface="Times New Roman" pitchFamily="18" charset="0"/>
            </a:endParaRPr>
          </a:p>
          <a:p>
            <a:pPr eaLnBrk="1" latinLnBrk="1" hangingPunct="1">
              <a:lnSpc>
                <a:spcPct val="100000"/>
              </a:lnSpc>
            </a:pPr>
            <a:r>
              <a:rPr lang="en-US" altLang="ko-KR" sz="1400" b="1">
                <a:latin typeface="Times New Roman" pitchFamily="18" charset="0"/>
                <a:cs typeface="Times New Roman" pitchFamily="18" charset="0"/>
              </a:rPr>
              <a:t>2. An toàn điện</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2-1. Điện giật</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2-2. Dò điện</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2-3. Chập cháy điện</a:t>
            </a:r>
            <a:endParaRPr lang="ko-KR" altLang="en-US">
              <a:latin typeface="Times New Roman" pitchFamily="18" charset="0"/>
              <a:cs typeface="Times New Roman" pitchFamily="18" charset="0"/>
            </a:endParaRPr>
          </a:p>
        </p:txBody>
      </p:sp>
      <p:sp>
        <p:nvSpPr>
          <p:cNvPr id="10247" name="Text Box 6"/>
          <p:cNvSpPr txBox="1">
            <a:spLocks noChangeArrowheads="1"/>
          </p:cNvSpPr>
          <p:nvPr/>
        </p:nvSpPr>
        <p:spPr bwMode="auto">
          <a:xfrm>
            <a:off x="4962525" y="2781300"/>
            <a:ext cx="1925638"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r>
              <a:rPr lang="en-US" altLang="ko-KR" sz="1400" b="1">
                <a:latin typeface="Times New Roman" pitchFamily="18" charset="0"/>
                <a:cs typeface="Times New Roman" pitchFamily="18" charset="0"/>
              </a:rPr>
              <a:t>3. Đo điện</a:t>
            </a:r>
            <a:endParaRPr lang="en-US" altLang="ko-KR">
              <a:latin typeface="Times New Roman" pitchFamily="18" charset="0"/>
              <a:cs typeface="Times New Roman" pitchFamily="18" charset="0"/>
            </a:endParaRPr>
          </a:p>
          <a:p>
            <a:pPr eaLnBrk="1" latinLnBrk="1" hangingPunct="1"/>
            <a:r>
              <a:rPr lang="en-US" altLang="ko-KR">
                <a:latin typeface="Times New Roman" pitchFamily="18" charset="0"/>
                <a:cs typeface="Times New Roman" pitchFamily="18" charset="0"/>
              </a:rPr>
              <a:t>   3-1. DVM</a:t>
            </a:r>
          </a:p>
          <a:p>
            <a:pPr eaLnBrk="1" latinLnBrk="1" hangingPunct="1"/>
            <a:r>
              <a:rPr lang="en-US" altLang="ko-KR">
                <a:latin typeface="Times New Roman" pitchFamily="18" charset="0"/>
                <a:cs typeface="Times New Roman" pitchFamily="18" charset="0"/>
              </a:rPr>
              <a:t>   3-2. Clamp Meter</a:t>
            </a:r>
          </a:p>
          <a:p>
            <a:pPr eaLnBrk="1" latinLnBrk="1" hangingPunct="1"/>
            <a:r>
              <a:rPr lang="en-US" altLang="ko-KR">
                <a:latin typeface="Times New Roman" pitchFamily="18" charset="0"/>
                <a:cs typeface="Times New Roman" pitchFamily="18" charset="0"/>
              </a:rPr>
              <a:t>   3-3. Mega Tester</a:t>
            </a:r>
          </a:p>
          <a:p>
            <a:pPr eaLnBrk="1" latinLnBrk="1" hangingPunct="1"/>
            <a:endParaRPr lang="en-US" altLang="ko-KR">
              <a:latin typeface="Times New Roman" pitchFamily="18" charset="0"/>
              <a:cs typeface="Times New Roman" pitchFamily="18" charset="0"/>
            </a:endParaRPr>
          </a:p>
          <a:p>
            <a:pPr eaLnBrk="1" latinLnBrk="1" hangingPunct="1"/>
            <a:r>
              <a:rPr lang="en-US" altLang="ko-KR" sz="1400" b="1">
                <a:latin typeface="Times New Roman" pitchFamily="18" charset="0"/>
                <a:cs typeface="Times New Roman" pitchFamily="18" charset="0"/>
              </a:rPr>
              <a:t>4. Đo tín hiệu</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4-1. Tìm hiểu về dạng pha</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4-2. Oscilloscope</a:t>
            </a:r>
          </a:p>
          <a:p>
            <a:pPr eaLnBrk="1" latinLnBrk="1" hangingPunct="1"/>
            <a:r>
              <a:rPr lang="en-US" altLang="ko-KR">
                <a:latin typeface="Times New Roman" pitchFamily="18" charset="0"/>
                <a:cs typeface="Times New Roman" pitchFamily="18" charset="0"/>
              </a:rPr>
              <a:t>   4-3. Function Generator</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F217E61-A109-4931-A0DB-E0803B12C069}" type="slidenum">
              <a:rPr lang="en-US" altLang="ko-KR" sz="1400" smtClean="0"/>
              <a:pPr eaLnBrk="1" hangingPunct="1"/>
              <a:t>6</a:t>
            </a:fld>
            <a:endParaRPr lang="en-US" altLang="ko-KR" sz="1400" smtClean="0"/>
          </a:p>
        </p:txBody>
      </p:sp>
      <p:sp>
        <p:nvSpPr>
          <p:cNvPr id="11267" name="Text Box 2"/>
          <p:cNvSpPr txBox="1">
            <a:spLocks noChangeArrowheads="1"/>
          </p:cNvSpPr>
          <p:nvPr/>
        </p:nvSpPr>
        <p:spPr bwMode="auto">
          <a:xfrm>
            <a:off x="684213" y="892175"/>
            <a:ext cx="29019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1-1. Nguyên tử và electron</a:t>
            </a:r>
            <a:r>
              <a:rPr lang="ko-KR" altLang="en-US" sz="1400" b="1">
                <a:latin typeface="Times New Roman" pitchFamily="18" charset="0"/>
                <a:cs typeface="Times New Roman" pitchFamily="18" charset="0"/>
              </a:rPr>
              <a:t> </a:t>
            </a:r>
            <a:r>
              <a:rPr lang="en-US" altLang="ko-KR" sz="1400" b="1">
                <a:latin typeface="Times New Roman" pitchFamily="18" charset="0"/>
                <a:cs typeface="Times New Roman" pitchFamily="18" charset="0"/>
              </a:rPr>
              <a:t>(điện tử)</a:t>
            </a:r>
            <a:endParaRPr lang="ko-KR" altLang="en-US" sz="1400" b="1">
              <a:latin typeface="Times New Roman" pitchFamily="18" charset="0"/>
              <a:cs typeface="Times New Roman" pitchFamily="18" charset="0"/>
            </a:endParaRPr>
          </a:p>
        </p:txBody>
      </p:sp>
      <p:sp>
        <p:nvSpPr>
          <p:cNvPr id="11268" name="Text Box 3"/>
          <p:cNvSpPr txBox="1">
            <a:spLocks noChangeArrowheads="1"/>
          </p:cNvSpPr>
          <p:nvPr/>
        </p:nvSpPr>
        <p:spPr bwMode="auto">
          <a:xfrm>
            <a:off x="352425" y="501650"/>
            <a:ext cx="24272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1269"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11270" name="Text Box 5"/>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1271" name="Rectangle 7"/>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Tính chất của vật chất</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Nếu xem xét theo tính chất điện của vật chất, ta có thể chia ra thành 3 loại lớn như sau:</a:t>
            </a:r>
          </a:p>
          <a:p>
            <a:pPr eaLnBrk="1" hangingPunct="1"/>
            <a:endParaRPr lang="en-US" altLang="ko-KR" sz="700">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Vật dẫn điện</a:t>
            </a:r>
            <a:r>
              <a:rPr lang="en-US" altLang="ko-KR">
                <a:latin typeface="Times New Roman" pitchFamily="18" charset="0"/>
                <a:cs typeface="Times New Roman" pitchFamily="18" charset="0"/>
              </a:rPr>
              <a:t>(Conductor) : là các vật cho phép dòng điện chạy qua</a:t>
            </a:r>
            <a:endParaRPr lang="ko-KR" altLang="en-US">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Vật cách điện</a:t>
            </a:r>
            <a:r>
              <a:rPr lang="en-US" altLang="ko-KR">
                <a:latin typeface="Times New Roman" pitchFamily="18" charset="0"/>
                <a:cs typeface="Times New Roman" pitchFamily="18" charset="0"/>
              </a:rPr>
              <a:t>(Non-Conductor) : là các vật không cho phép dòng điện chạy qua</a:t>
            </a:r>
            <a:endParaRPr lang="ko-KR" altLang="en-US">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Vật bán dẫn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(Semi-Conductor): </a:t>
            </a:r>
            <a:r>
              <a:rPr lang="vi-VN" altLang="ko-KR">
                <a:latin typeface="Times New Roman" pitchFamily="18" charset="0"/>
                <a:cs typeface="Times New Roman" pitchFamily="18" charset="0"/>
              </a:rPr>
              <a:t>là </a:t>
            </a:r>
            <a:r>
              <a:rPr lang="en-US" altLang="ko-KR">
                <a:latin typeface="Times New Roman" pitchFamily="18" charset="0"/>
                <a:cs typeface="Times New Roman" pitchFamily="18" charset="0"/>
              </a:rPr>
              <a:t>vật</a:t>
            </a:r>
            <a:r>
              <a:rPr lang="vi-VN" altLang="ko-KR">
                <a:latin typeface="Times New Roman" pitchFamily="18" charset="0"/>
                <a:cs typeface="Times New Roman" pitchFamily="18" charset="0"/>
              </a:rPr>
              <a:t> có độ dẫn điện ở mức trung gian </a:t>
            </a:r>
            <a:r>
              <a:rPr lang="en-US" altLang="ko-KR">
                <a:latin typeface="Times New Roman" pitchFamily="18" charset="0"/>
                <a:cs typeface="Times New Roman" pitchFamily="18" charset="0"/>
              </a:rPr>
              <a:t>so với</a:t>
            </a:r>
            <a:r>
              <a:rPr lang="vi-VN" altLang="ko-KR">
                <a:latin typeface="Times New Roman" pitchFamily="18" charset="0"/>
                <a:cs typeface="Times New Roman" pitchFamily="18" charset="0"/>
              </a:rPr>
              <a:t> </a:t>
            </a:r>
            <a:r>
              <a:rPr lang="en-US" altLang="ko-KR">
                <a:latin typeface="Times New Roman" pitchFamily="18" charset="0"/>
                <a:cs typeface="Times New Roman" pitchFamily="18" charset="0"/>
              </a:rPr>
              <a:t>vật</a:t>
            </a:r>
            <a:r>
              <a:rPr lang="vi-VN" altLang="ko-KR">
                <a:latin typeface="Times New Roman" pitchFamily="18" charset="0"/>
                <a:cs typeface="Times New Roman" pitchFamily="18" charset="0"/>
              </a:rPr>
              <a:t> dẫn điện và </a:t>
            </a:r>
            <a:r>
              <a:rPr lang="en-US" altLang="ko-KR">
                <a:latin typeface="Times New Roman" pitchFamily="18" charset="0"/>
                <a:cs typeface="Times New Roman" pitchFamily="18" charset="0"/>
              </a:rPr>
              <a:t>vật</a:t>
            </a:r>
            <a:r>
              <a:rPr lang="vi-VN" altLang="ko-KR">
                <a:latin typeface="Times New Roman" pitchFamily="18" charset="0"/>
                <a:cs typeface="Times New Roman" pitchFamily="18" charset="0"/>
              </a:rPr>
              <a:t> cách điện</a:t>
            </a:r>
            <a:r>
              <a:rPr lang="en-US" altLang="ko-KR">
                <a:latin typeface="Times New Roman" pitchFamily="18" charset="0"/>
                <a:cs typeface="Times New Roman" pitchFamily="18" charset="0"/>
              </a:rPr>
              <a:t>.</a:t>
            </a:r>
          </a:p>
        </p:txBody>
      </p:sp>
      <p:graphicFrame>
        <p:nvGraphicFramePr>
          <p:cNvPr id="2400359" name="Group 103"/>
          <p:cNvGraphicFramePr>
            <a:graphicFrameLocks noGrp="1"/>
          </p:cNvGraphicFramePr>
          <p:nvPr/>
        </p:nvGraphicFramePr>
        <p:xfrm>
          <a:off x="949325" y="2708275"/>
          <a:ext cx="7129463" cy="3306763"/>
        </p:xfrm>
        <a:graphic>
          <a:graphicData uri="http://schemas.openxmlformats.org/drawingml/2006/table">
            <a:tbl>
              <a:tblPr/>
              <a:tblGrid>
                <a:gridCol w="1008063"/>
                <a:gridCol w="3060700"/>
                <a:gridCol w="3060700"/>
              </a:tblGrid>
              <a:tr h="288953">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chất</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Ví</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823039">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dẫn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lang="en-US" altLang="ko-KR" sz="1200" dirty="0" err="1" smtClean="0">
                          <a:latin typeface="Times New Roman" pitchFamily="18" charset="0"/>
                          <a:cs typeface="Times New Roman"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lang="en-US" altLang="ko-KR" sz="1200" dirty="0" err="1" smtClean="0">
                          <a:latin typeface="Times New Roman" pitchFamily="18" charset="0"/>
                          <a:cs typeface="Times New Roman"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ấy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chứa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nhiều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tự</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do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trở</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chảy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dễ</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dàng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Sắt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muối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axit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chất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lỏng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alkali,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người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đất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vv..</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3039">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lang="en-US" altLang="ko-KR" sz="1200" dirty="0" err="1" smtClean="0">
                          <a:latin typeface="Times New Roman" pitchFamily="18" charset="0"/>
                          <a:cs typeface="Times New Roman"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lang="en-US" altLang="ko-KR" sz="1200" dirty="0" err="1" smtClean="0">
                          <a:latin typeface="Times New Roman" pitchFamily="18" charset="0"/>
                          <a:cs typeface="Times New Roman"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ấy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hầu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như</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chứa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tự</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do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trở</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lớn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chảy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khiến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gần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như</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chạy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qua</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khí</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kính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ê-</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nhựa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tổng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hợp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praffin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mi ca,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thủy</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gốm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plastic,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huỳnh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vv..</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71732">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bán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dẫn</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lang="en-US" altLang="ko-KR" sz="1200" dirty="0" err="1" smtClean="0">
                          <a:latin typeface="Times New Roman" pitchFamily="18" charset="0"/>
                          <a:cs typeface="Times New Roman" pitchFamily="18" charset="0"/>
                        </a:rPr>
                        <a:t>vật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bình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thường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chứa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tự</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do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nhưng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được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cung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cấp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năng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lượng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từ</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ngoài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thì</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bị</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giam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nhân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nguyên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tử</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sẽ</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thoát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khỏi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quỹ</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đạo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quay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mình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tức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tăng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lượng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tự</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do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khiến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dễ</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dàng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hơn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Đồng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ô-</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xít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Serium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 germanium(Ge),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sillicon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(Si),</a:t>
                      </a:r>
                      <a:r>
                        <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kẽm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đỏ</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đồng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đỏ</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294" name="Text Box 77"/>
          <p:cNvSpPr txBox="1">
            <a:spLocks noChangeArrowheads="1"/>
          </p:cNvSpPr>
          <p:nvPr/>
        </p:nvSpPr>
        <p:spPr bwMode="auto">
          <a:xfrm>
            <a:off x="684213" y="6092825"/>
            <a:ext cx="76327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800">
                <a:latin typeface="Times New Roman" pitchFamily="18" charset="0"/>
                <a:cs typeface="Times New Roman" pitchFamily="18" charset="0"/>
              </a:rPr>
              <a:t>＊</a:t>
            </a:r>
            <a:r>
              <a:rPr lang="en-US" altLang="ko-KR" sz="800">
                <a:latin typeface="Times New Roman" pitchFamily="18" charset="0"/>
                <a:cs typeface="Times New Roman" pitchFamily="18" charset="0"/>
              </a:rPr>
              <a:t>Các vật dẫn điện, cách điện hay còn gọi là dẫn nhiệt, cách nhiệt không phải là khái niệm tuyệt đối bởi khi các hạt electron(= điện tích, điện lưu) ở tại các vị trí nhất định thì chất đó là vật bán dẫn nhưng khi được kết hợp với các vật dẫn điện hay chịu tác động một lực điện quá lớn sẽ khiến cho vật đó dẫn điện(phá hủy tính cách điện) và trở thành vật dẫn điện.</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2377FCA-07B0-4748-B30A-04A868F737F5}" type="slidenum">
              <a:rPr lang="en-US" altLang="ko-KR" sz="1400" smtClean="0"/>
              <a:pPr eaLnBrk="1" hangingPunct="1"/>
              <a:t>7</a:t>
            </a:fld>
            <a:endParaRPr lang="en-US" altLang="ko-KR" sz="1400" smtClean="0"/>
          </a:p>
        </p:txBody>
      </p:sp>
      <p:sp>
        <p:nvSpPr>
          <p:cNvPr id="12291" name="Text Box 4"/>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2292" name="Rectangle 6"/>
          <p:cNvSpPr>
            <a:spLocks noChangeArrowheads="1"/>
          </p:cNvSpPr>
          <p:nvPr/>
        </p:nvSpPr>
        <p:spPr bwMode="auto">
          <a:xfrm>
            <a:off x="827088" y="836613"/>
            <a:ext cx="77057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(2) Cấu tạo nguyên tử</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Tất cả vật chất đều được tạo ra từ tổ hợp các phân tử, nguyên tử cực kỳ nhỏ. Nguyên tử được cấu tạo bởi hạt nhân nguyên tử và các hạt điện tích quay xung quanh nó</a:t>
            </a:r>
            <a:r>
              <a:rPr lang="ko-KR" altLang="ko-KR">
                <a:latin typeface="Times New Roman" pitchFamily="18" charset="0"/>
                <a:cs typeface="Times New Roman" pitchFamily="18" charset="0"/>
              </a:rPr>
              <a:t>.</a:t>
            </a:r>
            <a:br>
              <a:rPr lang="ko-KR" altLang="ko-KR">
                <a:latin typeface="Times New Roman" pitchFamily="18" charset="0"/>
                <a:cs typeface="Times New Roman" pitchFamily="18" charset="0"/>
              </a:rPr>
            </a:br>
            <a:r>
              <a:rPr lang="en-US" altLang="ko-KR">
                <a:latin typeface="Times New Roman" pitchFamily="18" charset="0"/>
                <a:cs typeface="Times New Roman" pitchFamily="18" charset="0"/>
              </a:rPr>
              <a:t>Hạt nhân nguyên tử có các </a:t>
            </a:r>
            <a:r>
              <a:rPr lang="en-US" altLang="ko-KR" b="1">
                <a:latin typeface="Times New Roman" pitchFamily="18" charset="0"/>
                <a:cs typeface="Times New Roman" pitchFamily="18" charset="0"/>
              </a:rPr>
              <a:t>hạt điện tích dương</a:t>
            </a:r>
            <a:r>
              <a:rPr lang="ko-KR" altLang="ko-KR" b="1">
                <a:latin typeface="Times New Roman" pitchFamily="18" charset="0"/>
                <a:cs typeface="Times New Roman" pitchFamily="18" charset="0"/>
              </a:rPr>
              <a:t> </a:t>
            </a:r>
            <a:r>
              <a:rPr lang="ko-KR" altLang="ko-KR">
                <a:latin typeface="Times New Roman" pitchFamily="18" charset="0"/>
                <a:cs typeface="Times New Roman" pitchFamily="18" charset="0"/>
              </a:rPr>
              <a:t>(</a:t>
            </a:r>
            <a:r>
              <a:rPr lang="en-US" altLang="ko-KR">
                <a:latin typeface="Times New Roman" pitchFamily="18" charset="0"/>
                <a:cs typeface="Times New Roman" pitchFamily="18" charset="0"/>
              </a:rPr>
              <a:t>+,</a:t>
            </a:r>
            <a:r>
              <a:rPr lang="ko-KR" altLang="ko-KR">
                <a:latin typeface="Times New Roman" pitchFamily="18" charset="0"/>
                <a:cs typeface="Times New Roman" pitchFamily="18" charset="0"/>
              </a:rPr>
              <a:t>Proton)</a:t>
            </a:r>
            <a:r>
              <a:rPr lang="en-US" altLang="ko-KR">
                <a:latin typeface="Times New Roman" pitchFamily="18" charset="0"/>
                <a:cs typeface="Times New Roman" pitchFamily="18" charset="0"/>
              </a:rPr>
              <a:t> và </a:t>
            </a:r>
            <a:r>
              <a:rPr lang="en-US" altLang="ko-KR" b="1">
                <a:latin typeface="Times New Roman" pitchFamily="18" charset="0"/>
                <a:cs typeface="Times New Roman" pitchFamily="18" charset="0"/>
              </a:rPr>
              <a:t>hạt trung tính</a:t>
            </a:r>
            <a:r>
              <a:rPr lang="ko-KR" altLang="ko-KR">
                <a:latin typeface="Times New Roman" pitchFamily="18" charset="0"/>
                <a:cs typeface="Times New Roman" pitchFamily="18" charset="0"/>
              </a:rPr>
              <a:t>(</a:t>
            </a:r>
            <a:r>
              <a:rPr lang="en-US" altLang="ko-KR">
                <a:latin typeface="Times New Roman" pitchFamily="18" charset="0"/>
                <a:cs typeface="Times New Roman" pitchFamily="18" charset="0"/>
              </a:rPr>
              <a:t>0,</a:t>
            </a:r>
            <a:r>
              <a:rPr lang="ko-KR" altLang="ko-KR">
                <a:latin typeface="Times New Roman" pitchFamily="18" charset="0"/>
                <a:cs typeface="Times New Roman" pitchFamily="18" charset="0"/>
              </a:rPr>
              <a:t>Neutron)</a:t>
            </a:r>
            <a:r>
              <a:rPr lang="en-US" altLang="ko-KR">
                <a:latin typeface="Times New Roman" pitchFamily="18" charset="0"/>
                <a:cs typeface="Times New Roman" pitchFamily="18" charset="0"/>
              </a:rPr>
              <a:t>,</a:t>
            </a:r>
            <a:r>
              <a:rPr lang="ko-KR" altLang="ko-KR">
                <a:latin typeface="Times New Roman" pitchFamily="18" charset="0"/>
                <a:cs typeface="Times New Roman" pitchFamily="18" charset="0"/>
              </a:rPr>
              <a:t> </a:t>
            </a:r>
            <a:r>
              <a:rPr lang="en-US" altLang="ko-KR">
                <a:latin typeface="Times New Roman" pitchFamily="18" charset="0"/>
                <a:cs typeface="Times New Roman" pitchFamily="18" charset="0"/>
              </a:rPr>
              <a:t>khối lượng hạt nhân nguyên tử lớn hơn  khối lượng điện tích và nằm ở trung tâm nguyên tử</a:t>
            </a:r>
            <a:r>
              <a:rPr lang="ko-KR" altLang="ko-KR">
                <a:latin typeface="Times New Roman" pitchFamily="18" charset="0"/>
                <a:cs typeface="Times New Roman" pitchFamily="18" charset="0"/>
              </a:rPr>
              <a:t>. </a:t>
            </a:r>
            <a:r>
              <a:rPr lang="en-US" altLang="ko-KR">
                <a:latin typeface="Times New Roman" pitchFamily="18" charset="0"/>
                <a:cs typeface="Times New Roman" pitchFamily="18" charset="0"/>
              </a:rPr>
              <a:t>Đường quay của hạt e</a:t>
            </a:r>
            <a:r>
              <a:rPr lang="ko-KR" altLang="ko-KR">
                <a:latin typeface="Times New Roman" pitchFamily="18" charset="0"/>
                <a:cs typeface="Times New Roman" pitchFamily="18" charset="0"/>
              </a:rPr>
              <a:t>lectron</a:t>
            </a:r>
            <a:r>
              <a:rPr lang="en-US" altLang="ko-KR">
                <a:latin typeface="Times New Roman" pitchFamily="18" charset="0"/>
                <a:cs typeface="Times New Roman" pitchFamily="18" charset="0"/>
              </a:rPr>
              <a:t>(điện tử</a:t>
            </a:r>
            <a:r>
              <a:rPr lang="ko-KR" altLang="ko-KR">
                <a:latin typeface="Times New Roman" pitchFamily="18" charset="0"/>
                <a:cs typeface="Times New Roman" pitchFamily="18" charset="0"/>
              </a:rPr>
              <a:t>)</a:t>
            </a:r>
            <a:r>
              <a:rPr lang="en-US" altLang="ko-KR">
                <a:latin typeface="Times New Roman" pitchFamily="18" charset="0"/>
                <a:cs typeface="Times New Roman" pitchFamily="18" charset="0"/>
              </a:rPr>
              <a:t> được gọi là </a:t>
            </a:r>
            <a:r>
              <a:rPr lang="en-US" altLang="ko-KR" b="1">
                <a:latin typeface="Times New Roman" pitchFamily="18" charset="0"/>
                <a:cs typeface="Times New Roman" pitchFamily="18" charset="0"/>
              </a:rPr>
              <a:t>quỹ đạo</a:t>
            </a:r>
            <a:r>
              <a:rPr lang="en-US" altLang="ko-KR">
                <a:latin typeface="Times New Roman" pitchFamily="18" charset="0"/>
                <a:cs typeface="Times New Roman" pitchFamily="18" charset="0"/>
              </a:rPr>
              <a:t>.</a:t>
            </a: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ko-KR" b="1">
                <a:latin typeface="Times New Roman" pitchFamily="18" charset="0"/>
                <a:cs typeface="Times New Roman" pitchFamily="18" charset="0"/>
              </a:rPr>
              <a:t>(3) </a:t>
            </a:r>
            <a:r>
              <a:rPr lang="en-US" altLang="ko-KR" b="1">
                <a:latin typeface="Times New Roman" pitchFamily="18" charset="0"/>
                <a:cs typeface="Times New Roman" pitchFamily="18" charset="0"/>
              </a:rPr>
              <a:t>Hạt nhân nguyên tử</a:t>
            </a:r>
            <a:r>
              <a:rPr lang="ko-KR" altLang="ko-KR" b="1">
                <a:latin typeface="Times New Roman" pitchFamily="18" charset="0"/>
                <a:cs typeface="Times New Roman" pitchFamily="18" charset="0"/>
              </a:rPr>
              <a:t> (Atomic Nucleus)</a:t>
            </a:r>
            <a:endParaRPr lang="en-US" altLang="ko-KR" b="1">
              <a:latin typeface="Times New Roman" pitchFamily="18" charset="0"/>
              <a:cs typeface="Times New Roman" pitchFamily="18" charset="0"/>
            </a:endParaRPr>
          </a:p>
          <a:p>
            <a:pPr eaLnBrk="1" hangingPunct="1"/>
            <a:endParaRPr lang="en-US" altLang="ko-KR" sz="800" b="1">
              <a:latin typeface="Times New Roman" pitchFamily="18" charset="0"/>
              <a:cs typeface="Times New Roman" pitchFamily="18" charset="0"/>
            </a:endParaRPr>
          </a:p>
          <a:p>
            <a:pPr eaLnBrk="1" hangingPunct="1"/>
            <a:r>
              <a:rPr lang="ko-KR" altLang="ko-KR">
                <a:latin typeface="Times New Roman" pitchFamily="18" charset="0"/>
                <a:cs typeface="Times New Roman" pitchFamily="18" charset="0"/>
              </a:rPr>
              <a:t>① </a:t>
            </a:r>
            <a:r>
              <a:rPr lang="en-US" altLang="ko-KR">
                <a:latin typeface="Times New Roman" pitchFamily="18" charset="0"/>
                <a:cs typeface="Times New Roman" pitchFamily="18" charset="0"/>
              </a:rPr>
              <a:t>Hạt nhân nguyên tử</a:t>
            </a:r>
            <a:r>
              <a:rPr lang="ko-KR" altLang="ko-KR">
                <a:latin typeface="Times New Roman" pitchFamily="18" charset="0"/>
                <a:cs typeface="Times New Roman" pitchFamily="18" charset="0"/>
              </a:rPr>
              <a:t> : </a:t>
            </a:r>
            <a:r>
              <a:rPr lang="en-US" altLang="ko-KR">
                <a:latin typeface="Times New Roman" pitchFamily="18" charset="0"/>
                <a:cs typeface="Times New Roman" pitchFamily="18" charset="0"/>
              </a:rPr>
              <a:t>được cấu tạo bởi các hạt điện tích dương và hạt trung tính</a:t>
            </a:r>
            <a:r>
              <a:rPr lang="ko-KR" altLang="ko-KR">
                <a:latin typeface="Times New Roman" pitchFamily="18" charset="0"/>
                <a:cs typeface="Times New Roman" pitchFamily="18" charset="0"/>
              </a:rPr>
              <a:t>.</a:t>
            </a:r>
            <a:br>
              <a:rPr lang="ko-KR" altLang="ko-KR">
                <a:latin typeface="Times New Roman" pitchFamily="18" charset="0"/>
                <a:cs typeface="Times New Roman" pitchFamily="18" charset="0"/>
              </a:rPr>
            </a:br>
            <a:r>
              <a:rPr lang="ko-KR" altLang="ko-KR">
                <a:latin typeface="Times New Roman" pitchFamily="18" charset="0"/>
                <a:cs typeface="Times New Roman" pitchFamily="18" charset="0"/>
              </a:rPr>
              <a:t>② </a:t>
            </a:r>
            <a:r>
              <a:rPr lang="en-US" altLang="ko-KR">
                <a:latin typeface="Times New Roman" pitchFamily="18" charset="0"/>
                <a:cs typeface="Times New Roman" pitchFamily="18" charset="0"/>
              </a:rPr>
              <a:t>Khối lượng của hạt điện tích dương và hạt trung tính gần như bằng nhau</a:t>
            </a:r>
            <a:r>
              <a:rPr lang="ko-KR" altLang="ko-KR">
                <a:latin typeface="Times New Roman" pitchFamily="18" charset="0"/>
                <a:cs typeface="Times New Roman" pitchFamily="18" charset="0"/>
              </a:rPr>
              <a:t>, </a:t>
            </a:r>
            <a:r>
              <a:rPr lang="en-US" altLang="ko-KR">
                <a:latin typeface="Times New Roman" pitchFamily="18" charset="0"/>
                <a:cs typeface="Times New Roman" pitchFamily="18" charset="0"/>
              </a:rPr>
              <a:t> là hạt gấp khoảng 1840 lần hạt electron</a:t>
            </a:r>
            <a:r>
              <a:rPr lang="ko-KR" altLang="ko-KR">
                <a:latin typeface="Times New Roman" pitchFamily="18" charset="0"/>
                <a:cs typeface="Times New Roman" pitchFamily="18" charset="0"/>
              </a:rPr>
              <a:t>. </a:t>
            </a:r>
            <a:br>
              <a:rPr lang="ko-KR" altLang="ko-KR">
                <a:latin typeface="Times New Roman" pitchFamily="18" charset="0"/>
                <a:cs typeface="Times New Roman" pitchFamily="18" charset="0"/>
              </a:rPr>
            </a:br>
            <a:r>
              <a:rPr lang="ko-KR" altLang="ko-KR">
                <a:latin typeface="Times New Roman" pitchFamily="18" charset="0"/>
                <a:cs typeface="Times New Roman" pitchFamily="18" charset="0"/>
              </a:rPr>
              <a:t>③ </a:t>
            </a:r>
            <a:r>
              <a:rPr lang="en-US" altLang="ko-KR">
                <a:latin typeface="Times New Roman" pitchFamily="18" charset="0"/>
                <a:cs typeface="Times New Roman" pitchFamily="18" charset="0"/>
              </a:rPr>
              <a:t>Là hợp thể của hạt điện tích dương và hạt trung tính, gọi tắt là hạt nhân</a:t>
            </a:r>
            <a:r>
              <a:rPr lang="ko-KR" altLang="ko-KR">
                <a:latin typeface="Times New Roman" pitchFamily="18" charset="0"/>
                <a:cs typeface="Times New Roman" pitchFamily="18" charset="0"/>
              </a:rPr>
              <a:t>. </a:t>
            </a:r>
            <a:br>
              <a:rPr lang="ko-KR" altLang="ko-KR">
                <a:latin typeface="Times New Roman" pitchFamily="18" charset="0"/>
                <a:cs typeface="Times New Roman" pitchFamily="18" charset="0"/>
              </a:rPr>
            </a:br>
            <a:r>
              <a:rPr lang="ko-KR" altLang="ko-KR">
                <a:latin typeface="Times New Roman" pitchFamily="18" charset="0"/>
                <a:cs typeface="Times New Roman" pitchFamily="18" charset="0"/>
              </a:rPr>
              <a:t>         </a:t>
            </a:r>
            <a:r>
              <a:rPr lang="en-US" altLang="ko-KR" b="1">
                <a:latin typeface="Times New Roman" pitchFamily="18" charset="0"/>
                <a:cs typeface="Times New Roman" pitchFamily="18" charset="0"/>
              </a:rPr>
              <a:t>Lượng hạt điện tích dương</a:t>
            </a:r>
            <a:r>
              <a:rPr lang="ko-KR" altLang="ko-KR" b="1">
                <a:latin typeface="Times New Roman" pitchFamily="18" charset="0"/>
                <a:cs typeface="Times New Roman" pitchFamily="18" charset="0"/>
              </a:rPr>
              <a:t>Z = </a:t>
            </a:r>
            <a:r>
              <a:rPr lang="en-US" altLang="ko-KR" b="1">
                <a:latin typeface="Times New Roman" pitchFamily="18" charset="0"/>
                <a:cs typeface="Times New Roman" pitchFamily="18" charset="0"/>
              </a:rPr>
              <a:t>lượng điện tích dương</a:t>
            </a:r>
            <a:r>
              <a:rPr lang="ko-KR" altLang="ko-KR" b="1">
                <a:latin typeface="Times New Roman" pitchFamily="18" charset="0"/>
                <a:cs typeface="Times New Roman" pitchFamily="18" charset="0"/>
              </a:rPr>
              <a:t> = </a:t>
            </a:r>
            <a:r>
              <a:rPr lang="en-US" altLang="ko-KR" b="1">
                <a:latin typeface="Times New Roman" pitchFamily="18" charset="0"/>
                <a:cs typeface="Times New Roman" pitchFamily="18" charset="0"/>
              </a:rPr>
              <a:t>Số hiệu nguyên tử</a:t>
            </a:r>
            <a:r>
              <a:rPr lang="ko-KR" altLang="ko-KR" b="1">
                <a:latin typeface="Times New Roman" pitchFamily="18" charset="0"/>
                <a:cs typeface="Times New Roman" pitchFamily="18" charset="0"/>
              </a:rPr>
              <a:t>=&gt; </a:t>
            </a:r>
            <a:r>
              <a:rPr lang="en-US" altLang="ko-KR" b="1">
                <a:latin typeface="Times New Roman" pitchFamily="18" charset="0"/>
                <a:cs typeface="Times New Roman" pitchFamily="18" charset="0"/>
              </a:rPr>
              <a:t>Bằng lượng hạt electron</a:t>
            </a:r>
            <a:r>
              <a:rPr lang="ko-KR" altLang="ko-KR">
                <a:latin typeface="Times New Roman" pitchFamily="18" charset="0"/>
                <a:cs typeface="Times New Roman" pitchFamily="18" charset="0"/>
              </a:rPr>
              <a:t/>
            </a:r>
            <a:br>
              <a:rPr lang="ko-KR" altLang="ko-KR">
                <a:latin typeface="Times New Roman" pitchFamily="18" charset="0"/>
                <a:cs typeface="Times New Roman" pitchFamily="18" charset="0"/>
              </a:rPr>
            </a:br>
            <a:r>
              <a:rPr lang="ko-KR" altLang="ko-KR">
                <a:latin typeface="Times New Roman" pitchFamily="18" charset="0"/>
                <a:cs typeface="Times New Roman" pitchFamily="18" charset="0"/>
              </a:rPr>
              <a:t>                 </a:t>
            </a:r>
            <a:r>
              <a:rPr lang="ko-KR" altLang="en-US">
                <a:latin typeface="Times New Roman" pitchFamily="18" charset="0"/>
                <a:cs typeface="Times New Roman" pitchFamily="18" charset="0"/>
              </a:rPr>
              <a:t>         </a:t>
            </a:r>
            <a:r>
              <a:rPr lang="ko-KR" altLang="ko-KR">
                <a:latin typeface="Times New Roman" pitchFamily="18" charset="0"/>
                <a:cs typeface="Times New Roman" pitchFamily="18" charset="0"/>
              </a:rPr>
              <a:t>  (</a:t>
            </a:r>
            <a:r>
              <a:rPr lang="en-US" altLang="ko-KR">
                <a:latin typeface="Times New Roman" pitchFamily="18" charset="0"/>
                <a:cs typeface="Times New Roman" pitchFamily="18" charset="0"/>
              </a:rPr>
              <a:t>Lượng hạt điện tích dương là chính xác nhưng lượng hạt trung tính có thể hơn kém vài đơn vị</a:t>
            </a:r>
            <a:r>
              <a:rPr lang="ko-KR" altLang="ko-KR">
                <a:latin typeface="Times New Roman" pitchFamily="18" charset="0"/>
                <a:cs typeface="Times New Roman" pitchFamily="18" charset="0"/>
              </a:rPr>
              <a:t>)</a:t>
            </a:r>
          </a:p>
          <a:p>
            <a:pPr eaLnBrk="1" hangingPunct="1"/>
            <a:r>
              <a:rPr lang="ko-KR" altLang="ko-KR">
                <a:latin typeface="Times New Roman" pitchFamily="18" charset="0"/>
                <a:cs typeface="Times New Roman" pitchFamily="18" charset="0"/>
              </a:rPr>
              <a:t>④ </a:t>
            </a:r>
            <a:r>
              <a:rPr lang="en-US" altLang="ko-KR">
                <a:latin typeface="Times New Roman" pitchFamily="18" charset="0"/>
                <a:cs typeface="Times New Roman" pitchFamily="18" charset="0"/>
              </a:rPr>
              <a:t>Nguyên tố đồng vị</a:t>
            </a:r>
            <a:r>
              <a:rPr lang="ko-KR" altLang="ko-KR">
                <a:latin typeface="Times New Roman" pitchFamily="18" charset="0"/>
                <a:cs typeface="Times New Roman" pitchFamily="18" charset="0"/>
              </a:rPr>
              <a:t> (Isotope) : </a:t>
            </a:r>
            <a:r>
              <a:rPr lang="en-US" altLang="ko-KR">
                <a:latin typeface="Times New Roman" pitchFamily="18" charset="0"/>
                <a:cs typeface="Times New Roman" pitchFamily="18" charset="0"/>
              </a:rPr>
              <a:t>là các nguyên tố giống nhau nhưng nếu so sánh từng nguyên tử một, sẽ thấy lượng điện tích dương giống nhau nhưng khối lượng hạt nhân nguyên tử khác nhau.</a:t>
            </a:r>
          </a:p>
        </p:txBody>
      </p:sp>
      <p:pic>
        <p:nvPicPr>
          <p:cNvPr id="12293" name="Picture 29" descr="원자구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268413"/>
            <a:ext cx="1728788"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08545" name="Group 97"/>
          <p:cNvGraphicFramePr>
            <a:graphicFrameLocks noGrp="1"/>
          </p:cNvGraphicFramePr>
          <p:nvPr/>
        </p:nvGraphicFramePr>
        <p:xfrm>
          <a:off x="3059113" y="1417638"/>
          <a:ext cx="5184775" cy="1371600"/>
        </p:xfrm>
        <a:graphic>
          <a:graphicData uri="http://schemas.openxmlformats.org/drawingml/2006/table">
            <a:tbl>
              <a:tblPr/>
              <a:tblGrid>
                <a:gridCol w="1296150"/>
                <a:gridCol w="1829853"/>
                <a:gridCol w="2058772"/>
              </a:tblGrid>
              <a:tr h="34290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Phần</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tử</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Lượng</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Khối</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lượng</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34290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dương</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trung</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tính</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Hạt</a:t>
                      </a:r>
                      <a:r>
                        <a:rPr kumimoji="1" lang="en-US" altLang="ko-KR"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electron</a:t>
                      </a:r>
                      <a:endParaRPr kumimoji="1" lang="ko-KR" altLang="en-US" sz="12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2316" name="Picture 5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650" y="1801813"/>
            <a:ext cx="1600200"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17" name="Picture 5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5375" y="1801813"/>
            <a:ext cx="161607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18" name="Picture 5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24588" y="2160588"/>
            <a:ext cx="1517650"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19" name="Picture 5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06963" y="2159000"/>
            <a:ext cx="407987"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20" name="Picture 5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11650" y="2486025"/>
            <a:ext cx="1600200"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21" name="Picture 5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216650" y="2497138"/>
            <a:ext cx="153352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22" name="Text Box 98"/>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C944367-1408-4EFD-8D1B-831D7A676F7C}" type="slidenum">
              <a:rPr lang="en-US" altLang="ko-KR" sz="1400" smtClean="0">
                <a:latin typeface="Times New Roman" pitchFamily="18" charset="0"/>
                <a:cs typeface="Times New Roman" pitchFamily="18" charset="0"/>
              </a:rPr>
              <a:pPr eaLnBrk="1" hangingPunct="1"/>
              <a:t>8</a:t>
            </a:fld>
            <a:endParaRPr lang="en-US" altLang="ko-KR" sz="1400" smtClean="0">
              <a:latin typeface="Times New Roman" pitchFamily="18" charset="0"/>
              <a:cs typeface="Times New Roman" pitchFamily="18" charset="0"/>
            </a:endParaRPr>
          </a:p>
        </p:txBody>
      </p:sp>
      <p:sp>
        <p:nvSpPr>
          <p:cNvPr id="13315" name="Text Box 2"/>
          <p:cNvSpPr txBox="1">
            <a:spLocks noChangeArrowheads="1"/>
          </p:cNvSpPr>
          <p:nvPr/>
        </p:nvSpPr>
        <p:spPr bwMode="auto">
          <a:xfrm>
            <a:off x="22225" y="38100"/>
            <a:ext cx="2406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331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4</a:t>
            </a:r>
            <a:r>
              <a:rPr lang="en-US" altLang="en-US" b="1">
                <a:latin typeface="Times New Roman" pitchFamily="18" charset="0"/>
                <a:cs typeface="Times New Roman" pitchFamily="18" charset="0"/>
              </a:rPr>
              <a:t>) Hạt electron tự do</a:t>
            </a:r>
            <a:r>
              <a:rPr lang="en-US" altLang="ko-KR" b="1">
                <a:latin typeface="Times New Roman" pitchFamily="18" charset="0"/>
                <a:cs typeface="Times New Roman" pitchFamily="18" charset="0"/>
              </a:rPr>
              <a:t>(Free Electron)</a:t>
            </a:r>
          </a:p>
          <a:p>
            <a:pPr eaLnBrk="1" hangingPunct="1"/>
            <a:endParaRPr lang="en-US" altLang="ko-KR"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① </a:t>
            </a:r>
            <a:r>
              <a:rPr lang="en-US" altLang="ko-KR" b="1">
                <a:latin typeface="Times New Roman" pitchFamily="18" charset="0"/>
                <a:cs typeface="Times New Roman" pitchFamily="18" charset="0"/>
              </a:rPr>
              <a:t>Dải hóa trị</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các hạt electron nằm trên lớp ngoài cùng và nếu lực tác động từ hạt nhân nguyên tử quá nhỏ sẽ dễ 	bị ly tán.</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②</a:t>
            </a:r>
            <a:r>
              <a:rPr lang="en-US" altLang="ko-KR" b="1">
                <a:latin typeface="Times New Roman" pitchFamily="18" charset="0"/>
                <a:cs typeface="Times New Roman" pitchFamily="18" charset="0"/>
              </a:rPr>
              <a:t> Lớp electron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các hạt electron tạo nên các quỹ đạo nhất định, quay xung quanh  hạt nhân và được gọi là các lớp 	electron(Electron Shell).</a:t>
            </a:r>
            <a:r>
              <a:rPr lang="en-US" altLang="ko-KR" b="1">
                <a:latin typeface="Times New Roman" pitchFamily="18" charset="0"/>
                <a:cs typeface="Times New Roman" pitchFamily="18" charset="0"/>
              </a:rPr>
              <a:t/>
            </a:r>
            <a:br>
              <a:rPr lang="en-US" altLang="ko-KR" b="1">
                <a:latin typeface="Times New Roman" pitchFamily="18" charset="0"/>
                <a:cs typeface="Times New Roman" pitchFamily="18" charset="0"/>
              </a:rPr>
            </a:br>
            <a:r>
              <a:rPr lang="en-US" altLang="ko-KR" b="1">
                <a:latin typeface="Times New Roman" pitchFamily="18" charset="0"/>
                <a:cs typeface="Times New Roman" pitchFamily="18" charset="0"/>
              </a:rPr>
              <a:t>    </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Các lớp electron được quy ước là lớp K</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lớp L</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lớp M</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lớp N</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 tính từ hạt nhân.</a:t>
            </a:r>
            <a:br>
              <a:rPr lang="en-US" altLang="ko-KR" b="1">
                <a:latin typeface="Times New Roman" pitchFamily="18" charset="0"/>
                <a:cs typeface="Times New Roman" pitchFamily="18" charset="0"/>
              </a:rPr>
            </a:br>
            <a:r>
              <a:rPr lang="en-US" altLang="ko-KR" b="1">
                <a:latin typeface="Times New Roman" pitchFamily="18" charset="0"/>
                <a:cs typeface="Times New Roman" pitchFamily="18" charset="0"/>
              </a:rPr>
              <a:t>    </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Theo nguyên lý Pauli, lượng tử xuất hiện trên từng vòng của quỹ đạo là 2n</a:t>
            </a:r>
            <a:r>
              <a:rPr lang="en-US" altLang="ko-KR" b="1" baseline="30000">
                <a:latin typeface="Times New Roman" pitchFamily="18" charset="0"/>
                <a:cs typeface="Times New Roman" pitchFamily="18" charset="0"/>
              </a:rPr>
              <a:t>2</a:t>
            </a:r>
            <a:r>
              <a:rPr lang="en-US" altLang="ko-KR" b="1">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Tức,   lượng tử lớp K</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2 X 1² = 2 hạt</a:t>
            </a:r>
            <a:r>
              <a:rPr lang="ko-KR" altLang="en-US">
                <a:latin typeface="Times New Roman" pitchFamily="18" charset="0"/>
                <a:cs typeface="Times New Roman" pitchFamily="18" charset="0"/>
              </a:rPr>
              <a:t>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lượng tử lớp L</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2 X 2²  = 8 hạt</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lượng tử lớp M  = 2 X 3² = 18 hạt</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lượng tử lớp 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2 X 4²  = 32 hạt</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Ví dụ) Số hiệu nguyên tử CU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29</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tức là</a:t>
            </a:r>
          </a:p>
          <a:p>
            <a:pPr eaLnBrk="1" hangingPunct="1"/>
            <a:r>
              <a:rPr lang="en-US" altLang="ko-KR">
                <a:latin typeface="Times New Roman" pitchFamily="18" charset="0"/>
                <a:cs typeface="Times New Roman" pitchFamily="18" charset="0"/>
              </a:rPr>
              <a:t>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hạt điện tích dương = 29, hạt electron =29</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Lớp K</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2 hạt, lớp L</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8</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hạt, lớp 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18</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hạt, lớp 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1</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hạt</a:t>
            </a:r>
            <a:r>
              <a:rPr lang="ko-KR" altLang="en-US">
                <a:latin typeface="Times New Roman" pitchFamily="18" charset="0"/>
                <a:cs typeface="Times New Roman" pitchFamily="18" charset="0"/>
              </a:rPr>
              <a:t> </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③ </a:t>
            </a:r>
            <a:r>
              <a:rPr lang="en-US" altLang="ko-KR" b="1">
                <a:latin typeface="Times New Roman" pitchFamily="18" charset="0"/>
                <a:cs typeface="Times New Roman" pitchFamily="18" charset="0"/>
              </a:rPr>
              <a:t>Electron tự do</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 Là các electron(hóa trị) nằm ở lớp ngoài cùng</a:t>
            </a:r>
          </a:p>
          <a:p>
            <a:pPr eaLnBrk="1" hangingPunct="1"/>
            <a:r>
              <a:rPr lang="en-US" altLang="ko-KR" b="1">
                <a:latin typeface="Times New Roman" pitchFamily="18" charset="0"/>
                <a:cs typeface="Times New Roman" pitchFamily="18" charset="0"/>
              </a:rPr>
              <a:t> của nguyên tử, nếu chịu tác động một lực vừa đủ sẽ tách ra khỏi </a:t>
            </a:r>
          </a:p>
          <a:p>
            <a:pPr eaLnBrk="1" hangingPunct="1"/>
            <a:r>
              <a:rPr lang="en-US" altLang="ko-KR" b="1">
                <a:latin typeface="Times New Roman" pitchFamily="18" charset="0"/>
                <a:cs typeface="Times New Roman" pitchFamily="18" charset="0"/>
              </a:rPr>
              <a:t> hạt nhân nguyên tử.</a:t>
            </a:r>
            <a:r>
              <a:rPr lang="en-US" altLang="ko-KR">
                <a:latin typeface="Times New Roman" pitchFamily="18" charset="0"/>
                <a:cs typeface="Times New Roman" pitchFamily="18" charset="0"/>
              </a:rPr>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④ Lượng điện tích của hạt electron e =-1.602189×10</a:t>
            </a:r>
            <a:r>
              <a:rPr lang="en-US" altLang="ko-KR" baseline="30000">
                <a:latin typeface="Times New Roman" pitchFamily="18" charset="0"/>
                <a:cs typeface="Times New Roman" pitchFamily="18" charset="0"/>
              </a:rPr>
              <a:t>-19</a:t>
            </a:r>
            <a:r>
              <a:rPr lang="en-US" altLang="ko-KR">
                <a:latin typeface="Times New Roman" pitchFamily="18" charset="0"/>
                <a:cs typeface="Times New Roman" pitchFamily="18" charset="0"/>
              </a:rPr>
              <a:t>[C]</a:t>
            </a:r>
          </a:p>
          <a:p>
            <a:pPr eaLnBrk="1" hangingPunct="1"/>
            <a:r>
              <a:rPr lang="en-US" altLang="ko-KR">
                <a:latin typeface="Times New Roman" pitchFamily="18" charset="0"/>
                <a:cs typeface="Times New Roman" pitchFamily="18" charset="0"/>
              </a:rPr>
              <a:t>⑤ Khối lượng của hạt electron m</a:t>
            </a:r>
            <a:r>
              <a:rPr lang="en-US" altLang="ko-KR" baseline="-25000">
                <a:latin typeface="Times New Roman" pitchFamily="18" charset="0"/>
                <a:cs typeface="Times New Roman" pitchFamily="18" charset="0"/>
              </a:rPr>
              <a:t>0 </a:t>
            </a:r>
            <a:r>
              <a:rPr lang="en-US" altLang="ko-KR">
                <a:latin typeface="Times New Roman" pitchFamily="18" charset="0"/>
                <a:cs typeface="Times New Roman" pitchFamily="18" charset="0"/>
              </a:rPr>
              <a:t>=9.109534×10</a:t>
            </a:r>
            <a:r>
              <a:rPr lang="en-US" altLang="ko-KR" baseline="30000">
                <a:latin typeface="Times New Roman" pitchFamily="18" charset="0"/>
                <a:cs typeface="Times New Roman" pitchFamily="18" charset="0"/>
              </a:rPr>
              <a:t>-31</a:t>
            </a:r>
            <a:r>
              <a:rPr lang="en-US" altLang="ko-KR">
                <a:latin typeface="Times New Roman" pitchFamily="18" charset="0"/>
                <a:cs typeface="Times New Roman" pitchFamily="18" charset="0"/>
              </a:rPr>
              <a:t>[kg] </a:t>
            </a:r>
          </a:p>
        </p:txBody>
      </p:sp>
      <p:sp>
        <p:nvSpPr>
          <p:cNvPr id="13317" name="Text Box 33"/>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13318"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975" y="4149725"/>
            <a:ext cx="2895600" cy="22018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9" name="Text Box 35"/>
          <p:cNvSpPr txBox="1">
            <a:spLocks noChangeArrowheads="1"/>
          </p:cNvSpPr>
          <p:nvPr/>
        </p:nvSpPr>
        <p:spPr bwMode="auto">
          <a:xfrm>
            <a:off x="5911850" y="3689350"/>
            <a:ext cx="1846263"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Cấu trúc nguyên tử đồng CU&gt;</a:t>
            </a:r>
          </a:p>
        </p:txBody>
      </p:sp>
      <p:sp>
        <p:nvSpPr>
          <p:cNvPr id="13320" name="직사각형 1"/>
          <p:cNvSpPr>
            <a:spLocks noChangeArrowheads="1"/>
          </p:cNvSpPr>
          <p:nvPr/>
        </p:nvSpPr>
        <p:spPr bwMode="auto">
          <a:xfrm>
            <a:off x="7596188" y="5137150"/>
            <a:ext cx="993775" cy="10287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Hạt electron tự do</a:t>
            </a:r>
          </a:p>
          <a:p>
            <a:pPr eaLnBrk="1" hangingPunct="1"/>
            <a:r>
              <a:rPr lang="en-US" altLang="ko-KR" sz="800">
                <a:latin typeface="Times New Roman" pitchFamily="18" charset="0"/>
                <a:cs typeface="Times New Roman" pitchFamily="18" charset="0"/>
              </a:rPr>
              <a:t>Hạt nhân</a:t>
            </a:r>
          </a:p>
          <a:p>
            <a:pPr eaLnBrk="1" hangingPunct="1"/>
            <a:r>
              <a:rPr lang="en-US" altLang="ko-KR" sz="800">
                <a:latin typeface="Times New Roman" pitchFamily="18" charset="0"/>
                <a:cs typeface="Times New Roman" pitchFamily="18" charset="0"/>
              </a:rPr>
              <a:t>Lớp K</a:t>
            </a:r>
          </a:p>
          <a:p>
            <a:pPr eaLnBrk="1" hangingPunct="1"/>
            <a:r>
              <a:rPr lang="en-US" altLang="ko-KR" sz="800">
                <a:latin typeface="Times New Roman" pitchFamily="18" charset="0"/>
                <a:cs typeface="Times New Roman" pitchFamily="18" charset="0"/>
              </a:rPr>
              <a:t>Lớp L</a:t>
            </a:r>
          </a:p>
          <a:p>
            <a:pPr eaLnBrk="1" hangingPunct="1"/>
            <a:r>
              <a:rPr lang="en-US" altLang="ko-KR" sz="800">
                <a:latin typeface="Times New Roman" pitchFamily="18" charset="0"/>
                <a:cs typeface="Times New Roman" pitchFamily="18" charset="0"/>
              </a:rPr>
              <a:t>Lớp M</a:t>
            </a:r>
          </a:p>
          <a:p>
            <a:pPr eaLnBrk="1" hangingPunct="1"/>
            <a:r>
              <a:rPr lang="en-US" altLang="ko-KR" sz="800">
                <a:latin typeface="Times New Roman" pitchFamily="18" charset="0"/>
                <a:cs typeface="Times New Roman" pitchFamily="18" charset="0"/>
              </a:rPr>
              <a:t>Lớp N</a:t>
            </a:r>
          </a:p>
          <a:p>
            <a:pPr eaLnBrk="1" hangingPunct="1"/>
            <a:endParaRPr lang="ko-KR" altLang="en-US" sz="700">
              <a:latin typeface="Times New Roman" pitchFamily="18" charset="0"/>
              <a:cs typeface="Times New Roman" pitchFamily="18" charset="0"/>
            </a:endParaRPr>
          </a:p>
        </p:txBody>
      </p:sp>
      <p:sp>
        <p:nvSpPr>
          <p:cNvPr id="13321" name="타원 1"/>
          <p:cNvSpPr>
            <a:spLocks noChangeArrowheads="1"/>
          </p:cNvSpPr>
          <p:nvPr/>
        </p:nvSpPr>
        <p:spPr bwMode="auto">
          <a:xfrm>
            <a:off x="6227763" y="5157788"/>
            <a:ext cx="792162" cy="431800"/>
          </a:xfrm>
          <a:prstGeom prst="ellipse">
            <a:avLst/>
          </a:prstGeom>
          <a:solidFill>
            <a:srgbClr val="99FF33"/>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solidFill>
                  <a:srgbClr val="FF66FF"/>
                </a:solidFill>
                <a:latin typeface="Times New Roman" pitchFamily="18" charset="0"/>
                <a:cs typeface="Times New Roman" pitchFamily="18" charset="0"/>
              </a:rPr>
              <a:t>Hạt nhân nguyên tử</a:t>
            </a:r>
            <a:endParaRPr lang="ko-KR" altLang="en-US" sz="700">
              <a:solidFill>
                <a:srgbClr val="FF66FF"/>
              </a:solidFill>
              <a:latin typeface="Times New Roman" pitchFamily="18" charset="0"/>
              <a:cs typeface="Times New Roman" pitchFamily="18" charset="0"/>
            </a:endParaRPr>
          </a:p>
        </p:txBody>
      </p:sp>
      <p:sp>
        <p:nvSpPr>
          <p:cNvPr id="3" name="직사각형 2"/>
          <p:cNvSpPr/>
          <p:nvPr/>
        </p:nvSpPr>
        <p:spPr bwMode="auto">
          <a:xfrm>
            <a:off x="7667625" y="4221163"/>
            <a:ext cx="1152525" cy="287337"/>
          </a:xfrm>
          <a:prstGeom prst="rect">
            <a:avLst/>
          </a:prstGeom>
          <a:solidFill>
            <a:schemeClr val="accent5"/>
          </a:solidFill>
          <a:ln w="9525" cap="flat" cmpd="sng" algn="ctr">
            <a:noFill/>
            <a:prstDash val="solid"/>
            <a:round/>
            <a:headEnd type="none" w="med" len="med"/>
            <a:tailEnd type="none" w="med" len="med"/>
          </a:ln>
          <a:effectLst/>
          <a:extLst/>
        </p:spPr>
        <p:txBody>
          <a:bodyPr/>
          <a:lstStyle/>
          <a:p>
            <a:pPr>
              <a:defRPr/>
            </a:pPr>
            <a:r>
              <a:rPr lang="en-US" altLang="ko-KR" dirty="0">
                <a:solidFill>
                  <a:srgbClr val="FF66FF"/>
                </a:solidFill>
                <a:latin typeface="Times New Roman" panose="02020603050405020304" pitchFamily="18" charset="0"/>
                <a:cs typeface="Times New Roman" panose="02020603050405020304" pitchFamily="18" charset="0"/>
              </a:rPr>
              <a:t>Electron </a:t>
            </a:r>
            <a:r>
              <a:rPr lang="en-US" altLang="ko-KR" dirty="0" err="1">
                <a:solidFill>
                  <a:srgbClr val="FF66FF"/>
                </a:solidFill>
                <a:latin typeface="Times New Roman" panose="02020603050405020304" pitchFamily="18" charset="0"/>
                <a:cs typeface="Times New Roman" panose="02020603050405020304" pitchFamily="18" charset="0"/>
              </a:rPr>
              <a:t>tự</a:t>
            </a:r>
            <a:r>
              <a:rPr lang="en-US" altLang="ko-KR" dirty="0">
                <a:solidFill>
                  <a:srgbClr val="FF66FF"/>
                </a:solidFill>
                <a:latin typeface="Times New Roman" panose="02020603050405020304" pitchFamily="18" charset="0"/>
                <a:cs typeface="Times New Roman" panose="02020603050405020304" pitchFamily="18" charset="0"/>
              </a:rPr>
              <a:t> do</a:t>
            </a:r>
            <a:endParaRPr lang="ko-KR" altLang="en-US" dirty="0">
              <a:solidFill>
                <a:srgbClr val="FF66FF"/>
              </a:solidFill>
              <a:latin typeface="Times New Roman" panose="02020603050405020304" pitchFamily="18" charset="0"/>
              <a:cs typeface="Times New Roman" panose="02020603050405020304" pitchFamily="18" charset="0"/>
            </a:endParaRPr>
          </a:p>
        </p:txBody>
      </p:sp>
      <p:sp>
        <p:nvSpPr>
          <p:cNvPr id="13" name="직사각형 12"/>
          <p:cNvSpPr/>
          <p:nvPr/>
        </p:nvSpPr>
        <p:spPr bwMode="auto">
          <a:xfrm>
            <a:off x="6804025" y="6092825"/>
            <a:ext cx="490538" cy="215900"/>
          </a:xfrm>
          <a:prstGeom prst="rect">
            <a:avLst/>
          </a:prstGeom>
          <a:solidFill>
            <a:schemeClr val="accent5"/>
          </a:solidFill>
          <a:ln w="9525" cap="flat" cmpd="sng" algn="ctr">
            <a:noFill/>
            <a:prstDash val="solid"/>
            <a:round/>
            <a:headEnd type="none" w="med" len="med"/>
            <a:tailEnd type="none" w="med" len="med"/>
          </a:ln>
          <a:effectLst/>
          <a:extLst/>
        </p:spPr>
        <p:txBody>
          <a:bodyPr/>
          <a:lstStyle/>
          <a:p>
            <a:pPr>
              <a:defRPr/>
            </a:pPr>
            <a:r>
              <a:rPr lang="en-US" altLang="ko-KR" sz="800" dirty="0" err="1">
                <a:solidFill>
                  <a:srgbClr val="FF66FF"/>
                </a:solidFill>
                <a:latin typeface="Times New Roman" panose="02020603050405020304" pitchFamily="18" charset="0"/>
                <a:cs typeface="Times New Roman" panose="02020603050405020304" pitchFamily="18" charset="0"/>
              </a:rPr>
              <a:t>Lớp</a:t>
            </a:r>
            <a:r>
              <a:rPr lang="en-US" altLang="ko-KR" sz="800" dirty="0">
                <a:solidFill>
                  <a:srgbClr val="FF66FF"/>
                </a:solidFill>
                <a:latin typeface="Times New Roman" panose="02020603050405020304" pitchFamily="18" charset="0"/>
                <a:cs typeface="Times New Roman" panose="02020603050405020304" pitchFamily="18" charset="0"/>
              </a:rPr>
              <a:t> N</a:t>
            </a:r>
            <a:endParaRPr lang="ko-KR" altLang="en-US" sz="800" dirty="0">
              <a:solidFill>
                <a:srgbClr val="FF66FF"/>
              </a:solidFill>
              <a:latin typeface="Times New Roman" panose="02020603050405020304" pitchFamily="18" charset="0"/>
              <a:cs typeface="Times New Roman" panose="02020603050405020304" pitchFamily="18" charset="0"/>
            </a:endParaRPr>
          </a:p>
        </p:txBody>
      </p:sp>
      <p:sp>
        <p:nvSpPr>
          <p:cNvPr id="14" name="직사각형 13"/>
          <p:cNvSpPr/>
          <p:nvPr/>
        </p:nvSpPr>
        <p:spPr bwMode="auto">
          <a:xfrm>
            <a:off x="6732588" y="5949950"/>
            <a:ext cx="490537" cy="215900"/>
          </a:xfrm>
          <a:prstGeom prst="rect">
            <a:avLst/>
          </a:prstGeom>
          <a:solidFill>
            <a:schemeClr val="accent5"/>
          </a:solidFill>
          <a:ln w="9525" cap="flat" cmpd="sng" algn="ctr">
            <a:noFill/>
            <a:prstDash val="solid"/>
            <a:round/>
            <a:headEnd type="none" w="med" len="med"/>
            <a:tailEnd type="none" w="med" len="med"/>
          </a:ln>
          <a:effectLst/>
          <a:extLst/>
        </p:spPr>
        <p:txBody>
          <a:bodyPr/>
          <a:lstStyle/>
          <a:p>
            <a:pPr>
              <a:defRPr/>
            </a:pPr>
            <a:r>
              <a:rPr lang="en-US" altLang="ko-KR" sz="800" dirty="0" err="1">
                <a:solidFill>
                  <a:srgbClr val="FF66FF"/>
                </a:solidFill>
                <a:latin typeface="Times New Roman" panose="02020603050405020304" pitchFamily="18" charset="0"/>
                <a:cs typeface="Times New Roman" panose="02020603050405020304" pitchFamily="18" charset="0"/>
              </a:rPr>
              <a:t>Lớp</a:t>
            </a:r>
            <a:r>
              <a:rPr lang="en-US" altLang="ko-KR" sz="800" dirty="0">
                <a:solidFill>
                  <a:srgbClr val="FF66FF"/>
                </a:solidFill>
                <a:latin typeface="Times New Roman" panose="02020603050405020304" pitchFamily="18" charset="0"/>
                <a:cs typeface="Times New Roman" panose="02020603050405020304" pitchFamily="18" charset="0"/>
              </a:rPr>
              <a:t> M</a:t>
            </a:r>
            <a:endParaRPr lang="ko-KR" altLang="en-US" sz="800" dirty="0">
              <a:solidFill>
                <a:srgbClr val="FF66FF"/>
              </a:solidFill>
              <a:latin typeface="Times New Roman" panose="02020603050405020304" pitchFamily="18" charset="0"/>
              <a:cs typeface="Times New Roman" panose="02020603050405020304" pitchFamily="18" charset="0"/>
            </a:endParaRPr>
          </a:p>
        </p:txBody>
      </p:sp>
      <p:sp>
        <p:nvSpPr>
          <p:cNvPr id="15" name="직사각형 14"/>
          <p:cNvSpPr/>
          <p:nvPr/>
        </p:nvSpPr>
        <p:spPr bwMode="auto">
          <a:xfrm>
            <a:off x="6659563" y="5805488"/>
            <a:ext cx="490537" cy="215900"/>
          </a:xfrm>
          <a:prstGeom prst="rect">
            <a:avLst/>
          </a:prstGeom>
          <a:solidFill>
            <a:schemeClr val="accent5"/>
          </a:solidFill>
          <a:ln w="9525" cap="flat" cmpd="sng" algn="ctr">
            <a:noFill/>
            <a:prstDash val="solid"/>
            <a:round/>
            <a:headEnd type="none" w="med" len="med"/>
            <a:tailEnd type="none" w="med" len="med"/>
          </a:ln>
          <a:effectLst/>
          <a:extLst/>
        </p:spPr>
        <p:txBody>
          <a:bodyPr/>
          <a:lstStyle/>
          <a:p>
            <a:pPr>
              <a:defRPr/>
            </a:pPr>
            <a:r>
              <a:rPr lang="en-US" altLang="ko-KR" sz="800" dirty="0" err="1">
                <a:latin typeface="Times New Roman" panose="02020603050405020304" pitchFamily="18" charset="0"/>
                <a:cs typeface="Times New Roman" panose="02020603050405020304" pitchFamily="18" charset="0"/>
              </a:rPr>
              <a:t>Lớp</a:t>
            </a:r>
            <a:r>
              <a:rPr lang="en-US" altLang="ko-KR" sz="800" dirty="0">
                <a:latin typeface="Times New Roman" panose="02020603050405020304" pitchFamily="18" charset="0"/>
                <a:cs typeface="Times New Roman" panose="02020603050405020304" pitchFamily="18" charset="0"/>
              </a:rPr>
              <a:t> L</a:t>
            </a:r>
            <a:endParaRPr lang="ko-KR" altLang="en-US" sz="800" dirty="0">
              <a:latin typeface="Times New Roman" panose="02020603050405020304" pitchFamily="18" charset="0"/>
              <a:cs typeface="Times New Roman" panose="02020603050405020304" pitchFamily="18" charset="0"/>
            </a:endParaRPr>
          </a:p>
        </p:txBody>
      </p:sp>
      <p:sp>
        <p:nvSpPr>
          <p:cNvPr id="16" name="직사각형 15"/>
          <p:cNvSpPr/>
          <p:nvPr/>
        </p:nvSpPr>
        <p:spPr bwMode="auto">
          <a:xfrm>
            <a:off x="6588125" y="5589588"/>
            <a:ext cx="490538" cy="215900"/>
          </a:xfrm>
          <a:prstGeom prst="rect">
            <a:avLst/>
          </a:prstGeom>
          <a:solidFill>
            <a:schemeClr val="accent5"/>
          </a:solidFill>
          <a:ln w="9525" cap="flat" cmpd="sng" algn="ctr">
            <a:noFill/>
            <a:prstDash val="solid"/>
            <a:round/>
            <a:headEnd type="none" w="med" len="med"/>
            <a:tailEnd type="none" w="med" len="med"/>
          </a:ln>
          <a:effectLst/>
          <a:extLst/>
        </p:spPr>
        <p:txBody>
          <a:bodyPr/>
          <a:lstStyle/>
          <a:p>
            <a:pPr>
              <a:defRPr/>
            </a:pPr>
            <a:r>
              <a:rPr lang="en-US" altLang="ko-KR" sz="800" dirty="0" err="1">
                <a:latin typeface="Times New Roman" panose="02020603050405020304" pitchFamily="18" charset="0"/>
                <a:cs typeface="Times New Roman" panose="02020603050405020304" pitchFamily="18" charset="0"/>
              </a:rPr>
              <a:t>Lớp</a:t>
            </a:r>
            <a:r>
              <a:rPr lang="en-US" altLang="ko-KR" sz="800" dirty="0">
                <a:latin typeface="Times New Roman" panose="02020603050405020304" pitchFamily="18" charset="0"/>
                <a:cs typeface="Times New Roman" panose="02020603050405020304" pitchFamily="18" charset="0"/>
              </a:rPr>
              <a:t> K</a:t>
            </a:r>
            <a:endParaRPr lang="ko-KR" altLang="en-US" sz="8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FD9AC84-0723-4343-8DA4-477203CEF64F}" type="slidenum">
              <a:rPr lang="en-US" altLang="ko-KR" sz="1400" smtClean="0"/>
              <a:pPr eaLnBrk="1" hangingPunct="1"/>
              <a:t>9</a:t>
            </a:fld>
            <a:endParaRPr lang="en-US" altLang="ko-KR" sz="1400" smtClean="0"/>
          </a:p>
        </p:txBody>
      </p:sp>
      <p:sp>
        <p:nvSpPr>
          <p:cNvPr id="14339" name="Text Box 2"/>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434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5</a:t>
            </a:r>
            <a:r>
              <a:rPr lang="en-US" altLang="en-US" b="1">
                <a:latin typeface="Times New Roman" pitchFamily="18" charset="0"/>
                <a:cs typeface="Times New Roman" pitchFamily="18" charset="0"/>
              </a:rPr>
              <a:t>) Điện tích</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Nếu hạt electron tách ra và di chuyển đến nguyên tử khác thì nguyên tử bị mất electron bị phá vỡ cân bằng điện bởi điện dương (+) và nguyên tử mang nhiều hạt electron sẽ mang điện âm (-).</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Electron được nhận năng lượng(chẳng hạn như thông qua ma sát) và nếu năng lượng tăng thì hạt electron sẽ vượt ra khỏi từ trường và trở thành electron tự do. Các hạt electron tự do có thể di chuyển qua khoảng cách giữa các nguyên tử. </a:t>
            </a:r>
          </a:p>
          <a:p>
            <a:pPr eaLnBrk="1" hangingPunct="1"/>
            <a:r>
              <a:rPr lang="en-US" altLang="ko-KR">
                <a:latin typeface="Times New Roman" pitchFamily="18" charset="0"/>
                <a:cs typeface="Times New Roman" pitchFamily="18" charset="0"/>
              </a:rPr>
              <a:t>Điện sinh ra như vậy sẽ được gọi là</a:t>
            </a:r>
            <a:r>
              <a:rPr lang="ko-KR" altLang="en-US">
                <a:latin typeface="Times New Roman" pitchFamily="18" charset="0"/>
                <a:cs typeface="Times New Roman" pitchFamily="18" charset="0"/>
              </a:rPr>
              <a:t> </a:t>
            </a:r>
            <a:r>
              <a:rPr lang="en-US" altLang="ko-KR" b="1" u="sng">
                <a:latin typeface="Times New Roman" pitchFamily="18" charset="0"/>
                <a:cs typeface="Times New Roman" pitchFamily="18" charset="0"/>
              </a:rPr>
              <a:t>điện tích</a:t>
            </a:r>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Bằng cách này, nguyên tử bị mất hay nhận được electron làm thay đổi tính chất điện từ (0) thành (+) hoặc (-) được gọi là </a:t>
            </a:r>
            <a:r>
              <a:rPr lang="en-US" altLang="ko-KR" b="1" u="sng">
                <a:latin typeface="Times New Roman" pitchFamily="18" charset="0"/>
                <a:cs typeface="Times New Roman" pitchFamily="18" charset="0"/>
              </a:rPr>
              <a:t>nhiễm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vật chất bị nhiễm điện được gọi là </a:t>
            </a:r>
            <a:r>
              <a:rPr lang="en-US" altLang="ko-KR" b="1" u="sng">
                <a:latin typeface="Times New Roman" pitchFamily="18" charset="0"/>
                <a:cs typeface="Times New Roman" pitchFamily="18" charset="0"/>
              </a:rPr>
              <a:t>vật nhiễm điện</a:t>
            </a:r>
            <a:r>
              <a:rPr lang="en-US" altLang="ko-KR">
                <a:latin typeface="Times New Roman" pitchFamily="18" charset="0"/>
                <a:cs typeface="Times New Roman" pitchFamily="18" charset="0"/>
              </a:rPr>
              <a:t>.</a:t>
            </a:r>
          </a:p>
          <a:p>
            <a:pPr eaLnBrk="1" hangingPunct="1"/>
            <a:endParaRPr lang="en-US" altLang="ko-KR">
              <a:latin typeface="Times New Roman" pitchFamily="18" charset="0"/>
              <a:cs typeface="Times New Roman" pitchFamily="18" charset="0"/>
            </a:endParaRPr>
          </a:p>
        </p:txBody>
      </p:sp>
      <p:sp>
        <p:nvSpPr>
          <p:cNvPr id="14341"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14342" name="Picture 5" descr="자유전자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325" y="1439863"/>
            <a:ext cx="4457700"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4343" name="Text Box 6"/>
          <p:cNvSpPr txBox="1">
            <a:spLocks noChangeArrowheads="1"/>
          </p:cNvSpPr>
          <p:nvPr/>
        </p:nvSpPr>
        <p:spPr bwMode="auto">
          <a:xfrm>
            <a:off x="971550" y="6092825"/>
            <a:ext cx="3186113"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a:latin typeface="Times New Roman" pitchFamily="18" charset="0"/>
                <a:cs typeface="Times New Roman" pitchFamily="18" charset="0"/>
              </a:rPr>
              <a:t>＊</a:t>
            </a:r>
            <a:r>
              <a:rPr lang="en-US" altLang="ko-KR" sz="800">
                <a:latin typeface="Times New Roman" pitchFamily="18" charset="0"/>
                <a:cs typeface="Times New Roman" pitchFamily="18" charset="0"/>
              </a:rPr>
              <a:t>1) Từ trường: Năng lượng  hút kéo các electron của hạt nhân nguyên tử</a:t>
            </a:r>
            <a:endParaRPr lang="ko-KR" altLang="en-US" sz="800">
              <a:latin typeface="Times New Roman" pitchFamily="18" charset="0"/>
              <a:cs typeface="Times New Roman" pitchFamily="18" charset="0"/>
            </a:endParaRPr>
          </a:p>
        </p:txBody>
      </p:sp>
      <p:sp>
        <p:nvSpPr>
          <p:cNvPr id="14344" name="Text Box 7"/>
          <p:cNvSpPr txBox="1">
            <a:spLocks noChangeArrowheads="1"/>
          </p:cNvSpPr>
          <p:nvPr/>
        </p:nvSpPr>
        <p:spPr bwMode="auto">
          <a:xfrm>
            <a:off x="1571625" y="4741863"/>
            <a:ext cx="369888"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b="1">
                <a:latin typeface="Times New Roman" pitchFamily="18" charset="0"/>
                <a:cs typeface="Times New Roman" pitchFamily="18" charset="0"/>
              </a:rPr>
              <a:t>＊</a:t>
            </a:r>
            <a:r>
              <a:rPr lang="en-US" altLang="ko-KR" sz="800" b="1">
                <a:latin typeface="Times New Roman" pitchFamily="18" charset="0"/>
                <a:cs typeface="Times New Roman" pitchFamily="18" charset="0"/>
              </a:rPr>
              <a:t>1)</a:t>
            </a:r>
          </a:p>
        </p:txBody>
      </p:sp>
      <p:sp>
        <p:nvSpPr>
          <p:cNvPr id="14345" name="직사각형 1"/>
          <p:cNvSpPr>
            <a:spLocks noChangeArrowheads="1"/>
          </p:cNvSpPr>
          <p:nvPr/>
        </p:nvSpPr>
        <p:spPr bwMode="auto">
          <a:xfrm>
            <a:off x="2503488" y="1557338"/>
            <a:ext cx="989012" cy="287337"/>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Hạt electron</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DB54B41-169A-4F94-A7FD-22F0B96DC226}" type="slidenum">
              <a:rPr lang="en-US" altLang="ko-KR" sz="1400" smtClean="0"/>
              <a:pPr eaLnBrk="1" hangingPunct="1"/>
              <a:t>10</a:t>
            </a:fld>
            <a:endParaRPr lang="en-US" altLang="ko-KR" sz="1400" smtClean="0"/>
          </a:p>
        </p:txBody>
      </p:sp>
      <p:sp>
        <p:nvSpPr>
          <p:cNvPr id="15363" name="Text Box 2"/>
          <p:cNvSpPr txBox="1">
            <a:spLocks noChangeArrowheads="1"/>
          </p:cNvSpPr>
          <p:nvPr/>
        </p:nvSpPr>
        <p:spPr bwMode="auto">
          <a:xfrm>
            <a:off x="684213" y="892175"/>
            <a:ext cx="28368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1-2. Phóng xung điện của hạt nhân</a:t>
            </a:r>
            <a:endParaRPr lang="ko-KR" altLang="en-US" sz="1400">
              <a:solidFill>
                <a:schemeClr val="accent2"/>
              </a:solidFill>
              <a:latin typeface="Times New Roman" pitchFamily="18" charset="0"/>
              <a:cs typeface="Times New Roman" pitchFamily="18" charset="0"/>
            </a:endParaRPr>
          </a:p>
        </p:txBody>
      </p:sp>
      <p:sp>
        <p:nvSpPr>
          <p:cNvPr id="15364" name="Text Box 4"/>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5365" name="Text Box 5"/>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5366"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① </a:t>
            </a:r>
            <a:r>
              <a:rPr lang="en-US" altLang="ko-KR" b="1">
                <a:latin typeface="Times New Roman" pitchFamily="18" charset="0"/>
                <a:cs typeface="Times New Roman" pitchFamily="18" charset="0"/>
              </a:rPr>
              <a:t>Kích thích</a:t>
            </a:r>
            <a:r>
              <a:rPr lang="en-US" altLang="ko-KR">
                <a:latin typeface="Times New Roman" pitchFamily="18" charset="0"/>
                <a:cs typeface="Times New Roman" pitchFamily="18" charset="0"/>
              </a:rPr>
              <a:t>(excitation) : quỹ đạo điện từ nhận ánh sáng và nhiệt, theo đó năng lượng tăng bởi xung điện từ và dịch 	chuyển ra vòng xa hơn(vòng ngoài).</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② </a:t>
            </a:r>
            <a:r>
              <a:rPr lang="en-US" altLang="ko-KR" b="1">
                <a:latin typeface="Times New Roman" pitchFamily="18" charset="0"/>
                <a:cs typeface="Times New Roman" pitchFamily="18" charset="0"/>
              </a:rPr>
              <a:t>I-ôn hóa</a:t>
            </a:r>
            <a:r>
              <a:rPr lang="en-US" altLang="ko-KR">
                <a:latin typeface="Times New Roman" pitchFamily="18" charset="0"/>
                <a:cs typeface="Times New Roman" pitchFamily="18" charset="0"/>
              </a:rPr>
              <a:t>(ionization)</a:t>
            </a:r>
            <a:r>
              <a:rPr lang="en-US" altLang="ko-KR" b="1">
                <a:latin typeface="Times New Roman" pitchFamily="18" charset="0"/>
                <a:cs typeface="Times New Roman" pitchFamily="18" charset="0"/>
              </a:rPr>
              <a:t>(Điện ly)</a:t>
            </a:r>
            <a:r>
              <a:rPr lang="en-US" altLang="ko-KR">
                <a:latin typeface="Times New Roman" pitchFamily="18" charset="0"/>
                <a:cs typeface="Times New Roman" pitchFamily="18" charset="0"/>
              </a:rPr>
              <a:t> : là việc các hạt electron quay trên quỹ đạo trong của nguyên tử bị biến thành các hạt 	eletron tự do do điện tích quay chịu tác động của một lực lớn hơn .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③ </a:t>
            </a:r>
            <a:r>
              <a:rPr lang="en-US" altLang="ko-KR" b="1">
                <a:latin typeface="Times New Roman" pitchFamily="18" charset="0"/>
                <a:cs typeface="Times New Roman" pitchFamily="18" charset="0"/>
              </a:rPr>
              <a:t>Phóng xung điện</a:t>
            </a:r>
            <a:r>
              <a:rPr lang="en-US" altLang="ko-KR">
                <a:latin typeface="Times New Roman" pitchFamily="18" charset="0"/>
                <a:cs typeface="Times New Roman" pitchFamily="18" charset="0"/>
              </a:rPr>
              <a:t>: bởi quỹ đạo điện từ sau kích thích bất ổn nên hạt electron luôn có quán tính muốn quay trở lại 	vòng trong, và khi đó nó phải phóng trả lại năng lượng kích thích đã nhận vào không gian.</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④ Lượng tử ánh sáng(Proton) : hạt ánh sáng.           Năng lượng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W=hν[J], h=6.626176×10</a:t>
            </a:r>
            <a:r>
              <a:rPr lang="en-US" altLang="ko-KR" baseline="30000">
                <a:latin typeface="Times New Roman" pitchFamily="18" charset="0"/>
                <a:cs typeface="Times New Roman" pitchFamily="18" charset="0"/>
              </a:rPr>
              <a:t>-34</a:t>
            </a:r>
            <a:r>
              <a:rPr lang="en-US" altLang="ko-KR">
                <a:latin typeface="Times New Roman" pitchFamily="18" charset="0"/>
                <a:cs typeface="Times New Roman" pitchFamily="18" charset="0"/>
              </a:rPr>
              <a:t>[J·s] </a:t>
            </a:r>
          </a:p>
        </p:txBody>
      </p:sp>
      <p:pic>
        <p:nvPicPr>
          <p:cNvPr id="15367" name="Picture 49"/>
          <p:cNvPicPr>
            <a:picLocks noChangeAspect="1" noChangeArrowheads="1"/>
          </p:cNvPicPr>
          <p:nvPr/>
        </p:nvPicPr>
        <p:blipFill>
          <a:blip r:embed="rId3">
            <a:extLst>
              <a:ext uri="{28A0092B-C50C-407E-A947-70E740481C1C}">
                <a14:useLocalDpi xmlns:a14="http://schemas.microsoft.com/office/drawing/2010/main" val="0"/>
              </a:ext>
            </a:extLst>
          </a:blip>
          <a:srcRect l="3677" t="6573"/>
          <a:stretch>
            <a:fillRect/>
          </a:stretch>
        </p:blipFill>
        <p:spPr bwMode="auto">
          <a:xfrm>
            <a:off x="1331913" y="3284538"/>
            <a:ext cx="5656262"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Text Box 50"/>
          <p:cNvSpPr txBox="1">
            <a:spLocks noChangeArrowheads="1"/>
          </p:cNvSpPr>
          <p:nvPr/>
        </p:nvSpPr>
        <p:spPr bwMode="auto">
          <a:xfrm>
            <a:off x="3179763" y="6092825"/>
            <a:ext cx="179705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b="1">
                <a:latin typeface="Times New Roman" pitchFamily="18" charset="0"/>
                <a:cs typeface="Times New Roman" pitchFamily="18" charset="0"/>
              </a:rPr>
              <a:t>&lt; Phóng xung điện hạt nhân&gt;</a:t>
            </a:r>
          </a:p>
        </p:txBody>
      </p:sp>
      <p:sp>
        <p:nvSpPr>
          <p:cNvPr id="15369" name="Rectangle 51"/>
          <p:cNvSpPr>
            <a:spLocks noChangeArrowheads="1"/>
          </p:cNvSpPr>
          <p:nvPr/>
        </p:nvSpPr>
        <p:spPr bwMode="auto">
          <a:xfrm>
            <a:off x="6659563" y="3573463"/>
            <a:ext cx="2027237"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h : hằng số Frank</a:t>
            </a:r>
            <a:endParaRPr lang="ko-KR" altLang="en-US">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ν : Tần số rung của ánh sáng</a:t>
            </a:r>
            <a:endParaRPr lang="ko-KR" altLang="en-US">
              <a:latin typeface="Times New Roman" pitchFamily="18" charset="0"/>
              <a:cs typeface="Times New Roman" pitchFamily="18" charset="0"/>
            </a:endParaRPr>
          </a:p>
        </p:txBody>
      </p:sp>
      <p:sp>
        <p:nvSpPr>
          <p:cNvPr id="15370" name="직사각형 1"/>
          <p:cNvSpPr>
            <a:spLocks noChangeArrowheads="1"/>
          </p:cNvSpPr>
          <p:nvPr/>
        </p:nvSpPr>
        <p:spPr bwMode="auto">
          <a:xfrm>
            <a:off x="2411413" y="5805488"/>
            <a:ext cx="1666875" cy="287337"/>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a) Kích thích và phóng xung</a:t>
            </a:r>
            <a:endParaRPr lang="ko-KR" altLang="en-US" sz="1000">
              <a:latin typeface="Times New Roman" pitchFamily="18" charset="0"/>
              <a:cs typeface="Times New Roman" pitchFamily="18" charset="0"/>
            </a:endParaRPr>
          </a:p>
        </p:txBody>
      </p:sp>
      <p:sp>
        <p:nvSpPr>
          <p:cNvPr id="15371" name="직사각형 10"/>
          <p:cNvSpPr>
            <a:spLocks noChangeArrowheads="1"/>
          </p:cNvSpPr>
          <p:nvPr/>
        </p:nvSpPr>
        <p:spPr bwMode="auto">
          <a:xfrm>
            <a:off x="4427538" y="5805488"/>
            <a:ext cx="1439862" cy="287337"/>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b) Phóng xung điện</a:t>
            </a:r>
            <a:endParaRPr lang="ko-KR" altLang="en-US" sz="1000">
              <a:latin typeface="Times New Roman" pitchFamily="18" charset="0"/>
              <a:cs typeface="Times New Roman" pitchFamily="18" charset="0"/>
            </a:endParaRPr>
          </a:p>
        </p:txBody>
      </p:sp>
      <p:sp>
        <p:nvSpPr>
          <p:cNvPr id="15372" name="직사각형 12"/>
          <p:cNvSpPr>
            <a:spLocks noChangeArrowheads="1"/>
          </p:cNvSpPr>
          <p:nvPr/>
        </p:nvSpPr>
        <p:spPr bwMode="auto">
          <a:xfrm>
            <a:off x="1131888" y="5229225"/>
            <a:ext cx="847725"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Electron tự do</a:t>
            </a:r>
            <a:endParaRPr lang="ko-KR" altLang="en-US" sz="900">
              <a:latin typeface="Times New Roman" pitchFamily="18" charset="0"/>
              <a:cs typeface="Times New Roman" pitchFamily="18" charset="0"/>
            </a:endParaRPr>
          </a:p>
        </p:txBody>
      </p:sp>
      <p:sp>
        <p:nvSpPr>
          <p:cNvPr id="15373" name="직사각형 13"/>
          <p:cNvSpPr>
            <a:spLocks noChangeArrowheads="1"/>
          </p:cNvSpPr>
          <p:nvPr/>
        </p:nvSpPr>
        <p:spPr bwMode="auto">
          <a:xfrm>
            <a:off x="1933575" y="5805488"/>
            <a:ext cx="477838" cy="409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Ánh </a:t>
            </a:r>
          </a:p>
          <a:p>
            <a:pPr eaLnBrk="1" hangingPunct="1"/>
            <a:r>
              <a:rPr lang="en-US" altLang="ko-KR" sz="900">
                <a:latin typeface="Times New Roman" pitchFamily="18" charset="0"/>
                <a:cs typeface="Times New Roman" pitchFamily="18" charset="0"/>
              </a:rPr>
              <a:t>sáng</a:t>
            </a:r>
            <a:endParaRPr lang="ko-KR" altLang="en-US" sz="900">
              <a:latin typeface="Times New Roman" pitchFamily="18" charset="0"/>
              <a:cs typeface="Times New Roman" pitchFamily="18" charset="0"/>
            </a:endParaRPr>
          </a:p>
        </p:txBody>
      </p:sp>
      <p:sp>
        <p:nvSpPr>
          <p:cNvPr id="15374" name="직사각형 14"/>
          <p:cNvSpPr>
            <a:spLocks noChangeArrowheads="1"/>
          </p:cNvSpPr>
          <p:nvPr/>
        </p:nvSpPr>
        <p:spPr bwMode="auto">
          <a:xfrm>
            <a:off x="3352800" y="3500438"/>
            <a:ext cx="1003300" cy="2079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Phản xạ ánh sáng</a:t>
            </a:r>
            <a:endParaRPr lang="ko-KR" altLang="en-US" sz="900">
              <a:latin typeface="Times New Roman" pitchFamily="18" charset="0"/>
              <a:cs typeface="Times New Roman" pitchFamily="18" charset="0"/>
            </a:endParaRPr>
          </a:p>
        </p:txBody>
      </p:sp>
      <p:sp>
        <p:nvSpPr>
          <p:cNvPr id="15375" name="직사각형 15"/>
          <p:cNvSpPr>
            <a:spLocks noChangeArrowheads="1"/>
          </p:cNvSpPr>
          <p:nvPr/>
        </p:nvSpPr>
        <p:spPr bwMode="auto">
          <a:xfrm>
            <a:off x="2063750" y="4743450"/>
            <a:ext cx="492125" cy="269875"/>
          </a:xfrm>
          <a:prstGeom prst="rect">
            <a:avLst/>
          </a:prstGeom>
          <a:solidFill>
            <a:srgbClr val="00FFFF"/>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b="1">
                <a:latin typeface="Times New Roman" pitchFamily="18" charset="0"/>
                <a:cs typeface="Times New Roman" pitchFamily="18" charset="0"/>
              </a:rPr>
              <a:t>Điện li</a:t>
            </a:r>
            <a:endParaRPr lang="ko-KR" altLang="en-US" sz="800" b="1">
              <a:latin typeface="Times New Roman" pitchFamily="18" charset="0"/>
              <a:cs typeface="Times New Roman" pitchFamily="18" charset="0"/>
            </a:endParaRPr>
          </a:p>
        </p:txBody>
      </p:sp>
      <p:sp>
        <p:nvSpPr>
          <p:cNvPr id="15376" name="직사각형 17"/>
          <p:cNvSpPr>
            <a:spLocks noChangeArrowheads="1"/>
          </p:cNvSpPr>
          <p:nvPr/>
        </p:nvSpPr>
        <p:spPr bwMode="auto">
          <a:xfrm>
            <a:off x="2195513" y="3371850"/>
            <a:ext cx="492125" cy="403225"/>
          </a:xfrm>
          <a:prstGeom prst="rect">
            <a:avLst/>
          </a:prstGeom>
          <a:solidFill>
            <a:srgbClr val="00FFFF"/>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b="1">
                <a:latin typeface="Times New Roman" pitchFamily="18" charset="0"/>
                <a:cs typeface="Times New Roman" pitchFamily="18" charset="0"/>
              </a:rPr>
              <a:t>Kích thích</a:t>
            </a:r>
            <a:endParaRPr lang="ko-KR" altLang="en-US" sz="800" b="1">
              <a:latin typeface="Times New Roman" pitchFamily="18" charset="0"/>
              <a:cs typeface="Times New Roman" pitchFamily="18" charset="0"/>
            </a:endParaRPr>
          </a:p>
        </p:txBody>
      </p:sp>
      <p:sp>
        <p:nvSpPr>
          <p:cNvPr id="15377" name="직사각형 18"/>
          <p:cNvSpPr>
            <a:spLocks noChangeArrowheads="1"/>
          </p:cNvSpPr>
          <p:nvPr/>
        </p:nvSpPr>
        <p:spPr bwMode="auto">
          <a:xfrm>
            <a:off x="1031875" y="3860800"/>
            <a:ext cx="116363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Sự va chạm Electron</a:t>
            </a:r>
            <a:endParaRPr lang="ko-KR" altLang="en-US" sz="900">
              <a:latin typeface="Times New Roman" pitchFamily="18" charset="0"/>
              <a:cs typeface="Times New Roman" pitchFamily="18" charset="0"/>
            </a:endParaRPr>
          </a:p>
        </p:txBody>
      </p:sp>
      <p:sp>
        <p:nvSpPr>
          <p:cNvPr id="15378" name="직사각형 20"/>
          <p:cNvSpPr>
            <a:spLocks noChangeArrowheads="1"/>
          </p:cNvSpPr>
          <p:nvPr/>
        </p:nvSpPr>
        <p:spPr bwMode="auto">
          <a:xfrm>
            <a:off x="3151188" y="3808413"/>
            <a:ext cx="628650" cy="268287"/>
          </a:xfrm>
          <a:prstGeom prst="rect">
            <a:avLst/>
          </a:prstGeom>
          <a:solidFill>
            <a:srgbClr val="00FFFF"/>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b="1">
                <a:latin typeface="Times New Roman" pitchFamily="18" charset="0"/>
                <a:cs typeface="Times New Roman" pitchFamily="18" charset="0"/>
              </a:rPr>
              <a:t>Phục hồi</a:t>
            </a:r>
            <a:endParaRPr lang="ko-KR" altLang="en-US" sz="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2449325-5CD8-4DC5-86ED-FE0FB50D279F}" type="slidenum">
              <a:rPr lang="en-US" altLang="ko-KR" sz="1400" smtClean="0"/>
              <a:pPr eaLnBrk="1" hangingPunct="1"/>
              <a:t>11</a:t>
            </a:fld>
            <a:endParaRPr lang="en-US" altLang="ko-KR" sz="1400" smtClean="0"/>
          </a:p>
        </p:txBody>
      </p:sp>
      <p:sp>
        <p:nvSpPr>
          <p:cNvPr id="16387" name="Text Box 2"/>
          <p:cNvSpPr txBox="1">
            <a:spLocks noChangeArrowheads="1"/>
          </p:cNvSpPr>
          <p:nvPr/>
        </p:nvSpPr>
        <p:spPr bwMode="auto">
          <a:xfrm>
            <a:off x="684213" y="892175"/>
            <a:ext cx="28098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1-3. Hàng rào năng lượng electron</a:t>
            </a:r>
            <a:endParaRPr lang="ko-KR" altLang="en-US" sz="1400">
              <a:solidFill>
                <a:schemeClr val="accent2"/>
              </a:solidFill>
              <a:latin typeface="Times New Roman" pitchFamily="18" charset="0"/>
              <a:cs typeface="Times New Roman" pitchFamily="18" charset="0"/>
            </a:endParaRPr>
          </a:p>
        </p:txBody>
      </p:sp>
      <p:sp>
        <p:nvSpPr>
          <p:cNvPr id="16388" name="Text Box 3"/>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6389"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6390"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(1) Hàng rào năng lượng</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① </a:t>
            </a:r>
            <a:r>
              <a:rPr lang="en-US" altLang="ko-KR" b="1">
                <a:latin typeface="Times New Roman" pitchFamily="18" charset="0"/>
                <a:cs typeface="Times New Roman" pitchFamily="18" charset="0"/>
              </a:rPr>
              <a:t>Hàng rào năng lượng thứ 1</a:t>
            </a:r>
            <a:r>
              <a:rPr lang="en-US" altLang="ko-KR">
                <a:latin typeface="Times New Roman" pitchFamily="18" charset="0"/>
                <a:cs typeface="Times New Roman" pitchFamily="18" charset="0"/>
              </a:rPr>
              <a:t>: là hàng rào thích hợp cần thiết cho electron thoát khỏi sự giam giữ của từ trường 	nguyên tử trên bề mặt nguyên tử trong kim loại. </a:t>
            </a:r>
            <a:r>
              <a:rPr lang="en-US" altLang="ko-KR" sz="700">
                <a:latin typeface="Times New Roman" pitchFamily="18" charset="0"/>
                <a:cs typeface="Times New Roman" pitchFamily="18" charset="0"/>
              </a:rPr>
              <a:t/>
            </a:r>
            <a:br>
              <a:rPr lang="en-US" altLang="ko-KR" sz="700">
                <a:latin typeface="Times New Roman" pitchFamily="18" charset="0"/>
                <a:cs typeface="Times New Roman" pitchFamily="18" charset="0"/>
              </a:rPr>
            </a:br>
            <a:endParaRPr lang="en-US" altLang="ko-KR"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② </a:t>
            </a:r>
            <a:r>
              <a:rPr lang="en-US" altLang="ko-KR" b="1">
                <a:latin typeface="Times New Roman" pitchFamily="18" charset="0"/>
                <a:cs typeface="Times New Roman" pitchFamily="18" charset="0"/>
              </a:rPr>
              <a:t>Hàng rào năng lượng thứ 2</a:t>
            </a:r>
            <a:r>
              <a:rPr lang="en-US" altLang="ko-KR">
                <a:latin typeface="Times New Roman" pitchFamily="18" charset="0"/>
                <a:cs typeface="Times New Roman" pitchFamily="18" charset="0"/>
              </a:rPr>
              <a:t>: là hàng rào mà tại đó, cho dù </a:t>
            </a:r>
            <a:r>
              <a:rPr lang="en-US" altLang="ko-KR" u="sng">
                <a:latin typeface="Times New Roman" pitchFamily="18" charset="0"/>
                <a:cs typeface="Times New Roman" pitchFamily="18" charset="0"/>
              </a:rPr>
              <a:t>electron dẫn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có bị thoát ra ngoài thì lực kéo tồn tại giữa 	các điện tích dương còn lại trong kim loại cũng sẽ tác động và kéo electron lại. </a:t>
            </a: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③ </a:t>
            </a:r>
            <a:r>
              <a:rPr lang="en-US" altLang="ko-KR">
                <a:latin typeface="Times New Roman" pitchFamily="18" charset="0"/>
                <a:cs typeface="Times New Roman" pitchFamily="18" charset="0"/>
              </a:rPr>
              <a:t>Dòng điện chạy trong kim loại: là chuyển động gia tốc theo hướng điện trường và ngược lại ở bên trong kim loại 		  	bởi các electron tự do thoát khỏi sự giam giữ của hạt nhân nguyên tử. </a:t>
            </a:r>
          </a:p>
        </p:txBody>
      </p:sp>
      <p:pic>
        <p:nvPicPr>
          <p:cNvPr id="16391" name="Picture 10"/>
          <p:cNvPicPr>
            <a:picLocks noChangeAspect="1" noChangeArrowheads="1"/>
          </p:cNvPicPr>
          <p:nvPr/>
        </p:nvPicPr>
        <p:blipFill>
          <a:blip r:embed="rId3">
            <a:extLst>
              <a:ext uri="{28A0092B-C50C-407E-A947-70E740481C1C}">
                <a14:useLocalDpi xmlns:a14="http://schemas.microsoft.com/office/drawing/2010/main" val="0"/>
              </a:ext>
            </a:extLst>
          </a:blip>
          <a:srcRect t="6746"/>
          <a:stretch>
            <a:fillRect/>
          </a:stretch>
        </p:blipFill>
        <p:spPr bwMode="auto">
          <a:xfrm>
            <a:off x="3494088" y="3046413"/>
            <a:ext cx="2959100"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Text Box 11"/>
          <p:cNvSpPr txBox="1">
            <a:spLocks noChangeArrowheads="1"/>
          </p:cNvSpPr>
          <p:nvPr/>
        </p:nvSpPr>
        <p:spPr bwMode="auto">
          <a:xfrm>
            <a:off x="4214813" y="5024438"/>
            <a:ext cx="223837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b="1">
                <a:latin typeface="Times New Roman" pitchFamily="18" charset="0"/>
                <a:cs typeface="Times New Roman" pitchFamily="18" charset="0"/>
              </a:rPr>
              <a:t>&lt; Năng lượng cần để phóng electron&gt;</a:t>
            </a:r>
          </a:p>
        </p:txBody>
      </p:sp>
      <p:sp>
        <p:nvSpPr>
          <p:cNvPr id="16393" name="Text Box 12"/>
          <p:cNvSpPr txBox="1">
            <a:spLocks noChangeArrowheads="1"/>
          </p:cNvSpPr>
          <p:nvPr/>
        </p:nvSpPr>
        <p:spPr bwMode="auto">
          <a:xfrm>
            <a:off x="1095375" y="6210300"/>
            <a:ext cx="3754438"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a:latin typeface="Times New Roman" pitchFamily="18" charset="0"/>
                <a:cs typeface="Times New Roman" pitchFamily="18" charset="0"/>
              </a:rPr>
              <a:t>＊</a:t>
            </a:r>
            <a:r>
              <a:rPr lang="en-US" altLang="ko-KR" sz="800">
                <a:latin typeface="Times New Roman" pitchFamily="18" charset="0"/>
                <a:cs typeface="Times New Roman" pitchFamily="18" charset="0"/>
              </a:rPr>
              <a:t>2) Electron dẫn: là electron có khả năng chuyển động tự do trong nguyên tử kim loại</a:t>
            </a:r>
            <a:endParaRPr lang="ko-KR" altLang="en-US" sz="800">
              <a:latin typeface="Times New Roman" pitchFamily="18" charset="0"/>
              <a:cs typeface="Times New Roman" pitchFamily="18" charset="0"/>
            </a:endParaRPr>
          </a:p>
        </p:txBody>
      </p:sp>
      <p:sp>
        <p:nvSpPr>
          <p:cNvPr id="16394" name="Text Box 13"/>
          <p:cNvSpPr txBox="1">
            <a:spLocks noChangeArrowheads="1"/>
          </p:cNvSpPr>
          <p:nvPr/>
        </p:nvSpPr>
        <p:spPr bwMode="auto">
          <a:xfrm>
            <a:off x="5281613" y="2198688"/>
            <a:ext cx="369887"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b="1">
                <a:latin typeface="Times New Roman" pitchFamily="18" charset="0"/>
                <a:cs typeface="Times New Roman" pitchFamily="18" charset="0"/>
              </a:rPr>
              <a:t>＊</a:t>
            </a:r>
            <a:r>
              <a:rPr lang="en-US" altLang="ko-KR" sz="800" b="1">
                <a:latin typeface="Times New Roman" pitchFamily="18" charset="0"/>
                <a:cs typeface="Times New Roman" pitchFamily="18" charset="0"/>
              </a:rPr>
              <a:t>2)</a:t>
            </a:r>
          </a:p>
        </p:txBody>
      </p:sp>
      <p:sp>
        <p:nvSpPr>
          <p:cNvPr id="2" name="직사각형 1"/>
          <p:cNvSpPr/>
          <p:nvPr/>
        </p:nvSpPr>
        <p:spPr bwMode="auto">
          <a:xfrm>
            <a:off x="5467350" y="3668713"/>
            <a:ext cx="1657350" cy="279400"/>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Hàng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rào</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năng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lượng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thứ</a:t>
            </a:r>
            <a:r>
              <a:rPr lang="en-US" altLang="ko-KR" sz="1050" dirty="0">
                <a:latin typeface="Times New Roman" panose="02020603050405020304" pitchFamily="18" charset="0"/>
                <a:cs typeface="Times New Roman" panose="02020603050405020304" pitchFamily="18" charset="0"/>
              </a:rPr>
              <a:t> 1 </a:t>
            </a:r>
            <a:endParaRPr lang="ko-KR" altLang="en-US" sz="1050" dirty="0">
              <a:latin typeface="Times New Roman" panose="02020603050405020304" pitchFamily="18" charset="0"/>
              <a:cs typeface="Times New Roman" panose="02020603050405020304" pitchFamily="18" charset="0"/>
            </a:endParaRPr>
          </a:p>
        </p:txBody>
      </p:sp>
      <p:sp>
        <p:nvSpPr>
          <p:cNvPr id="12" name="직사각형 11"/>
          <p:cNvSpPr/>
          <p:nvPr/>
        </p:nvSpPr>
        <p:spPr bwMode="auto">
          <a:xfrm>
            <a:off x="5467350" y="4221163"/>
            <a:ext cx="1687513" cy="277812"/>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Hàng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rào</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năng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lượng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thứ</a:t>
            </a:r>
            <a:r>
              <a:rPr lang="en-US" altLang="ko-KR" sz="1050" dirty="0">
                <a:latin typeface="Times New Roman" panose="02020603050405020304" pitchFamily="18" charset="0"/>
                <a:cs typeface="Times New Roman" panose="02020603050405020304" pitchFamily="18" charset="0"/>
              </a:rPr>
              <a:t> 2 </a:t>
            </a:r>
            <a:endParaRPr lang="ko-KR" altLang="en-US" sz="1050" dirty="0">
              <a:latin typeface="Times New Roman" panose="02020603050405020304" pitchFamily="18" charset="0"/>
              <a:cs typeface="Times New Roman" panose="02020603050405020304" pitchFamily="18" charset="0"/>
            </a:endParaRPr>
          </a:p>
        </p:txBody>
      </p:sp>
      <p:sp>
        <p:nvSpPr>
          <p:cNvPr id="16397" name="직사각형 2"/>
          <p:cNvSpPr>
            <a:spLocks noChangeArrowheads="1"/>
          </p:cNvSpPr>
          <p:nvPr/>
        </p:nvSpPr>
        <p:spPr bwMode="auto">
          <a:xfrm rot="-5400000">
            <a:off x="3278981" y="3325019"/>
            <a:ext cx="1000125" cy="287338"/>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Dải năng lượng</a:t>
            </a:r>
            <a:endParaRPr lang="ko-KR" altLang="en-US" sz="1000">
              <a:latin typeface="Times New Roman" pitchFamily="18" charset="0"/>
              <a:cs typeface="Times New Roman" pitchFamily="18" charset="0"/>
            </a:endParaRPr>
          </a:p>
        </p:txBody>
      </p:sp>
      <p:sp>
        <p:nvSpPr>
          <p:cNvPr id="16398" name="직사각형 13"/>
          <p:cNvSpPr>
            <a:spLocks noChangeArrowheads="1"/>
          </p:cNvSpPr>
          <p:nvPr/>
        </p:nvSpPr>
        <p:spPr bwMode="auto">
          <a:xfrm>
            <a:off x="4067175" y="3368675"/>
            <a:ext cx="1368425" cy="2794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Vị trí electron thoát ra ngoài</a:t>
            </a:r>
            <a:endParaRPr lang="ko-KR" altLang="en-US" sz="800">
              <a:latin typeface="Times New Roman" pitchFamily="18" charset="0"/>
              <a:cs typeface="Times New Roman" pitchFamily="18" charset="0"/>
            </a:endParaRPr>
          </a:p>
        </p:txBody>
      </p:sp>
      <p:sp>
        <p:nvSpPr>
          <p:cNvPr id="16399" name="직사각형 14"/>
          <p:cNvSpPr>
            <a:spLocks noChangeArrowheads="1"/>
          </p:cNvSpPr>
          <p:nvPr/>
        </p:nvSpPr>
        <p:spPr bwMode="auto">
          <a:xfrm>
            <a:off x="4073525" y="4116388"/>
            <a:ext cx="1368425" cy="20955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Vị trí electron dẫn</a:t>
            </a:r>
            <a:endParaRPr lang="ko-KR" altLang="en-US" sz="800">
              <a:latin typeface="Times New Roman" pitchFamily="18" charset="0"/>
              <a:cs typeface="Times New Roman" pitchFamily="18" charset="0"/>
            </a:endParaRPr>
          </a:p>
        </p:txBody>
      </p:sp>
      <p:sp>
        <p:nvSpPr>
          <p:cNvPr id="16400" name="직사각형 15"/>
          <p:cNvSpPr>
            <a:spLocks noChangeArrowheads="1"/>
          </p:cNvSpPr>
          <p:nvPr/>
        </p:nvSpPr>
        <p:spPr bwMode="auto">
          <a:xfrm>
            <a:off x="4079875" y="4551363"/>
            <a:ext cx="1368425" cy="433387"/>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800">
              <a:latin typeface="Times New Roman" pitchFamily="18" charset="0"/>
              <a:cs typeface="Times New Roman" pitchFamily="18" charset="0"/>
            </a:endParaRPr>
          </a:p>
          <a:p>
            <a:pPr algn="ctr" eaLnBrk="1" hangingPunct="1"/>
            <a:r>
              <a:rPr lang="en-US" altLang="ko-KR" sz="800">
                <a:latin typeface="Times New Roman" pitchFamily="18" charset="0"/>
                <a:cs typeface="Times New Roman" pitchFamily="18" charset="0"/>
              </a:rPr>
              <a:t>Vị trí electron bị giam</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6C901F7-5AD7-43B6-A122-40D2FCBCCC29}" type="slidenum">
              <a:rPr lang="en-US" altLang="ko-KR" sz="1400" smtClean="0"/>
              <a:pPr eaLnBrk="1" hangingPunct="1"/>
              <a:t>12</a:t>
            </a:fld>
            <a:endParaRPr lang="en-US" altLang="ko-KR" sz="1400" smtClean="0"/>
          </a:p>
        </p:txBody>
      </p:sp>
      <p:pic>
        <p:nvPicPr>
          <p:cNvPr id="1741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4600" y="4352925"/>
            <a:ext cx="344805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Text Box 2"/>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7413" name="Rectangle 3"/>
          <p:cNvSpPr>
            <a:spLocks noChangeArrowheads="1"/>
          </p:cNvSpPr>
          <p:nvPr/>
        </p:nvSpPr>
        <p:spPr bwMode="auto">
          <a:xfrm>
            <a:off x="827088" y="692150"/>
            <a:ext cx="7489825"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2</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Hàng rào năng lượng electron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① </a:t>
            </a:r>
            <a:r>
              <a:rPr lang="en-US" altLang="ko-KR" b="1">
                <a:latin typeface="Times New Roman" pitchFamily="18" charset="0"/>
                <a:cs typeface="Times New Roman" pitchFamily="18" charset="0"/>
              </a:rPr>
              <a:t>Mức năng lượng</a:t>
            </a:r>
            <a:r>
              <a:rPr lang="en-US" altLang="ko-KR">
                <a:latin typeface="Times New Roman" pitchFamily="18" charset="0"/>
                <a:cs typeface="Times New Roman" pitchFamily="18" charset="0"/>
              </a:rPr>
              <a:t>(Energy Level) : năng lượng mang điện tích âm càng xa hạt nhân thì bậc càng lớn và các điện tích 			mang năng lượng ở giữa khoảng đó có mối quan hệ năng lượng tồn tại không liên tục.</a:t>
            </a:r>
          </a:p>
          <a:p>
            <a:pPr eaLnBrk="1" hangingPunct="1"/>
            <a:r>
              <a:rPr lang="en-US" altLang="ko-KR">
                <a:latin typeface="Times New Roman" pitchFamily="18" charset="0"/>
                <a:cs typeface="Times New Roman" pitchFamily="18" charset="0"/>
              </a:rPr>
              <a:t>② Năng lượng điện tử Wn= -13.58/n</a:t>
            </a:r>
            <a:r>
              <a:rPr lang="en-US" altLang="ko-KR" baseline="30000">
                <a:latin typeface="Times New Roman" pitchFamily="18" charset="0"/>
                <a:cs typeface="Times New Roman" pitchFamily="18" charset="0"/>
              </a:rPr>
              <a:t>2</a:t>
            </a:r>
            <a:r>
              <a:rPr lang="en-US" altLang="ko-KR">
                <a:latin typeface="Times New Roman" pitchFamily="18" charset="0"/>
                <a:cs typeface="Times New Roman" pitchFamily="18" charset="0"/>
              </a:rPr>
              <a:t>[eV] (năng lượng mức thoát ra = 0)</a:t>
            </a:r>
          </a:p>
          <a:p>
            <a:pPr eaLnBrk="1" hangingPunct="1"/>
            <a:r>
              <a:rPr lang="en-US" altLang="ko-KR">
                <a:latin typeface="Times New Roman" pitchFamily="18" charset="0"/>
                <a:cs typeface="Times New Roman" pitchFamily="18" charset="0"/>
              </a:rPr>
              <a:t>③ Mức cơ bản(Mức nền) : là mức năng lượng thấp nhất trong các cấp bậc năng lượng.</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④ </a:t>
            </a:r>
            <a:r>
              <a:rPr lang="en-US" altLang="ko-KR" b="1">
                <a:latin typeface="Times New Roman" pitchFamily="18" charset="0"/>
                <a:cs typeface="Times New Roman" pitchFamily="18" charset="0"/>
              </a:rPr>
              <a:t>Mức Fermi</a:t>
            </a:r>
            <a:r>
              <a:rPr lang="en-US" altLang="ko-KR">
                <a:latin typeface="Times New Roman" pitchFamily="18" charset="0"/>
                <a:cs typeface="Times New Roman" pitchFamily="18" charset="0"/>
              </a:rPr>
              <a:t>(Fermi level) : là mức năng lượng của điện tử tại dải hóa trị ở mức nhiệt độ tuyệt đối 0[</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K]</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 </a:t>
            </a:r>
            <a:r>
              <a:rPr lang="en-US" altLang="ko-KR">
                <a:latin typeface="Times New Roman" pitchFamily="18" charset="0"/>
                <a:cs typeface="Times New Roman" pitchFamily="18" charset="0"/>
              </a:rPr>
              <a:t>0[℃] = 273[</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K] </a:t>
            </a:r>
          </a:p>
        </p:txBody>
      </p:sp>
      <p:sp>
        <p:nvSpPr>
          <p:cNvPr id="17414"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7415" name="Text Box 5"/>
          <p:cNvSpPr txBox="1">
            <a:spLocks noChangeArrowheads="1"/>
          </p:cNvSpPr>
          <p:nvPr/>
        </p:nvSpPr>
        <p:spPr bwMode="auto">
          <a:xfrm>
            <a:off x="2319338" y="4116388"/>
            <a:ext cx="124777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Vị trí năng lượng&gt;</a:t>
            </a:r>
          </a:p>
        </p:txBody>
      </p:sp>
      <p:sp>
        <p:nvSpPr>
          <p:cNvPr id="17416" name="Text Box 8"/>
          <p:cNvSpPr txBox="1">
            <a:spLocks noChangeArrowheads="1"/>
          </p:cNvSpPr>
          <p:nvPr/>
        </p:nvSpPr>
        <p:spPr bwMode="auto">
          <a:xfrm>
            <a:off x="6169025" y="6203950"/>
            <a:ext cx="16033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Mức năng lượng điện tử&gt;</a:t>
            </a:r>
          </a:p>
        </p:txBody>
      </p:sp>
      <p:sp>
        <p:nvSpPr>
          <p:cNvPr id="17417" name="Text Box 10"/>
          <p:cNvSpPr txBox="1">
            <a:spLocks noChangeArrowheads="1"/>
          </p:cNvSpPr>
          <p:nvPr/>
        </p:nvSpPr>
        <p:spPr bwMode="auto">
          <a:xfrm>
            <a:off x="2117725" y="6099175"/>
            <a:ext cx="165100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Mức năng lượng vật chất&gt;</a:t>
            </a:r>
          </a:p>
        </p:txBody>
      </p:sp>
      <p:pic>
        <p:nvPicPr>
          <p:cNvPr id="17418"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263" y="2713038"/>
            <a:ext cx="3260725" cy="14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12"/>
          <p:cNvPicPr>
            <a:picLocks noChangeAspect="1" noChangeArrowheads="1"/>
          </p:cNvPicPr>
          <p:nvPr/>
        </p:nvPicPr>
        <p:blipFill>
          <a:blip r:embed="rId5">
            <a:extLst>
              <a:ext uri="{28A0092B-C50C-407E-A947-70E740481C1C}">
                <a14:useLocalDpi xmlns:a14="http://schemas.microsoft.com/office/drawing/2010/main" val="0"/>
              </a:ext>
            </a:extLst>
          </a:blip>
          <a:srcRect t="4083"/>
          <a:stretch>
            <a:fillRect/>
          </a:stretch>
        </p:blipFill>
        <p:spPr bwMode="auto">
          <a:xfrm>
            <a:off x="5154613" y="2960688"/>
            <a:ext cx="3449637"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직사각형 1"/>
          <p:cNvSpPr>
            <a:spLocks noChangeArrowheads="1"/>
          </p:cNvSpPr>
          <p:nvPr/>
        </p:nvSpPr>
        <p:spPr bwMode="auto">
          <a:xfrm>
            <a:off x="1050925" y="4603750"/>
            <a:ext cx="576263" cy="360363"/>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Mức năng lượng</a:t>
            </a:r>
            <a:endParaRPr lang="ko-KR" altLang="en-US" sz="700">
              <a:latin typeface="Times New Roman" pitchFamily="18" charset="0"/>
              <a:cs typeface="Times New Roman" pitchFamily="18" charset="0"/>
            </a:endParaRPr>
          </a:p>
        </p:txBody>
      </p:sp>
      <p:sp>
        <p:nvSpPr>
          <p:cNvPr id="17421" name="직사각형 12"/>
          <p:cNvSpPr>
            <a:spLocks noChangeArrowheads="1"/>
          </p:cNvSpPr>
          <p:nvPr/>
        </p:nvSpPr>
        <p:spPr bwMode="auto">
          <a:xfrm>
            <a:off x="974725" y="5661025"/>
            <a:ext cx="576263" cy="1905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Electron</a:t>
            </a:r>
            <a:endParaRPr lang="ko-KR" altLang="en-US" sz="700">
              <a:latin typeface="Times New Roman" pitchFamily="18" charset="0"/>
              <a:cs typeface="Times New Roman" pitchFamily="18" charset="0"/>
            </a:endParaRPr>
          </a:p>
        </p:txBody>
      </p:sp>
      <p:sp>
        <p:nvSpPr>
          <p:cNvPr id="17422" name="직사각형 13"/>
          <p:cNvSpPr>
            <a:spLocks noChangeArrowheads="1"/>
          </p:cNvSpPr>
          <p:nvPr/>
        </p:nvSpPr>
        <p:spPr bwMode="auto">
          <a:xfrm>
            <a:off x="1736725" y="5721350"/>
            <a:ext cx="576263" cy="319088"/>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a) Chất dẫn điện</a:t>
            </a:r>
            <a:endParaRPr lang="ko-KR" altLang="en-US" sz="700">
              <a:latin typeface="Times New Roman" pitchFamily="18" charset="0"/>
              <a:cs typeface="Times New Roman" pitchFamily="18" charset="0"/>
            </a:endParaRPr>
          </a:p>
        </p:txBody>
      </p:sp>
      <p:sp>
        <p:nvSpPr>
          <p:cNvPr id="17423" name="직사각형 14"/>
          <p:cNvSpPr>
            <a:spLocks noChangeArrowheads="1"/>
          </p:cNvSpPr>
          <p:nvPr/>
        </p:nvSpPr>
        <p:spPr bwMode="auto">
          <a:xfrm>
            <a:off x="2843213" y="5715000"/>
            <a:ext cx="576262" cy="319088"/>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b) Chất bán dẫn</a:t>
            </a:r>
            <a:endParaRPr lang="ko-KR" altLang="en-US" sz="700">
              <a:latin typeface="Times New Roman" pitchFamily="18" charset="0"/>
              <a:cs typeface="Times New Roman" pitchFamily="18" charset="0"/>
            </a:endParaRPr>
          </a:p>
        </p:txBody>
      </p:sp>
      <p:sp>
        <p:nvSpPr>
          <p:cNvPr id="17424" name="직사각형 15"/>
          <p:cNvSpPr>
            <a:spLocks noChangeArrowheads="1"/>
          </p:cNvSpPr>
          <p:nvPr/>
        </p:nvSpPr>
        <p:spPr bwMode="auto">
          <a:xfrm>
            <a:off x="3924300" y="5715000"/>
            <a:ext cx="576263" cy="319088"/>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c) Chất cách điện</a:t>
            </a:r>
            <a:endParaRPr lang="ko-KR" altLang="en-US" sz="700">
              <a:latin typeface="Times New Roman" pitchFamily="18" charset="0"/>
              <a:cs typeface="Times New Roman" pitchFamily="18" charset="0"/>
            </a:endParaRPr>
          </a:p>
        </p:txBody>
      </p:sp>
      <p:sp>
        <p:nvSpPr>
          <p:cNvPr id="17425" name="직사각형 2"/>
          <p:cNvSpPr>
            <a:spLocks noChangeArrowheads="1"/>
          </p:cNvSpPr>
          <p:nvPr/>
        </p:nvSpPr>
        <p:spPr bwMode="auto">
          <a:xfrm>
            <a:off x="5940425" y="5272088"/>
            <a:ext cx="576263" cy="2159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Electron</a:t>
            </a:r>
            <a:endParaRPr lang="ko-KR" altLang="en-US" sz="800">
              <a:latin typeface="Times New Roman" pitchFamily="18" charset="0"/>
              <a:cs typeface="Times New Roman" pitchFamily="18" charset="0"/>
            </a:endParaRPr>
          </a:p>
        </p:txBody>
      </p:sp>
      <p:sp>
        <p:nvSpPr>
          <p:cNvPr id="17426" name="직사각형 17"/>
          <p:cNvSpPr>
            <a:spLocks noChangeArrowheads="1"/>
          </p:cNvSpPr>
          <p:nvPr/>
        </p:nvSpPr>
        <p:spPr bwMode="auto">
          <a:xfrm>
            <a:off x="5940425" y="5487988"/>
            <a:ext cx="576263" cy="217487"/>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Hạt nhân</a:t>
            </a:r>
            <a:endParaRPr lang="ko-KR" altLang="en-US" sz="800">
              <a:latin typeface="Times New Roman" pitchFamily="18" charset="0"/>
              <a:cs typeface="Times New Roman" pitchFamily="18" charset="0"/>
            </a:endParaRPr>
          </a:p>
        </p:txBody>
      </p:sp>
      <p:sp>
        <p:nvSpPr>
          <p:cNvPr id="17427" name="직사각형 3"/>
          <p:cNvSpPr>
            <a:spLocks noChangeArrowheads="1"/>
          </p:cNvSpPr>
          <p:nvPr/>
        </p:nvSpPr>
        <p:spPr bwMode="auto">
          <a:xfrm>
            <a:off x="3492500" y="2636838"/>
            <a:ext cx="1366838" cy="4318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Tay giữ đai mài và xoay theo hướng mũi tên.</a:t>
            </a:r>
            <a:endParaRPr lang="ko-KR" altLang="en-US" sz="900">
              <a:latin typeface="Times New Roman" pitchFamily="18" charset="0"/>
              <a:cs typeface="Times New Roman" pitchFamily="18" charset="0"/>
            </a:endParaRPr>
          </a:p>
        </p:txBody>
      </p:sp>
      <p:sp>
        <p:nvSpPr>
          <p:cNvPr id="17428" name="직사각형 19"/>
          <p:cNvSpPr>
            <a:spLocks noChangeArrowheads="1"/>
          </p:cNvSpPr>
          <p:nvPr/>
        </p:nvSpPr>
        <p:spPr bwMode="auto">
          <a:xfrm>
            <a:off x="3170238" y="3263900"/>
            <a:ext cx="1041400" cy="3810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Xoay nhanh.</a:t>
            </a:r>
          </a:p>
          <a:p>
            <a:pPr eaLnBrk="1" hangingPunct="1"/>
            <a:r>
              <a:rPr lang="en-US" altLang="ko-KR" sz="900">
                <a:latin typeface="Times New Roman" pitchFamily="18" charset="0"/>
                <a:cs typeface="Times New Roman" pitchFamily="18" charset="0"/>
              </a:rPr>
              <a:t>(Năng lượng lớn)</a:t>
            </a:r>
            <a:endParaRPr lang="ko-KR" altLang="en-US" sz="900">
              <a:latin typeface="Times New Roman" pitchFamily="18" charset="0"/>
              <a:cs typeface="Times New Roman" pitchFamily="18" charset="0"/>
            </a:endParaRPr>
          </a:p>
        </p:txBody>
      </p:sp>
      <p:sp>
        <p:nvSpPr>
          <p:cNvPr id="17429" name="직사각형 20"/>
          <p:cNvSpPr>
            <a:spLocks noChangeArrowheads="1"/>
          </p:cNvSpPr>
          <p:nvPr/>
        </p:nvSpPr>
        <p:spPr bwMode="auto">
          <a:xfrm>
            <a:off x="2843213" y="3711575"/>
            <a:ext cx="1047750" cy="404813"/>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Xoay chậm.</a:t>
            </a:r>
          </a:p>
          <a:p>
            <a:pPr eaLnBrk="1" hangingPunct="1"/>
            <a:r>
              <a:rPr lang="en-US" altLang="ko-KR" sz="900">
                <a:latin typeface="Times New Roman" pitchFamily="18" charset="0"/>
                <a:cs typeface="Times New Roman" pitchFamily="18" charset="0"/>
              </a:rPr>
              <a:t>(Năng lượng nhỏ)</a:t>
            </a:r>
            <a:endParaRPr lang="ko-KR" altLang="en-US" sz="900">
              <a:latin typeface="Times New Roman" pitchFamily="18" charset="0"/>
              <a:cs typeface="Times New Roman" pitchFamily="18" charset="0"/>
            </a:endParaRPr>
          </a:p>
        </p:txBody>
      </p:sp>
      <p:sp>
        <p:nvSpPr>
          <p:cNvPr id="17430" name="직사각형 21"/>
          <p:cNvSpPr>
            <a:spLocks noChangeArrowheads="1"/>
          </p:cNvSpPr>
          <p:nvPr/>
        </p:nvSpPr>
        <p:spPr bwMode="auto">
          <a:xfrm>
            <a:off x="5961063" y="2960688"/>
            <a:ext cx="627062" cy="2032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Mức Fermi</a:t>
            </a:r>
            <a:endParaRPr lang="ko-KR" altLang="en-US" sz="700">
              <a:latin typeface="Times New Roman" pitchFamily="18" charset="0"/>
              <a:cs typeface="Times New Roman" pitchFamily="18" charset="0"/>
            </a:endParaRPr>
          </a:p>
        </p:txBody>
      </p:sp>
      <p:sp>
        <p:nvSpPr>
          <p:cNvPr id="17431" name="직사각형 22"/>
          <p:cNvSpPr>
            <a:spLocks noChangeArrowheads="1"/>
          </p:cNvSpPr>
          <p:nvPr/>
        </p:nvSpPr>
        <p:spPr bwMode="auto">
          <a:xfrm rot="-5400000">
            <a:off x="4945063" y="3270250"/>
            <a:ext cx="850900" cy="431800"/>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Mức năng lượng [eV]</a:t>
            </a:r>
            <a:endParaRPr lang="ko-KR" altLang="en-US" sz="1000">
              <a:latin typeface="Times New Roman" pitchFamily="18" charset="0"/>
              <a:cs typeface="Times New Roman" pitchFamily="18" charset="0"/>
            </a:endParaRPr>
          </a:p>
        </p:txBody>
      </p:sp>
      <p:sp>
        <p:nvSpPr>
          <p:cNvPr id="17432" name="직사각형 23"/>
          <p:cNvSpPr>
            <a:spLocks noChangeArrowheads="1"/>
          </p:cNvSpPr>
          <p:nvPr/>
        </p:nvSpPr>
        <p:spPr bwMode="auto">
          <a:xfrm>
            <a:off x="5154613" y="4508500"/>
            <a:ext cx="576262" cy="180975"/>
          </a:xfrm>
          <a:prstGeom prst="rect">
            <a:avLst/>
          </a:prstGeom>
          <a:solidFill>
            <a:schemeClr val="bg1"/>
          </a:solidFill>
          <a:ln w="9525" algn="ctr">
            <a:solidFill>
              <a:schemeClr val="tx1"/>
            </a:solidFill>
            <a:round/>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Mức nền</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0BF5B10-48D9-481A-888B-718FF4FEA5A3}" type="slidenum">
              <a:rPr lang="en-US" altLang="ko-KR" sz="1400" smtClean="0"/>
              <a:pPr eaLnBrk="1" hangingPunct="1"/>
              <a:t>13</a:t>
            </a:fld>
            <a:endParaRPr lang="en-US" altLang="ko-KR" sz="1400" smtClean="0"/>
          </a:p>
        </p:txBody>
      </p:sp>
      <p:sp>
        <p:nvSpPr>
          <p:cNvPr id="18435" name="Text Box 2"/>
          <p:cNvSpPr txBox="1">
            <a:spLocks noChangeArrowheads="1"/>
          </p:cNvSpPr>
          <p:nvPr/>
        </p:nvSpPr>
        <p:spPr bwMode="auto">
          <a:xfrm>
            <a:off x="684213" y="892175"/>
            <a:ext cx="1470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1-4. Hiểu về điện</a:t>
            </a:r>
            <a:endParaRPr lang="ko-KR" altLang="en-US" sz="1400">
              <a:solidFill>
                <a:schemeClr val="accent2"/>
              </a:solidFill>
              <a:latin typeface="Times New Roman" pitchFamily="18" charset="0"/>
              <a:cs typeface="Times New Roman" pitchFamily="18" charset="0"/>
            </a:endParaRPr>
          </a:p>
        </p:txBody>
      </p:sp>
      <p:sp>
        <p:nvSpPr>
          <p:cNvPr id="18436" name="Text Box 3"/>
          <p:cNvSpPr txBox="1">
            <a:spLocks noChangeArrowheads="1"/>
          </p:cNvSpPr>
          <p:nvPr/>
        </p:nvSpPr>
        <p:spPr bwMode="auto">
          <a:xfrm>
            <a:off x="22225" y="38100"/>
            <a:ext cx="2481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t> </a:t>
            </a:r>
            <a:r>
              <a:rPr lang="en-US" altLang="ko-KR" sz="1800" b="1">
                <a:latin typeface="Times New Roman" pitchFamily="18" charset="0"/>
                <a:cs typeface="Times New Roman" pitchFamily="18" charset="0"/>
              </a:rPr>
              <a:t>1. Điện-Điện tử cơ bản</a:t>
            </a:r>
            <a:endParaRPr lang="ko-KR" altLang="en-US" sz="1800" b="1">
              <a:latin typeface="Times New Roman" pitchFamily="18" charset="0"/>
              <a:cs typeface="Times New Roman" pitchFamily="18" charset="0"/>
            </a:endParaRPr>
          </a:p>
        </p:txBody>
      </p:sp>
      <p:sp>
        <p:nvSpPr>
          <p:cNvPr id="18437"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8438"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1</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Dụng ngữ cơ bản về điện</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buFont typeface="Wingdings" pitchFamily="2" charset="2"/>
              <a:buNone/>
            </a:pPr>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Đoạn dây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斷線</a:t>
            </a:r>
            <a:r>
              <a:rPr lang="en-US" altLang="ko-KR">
                <a:latin typeface="Times New Roman" pitchFamily="18" charset="0"/>
                <a:cs typeface="Times New Roman" pitchFamily="18" charset="0"/>
              </a:rPr>
              <a:t>) : là đường bị cắt, là đoạn dây hay dây điện không cho dòng điện chạy qua.</a:t>
            </a:r>
          </a:p>
          <a:p>
            <a:pPr eaLnBrk="1" hangingPunct="1">
              <a:buFont typeface="Wingdings" pitchFamily="2" charset="2"/>
              <a:buNone/>
            </a:pPr>
            <a:r>
              <a:rPr lang="en-US" altLang="ko-KR">
                <a:latin typeface="Times New Roman" pitchFamily="18" charset="0"/>
                <a:cs typeface="Times New Roman" pitchFamily="18" charset="0"/>
              </a:rPr>
              <a:t>                      ▷ Motor Cable được cắt thành đoạn và không dịch chuyển được.</a:t>
            </a:r>
          </a:p>
          <a:p>
            <a:pPr eaLnBrk="1" hangingPunct="1">
              <a:buFont typeface="Wingdings" pitchFamily="2" charset="2"/>
              <a:buNone/>
            </a:pPr>
            <a:endParaRPr lang="en-US" altLang="ko-KR">
              <a:latin typeface="Times New Roman" pitchFamily="18" charset="0"/>
              <a:cs typeface="Times New Roman" pitchFamily="18" charset="0"/>
            </a:endParaRPr>
          </a:p>
          <a:p>
            <a:pPr eaLnBrk="1" hangingPunct="1">
              <a:buFont typeface="Wingdings" pitchFamily="2" charset="2"/>
              <a:buNone/>
            </a:pPr>
            <a:r>
              <a:rPr lang="en-US" altLang="ko-KR">
                <a:latin typeface="Times New Roman" pitchFamily="18" charset="0"/>
                <a:cs typeface="Times New Roman" pitchFamily="18" charset="0"/>
              </a:rPr>
              <a:t>② Cách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絶緣</a:t>
            </a:r>
            <a:r>
              <a:rPr lang="en-US" altLang="ko-KR">
                <a:latin typeface="Times New Roman" pitchFamily="18" charset="0"/>
                <a:cs typeface="Times New Roman" pitchFamily="18" charset="0"/>
              </a:rPr>
              <a:t>) : &lt;Điện&gt;là việc đưa chất cách điện vào giữa chất dẫn điện làm cho dòng điện hay nhiệt không 	thể chạy qua.</a:t>
            </a:r>
          </a:p>
          <a:p>
            <a:pPr eaLnBrk="1" hangingPunct="1">
              <a:buFont typeface="Wingdings" pitchFamily="2" charset="2"/>
              <a:buNone/>
            </a:pPr>
            <a:r>
              <a:rPr lang="en-US" altLang="ko-KR">
                <a:latin typeface="Times New Roman" pitchFamily="18" charset="0"/>
                <a:cs typeface="Times New Roman" pitchFamily="18" charset="0"/>
              </a:rPr>
              <a:t>                      ▷ Nếu phá vỡ sự cách điện của Power Cable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sẽ khiến bị điện giật.</a:t>
            </a:r>
          </a:p>
          <a:p>
            <a:pPr eaLnBrk="1" hangingPunct="1">
              <a:buFont typeface="Wingdings" pitchFamily="2" charset="2"/>
              <a:buNone/>
            </a:pPr>
            <a:endParaRPr lang="en-US" altLang="ko-KR">
              <a:latin typeface="Times New Roman" pitchFamily="18" charset="0"/>
              <a:cs typeface="Times New Roman" pitchFamily="18" charset="0"/>
            </a:endParaRPr>
          </a:p>
          <a:p>
            <a:pPr eaLnBrk="1" hangingPunct="1">
              <a:buFont typeface="Wingdings" pitchFamily="2" charset="2"/>
              <a:buNone/>
            </a:pPr>
            <a:r>
              <a:rPr lang="en-US" altLang="ko-KR">
                <a:latin typeface="Times New Roman" pitchFamily="18" charset="0"/>
                <a:cs typeface="Times New Roman" pitchFamily="18" charset="0"/>
              </a:rPr>
              <a:t>③ Chập dây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合線</a:t>
            </a:r>
            <a:r>
              <a:rPr lang="en-US" altLang="ko-KR">
                <a:latin typeface="Times New Roman" pitchFamily="18" charset="0"/>
                <a:cs typeface="Times New Roman" pitchFamily="18" charset="0"/>
              </a:rPr>
              <a:t>) : là sự tiếp xúc của hai điểm trên mạch điện tử có điện trở bằng hoặc sấp sỉ bằng 0.≒ Đoạn mạch</a:t>
            </a:r>
          </a:p>
          <a:p>
            <a:pPr eaLnBrk="1" hangingPunct="1">
              <a:buFont typeface="Wingdings" pitchFamily="2" charset="2"/>
              <a:buNone/>
            </a:pPr>
            <a:r>
              <a:rPr lang="en-US" altLang="ko-KR">
                <a:latin typeface="Times New Roman" pitchFamily="18" charset="0"/>
                <a:cs typeface="Times New Roman" pitchFamily="18" charset="0"/>
              </a:rPr>
              <a:t>                      ▷ Chập dây điện suýt gây cháy.</a:t>
            </a:r>
          </a:p>
          <a:p>
            <a:pPr eaLnBrk="1" hangingPunct="1">
              <a:buFont typeface="Wingdings" pitchFamily="2" charset="2"/>
              <a:buNone/>
            </a:pPr>
            <a:endParaRPr lang="en-US" altLang="ko-KR">
              <a:latin typeface="Times New Roman" pitchFamily="18" charset="0"/>
              <a:cs typeface="Times New Roman" pitchFamily="18" charset="0"/>
            </a:endParaRPr>
          </a:p>
          <a:p>
            <a:pPr eaLnBrk="1" hangingPunct="1">
              <a:buFont typeface="Wingdings" pitchFamily="2" charset="2"/>
              <a:buNone/>
            </a:pPr>
            <a:r>
              <a:rPr lang="en-US" altLang="ko-KR">
                <a:latin typeface="Times New Roman" pitchFamily="18" charset="0"/>
                <a:cs typeface="Times New Roman" pitchFamily="18" charset="0"/>
              </a:rPr>
              <a:t>④ Đoản mạch (</a:t>
            </a:r>
            <a:r>
              <a:rPr lang="ko-KR" altLang="en-US">
                <a:latin typeface="Times New Roman" pitchFamily="18" charset="0"/>
                <a:cs typeface="Times New Roman" pitchFamily="18" charset="0"/>
              </a:rPr>
              <a:t>短絡</a:t>
            </a:r>
            <a:r>
              <a:rPr lang="en-US" altLang="ko-KR">
                <a:latin typeface="Times New Roman" pitchFamily="18" charset="0"/>
                <a:cs typeface="Times New Roman" pitchFamily="18" charset="0"/>
              </a:rPr>
              <a:t>) : đoạn mạch, gần giống với Short. </a:t>
            </a:r>
          </a:p>
          <a:p>
            <a:pPr eaLnBrk="1" hangingPunct="1">
              <a:buFont typeface="Wingdings" pitchFamily="2" charset="2"/>
              <a:buNone/>
            </a:pPr>
            <a:r>
              <a:rPr lang="en-US" altLang="ko-KR">
                <a:latin typeface="Times New Roman" pitchFamily="18" charset="0"/>
                <a:cs typeface="Times New Roman" pitchFamily="18" charset="0"/>
              </a:rPr>
              <a:t>                      ▷ Cầu giao được nối với trung-đoản mạch bị tuột dây điện.</a:t>
            </a:r>
          </a:p>
          <a:p>
            <a:pPr eaLnBrk="1" hangingPunct="1">
              <a:buFont typeface="Wingdings" pitchFamily="2" charset="2"/>
              <a:buNone/>
            </a:pPr>
            <a:endParaRPr lang="en-US" altLang="ko-KR">
              <a:latin typeface="Times New Roman" pitchFamily="18" charset="0"/>
              <a:cs typeface="Times New Roman" pitchFamily="18" charset="0"/>
            </a:endParaRPr>
          </a:p>
          <a:p>
            <a:pPr eaLnBrk="1" hangingPunct="1">
              <a:buFont typeface="Wingdings" pitchFamily="2" charset="2"/>
              <a:buNone/>
            </a:pPr>
            <a:r>
              <a:rPr lang="en-US" altLang="ko-KR">
                <a:latin typeface="Times New Roman" pitchFamily="18" charset="0"/>
                <a:cs typeface="Times New Roman" pitchFamily="18" charset="0"/>
              </a:rPr>
              <a:t>⑤ Tiếp địa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地絡</a:t>
            </a:r>
            <a:r>
              <a:rPr lang="en-US" altLang="ko-KR">
                <a:latin typeface="Times New Roman" pitchFamily="18" charset="0"/>
                <a:cs typeface="Times New Roman" pitchFamily="18" charset="0"/>
              </a:rPr>
              <a:t>) : là sự nối đất, thường được sử dụng khi nói đến tình trạng dòng điện bị dò rỉ.</a:t>
            </a:r>
          </a:p>
          <a:p>
            <a:pPr eaLnBrk="1" hangingPunct="1">
              <a:buFont typeface="Wingdings" pitchFamily="2" charset="2"/>
              <a:buNone/>
            </a:pPr>
            <a:r>
              <a:rPr lang="en-US" altLang="ko-KR">
                <a:latin typeface="Times New Roman" pitchFamily="18" charset="0"/>
                <a:cs typeface="Times New Roman" pitchFamily="18" charset="0"/>
              </a:rPr>
              <a:t>                      ▷ Phát sinh sự cố vỏ thiết bị bị cháy và dòng điện tiếp đất do dây điện(Power Cable) bị hở.</a:t>
            </a:r>
          </a:p>
          <a:p>
            <a:pPr eaLnBrk="1" hangingPunct="1">
              <a:buFont typeface="Wingdings" pitchFamily="2" charset="2"/>
              <a:buNone/>
            </a:pPr>
            <a:endParaRPr lang="en-US" altLang="ko-KR">
              <a:latin typeface="Times New Roman" pitchFamily="18" charset="0"/>
              <a:cs typeface="Times New Roman" pitchFamily="18" charset="0"/>
            </a:endParaRPr>
          </a:p>
          <a:p>
            <a:pPr eaLnBrk="1" hangingPunct="1">
              <a:buFont typeface="Wingdings" pitchFamily="2" charset="2"/>
              <a:buNone/>
            </a:pPr>
            <a:r>
              <a:rPr lang="en-US" altLang="ko-KR">
                <a:latin typeface="Times New Roman" pitchFamily="18" charset="0"/>
                <a:cs typeface="Times New Roman" pitchFamily="18" charset="0"/>
              </a:rPr>
              <a:t>⑥ Close                             ⑦ Open                              ⑧ Short</a:t>
            </a:r>
          </a:p>
        </p:txBody>
      </p:sp>
      <p:sp>
        <p:nvSpPr>
          <p:cNvPr id="18439" name="Oval 15"/>
          <p:cNvSpPr>
            <a:spLocks noChangeArrowheads="1"/>
          </p:cNvSpPr>
          <p:nvPr/>
        </p:nvSpPr>
        <p:spPr bwMode="auto">
          <a:xfrm>
            <a:off x="1476375" y="5805488"/>
            <a:ext cx="144463" cy="144462"/>
          </a:xfrm>
          <a:prstGeom prst="ellipse">
            <a:avLst/>
          </a:prstGeom>
          <a:solidFill>
            <a:srgbClr val="DDDDDD"/>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8440" name="Oval 16"/>
          <p:cNvSpPr>
            <a:spLocks noChangeArrowheads="1"/>
          </p:cNvSpPr>
          <p:nvPr/>
        </p:nvSpPr>
        <p:spPr bwMode="auto">
          <a:xfrm>
            <a:off x="2124075" y="5805488"/>
            <a:ext cx="144463" cy="144462"/>
          </a:xfrm>
          <a:prstGeom prst="ellipse">
            <a:avLst/>
          </a:prstGeom>
          <a:solidFill>
            <a:srgbClr val="DDDDDD"/>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8441" name="Line 17"/>
          <p:cNvSpPr>
            <a:spLocks noChangeShapeType="1"/>
          </p:cNvSpPr>
          <p:nvPr/>
        </p:nvSpPr>
        <p:spPr bwMode="auto">
          <a:xfrm>
            <a:off x="1116013" y="5878513"/>
            <a:ext cx="360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2" name="Line 18"/>
          <p:cNvSpPr>
            <a:spLocks noChangeShapeType="1"/>
          </p:cNvSpPr>
          <p:nvPr/>
        </p:nvSpPr>
        <p:spPr bwMode="auto">
          <a:xfrm>
            <a:off x="2268538" y="5878513"/>
            <a:ext cx="360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3" name="Line 19"/>
          <p:cNvSpPr>
            <a:spLocks noChangeShapeType="1"/>
          </p:cNvSpPr>
          <p:nvPr/>
        </p:nvSpPr>
        <p:spPr bwMode="auto">
          <a:xfrm>
            <a:off x="1476375" y="5805488"/>
            <a:ext cx="792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4" name="Oval 20"/>
          <p:cNvSpPr>
            <a:spLocks noChangeArrowheads="1"/>
          </p:cNvSpPr>
          <p:nvPr/>
        </p:nvSpPr>
        <p:spPr bwMode="auto">
          <a:xfrm>
            <a:off x="3563938" y="5805488"/>
            <a:ext cx="144462" cy="144462"/>
          </a:xfrm>
          <a:prstGeom prst="ellipse">
            <a:avLst/>
          </a:prstGeom>
          <a:solidFill>
            <a:srgbClr val="DDDDDD"/>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8445" name="Oval 21"/>
          <p:cNvSpPr>
            <a:spLocks noChangeArrowheads="1"/>
          </p:cNvSpPr>
          <p:nvPr/>
        </p:nvSpPr>
        <p:spPr bwMode="auto">
          <a:xfrm>
            <a:off x="4211638" y="5805488"/>
            <a:ext cx="144462" cy="144462"/>
          </a:xfrm>
          <a:prstGeom prst="ellipse">
            <a:avLst/>
          </a:prstGeom>
          <a:solidFill>
            <a:srgbClr val="DDDDDD"/>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8446" name="Line 22"/>
          <p:cNvSpPr>
            <a:spLocks noChangeShapeType="1"/>
          </p:cNvSpPr>
          <p:nvPr/>
        </p:nvSpPr>
        <p:spPr bwMode="auto">
          <a:xfrm>
            <a:off x="3203575" y="5878513"/>
            <a:ext cx="360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7" name="Line 23"/>
          <p:cNvSpPr>
            <a:spLocks noChangeShapeType="1"/>
          </p:cNvSpPr>
          <p:nvPr/>
        </p:nvSpPr>
        <p:spPr bwMode="auto">
          <a:xfrm>
            <a:off x="4356100" y="5878513"/>
            <a:ext cx="360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8" name="Line 24"/>
          <p:cNvSpPr>
            <a:spLocks noChangeShapeType="1"/>
          </p:cNvSpPr>
          <p:nvPr/>
        </p:nvSpPr>
        <p:spPr bwMode="auto">
          <a:xfrm flipV="1">
            <a:off x="3563938" y="5589588"/>
            <a:ext cx="790575" cy="215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49" name="Line 25"/>
          <p:cNvSpPr>
            <a:spLocks noChangeShapeType="1"/>
          </p:cNvSpPr>
          <p:nvPr/>
        </p:nvSpPr>
        <p:spPr bwMode="auto">
          <a:xfrm>
            <a:off x="6083300" y="5445125"/>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50" name="Line 26"/>
          <p:cNvSpPr>
            <a:spLocks noChangeShapeType="1"/>
          </p:cNvSpPr>
          <p:nvPr/>
        </p:nvSpPr>
        <p:spPr bwMode="auto">
          <a:xfrm>
            <a:off x="5580063" y="5876925"/>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51" name="Oval 27"/>
          <p:cNvSpPr>
            <a:spLocks noChangeArrowheads="1"/>
          </p:cNvSpPr>
          <p:nvPr/>
        </p:nvSpPr>
        <p:spPr bwMode="auto">
          <a:xfrm>
            <a:off x="6043613" y="5837238"/>
            <a:ext cx="71437" cy="71437"/>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8452" name="Freeform 29"/>
          <p:cNvSpPr>
            <a:spLocks/>
          </p:cNvSpPr>
          <p:nvPr/>
        </p:nvSpPr>
        <p:spPr bwMode="auto">
          <a:xfrm>
            <a:off x="6156325" y="5516563"/>
            <a:ext cx="1152525" cy="288925"/>
          </a:xfrm>
          <a:custGeom>
            <a:avLst/>
            <a:gdLst>
              <a:gd name="T0" fmla="*/ 0 w 726"/>
              <a:gd name="T1" fmla="*/ 2147483647 h 182"/>
              <a:gd name="T2" fmla="*/ 2147483647 w 726"/>
              <a:gd name="T3" fmla="*/ 0 h 182"/>
              <a:gd name="T4" fmla="*/ 2147483647 w 726"/>
              <a:gd name="T5" fmla="*/ 0 h 182"/>
              <a:gd name="T6" fmla="*/ 0 60000 65536"/>
              <a:gd name="T7" fmla="*/ 0 60000 65536"/>
              <a:gd name="T8" fmla="*/ 0 60000 65536"/>
            </a:gdLst>
            <a:ahLst/>
            <a:cxnLst>
              <a:cxn ang="T6">
                <a:pos x="T0" y="T1"/>
              </a:cxn>
              <a:cxn ang="T7">
                <a:pos x="T2" y="T3"/>
              </a:cxn>
              <a:cxn ang="T8">
                <a:pos x="T4" y="T5"/>
              </a:cxn>
            </a:cxnLst>
            <a:rect l="0" t="0" r="r" b="b"/>
            <a:pathLst>
              <a:path w="726" h="182">
                <a:moveTo>
                  <a:pt x="0" y="182"/>
                </a:moveTo>
                <a:lnTo>
                  <a:pt x="272" y="0"/>
                </a:lnTo>
                <a:lnTo>
                  <a:pt x="726" y="0"/>
                </a:lnTo>
              </a:path>
            </a:pathLst>
          </a:custGeom>
          <a:noFill/>
          <a:ln w="9525" cap="flat" cmpd="sng">
            <a:solidFill>
              <a:schemeClr val="bg2"/>
            </a:solidFill>
            <a:prstDash val="solid"/>
            <a:round/>
            <a:headEnd type="stealth"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8453" name="Text Box 30"/>
          <p:cNvSpPr txBox="1">
            <a:spLocks noChangeArrowheads="1"/>
          </p:cNvSpPr>
          <p:nvPr/>
        </p:nvSpPr>
        <p:spPr bwMode="auto">
          <a:xfrm>
            <a:off x="6604000" y="5229225"/>
            <a:ext cx="56038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Node</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직사각형 2"/>
          <p:cNvSpPr>
            <a:spLocks noChangeArrowheads="1"/>
          </p:cNvSpPr>
          <p:nvPr/>
        </p:nvSpPr>
        <p:spPr bwMode="auto">
          <a:xfrm>
            <a:off x="1331913" y="3789363"/>
            <a:ext cx="376237" cy="1444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19459"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7A1313B-1BE5-4DD9-8570-28ACC06B2E13}" type="slidenum">
              <a:rPr lang="en-US" altLang="ko-KR" sz="1400" smtClean="0">
                <a:latin typeface="Times New Roman" pitchFamily="18" charset="0"/>
                <a:cs typeface="Times New Roman" pitchFamily="18" charset="0"/>
              </a:rPr>
              <a:pPr eaLnBrk="1" hangingPunct="1"/>
              <a:t>14</a:t>
            </a:fld>
            <a:endParaRPr lang="en-US" altLang="ko-KR" sz="1400" smtClean="0">
              <a:latin typeface="Times New Roman" pitchFamily="18" charset="0"/>
              <a:cs typeface="Times New Roman" pitchFamily="18" charset="0"/>
            </a:endParaRPr>
          </a:p>
        </p:txBody>
      </p:sp>
      <p:sp>
        <p:nvSpPr>
          <p:cNvPr id="19460" name="Text Box 3"/>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19461"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19462" name="Rectangle 5"/>
          <p:cNvSpPr>
            <a:spLocks noChangeArrowheads="1"/>
          </p:cNvSpPr>
          <p:nvPr/>
        </p:nvSpPr>
        <p:spPr bwMode="auto">
          <a:xfrm>
            <a:off x="827088" y="1052513"/>
            <a:ext cx="7489825" cy="511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2</a:t>
            </a:r>
            <a:r>
              <a:rPr lang="en-US" altLang="en-US" b="1">
                <a:latin typeface="Times New Roman" pitchFamily="18" charset="0"/>
                <a:cs typeface="Times New Roman" pitchFamily="18" charset="0"/>
              </a:rPr>
              <a:t>) Mạch điện</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Trong hình dưới đây, nếu đóng công tắc thì dòng điện sẽ chạy từ pin đến bóng đền làm bóng đèn sáng. Có thể coi đây</a:t>
            </a:r>
          </a:p>
          <a:p>
            <a:pPr eaLnBrk="1" hangingPunct="1"/>
            <a:r>
              <a:rPr lang="en-US" altLang="ko-KR">
                <a:latin typeface="Times New Roman" pitchFamily="18" charset="0"/>
                <a:cs typeface="Times New Roman" pitchFamily="18" charset="0"/>
              </a:rPr>
              <a:t> là cấu tạo của một mạch điện. Để cấu tạo nên mạch điện cần đáp ứng đủ hai điều kiện sau: mạch điện phải là mạch điện đóng(mạch kín) và phải có ít nhất một nguồn điện trong mạch kín(electric source). Nếu mạch điện không phải </a:t>
            </a:r>
            <a:r>
              <a:rPr lang="en-US" altLang="ko-KR" b="1">
                <a:latin typeface="Times New Roman" pitchFamily="18" charset="0"/>
                <a:cs typeface="Times New Roman" pitchFamily="18" charset="0"/>
              </a:rPr>
              <a:t>mạch điện kín</a:t>
            </a:r>
            <a:r>
              <a:rPr lang="en-US" altLang="ko-KR">
                <a:latin typeface="Times New Roman" pitchFamily="18" charset="0"/>
                <a:cs typeface="Times New Roman" pitchFamily="18" charset="0"/>
              </a:rPr>
              <a:t> thì dòng điện không thể lưu chuyển qua. </a:t>
            </a:r>
          </a:p>
        </p:txBody>
      </p:sp>
      <p:sp>
        <p:nvSpPr>
          <p:cNvPr id="19463" name="Text Box 6"/>
          <p:cNvSpPr txBox="1">
            <a:spLocks noChangeArrowheads="1"/>
          </p:cNvSpPr>
          <p:nvPr/>
        </p:nvSpPr>
        <p:spPr bwMode="auto">
          <a:xfrm>
            <a:off x="2084388" y="6021388"/>
            <a:ext cx="9779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b="1">
                <a:latin typeface="Times New Roman" pitchFamily="18" charset="0"/>
                <a:cs typeface="Times New Roman" pitchFamily="18" charset="0"/>
              </a:rPr>
              <a:t>&lt; Mạch điện</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&gt;</a:t>
            </a:r>
          </a:p>
        </p:txBody>
      </p:sp>
      <p:pic>
        <p:nvPicPr>
          <p:cNvPr id="19464" name="Picture 7" descr="전기회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2678113"/>
            <a:ext cx="2717800" cy="15414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946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363" y="4508500"/>
            <a:ext cx="3509962"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6" name="Rectangle 10"/>
          <p:cNvSpPr>
            <a:spLocks noChangeArrowheads="1"/>
          </p:cNvSpPr>
          <p:nvPr/>
        </p:nvSpPr>
        <p:spPr bwMode="auto">
          <a:xfrm>
            <a:off x="4572000" y="2924175"/>
            <a:ext cx="36004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r>
              <a:rPr lang="en-US" altLang="ko-KR">
                <a:latin typeface="Times New Roman" pitchFamily="18" charset="0"/>
                <a:cs typeface="Times New Roman" pitchFamily="18" charset="0"/>
              </a:rPr>
              <a:t>Mạch điện trong hình bên là mạch điện biến đổi năng lượng điện thành năng lượng sáng. Tại đây, pin trở thành nguồn và bóng đèn tròn là </a:t>
            </a:r>
            <a:r>
              <a:rPr lang="en-US" altLang="ko-KR" b="1">
                <a:latin typeface="Times New Roman" pitchFamily="18" charset="0"/>
                <a:cs typeface="Times New Roman" pitchFamily="18" charset="0"/>
              </a:rPr>
              <a:t>phụ</a:t>
            </a:r>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tải(load)</a:t>
            </a:r>
            <a:r>
              <a:rPr lang="en-US" altLang="ko-KR">
                <a:latin typeface="Times New Roman" pitchFamily="18" charset="0"/>
                <a:cs typeface="Times New Roman" pitchFamily="18" charset="0"/>
              </a:rPr>
              <a:t>. Nguồn điện biến năng lượng điện thành năng lượng được cung cấp liên tục bởi pin, máy phát điện, tụ điện vv.. Tải của mạch điện là thiết bị có khả năng biến đổi năng lượng điện thành loại năng lượng khác và trong hình bên chính là bóng đèn tròn.</a:t>
            </a:r>
          </a:p>
          <a:p>
            <a:pPr eaLnBrk="1" latinLnBrk="1" hangingPunct="1"/>
            <a:r>
              <a:rPr lang="en-US" altLang="ko-KR">
                <a:latin typeface="Times New Roman" pitchFamily="18" charset="0"/>
                <a:cs typeface="Times New Roman" pitchFamily="18" charset="0"/>
              </a:rPr>
              <a:t>Có thể coi mô tơ là tải chuyển năng lượng thành dạng năng lượng truyền động hay máy sưởi(heater) là tải chuyển đổi năng lượng thành năng lượng nhiệt vv..</a:t>
            </a:r>
          </a:p>
        </p:txBody>
      </p:sp>
      <p:sp>
        <p:nvSpPr>
          <p:cNvPr id="19467" name="직사각형 1"/>
          <p:cNvSpPr>
            <a:spLocks noChangeArrowheads="1"/>
          </p:cNvSpPr>
          <p:nvPr/>
        </p:nvSpPr>
        <p:spPr bwMode="auto">
          <a:xfrm>
            <a:off x="434975" y="5121275"/>
            <a:ext cx="6127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Nguồn</a:t>
            </a:r>
          </a:p>
          <a:p>
            <a:pPr eaLnBrk="1" hangingPunct="1"/>
            <a:r>
              <a:rPr lang="en-US" altLang="ko-KR">
                <a:latin typeface="Times New Roman" pitchFamily="18" charset="0"/>
                <a:cs typeface="Times New Roman" pitchFamily="18" charset="0"/>
              </a:rPr>
              <a:t> điện</a:t>
            </a:r>
            <a:endParaRPr lang="ko-KR" altLang="en-US">
              <a:latin typeface="Times New Roman" pitchFamily="18" charset="0"/>
              <a:cs typeface="Times New Roman" pitchFamily="18" charset="0"/>
            </a:endParaRPr>
          </a:p>
        </p:txBody>
      </p:sp>
      <p:sp>
        <p:nvSpPr>
          <p:cNvPr id="19468" name="직사각형 10"/>
          <p:cNvSpPr>
            <a:spLocks noChangeArrowheads="1"/>
          </p:cNvSpPr>
          <p:nvPr/>
        </p:nvSpPr>
        <p:spPr bwMode="auto">
          <a:xfrm>
            <a:off x="2339975" y="4364038"/>
            <a:ext cx="8636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Công tắc</a:t>
            </a:r>
            <a:endParaRPr lang="ko-KR" altLang="en-US">
              <a:latin typeface="Times New Roman" pitchFamily="18" charset="0"/>
              <a:cs typeface="Times New Roman" pitchFamily="18" charset="0"/>
            </a:endParaRPr>
          </a:p>
        </p:txBody>
      </p:sp>
      <p:sp>
        <p:nvSpPr>
          <p:cNvPr id="19469" name="직사각형 12"/>
          <p:cNvSpPr>
            <a:spLocks noChangeArrowheads="1"/>
          </p:cNvSpPr>
          <p:nvPr/>
        </p:nvSpPr>
        <p:spPr bwMode="auto">
          <a:xfrm>
            <a:off x="1116013" y="3816350"/>
            <a:ext cx="642937" cy="1857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Cực âm d</a:t>
            </a:r>
            <a:endParaRPr lang="ko-KR" altLang="en-US" sz="800">
              <a:latin typeface="Times New Roman" pitchFamily="18" charset="0"/>
              <a:cs typeface="Times New Roman" pitchFamily="18" charset="0"/>
            </a:endParaRPr>
          </a:p>
        </p:txBody>
      </p:sp>
      <p:sp>
        <p:nvSpPr>
          <p:cNvPr id="19470" name="직사각형 11"/>
          <p:cNvSpPr>
            <a:spLocks noChangeArrowheads="1"/>
          </p:cNvSpPr>
          <p:nvPr/>
        </p:nvSpPr>
        <p:spPr bwMode="auto">
          <a:xfrm>
            <a:off x="3911600" y="5187950"/>
            <a:ext cx="7207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Tải</a:t>
            </a:r>
            <a:endParaRPr lang="ko-KR" altLang="en-US">
              <a:latin typeface="Times New Roman" pitchFamily="18" charset="0"/>
              <a:cs typeface="Times New Roman" pitchFamily="18" charset="0"/>
            </a:endParaRPr>
          </a:p>
        </p:txBody>
      </p:sp>
      <p:sp>
        <p:nvSpPr>
          <p:cNvPr id="19471" name="직사각형 13"/>
          <p:cNvSpPr>
            <a:spLocks noChangeArrowheads="1"/>
          </p:cNvSpPr>
          <p:nvPr/>
        </p:nvSpPr>
        <p:spPr bwMode="auto">
          <a:xfrm>
            <a:off x="1331913" y="2832100"/>
            <a:ext cx="752475"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Cực dương a</a:t>
            </a:r>
            <a:endParaRPr lang="ko-KR" altLang="en-US" sz="800">
              <a:latin typeface="Times New Roman" pitchFamily="18" charset="0"/>
              <a:cs typeface="Times New Roman" pitchFamily="18" charset="0"/>
            </a:endParaRPr>
          </a:p>
        </p:txBody>
      </p:sp>
      <p:sp>
        <p:nvSpPr>
          <p:cNvPr id="19472" name="직사각형 15"/>
          <p:cNvSpPr>
            <a:spLocks noChangeArrowheads="1"/>
          </p:cNvSpPr>
          <p:nvPr/>
        </p:nvSpPr>
        <p:spPr bwMode="auto">
          <a:xfrm>
            <a:off x="2771775" y="2678113"/>
            <a:ext cx="644525" cy="2460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Công tắc S</a:t>
            </a:r>
            <a:endParaRPr lang="ko-KR" altLang="en-US" sz="800">
              <a:latin typeface="Times New Roman" pitchFamily="18" charset="0"/>
              <a:cs typeface="Times New Roman" pitchFamily="18" charset="0"/>
            </a:endParaRPr>
          </a:p>
        </p:txBody>
      </p:sp>
      <p:sp>
        <p:nvSpPr>
          <p:cNvPr id="19473" name="직사각형 16"/>
          <p:cNvSpPr>
            <a:spLocks noChangeArrowheads="1"/>
          </p:cNvSpPr>
          <p:nvPr/>
        </p:nvSpPr>
        <p:spPr bwMode="auto">
          <a:xfrm>
            <a:off x="3427413" y="3644900"/>
            <a:ext cx="784225" cy="3571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Bóng đèn tròn</a:t>
            </a:r>
          </a:p>
          <a:p>
            <a:pPr algn="ctr" eaLnBrk="1" hangingPunct="1"/>
            <a:r>
              <a:rPr lang="en-US" altLang="ko-KR" sz="800">
                <a:latin typeface="Times New Roman" pitchFamily="18" charset="0"/>
                <a:cs typeface="Times New Roman" pitchFamily="18" charset="0"/>
              </a:rPr>
              <a:t>Tải</a:t>
            </a:r>
            <a:endParaRPr lang="ko-KR" altLang="en-US" sz="800">
              <a:latin typeface="Times New Roman" pitchFamily="18" charset="0"/>
              <a:cs typeface="Times New Roman" pitchFamily="18" charset="0"/>
            </a:endParaRPr>
          </a:p>
        </p:txBody>
      </p:sp>
      <p:sp>
        <p:nvSpPr>
          <p:cNvPr id="19474" name="직사각형 17"/>
          <p:cNvSpPr>
            <a:spLocks noChangeArrowheads="1"/>
          </p:cNvSpPr>
          <p:nvPr/>
        </p:nvSpPr>
        <p:spPr bwMode="auto">
          <a:xfrm>
            <a:off x="2339975" y="3608388"/>
            <a:ext cx="644525" cy="1857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Mạch điện</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79861BC-023C-413C-BC72-A9A90B931E68}" type="slidenum">
              <a:rPr lang="en-US" altLang="ko-KR" sz="1400" smtClean="0">
                <a:latin typeface="Times New Roman" pitchFamily="18" charset="0"/>
                <a:cs typeface="Times New Roman" pitchFamily="18" charset="0"/>
              </a:rPr>
              <a:pPr eaLnBrk="1" hangingPunct="1"/>
              <a:t>15</a:t>
            </a:fld>
            <a:endParaRPr lang="en-US" altLang="ko-KR" sz="1400" smtClean="0">
              <a:latin typeface="Times New Roman" pitchFamily="18" charset="0"/>
              <a:cs typeface="Times New Roman" pitchFamily="18" charset="0"/>
            </a:endParaRPr>
          </a:p>
        </p:txBody>
      </p:sp>
      <p:sp>
        <p:nvSpPr>
          <p:cNvPr id="2048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048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3</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Dòng nước và dòng điện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Xung quanh chúng ta rất dễ bắt gặp điện và nước, tính chất của điện và nước không hoàn toàn giống nhau nhưng nếu đem ví tính chất của điện với tính chất của dòng nước, do dễ nhìn thấy nên đặc tích của dòng điện cũng trở nên dễ hiểu</a:t>
            </a:r>
          </a:p>
          <a:p>
            <a:pPr eaLnBrk="1" hangingPunct="1"/>
            <a:r>
              <a:rPr lang="en-US" altLang="ko-KR">
                <a:latin typeface="Times New Roman" pitchFamily="18" charset="0"/>
                <a:cs typeface="Times New Roman" pitchFamily="18" charset="0"/>
              </a:rPr>
              <a:t>hơn. </a:t>
            </a:r>
          </a:p>
          <a:p>
            <a:pPr eaLnBrk="1" hangingPunct="1"/>
            <a:endParaRPr lang="en-US" altLang="ko-KR">
              <a:latin typeface="Times New Roman" pitchFamily="18" charset="0"/>
              <a:cs typeface="Times New Roman" pitchFamily="18" charset="0"/>
            </a:endParaRPr>
          </a:p>
          <a:p>
            <a:pPr eaLnBrk="1" hangingPunct="1">
              <a:buFont typeface="Wingdings" pitchFamily="2" charset="2"/>
              <a:buChar char="ü"/>
            </a:pPr>
            <a:r>
              <a:rPr lang="en-US" altLang="ko-KR">
                <a:latin typeface="Times New Roman" pitchFamily="18" charset="0"/>
                <a:cs typeface="Times New Roman" pitchFamily="18" charset="0"/>
              </a:rPr>
              <a:t> Giống như áp lực nước càng cao càng chảy mạnh, điện áp cũng càng lớn càng chạy nhanh.</a:t>
            </a:r>
          </a:p>
          <a:p>
            <a:pPr eaLnBrk="1" hangingPunct="1">
              <a:buFont typeface="Wingdings" pitchFamily="2" charset="2"/>
              <a:buChar char="ü"/>
            </a:pPr>
            <a:r>
              <a:rPr lang="en-US" altLang="ko-KR">
                <a:latin typeface="Times New Roman" pitchFamily="18" charset="0"/>
                <a:cs typeface="Times New Roman" pitchFamily="18" charset="0"/>
              </a:rPr>
              <a:t> Giống như áp lực nước chảy từ nơi cao đến nơi thấp, điện áp cũng chạy từ nơi cao đến nơi thấp. </a:t>
            </a:r>
          </a:p>
          <a:p>
            <a:pPr eaLnBrk="1" hangingPunct="1">
              <a:buFont typeface="Wingdings" pitchFamily="2" charset="2"/>
              <a:buChar char="ü"/>
            </a:pPr>
            <a:r>
              <a:rPr lang="en-US" altLang="ko-KR">
                <a:latin typeface="Times New Roman" pitchFamily="18" charset="0"/>
                <a:cs typeface="Times New Roman" pitchFamily="18" charset="0"/>
              </a:rPr>
              <a:t> Giống như áp lực nước nếu ở hai điểm có độ cao bằng nhau thì nước đứng yên, điện áp cũng không chạy khi hai đầu 	có điện áp bằng nhau. </a:t>
            </a:r>
          </a:p>
          <a:p>
            <a:pPr eaLnBrk="1" hangingPunct="1"/>
            <a:endParaRPr lang="en-US" altLang="ko-KR">
              <a:latin typeface="Times New Roman" pitchFamily="18" charset="0"/>
              <a:cs typeface="Times New Roman" pitchFamily="18" charset="0"/>
            </a:endParaRPr>
          </a:p>
        </p:txBody>
      </p:sp>
      <p:sp>
        <p:nvSpPr>
          <p:cNvPr id="20485"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20486" name="Picture 5" descr="물의흐름과전기의흐름"/>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3429000"/>
            <a:ext cx="74295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0487" name="직사각형 1"/>
          <p:cNvSpPr>
            <a:spLocks noChangeArrowheads="1"/>
          </p:cNvSpPr>
          <p:nvPr/>
        </p:nvSpPr>
        <p:spPr bwMode="auto">
          <a:xfrm>
            <a:off x="2090738" y="3644900"/>
            <a:ext cx="7905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Mực nước A</a:t>
            </a:r>
            <a:endParaRPr lang="ko-KR" altLang="en-US" sz="900">
              <a:latin typeface="Times New Roman" pitchFamily="18" charset="0"/>
              <a:cs typeface="Times New Roman" pitchFamily="18" charset="0"/>
            </a:endParaRPr>
          </a:p>
        </p:txBody>
      </p:sp>
      <p:sp>
        <p:nvSpPr>
          <p:cNvPr id="20488" name="직사각형 3"/>
          <p:cNvSpPr>
            <a:spLocks noChangeArrowheads="1"/>
          </p:cNvSpPr>
          <p:nvPr/>
        </p:nvSpPr>
        <p:spPr bwMode="auto">
          <a:xfrm>
            <a:off x="2090738" y="3933825"/>
            <a:ext cx="536575" cy="1428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20489" name="직사각형 9"/>
          <p:cNvSpPr>
            <a:spLocks noChangeArrowheads="1"/>
          </p:cNvSpPr>
          <p:nvPr/>
        </p:nvSpPr>
        <p:spPr bwMode="auto">
          <a:xfrm>
            <a:off x="3563938" y="4076700"/>
            <a:ext cx="936625"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Chênh lêch mực nước (thủy áp)</a:t>
            </a:r>
            <a:endParaRPr lang="ko-KR" altLang="en-US" sz="900">
              <a:latin typeface="Times New Roman" pitchFamily="18" charset="0"/>
              <a:cs typeface="Times New Roman" pitchFamily="18" charset="0"/>
            </a:endParaRPr>
          </a:p>
        </p:txBody>
      </p:sp>
      <p:sp>
        <p:nvSpPr>
          <p:cNvPr id="20490" name="직사각형 10"/>
          <p:cNvSpPr>
            <a:spLocks noChangeArrowheads="1"/>
          </p:cNvSpPr>
          <p:nvPr/>
        </p:nvSpPr>
        <p:spPr bwMode="auto">
          <a:xfrm>
            <a:off x="5005388" y="4041775"/>
            <a:ext cx="468312" cy="5032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Mực nước B</a:t>
            </a:r>
            <a:endParaRPr lang="ko-KR" altLang="en-US" sz="900">
              <a:latin typeface="Times New Roman" pitchFamily="18" charset="0"/>
              <a:cs typeface="Times New Roman" pitchFamily="18" charset="0"/>
            </a:endParaRPr>
          </a:p>
        </p:txBody>
      </p:sp>
      <p:sp>
        <p:nvSpPr>
          <p:cNvPr id="20491" name="직사각형 11"/>
          <p:cNvSpPr>
            <a:spLocks noChangeArrowheads="1"/>
          </p:cNvSpPr>
          <p:nvPr/>
        </p:nvSpPr>
        <p:spPr bwMode="auto">
          <a:xfrm>
            <a:off x="2987675" y="5229225"/>
            <a:ext cx="1871663"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Mực nước cao =&gt; Mực nước thấp</a:t>
            </a:r>
            <a:endParaRPr lang="ko-KR" altLang="en-US" sz="900">
              <a:latin typeface="Times New Roman" pitchFamily="18" charset="0"/>
              <a:cs typeface="Times New Roman" pitchFamily="18" charset="0"/>
            </a:endParaRPr>
          </a:p>
        </p:txBody>
      </p:sp>
      <p:sp>
        <p:nvSpPr>
          <p:cNvPr id="20492" name="직사각형 12"/>
          <p:cNvSpPr>
            <a:spLocks noChangeArrowheads="1"/>
          </p:cNvSpPr>
          <p:nvPr/>
        </p:nvSpPr>
        <p:spPr bwMode="auto">
          <a:xfrm>
            <a:off x="6619875" y="3375025"/>
            <a:ext cx="615950" cy="1254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Hiệu điện thế</a:t>
            </a:r>
            <a:endParaRPr lang="ko-KR" altLang="en-US" sz="900">
              <a:latin typeface="Times New Roman" pitchFamily="18" charset="0"/>
              <a:cs typeface="Times New Roman" pitchFamily="18" charset="0"/>
            </a:endParaRPr>
          </a:p>
        </p:txBody>
      </p:sp>
      <p:sp>
        <p:nvSpPr>
          <p:cNvPr id="20493" name="직사각형 4"/>
          <p:cNvSpPr>
            <a:spLocks noChangeArrowheads="1"/>
          </p:cNvSpPr>
          <p:nvPr/>
        </p:nvSpPr>
        <p:spPr bwMode="auto">
          <a:xfrm>
            <a:off x="6705600" y="4221163"/>
            <a:ext cx="144463" cy="5762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74F7A64-C5C7-4D5C-B13C-DEAC10F9F4BF}" type="slidenum">
              <a:rPr lang="en-US" altLang="ko-KR" sz="1400" smtClean="0">
                <a:latin typeface="Times New Roman" pitchFamily="18" charset="0"/>
                <a:cs typeface="Times New Roman" pitchFamily="18" charset="0"/>
              </a:rPr>
              <a:pPr eaLnBrk="1" hangingPunct="1"/>
              <a:t>16</a:t>
            </a:fld>
            <a:endParaRPr lang="en-US" altLang="ko-KR" sz="1400" smtClean="0">
              <a:latin typeface="Times New Roman" pitchFamily="18" charset="0"/>
              <a:cs typeface="Times New Roman" pitchFamily="18" charset="0"/>
            </a:endParaRPr>
          </a:p>
        </p:txBody>
      </p:sp>
      <p:sp>
        <p:nvSpPr>
          <p:cNvPr id="2150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150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4</a:t>
            </a:r>
            <a:r>
              <a:rPr lang="en-US" altLang="en-US" b="1">
                <a:latin typeface="Times New Roman" pitchFamily="18" charset="0"/>
                <a:cs typeface="Times New Roman" pitchFamily="18" charset="0"/>
              </a:rPr>
              <a:t>) Dòng điện và điện áp</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Dòng điện</a:t>
            </a:r>
            <a:r>
              <a:rPr lang="ko-KR" altLang="en-US">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Trong mạch điện, dòng điện có thể xem như dòng chảy của nước trong ống dẫn nước. Áp lực nước khiến nước di chuyển trong ống nước, còn trong mạch điện điện áp làm điện di chuyển, và sự di chuyển của điện như thế được gọi là dòng điện(electric current). </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Cường độ dòng điện là lượng điện tích di chuyển trong  1 đơn vị thời gian[giây, hay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sec], có đơn vị là </a:t>
            </a:r>
            <a:r>
              <a:rPr lang="en-US" altLang="ko-KR" b="1">
                <a:latin typeface="Times New Roman" pitchFamily="18" charset="0"/>
                <a:cs typeface="Times New Roman" pitchFamily="18" charset="0"/>
              </a:rPr>
              <a:t>Amper</a:t>
            </a:r>
            <a:r>
              <a:rPr lang="en-US" altLang="ko-KR">
                <a:latin typeface="Times New Roman" pitchFamily="18" charset="0"/>
                <a:cs typeface="Times New Roman" pitchFamily="18" charset="0"/>
              </a:rPr>
              <a:t> (ampere, ký hiệu</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[A]</a:t>
            </a:r>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Giả sử, nếu một chất dẫn nào đó trong khoảng thời gian t [giây] di chuyển một lượng điện tích là </a:t>
            </a:r>
            <a:r>
              <a:rPr lang="en-US" altLang="ko-KR" b="1">
                <a:latin typeface="Times New Roman" pitchFamily="18" charset="0"/>
                <a:cs typeface="Times New Roman" pitchFamily="18" charset="0"/>
              </a:rPr>
              <a:t>Q</a:t>
            </a:r>
            <a:r>
              <a:rPr lang="en-US" altLang="ko-KR">
                <a:latin typeface="Times New Roman" pitchFamily="18" charset="0"/>
                <a:cs typeface="Times New Roman" pitchFamily="18" charset="0"/>
              </a:rPr>
              <a:t> (coulomb, ký hiệu</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[C]</a:t>
            </a:r>
            <a:r>
              <a:rPr lang="en-US" altLang="ko-KR">
                <a:latin typeface="Times New Roman" pitchFamily="18" charset="0"/>
                <a:cs typeface="Times New Roman" pitchFamily="18" charset="0"/>
              </a:rPr>
              <a:t>) thì ta có dòng điện </a:t>
            </a:r>
            <a:r>
              <a:rPr lang="en-US" altLang="ko-KR" b="1">
                <a:latin typeface="Times New Roman" pitchFamily="18" charset="0"/>
                <a:cs typeface="Times New Roman" pitchFamily="18" charset="0"/>
              </a:rPr>
              <a:t>I</a:t>
            </a:r>
            <a:r>
              <a:rPr lang="en-US" altLang="ko-KR">
                <a:latin typeface="Times New Roman" pitchFamily="18" charset="0"/>
                <a:cs typeface="Times New Roman" pitchFamily="18" charset="0"/>
              </a:rPr>
              <a:t> như sau:</a:t>
            </a:r>
          </a:p>
          <a:p>
            <a:pPr eaLnBrk="1" hangingPunct="1"/>
            <a:endParaRPr lang="en-US" altLang="ko-KR" sz="8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I</a:t>
            </a:r>
            <a:r>
              <a:rPr lang="en-US" altLang="ko-KR" b="1">
                <a:latin typeface="Times New Roman" pitchFamily="18" charset="0"/>
                <a:cs typeface="Times New Roman" pitchFamily="18" charset="0"/>
              </a:rPr>
              <a:t> =Q/T [A]</a:t>
            </a:r>
          </a:p>
          <a:p>
            <a:pPr eaLnBrk="1" hangingPunct="1"/>
            <a:r>
              <a:rPr lang="en-US" altLang="ko-KR" sz="600">
                <a:latin typeface="Times New Roman" pitchFamily="18" charset="0"/>
                <a:cs typeface="Times New Roman" pitchFamily="18" charset="0"/>
              </a:rPr>
              <a:t> </a:t>
            </a:r>
            <a:r>
              <a:rPr lang="en-US" altLang="ko-KR" sz="800">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Tức, nếu trong 1[giây] lượng điện tích di chuyển được là 1[C]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cường độ dòng điện là 1[A]. </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Một điện tử có điện tích là 1.60219×10</a:t>
            </a:r>
            <a:r>
              <a:rPr lang="en-US" altLang="ko-KR" baseline="30000">
                <a:latin typeface="Times New Roman" pitchFamily="18" charset="0"/>
                <a:cs typeface="Times New Roman" pitchFamily="18" charset="0"/>
              </a:rPr>
              <a:t>-19</a:t>
            </a:r>
            <a:r>
              <a:rPr lang="en-US" altLang="ko-KR">
                <a:latin typeface="Times New Roman" pitchFamily="18" charset="0"/>
                <a:cs typeface="Times New Roman" pitchFamily="18" charset="0"/>
              </a:rPr>
              <a:t>[C] . Trong 1 giây có thể di chuyển được 6.25×10</a:t>
            </a:r>
            <a:r>
              <a:rPr lang="en-US" altLang="ko-KR" baseline="30000">
                <a:latin typeface="Times New Roman" pitchFamily="18" charset="0"/>
                <a:cs typeface="Times New Roman" pitchFamily="18" charset="0"/>
              </a:rPr>
              <a:t>18</a:t>
            </a:r>
            <a:r>
              <a:rPr lang="en-US" altLang="ko-KR">
                <a:latin typeface="Times New Roman" pitchFamily="18" charset="0"/>
                <a:cs typeface="Times New Roman" pitchFamily="18" charset="0"/>
              </a:rPr>
              <a:t>[đơn vị] điện tử.</a:t>
            </a:r>
          </a:p>
        </p:txBody>
      </p:sp>
      <p:sp>
        <p:nvSpPr>
          <p:cNvPr id="21509"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9A56D90-7B68-425B-BF89-0DE8D778C789}" type="slidenum">
              <a:rPr lang="en-US" altLang="ko-KR" sz="1400" smtClean="0">
                <a:latin typeface="Times New Roman" pitchFamily="18" charset="0"/>
                <a:cs typeface="Times New Roman" pitchFamily="18" charset="0"/>
              </a:rPr>
              <a:pPr eaLnBrk="1" hangingPunct="1"/>
              <a:t>17</a:t>
            </a:fld>
            <a:endParaRPr lang="en-US" altLang="ko-KR" sz="1400" smtClean="0">
              <a:latin typeface="Times New Roman" pitchFamily="18" charset="0"/>
              <a:cs typeface="Times New Roman" pitchFamily="18" charset="0"/>
            </a:endParaRPr>
          </a:p>
        </p:txBody>
      </p:sp>
      <p:sp>
        <p:nvSpPr>
          <p:cNvPr id="2253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253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② Điện áp</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Nếu muốn dòng điện lưu thông trong chất dẫn điện, cần sự chênh lệch độ cao thấp của  dòng điện giống như dòng nước chảy từ nơi cao đến nơi thấp. Độ cao thấp của dòng điện được gọi là </a:t>
            </a:r>
            <a:r>
              <a:rPr lang="en-US" altLang="ko-KR" b="1">
                <a:latin typeface="Times New Roman" pitchFamily="18" charset="0"/>
                <a:cs typeface="Times New Roman" pitchFamily="18" charset="0"/>
              </a:rPr>
              <a:t>điện thế(electric potential)</a:t>
            </a:r>
            <a:r>
              <a:rPr lang="en-US" altLang="ko-KR">
                <a:latin typeface="Times New Roman" pitchFamily="18" charset="0"/>
                <a:cs typeface="Times New Roman" pitchFamily="18" charset="0"/>
              </a:rPr>
              <a:t> và sự chênh lệch điện thế được gọi là </a:t>
            </a:r>
            <a:r>
              <a:rPr lang="en-US" altLang="ko-KR" b="1">
                <a:latin typeface="Times New Roman" pitchFamily="18" charset="0"/>
                <a:cs typeface="Times New Roman" pitchFamily="18" charset="0"/>
              </a:rPr>
              <a:t>hiệu điện thế(potential difference)</a:t>
            </a:r>
            <a:r>
              <a:rPr lang="en-US" altLang="ko-KR">
                <a:latin typeface="Times New Roman" pitchFamily="18" charset="0"/>
                <a:cs typeface="Times New Roman" pitchFamily="18" charset="0"/>
              </a:rPr>
              <a:t> hay là </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điện áp(electric voltage)</a:t>
            </a:r>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Lực tạo ra hiệu điện thế giữa cực âm và cực dương của dòng điện hay máy phát điện là </a:t>
            </a:r>
            <a:r>
              <a:rPr lang="en-US" altLang="ko-KR" b="1">
                <a:latin typeface="Times New Roman" pitchFamily="18" charset="0"/>
                <a:cs typeface="Times New Roman" pitchFamily="18" charset="0"/>
              </a:rPr>
              <a:t>lực điện động</a:t>
            </a:r>
            <a:r>
              <a:rPr lang="en-US" altLang="ko-KR">
                <a:latin typeface="Times New Roman" pitchFamily="18" charset="0"/>
                <a:cs typeface="Times New Roman" pitchFamily="18" charset="0"/>
              </a:rPr>
              <a:t>(electromotive force : e. m. f),có đơn vị là  vôn</a:t>
            </a:r>
            <a:r>
              <a:rPr lang="en-US" altLang="ko-KR" b="1">
                <a:latin typeface="Times New Roman" pitchFamily="18" charset="0"/>
                <a:cs typeface="Times New Roman" pitchFamily="18" charset="0"/>
              </a:rPr>
              <a:t>(volt, ký hiệu</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V) </a:t>
            </a:r>
            <a:r>
              <a:rPr lang="en-US" altLang="ko-KR">
                <a:latin typeface="Times New Roman" pitchFamily="18" charset="0"/>
                <a:cs typeface="Times New Roman" pitchFamily="18" charset="0"/>
              </a:rPr>
              <a:t>giống như điện áp. 1[V] là điện áp cần để lưu chuyển điện dương từ nơi có điện áp thấp đến nơi có điện áp cao.</a:t>
            </a:r>
          </a:p>
          <a:p>
            <a:pPr eaLnBrk="1" hangingPunct="1"/>
            <a:r>
              <a:rPr lang="en-US" altLang="ko-KR">
                <a:latin typeface="Times New Roman" pitchFamily="18" charset="0"/>
                <a:cs typeface="Times New Roman" pitchFamily="18" charset="0"/>
              </a:rPr>
              <a:t>Nếu điện lượng Q[C] di chuyển chấn dẫn điện sau đó đảm nhận W[J], thì khi đó lực điện động E[V]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biểu thị như sau.</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E=W/Q [V]</a:t>
            </a:r>
          </a:p>
        </p:txBody>
      </p:sp>
      <p:sp>
        <p:nvSpPr>
          <p:cNvPr id="22533"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22534" name="Picture 5" descr="전압과전류"/>
          <p:cNvPicPr>
            <a:picLocks noChangeAspect="1" noChangeArrowheads="1"/>
          </p:cNvPicPr>
          <p:nvPr/>
        </p:nvPicPr>
        <p:blipFill>
          <a:blip r:embed="rId3">
            <a:extLst>
              <a:ext uri="{28A0092B-C50C-407E-A947-70E740481C1C}">
                <a14:useLocalDpi xmlns:a14="http://schemas.microsoft.com/office/drawing/2010/main" val="0"/>
              </a:ext>
            </a:extLst>
          </a:blip>
          <a:srcRect r="-50"/>
          <a:stretch>
            <a:fillRect/>
          </a:stretch>
        </p:blipFill>
        <p:spPr bwMode="auto">
          <a:xfrm>
            <a:off x="722313" y="3573463"/>
            <a:ext cx="7666037"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535" name="직사각형 1"/>
          <p:cNvSpPr>
            <a:spLocks noChangeArrowheads="1"/>
          </p:cNvSpPr>
          <p:nvPr/>
        </p:nvSpPr>
        <p:spPr bwMode="auto">
          <a:xfrm>
            <a:off x="5003800" y="4822825"/>
            <a:ext cx="93662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Điện thế cao</a:t>
            </a:r>
            <a:endParaRPr lang="ko-KR" altLang="en-US" sz="1100">
              <a:latin typeface="Times New Roman" pitchFamily="18" charset="0"/>
              <a:cs typeface="Times New Roman" pitchFamily="18" charset="0"/>
            </a:endParaRPr>
          </a:p>
        </p:txBody>
      </p:sp>
      <p:sp>
        <p:nvSpPr>
          <p:cNvPr id="22536" name="직사각형 7"/>
          <p:cNvSpPr>
            <a:spLocks noChangeArrowheads="1"/>
          </p:cNvSpPr>
          <p:nvPr/>
        </p:nvSpPr>
        <p:spPr bwMode="auto">
          <a:xfrm>
            <a:off x="6372225" y="5410200"/>
            <a:ext cx="93662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Điện thế thấp</a:t>
            </a:r>
            <a:endParaRPr lang="ko-KR" altLang="en-US" sz="1100">
              <a:latin typeface="Times New Roman" pitchFamily="18" charset="0"/>
              <a:cs typeface="Times New Roman" pitchFamily="18" charset="0"/>
            </a:endParaRPr>
          </a:p>
        </p:txBody>
      </p:sp>
      <p:sp>
        <p:nvSpPr>
          <p:cNvPr id="22537" name="직사각형 8"/>
          <p:cNvSpPr>
            <a:spLocks noChangeArrowheads="1"/>
          </p:cNvSpPr>
          <p:nvPr/>
        </p:nvSpPr>
        <p:spPr bwMode="auto">
          <a:xfrm>
            <a:off x="7524750" y="4441825"/>
            <a:ext cx="93503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electron</a:t>
            </a:r>
            <a:endParaRPr lang="ko-KR" altLang="en-US" sz="1100">
              <a:latin typeface="Times New Roman" pitchFamily="18" charset="0"/>
              <a:cs typeface="Times New Roman" pitchFamily="18" charset="0"/>
            </a:endParaRPr>
          </a:p>
        </p:txBody>
      </p:sp>
      <p:sp>
        <p:nvSpPr>
          <p:cNvPr id="22538" name="직사각형 9"/>
          <p:cNvSpPr>
            <a:spLocks noChangeArrowheads="1"/>
          </p:cNvSpPr>
          <p:nvPr/>
        </p:nvSpPr>
        <p:spPr bwMode="auto">
          <a:xfrm>
            <a:off x="6110288" y="4797425"/>
            <a:ext cx="93662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Dòng điện</a:t>
            </a:r>
            <a:endParaRPr lang="ko-KR" altLang="en-US" sz="1100">
              <a:latin typeface="Times New Roman" pitchFamily="18" charset="0"/>
              <a:cs typeface="Times New Roman" pitchFamily="18" charset="0"/>
            </a:endParaRPr>
          </a:p>
        </p:txBody>
      </p:sp>
      <p:sp>
        <p:nvSpPr>
          <p:cNvPr id="22539" name="직사각형 10"/>
          <p:cNvSpPr>
            <a:spLocks noChangeArrowheads="1"/>
          </p:cNvSpPr>
          <p:nvPr/>
        </p:nvSpPr>
        <p:spPr bwMode="auto">
          <a:xfrm>
            <a:off x="6554788" y="3860800"/>
            <a:ext cx="118586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Đường kim loại</a:t>
            </a:r>
            <a:endParaRPr lang="ko-KR" altLang="en-US" sz="1100">
              <a:latin typeface="Times New Roman" pitchFamily="18" charset="0"/>
              <a:cs typeface="Times New Roman" pitchFamily="18" charset="0"/>
            </a:endParaRPr>
          </a:p>
        </p:txBody>
      </p:sp>
      <p:sp>
        <p:nvSpPr>
          <p:cNvPr id="22540" name="직사각형 11"/>
          <p:cNvSpPr>
            <a:spLocks noChangeArrowheads="1"/>
          </p:cNvSpPr>
          <p:nvPr/>
        </p:nvSpPr>
        <p:spPr bwMode="auto">
          <a:xfrm>
            <a:off x="1254125" y="3705225"/>
            <a:ext cx="137318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Điện(thủy) thế cao</a:t>
            </a:r>
            <a:endParaRPr lang="ko-KR" altLang="en-US" sz="1100">
              <a:latin typeface="Times New Roman" pitchFamily="18" charset="0"/>
              <a:cs typeface="Times New Roman" pitchFamily="18" charset="0"/>
            </a:endParaRPr>
          </a:p>
        </p:txBody>
      </p:sp>
      <p:sp>
        <p:nvSpPr>
          <p:cNvPr id="22541" name="직사각형 12"/>
          <p:cNvSpPr>
            <a:spLocks noChangeArrowheads="1"/>
          </p:cNvSpPr>
          <p:nvPr/>
        </p:nvSpPr>
        <p:spPr bwMode="auto">
          <a:xfrm>
            <a:off x="1187450" y="5265738"/>
            <a:ext cx="137318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Điện(thủy) thế thấp</a:t>
            </a:r>
            <a:endParaRPr lang="ko-KR" altLang="en-US" sz="1100">
              <a:latin typeface="Times New Roman" pitchFamily="18" charset="0"/>
              <a:cs typeface="Times New Roman" pitchFamily="18" charset="0"/>
            </a:endParaRPr>
          </a:p>
        </p:txBody>
      </p:sp>
      <p:sp>
        <p:nvSpPr>
          <p:cNvPr id="22542" name="직사각형 14"/>
          <p:cNvSpPr>
            <a:spLocks noChangeArrowheads="1"/>
          </p:cNvSpPr>
          <p:nvPr/>
        </p:nvSpPr>
        <p:spPr bwMode="auto">
          <a:xfrm>
            <a:off x="1042988" y="4260850"/>
            <a:ext cx="122555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Điện thế (mực nước)</a:t>
            </a:r>
            <a:endParaRPr lang="ko-KR" altLang="en-US" sz="1100">
              <a:latin typeface="Times New Roman" pitchFamily="18" charset="0"/>
              <a:cs typeface="Times New Roman" pitchFamily="18" charset="0"/>
            </a:endParaRPr>
          </a:p>
        </p:txBody>
      </p:sp>
      <p:sp>
        <p:nvSpPr>
          <p:cNvPr id="22543" name="직사각형 15"/>
          <p:cNvSpPr>
            <a:spLocks noChangeArrowheads="1"/>
          </p:cNvSpPr>
          <p:nvPr/>
        </p:nvSpPr>
        <p:spPr bwMode="auto">
          <a:xfrm>
            <a:off x="3492500" y="4548188"/>
            <a:ext cx="15113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Dòng điện (dòng nước)</a:t>
            </a:r>
            <a:endParaRPr lang="ko-KR" altLang="en-US" sz="1100">
              <a:latin typeface="Times New Roman" pitchFamily="18" charset="0"/>
              <a:cs typeface="Times New Roman" pitchFamily="18" charset="0"/>
            </a:endParaRPr>
          </a:p>
        </p:txBody>
      </p:sp>
      <p:sp>
        <p:nvSpPr>
          <p:cNvPr id="22544" name="직사각형 16"/>
          <p:cNvSpPr>
            <a:spLocks noChangeArrowheads="1"/>
          </p:cNvSpPr>
          <p:nvPr/>
        </p:nvSpPr>
        <p:spPr bwMode="auto">
          <a:xfrm>
            <a:off x="3276600" y="5110163"/>
            <a:ext cx="15113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Mạch điện (mạch nước)</a:t>
            </a:r>
            <a:endParaRPr lang="ko-KR" altLang="en-US" sz="11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36B63BE-A5B5-41A4-9A2C-F129F56C92EC}" type="slidenum">
              <a:rPr lang="en-US" altLang="ko-KR" sz="1400" smtClean="0">
                <a:latin typeface="Times New Roman" pitchFamily="18" charset="0"/>
                <a:cs typeface="Times New Roman" pitchFamily="18" charset="0"/>
              </a:rPr>
              <a:pPr eaLnBrk="1" hangingPunct="1"/>
              <a:t>18</a:t>
            </a:fld>
            <a:endParaRPr lang="en-US" altLang="ko-KR" sz="1400" smtClean="0">
              <a:latin typeface="Times New Roman" pitchFamily="18" charset="0"/>
              <a:cs typeface="Times New Roman" pitchFamily="18" charset="0"/>
            </a:endParaRPr>
          </a:p>
        </p:txBody>
      </p:sp>
      <p:sp>
        <p:nvSpPr>
          <p:cNvPr id="2355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355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5</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Dòng điện một chiều và dòng điện xoay chiều</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Nguồn điện được chia thành 2 loại là dòng điện một chiều(DC-Direct Current) và dòng điện xoay chiều(AC-Alternating Current). </a:t>
            </a:r>
            <a:r>
              <a:rPr lang="en-US" altLang="ko-KR" b="1">
                <a:latin typeface="Times New Roman" pitchFamily="18" charset="0"/>
                <a:cs typeface="Times New Roman" pitchFamily="18" charset="0"/>
              </a:rPr>
              <a:t>Dòng điện 1 chiều </a:t>
            </a:r>
            <a:r>
              <a:rPr lang="en-US" altLang="ko-KR">
                <a:latin typeface="Times New Roman" pitchFamily="18" charset="0"/>
                <a:cs typeface="Times New Roman" pitchFamily="18" charset="0"/>
              </a:rPr>
              <a:t>là dòng điện cung cấp năng lượng</a:t>
            </a:r>
            <a:r>
              <a:rPr lang="en-US" altLang="ko-KR" b="1">
                <a:latin typeface="Times New Roman" pitchFamily="18" charset="0"/>
                <a:cs typeface="Times New Roman" pitchFamily="18" charset="0"/>
              </a:rPr>
              <a:t> không đổi chiều và độ lớn theo thời gian. Dòng điện xoay chiều </a:t>
            </a:r>
            <a:r>
              <a:rPr lang="en-US" altLang="ko-KR">
                <a:latin typeface="Times New Roman" pitchFamily="18" charset="0"/>
                <a:cs typeface="Times New Roman" pitchFamily="18" charset="0"/>
              </a:rPr>
              <a:t>là nguồn điện </a:t>
            </a:r>
            <a:r>
              <a:rPr lang="en-US" altLang="ko-KR" b="1">
                <a:latin typeface="Times New Roman" pitchFamily="18" charset="0"/>
                <a:cs typeface="Times New Roman" pitchFamily="18" charset="0"/>
              </a:rPr>
              <a:t>đổi chiều và độ lớn theo chu kỳ </a:t>
            </a:r>
            <a:r>
              <a:rPr lang="en-US" altLang="ko-KR">
                <a:latin typeface="Times New Roman" pitchFamily="18" charset="0"/>
                <a:cs typeface="Times New Roman" pitchFamily="18" charset="0"/>
              </a:rPr>
              <a:t>có tính chất sóng sin. Dòng điện 1 chiều cung cấp điện áp cố định thời gian nên không tồn tại pha và tính phân cực không đổi. Nhưng do nguồn xoay chiều đổi giá trị điện áp thành chu kỳ cố định nên không có khái niệm (+) và (-). Thay vào đó, xuất hiện pha và chu kỳ pha.</a:t>
            </a:r>
          </a:p>
        </p:txBody>
      </p:sp>
      <p:sp>
        <p:nvSpPr>
          <p:cNvPr id="23557"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2355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638425"/>
            <a:ext cx="3292475"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9" name="Rectangle 6"/>
          <p:cNvSpPr>
            <a:spLocks noChangeArrowheads="1"/>
          </p:cNvSpPr>
          <p:nvPr/>
        </p:nvSpPr>
        <p:spPr bwMode="auto">
          <a:xfrm>
            <a:off x="4500563" y="2819400"/>
            <a:ext cx="38798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en-US" altLang="ko-KR" b="1">
                <a:latin typeface="Times New Roman" pitchFamily="18" charset="0"/>
                <a:cs typeface="Times New Roman" pitchFamily="18" charset="0"/>
              </a:rPr>
              <a:t>Pha là khoảng cách tương đối của điểm tiêu chuẩn ngẫu nhiên</a:t>
            </a:r>
            <a:r>
              <a:rPr lang="en-US" altLang="ko-KR">
                <a:latin typeface="Times New Roman" pitchFamily="18" charset="0"/>
                <a:cs typeface="Times New Roman" pitchFamily="18" charset="0"/>
              </a:rPr>
              <a:t>, thông thường 1cycle là các góc được chia bởi 360</a:t>
            </a:r>
            <a:r>
              <a:rPr lang="en-US" altLang="ko-KR" baseline="30000">
                <a:latin typeface="Times New Roman" pitchFamily="18" charset="0"/>
                <a:cs typeface="Times New Roman" pitchFamily="18" charset="0"/>
              </a:rPr>
              <a:t>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hay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2π. So với E</a:t>
            </a:r>
            <a:r>
              <a:rPr lang="en-US" altLang="ko-KR" baseline="-30000">
                <a:latin typeface="Times New Roman" pitchFamily="18" charset="0"/>
                <a:cs typeface="Times New Roman" pitchFamily="18" charset="0"/>
              </a:rPr>
              <a:t>m</a:t>
            </a:r>
            <a:r>
              <a:rPr lang="en-US" altLang="ko-KR">
                <a:latin typeface="Times New Roman" pitchFamily="18" charset="0"/>
                <a:cs typeface="Times New Roman" pitchFamily="18" charset="0"/>
              </a:rPr>
              <a:t>sin(ωt), E</a:t>
            </a:r>
            <a:r>
              <a:rPr lang="en-US" altLang="ko-KR" baseline="-30000">
                <a:latin typeface="Times New Roman" pitchFamily="18" charset="0"/>
                <a:cs typeface="Times New Roman" pitchFamily="18" charset="0"/>
              </a:rPr>
              <a:t>m</a:t>
            </a:r>
            <a:r>
              <a:rPr lang="en-US" altLang="ko-KR">
                <a:latin typeface="Times New Roman" pitchFamily="18" charset="0"/>
                <a:cs typeface="Times New Roman" pitchFamily="18" charset="0"/>
              </a:rPr>
              <a:t>sin(ωt+θ) có hiệu số pha khoảng θ. </a:t>
            </a:r>
          </a:p>
          <a:p>
            <a:pPr eaLnBrk="1" latinLnBrk="1" hangingPunct="1">
              <a:lnSpc>
                <a:spcPct val="110000"/>
              </a:lnSpc>
            </a:pPr>
            <a:r>
              <a:rPr lang="en-US" altLang="ko-KR" b="1">
                <a:latin typeface="Times New Roman" pitchFamily="18" charset="0"/>
                <a:cs typeface="Times New Roman" pitchFamily="18" charset="0"/>
              </a:rPr>
              <a:t>Hàn Quốc có tần số sóng là 60[Hz], sóng 1 pha có tần số 180</a:t>
            </a:r>
            <a:r>
              <a:rPr lang="en-US" altLang="ko-KR" b="1" baseline="30000">
                <a:latin typeface="Times New Roman" pitchFamily="18" charset="0"/>
                <a:cs typeface="Times New Roman" pitchFamily="18" charset="0"/>
              </a:rPr>
              <a:t>o</a:t>
            </a:r>
            <a:r>
              <a:rPr lang="en-US" altLang="ko-KR" b="1" baseline="-30000">
                <a:latin typeface="Times New Roman" pitchFamily="18" charset="0"/>
                <a:cs typeface="Times New Roman" pitchFamily="18" charset="0"/>
              </a:rPr>
              <a:t>, </a:t>
            </a:r>
            <a:r>
              <a:rPr lang="en-US" altLang="ko-KR" b="1">
                <a:latin typeface="Times New Roman" pitchFamily="18" charset="0"/>
                <a:cs typeface="Times New Roman" pitchFamily="18" charset="0"/>
              </a:rPr>
              <a:t>3</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pha là 120</a:t>
            </a:r>
            <a:r>
              <a:rPr lang="en-US" altLang="ko-KR" b="1" baseline="30000">
                <a:latin typeface="Times New Roman" pitchFamily="18" charset="0"/>
                <a:cs typeface="Times New Roman" pitchFamily="18" charset="0"/>
              </a:rPr>
              <a:t>o</a:t>
            </a:r>
            <a:r>
              <a:rPr lang="en-US" altLang="ko-KR">
                <a:latin typeface="Times New Roman" pitchFamily="18" charset="0"/>
                <a:cs typeface="Times New Roman" pitchFamily="18" charset="0"/>
              </a:rPr>
              <a:t>. Vì trong sóng 3 pha xoay chiều vị trí cuộn dây đồng phát điện đạt 120</a:t>
            </a:r>
            <a:r>
              <a:rPr lang="en-US" altLang="ko-KR" baseline="30000">
                <a:latin typeface="Times New Roman" pitchFamily="18" charset="0"/>
                <a:cs typeface="Times New Roman" pitchFamily="18" charset="0"/>
              </a:rPr>
              <a:t>o</a:t>
            </a:r>
            <a:r>
              <a:rPr lang="en-US" altLang="ko-KR">
                <a:latin typeface="Times New Roman" pitchFamily="18" charset="0"/>
                <a:cs typeface="Times New Roman" pitchFamily="18" charset="0"/>
              </a:rPr>
              <a:t>(2π/3radian) nên phát sinh điện áp 3 pha sóng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từng pha đạt hiệu số pha là120</a:t>
            </a:r>
            <a:r>
              <a:rPr lang="en-US" altLang="ko-KR" baseline="30000">
                <a:latin typeface="Times New Roman" pitchFamily="18" charset="0"/>
                <a:cs typeface="Times New Roman" pitchFamily="18" charset="0"/>
              </a:rPr>
              <a:t>o</a:t>
            </a:r>
            <a:r>
              <a:rPr lang="en-US" altLang="ko-KR">
                <a:latin typeface="Times New Roman" pitchFamily="18" charset="0"/>
                <a:cs typeface="Times New Roman" pitchFamily="18" charset="0"/>
              </a:rPr>
              <a:t>. </a:t>
            </a:r>
          </a:p>
          <a:p>
            <a:pPr eaLnBrk="1" latinLnBrk="1" hangingPunct="1">
              <a:lnSpc>
                <a:spcPct val="110000"/>
              </a:lnSpc>
            </a:pPr>
            <a:r>
              <a:rPr lang="en-US" altLang="ko-KR">
                <a:latin typeface="Times New Roman" pitchFamily="18" charset="0"/>
                <a:cs typeface="Times New Roman" pitchFamily="18" charset="0"/>
              </a:rPr>
              <a:t>Giá trị tức thời của điện áp xoay chiều được biểu thị là E</a:t>
            </a:r>
            <a:r>
              <a:rPr lang="en-US" altLang="ko-KR" baseline="-30000">
                <a:latin typeface="Times New Roman" pitchFamily="18" charset="0"/>
                <a:cs typeface="Times New Roman" pitchFamily="18" charset="0"/>
              </a:rPr>
              <a:t>m</a:t>
            </a:r>
            <a:r>
              <a:rPr lang="en-US" altLang="ko-KR">
                <a:latin typeface="Times New Roman" pitchFamily="18" charset="0"/>
                <a:cs typeface="Times New Roman" pitchFamily="18" charset="0"/>
              </a:rPr>
              <a:t>sinωt, vì E</a:t>
            </a:r>
            <a:r>
              <a:rPr lang="en-US" altLang="ko-KR" baseline="-30000">
                <a:latin typeface="Times New Roman" pitchFamily="18" charset="0"/>
                <a:cs typeface="Times New Roman" pitchFamily="18" charset="0"/>
              </a:rPr>
              <a:t>m</a:t>
            </a:r>
            <a:r>
              <a:rPr lang="en-US" altLang="ko-KR">
                <a:latin typeface="Times New Roman" pitchFamily="18" charset="0"/>
                <a:cs typeface="Times New Roman" pitchFamily="18" charset="0"/>
              </a:rPr>
              <a:t> sử dụng giá trị hiệu dụng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(E</a:t>
            </a:r>
            <a:r>
              <a:rPr lang="en-US" altLang="ko-KR" baseline="-25000">
                <a:latin typeface="Times New Roman" pitchFamily="18" charset="0"/>
                <a:cs typeface="Times New Roman" pitchFamily="18" charset="0"/>
              </a:rPr>
              <a:t>rms) </a:t>
            </a:r>
            <a:r>
              <a:rPr lang="en-US" altLang="ko-KR">
                <a:latin typeface="Times New Roman" pitchFamily="18" charset="0"/>
                <a:cs typeface="Times New Roman" pitchFamily="18" charset="0"/>
              </a:rPr>
              <a:t>bằng giá trị lớn nhất ở đồng hồ đo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nó là giá trị liên quan đến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2 lần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của giá trị đo đồng hồ. </a:t>
            </a:r>
          </a:p>
        </p:txBody>
      </p:sp>
      <p:pic>
        <p:nvPicPr>
          <p:cNvPr id="23560"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0063" y="5715000"/>
            <a:ext cx="1439862"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61" name="직사각형 1"/>
          <p:cNvSpPr>
            <a:spLocks noChangeArrowheads="1"/>
          </p:cNvSpPr>
          <p:nvPr/>
        </p:nvSpPr>
        <p:spPr bwMode="auto">
          <a:xfrm>
            <a:off x="620713" y="2708275"/>
            <a:ext cx="576262"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Dòng điện</a:t>
            </a:r>
          </a:p>
          <a:p>
            <a:pPr eaLnBrk="1" hangingPunct="1"/>
            <a:r>
              <a:rPr lang="en-US" altLang="ko-KR" sz="700">
                <a:latin typeface="Times New Roman" pitchFamily="18" charset="0"/>
                <a:cs typeface="Times New Roman" pitchFamily="18" charset="0"/>
              </a:rPr>
              <a:t>Điện áp</a:t>
            </a:r>
            <a:endParaRPr lang="ko-KR" altLang="en-US" sz="700">
              <a:latin typeface="Times New Roman" pitchFamily="18" charset="0"/>
              <a:cs typeface="Times New Roman" pitchFamily="18" charset="0"/>
            </a:endParaRPr>
          </a:p>
        </p:txBody>
      </p:sp>
      <p:sp>
        <p:nvSpPr>
          <p:cNvPr id="23562" name="직사각형 9"/>
          <p:cNvSpPr>
            <a:spLocks noChangeArrowheads="1"/>
          </p:cNvSpPr>
          <p:nvPr/>
        </p:nvSpPr>
        <p:spPr bwMode="auto">
          <a:xfrm>
            <a:off x="2339975" y="2365375"/>
            <a:ext cx="576263"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Dòng điện</a:t>
            </a:r>
          </a:p>
          <a:p>
            <a:pPr eaLnBrk="1" hangingPunct="1"/>
            <a:r>
              <a:rPr lang="en-US" altLang="ko-KR" sz="700">
                <a:latin typeface="Times New Roman" pitchFamily="18" charset="0"/>
                <a:cs typeface="Times New Roman" pitchFamily="18" charset="0"/>
              </a:rPr>
              <a:t>Điện áp</a:t>
            </a:r>
            <a:endParaRPr lang="ko-KR" altLang="en-US" sz="700">
              <a:latin typeface="Times New Roman" pitchFamily="18" charset="0"/>
              <a:cs typeface="Times New Roman" pitchFamily="18" charset="0"/>
            </a:endParaRPr>
          </a:p>
        </p:txBody>
      </p:sp>
      <p:sp>
        <p:nvSpPr>
          <p:cNvPr id="23563" name="직사각형 10"/>
          <p:cNvSpPr>
            <a:spLocks noChangeArrowheads="1"/>
          </p:cNvSpPr>
          <p:nvPr/>
        </p:nvSpPr>
        <p:spPr bwMode="auto">
          <a:xfrm>
            <a:off x="1403350" y="3716338"/>
            <a:ext cx="1143000" cy="2174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Hình a) Dòng thẳng</a:t>
            </a:r>
            <a:endParaRPr lang="ko-KR" altLang="en-US" sz="1000">
              <a:latin typeface="Times New Roman" pitchFamily="18" charset="0"/>
              <a:cs typeface="Times New Roman" pitchFamily="18" charset="0"/>
            </a:endParaRPr>
          </a:p>
        </p:txBody>
      </p:sp>
      <p:sp>
        <p:nvSpPr>
          <p:cNvPr id="23564" name="직사각형 11"/>
          <p:cNvSpPr>
            <a:spLocks noChangeArrowheads="1"/>
          </p:cNvSpPr>
          <p:nvPr/>
        </p:nvSpPr>
        <p:spPr bwMode="auto">
          <a:xfrm>
            <a:off x="2952750" y="3698875"/>
            <a:ext cx="114300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Hình b) Dòng mạch</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4F9882F-A5CA-4AA4-AD21-6FF8079D1613}" type="slidenum">
              <a:rPr lang="en-US" altLang="ko-KR" sz="1400" smtClean="0">
                <a:latin typeface="Times New Roman" pitchFamily="18" charset="0"/>
                <a:cs typeface="Times New Roman" pitchFamily="18" charset="0"/>
              </a:rPr>
              <a:pPr eaLnBrk="1" hangingPunct="1"/>
              <a:t>19</a:t>
            </a:fld>
            <a:endParaRPr lang="en-US" altLang="ko-KR" sz="1400" smtClean="0">
              <a:latin typeface="Times New Roman" pitchFamily="18" charset="0"/>
              <a:cs typeface="Times New Roman" pitchFamily="18" charset="0"/>
            </a:endParaRPr>
          </a:p>
        </p:txBody>
      </p:sp>
      <p:sp>
        <p:nvSpPr>
          <p:cNvPr id="24579" name="Text Box 2"/>
          <p:cNvSpPr txBox="1">
            <a:spLocks noChangeArrowheads="1"/>
          </p:cNvSpPr>
          <p:nvPr/>
        </p:nvSpPr>
        <p:spPr bwMode="auto">
          <a:xfrm>
            <a:off x="684213" y="892175"/>
            <a:ext cx="11398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1-5. Tiếp địa</a:t>
            </a:r>
            <a:endParaRPr lang="ko-KR" altLang="en-US" sz="1400" b="1">
              <a:latin typeface="Times New Roman" pitchFamily="18" charset="0"/>
              <a:cs typeface="Times New Roman" pitchFamily="18" charset="0"/>
            </a:endParaRPr>
          </a:p>
        </p:txBody>
      </p:sp>
      <p:sp>
        <p:nvSpPr>
          <p:cNvPr id="24580"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4581" name="Text Box 5"/>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24582"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Định nghĩa tiếp địa</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Trái đất vật chất lớn nhất tồn tại xung quanh chúng ta có khối lượng cực lớn khoảng 707[μF], bởi khối lượng trái đất lớn như vậy nên sự tiếp đất của dòng điện chỉ gây biến đổi điện thế cực kỳ nhỏ, do đó tất cả các mạch điện hay thiết bị điện đều tiếp đất tại một khoảng đất rộng(mặt đất) và đây trở thành lý do tiếp đất.</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Tiếp địa là việc sử dụng nhiều loại thiết bị điện, giàn hay chất dẫn để tiếp xúc điện hoàn toàn tại một khoảng đất rộng.</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Tiếp địa theo tiếng anh Âu là </a:t>
            </a:r>
            <a:r>
              <a:rPr lang="en-US" altLang="ko-KR" b="1">
                <a:latin typeface="Times New Roman" pitchFamily="18" charset="0"/>
                <a:cs typeface="Times New Roman" pitchFamily="18" charset="0"/>
              </a:rPr>
              <a:t>Earthing</a:t>
            </a:r>
            <a:r>
              <a:rPr lang="en-US" altLang="ko-KR">
                <a:latin typeface="Times New Roman" pitchFamily="18" charset="0"/>
                <a:cs typeface="Times New Roman" pitchFamily="18" charset="0"/>
              </a:rPr>
              <a:t> và tiếng anh Mỹ là  </a:t>
            </a:r>
            <a:r>
              <a:rPr lang="en-US" altLang="ko-KR" b="1">
                <a:latin typeface="Times New Roman" pitchFamily="18" charset="0"/>
                <a:cs typeface="Times New Roman" pitchFamily="18" charset="0"/>
              </a:rPr>
              <a:t>Grounding</a:t>
            </a:r>
            <a:r>
              <a:rPr lang="en-US" altLang="ko-KR">
                <a:latin typeface="Times New Roman" pitchFamily="18" charset="0"/>
                <a:cs typeface="Times New Roman" pitchFamily="18" charset="0"/>
              </a:rPr>
              <a:t>. Chính xác hơn, Earthing là lấy khoảng đất rộng(mặt đất) làm tiêu chuẩn điện áp còn Grounding là định nghĩa để chỉ tác động nhân tạo, các sự cố về mạch điện, thiết bị điện hay sự tiếp xúc dẫn với chất dẫn có dung tích tương đối lớn đảm nhận vai trò như khoảng đất lớn nên có thể sử dụng cả Earthing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Grounding.</a:t>
            </a:r>
          </a:p>
        </p:txBody>
      </p:sp>
      <p:sp>
        <p:nvSpPr>
          <p:cNvPr id="24583" name="Text Box 7"/>
          <p:cNvSpPr txBox="1">
            <a:spLocks noChangeArrowheads="1"/>
          </p:cNvSpPr>
          <p:nvPr/>
        </p:nvSpPr>
        <p:spPr bwMode="auto">
          <a:xfrm>
            <a:off x="2735263" y="5791200"/>
            <a:ext cx="33480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Ký hiệu tiếp địa IEC(Hội nghị tiêu chuẩn điện quốc tế)</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grpSp>
        <p:nvGrpSpPr>
          <p:cNvPr id="24584" name="Group 8"/>
          <p:cNvGrpSpPr>
            <a:grpSpLocks/>
          </p:cNvGrpSpPr>
          <p:nvPr/>
        </p:nvGrpSpPr>
        <p:grpSpPr bwMode="auto">
          <a:xfrm>
            <a:off x="3321050" y="4724400"/>
            <a:ext cx="2220913" cy="931863"/>
            <a:chOff x="1583" y="3072"/>
            <a:chExt cx="1291" cy="587"/>
          </a:xfrm>
        </p:grpSpPr>
        <p:sp>
          <p:nvSpPr>
            <p:cNvPr id="24585" name="Text Box 9"/>
            <p:cNvSpPr txBox="1">
              <a:spLocks noChangeArrowheads="1"/>
            </p:cNvSpPr>
            <p:nvPr/>
          </p:nvSpPr>
          <p:spPr bwMode="auto">
            <a:xfrm>
              <a:off x="1583" y="3504"/>
              <a:ext cx="455"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(a) earthing</a:t>
              </a:r>
            </a:p>
          </p:txBody>
        </p:sp>
        <p:grpSp>
          <p:nvGrpSpPr>
            <p:cNvPr id="24586" name="Group 10"/>
            <p:cNvGrpSpPr>
              <a:grpSpLocks/>
            </p:cNvGrpSpPr>
            <p:nvPr/>
          </p:nvGrpSpPr>
          <p:grpSpPr bwMode="auto">
            <a:xfrm>
              <a:off x="1680" y="3072"/>
              <a:ext cx="1056" cy="336"/>
              <a:chOff x="1680" y="3072"/>
              <a:chExt cx="1056" cy="336"/>
            </a:xfrm>
          </p:grpSpPr>
          <p:sp>
            <p:nvSpPr>
              <p:cNvPr id="24588" name="Line 11"/>
              <p:cNvSpPr>
                <a:spLocks noChangeShapeType="1"/>
              </p:cNvSpPr>
              <p:nvPr/>
            </p:nvSpPr>
            <p:spPr bwMode="auto">
              <a:xfrm>
                <a:off x="2592" y="30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89" name="Line 12"/>
              <p:cNvSpPr>
                <a:spLocks noChangeShapeType="1"/>
              </p:cNvSpPr>
              <p:nvPr/>
            </p:nvSpPr>
            <p:spPr bwMode="auto">
              <a:xfrm>
                <a:off x="2448" y="331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0" name="Line 13"/>
              <p:cNvSpPr>
                <a:spLocks noChangeShapeType="1"/>
              </p:cNvSpPr>
              <p:nvPr/>
            </p:nvSpPr>
            <p:spPr bwMode="auto">
              <a:xfrm flipH="1">
                <a:off x="2496" y="33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1" name="Line 14"/>
              <p:cNvSpPr>
                <a:spLocks noChangeShapeType="1"/>
              </p:cNvSpPr>
              <p:nvPr/>
            </p:nvSpPr>
            <p:spPr bwMode="auto">
              <a:xfrm flipH="1">
                <a:off x="2544" y="33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2" name="Line 15"/>
              <p:cNvSpPr>
                <a:spLocks noChangeShapeType="1"/>
              </p:cNvSpPr>
              <p:nvPr/>
            </p:nvSpPr>
            <p:spPr bwMode="auto">
              <a:xfrm flipH="1">
                <a:off x="2592" y="33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3" name="Line 16"/>
              <p:cNvSpPr>
                <a:spLocks noChangeShapeType="1"/>
              </p:cNvSpPr>
              <p:nvPr/>
            </p:nvSpPr>
            <p:spPr bwMode="auto">
              <a:xfrm flipH="1">
                <a:off x="2448" y="33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4" name="Line 17"/>
              <p:cNvSpPr>
                <a:spLocks noChangeShapeType="1"/>
              </p:cNvSpPr>
              <p:nvPr/>
            </p:nvSpPr>
            <p:spPr bwMode="auto">
              <a:xfrm flipH="1">
                <a:off x="2400" y="33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5" name="Line 18"/>
              <p:cNvSpPr>
                <a:spLocks noChangeShapeType="1"/>
              </p:cNvSpPr>
              <p:nvPr/>
            </p:nvSpPr>
            <p:spPr bwMode="auto">
              <a:xfrm>
                <a:off x="1824" y="30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6" name="Line 19"/>
              <p:cNvSpPr>
                <a:spLocks noChangeShapeType="1"/>
              </p:cNvSpPr>
              <p:nvPr/>
            </p:nvSpPr>
            <p:spPr bwMode="auto">
              <a:xfrm>
                <a:off x="1680" y="3312"/>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7" name="Line 20"/>
              <p:cNvSpPr>
                <a:spLocks noChangeShapeType="1"/>
              </p:cNvSpPr>
              <p:nvPr/>
            </p:nvSpPr>
            <p:spPr bwMode="auto">
              <a:xfrm>
                <a:off x="1728" y="336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4598" name="Line 21"/>
              <p:cNvSpPr>
                <a:spLocks noChangeShapeType="1"/>
              </p:cNvSpPr>
              <p:nvPr/>
            </p:nvSpPr>
            <p:spPr bwMode="auto">
              <a:xfrm>
                <a:off x="1776" y="34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24587" name="Text Box 22"/>
            <p:cNvSpPr txBox="1">
              <a:spLocks noChangeArrowheads="1"/>
            </p:cNvSpPr>
            <p:nvPr/>
          </p:nvSpPr>
          <p:spPr bwMode="auto">
            <a:xfrm>
              <a:off x="2354" y="3504"/>
              <a:ext cx="52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(b) grounding</a:t>
              </a:r>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4787D61-D32C-40D0-B810-03A61D051A48}" type="slidenum">
              <a:rPr lang="en-US" altLang="ko-KR" sz="1400" smtClean="0">
                <a:latin typeface="Times New Roman" pitchFamily="18" charset="0"/>
                <a:cs typeface="Times New Roman" pitchFamily="18" charset="0"/>
              </a:rPr>
              <a:pPr eaLnBrk="1" hangingPunct="1"/>
              <a:t>20</a:t>
            </a:fld>
            <a:endParaRPr lang="en-US" altLang="ko-KR" sz="1400" smtClean="0">
              <a:latin typeface="Times New Roman" pitchFamily="18" charset="0"/>
              <a:cs typeface="Times New Roman" pitchFamily="18" charset="0"/>
            </a:endParaRPr>
          </a:p>
        </p:txBody>
      </p:sp>
      <p:sp>
        <p:nvSpPr>
          <p:cNvPr id="2560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560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(2) Nguyên lý tiếp địa</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Tiếp địa về cơ bản là sự tiếp xúc một đầu dòng điện xuống đất. Tức là, tiếp xúc điện với mặt đất của vật làm bằng sắt có tính dẫn điện và có điện thế bằng điện thế mặt đất hay nói cách khác là khiến hiệu điện thế có giá trị nhỏ nhất.</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Điện cực tiếp đất</a:t>
            </a:r>
            <a:r>
              <a:rPr lang="en-US" altLang="ko-KR">
                <a:latin typeface="Times New Roman" pitchFamily="18" charset="0"/>
                <a:cs typeface="Times New Roman" pitchFamily="18" charset="0"/>
              </a:rPr>
              <a:t>(grounding electrode) là đầu đảm nhận</a:t>
            </a:r>
          </a:p>
          <a:p>
            <a:pPr eaLnBrk="1" hangingPunct="1"/>
            <a:r>
              <a:rPr lang="en-US" altLang="ko-KR">
                <a:latin typeface="Times New Roman" pitchFamily="18" charset="0"/>
                <a:cs typeface="Times New Roman" pitchFamily="18" charset="0"/>
              </a:rPr>
              <a:t> nhiệm vụ tiếp đất của vật kim loại, thường được sử dụng</a:t>
            </a:r>
          </a:p>
          <a:p>
            <a:pPr eaLnBrk="1" hangingPunct="1"/>
            <a:r>
              <a:rPr lang="en-US" altLang="ko-KR">
                <a:latin typeface="Times New Roman" pitchFamily="18" charset="0"/>
                <a:cs typeface="Times New Roman" pitchFamily="18" charset="0"/>
              </a:rPr>
              <a:t> cho chất dẫn được lắp đặt trong lòng đất.</a:t>
            </a:r>
          </a:p>
          <a:p>
            <a:pPr eaLnBrk="1" hangingPunct="1"/>
            <a:r>
              <a:rPr lang="en-US" altLang="ko-KR">
                <a:latin typeface="Times New Roman" pitchFamily="18" charset="0"/>
                <a:cs typeface="Times New Roman" pitchFamily="18" charset="0"/>
              </a:rPr>
              <a:t> Đường nối điện cực tiếp đất và thiết bị cần tiếp đất được</a:t>
            </a:r>
          </a:p>
          <a:p>
            <a:pPr eaLnBrk="1" hangingPunct="1"/>
            <a:r>
              <a:rPr lang="en-US" altLang="ko-KR">
                <a:latin typeface="Times New Roman" pitchFamily="18" charset="0"/>
                <a:cs typeface="Times New Roman" pitchFamily="18" charset="0"/>
              </a:rPr>
              <a:t> được gọi là </a:t>
            </a:r>
            <a:r>
              <a:rPr lang="en-US" altLang="ko-KR" b="1">
                <a:latin typeface="Times New Roman" pitchFamily="18" charset="0"/>
                <a:cs typeface="Times New Roman" pitchFamily="18" charset="0"/>
              </a:rPr>
              <a:t>dây tiếp đất </a:t>
            </a:r>
            <a:r>
              <a:rPr lang="en-US" altLang="ko-KR">
                <a:latin typeface="Times New Roman" pitchFamily="18" charset="0"/>
                <a:cs typeface="Times New Roman" pitchFamily="18" charset="0"/>
              </a:rPr>
              <a:t>hay </a:t>
            </a:r>
            <a:r>
              <a:rPr lang="en-US" altLang="ko-KR" b="1">
                <a:latin typeface="Times New Roman" pitchFamily="18" charset="0"/>
                <a:cs typeface="Times New Roman" pitchFamily="18" charset="0"/>
              </a:rPr>
              <a:t>đường tiếp đất </a:t>
            </a:r>
            <a:r>
              <a:rPr lang="en-US" altLang="ko-KR">
                <a:latin typeface="Times New Roman" pitchFamily="18" charset="0"/>
                <a:cs typeface="Times New Roman" pitchFamily="18" charset="0"/>
              </a:rPr>
              <a:t>(grounding</a:t>
            </a:r>
          </a:p>
          <a:p>
            <a:pPr eaLnBrk="1" hangingPunct="1"/>
            <a:r>
              <a:rPr lang="en-US" altLang="ko-KR">
                <a:latin typeface="Times New Roman" pitchFamily="18" charset="0"/>
                <a:cs typeface="Times New Roman" pitchFamily="18" charset="0"/>
              </a:rPr>
              <a:t> conductor).</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Thêm vào đó, dây nối điện cực tiếp đất với cột thu lôi(phần</a:t>
            </a:r>
          </a:p>
          <a:p>
            <a:pPr eaLnBrk="1" hangingPunct="1"/>
            <a:r>
              <a:rPr lang="en-US" altLang="ko-KR">
                <a:latin typeface="Times New Roman" pitchFamily="18" charset="0"/>
                <a:cs typeface="Times New Roman" pitchFamily="18" charset="0"/>
              </a:rPr>
              <a:t> thu sét) được gọi là cột thu lôi hay dây dẫn ngầm(down </a:t>
            </a:r>
          </a:p>
          <a:p>
            <a:pPr eaLnBrk="1" hangingPunct="1"/>
            <a:r>
              <a:rPr lang="en-US" altLang="ko-KR">
                <a:latin typeface="Times New Roman" pitchFamily="18" charset="0"/>
                <a:cs typeface="Times New Roman" pitchFamily="18" charset="0"/>
              </a:rPr>
              <a:t> conductor). Và dòng điện đi vào đất thông qua dây tiếp địa</a:t>
            </a:r>
          </a:p>
          <a:p>
            <a:pPr eaLnBrk="1" hangingPunct="1"/>
            <a:r>
              <a:rPr lang="en-US" altLang="ko-KR">
                <a:latin typeface="Times New Roman" pitchFamily="18" charset="0"/>
                <a:cs typeface="Times New Roman" pitchFamily="18" charset="0"/>
              </a:rPr>
              <a:t> của thiết bị hay dụng cụ tiếp đất được gọi là </a:t>
            </a:r>
            <a:r>
              <a:rPr lang="en-US" altLang="ko-KR" b="1">
                <a:latin typeface="Times New Roman" pitchFamily="18" charset="0"/>
                <a:cs typeface="Times New Roman" pitchFamily="18" charset="0"/>
              </a:rPr>
              <a:t>dòng điện tiếp</a:t>
            </a:r>
          </a:p>
          <a:p>
            <a:pPr eaLnBrk="1" hangingPunct="1"/>
            <a:r>
              <a:rPr lang="en-US" altLang="ko-KR" b="1">
                <a:latin typeface="Times New Roman" pitchFamily="18" charset="0"/>
                <a:cs typeface="Times New Roman" pitchFamily="18" charset="0"/>
              </a:rPr>
              <a:t> đất</a:t>
            </a:r>
            <a:r>
              <a:rPr lang="en-US" altLang="ko-KR">
                <a:latin typeface="Times New Roman" pitchFamily="18" charset="0"/>
                <a:cs typeface="Times New Roman" pitchFamily="18" charset="0"/>
              </a:rPr>
              <a:t>(ground current).</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Điện cực tiếp đất được nối trực tiếp xuống đất và thổ nhưỡng của đất bao gồm hạt thổ nhưỡng, nước và không khí vv..  </a:t>
            </a:r>
          </a:p>
          <a:p>
            <a:pPr eaLnBrk="1" hangingPunct="1"/>
            <a:r>
              <a:rPr lang="en-US" altLang="ko-KR">
                <a:latin typeface="Times New Roman" pitchFamily="18" charset="0"/>
                <a:cs typeface="Times New Roman" pitchFamily="18" charset="0"/>
              </a:rPr>
              <a:t>Hạt thổ nhưỡng, nước, không khí hay thổ nhưỡng hỗn hợp có tính năng khác với điện cực tiếp đất được tạo thành bởi kim loại. Việc nối chính xác hai hoặc nhiều hơn hai vật có tính năng như vậy không phải việc dễ dàng. Mức độ của trạng thái điện cực tiếp đất được biểu hiện bằng cách sử dụng </a:t>
            </a:r>
            <a:r>
              <a:rPr lang="en-US" altLang="ko-KR" b="1">
                <a:latin typeface="Times New Roman" pitchFamily="18" charset="0"/>
                <a:cs typeface="Times New Roman" pitchFamily="18" charset="0"/>
              </a:rPr>
              <a:t>điện trở tiếp đất</a:t>
            </a:r>
            <a:r>
              <a:rPr lang="en-US" altLang="ko-KR">
                <a:latin typeface="Times New Roman" pitchFamily="18" charset="0"/>
                <a:cs typeface="Times New Roman" pitchFamily="18" charset="0"/>
              </a:rPr>
              <a:t>(ground resistance) bằng với chỉ tiêu định lượng.</a:t>
            </a:r>
          </a:p>
        </p:txBody>
      </p:sp>
      <p:sp>
        <p:nvSpPr>
          <p:cNvPr id="25605"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25606" name="Text Box 5"/>
          <p:cNvSpPr txBox="1">
            <a:spLocks noChangeArrowheads="1"/>
          </p:cNvSpPr>
          <p:nvPr/>
        </p:nvSpPr>
        <p:spPr bwMode="auto">
          <a:xfrm>
            <a:off x="5840413" y="4479925"/>
            <a:ext cx="1236662"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b="1">
                <a:latin typeface="Times New Roman" pitchFamily="18" charset="0"/>
                <a:cs typeface="Times New Roman" pitchFamily="18" charset="0"/>
              </a:rPr>
              <a:t>&lt; Cấu tạo tiếp địa&gt;</a:t>
            </a:r>
          </a:p>
        </p:txBody>
      </p:sp>
      <p:grpSp>
        <p:nvGrpSpPr>
          <p:cNvPr id="25607" name="Group 6"/>
          <p:cNvGrpSpPr>
            <a:grpSpLocks/>
          </p:cNvGrpSpPr>
          <p:nvPr/>
        </p:nvGrpSpPr>
        <p:grpSpPr bwMode="auto">
          <a:xfrm>
            <a:off x="4716463" y="2133600"/>
            <a:ext cx="3324225" cy="2286000"/>
            <a:chOff x="3312" y="1248"/>
            <a:chExt cx="1933" cy="1440"/>
          </a:xfrm>
        </p:grpSpPr>
        <p:grpSp>
          <p:nvGrpSpPr>
            <p:cNvPr id="25608" name="Group 7"/>
            <p:cNvGrpSpPr>
              <a:grpSpLocks/>
            </p:cNvGrpSpPr>
            <p:nvPr/>
          </p:nvGrpSpPr>
          <p:grpSpPr bwMode="auto">
            <a:xfrm>
              <a:off x="3408" y="1325"/>
              <a:ext cx="1837" cy="1329"/>
              <a:chOff x="2832" y="1997"/>
              <a:chExt cx="1837" cy="1329"/>
            </a:xfrm>
          </p:grpSpPr>
          <p:grpSp>
            <p:nvGrpSpPr>
              <p:cNvPr id="25610" name="Group 8"/>
              <p:cNvGrpSpPr>
                <a:grpSpLocks/>
              </p:cNvGrpSpPr>
              <p:nvPr/>
            </p:nvGrpSpPr>
            <p:grpSpPr bwMode="auto">
              <a:xfrm>
                <a:off x="2832" y="2016"/>
                <a:ext cx="1728" cy="1296"/>
                <a:chOff x="1440" y="1968"/>
                <a:chExt cx="1728" cy="1296"/>
              </a:xfrm>
            </p:grpSpPr>
            <p:sp>
              <p:nvSpPr>
                <p:cNvPr id="25615" name="Oval 9"/>
                <p:cNvSpPr>
                  <a:spLocks noChangeArrowheads="1"/>
                </p:cNvSpPr>
                <p:nvPr/>
              </p:nvSpPr>
              <p:spPr bwMode="auto">
                <a:xfrm>
                  <a:off x="2064" y="1968"/>
                  <a:ext cx="480"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5616" name="Rectangle 10" descr="물결"/>
                <p:cNvSpPr>
                  <a:spLocks noChangeArrowheads="1"/>
                </p:cNvSpPr>
                <p:nvPr/>
              </p:nvSpPr>
              <p:spPr bwMode="auto">
                <a:xfrm>
                  <a:off x="1872" y="2544"/>
                  <a:ext cx="864" cy="192"/>
                </a:xfrm>
                <a:prstGeom prst="rect">
                  <a:avLst/>
                </a:prstGeom>
                <a:pattFill prst="wave">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5617" name="Line 11"/>
                <p:cNvSpPr>
                  <a:spLocks noChangeShapeType="1"/>
                </p:cNvSpPr>
                <p:nvPr/>
              </p:nvSpPr>
              <p:spPr bwMode="auto">
                <a:xfrm flipV="1">
                  <a:off x="1872" y="2160"/>
                  <a:ext cx="19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18" name="Line 12"/>
                <p:cNvSpPr>
                  <a:spLocks noChangeShapeType="1"/>
                </p:cNvSpPr>
                <p:nvPr/>
              </p:nvSpPr>
              <p:spPr bwMode="auto">
                <a:xfrm>
                  <a:off x="2544" y="2160"/>
                  <a:ext cx="19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19" name="Line 13"/>
                <p:cNvSpPr>
                  <a:spLocks noChangeShapeType="1"/>
                </p:cNvSpPr>
                <p:nvPr/>
              </p:nvSpPr>
              <p:spPr bwMode="auto">
                <a:xfrm>
                  <a:off x="1440" y="2736"/>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0" name="Line 14"/>
                <p:cNvSpPr>
                  <a:spLocks noChangeShapeType="1"/>
                </p:cNvSpPr>
                <p:nvPr/>
              </p:nvSpPr>
              <p:spPr bwMode="auto">
                <a:xfrm flipH="1">
                  <a:off x="1488"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1" name="Line 15"/>
                <p:cNvSpPr>
                  <a:spLocks noChangeShapeType="1"/>
                </p:cNvSpPr>
                <p:nvPr/>
              </p:nvSpPr>
              <p:spPr bwMode="auto">
                <a:xfrm flipH="1">
                  <a:off x="1632"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2" name="Line 16"/>
                <p:cNvSpPr>
                  <a:spLocks noChangeShapeType="1"/>
                </p:cNvSpPr>
                <p:nvPr/>
              </p:nvSpPr>
              <p:spPr bwMode="auto">
                <a:xfrm flipH="1">
                  <a:off x="1776"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3" name="Line 17"/>
                <p:cNvSpPr>
                  <a:spLocks noChangeShapeType="1"/>
                </p:cNvSpPr>
                <p:nvPr/>
              </p:nvSpPr>
              <p:spPr bwMode="auto">
                <a:xfrm flipH="1">
                  <a:off x="1920"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4" name="Line 18"/>
                <p:cNvSpPr>
                  <a:spLocks noChangeShapeType="1"/>
                </p:cNvSpPr>
                <p:nvPr/>
              </p:nvSpPr>
              <p:spPr bwMode="auto">
                <a:xfrm flipH="1">
                  <a:off x="2064"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5" name="Line 19"/>
                <p:cNvSpPr>
                  <a:spLocks noChangeShapeType="1"/>
                </p:cNvSpPr>
                <p:nvPr/>
              </p:nvSpPr>
              <p:spPr bwMode="auto">
                <a:xfrm flipH="1">
                  <a:off x="2208"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6" name="Line 20"/>
                <p:cNvSpPr>
                  <a:spLocks noChangeShapeType="1"/>
                </p:cNvSpPr>
                <p:nvPr/>
              </p:nvSpPr>
              <p:spPr bwMode="auto">
                <a:xfrm flipH="1">
                  <a:off x="2352"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7" name="Line 21"/>
                <p:cNvSpPr>
                  <a:spLocks noChangeShapeType="1"/>
                </p:cNvSpPr>
                <p:nvPr/>
              </p:nvSpPr>
              <p:spPr bwMode="auto">
                <a:xfrm flipH="1">
                  <a:off x="2496"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8" name="Line 22"/>
                <p:cNvSpPr>
                  <a:spLocks noChangeShapeType="1"/>
                </p:cNvSpPr>
                <p:nvPr/>
              </p:nvSpPr>
              <p:spPr bwMode="auto">
                <a:xfrm flipH="1">
                  <a:off x="2640"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29" name="Line 23"/>
                <p:cNvSpPr>
                  <a:spLocks noChangeShapeType="1"/>
                </p:cNvSpPr>
                <p:nvPr/>
              </p:nvSpPr>
              <p:spPr bwMode="auto">
                <a:xfrm flipH="1">
                  <a:off x="2784"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30" name="Line 24"/>
                <p:cNvSpPr>
                  <a:spLocks noChangeShapeType="1"/>
                </p:cNvSpPr>
                <p:nvPr/>
              </p:nvSpPr>
              <p:spPr bwMode="auto">
                <a:xfrm flipH="1">
                  <a:off x="2928" y="273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5631" name="AutoShape 25"/>
                <p:cNvSpPr>
                  <a:spLocks noChangeArrowheads="1"/>
                </p:cNvSpPr>
                <p:nvPr/>
              </p:nvSpPr>
              <p:spPr bwMode="auto">
                <a:xfrm rot="5400000">
                  <a:off x="2726" y="3000"/>
                  <a:ext cx="432" cy="96"/>
                </a:xfrm>
                <a:prstGeom prst="homePlate">
                  <a:avLst>
                    <a:gd name="adj" fmla="val 1125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5632" name="Freeform 26"/>
                <p:cNvSpPr>
                  <a:spLocks/>
                </p:cNvSpPr>
                <p:nvPr/>
              </p:nvSpPr>
              <p:spPr bwMode="auto">
                <a:xfrm>
                  <a:off x="2654" y="2400"/>
                  <a:ext cx="288" cy="432"/>
                </a:xfrm>
                <a:custGeom>
                  <a:avLst/>
                  <a:gdLst>
                    <a:gd name="T0" fmla="*/ 288 w 288"/>
                    <a:gd name="T1" fmla="*/ 432 h 432"/>
                    <a:gd name="T2" fmla="*/ 288 w 288"/>
                    <a:gd name="T3" fmla="*/ 0 h 432"/>
                    <a:gd name="T4" fmla="*/ 0 w 288"/>
                    <a:gd name="T5" fmla="*/ 0 h 432"/>
                    <a:gd name="T6" fmla="*/ 0 60000 65536"/>
                    <a:gd name="T7" fmla="*/ 0 60000 65536"/>
                    <a:gd name="T8" fmla="*/ 0 60000 65536"/>
                  </a:gdLst>
                  <a:ahLst/>
                  <a:cxnLst>
                    <a:cxn ang="T6">
                      <a:pos x="T0" y="T1"/>
                    </a:cxn>
                    <a:cxn ang="T7">
                      <a:pos x="T2" y="T3"/>
                    </a:cxn>
                    <a:cxn ang="T8">
                      <a:pos x="T4" y="T5"/>
                    </a:cxn>
                  </a:cxnLst>
                  <a:rect l="0" t="0" r="r" b="b"/>
                  <a:pathLst>
                    <a:path w="288" h="432">
                      <a:moveTo>
                        <a:pt x="288" y="432"/>
                      </a:moveTo>
                      <a:lnTo>
                        <a:pt x="288" y="0"/>
                      </a:lnTo>
                      <a:lnTo>
                        <a:pt x="0" y="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25611" name="Text Box 27"/>
              <p:cNvSpPr txBox="1">
                <a:spLocks noChangeArrowheads="1"/>
              </p:cNvSpPr>
              <p:nvPr/>
            </p:nvSpPr>
            <p:spPr bwMode="auto">
              <a:xfrm>
                <a:off x="3882" y="1997"/>
                <a:ext cx="705"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Thiết bị cần tiếp địa</a:t>
                </a:r>
                <a:endParaRPr lang="ko-KR" altLang="en-US" sz="1000">
                  <a:latin typeface="Times New Roman" pitchFamily="18" charset="0"/>
                  <a:cs typeface="Times New Roman" pitchFamily="18" charset="0"/>
                </a:endParaRPr>
              </a:p>
            </p:txBody>
          </p:sp>
          <p:sp>
            <p:nvSpPr>
              <p:cNvPr id="25612" name="Text Box 28"/>
              <p:cNvSpPr txBox="1">
                <a:spLocks noChangeArrowheads="1"/>
              </p:cNvSpPr>
              <p:nvPr/>
            </p:nvSpPr>
            <p:spPr bwMode="auto">
              <a:xfrm>
                <a:off x="4019" y="2304"/>
                <a:ext cx="47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Dây tiếp địa</a:t>
                </a:r>
                <a:endParaRPr lang="ko-KR" altLang="en-US" sz="1000">
                  <a:latin typeface="Times New Roman" pitchFamily="18" charset="0"/>
                  <a:cs typeface="Times New Roman" pitchFamily="18" charset="0"/>
                </a:endParaRPr>
              </a:p>
            </p:txBody>
          </p:sp>
          <p:sp>
            <p:nvSpPr>
              <p:cNvPr id="25613" name="Text Box 29"/>
              <p:cNvSpPr txBox="1">
                <a:spLocks noChangeArrowheads="1"/>
              </p:cNvSpPr>
              <p:nvPr/>
            </p:nvSpPr>
            <p:spPr bwMode="auto">
              <a:xfrm>
                <a:off x="4416" y="2880"/>
                <a:ext cx="25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Điện</a:t>
                </a:r>
              </a:p>
              <a:p>
                <a:pPr eaLnBrk="1" latinLnBrk="1" hangingPunct="1">
                  <a:lnSpc>
                    <a:spcPct val="100000"/>
                  </a:lnSpc>
                </a:pPr>
                <a:r>
                  <a:rPr lang="en-US" altLang="ko-KR" sz="1000">
                    <a:latin typeface="Times New Roman" pitchFamily="18" charset="0"/>
                    <a:cs typeface="Times New Roman" pitchFamily="18" charset="0"/>
                  </a:rPr>
                  <a:t> cực</a:t>
                </a:r>
              </a:p>
              <a:p>
                <a:pPr eaLnBrk="1" latinLnBrk="1" hangingPunct="1">
                  <a:lnSpc>
                    <a:spcPct val="100000"/>
                  </a:lnSpc>
                </a:pPr>
                <a:r>
                  <a:rPr lang="en-US" altLang="ko-KR" sz="1000">
                    <a:latin typeface="Times New Roman" pitchFamily="18" charset="0"/>
                    <a:cs typeface="Times New Roman" pitchFamily="18" charset="0"/>
                  </a:rPr>
                  <a:t> tiếp</a:t>
                </a:r>
              </a:p>
              <a:p>
                <a:pPr eaLnBrk="1" latinLnBrk="1" hangingPunct="1">
                  <a:lnSpc>
                    <a:spcPct val="100000"/>
                  </a:lnSpc>
                </a:pPr>
                <a:r>
                  <a:rPr lang="en-US" altLang="ko-KR" sz="1000">
                    <a:latin typeface="Times New Roman" pitchFamily="18" charset="0"/>
                    <a:cs typeface="Times New Roman" pitchFamily="18" charset="0"/>
                  </a:rPr>
                  <a:t> đất</a:t>
                </a:r>
                <a:endParaRPr lang="ko-KR" altLang="en-US" sz="1000">
                  <a:latin typeface="Times New Roman" pitchFamily="18" charset="0"/>
                  <a:cs typeface="Times New Roman" pitchFamily="18" charset="0"/>
                </a:endParaRPr>
              </a:p>
            </p:txBody>
          </p:sp>
          <p:sp>
            <p:nvSpPr>
              <p:cNvPr id="25614" name="Text Box 30"/>
              <p:cNvSpPr txBox="1">
                <a:spLocks noChangeArrowheads="1"/>
              </p:cNvSpPr>
              <p:nvPr/>
            </p:nvSpPr>
            <p:spPr bwMode="auto">
              <a:xfrm>
                <a:off x="3168" y="2880"/>
                <a:ext cx="338"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Mặt đất</a:t>
                </a:r>
                <a:endParaRPr lang="ko-KR" altLang="en-US" sz="1000">
                  <a:latin typeface="Times New Roman" pitchFamily="18" charset="0"/>
                  <a:cs typeface="Times New Roman" pitchFamily="18" charset="0"/>
                </a:endParaRPr>
              </a:p>
            </p:txBody>
          </p:sp>
        </p:grpSp>
        <p:sp>
          <p:nvSpPr>
            <p:cNvPr id="25609" name="Rectangle 31"/>
            <p:cNvSpPr>
              <a:spLocks noChangeArrowheads="1"/>
            </p:cNvSpPr>
            <p:nvPr/>
          </p:nvSpPr>
          <p:spPr bwMode="auto">
            <a:xfrm>
              <a:off x="3312" y="1248"/>
              <a:ext cx="1920" cy="14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4A0262D-8C37-4D79-ABCE-9205FE19821C}" type="slidenum">
              <a:rPr lang="en-US" altLang="ko-KR" sz="1400" smtClean="0">
                <a:latin typeface="Times New Roman" pitchFamily="18" charset="0"/>
                <a:cs typeface="Times New Roman" pitchFamily="18" charset="0"/>
              </a:rPr>
              <a:pPr eaLnBrk="1" hangingPunct="1"/>
              <a:t>21</a:t>
            </a:fld>
            <a:endParaRPr lang="en-US" altLang="ko-KR" sz="1400" smtClean="0">
              <a:latin typeface="Times New Roman" pitchFamily="18" charset="0"/>
              <a:cs typeface="Times New Roman" pitchFamily="18" charset="0"/>
            </a:endParaRPr>
          </a:p>
        </p:txBody>
      </p:sp>
      <p:sp>
        <p:nvSpPr>
          <p:cNvPr id="2662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662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Mục đích tiếp địa</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Mục đích lắp đặt hệ thống tiếp địa không chỉ để đảm bảo an toàn tính mạng con người và động vật mà còn ngăn ngừa hư hại và vận hành an toàn máy kiểm soát điện, điện tử hay viễn thông. Và theo định nghĩa chuyên ngành, là sự tiếp đất của thiết bị điện.</a:t>
            </a:r>
          </a:p>
          <a:p>
            <a:pPr eaLnBrk="1" hangingPunct="1"/>
            <a:r>
              <a:rPr lang="en-US" altLang="ko-KR">
                <a:latin typeface="Times New Roman" pitchFamily="18" charset="0"/>
                <a:cs typeface="Times New Roman" pitchFamily="18" charset="0"/>
              </a:rPr>
              <a:t>  Hệ thống tiếp địa đảm nhận hai mục đích như sau:</a:t>
            </a:r>
          </a:p>
          <a:p>
            <a:pPr eaLnBrk="1" hangingPunct="1"/>
            <a:r>
              <a:rPr lang="en-US" altLang="ko-KR">
                <a:latin typeface="Times New Roman" pitchFamily="18" charset="0"/>
                <a:cs typeface="Times New Roman" pitchFamily="18" charset="0"/>
              </a:rPr>
              <a:t>  Thứ nhất, bằng cách đưa các hiện tượng đột biến như là sự cố xảy ra trong hệ thống điện hay dòng điện lỗi do nguyên nhân phát sinh từ môi trường bên ngoài như bị sét đánh tiếp đất một cách hiệu quả đã đóng góp vào việc </a:t>
            </a:r>
            <a:r>
              <a:rPr lang="en-US" altLang="ko-KR" b="1">
                <a:latin typeface="Times New Roman" pitchFamily="18" charset="0"/>
                <a:cs typeface="Times New Roman" pitchFamily="18" charset="0"/>
              </a:rPr>
              <a:t>bảo vệ thiết bị </a:t>
            </a:r>
            <a:r>
              <a:rPr lang="en-US" altLang="ko-KR">
                <a:latin typeface="Times New Roman" pitchFamily="18" charset="0"/>
                <a:cs typeface="Times New Roman" pitchFamily="18" charset="0"/>
              </a:rPr>
              <a:t>ngăn thủng điện môi. Với khả năng ức chế sự tăng điện thế tiếp địa tại các điểm tiếp đất khi vô vàn các điểm tiêu chuẩn có điện thế bằng '0', nó đóng góp vào việc phòng chống tai nạn về người và bảo vệ an toàn. Thứ hai, đươc dùng trong hệ thống tiếp địa đảm bảo, đặc biệt trong trường hợp nối đất trực tiếp do điện trở tiêu chuẩn cần thiết để tiếp đất với điện thế bằng '0‘ nên </a:t>
            </a:r>
            <a:r>
              <a:rPr lang="en-US" altLang="ko-KR" b="1">
                <a:latin typeface="Times New Roman" pitchFamily="18" charset="0"/>
                <a:cs typeface="Times New Roman" pitchFamily="18" charset="0"/>
              </a:rPr>
              <a:t>việc cung cấp điện thế tiêu chuẩn</a:t>
            </a:r>
            <a:r>
              <a:rPr lang="en-US" altLang="ko-KR">
                <a:latin typeface="Times New Roman" pitchFamily="18" charset="0"/>
                <a:cs typeface="Times New Roman" pitchFamily="18" charset="0"/>
              </a:rPr>
              <a:t> thông qua tiếp địa chuẩn có khả năng tạo thành hệ thống quy mô lớn của các thiết bị điện-điện tử.</a:t>
            </a:r>
          </a:p>
          <a:p>
            <a:pPr eaLnBrk="1" hangingPunct="1"/>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    Cho đến nay nói đến tiếp địa người ta thường nghĩ đến cháy nổ hay điện giật do shock điện hay gây thiệt hại cho vật chất, ảnh hưởng đến việc bảo vệ não và cơ thể người. Theo đó, đánh giá thiết kế tiếp địa phụ thuộc vào mức độ kết hợp của cực tiếp địa tức là mặt đất và điện trở thấp. Thế nhưng, do sự đa dạng hóa của thiết bị cao độ hóa thông tin thời gian gần đây mà mục đích và chủng loại cũng trở nên đa dạng nên nếu chỉ đánh giá dựa vào sự tiếp địa đơn giản với điện trở thấp thì không đủ để đạt kết quả. Đặc biệt, dựa vào tiếp địa, do nhiễu và xung là vấn đề lớn nên nếu muốn đảm bảo khả năng hoạt động bình thường của thiết bị cần hiểu rõ sự quan trọng của việc tiếp địa cũng như cần những có những biện pháp đa dạng cho việc tiếp địa độc lập của từng mạch điện và trạng thái kết hợp cực tiếp địa cũng là yếu tố quan trọng không thể bỏ qua. Tóm lại, để đạt được mục đích như vậy, cần tạo ra những tiếp địa phù hợp và bảo vệ máy khỏi những xung điện từ.</a:t>
            </a:r>
          </a:p>
        </p:txBody>
      </p:sp>
      <p:sp>
        <p:nvSpPr>
          <p:cNvPr id="26629"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CD3BB0F-7434-46B1-AA88-2BEB8E8FB3F5}" type="slidenum">
              <a:rPr lang="en-US" altLang="ko-KR" sz="1400" smtClean="0">
                <a:latin typeface="Times New Roman" pitchFamily="18" charset="0"/>
                <a:cs typeface="Times New Roman" pitchFamily="18" charset="0"/>
              </a:rPr>
              <a:pPr eaLnBrk="1" hangingPunct="1"/>
              <a:t>22</a:t>
            </a:fld>
            <a:endParaRPr lang="en-US" altLang="ko-KR" sz="1400" smtClean="0">
              <a:latin typeface="Times New Roman" pitchFamily="18" charset="0"/>
              <a:cs typeface="Times New Roman" pitchFamily="18" charset="0"/>
            </a:endParaRPr>
          </a:p>
        </p:txBody>
      </p:sp>
      <p:sp>
        <p:nvSpPr>
          <p:cNvPr id="2765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765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4</a:t>
            </a:r>
            <a:r>
              <a:rPr lang="en-US" altLang="en-US" b="1">
                <a:latin typeface="Times New Roman" pitchFamily="18" charset="0"/>
                <a:cs typeface="Times New Roman" pitchFamily="18" charset="0"/>
              </a:rPr>
              <a:t>) Điện trở tiếp đất</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  Điện trở tiếp đất là điện trở nối trực tiếp với thổ nhưỡng của đất. Thổ nhưỡng cụ thể hơn là hạt đất, nước, không khí. Tiếp địa được chia thành hai loại là tiếp địa qua kim loại và tiếp địa trực tiếp qua thổ nhưỡng, và nơi chắc chắn tồn tại điện trở được gọi là điện trở tiếp đất.</a:t>
            </a:r>
          </a:p>
          <a:p>
            <a:pPr eaLnBrk="1" latinLnBrk="1" hangingPunct="1">
              <a:lnSpc>
                <a:spcPct val="100000"/>
              </a:lnSpc>
            </a:pPr>
            <a:r>
              <a:rPr lang="en-US" altLang="ko-KR">
                <a:latin typeface="Times New Roman" pitchFamily="18" charset="0"/>
                <a:cs typeface="Times New Roman" pitchFamily="18" charset="0"/>
              </a:rPr>
              <a:t>  Nói ngắn gọn là</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điện trở tiếp đất giữa mặt đất và điện cực nối đất</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hay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giá trị được chia ra từ sự tăng điện thế dòng điện cố định lưu thông trong khoảng tròn vừa đủ của cực tiếp địa của đối tượng đo bằng dòng điện mang tải</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Giá trị điện trở tiếp đất được xác định là tiêu chuẩn, quy luật tiêu chuẩn về an toàn điện và phải thích hợp với giá trị điện trở tiếp đất khi tiến hành tiếp địa của thiết bị điện. Điện trở tiếp đất có tính chất phức tạp hơn nhiều so với các loại điện trở cơ bản khác, do đó rất khó để tìm ra điện trở tiếp địa chính xác sau khi xuất hiện ảnh hưởng của nhân tố không xác định bên ngoài.</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Và về cơ bản, cho dù lắp đặt trên cùng một khoảng đất với độ lớn, hình thái điện cực tiếp đất tương đối giống nhau thì do giá trị điện trở cũng khác nhau. Điện trở tiếp đất được cấu tạo cụ thể như sau.  </a:t>
            </a:r>
            <a:r>
              <a:rPr lang="en-US" altLang="ko-KR" b="1" u="sng">
                <a:latin typeface="Times New Roman" pitchFamily="18" charset="0"/>
                <a:cs typeface="Times New Roman" pitchFamily="18" charset="0"/>
              </a:rPr>
              <a:t>(1) điểm tiếp địa, điện trở dẫn điện của điện cực tiếp đất (2) điện trở tiếp xúc giữa bề mặt điện cực và thổ nhưỡng tiếp xúc (3) điện trở của yếu tố đất xung quanh điện cực</a:t>
            </a:r>
            <a:r>
              <a:rPr lang="en-US" altLang="ko-KR">
                <a:latin typeface="Times New Roman" pitchFamily="18" charset="0"/>
                <a:cs typeface="Times New Roman" pitchFamily="18" charset="0"/>
              </a:rPr>
              <a:t>. Trong đó, (1) và (2) chiếm giá trị cực nhỏ dưới 10% và quan trọng nhất là (3) chính là tỷ lệ điện trở.</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p:txBody>
      </p:sp>
      <p:sp>
        <p:nvSpPr>
          <p:cNvPr id="27653"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27654" name="Text Box 5"/>
          <p:cNvSpPr txBox="1">
            <a:spLocks noChangeArrowheads="1"/>
          </p:cNvSpPr>
          <p:nvPr/>
        </p:nvSpPr>
        <p:spPr bwMode="auto">
          <a:xfrm>
            <a:off x="2319338" y="5949950"/>
            <a:ext cx="48609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Giá trị điện trở cách điện và ứng dụng thi công tiếp địa dựa theo phân loại máy tiếp địa</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graphicFrame>
        <p:nvGraphicFramePr>
          <p:cNvPr id="2449487" name="Group 79"/>
          <p:cNvGraphicFramePr>
            <a:graphicFrameLocks noGrp="1"/>
          </p:cNvGraphicFramePr>
          <p:nvPr/>
        </p:nvGraphicFramePr>
        <p:xfrm>
          <a:off x="1042988" y="4375150"/>
          <a:ext cx="7056437" cy="1584326"/>
        </p:xfrm>
        <a:graphic>
          <a:graphicData uri="http://schemas.openxmlformats.org/drawingml/2006/table">
            <a:tbl>
              <a:tblPr/>
              <a:tblGrid>
                <a:gridCol w="3024187"/>
                <a:gridCol w="2305050"/>
                <a:gridCol w="1727200"/>
              </a:tblGrid>
              <a:tr h="45720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thiết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bị</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địa</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Giá</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trị</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trở</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đất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[Ω]</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3762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dưới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400 [V]</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địa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3</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Dưới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100</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465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trên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400 [V]</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địa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3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biệt</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Dưới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10</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62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hoặc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cao</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đặc</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biệt</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địa</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Dưới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10</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4B73A7F-3268-4755-ADFA-5E7A378B63B8}" type="slidenum">
              <a:rPr lang="en-US" altLang="ko-KR" sz="1400" smtClean="0">
                <a:latin typeface="Times New Roman" pitchFamily="18" charset="0"/>
                <a:cs typeface="Times New Roman" pitchFamily="18" charset="0"/>
              </a:rPr>
              <a:pPr eaLnBrk="1" hangingPunct="1"/>
              <a:t>23</a:t>
            </a:fld>
            <a:endParaRPr lang="en-US" altLang="ko-KR" sz="1400" smtClean="0">
              <a:latin typeface="Times New Roman" pitchFamily="18" charset="0"/>
              <a:cs typeface="Times New Roman" pitchFamily="18" charset="0"/>
            </a:endParaRPr>
          </a:p>
        </p:txBody>
      </p:sp>
      <p:sp>
        <p:nvSpPr>
          <p:cNvPr id="2867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867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5</a:t>
            </a:r>
            <a:r>
              <a:rPr lang="en-US" altLang="en-US" b="1">
                <a:latin typeface="Times New Roman" pitchFamily="18" charset="0"/>
                <a:cs typeface="Times New Roman" pitchFamily="18" charset="0"/>
              </a:rPr>
              <a:t>) Đo điện trở tiếp địa</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Dùng điện trở tiếp địa kế Clamp để đo.</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Đo được khi đường không phải là đoạn cắt và </a:t>
            </a:r>
          </a:p>
          <a:p>
            <a:pPr eaLnBrk="1" hangingPunct="1"/>
            <a:r>
              <a:rPr lang="en-US" altLang="ko-KR">
                <a:latin typeface="Times New Roman" pitchFamily="18" charset="0"/>
                <a:cs typeface="Times New Roman" pitchFamily="18" charset="0"/>
              </a:rPr>
              <a:t> dùng thay cho </a:t>
            </a:r>
            <a:r>
              <a:rPr lang="en-US" altLang="ko-KR" u="sng">
                <a:latin typeface="Times New Roman" pitchFamily="18" charset="0"/>
                <a:cs typeface="Times New Roman" pitchFamily="18" charset="0"/>
              </a:rPr>
              <a:t>quy tắc đo 3 điểm</a:t>
            </a:r>
          </a:p>
        </p:txBody>
      </p:sp>
      <p:sp>
        <p:nvSpPr>
          <p:cNvPr id="28677"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pic>
        <p:nvPicPr>
          <p:cNvPr id="2867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2565400"/>
            <a:ext cx="1544637" cy="3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9" name="Picture 6"/>
          <p:cNvPicPr>
            <a:picLocks noChangeAspect="1" noChangeArrowheads="1"/>
          </p:cNvPicPr>
          <p:nvPr/>
        </p:nvPicPr>
        <p:blipFill>
          <a:blip r:embed="rId4">
            <a:extLst>
              <a:ext uri="{28A0092B-C50C-407E-A947-70E740481C1C}">
                <a14:useLocalDpi xmlns:a14="http://schemas.microsoft.com/office/drawing/2010/main" val="0"/>
              </a:ext>
            </a:extLst>
          </a:blip>
          <a:srcRect b="-104"/>
          <a:stretch>
            <a:fillRect/>
          </a:stretch>
        </p:blipFill>
        <p:spPr bwMode="auto">
          <a:xfrm>
            <a:off x="3924300" y="1484313"/>
            <a:ext cx="4608513" cy="241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80" name="Picture 7"/>
          <p:cNvPicPr>
            <a:picLocks noChangeAspect="1" noChangeArrowheads="1"/>
          </p:cNvPicPr>
          <p:nvPr/>
        </p:nvPicPr>
        <p:blipFill>
          <a:blip r:embed="rId5">
            <a:extLst>
              <a:ext uri="{28A0092B-C50C-407E-A947-70E740481C1C}">
                <a14:useLocalDpi xmlns:a14="http://schemas.microsoft.com/office/drawing/2010/main" val="0"/>
              </a:ext>
            </a:extLst>
          </a:blip>
          <a:srcRect b="-131"/>
          <a:stretch>
            <a:fillRect/>
          </a:stretch>
        </p:blipFill>
        <p:spPr bwMode="auto">
          <a:xfrm>
            <a:off x="3851275" y="4292600"/>
            <a:ext cx="4178300"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81" name="Text Box 8"/>
          <p:cNvSpPr txBox="1">
            <a:spLocks noChangeArrowheads="1"/>
          </p:cNvSpPr>
          <p:nvPr/>
        </p:nvSpPr>
        <p:spPr bwMode="auto">
          <a:xfrm>
            <a:off x="3975100" y="1208088"/>
            <a:ext cx="202723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&lt;Nguyên tắc đo điện trở tiếp địa&gt;</a:t>
            </a:r>
          </a:p>
        </p:txBody>
      </p:sp>
      <p:sp>
        <p:nvSpPr>
          <p:cNvPr id="28682" name="Text Box 9"/>
          <p:cNvSpPr txBox="1">
            <a:spLocks noChangeArrowheads="1"/>
          </p:cNvSpPr>
          <p:nvPr/>
        </p:nvSpPr>
        <p:spPr bwMode="auto">
          <a:xfrm>
            <a:off x="3975100" y="4076700"/>
            <a:ext cx="12065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&lt;Hình mạch điện&gt;</a:t>
            </a:r>
          </a:p>
        </p:txBody>
      </p:sp>
      <p:sp>
        <p:nvSpPr>
          <p:cNvPr id="28683" name="Text Box 10"/>
          <p:cNvSpPr txBox="1">
            <a:spLocks noChangeArrowheads="1"/>
          </p:cNvSpPr>
          <p:nvPr/>
        </p:nvSpPr>
        <p:spPr bwMode="auto">
          <a:xfrm>
            <a:off x="519113" y="1755775"/>
            <a:ext cx="18415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ko-KR">
              <a:latin typeface="Times New Roman" pitchFamily="18" charset="0"/>
              <a:cs typeface="Times New Roman" pitchFamily="18" charset="0"/>
            </a:endParaRPr>
          </a:p>
        </p:txBody>
      </p:sp>
      <p:sp>
        <p:nvSpPr>
          <p:cNvPr id="28684" name="Text Box 11"/>
          <p:cNvSpPr txBox="1">
            <a:spLocks noChangeArrowheads="1"/>
          </p:cNvSpPr>
          <p:nvPr/>
        </p:nvSpPr>
        <p:spPr bwMode="auto">
          <a:xfrm>
            <a:off x="539750" y="5949950"/>
            <a:ext cx="4297363"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a:latin typeface="Times New Roman" pitchFamily="18" charset="0"/>
                <a:cs typeface="Times New Roman" pitchFamily="18" charset="0"/>
              </a:rPr>
              <a:t>＊</a:t>
            </a:r>
            <a:r>
              <a:rPr lang="en-US" altLang="ko-KR" sz="800">
                <a:latin typeface="Times New Roman" pitchFamily="18" charset="0"/>
                <a:cs typeface="Times New Roman" pitchFamily="18" charset="0"/>
              </a:rPr>
              <a:t>3) Quy tắc 3 điểm: là phương pháp sử dụng máy đo điện trở tiếp địa 3 chân trong đó 1 chận đóng </a:t>
            </a:r>
          </a:p>
          <a:p>
            <a:pPr eaLnBrk="1" hangingPunct="1"/>
            <a:r>
              <a:rPr lang="en-US" altLang="ko-KR" sz="800">
                <a:latin typeface="Times New Roman" pitchFamily="18" charset="0"/>
                <a:cs typeface="Times New Roman" pitchFamily="18" charset="0"/>
              </a:rPr>
              <a:t>ở tiếp địa, 1 chân đóng ở phía trước cách 10M, một chân đóng ở phía trước cách 20M và kết nối dây</a:t>
            </a:r>
          </a:p>
          <a:p>
            <a:pPr eaLnBrk="1" hangingPunct="1"/>
            <a:r>
              <a:rPr lang="en-US" altLang="ko-KR" sz="800">
                <a:latin typeface="Times New Roman" pitchFamily="18" charset="0"/>
                <a:cs typeface="Times New Roman" pitchFamily="18" charset="0"/>
              </a:rPr>
              <a:t> đến đây, khởi động và đo giá trị điện trở tiếp điện.</a:t>
            </a:r>
          </a:p>
        </p:txBody>
      </p:sp>
      <p:sp>
        <p:nvSpPr>
          <p:cNvPr id="28685" name="Text Box 12"/>
          <p:cNvSpPr txBox="1">
            <a:spLocks noChangeArrowheads="1"/>
          </p:cNvSpPr>
          <p:nvPr/>
        </p:nvSpPr>
        <p:spPr bwMode="auto">
          <a:xfrm>
            <a:off x="2771775" y="1881188"/>
            <a:ext cx="369888"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800" b="1">
                <a:latin typeface="Times New Roman" pitchFamily="18" charset="0"/>
                <a:cs typeface="Times New Roman" pitchFamily="18" charset="0"/>
              </a:rPr>
              <a:t>＊</a:t>
            </a:r>
            <a:r>
              <a:rPr lang="en-US" altLang="ko-KR" sz="800" b="1">
                <a:latin typeface="Times New Roman" pitchFamily="18" charset="0"/>
                <a:cs typeface="Times New Roman" pitchFamily="18" charset="0"/>
              </a:rPr>
              <a:t>3)</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7AFB736-B92B-40A9-BE4A-F781F5E8E739}" type="slidenum">
              <a:rPr lang="en-US" altLang="ko-KR" sz="1400" smtClean="0">
                <a:latin typeface="Times New Roman" pitchFamily="18" charset="0"/>
                <a:cs typeface="Times New Roman" pitchFamily="18" charset="0"/>
              </a:rPr>
              <a:pPr eaLnBrk="1" hangingPunct="1"/>
              <a:t>24</a:t>
            </a:fld>
            <a:endParaRPr lang="en-US" altLang="ko-KR" sz="1400" smtClean="0">
              <a:latin typeface="Times New Roman" pitchFamily="18" charset="0"/>
              <a:cs typeface="Times New Roman" pitchFamily="18" charset="0"/>
            </a:endParaRPr>
          </a:p>
        </p:txBody>
      </p:sp>
      <p:sp>
        <p:nvSpPr>
          <p:cNvPr id="29699" name="Text Box 2"/>
          <p:cNvSpPr txBox="1">
            <a:spLocks noChangeArrowheads="1"/>
          </p:cNvSpPr>
          <p:nvPr/>
        </p:nvSpPr>
        <p:spPr bwMode="auto">
          <a:xfrm>
            <a:off x="684213" y="892175"/>
            <a:ext cx="15557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1-6. Nhiễu(Noise) </a:t>
            </a:r>
          </a:p>
        </p:txBody>
      </p:sp>
      <p:sp>
        <p:nvSpPr>
          <p:cNvPr id="29700" name="Text Box 3"/>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29701"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29702"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Nhiễu(Noise) là?</a:t>
            </a:r>
          </a:p>
          <a:p>
            <a:pPr eaLnBrk="1" hangingPunct="1"/>
            <a:endParaRPr lang="en-US" altLang="ko-KR"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Với ý nghĩa như trong hình vẽ là </a:t>
            </a:r>
            <a:r>
              <a:rPr lang="en-US" altLang="ko-KR" b="1">
                <a:latin typeface="Times New Roman" pitchFamily="18" charset="0"/>
                <a:cs typeface="Times New Roman" pitchFamily="18" charset="0"/>
              </a:rPr>
              <a:t>tạp âm</a:t>
            </a:r>
            <a:r>
              <a:rPr lang="en-US" altLang="ko-KR">
                <a:latin typeface="Times New Roman" pitchFamily="18" charset="0"/>
                <a:cs typeface="Times New Roman" pitchFamily="18" charset="0"/>
              </a:rPr>
              <a:t> hay </a:t>
            </a:r>
            <a:r>
              <a:rPr lang="en-US" altLang="ko-KR" b="1">
                <a:latin typeface="Times New Roman" pitchFamily="18" charset="0"/>
                <a:cs typeface="Times New Roman" pitchFamily="18" charset="0"/>
              </a:rPr>
              <a:t>tiếng ồn</a:t>
            </a:r>
            <a:r>
              <a:rPr lang="en-US" altLang="ko-KR">
                <a:latin typeface="Times New Roman" pitchFamily="18" charset="0"/>
                <a:cs typeface="Times New Roman" pitchFamily="18" charset="0"/>
              </a:rPr>
              <a:t>. Ở đây, là </a:t>
            </a:r>
            <a:r>
              <a:rPr lang="en-US" altLang="ko-KR" b="1">
                <a:latin typeface="Times New Roman" pitchFamily="18" charset="0"/>
                <a:cs typeface="Times New Roman" pitchFamily="18" charset="0"/>
              </a:rPr>
              <a:t>tín hiệu không lành mạnh ảnh hướng xấu tới mạch điện(phá hủy, hỏng hóc, sự cố)</a:t>
            </a:r>
            <a:r>
              <a:rPr lang="en-US" altLang="ko-KR">
                <a:latin typeface="Times New Roman" pitchFamily="18" charset="0"/>
                <a:cs typeface="Times New Roman" pitchFamily="18" charset="0"/>
              </a:rPr>
              <a:t> về sóng điện bằng sóng bất quy tắc. Tức là, tạp tín hiệu gây ảnh hướng đến tín hiệu chủ.</a:t>
            </a:r>
          </a:p>
        </p:txBody>
      </p:sp>
      <p:sp>
        <p:nvSpPr>
          <p:cNvPr id="29703" name="Text Box 22"/>
          <p:cNvSpPr txBox="1">
            <a:spLocks noChangeArrowheads="1"/>
          </p:cNvSpPr>
          <p:nvPr/>
        </p:nvSpPr>
        <p:spPr bwMode="auto">
          <a:xfrm>
            <a:off x="5635625" y="6003925"/>
            <a:ext cx="211613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Sóng nhiễu gây rối loạn sóng điện&gt;</a:t>
            </a:r>
          </a:p>
        </p:txBody>
      </p:sp>
      <p:pic>
        <p:nvPicPr>
          <p:cNvPr id="29704" name="Picture 2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590800"/>
            <a:ext cx="2159000"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5" name="Picture 24"/>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2570163"/>
            <a:ext cx="2159000"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6" name="Picture 25"/>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495800"/>
            <a:ext cx="2159000"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7" name="Picture 26"/>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3400" y="4503738"/>
            <a:ext cx="2159000"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8" name="Text Box 27"/>
          <p:cNvSpPr txBox="1">
            <a:spLocks noChangeArrowheads="1"/>
          </p:cNvSpPr>
          <p:nvPr/>
        </p:nvSpPr>
        <p:spPr bwMode="auto">
          <a:xfrm>
            <a:off x="1470025" y="4114800"/>
            <a:ext cx="163830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Sóng nhiễu phá hủy máy&gt;</a:t>
            </a:r>
          </a:p>
        </p:txBody>
      </p:sp>
      <p:sp>
        <p:nvSpPr>
          <p:cNvPr id="29709" name="Text Box 28"/>
          <p:cNvSpPr txBox="1">
            <a:spLocks noChangeArrowheads="1"/>
          </p:cNvSpPr>
          <p:nvPr/>
        </p:nvSpPr>
        <p:spPr bwMode="auto">
          <a:xfrm>
            <a:off x="5727700" y="4098925"/>
            <a:ext cx="1865313"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Sóng nhiễu gây nhiễu dữ liệu&gt;</a:t>
            </a:r>
          </a:p>
        </p:txBody>
      </p:sp>
      <p:sp>
        <p:nvSpPr>
          <p:cNvPr id="29710" name="Text Box 29"/>
          <p:cNvSpPr txBox="1">
            <a:spLocks noChangeArrowheads="1"/>
          </p:cNvSpPr>
          <p:nvPr/>
        </p:nvSpPr>
        <p:spPr bwMode="auto">
          <a:xfrm>
            <a:off x="1147763" y="6019800"/>
            <a:ext cx="22320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Sóng nhiễu gián đoạn chương trình&gt;</a:t>
            </a:r>
          </a:p>
        </p:txBody>
      </p:sp>
      <p:sp>
        <p:nvSpPr>
          <p:cNvPr id="29711" name="AutoShape 30" descr="파랑 박엽지"/>
          <p:cNvSpPr>
            <a:spLocks noChangeArrowheads="1"/>
          </p:cNvSpPr>
          <p:nvPr/>
        </p:nvSpPr>
        <p:spPr bwMode="auto">
          <a:xfrm rot="2700000">
            <a:off x="3357562" y="3176588"/>
            <a:ext cx="2257425" cy="2209800"/>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lnTo>
                  <a:pt x="5400" y="5400"/>
                </a:lnTo>
                <a:close/>
              </a:path>
            </a:pathLst>
          </a:custGeom>
          <a:blipFill dpi="0" rotWithShape="0">
            <a:blip r:embed="rId7"/>
            <a:srcRect/>
            <a:tile tx="0" ty="0" sx="100000" sy="100000" flip="none" algn="tl"/>
          </a:blip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ko-KR" altLang="en-US"/>
          </a:p>
        </p:txBody>
      </p:sp>
      <p:sp>
        <p:nvSpPr>
          <p:cNvPr id="2463775" name="Text Box 31"/>
          <p:cNvSpPr txBox="1">
            <a:spLocks noChangeArrowheads="1"/>
          </p:cNvSpPr>
          <p:nvPr/>
        </p:nvSpPr>
        <p:spPr bwMode="auto">
          <a:xfrm>
            <a:off x="3862388" y="4011613"/>
            <a:ext cx="130492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latinLnBrk="1">
              <a:lnSpc>
                <a:spcPct val="100000"/>
              </a:lnSpc>
              <a:defRPr/>
            </a:pPr>
            <a:r>
              <a:rPr lang="en-US" altLang="ko-KR" sz="1800" b="1" dirty="0" err="1">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Ảnh</a:t>
            </a:r>
            <a:r>
              <a:rPr lang="en-US" altLang="ko-KR" sz="18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800" b="1" dirty="0" err="1">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hưởng</a:t>
            </a:r>
            <a:endParaRPr lang="en-US" altLang="ko-KR" sz="18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ctr" latinLnBrk="1">
              <a:lnSpc>
                <a:spcPct val="100000"/>
              </a:lnSpc>
              <a:defRPr/>
            </a:pPr>
            <a:r>
              <a:rPr lang="en-US" altLang="ko-KR" sz="18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800" b="1" dirty="0" err="1">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sóng</a:t>
            </a:r>
            <a:r>
              <a:rPr lang="en-US" altLang="ko-KR" sz="18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800" b="1" dirty="0" err="1">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nhiễu</a:t>
            </a:r>
            <a:endParaRPr lang="ko-KR" altLang="en-US" sz="18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C67C973-981F-4B3D-8B50-6887491A9A41}" type="slidenum">
              <a:rPr lang="en-US" altLang="ko-KR" sz="1400" smtClean="0">
                <a:latin typeface="Times New Roman" pitchFamily="18" charset="0"/>
                <a:cs typeface="Times New Roman" pitchFamily="18" charset="0"/>
              </a:rPr>
              <a:pPr eaLnBrk="1" hangingPunct="1"/>
              <a:t>25</a:t>
            </a:fld>
            <a:endParaRPr lang="en-US" altLang="ko-KR" sz="1400" smtClean="0">
              <a:latin typeface="Times New Roman" pitchFamily="18" charset="0"/>
              <a:cs typeface="Times New Roman" pitchFamily="18" charset="0"/>
            </a:endParaRPr>
          </a:p>
        </p:txBody>
      </p:sp>
      <p:sp>
        <p:nvSpPr>
          <p:cNvPr id="3072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072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Nguyên nhân phát sinh sóng nhiễu(Noise)</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Nhiễu sét</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Sét là nguyên nhân gây nhiễu lớn nhất theo độ lớn của lực(lực phá hủy). </a:t>
            </a:r>
            <a:r>
              <a:rPr lang="en-US" altLang="ko-KR" b="1">
                <a:latin typeface="Times New Roman" pitchFamily="18" charset="0"/>
                <a:cs typeface="Times New Roman" pitchFamily="18" charset="0"/>
              </a:rPr>
              <a:t>Khi sét đánh nó phóng ra một luồng điện lớn và truyền cảm ứng điện từ đến các chất dẫn gần đó, cụ thể là phát sinh điện áp lớn(đột biến do sét). Điện áp lớn ấy được truyền đến các thiết bị điện tử gây phá hủy linh kiện điện tử hay gây chuyển động không an toàn. </a:t>
            </a:r>
            <a:r>
              <a:rPr lang="en-US" altLang="ko-KR">
                <a:latin typeface="Times New Roman" pitchFamily="18" charset="0"/>
                <a:cs typeface="Times New Roman" pitchFamily="18" charset="0"/>
              </a:rPr>
              <a:t>Tức là, dù sét đã truyền qua cột thu lội nhưng luồng điện lớn vẫn chạy và gây phát sinh đột biến sét. Do điện của sét rất mạnh, nên khi đó sự thay đổi của từ trường mạnh được phát sinh có thể gây ra tác động cảm ứng điện từ lên các vật dẫn gần đó.</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Nhiễu tĩnh điện</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Nhiễu tự nhiện ngoài nhiễu do sét ra còn có nhiễu do tĩnh điện.</a:t>
            </a:r>
          </a:p>
          <a:p>
            <a:pPr eaLnBrk="1" hangingPunct="1"/>
            <a:r>
              <a:rPr lang="en-US" altLang="ko-KR">
                <a:latin typeface="Times New Roman" pitchFamily="18" charset="0"/>
                <a:cs typeface="Times New Roman" pitchFamily="18" charset="0"/>
              </a:rPr>
              <a:t>   Sự tĩnh điện phát sinh do đi lại trên sàn nhà hay đứng trên ghế cũng có thể gây hư hại cho thiết bị điện tử. Tĩnh điện chủ yếu biến cơ thể người thành luồn điện lớn và nếu tiếp xúc với máy móc gây phóng điện và khi đó luồng điện được phóng ra sẽ tác động chạy lên vỏ hay các bộ phận khác của máy trở thành nguyên nhân gây nhiễu.</a:t>
            </a:r>
          </a:p>
        </p:txBody>
      </p:sp>
      <p:sp>
        <p:nvSpPr>
          <p:cNvPr id="30725"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30726" name="Rectangle 64"/>
          <p:cNvSpPr>
            <a:spLocks noChangeArrowheads="1"/>
          </p:cNvSpPr>
          <p:nvPr/>
        </p:nvSpPr>
        <p:spPr bwMode="auto">
          <a:xfrm>
            <a:off x="4662488" y="4294188"/>
            <a:ext cx="2930525" cy="3000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Bắn tia lửa gây cháy nổ</a:t>
            </a:r>
            <a:endParaRPr lang="ko-KR" altLang="en-US" sz="1000">
              <a:latin typeface="Times New Roman" pitchFamily="18" charset="0"/>
              <a:cs typeface="Times New Roman" pitchFamily="18" charset="0"/>
            </a:endParaRPr>
          </a:p>
        </p:txBody>
      </p:sp>
      <p:sp>
        <p:nvSpPr>
          <p:cNvPr id="30727" name="Rectangle 65"/>
          <p:cNvSpPr>
            <a:spLocks noChangeArrowheads="1"/>
          </p:cNvSpPr>
          <p:nvPr/>
        </p:nvSpPr>
        <p:spPr bwMode="auto">
          <a:xfrm>
            <a:off x="4662488" y="4654550"/>
            <a:ext cx="2930525" cy="2698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Điện giật và thảm họa thứ cấp</a:t>
            </a:r>
            <a:endParaRPr lang="ko-KR" altLang="en-US" sz="1000">
              <a:latin typeface="Times New Roman" pitchFamily="18" charset="0"/>
              <a:cs typeface="Times New Roman" pitchFamily="18" charset="0"/>
            </a:endParaRPr>
          </a:p>
        </p:txBody>
      </p:sp>
      <p:sp>
        <p:nvSpPr>
          <p:cNvPr id="30728" name="Rectangle 66"/>
          <p:cNvSpPr>
            <a:spLocks noChangeArrowheads="1"/>
          </p:cNvSpPr>
          <p:nvPr/>
        </p:nvSpPr>
        <p:spPr bwMode="auto">
          <a:xfrm>
            <a:off x="4662488" y="4984750"/>
            <a:ext cx="2930525" cy="461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Phá hủy IC, chất bán dẫn, gây lỗi vận hành máy hayg giảm khả năng ngăng tạp âm</a:t>
            </a:r>
            <a:endParaRPr lang="ko-KR" altLang="en-US" sz="1000">
              <a:latin typeface="Times New Roman" pitchFamily="18" charset="0"/>
              <a:cs typeface="Times New Roman" pitchFamily="18" charset="0"/>
            </a:endParaRPr>
          </a:p>
        </p:txBody>
      </p:sp>
      <p:sp>
        <p:nvSpPr>
          <p:cNvPr id="30729" name="Rectangle 67"/>
          <p:cNvSpPr>
            <a:spLocks noChangeArrowheads="1"/>
          </p:cNvSpPr>
          <p:nvPr/>
        </p:nvSpPr>
        <p:spPr bwMode="auto">
          <a:xfrm>
            <a:off x="4662488" y="5540375"/>
            <a:ext cx="2930525" cy="4810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Lỗi công đoạn phun sơn điện hay lắp chất bán dẫn</a:t>
            </a:r>
          </a:p>
        </p:txBody>
      </p:sp>
      <p:sp>
        <p:nvSpPr>
          <p:cNvPr id="30730" name="Rectangle 68"/>
          <p:cNvSpPr>
            <a:spLocks noChangeArrowheads="1"/>
          </p:cNvSpPr>
          <p:nvPr/>
        </p:nvSpPr>
        <p:spPr bwMode="auto">
          <a:xfrm>
            <a:off x="4662488" y="6078538"/>
            <a:ext cx="2930525" cy="3032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Gây dính bụi bẩn, ô nhiễm clean room vv..</a:t>
            </a:r>
            <a:endParaRPr lang="ko-KR" altLang="en-US" sz="1000">
              <a:latin typeface="Times New Roman" pitchFamily="18" charset="0"/>
              <a:cs typeface="Times New Roman" pitchFamily="18" charset="0"/>
            </a:endParaRPr>
          </a:p>
        </p:txBody>
      </p:sp>
      <p:sp>
        <p:nvSpPr>
          <p:cNvPr id="30731" name="Rectangle 69"/>
          <p:cNvSpPr>
            <a:spLocks noChangeArrowheads="1"/>
          </p:cNvSpPr>
          <p:nvPr/>
        </p:nvSpPr>
        <p:spPr bwMode="auto">
          <a:xfrm>
            <a:off x="2884488" y="4598988"/>
            <a:ext cx="1185862"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Hiện tượng tĩnh điện</a:t>
            </a:r>
            <a:endParaRPr lang="ko-KR" altLang="en-US" sz="1000">
              <a:latin typeface="Times New Roman" pitchFamily="18" charset="0"/>
              <a:cs typeface="Times New Roman" pitchFamily="18" charset="0"/>
            </a:endParaRPr>
          </a:p>
        </p:txBody>
      </p:sp>
      <p:sp>
        <p:nvSpPr>
          <p:cNvPr id="30732" name="Rectangle 70"/>
          <p:cNvSpPr>
            <a:spLocks noChangeArrowheads="1"/>
          </p:cNvSpPr>
          <p:nvPr/>
        </p:nvSpPr>
        <p:spPr bwMode="auto">
          <a:xfrm>
            <a:off x="2884488" y="5773738"/>
            <a:ext cx="1185862"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Hiện tượng vật lý</a:t>
            </a:r>
            <a:endParaRPr lang="ko-KR" altLang="en-US" sz="1000">
              <a:latin typeface="Times New Roman" pitchFamily="18" charset="0"/>
              <a:cs typeface="Times New Roman" pitchFamily="18" charset="0"/>
            </a:endParaRPr>
          </a:p>
        </p:txBody>
      </p:sp>
      <p:sp>
        <p:nvSpPr>
          <p:cNvPr id="30733" name="Rectangle 71"/>
          <p:cNvSpPr>
            <a:spLocks noChangeArrowheads="1"/>
          </p:cNvSpPr>
          <p:nvPr/>
        </p:nvSpPr>
        <p:spPr bwMode="auto">
          <a:xfrm>
            <a:off x="1042988" y="5208588"/>
            <a:ext cx="1185862"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Phát sinh tĩnh điện</a:t>
            </a:r>
            <a:endParaRPr lang="ko-KR" altLang="en-US" sz="1000">
              <a:latin typeface="Times New Roman" pitchFamily="18" charset="0"/>
              <a:cs typeface="Times New Roman" pitchFamily="18" charset="0"/>
            </a:endParaRPr>
          </a:p>
        </p:txBody>
      </p:sp>
      <p:cxnSp>
        <p:nvCxnSpPr>
          <p:cNvPr id="30734" name="AutoShape 72"/>
          <p:cNvCxnSpPr>
            <a:cxnSpLocks noChangeShapeType="1"/>
            <a:stCxn id="30733" idx="3"/>
            <a:endCxn id="30731" idx="1"/>
          </p:cNvCxnSpPr>
          <p:nvPr/>
        </p:nvCxnSpPr>
        <p:spPr bwMode="auto">
          <a:xfrm flipV="1">
            <a:off x="2228850" y="4789488"/>
            <a:ext cx="655638" cy="609600"/>
          </a:xfrm>
          <a:prstGeom prst="bentConnector3">
            <a:avLst>
              <a:gd name="adj1" fmla="val 4988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5" name="AutoShape 73"/>
          <p:cNvCxnSpPr>
            <a:cxnSpLocks noChangeShapeType="1"/>
            <a:stCxn id="30733" idx="3"/>
            <a:endCxn id="30732" idx="1"/>
          </p:cNvCxnSpPr>
          <p:nvPr/>
        </p:nvCxnSpPr>
        <p:spPr bwMode="auto">
          <a:xfrm>
            <a:off x="2228850" y="5399088"/>
            <a:ext cx="655638" cy="565150"/>
          </a:xfrm>
          <a:prstGeom prst="bentConnector3">
            <a:avLst>
              <a:gd name="adj1" fmla="val 4988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6" name="AutoShape 74"/>
          <p:cNvCxnSpPr>
            <a:cxnSpLocks noChangeShapeType="1"/>
            <a:stCxn id="30731" idx="3"/>
            <a:endCxn id="30726" idx="1"/>
          </p:cNvCxnSpPr>
          <p:nvPr/>
        </p:nvCxnSpPr>
        <p:spPr bwMode="auto">
          <a:xfrm flipV="1">
            <a:off x="4070350" y="4445000"/>
            <a:ext cx="592138" cy="344488"/>
          </a:xfrm>
          <a:prstGeom prst="bentConnector3">
            <a:avLst>
              <a:gd name="adj1" fmla="val 4986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7" name="AutoShape 75"/>
          <p:cNvCxnSpPr>
            <a:cxnSpLocks noChangeShapeType="1"/>
            <a:stCxn id="30731" idx="3"/>
            <a:endCxn id="30728" idx="1"/>
          </p:cNvCxnSpPr>
          <p:nvPr/>
        </p:nvCxnSpPr>
        <p:spPr bwMode="auto">
          <a:xfrm>
            <a:off x="4070350" y="4789488"/>
            <a:ext cx="592138" cy="427037"/>
          </a:xfrm>
          <a:prstGeom prst="bentConnector3">
            <a:avLst>
              <a:gd name="adj1" fmla="val 4986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8" name="AutoShape 76"/>
          <p:cNvCxnSpPr>
            <a:cxnSpLocks noChangeShapeType="1"/>
            <a:stCxn id="30731" idx="3"/>
            <a:endCxn id="30727" idx="1"/>
          </p:cNvCxnSpPr>
          <p:nvPr/>
        </p:nvCxnSpPr>
        <p:spPr bwMode="auto">
          <a:xfrm>
            <a:off x="4070350" y="4789488"/>
            <a:ext cx="592138"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9" name="AutoShape 77"/>
          <p:cNvCxnSpPr>
            <a:cxnSpLocks noChangeShapeType="1"/>
            <a:stCxn id="30732" idx="3"/>
            <a:endCxn id="30729" idx="1"/>
          </p:cNvCxnSpPr>
          <p:nvPr/>
        </p:nvCxnSpPr>
        <p:spPr bwMode="auto">
          <a:xfrm flipV="1">
            <a:off x="4070350" y="5781675"/>
            <a:ext cx="592138" cy="182563"/>
          </a:xfrm>
          <a:prstGeom prst="bentConnector3">
            <a:avLst>
              <a:gd name="adj1" fmla="val 4986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40" name="AutoShape 78"/>
          <p:cNvCxnSpPr>
            <a:cxnSpLocks noChangeShapeType="1"/>
            <a:stCxn id="30732" idx="3"/>
            <a:endCxn id="30730" idx="1"/>
          </p:cNvCxnSpPr>
          <p:nvPr/>
        </p:nvCxnSpPr>
        <p:spPr bwMode="auto">
          <a:xfrm>
            <a:off x="4070350" y="5964238"/>
            <a:ext cx="592138" cy="266700"/>
          </a:xfrm>
          <a:prstGeom prst="bentConnector3">
            <a:avLst>
              <a:gd name="adj1" fmla="val 4986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AA1D11F-CEC1-43C5-9640-BDE364137910}" type="slidenum">
              <a:rPr lang="en-US" altLang="ko-KR" sz="1400" smtClean="0">
                <a:latin typeface="Times New Roman" pitchFamily="18" charset="0"/>
                <a:cs typeface="Times New Roman" pitchFamily="18" charset="0"/>
              </a:rPr>
              <a:pPr eaLnBrk="1" hangingPunct="1"/>
              <a:t>26</a:t>
            </a:fld>
            <a:endParaRPr lang="en-US" altLang="ko-KR" sz="1400" smtClean="0">
              <a:latin typeface="Times New Roman" pitchFamily="18" charset="0"/>
              <a:cs typeface="Times New Roman" pitchFamily="18" charset="0"/>
            </a:endParaRPr>
          </a:p>
        </p:txBody>
      </p:sp>
      <p:sp>
        <p:nvSpPr>
          <p:cNvPr id="3174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174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③ Nhiễu do biến đổi điện áp</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Khi ngăn đá tủ lạnh khởi động khiến đèn trần tối trong một vài giây là hiện tượng khá phổ biến trong đời sống hàng ngày. Về cơ bản, khi </a:t>
            </a:r>
            <a:r>
              <a:rPr lang="en-US" altLang="ko-KR" b="1">
                <a:latin typeface="Times New Roman" pitchFamily="18" charset="0"/>
                <a:cs typeface="Times New Roman" pitchFamily="18" charset="0"/>
              </a:rPr>
              <a:t>có dòng điện lớn chạy qua nguồn điện thì điện áp nguồn điện sẽ giảm xuống</a:t>
            </a:r>
            <a:r>
              <a:rPr lang="en-US" altLang="ko-KR">
                <a:latin typeface="Times New Roman" pitchFamily="18" charset="0"/>
                <a:cs typeface="Times New Roman" pitchFamily="18" charset="0"/>
              </a:rPr>
              <a:t>. Đó được gọi là </a:t>
            </a:r>
            <a:r>
              <a:rPr lang="en-US" altLang="ko-KR" b="1">
                <a:latin typeface="Times New Roman" pitchFamily="18" charset="0"/>
                <a:cs typeface="Times New Roman" pitchFamily="18" charset="0"/>
              </a:rPr>
              <a:t>điện trở trong của nguồn điện</a:t>
            </a:r>
            <a:r>
              <a:rPr lang="en-US" altLang="ko-KR">
                <a:latin typeface="Times New Roman" pitchFamily="18" charset="0"/>
                <a:cs typeface="Times New Roman" pitchFamily="18" charset="0"/>
              </a:rPr>
              <a:t>. Thế nhưng, trong trường hợp nhiều thiết bị điện tử hay mạch điện tử nối với cùng một nguồn điện và nếu dòng điện lớn chạy qua thiết bị nào đó thì điện áp nguồn của thiết bị dùng chung nguồn điện sẽ bị giảm nhanh trong một giây. Và hiện tượng này cũng được gọi là nhiễu.</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Và ‘biến động điện áp nguồn điện’ cũng có nghĩa là </a:t>
            </a:r>
            <a:r>
              <a:rPr lang="en-US" altLang="ko-KR" b="1">
                <a:latin typeface="Times New Roman" pitchFamily="18" charset="0"/>
                <a:cs typeface="Times New Roman" pitchFamily="18" charset="0"/>
              </a:rPr>
              <a:t>nháy điện</a:t>
            </a:r>
            <a:r>
              <a:rPr lang="en-US" altLang="ko-KR">
                <a:latin typeface="Times New Roman" pitchFamily="18" charset="0"/>
                <a:cs typeface="Times New Roman" pitchFamily="18" charset="0"/>
              </a:rPr>
              <a:t>. Là </a:t>
            </a:r>
            <a:r>
              <a:rPr lang="en-US" altLang="ko-KR" b="1">
                <a:latin typeface="Times New Roman" pitchFamily="18" charset="0"/>
                <a:cs typeface="Times New Roman" pitchFamily="18" charset="0"/>
              </a:rPr>
              <a:t>hiện tượng mất đi 1 phần pha của dòng điện xoay chiều thường gặp</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  Nếu không kiểm tra đầy đủ từng bộ phận của hệ thống điện trong thiết bị có sử dụng dòng điện lớn và thiết bị khác chắc chắn sẽ gây phát sinh vấn đề. </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④ Nhiễu do bị chặn tín hiệu điện tử</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Nếu đặt các thiết bị thu phát sóng ngay gần thiết bị điện thì sóng điện sẽ gây nhiễu(chặn sóng) thiết bị bên cạnh, sai lệch với mục đích ban đầu của nó.</a:t>
            </a: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 Rất khó tìm ra nguyên nhân phát sinh chặn sóng. Có nhiều lý do làm tăng lỗi vận hành, dẫn nhập ngược hay setting thiết bị điện tử hoạt động bình thường ngoài hiện trường hay sử dụng sản phẩm khác. Đây là ví dụ ngắn gọn cho ta thấy việc làm rõ nguồn nhiễu do sóng chặn tín hiệu điện tử là rất khó.</a:t>
            </a:r>
          </a:p>
          <a:p>
            <a:pPr eaLnBrk="1" hangingPunct="1"/>
            <a:endParaRPr lang="en-US" altLang="ko-KR">
              <a:latin typeface="Times New Roman" pitchFamily="18" charset="0"/>
              <a:cs typeface="Times New Roman" pitchFamily="18" charset="0"/>
            </a:endParaRPr>
          </a:p>
        </p:txBody>
      </p:sp>
      <p:sp>
        <p:nvSpPr>
          <p:cNvPr id="31749"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DD81B8D-9BD2-4E03-B048-9BBF88ADCACF}" type="slidenum">
              <a:rPr lang="en-US" altLang="ko-KR" sz="1400" smtClean="0">
                <a:latin typeface="Times New Roman" pitchFamily="18" charset="0"/>
                <a:cs typeface="Times New Roman" pitchFamily="18" charset="0"/>
              </a:rPr>
              <a:pPr eaLnBrk="1" hangingPunct="1"/>
              <a:t>27</a:t>
            </a:fld>
            <a:endParaRPr lang="en-US" altLang="ko-KR" sz="1400" smtClean="0">
              <a:latin typeface="Times New Roman" pitchFamily="18" charset="0"/>
              <a:cs typeface="Times New Roman" pitchFamily="18" charset="0"/>
            </a:endParaRPr>
          </a:p>
        </p:txBody>
      </p:sp>
      <p:sp>
        <p:nvSpPr>
          <p:cNvPr id="3277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277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⑥ Nhiễu chuyển mạch(switching noise)</a:t>
            </a:r>
            <a:endParaRPr lang="ko-KR" altLang="en-US" b="1">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  Giống với phương pháp công tắc switch, khi tiếp điểm ON/OFF sẽ xuất hiện</a:t>
            </a:r>
          </a:p>
          <a:p>
            <a:pPr eaLnBrk="1" hangingPunct="1"/>
            <a:r>
              <a:rPr lang="en-US" altLang="ko-KR">
                <a:solidFill>
                  <a:srgbClr val="000000"/>
                </a:solidFill>
                <a:latin typeface="Times New Roman" pitchFamily="18" charset="0"/>
                <a:cs typeface="Times New Roman" pitchFamily="18" charset="0"/>
              </a:rPr>
              <a:t> một số nhiễu siêu nhỏ(micro). </a:t>
            </a:r>
            <a:r>
              <a:rPr lang="en-US" altLang="ko-KR" b="1">
                <a:solidFill>
                  <a:srgbClr val="000000"/>
                </a:solidFill>
                <a:latin typeface="Times New Roman" pitchFamily="18" charset="0"/>
                <a:cs typeface="Times New Roman" pitchFamily="18" charset="0"/>
              </a:rPr>
              <a:t>Phát sinh phóng điện nếu bổ sung điện áp </a:t>
            </a:r>
          </a:p>
          <a:p>
            <a:pPr eaLnBrk="1" hangingPunct="1"/>
            <a:r>
              <a:rPr lang="en-US" altLang="ko-KR" b="1">
                <a:solidFill>
                  <a:srgbClr val="000000"/>
                </a:solidFill>
                <a:latin typeface="Times New Roman" pitchFamily="18" charset="0"/>
                <a:cs typeface="Times New Roman" pitchFamily="18" charset="0"/>
              </a:rPr>
              <a:t> cao từ khoảng cách tiếp điểm khi tách ra để tiếp điểm OFF hay nối vào</a:t>
            </a:r>
          </a:p>
          <a:p>
            <a:pPr eaLnBrk="1" hangingPunct="1"/>
            <a:r>
              <a:rPr lang="en-US" altLang="ko-KR" b="1">
                <a:solidFill>
                  <a:srgbClr val="000000"/>
                </a:solidFill>
                <a:latin typeface="Times New Roman" pitchFamily="18" charset="0"/>
                <a:cs typeface="Times New Roman" pitchFamily="18" charset="0"/>
              </a:rPr>
              <a:t> để tiếp điểm ON. Khi sử dụng rơ-le điện tử để ON/OFF điện lực thì xung</a:t>
            </a:r>
          </a:p>
          <a:p>
            <a:pPr eaLnBrk="1" hangingPunct="1"/>
            <a:r>
              <a:rPr lang="en-US" altLang="ko-KR" b="1">
                <a:solidFill>
                  <a:srgbClr val="000000"/>
                </a:solidFill>
                <a:latin typeface="Times New Roman" pitchFamily="18" charset="0"/>
                <a:cs typeface="Times New Roman" pitchFamily="18" charset="0"/>
              </a:rPr>
              <a:t> quanh tiếp điểm sẽ phát sinh nhiễu. </a:t>
            </a:r>
            <a:r>
              <a:rPr lang="en-US" altLang="ko-KR">
                <a:solidFill>
                  <a:srgbClr val="000000"/>
                </a:solidFill>
                <a:latin typeface="Times New Roman" pitchFamily="18" charset="0"/>
                <a:cs typeface="Times New Roman" pitchFamily="18" charset="0"/>
              </a:rPr>
              <a:t>Và vào thời điểm tiếp điểm ON hay OFF</a:t>
            </a:r>
          </a:p>
          <a:p>
            <a:pPr eaLnBrk="1" hangingPunct="1"/>
            <a:r>
              <a:rPr lang="en-US" altLang="ko-KR">
                <a:solidFill>
                  <a:srgbClr val="000000"/>
                </a:solidFill>
                <a:latin typeface="Times New Roman" pitchFamily="18" charset="0"/>
                <a:cs typeface="Times New Roman" pitchFamily="18" charset="0"/>
              </a:rPr>
              <a:t> tiếp điểm sẽ rung nhỏ lặp lại với dòng điện 1t chiều. Hiện tượng này được gọi</a:t>
            </a:r>
          </a:p>
          <a:p>
            <a:pPr eaLnBrk="1" hangingPunct="1"/>
            <a:r>
              <a:rPr lang="en-US" altLang="ko-KR">
                <a:solidFill>
                  <a:srgbClr val="000000"/>
                </a:solidFill>
                <a:latin typeface="Times New Roman" pitchFamily="18" charset="0"/>
                <a:cs typeface="Times New Roman" pitchFamily="18" charset="0"/>
              </a:rPr>
              <a:t> là ‘chattering’ là chuyển động phức tạp. Nếu không xử lý tùy theo từng trường</a:t>
            </a:r>
          </a:p>
          <a:p>
            <a:pPr eaLnBrk="1" hangingPunct="1"/>
            <a:r>
              <a:rPr lang="en-US" altLang="ko-KR">
                <a:solidFill>
                  <a:srgbClr val="000000"/>
                </a:solidFill>
                <a:latin typeface="Times New Roman" pitchFamily="18" charset="0"/>
                <a:cs typeface="Times New Roman" pitchFamily="18" charset="0"/>
              </a:rPr>
              <a:t> hợp dẫn nhập bằng cách nhập tín hiệu thì dễ trở thành nguyên nhân</a:t>
            </a:r>
          </a:p>
          <a:p>
            <a:pPr eaLnBrk="1" hangingPunct="1"/>
            <a:r>
              <a:rPr lang="en-US" altLang="ko-KR">
                <a:solidFill>
                  <a:srgbClr val="000000"/>
                </a:solidFill>
                <a:latin typeface="Times New Roman" pitchFamily="18" charset="0"/>
                <a:cs typeface="Times New Roman" pitchFamily="18" charset="0"/>
              </a:rPr>
              <a:t> gây lỗi vận hành.</a:t>
            </a:r>
          </a:p>
        </p:txBody>
      </p:sp>
      <p:sp>
        <p:nvSpPr>
          <p:cNvPr id="32773" name="Text Box 4"/>
          <p:cNvSpPr txBox="1">
            <a:spLocks noChangeArrowheads="1"/>
          </p:cNvSpPr>
          <p:nvPr/>
        </p:nvSpPr>
        <p:spPr bwMode="auto">
          <a:xfrm>
            <a:off x="6537325" y="68263"/>
            <a:ext cx="2427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Khái niệm điện-điện tử</a:t>
            </a:r>
            <a:endParaRPr lang="ko-KR" altLang="en-US" sz="1600" b="1">
              <a:latin typeface="Times New Roman" pitchFamily="18" charset="0"/>
              <a:cs typeface="Times New Roman" pitchFamily="18" charset="0"/>
            </a:endParaRPr>
          </a:p>
        </p:txBody>
      </p:sp>
      <p:sp>
        <p:nvSpPr>
          <p:cNvPr id="32774" name="Text Box 5"/>
          <p:cNvSpPr txBox="1">
            <a:spLocks noChangeArrowheads="1"/>
          </p:cNvSpPr>
          <p:nvPr/>
        </p:nvSpPr>
        <p:spPr bwMode="auto">
          <a:xfrm>
            <a:off x="6269038" y="2824163"/>
            <a:ext cx="17907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Rung, nhiễu điểm tiếp điểm&gt;</a:t>
            </a:r>
          </a:p>
        </p:txBody>
      </p:sp>
      <p:pic>
        <p:nvPicPr>
          <p:cNvPr id="32775" name="Picture 6"/>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1323975"/>
            <a:ext cx="2159000"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D2423FF-B184-477C-A46B-17E103317138}" type="slidenum">
              <a:rPr lang="en-US" altLang="ko-KR" sz="1400" smtClean="0">
                <a:latin typeface="Times New Roman" pitchFamily="18" charset="0"/>
                <a:cs typeface="Times New Roman" pitchFamily="18" charset="0"/>
              </a:rPr>
              <a:pPr eaLnBrk="1" hangingPunct="1"/>
              <a:t>28</a:t>
            </a:fld>
            <a:endParaRPr lang="en-US" altLang="ko-KR" sz="1400" smtClean="0">
              <a:latin typeface="Times New Roman" pitchFamily="18" charset="0"/>
              <a:cs typeface="Times New Roman" pitchFamily="18" charset="0"/>
            </a:endParaRPr>
          </a:p>
        </p:txBody>
      </p:sp>
      <p:sp>
        <p:nvSpPr>
          <p:cNvPr id="33795" name="Text Box 2"/>
          <p:cNvSpPr txBox="1">
            <a:spLocks noChangeArrowheads="1"/>
          </p:cNvSpPr>
          <p:nvPr/>
        </p:nvSpPr>
        <p:spPr bwMode="auto">
          <a:xfrm>
            <a:off x="684213" y="892175"/>
            <a:ext cx="1206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2-1. Điện giật</a:t>
            </a:r>
            <a:endParaRPr lang="ko-KR" altLang="en-US" sz="1400" b="1">
              <a:latin typeface="Times New Roman" pitchFamily="18" charset="0"/>
              <a:cs typeface="Times New Roman" pitchFamily="18" charset="0"/>
            </a:endParaRPr>
          </a:p>
        </p:txBody>
      </p:sp>
      <p:sp>
        <p:nvSpPr>
          <p:cNvPr id="33796" name="Text Box 3"/>
          <p:cNvSpPr txBox="1">
            <a:spLocks noChangeArrowheads="1"/>
          </p:cNvSpPr>
          <p:nvPr/>
        </p:nvSpPr>
        <p:spPr bwMode="auto">
          <a:xfrm>
            <a:off x="352425" y="501650"/>
            <a:ext cx="1506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sp>
        <p:nvSpPr>
          <p:cNvPr id="33797"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3798" name="Text Box 5"/>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sp>
        <p:nvSpPr>
          <p:cNvPr id="33799" name="Rectangle 6"/>
          <p:cNvSpPr>
            <a:spLocks noChangeArrowheads="1"/>
          </p:cNvSpPr>
          <p:nvPr/>
        </p:nvSpPr>
        <p:spPr bwMode="auto">
          <a:xfrm>
            <a:off x="827088" y="1268413"/>
            <a:ext cx="73850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pPr>
            <a:r>
              <a:rPr lang="en-US" altLang="ko-KR">
                <a:latin typeface="Times New Roman" pitchFamily="18" charset="0"/>
                <a:cs typeface="Times New Roman" pitchFamily="18" charset="0"/>
              </a:rPr>
              <a:t>   Điện giật là để chỉ hiện tượng cảm giác được luồng điện khi cơ thể người tiếp xúc</a:t>
            </a:r>
          </a:p>
          <a:p>
            <a:pPr eaLnBrk="1" hangingPunct="1">
              <a:lnSpc>
                <a:spcPct val="110000"/>
              </a:lnSpc>
            </a:pPr>
            <a:r>
              <a:rPr lang="en-US" altLang="ko-KR">
                <a:latin typeface="Times New Roman" pitchFamily="18" charset="0"/>
                <a:cs typeface="Times New Roman" pitchFamily="18" charset="0"/>
              </a:rPr>
              <a:t> với điện, được chia thành các trạng thái từ chỉ là tê nhẹ đến mất mạng. Mức độ</a:t>
            </a:r>
          </a:p>
          <a:p>
            <a:pPr eaLnBrk="1" hangingPunct="1">
              <a:lnSpc>
                <a:spcPct val="110000"/>
              </a:lnSpc>
            </a:pPr>
            <a:r>
              <a:rPr lang="en-US" altLang="ko-KR">
                <a:latin typeface="Times New Roman" pitchFamily="18" charset="0"/>
                <a:cs typeface="Times New Roman" pitchFamily="18" charset="0"/>
              </a:rPr>
              <a:t> điện áp càng lớn thì mức nguy hiểm do điện giật càng cao. Điện giật để chỉ điện</a:t>
            </a:r>
          </a:p>
          <a:p>
            <a:pPr eaLnBrk="1" hangingPunct="1">
              <a:lnSpc>
                <a:spcPct val="110000"/>
              </a:lnSpc>
            </a:pPr>
            <a:r>
              <a:rPr lang="en-US" altLang="ko-KR">
                <a:latin typeface="Times New Roman" pitchFamily="18" charset="0"/>
                <a:cs typeface="Times New Roman" pitchFamily="18" charset="0"/>
              </a:rPr>
              <a:t> áp đi vào cơ thể người, chạy qua cơ bắp, nội tạng và gây chấn thương, đặc biệt</a:t>
            </a:r>
          </a:p>
          <a:p>
            <a:pPr eaLnBrk="1" hangingPunct="1">
              <a:lnSpc>
                <a:spcPct val="110000"/>
              </a:lnSpc>
            </a:pPr>
            <a:r>
              <a:rPr lang="en-US" altLang="ko-KR">
                <a:latin typeface="Times New Roman" pitchFamily="18" charset="0"/>
                <a:cs typeface="Times New Roman" pitchFamily="18" charset="0"/>
              </a:rPr>
              <a:t> dòng điện chạy vào tim có thể gây chết người.</a:t>
            </a:r>
          </a:p>
          <a:p>
            <a:pPr eaLnBrk="1" hangingPunct="1">
              <a:lnSpc>
                <a:spcPct val="110000"/>
              </a:lnSpc>
            </a:pPr>
            <a:endParaRPr lang="en-US" altLang="ko-KR" sz="800">
              <a:latin typeface="Times New Roman" pitchFamily="18" charset="0"/>
              <a:cs typeface="Times New Roman" pitchFamily="18" charset="0"/>
            </a:endParaRPr>
          </a:p>
          <a:p>
            <a:pPr eaLnBrk="1" hangingPunct="1">
              <a:lnSpc>
                <a:spcPct val="110000"/>
              </a:lnSpc>
            </a:pPr>
            <a:r>
              <a:rPr lang="en-US" altLang="ko-KR" b="1">
                <a:latin typeface="Times New Roman" pitchFamily="18" charset="0"/>
                <a:cs typeface="Times New Roman" pitchFamily="18" charset="0"/>
              </a:rPr>
              <a:t>Cơ thể người có thể chịu được dòng điện tối đa là bao nhiêu?</a:t>
            </a:r>
            <a:r>
              <a:rPr lang="en-US" altLang="ko-KR">
                <a:latin typeface="Times New Roman" pitchFamily="18" charset="0"/>
                <a:cs typeface="Times New Roman" pitchFamily="18" charset="0"/>
              </a:rPr>
              <a:t/>
            </a:r>
            <a:br>
              <a:rPr lang="en-US" altLang="ko-KR">
                <a:latin typeface="Times New Roman" pitchFamily="18" charset="0"/>
                <a:cs typeface="Times New Roman" pitchFamily="18" charset="0"/>
              </a:rPr>
            </a:br>
            <a:endParaRPr lang="en-US" altLang="ko-KR" sz="800">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Nếu cơ thể người chịu tác động của dòng điện 1 mili amper(mA) thì chỉ bị tê nhẹ. 5mA thấy đau, 10mA là mức không thể chịu đựng được. 20mA bị co cơ và nếu tay dính vào đường điện thì không thể tự rút ra. 50mA là mức tương đối nguy hiểm và 100mA sẽ gây tử vong. Khi đó sẽ làm rung tâm thất dẫn đến tử vong.</a:t>
            </a:r>
          </a:p>
          <a:p>
            <a:pPr eaLnBrk="1" hangingPunct="1">
              <a:lnSpc>
                <a:spcPct val="110000"/>
              </a:lnSpc>
            </a:pPr>
            <a:endParaRPr lang="en-US" altLang="ko-KR">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100mA là 1/10 của 1A. Cần 100 oát(W) để đèn trần sáng lên nhưng nó chỉ truyền đi 1A của dòng điện. Cho dù có đưa tay vào ổ cắm của bóng đèn tròn thì do trong cơ thể người chứa điện trở nên không bị điện giật. Da người có điện trở là 500∼5000</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ôm(Ω). Dòng điện = (điện áp/điện trở) và theo định luật Ôm, cùng tính dòng điện khi nối điện áp từ pin 1.5V. Nếu điện trở dòng điện có giá trị thấp nhất là 500Ω thì giá trị dòng điện của pin là 1.5V/500Ω tức 3mA và chỉ gây tê tê.</a:t>
            </a:r>
          </a:p>
        </p:txBody>
      </p:sp>
      <p:pic>
        <p:nvPicPr>
          <p:cNvPr id="33800" name="Picture 7" descr="pic101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327150"/>
            <a:ext cx="1693862"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35111" name="Group 39"/>
          <p:cNvGraphicFramePr>
            <a:graphicFrameLocks noGrp="1"/>
          </p:cNvGraphicFramePr>
          <p:nvPr/>
        </p:nvGraphicFramePr>
        <p:xfrm>
          <a:off x="915988" y="4652963"/>
          <a:ext cx="7296150" cy="1579564"/>
        </p:xfrm>
        <a:graphic>
          <a:graphicData uri="http://schemas.openxmlformats.org/drawingml/2006/table">
            <a:tbl>
              <a:tblPr/>
              <a:tblGrid>
                <a:gridCol w="1092200"/>
                <a:gridCol w="1519237"/>
                <a:gridCol w="4684713"/>
              </a:tblGrid>
              <a:tr h="548609">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Giá</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trị</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hiệu</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Thời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gian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hành</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ứng</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sinh</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học</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người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ví</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63439">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5~30mA</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Dưới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10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phút</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Bắt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đầu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từ</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việc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co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tự</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thoát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ra</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khỏi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nguồn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026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30~50mA</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giây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đến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phút</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Van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hoạt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bình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thường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tăng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huyết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gây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co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3439">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50~100mA</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 1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mạch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Shock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gây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rung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tâm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381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100mA</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 1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mạch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Bỏng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nặng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dẫn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đến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vong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CD52C06-AA4B-45BB-9998-4C94BED51F2D}" type="slidenum">
              <a:rPr lang="en-US" altLang="ko-KR" sz="1400" smtClean="0">
                <a:latin typeface="Times New Roman" pitchFamily="18" charset="0"/>
                <a:cs typeface="Times New Roman" pitchFamily="18" charset="0"/>
              </a:rPr>
              <a:pPr eaLnBrk="1" hangingPunct="1"/>
              <a:t>29</a:t>
            </a:fld>
            <a:endParaRPr lang="en-US" altLang="ko-KR" sz="1400" smtClean="0">
              <a:latin typeface="Times New Roman" pitchFamily="18" charset="0"/>
              <a:cs typeface="Times New Roman" pitchFamily="18" charset="0"/>
            </a:endParaRPr>
          </a:p>
        </p:txBody>
      </p:sp>
      <p:sp>
        <p:nvSpPr>
          <p:cNvPr id="34819"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482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Ví dụ 1về tai nạn điện giật [An toàn thi công điện Hàn Quốc]</a:t>
            </a:r>
          </a:p>
          <a:p>
            <a:pPr eaLnBrk="1" hangingPunct="1"/>
            <a:endParaRPr lang="en-US" altLang="ko-KR" sz="800"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Tai nạn điện giật thiệt mạng do chạm vào chân công tắc nguồn điện của máy sưởi khi lắp ốc.</a:t>
            </a:r>
          </a:p>
          <a:p>
            <a:pPr eaLnBrk="1" hangingPunct="1"/>
            <a:endParaRPr lang="en-US" altLang="ko-KR" sz="800" b="1">
              <a:latin typeface="Times New Roman" pitchFamily="18" charset="0"/>
              <a:cs typeface="Times New Roman" pitchFamily="18" charset="0"/>
            </a:endParaRPr>
          </a:p>
          <a:p>
            <a:pPr eaLnBrk="1" hangingPunct="1">
              <a:buFont typeface="Wingdings" pitchFamily="2" charset="2"/>
              <a:buChar char="§"/>
            </a:pPr>
            <a:r>
              <a:rPr lang="en-US" altLang="ko-KR">
                <a:latin typeface="Times New Roman" pitchFamily="18" charset="0"/>
                <a:cs typeface="Times New Roman" pitchFamily="18" charset="0"/>
              </a:rPr>
              <a:t> Là tai nạn điện giật do nạn nhân định điều chỉnh lượng hàng ra của máy dệt nên đã dùng tay không vặn mỏ lết ống 18’ để điều chỉnh ốc và ngay dưới vị trí ốc là chân nguồn điện 220V của máy sưởi.</a:t>
            </a:r>
          </a:p>
          <a:p>
            <a:pPr eaLnBrk="1" hangingPunct="1"/>
            <a:endParaRPr lang="ko-KR" altLang="en-US" sz="800">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Nguyên nhân dẫn đến tai nạn trên là do không tuân thủ quy tắc an toàn lao động là phải đeo găng tay và đi giày bảo hộ khi đã được đào tạo hay đào tạo an toàn lao động không đi đôi với thực tiễn. Cần đẩy mạnh đào tạo an toàn và thường xuyên kiểm tra quản lý an toàn lao động.</a:t>
            </a:r>
          </a:p>
        </p:txBody>
      </p:sp>
      <p:sp>
        <p:nvSpPr>
          <p:cNvPr id="34821"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3482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3116263"/>
            <a:ext cx="6296025" cy="319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3" name="직사각형 1"/>
          <p:cNvSpPr>
            <a:spLocks noChangeArrowheads="1"/>
          </p:cNvSpPr>
          <p:nvPr/>
        </p:nvSpPr>
        <p:spPr bwMode="auto">
          <a:xfrm>
            <a:off x="2051050" y="3284538"/>
            <a:ext cx="14414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&lt;Ảnh hiện trường&gt;</a:t>
            </a:r>
            <a:endParaRPr lang="ko-KR" altLang="en-US">
              <a:latin typeface="Times New Roman" pitchFamily="18" charset="0"/>
              <a:cs typeface="Times New Roman" pitchFamily="18" charset="0"/>
            </a:endParaRPr>
          </a:p>
        </p:txBody>
      </p:sp>
      <p:sp>
        <p:nvSpPr>
          <p:cNvPr id="34824" name="직사각형 3"/>
          <p:cNvSpPr>
            <a:spLocks noChangeArrowheads="1"/>
          </p:cNvSpPr>
          <p:nvPr/>
        </p:nvSpPr>
        <p:spPr bwMode="auto">
          <a:xfrm>
            <a:off x="3419475" y="4149725"/>
            <a:ext cx="2889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t>1</a:t>
            </a:r>
            <a:endParaRPr lang="ko-KR" altLang="en-US"/>
          </a:p>
        </p:txBody>
      </p:sp>
      <p:sp>
        <p:nvSpPr>
          <p:cNvPr id="34825" name="직사각형 9"/>
          <p:cNvSpPr>
            <a:spLocks noChangeArrowheads="1"/>
          </p:cNvSpPr>
          <p:nvPr/>
        </p:nvSpPr>
        <p:spPr bwMode="auto">
          <a:xfrm>
            <a:off x="2843213" y="5013325"/>
            <a:ext cx="3683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t>2</a:t>
            </a:r>
            <a:endParaRPr lang="ko-KR" altLang="en-US"/>
          </a:p>
        </p:txBody>
      </p:sp>
      <p:sp>
        <p:nvSpPr>
          <p:cNvPr id="34826" name="직사각형 12"/>
          <p:cNvSpPr>
            <a:spLocks noChangeArrowheads="1"/>
          </p:cNvSpPr>
          <p:nvPr/>
        </p:nvSpPr>
        <p:spPr bwMode="auto">
          <a:xfrm>
            <a:off x="4067175" y="5165725"/>
            <a:ext cx="217488"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t>3</a:t>
            </a:r>
            <a:endParaRPr lang="ko-KR" altLang="en-US"/>
          </a:p>
        </p:txBody>
      </p:sp>
      <p:sp>
        <p:nvSpPr>
          <p:cNvPr id="14" name="직사각형 13"/>
          <p:cNvSpPr/>
          <p:nvPr/>
        </p:nvSpPr>
        <p:spPr>
          <a:xfrm>
            <a:off x="3276600" y="5792788"/>
            <a:ext cx="1800225" cy="674687"/>
          </a:xfrm>
          <a:prstGeom prst="rect">
            <a:avLst/>
          </a:prstGeom>
        </p:spPr>
        <p:txBody>
          <a:bodyPr>
            <a:spAutoFit/>
          </a:bodyPr>
          <a:lstStyle/>
          <a:p>
            <a:pPr>
              <a:defRPr/>
            </a:pPr>
            <a:r>
              <a:rPr lang="en-US" altLang="ko-KR" sz="1050" dirty="0">
                <a:latin typeface="Times New Roman" panose="02020603050405020304" pitchFamily="18" charset="0"/>
                <a:cs typeface="Times New Roman" panose="02020603050405020304" pitchFamily="18" charset="0"/>
              </a:rPr>
              <a:t>1. </a:t>
            </a:r>
            <a:r>
              <a:rPr lang="en-US" altLang="ko-KR" sz="1050" dirty="0" err="1">
                <a:latin typeface="Times New Roman" panose="02020603050405020304" pitchFamily="18" charset="0"/>
                <a:cs typeface="Times New Roman" panose="02020603050405020304" pitchFamily="18" charset="0"/>
              </a:rPr>
              <a:t>Nasa</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chỉnh</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số</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lượng</a:t>
            </a:r>
            <a:endParaRPr lang="en-US" altLang="ko-KR" sz="1050" dirty="0">
              <a:latin typeface="Times New Roman" panose="02020603050405020304" pitchFamily="18" charset="0"/>
              <a:cs typeface="Times New Roman" panose="02020603050405020304" pitchFamily="18" charset="0"/>
            </a:endParaRPr>
          </a:p>
          <a:p>
            <a:pPr>
              <a:defRPr/>
            </a:pPr>
            <a:r>
              <a:rPr lang="en-US" altLang="ko-KR" sz="1050" dirty="0">
                <a:latin typeface="Times New Roman" panose="02020603050405020304" pitchFamily="18" charset="0"/>
                <a:cs typeface="Times New Roman" panose="02020603050405020304" pitchFamily="18" charset="0"/>
              </a:rPr>
              <a:t>2. </a:t>
            </a:r>
            <a:r>
              <a:rPr lang="en-US" altLang="ko-KR" sz="1050" dirty="0" err="1">
                <a:latin typeface="Times New Roman" panose="02020603050405020304" pitchFamily="18" charset="0"/>
                <a:cs typeface="Times New Roman" panose="02020603050405020304" pitchFamily="18" charset="0"/>
              </a:rPr>
              <a:t>Phần</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tiếp</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xúc</a:t>
            </a:r>
            <a:endParaRPr lang="en-US" altLang="ko-KR" sz="1050" dirty="0">
              <a:latin typeface="Times New Roman" panose="02020603050405020304" pitchFamily="18" charset="0"/>
              <a:cs typeface="Times New Roman" panose="02020603050405020304" pitchFamily="18" charset="0"/>
            </a:endParaRPr>
          </a:p>
          <a:p>
            <a:pPr>
              <a:defRPr/>
            </a:pPr>
            <a:r>
              <a:rPr lang="en-US" altLang="ko-KR" sz="1050" dirty="0">
                <a:latin typeface="Times New Roman" panose="02020603050405020304" pitchFamily="18" charset="0"/>
                <a:cs typeface="Times New Roman" panose="02020603050405020304" pitchFamily="18" charset="0"/>
              </a:rPr>
              <a:t>3. Guiding roller</a:t>
            </a:r>
            <a:endParaRPr lang="ko-KR" altLang="en-US" sz="105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E90B1AA-6AF8-40FA-99C5-7F738C8AF282}" type="slidenum">
              <a:rPr lang="en-US" altLang="ko-KR" sz="1400" smtClean="0">
                <a:latin typeface="Times New Roman" pitchFamily="18" charset="0"/>
                <a:cs typeface="Times New Roman" pitchFamily="18" charset="0"/>
              </a:rPr>
              <a:pPr eaLnBrk="1" hangingPunct="1"/>
              <a:t>30</a:t>
            </a:fld>
            <a:endParaRPr lang="en-US" altLang="ko-KR" sz="1400" smtClean="0">
              <a:latin typeface="Times New Roman" pitchFamily="18" charset="0"/>
              <a:cs typeface="Times New Roman" pitchFamily="18" charset="0"/>
            </a:endParaRPr>
          </a:p>
        </p:txBody>
      </p:sp>
      <p:sp>
        <p:nvSpPr>
          <p:cNvPr id="3584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5844" name="Rectangle 3"/>
          <p:cNvSpPr>
            <a:spLocks noChangeArrowheads="1"/>
          </p:cNvSpPr>
          <p:nvPr/>
        </p:nvSpPr>
        <p:spPr bwMode="auto">
          <a:xfrm>
            <a:off x="827088" y="836613"/>
            <a:ext cx="7848600"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Ví dụ 2 về điện giật gây thiệt mạng[An toàn thi công điện Hàn Quốc]</a:t>
            </a:r>
          </a:p>
          <a:p>
            <a:pPr eaLnBrk="1" hangingPunct="1"/>
            <a:endParaRPr lang="en-US" altLang="ko-KR" sz="800"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Bỏng hồ quang trong lúc thay aptomat ngắt dòng(MCCB)</a:t>
            </a:r>
            <a:endParaRPr lang="ko-KR" altLang="en-US" b="1">
              <a:latin typeface="Times New Roman" pitchFamily="18" charset="0"/>
              <a:cs typeface="Times New Roman" pitchFamily="18" charset="0"/>
            </a:endParaRPr>
          </a:p>
          <a:p>
            <a:pPr eaLnBrk="1" hangingPunct="1">
              <a:buFont typeface="Wingdings" pitchFamily="2" charset="2"/>
              <a:buChar char="§"/>
            </a:pPr>
            <a:endParaRPr lang="ko-KR" altLang="en-US" sz="800">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sự cố phát sinh tia hồ quang trong lúc thực hiện thao tác thay aptomat ngắt dòng(MCCB 2P 30A) dùng cho việc đi dây bóng đèn bên trong tủ điện bằng aptomat chống rò (ELB 2P 30A) mà không ngắt nguồn điện và trong lúc thực hiện thao tác thay aptomat #2 và #1 của bóng đèn ở trạng thái vẫn có dòng điện chạy qua gây ra hiện tượng bắn tia điện vào aptomat động lực nằm cạnh dây điện của aptomat #1.</a:t>
            </a:r>
          </a:p>
          <a:p>
            <a:pPr eaLnBrk="1" hangingPunct="1">
              <a:buFont typeface="Wingdings" pitchFamily="2" charset="2"/>
              <a:buChar char="§"/>
            </a:pPr>
            <a:endParaRPr lang="ko-KR" altLang="en-US" sz="800">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Nguồn điện chưa mở</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Với thao tác tiếp xúc hay tiếp cận mạch sạc, phải thực hiện khi không có dòng điện chạy qua hoặc phải ngắt điện các loại dây liên quan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để phòng tránh nguy cơ điện giật hay chập điện.</a:t>
            </a:r>
          </a:p>
          <a:p>
            <a:pPr eaLnBrk="1" hangingPunct="1"/>
            <a:r>
              <a:rPr lang="en-US" altLang="ko-KR">
                <a:latin typeface="Times New Roman" pitchFamily="18" charset="0"/>
                <a:cs typeface="Times New Roman" pitchFamily="18" charset="0"/>
              </a:rPr>
              <a:t>Vấn đề nạn nhân không chú ý:</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Thay aptomat trong không gian chật hẹp gây nguy hiểm bắn tia hồ quang khiến cơ thể nạn nhân tiếp xúc với dòng điện gây chập điện và điện giật.</a:t>
            </a: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buFont typeface="Wingdings" pitchFamily="2" charset="2"/>
              <a:buChar char="§"/>
            </a:pPr>
            <a:r>
              <a:rPr lang="en-US" altLang="ko-KR">
                <a:latin typeface="Times New Roman" pitchFamily="18" charset="0"/>
                <a:cs typeface="Times New Roman" pitchFamily="18" charset="0"/>
              </a:rPr>
              <a:t> Nếu định thao tác gần mạch sạc hay máy móc tại những nơi dễ có nguy cơ chập điện, điện giật nhất định phải ngắt dòng điện rồi mới tiến hành thao tác.</a:t>
            </a:r>
          </a:p>
          <a:p>
            <a:pPr eaLnBrk="1" hangingPunct="1">
              <a:buFont typeface="Wingdings" pitchFamily="2" charset="2"/>
              <a:buChar char="§"/>
            </a:pPr>
            <a:r>
              <a:rPr lang="en-US" altLang="ko-KR">
                <a:latin typeface="Times New Roman" pitchFamily="18" charset="0"/>
                <a:cs typeface="Times New Roman" pitchFamily="18" charset="0"/>
              </a:rPr>
              <a:t> Bằng việc thường xuyên tâp huấn phòng tránh trước các sự cố nguy hiểm hay xảy ra và giáo dục an toàn để đề phòng trước.</a:t>
            </a:r>
          </a:p>
        </p:txBody>
      </p:sp>
      <p:sp>
        <p:nvSpPr>
          <p:cNvPr id="35845"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358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933825"/>
            <a:ext cx="44577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7" name="직사각형 1"/>
          <p:cNvSpPr>
            <a:spLocks noChangeArrowheads="1"/>
          </p:cNvSpPr>
          <p:nvPr/>
        </p:nvSpPr>
        <p:spPr bwMode="auto">
          <a:xfrm>
            <a:off x="3492500" y="5184775"/>
            <a:ext cx="647700" cy="1873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Động lực</a:t>
            </a:r>
            <a:endParaRPr lang="ko-KR" altLang="en-US" sz="900">
              <a:latin typeface="Times New Roman" pitchFamily="18" charset="0"/>
              <a:cs typeface="Times New Roman" pitchFamily="18" charset="0"/>
            </a:endParaRPr>
          </a:p>
        </p:txBody>
      </p:sp>
      <p:sp>
        <p:nvSpPr>
          <p:cNvPr id="35848" name="직사각형 7"/>
          <p:cNvSpPr>
            <a:spLocks noChangeArrowheads="1"/>
          </p:cNvSpPr>
          <p:nvPr/>
        </p:nvSpPr>
        <p:spPr bwMode="auto">
          <a:xfrm>
            <a:off x="4211638" y="5156200"/>
            <a:ext cx="64770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Đèn #1</a:t>
            </a:r>
            <a:endParaRPr lang="ko-KR" altLang="en-US" sz="900">
              <a:latin typeface="Times New Roman" pitchFamily="18" charset="0"/>
              <a:cs typeface="Times New Roman" pitchFamily="18" charset="0"/>
            </a:endParaRPr>
          </a:p>
        </p:txBody>
      </p:sp>
      <p:sp>
        <p:nvSpPr>
          <p:cNvPr id="35849" name="직사각형 8"/>
          <p:cNvSpPr>
            <a:spLocks noChangeArrowheads="1"/>
          </p:cNvSpPr>
          <p:nvPr/>
        </p:nvSpPr>
        <p:spPr bwMode="auto">
          <a:xfrm>
            <a:off x="4886325" y="5156200"/>
            <a:ext cx="64770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Đèn #2</a:t>
            </a:r>
            <a:endParaRPr lang="ko-KR" altLang="en-US" sz="900">
              <a:latin typeface="Times New Roman" pitchFamily="18" charset="0"/>
              <a:cs typeface="Times New Roman" pitchFamily="18" charset="0"/>
            </a:endParaRPr>
          </a:p>
        </p:txBody>
      </p:sp>
      <p:sp>
        <p:nvSpPr>
          <p:cNvPr id="35850" name="직사각형 9"/>
          <p:cNvSpPr>
            <a:spLocks noChangeArrowheads="1"/>
          </p:cNvSpPr>
          <p:nvPr/>
        </p:nvSpPr>
        <p:spPr bwMode="auto">
          <a:xfrm>
            <a:off x="5651500" y="5048250"/>
            <a:ext cx="86518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Tải tụ điện</a:t>
            </a:r>
            <a:endParaRPr lang="ko-KR" altLang="en-US" sz="900">
              <a:latin typeface="Times New Roman" pitchFamily="18" charset="0"/>
              <a:cs typeface="Times New Roman" pitchFamily="18" charset="0"/>
            </a:endParaRPr>
          </a:p>
        </p:txBody>
      </p:sp>
      <p:sp>
        <p:nvSpPr>
          <p:cNvPr id="35851" name="직사각형 10"/>
          <p:cNvSpPr>
            <a:spLocks noChangeArrowheads="1"/>
          </p:cNvSpPr>
          <p:nvPr/>
        </p:nvSpPr>
        <p:spPr bwMode="auto">
          <a:xfrm>
            <a:off x="2411413" y="5076825"/>
            <a:ext cx="936625"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Công tắc chính</a:t>
            </a:r>
            <a:endParaRPr lang="ko-KR" altLang="en-US" sz="900">
              <a:latin typeface="Times New Roman" pitchFamily="18" charset="0"/>
              <a:cs typeface="Times New Roman" pitchFamily="18" charset="0"/>
            </a:endParaRPr>
          </a:p>
        </p:txBody>
      </p:sp>
      <p:sp>
        <p:nvSpPr>
          <p:cNvPr id="35852" name="직사각형 11"/>
          <p:cNvSpPr>
            <a:spLocks noChangeArrowheads="1"/>
          </p:cNvSpPr>
          <p:nvPr/>
        </p:nvSpPr>
        <p:spPr bwMode="auto">
          <a:xfrm>
            <a:off x="3633788" y="3933825"/>
            <a:ext cx="115570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Điểm xảy ra sự cố</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B710A77-7731-4E62-9F43-C256ABC4FE0C}" type="slidenum">
              <a:rPr lang="en-US" altLang="ko-KR" sz="1400" smtClean="0">
                <a:latin typeface="Times New Roman" pitchFamily="18" charset="0"/>
                <a:cs typeface="Times New Roman" pitchFamily="18" charset="0"/>
              </a:rPr>
              <a:pPr eaLnBrk="1" hangingPunct="1"/>
              <a:t>31</a:t>
            </a:fld>
            <a:endParaRPr lang="en-US" altLang="ko-KR" sz="1400" smtClean="0">
              <a:latin typeface="Times New Roman" pitchFamily="18" charset="0"/>
              <a:cs typeface="Times New Roman" pitchFamily="18" charset="0"/>
            </a:endParaRPr>
          </a:p>
        </p:txBody>
      </p:sp>
      <p:sp>
        <p:nvSpPr>
          <p:cNvPr id="3686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686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Ví dụ 3 về tai nạn điện giật[An toàn thi công điện Hàn Quốc]</a:t>
            </a:r>
          </a:p>
          <a:p>
            <a:pPr eaLnBrk="1" hangingPunct="1"/>
            <a:endParaRPr lang="en-US" altLang="ko-KR" sz="800"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Điện giật khi đo điện trở tiếp đất của động cơ</a:t>
            </a:r>
            <a:endParaRPr lang="ko-KR" altLang="en-US" b="1">
              <a:latin typeface="Times New Roman" pitchFamily="18" charset="0"/>
              <a:cs typeface="Times New Roman" pitchFamily="18" charset="0"/>
            </a:endParaRPr>
          </a:p>
          <a:p>
            <a:pPr eaLnBrk="1" hangingPunct="1">
              <a:buFont typeface="Wingdings" pitchFamily="2" charset="2"/>
              <a:buChar char="§"/>
            </a:pPr>
            <a:endParaRPr lang="ko-KR" altLang="en-US" sz="800">
              <a:latin typeface="Times New Roman" pitchFamily="18" charset="0"/>
              <a:cs typeface="Times New Roman" pitchFamily="18" charset="0"/>
            </a:endParaRPr>
          </a:p>
          <a:p>
            <a:pPr eaLnBrk="1" hangingPunct="1">
              <a:buFont typeface="Wingdings" pitchFamily="2" charset="2"/>
              <a:buChar char="§"/>
            </a:pPr>
            <a:r>
              <a:rPr lang="en-US" altLang="ko-KR">
                <a:latin typeface="Times New Roman" pitchFamily="18" charset="0"/>
                <a:cs typeface="Times New Roman" pitchFamily="18" charset="0"/>
              </a:rPr>
              <a:t> Để đo điện trở tiếp đất của vỏ ngoài động cơ đang chạy, sau khi cài đặt điện trở tiếp đất kế, trong lúc nạn nhân cố định vỏ ngoài động cơ bằng clip đã bị điện giật do chạm tay vào vỏ động cơ đang nạp điện( khi lớp cách điện mất đi).</a:t>
            </a:r>
            <a:endParaRPr lang="ko-KR" altLang="en-US">
              <a:latin typeface="Times New Roman" pitchFamily="18" charset="0"/>
              <a:cs typeface="Times New Roman" pitchFamily="18" charset="0"/>
            </a:endParaRPr>
          </a:p>
          <a:p>
            <a:pPr eaLnBrk="1" hangingPunct="1">
              <a:buFont typeface="Wingdings" pitchFamily="2" charset="2"/>
              <a:buNone/>
            </a:pPr>
            <a:endParaRPr lang="ko-KR" altLang="en-US">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Do không nhận biết được khi động cơ nạp điện thì vỏ ngoài bị mất đi lớp cách điện nên nạn nhân đã tiếp xúc tay không với vỏ máy đãn đến tai nạn điện giật nguy hiểm.</a:t>
            </a:r>
          </a:p>
          <a:p>
            <a:pPr eaLnBrk="1" hangingPunct="1"/>
            <a:endParaRPr lang="ko-KR" altLang="en-US">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Nếu muốn đo điện trở tiếp đất của vỏ máy khi máy đang hoạt động</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Phải dùng trang bị bảo hộ(găng tay cách điện, giày cách điện vv..)</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Tìm hiểu rõ trạng thái lắp đặt của máy cũng như các yếu tố có thể </a:t>
            </a:r>
          </a:p>
          <a:p>
            <a:pPr eaLnBrk="1" hangingPunct="1"/>
            <a:r>
              <a:rPr lang="en-US" altLang="ko-KR">
                <a:latin typeface="Times New Roman" pitchFamily="18" charset="0"/>
                <a:cs typeface="Times New Roman" pitchFamily="18" charset="0"/>
              </a:rPr>
              <a:t> gây nguy hiểm xung quanh.</a:t>
            </a:r>
          </a:p>
          <a:p>
            <a:pPr eaLnBrk="1" hangingPunct="1"/>
            <a:r>
              <a:rPr lang="en-US" altLang="ko-KR">
                <a:latin typeface="Times New Roman" pitchFamily="18" charset="0"/>
                <a:cs typeface="Times New Roman" pitchFamily="18" charset="0"/>
              </a:rPr>
              <a:t>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Kiểm tra điện áp vỏ máy.</a:t>
            </a:r>
            <a:endParaRPr lang="ko-KR" altLang="en-US">
              <a:latin typeface="Times New Roman" pitchFamily="18" charset="0"/>
              <a:cs typeface="Times New Roman" pitchFamily="18" charset="0"/>
            </a:endParaRPr>
          </a:p>
        </p:txBody>
      </p:sp>
      <p:sp>
        <p:nvSpPr>
          <p:cNvPr id="36869"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368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2997200"/>
            <a:ext cx="1538288"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AF25217-09D2-42CF-9260-FD9BC4FF464B}" type="slidenum">
              <a:rPr lang="en-US" altLang="ko-KR" sz="1400" smtClean="0">
                <a:latin typeface="Times New Roman" pitchFamily="18" charset="0"/>
                <a:cs typeface="Times New Roman" pitchFamily="18" charset="0"/>
              </a:rPr>
              <a:pPr eaLnBrk="1" hangingPunct="1"/>
              <a:t>32</a:t>
            </a:fld>
            <a:endParaRPr lang="en-US" altLang="ko-KR" sz="1400" smtClean="0">
              <a:latin typeface="Times New Roman" pitchFamily="18" charset="0"/>
              <a:cs typeface="Times New Roman" pitchFamily="18" charset="0"/>
            </a:endParaRPr>
          </a:p>
        </p:txBody>
      </p:sp>
      <p:sp>
        <p:nvSpPr>
          <p:cNvPr id="37891" name="Text Box 2"/>
          <p:cNvSpPr txBox="1">
            <a:spLocks noChangeArrowheads="1"/>
          </p:cNvSpPr>
          <p:nvPr/>
        </p:nvSpPr>
        <p:spPr bwMode="auto">
          <a:xfrm>
            <a:off x="684213" y="892175"/>
            <a:ext cx="27066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2-2. Rò điện(</a:t>
            </a:r>
            <a:r>
              <a:rPr lang="ko-KR" altLang="en-US" b="1">
                <a:latin typeface="Times New Roman" pitchFamily="18" charset="0"/>
                <a:cs typeface="Times New Roman" pitchFamily="18" charset="0"/>
              </a:rPr>
              <a:t>漏電</a:t>
            </a:r>
            <a:r>
              <a:rPr lang="en-US" altLang="ko-KR" b="1">
                <a:latin typeface="Times New Roman" pitchFamily="18" charset="0"/>
                <a:cs typeface="Times New Roman" pitchFamily="18" charset="0"/>
              </a:rPr>
              <a:t>, Electric Leakage</a:t>
            </a:r>
            <a:r>
              <a:rPr lang="en-US" altLang="ko-KR">
                <a:latin typeface="Times New Roman" pitchFamily="18" charset="0"/>
                <a:cs typeface="Times New Roman" pitchFamily="18" charset="0"/>
              </a:rPr>
              <a:t>)</a:t>
            </a:r>
          </a:p>
        </p:txBody>
      </p:sp>
      <p:sp>
        <p:nvSpPr>
          <p:cNvPr id="37892"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7893" name="Text Box 5"/>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sp>
        <p:nvSpPr>
          <p:cNvPr id="37894"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pPr>
            <a:r>
              <a:rPr lang="en-US" altLang="ko-KR" b="1">
                <a:latin typeface="Times New Roman" pitchFamily="18" charset="0"/>
                <a:cs typeface="Times New Roman" pitchFamily="18" charset="0"/>
              </a:rPr>
              <a:t>(1) Rò điện là?</a:t>
            </a:r>
          </a:p>
          <a:p>
            <a:pPr eaLnBrk="1" hangingPunct="1">
              <a:lnSpc>
                <a:spcPct val="110000"/>
              </a:lnSpc>
            </a:pPr>
            <a:r>
              <a:rPr lang="en-US" altLang="ko-KR">
                <a:latin typeface="Times New Roman" pitchFamily="18" charset="0"/>
                <a:cs typeface="Times New Roman" pitchFamily="18" charset="0"/>
              </a:rPr>
              <a:t>Là hiện tượng cách điện không hết khiến một phần dòng điện chạy ra ngoài và chạy vào vật dẫn xung quanh.</a:t>
            </a:r>
          </a:p>
          <a:p>
            <a:pPr eaLnBrk="1" hangingPunct="1">
              <a:lnSpc>
                <a:spcPct val="110000"/>
              </a:lnSpc>
            </a:pPr>
            <a:r>
              <a:rPr lang="en-US" altLang="ko-KR">
                <a:latin typeface="Times New Roman" pitchFamily="18" charset="0"/>
                <a:cs typeface="Times New Roman" pitchFamily="18" charset="0"/>
              </a:rPr>
              <a:t>Nguyên nhân là do mất lớp cách điện của đường điện trong thiết bị điện cũ do bong vỏ ngoài đường điện hay bị ẩm.</a:t>
            </a:r>
          </a:p>
          <a:p>
            <a:pPr eaLnBrk="1" hangingPunct="1">
              <a:lnSpc>
                <a:spcPct val="110000"/>
              </a:lnSpc>
            </a:pPr>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Tác hại của rò điện</a:t>
            </a:r>
            <a:r>
              <a:rPr lang="ko-KR" altLang="en-US" b="1">
                <a:latin typeface="Times New Roman" pitchFamily="18" charset="0"/>
                <a:cs typeface="Times New Roman" pitchFamily="18" charset="0"/>
              </a:rPr>
              <a:t/>
            </a:r>
            <a:br>
              <a:rPr lang="ko-KR" altLang="en-US" b="1">
                <a:latin typeface="Times New Roman" pitchFamily="18" charset="0"/>
                <a:cs typeface="Times New Roman" pitchFamily="18" charset="0"/>
              </a:rPr>
            </a:br>
            <a:r>
              <a:rPr lang="en-US" altLang="ko-KR">
                <a:latin typeface="Times New Roman" pitchFamily="18" charset="0"/>
                <a:cs typeface="Times New Roman" pitchFamily="18" charset="0"/>
              </a:rPr>
              <a:t>Nếu dòng điện rò rỉ và phần rò điện ấy tiếp xúc với vật mới có thể gây giật điện. Và giống như tin tức thời sự thường đưa, nếu để tiếp xúc với vật liệu dễ cháy sẽ gây ra hỏa hoạn lớn.</a:t>
            </a:r>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(3) Chống rò điện</a:t>
            </a:r>
            <a:r>
              <a:rPr lang="ko-KR" altLang="en-US" b="1">
                <a:latin typeface="Times New Roman" pitchFamily="18" charset="0"/>
                <a:cs typeface="Times New Roman" pitchFamily="18" charset="0"/>
              </a:rPr>
              <a:t/>
            </a:r>
            <a:br>
              <a:rPr lang="ko-KR" altLang="en-US" b="1">
                <a:latin typeface="Times New Roman" pitchFamily="18" charset="0"/>
                <a:cs typeface="Times New Roman" pitchFamily="18" charset="0"/>
              </a:rPr>
            </a:br>
            <a:r>
              <a:rPr lang="en-US" altLang="ko-KR">
                <a:latin typeface="Times New Roman" pitchFamily="18" charset="0"/>
                <a:cs typeface="Times New Roman" pitchFamily="18" charset="0"/>
              </a:rPr>
              <a:t>Cách chống rò điện tốt nhất là với những đường dây điện cũ mòn hay sử dụng, luôn luôn phải kiểm tra xem có bị tách lớp vỏ cách điện ra hay không. Và nếu là đường điện ngoài trời cần chú ý không để dính nước mưa, và với đường điện trong nhà như máy giặt, bình nước nóng thì không nên dùng nước để lau chùi. Hay không nên dùng nước để lau chùi tụ điện xung quanh bếp và tụ điện trong nhà vệ sinh. Nếu bẩn mà nhất định phải dùng nước để lau chùi cần sử dụng cách lau bằng khăn ướt. Và nếu sử dụng ở nơi có điện áp 220V </a:t>
            </a:r>
            <a:r>
              <a:rPr lang="en-US" altLang="ko-KR" b="1">
                <a:latin typeface="Times New Roman" pitchFamily="18" charset="0"/>
                <a:cs typeface="Times New Roman" pitchFamily="18" charset="0"/>
              </a:rPr>
              <a:t>nhất định phải lắp đặt cầu giao chống rò điện</a:t>
            </a:r>
            <a:r>
              <a:rPr lang="en-US" altLang="ko-KR">
                <a:latin typeface="Times New Roman" pitchFamily="18" charset="0"/>
                <a:cs typeface="Times New Roman" pitchFamily="18" charset="0"/>
              </a:rPr>
              <a:t> để nếu xảy ra rò điện thì dòng điện sẽ tự động bị chặn. Nếu muốn kiểm tra rò điện cần ngắt điện tất cả các thiết bị và đưa điện kế vào đo. Điện kế có thể phát hiện điểm rò điển.</a:t>
            </a:r>
            <a:endParaRPr lang="en-US" altLang="ko-KR"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69DB913-2BE7-4CEC-ACE3-E77F5A44575C}" type="slidenum">
              <a:rPr lang="en-US" altLang="ko-KR" sz="1400" smtClean="0">
                <a:latin typeface="Times New Roman" pitchFamily="18" charset="0"/>
                <a:cs typeface="Times New Roman" pitchFamily="18" charset="0"/>
              </a:rPr>
              <a:pPr eaLnBrk="1" hangingPunct="1"/>
              <a:t>33</a:t>
            </a:fld>
            <a:endParaRPr lang="en-US" altLang="ko-KR" sz="1400" smtClean="0">
              <a:latin typeface="Times New Roman" pitchFamily="18" charset="0"/>
              <a:cs typeface="Times New Roman" pitchFamily="18" charset="0"/>
            </a:endParaRPr>
          </a:p>
        </p:txBody>
      </p:sp>
      <p:sp>
        <p:nvSpPr>
          <p:cNvPr id="3891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891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4</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Cầu giao chống rò điện(ELB) : ELCB (Earth Leakage Circuit Breaker)</a:t>
            </a:r>
          </a:p>
          <a:p>
            <a:pPr eaLnBrk="1" hangingPunct="1"/>
            <a:endParaRPr lang="en-US" altLang="ko-KR" b="1">
              <a:latin typeface="Times New Roman" pitchFamily="18" charset="0"/>
              <a:cs typeface="Times New Roman" pitchFamily="18" charset="0"/>
            </a:endParaRPr>
          </a:p>
          <a:p>
            <a:pPr eaLnBrk="1" hangingPunct="1">
              <a:buFont typeface="Wingdings" pitchFamily="2" charset="2"/>
              <a:buChar char="ü"/>
            </a:pPr>
            <a:r>
              <a:rPr lang="en-US" altLang="ko-KR">
                <a:latin typeface="Times New Roman" pitchFamily="18" charset="0"/>
                <a:cs typeface="Times New Roman" pitchFamily="18" charset="0"/>
              </a:rPr>
              <a:t> ELB(Earth Leakage circuit Breaker) khi phát sinh sự cố tiếp địa của thiết bị đèn và mạch điện bởi các bộ phận liên quan của bộ phận chống rò, mạch điện tử, bộ phận ngăn vv… được lắp chung một vỏ, căn cứ vào từ thông liên quan đến độ lớn của dòng điện tiếp đất sẽ phát sinh lực điện trên cuộn thứ cấp của máy biến áp và chốt pin sẽ biến thành vật có từ tính. Dòng điện phát sinh trong máy biến áp được tiếp nhận, khuyếch đại tại IC chuyên dụng, nếu đánh giá độ lớn mà vượt quá tiêu chuẩn nhất định sẽ khiến phát sinh nguồn ra, rơ le được kích hoạt(ON) sau đó dòng điện chạy qua cuộn nhả(trip coil) rồi khiến aptomat dòng rò nhảy.</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buFont typeface="Wingdings" pitchFamily="2" charset="2"/>
              <a:buChar char="ü"/>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Hơn nữa, do sự cố tiếp địa ảnh hưởng đến sinh mạng nên khi cần kiểm tra hoạt động của aptomat cần tạo mạch tiếp địa nhân tạo trong phần thân thiết bị test để chỉ cần nhấn nút test thì dòng điện sẽ được chạy qua và aptomat dòng rò sẽ  kiểm tra chính xác hoạt động. Hiện nay, tất cả các aptomat dòng rò đều được gắn thiết bị test này.</a:t>
            </a:r>
          </a:p>
        </p:txBody>
      </p:sp>
      <p:sp>
        <p:nvSpPr>
          <p:cNvPr id="38917"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3891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4149725"/>
            <a:ext cx="1081087"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4149725"/>
            <a:ext cx="1785937"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9713" y="4149725"/>
            <a:ext cx="1824037"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1"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7238" y="4149725"/>
            <a:ext cx="10795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2"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9763" y="4149725"/>
            <a:ext cx="1249362"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23" name="Text Box 12"/>
          <p:cNvSpPr txBox="1">
            <a:spLocks noChangeArrowheads="1"/>
          </p:cNvSpPr>
          <p:nvPr/>
        </p:nvSpPr>
        <p:spPr bwMode="auto">
          <a:xfrm>
            <a:off x="6208713" y="6075363"/>
            <a:ext cx="9652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Nút kiểm tra</a:t>
            </a:r>
            <a:endParaRPr lang="ko-KR" altLang="en-US">
              <a:latin typeface="Times New Roman" pitchFamily="18" charset="0"/>
              <a:cs typeface="Times New Roman" pitchFamily="18" charset="0"/>
            </a:endParaRPr>
          </a:p>
        </p:txBody>
      </p:sp>
      <p:sp>
        <p:nvSpPr>
          <p:cNvPr id="38924" name="Freeform 13"/>
          <p:cNvSpPr>
            <a:spLocks/>
          </p:cNvSpPr>
          <p:nvPr/>
        </p:nvSpPr>
        <p:spPr bwMode="auto">
          <a:xfrm>
            <a:off x="5651500" y="5084763"/>
            <a:ext cx="1873250" cy="1296987"/>
          </a:xfrm>
          <a:custGeom>
            <a:avLst/>
            <a:gdLst>
              <a:gd name="T0" fmla="*/ 0 w 1180"/>
              <a:gd name="T1" fmla="*/ 0 h 817"/>
              <a:gd name="T2" fmla="*/ 2147483647 w 1180"/>
              <a:gd name="T3" fmla="*/ 2147483647 h 817"/>
              <a:gd name="T4" fmla="*/ 2147483647 w 1180"/>
              <a:gd name="T5" fmla="*/ 2147483647 h 817"/>
              <a:gd name="T6" fmla="*/ 2147483647 w 1180"/>
              <a:gd name="T7" fmla="*/ 2147483647 h 8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0" h="817">
                <a:moveTo>
                  <a:pt x="0" y="0"/>
                </a:moveTo>
                <a:lnTo>
                  <a:pt x="363" y="817"/>
                </a:lnTo>
                <a:lnTo>
                  <a:pt x="1044" y="817"/>
                </a:lnTo>
                <a:lnTo>
                  <a:pt x="1180" y="136"/>
                </a:lnTo>
              </a:path>
            </a:pathLst>
          </a:custGeom>
          <a:noFill/>
          <a:ln w="9525" cap="flat" cmpd="sng">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38925" name="Text Box 14"/>
          <p:cNvSpPr txBox="1">
            <a:spLocks noChangeArrowheads="1"/>
          </p:cNvSpPr>
          <p:nvPr/>
        </p:nvSpPr>
        <p:spPr bwMode="auto">
          <a:xfrm>
            <a:off x="5608638" y="4221163"/>
            <a:ext cx="12430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 xanh:bình thường</a:t>
            </a:r>
            <a:endParaRPr lang="ko-KR" altLang="en-US" sz="800">
              <a:latin typeface="Times New Roman" pitchFamily="18" charset="0"/>
              <a:cs typeface="Times New Roman" pitchFamily="18" charset="0"/>
            </a:endParaRPr>
          </a:p>
          <a:p>
            <a:pPr eaLnBrk="1" hangingPunct="1"/>
            <a:r>
              <a:rPr lang="en-US" altLang="ko-KR" sz="800">
                <a:latin typeface="Times New Roman" pitchFamily="18" charset="0"/>
                <a:cs typeface="Times New Roman" pitchFamily="18" charset="0"/>
              </a:rPr>
              <a:t>Màu đỏ: rò điện</a:t>
            </a:r>
            <a:endParaRPr lang="ko-KR" altLang="en-US" sz="800">
              <a:latin typeface="Times New Roman" pitchFamily="18" charset="0"/>
              <a:cs typeface="Times New Roman" pitchFamily="18" charset="0"/>
            </a:endParaRPr>
          </a:p>
        </p:txBody>
      </p:sp>
      <p:sp>
        <p:nvSpPr>
          <p:cNvPr id="38926" name="Text Box 15"/>
          <p:cNvSpPr txBox="1">
            <a:spLocks noChangeArrowheads="1"/>
          </p:cNvSpPr>
          <p:nvPr/>
        </p:nvSpPr>
        <p:spPr bwMode="auto">
          <a:xfrm>
            <a:off x="7667625" y="4221163"/>
            <a:ext cx="827088"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 Nếu bị rò, nút </a:t>
            </a:r>
          </a:p>
          <a:p>
            <a:pPr eaLnBrk="1" hangingPunct="1"/>
            <a:r>
              <a:rPr lang="en-US" altLang="ko-KR" sz="800">
                <a:latin typeface="Times New Roman" pitchFamily="18" charset="0"/>
                <a:cs typeface="Times New Roman" pitchFamily="18" charset="0"/>
              </a:rPr>
              <a:t> vàng sẽ nổi lên</a:t>
            </a:r>
            <a:endParaRPr lang="ko-KR" altLang="en-US" sz="800">
              <a:latin typeface="Times New Roman" pitchFamily="18" charset="0"/>
              <a:cs typeface="Times New Roman" pitchFamily="18" charset="0"/>
            </a:endParaRPr>
          </a:p>
        </p:txBody>
      </p:sp>
      <p:sp>
        <p:nvSpPr>
          <p:cNvPr id="38927" name="Text Box 16"/>
          <p:cNvSpPr txBox="1">
            <a:spLocks noChangeArrowheads="1"/>
          </p:cNvSpPr>
          <p:nvPr/>
        </p:nvSpPr>
        <p:spPr bwMode="auto">
          <a:xfrm>
            <a:off x="5940425" y="3789363"/>
            <a:ext cx="1820863"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&lt;Thiết bị biểu thị rò điện&gt;</a:t>
            </a:r>
          </a:p>
        </p:txBody>
      </p:sp>
      <p:sp>
        <p:nvSpPr>
          <p:cNvPr id="38928" name="Text Box 17"/>
          <p:cNvSpPr txBox="1">
            <a:spLocks noChangeArrowheads="1"/>
          </p:cNvSpPr>
          <p:nvPr/>
        </p:nvSpPr>
        <p:spPr bwMode="auto">
          <a:xfrm>
            <a:off x="1954213" y="3789363"/>
            <a:ext cx="1417637"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&lt;Thiết bị dùng tay&gt;</a:t>
            </a:r>
          </a:p>
        </p:txBody>
      </p:sp>
      <p:sp>
        <p:nvSpPr>
          <p:cNvPr id="38929" name="Text Box 17"/>
          <p:cNvSpPr txBox="1">
            <a:spLocks noChangeArrowheads="1"/>
          </p:cNvSpPr>
          <p:nvPr/>
        </p:nvSpPr>
        <p:spPr bwMode="auto">
          <a:xfrm>
            <a:off x="2212975" y="4124325"/>
            <a:ext cx="708025"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Phía nguồn</a:t>
            </a:r>
          </a:p>
        </p:txBody>
      </p:sp>
      <p:sp>
        <p:nvSpPr>
          <p:cNvPr id="38930" name="Text Box 17"/>
          <p:cNvSpPr txBox="1">
            <a:spLocks noChangeArrowheads="1"/>
          </p:cNvSpPr>
          <p:nvPr/>
        </p:nvSpPr>
        <p:spPr bwMode="auto">
          <a:xfrm>
            <a:off x="2212975" y="5611813"/>
            <a:ext cx="736600" cy="257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Phía phụ tải</a:t>
            </a:r>
          </a:p>
        </p:txBody>
      </p:sp>
      <p:sp>
        <p:nvSpPr>
          <p:cNvPr id="38931" name="Text Box 17"/>
          <p:cNvSpPr txBox="1">
            <a:spLocks noChangeArrowheads="1"/>
          </p:cNvSpPr>
          <p:nvPr/>
        </p:nvSpPr>
        <p:spPr bwMode="auto">
          <a:xfrm>
            <a:off x="7870825" y="5229225"/>
            <a:ext cx="860425" cy="2587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Nút biểu thị rò</a:t>
            </a:r>
          </a:p>
        </p:txBody>
      </p:sp>
      <p:sp>
        <p:nvSpPr>
          <p:cNvPr id="38932" name="Text Box 17"/>
          <p:cNvSpPr txBox="1">
            <a:spLocks noChangeArrowheads="1"/>
          </p:cNvSpPr>
          <p:nvPr/>
        </p:nvSpPr>
        <p:spPr bwMode="auto">
          <a:xfrm>
            <a:off x="5867400" y="5253038"/>
            <a:ext cx="635000" cy="4238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Nút biểu thị rò</a:t>
            </a:r>
          </a:p>
        </p:txBody>
      </p:sp>
      <p:sp>
        <p:nvSpPr>
          <p:cNvPr id="38933" name="Text Box 17"/>
          <p:cNvSpPr txBox="1">
            <a:spLocks noChangeArrowheads="1"/>
          </p:cNvSpPr>
          <p:nvPr/>
        </p:nvSpPr>
        <p:spPr bwMode="auto">
          <a:xfrm>
            <a:off x="911225" y="4408488"/>
            <a:ext cx="347663"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Mở</a:t>
            </a:r>
          </a:p>
        </p:txBody>
      </p:sp>
      <p:sp>
        <p:nvSpPr>
          <p:cNvPr id="38934" name="Text Box 17"/>
          <p:cNvSpPr txBox="1">
            <a:spLocks noChangeArrowheads="1"/>
          </p:cNvSpPr>
          <p:nvPr/>
        </p:nvSpPr>
        <p:spPr bwMode="auto">
          <a:xfrm>
            <a:off x="2001838" y="4408488"/>
            <a:ext cx="338137"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Tắt</a:t>
            </a:r>
          </a:p>
        </p:txBody>
      </p:sp>
      <p:sp>
        <p:nvSpPr>
          <p:cNvPr id="2" name="직사각형 1"/>
          <p:cNvSpPr/>
          <p:nvPr/>
        </p:nvSpPr>
        <p:spPr>
          <a:xfrm>
            <a:off x="2916238" y="4481513"/>
            <a:ext cx="927100" cy="387350"/>
          </a:xfrm>
          <a:prstGeom prst="rect">
            <a:avLst/>
          </a:prstGeom>
          <a:solidFill>
            <a:schemeClr val="bg2">
              <a:lumMod val="20000"/>
              <a:lumOff val="80000"/>
            </a:schemeClr>
          </a:solidFill>
        </p:spPr>
        <p:txBody>
          <a:bodyPr>
            <a:spAutoFit/>
          </a:bodyPr>
          <a:lstStyle/>
          <a:p>
            <a:pPr>
              <a:defRPr/>
            </a:pPr>
            <a:r>
              <a:rPr lang="en-US" altLang="ko-KR" sz="800" dirty="0">
                <a:latin typeface="Times New Roman" panose="02020603050405020304" pitchFamily="18" charset="0"/>
                <a:cs typeface="Times New Roman" panose="02020603050405020304" pitchFamily="18" charset="0"/>
              </a:rPr>
              <a:t>Over-current trip</a:t>
            </a:r>
          </a:p>
          <a:p>
            <a:pPr>
              <a:defRPr/>
            </a:pPr>
            <a:r>
              <a:rPr lang="en-US" altLang="ko-KR" sz="800" dirty="0">
                <a:latin typeface="Times New Roman" panose="02020603050405020304" pitchFamily="18" charset="0"/>
                <a:cs typeface="Times New Roman" panose="02020603050405020304" pitchFamily="18" charset="0"/>
              </a:rPr>
              <a:t>Leakage trip  </a:t>
            </a:r>
            <a:endParaRPr lang="ko-KR" altLang="en-US" sz="8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5B66CC5-BFAD-402E-B911-E266A439BC97}" type="slidenum">
              <a:rPr lang="en-US" altLang="ko-KR" sz="1400" smtClean="0">
                <a:latin typeface="Times New Roman" pitchFamily="18" charset="0"/>
                <a:cs typeface="Times New Roman" pitchFamily="18" charset="0"/>
              </a:rPr>
              <a:pPr eaLnBrk="1" hangingPunct="1"/>
              <a:t>34</a:t>
            </a:fld>
            <a:endParaRPr lang="en-US" altLang="ko-KR" sz="1400" smtClean="0">
              <a:latin typeface="Times New Roman" pitchFamily="18" charset="0"/>
              <a:cs typeface="Times New Roman" pitchFamily="18" charset="0"/>
            </a:endParaRPr>
          </a:p>
        </p:txBody>
      </p:sp>
      <p:sp>
        <p:nvSpPr>
          <p:cNvPr id="39939"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3994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5</a:t>
            </a:r>
            <a:r>
              <a:rPr lang="en-US" altLang="en-US" b="1">
                <a:latin typeface="Times New Roman" pitchFamily="18" charset="0"/>
                <a:cs typeface="Times New Roman" pitchFamily="18" charset="0"/>
              </a:rPr>
              <a:t>) </a:t>
            </a:r>
            <a:r>
              <a:rPr lang="en-US" altLang="ko-KR" b="1">
                <a:latin typeface="Times New Roman" pitchFamily="18" charset="0"/>
                <a:cs typeface="Times New Roman" pitchFamily="18" charset="0"/>
              </a:rPr>
              <a:t>ELCB</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và</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MCCB</a:t>
            </a: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① Thiết bị chống rò điện</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viết tắt của từ Earth Leakage Circuit Breaker, có thể gọi là </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ELB</a:t>
            </a:r>
            <a:r>
              <a:rPr lang="en-US" altLang="ko-KR">
                <a:latin typeface="Times New Roman" pitchFamily="18" charset="0"/>
                <a:cs typeface="Times New Roman" pitchFamily="18" charset="0"/>
              </a:rPr>
              <a:t> hay</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ELCB</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 Tự động ngắt khi có rò điện, chập dây hay quá tải, nhưng </a:t>
            </a:r>
            <a:r>
              <a:rPr lang="en-US" altLang="ko-KR" b="1">
                <a:latin typeface="Times New Roman" pitchFamily="18" charset="0"/>
                <a:cs typeface="Times New Roman" pitchFamily="18" charset="0"/>
              </a:rPr>
              <a:t>mục đích chính là chặn rò điện</a:t>
            </a:r>
            <a:r>
              <a:rPr lang="en-US" altLang="ko-KR">
                <a:latin typeface="Times New Roman" pitchFamily="18" charset="0"/>
                <a:cs typeface="Times New Roman" pitchFamily="18" charset="0"/>
              </a:rPr>
              <a:t>.</a:t>
            </a:r>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 Cũng có loại cầu giao chỉ để ngắt dòng điện rò.</a:t>
            </a:r>
          </a:p>
          <a:p>
            <a:pPr eaLnBrk="1" hangingPunct="1"/>
            <a:r>
              <a:rPr lang="en-US" altLang="ko-KR">
                <a:latin typeface="Times New Roman" pitchFamily="18" charset="0"/>
                <a:cs typeface="Times New Roman" pitchFamily="18" charset="0"/>
              </a:rPr>
              <a:t>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ELB có màu xanh lục và màu xanh lam là cầu giao chỉ ngắt rò điện mà không ngắt tải.</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Aptomat khối</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viết tắt của từ Molded Case Circuit Breaker, có thể gọi là </a:t>
            </a:r>
            <a:r>
              <a:rPr lang="en-US" altLang="ko-KR" b="1">
                <a:latin typeface="Times New Roman" pitchFamily="18" charset="0"/>
                <a:cs typeface="Times New Roman" pitchFamily="18" charset="0"/>
              </a:rPr>
              <a:t>MCCB</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Cũng có thể là viết tắt của No Fuse Breaker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a:t>
            </a:r>
            <a:r>
              <a:rPr lang="en-US" altLang="ko-KR" b="1">
                <a:latin typeface="Times New Roman" pitchFamily="18" charset="0"/>
                <a:cs typeface="Times New Roman" pitchFamily="18" charset="0"/>
              </a:rPr>
              <a:t>NFB</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 Ngắt tải, chập dây và </a:t>
            </a:r>
            <a:r>
              <a:rPr lang="en-US" altLang="ko-KR" b="1">
                <a:latin typeface="Times New Roman" pitchFamily="18" charset="0"/>
                <a:cs typeface="Times New Roman" pitchFamily="18" charset="0"/>
              </a:rPr>
              <a:t>mục đích chính là ngắt quá tải</a:t>
            </a:r>
            <a:r>
              <a:rPr lang="en-US" altLang="ko-KR">
                <a:latin typeface="Times New Roman" pitchFamily="18" charset="0"/>
                <a:cs typeface="Times New Roman" pitchFamily="18" charset="0"/>
              </a:rPr>
              <a:t>. Thường thì không bảo vệ được dòng rò.</a:t>
            </a:r>
          </a:p>
          <a:p>
            <a:pPr eaLnBrk="1" hangingPunct="1"/>
            <a:r>
              <a:rPr lang="en-US" altLang="ko-KR">
                <a:latin typeface="Times New Roman" pitchFamily="18" charset="0"/>
                <a:cs typeface="Times New Roman" pitchFamily="18" charset="0"/>
              </a:rPr>
              <a:t>    - Là công tắc điện có nhiệm vụ đóng mở tải điện và khi dòng điện quá lớn và mạch hở, điều khiển thiết bị bên trong tự động ngắt khỏi mạch điện. Tức, là chức năng bảo vệ thiết bị điện bằng cách OFF nguồn điện khi xuất hiện dòng điện quá độ do chập dây hay quá tải.</a:t>
            </a:r>
          </a:p>
        </p:txBody>
      </p:sp>
      <p:sp>
        <p:nvSpPr>
          <p:cNvPr id="39941"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B63035A-B863-40B8-82FF-6C3480F4AE76}" type="slidenum">
              <a:rPr lang="en-US" altLang="ko-KR" sz="1400" smtClean="0">
                <a:latin typeface="Times New Roman" pitchFamily="18" charset="0"/>
                <a:cs typeface="Times New Roman" pitchFamily="18" charset="0"/>
              </a:rPr>
              <a:pPr eaLnBrk="1" hangingPunct="1"/>
              <a:t>35</a:t>
            </a:fld>
            <a:endParaRPr lang="en-US" altLang="ko-KR" sz="1400" smtClean="0">
              <a:latin typeface="Times New Roman" pitchFamily="18" charset="0"/>
              <a:cs typeface="Times New Roman" pitchFamily="18" charset="0"/>
            </a:endParaRPr>
          </a:p>
        </p:txBody>
      </p:sp>
      <p:sp>
        <p:nvSpPr>
          <p:cNvPr id="40963" name="Text Box 2"/>
          <p:cNvSpPr txBox="1">
            <a:spLocks noChangeArrowheads="1"/>
          </p:cNvSpPr>
          <p:nvPr/>
        </p:nvSpPr>
        <p:spPr bwMode="auto">
          <a:xfrm>
            <a:off x="684213" y="549275"/>
            <a:ext cx="1295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2-3. Cháy điện</a:t>
            </a:r>
            <a:endParaRPr lang="ko-KR" altLang="en-US">
              <a:latin typeface="Times New Roman" pitchFamily="18" charset="0"/>
              <a:cs typeface="Times New Roman" pitchFamily="18" charset="0"/>
            </a:endParaRPr>
          </a:p>
        </p:txBody>
      </p:sp>
      <p:sp>
        <p:nvSpPr>
          <p:cNvPr id="40964" name="Text Box 3"/>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0965"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sp>
        <p:nvSpPr>
          <p:cNvPr id="40966" name="Rectangle 5"/>
          <p:cNvSpPr>
            <a:spLocks noChangeArrowheads="1"/>
          </p:cNvSpPr>
          <p:nvPr/>
        </p:nvSpPr>
        <p:spPr bwMode="auto">
          <a:xfrm>
            <a:off x="827088" y="9255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pPr>
            <a:r>
              <a:rPr lang="en-US" altLang="ko-KR" b="1">
                <a:latin typeface="Times New Roman" pitchFamily="18" charset="0"/>
                <a:cs typeface="Times New Roman" pitchFamily="18" charset="0"/>
              </a:rPr>
              <a:t>(1) Hiện trạng phát sinh cháy điện</a:t>
            </a:r>
            <a:endParaRPr lang="ko-KR" altLang="en-US" b="1">
              <a:latin typeface="Times New Roman" pitchFamily="18" charset="0"/>
              <a:cs typeface="Times New Roman" pitchFamily="18" charset="0"/>
            </a:endParaRPr>
          </a:p>
          <a:p>
            <a:pPr eaLnBrk="1" hangingPunct="1">
              <a:lnSpc>
                <a:spcPct val="110000"/>
              </a:lnSpc>
            </a:pP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KESCO(Hệ thống thống kê thiệt hại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http://www.kesco.net/ ) bảng biểu thị cháy điện trong nước năm 2008</a:t>
            </a:r>
            <a:endParaRPr lang="ko-KR" altLang="en-US">
              <a:latin typeface="Times New Roman" pitchFamily="18" charset="0"/>
              <a:cs typeface="Times New Roman" pitchFamily="18" charset="0"/>
            </a:endParaRPr>
          </a:p>
        </p:txBody>
      </p:sp>
      <p:pic>
        <p:nvPicPr>
          <p:cNvPr id="4096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508500"/>
            <a:ext cx="4772025"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8" name="Text Box 7"/>
          <p:cNvSpPr txBox="1">
            <a:spLocks noChangeArrowheads="1"/>
          </p:cNvSpPr>
          <p:nvPr/>
        </p:nvSpPr>
        <p:spPr bwMode="auto">
          <a:xfrm>
            <a:off x="1403350" y="4237038"/>
            <a:ext cx="7631113"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Cục phòng chống thiên tai hỏa hoạn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&lt;Kết quả thống kê hiện tượng cháy nổ điện phát sinh tháng 7 năm 2009&gt; </a:t>
            </a:r>
          </a:p>
        </p:txBody>
      </p:sp>
      <p:pic>
        <p:nvPicPr>
          <p:cNvPr id="40969"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628775"/>
            <a:ext cx="5905500" cy="242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70" name="Line 11"/>
          <p:cNvSpPr>
            <a:spLocks noChangeShapeType="1"/>
          </p:cNvSpPr>
          <p:nvPr/>
        </p:nvSpPr>
        <p:spPr bwMode="auto">
          <a:xfrm>
            <a:off x="827088" y="4149725"/>
            <a:ext cx="7273925"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0971" name="직사각형 1"/>
          <p:cNvSpPr>
            <a:spLocks noChangeArrowheads="1"/>
          </p:cNvSpPr>
          <p:nvPr/>
        </p:nvSpPr>
        <p:spPr bwMode="auto">
          <a:xfrm>
            <a:off x="6443663" y="3373438"/>
            <a:ext cx="576262" cy="1587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Người</a:t>
            </a:r>
            <a:endParaRPr lang="ko-KR" altLang="en-US" sz="900">
              <a:latin typeface="Times New Roman" pitchFamily="18" charset="0"/>
              <a:cs typeface="Times New Roman" pitchFamily="18" charset="0"/>
            </a:endParaRPr>
          </a:p>
        </p:txBody>
      </p:sp>
      <p:sp>
        <p:nvSpPr>
          <p:cNvPr id="40972" name="직사각형 11"/>
          <p:cNvSpPr>
            <a:spLocks noChangeArrowheads="1"/>
          </p:cNvSpPr>
          <p:nvPr/>
        </p:nvSpPr>
        <p:spPr bwMode="auto">
          <a:xfrm>
            <a:off x="6472238" y="3573463"/>
            <a:ext cx="547687" cy="1571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Người</a:t>
            </a:r>
            <a:endParaRPr lang="ko-KR" altLang="en-US" sz="900">
              <a:latin typeface="Times New Roman" pitchFamily="18" charset="0"/>
              <a:cs typeface="Times New Roman" pitchFamily="18" charset="0"/>
            </a:endParaRPr>
          </a:p>
        </p:txBody>
      </p:sp>
      <p:sp>
        <p:nvSpPr>
          <p:cNvPr id="40973" name="직사각형 12"/>
          <p:cNvSpPr>
            <a:spLocks noChangeArrowheads="1"/>
          </p:cNvSpPr>
          <p:nvPr/>
        </p:nvSpPr>
        <p:spPr bwMode="auto">
          <a:xfrm>
            <a:off x="6457950" y="3141663"/>
            <a:ext cx="549275" cy="1571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Người</a:t>
            </a:r>
            <a:endParaRPr lang="ko-KR" altLang="en-US" sz="900">
              <a:latin typeface="Times New Roman" pitchFamily="18" charset="0"/>
              <a:cs typeface="Times New Roman" pitchFamily="18" charset="0"/>
            </a:endParaRPr>
          </a:p>
        </p:txBody>
      </p:sp>
      <p:sp>
        <p:nvSpPr>
          <p:cNvPr id="40974" name="직사각형 13"/>
          <p:cNvSpPr>
            <a:spLocks noChangeArrowheads="1"/>
          </p:cNvSpPr>
          <p:nvPr/>
        </p:nvSpPr>
        <p:spPr bwMode="auto">
          <a:xfrm>
            <a:off x="6362700" y="3802063"/>
            <a:ext cx="693738" cy="155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1triệu won</a:t>
            </a:r>
            <a:endParaRPr lang="ko-KR" altLang="en-US" sz="900">
              <a:latin typeface="Times New Roman" pitchFamily="18" charset="0"/>
              <a:cs typeface="Times New Roman" pitchFamily="18" charset="0"/>
            </a:endParaRPr>
          </a:p>
        </p:txBody>
      </p:sp>
      <p:sp>
        <p:nvSpPr>
          <p:cNvPr id="40975" name="직사각형 14"/>
          <p:cNvSpPr>
            <a:spLocks noChangeArrowheads="1"/>
          </p:cNvSpPr>
          <p:nvPr/>
        </p:nvSpPr>
        <p:spPr bwMode="auto">
          <a:xfrm>
            <a:off x="6443663" y="2492375"/>
            <a:ext cx="549275" cy="1587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Vụ</a:t>
            </a:r>
            <a:endParaRPr lang="ko-KR" altLang="en-US" sz="900">
              <a:latin typeface="Times New Roman" pitchFamily="18" charset="0"/>
              <a:cs typeface="Times New Roman" pitchFamily="18" charset="0"/>
            </a:endParaRPr>
          </a:p>
        </p:txBody>
      </p:sp>
      <p:sp>
        <p:nvSpPr>
          <p:cNvPr id="40976" name="직사각형 15"/>
          <p:cNvSpPr>
            <a:spLocks noChangeArrowheads="1"/>
          </p:cNvSpPr>
          <p:nvPr/>
        </p:nvSpPr>
        <p:spPr bwMode="auto">
          <a:xfrm>
            <a:off x="6435725" y="2709863"/>
            <a:ext cx="547688" cy="1587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Vụ</a:t>
            </a:r>
            <a:endParaRPr lang="ko-KR" altLang="en-US" sz="900">
              <a:latin typeface="Times New Roman" pitchFamily="18" charset="0"/>
              <a:cs typeface="Times New Roman" pitchFamily="18" charset="0"/>
            </a:endParaRPr>
          </a:p>
        </p:txBody>
      </p:sp>
      <p:sp>
        <p:nvSpPr>
          <p:cNvPr id="40977" name="직사각형 16"/>
          <p:cNvSpPr>
            <a:spLocks noChangeArrowheads="1"/>
          </p:cNvSpPr>
          <p:nvPr/>
        </p:nvSpPr>
        <p:spPr bwMode="auto">
          <a:xfrm>
            <a:off x="6435725" y="2060575"/>
            <a:ext cx="547688" cy="1571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Đơn vị</a:t>
            </a:r>
            <a:endParaRPr lang="ko-KR" altLang="en-US" sz="900">
              <a:latin typeface="Times New Roman" pitchFamily="18" charset="0"/>
              <a:cs typeface="Times New Roman" pitchFamily="18" charset="0"/>
            </a:endParaRPr>
          </a:p>
        </p:txBody>
      </p:sp>
      <p:sp>
        <p:nvSpPr>
          <p:cNvPr id="40978" name="직사각형 17"/>
          <p:cNvSpPr>
            <a:spLocks noChangeArrowheads="1"/>
          </p:cNvSpPr>
          <p:nvPr/>
        </p:nvSpPr>
        <p:spPr bwMode="auto">
          <a:xfrm>
            <a:off x="4932363" y="1976438"/>
            <a:ext cx="782637" cy="1571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Năm trước</a:t>
            </a:r>
            <a:endParaRPr lang="ko-KR" altLang="en-US" sz="900">
              <a:latin typeface="Times New Roman" pitchFamily="18" charset="0"/>
              <a:cs typeface="Times New Roman" pitchFamily="18" charset="0"/>
            </a:endParaRPr>
          </a:p>
        </p:txBody>
      </p:sp>
      <p:sp>
        <p:nvSpPr>
          <p:cNvPr id="40979" name="직사각형 18"/>
          <p:cNvSpPr>
            <a:spLocks noChangeArrowheads="1"/>
          </p:cNvSpPr>
          <p:nvPr/>
        </p:nvSpPr>
        <p:spPr bwMode="auto">
          <a:xfrm>
            <a:off x="1835150" y="2060575"/>
            <a:ext cx="549275" cy="1571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Chỉ tiêu</a:t>
            </a:r>
            <a:endParaRPr lang="ko-KR" altLang="en-US" sz="900">
              <a:latin typeface="Times New Roman" pitchFamily="18" charset="0"/>
              <a:cs typeface="Times New Roman" pitchFamily="18" charset="0"/>
            </a:endParaRPr>
          </a:p>
        </p:txBody>
      </p:sp>
      <p:sp>
        <p:nvSpPr>
          <p:cNvPr id="40980" name="직사각형 19"/>
          <p:cNvSpPr>
            <a:spLocks noChangeArrowheads="1"/>
          </p:cNvSpPr>
          <p:nvPr/>
        </p:nvSpPr>
        <p:spPr bwMode="auto">
          <a:xfrm>
            <a:off x="3059113" y="2076450"/>
            <a:ext cx="360362" cy="1412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Số</a:t>
            </a:r>
            <a:endParaRPr lang="ko-KR" altLang="en-US" sz="900">
              <a:latin typeface="Times New Roman" pitchFamily="18" charset="0"/>
              <a:cs typeface="Times New Roman" pitchFamily="18" charset="0"/>
            </a:endParaRPr>
          </a:p>
        </p:txBody>
      </p:sp>
      <p:sp>
        <p:nvSpPr>
          <p:cNvPr id="40981" name="직사각형 20"/>
          <p:cNvSpPr>
            <a:spLocks noChangeArrowheads="1"/>
          </p:cNvSpPr>
          <p:nvPr/>
        </p:nvSpPr>
        <p:spPr bwMode="auto">
          <a:xfrm>
            <a:off x="3614738" y="2049463"/>
            <a:ext cx="547687" cy="279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Thước đo</a:t>
            </a:r>
            <a:endParaRPr lang="ko-KR" altLang="en-US" sz="900">
              <a:latin typeface="Times New Roman" pitchFamily="18" charset="0"/>
              <a:cs typeface="Times New Roman" pitchFamily="18" charset="0"/>
            </a:endParaRPr>
          </a:p>
        </p:txBody>
      </p:sp>
      <p:sp>
        <p:nvSpPr>
          <p:cNvPr id="40982" name="직사각형 21"/>
          <p:cNvSpPr>
            <a:spLocks noChangeArrowheads="1"/>
          </p:cNvSpPr>
          <p:nvPr/>
        </p:nvSpPr>
        <p:spPr bwMode="auto">
          <a:xfrm>
            <a:off x="4284663" y="2298700"/>
            <a:ext cx="358775" cy="1428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Số</a:t>
            </a:r>
            <a:endParaRPr lang="ko-KR" altLang="en-US" sz="900">
              <a:latin typeface="Times New Roman" pitchFamily="18" charset="0"/>
              <a:cs typeface="Times New Roman" pitchFamily="18" charset="0"/>
            </a:endParaRPr>
          </a:p>
        </p:txBody>
      </p:sp>
      <p:sp>
        <p:nvSpPr>
          <p:cNvPr id="40983" name="직사각형 22"/>
          <p:cNvSpPr>
            <a:spLocks noChangeArrowheads="1"/>
          </p:cNvSpPr>
          <p:nvPr/>
        </p:nvSpPr>
        <p:spPr bwMode="auto">
          <a:xfrm>
            <a:off x="4811713" y="2217738"/>
            <a:ext cx="512762" cy="2143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600">
                <a:latin typeface="Times New Roman" pitchFamily="18" charset="0"/>
                <a:cs typeface="Times New Roman" pitchFamily="18" charset="0"/>
              </a:rPr>
              <a:t>Tăng giảm</a:t>
            </a:r>
            <a:endParaRPr lang="ko-KR" altLang="en-US" sz="600">
              <a:latin typeface="Times New Roman" pitchFamily="18" charset="0"/>
              <a:cs typeface="Times New Roman" pitchFamily="18" charset="0"/>
            </a:endParaRPr>
          </a:p>
        </p:txBody>
      </p:sp>
      <p:sp>
        <p:nvSpPr>
          <p:cNvPr id="40984" name="직사각형 18"/>
          <p:cNvSpPr>
            <a:spLocks noChangeArrowheads="1"/>
          </p:cNvSpPr>
          <p:nvPr/>
        </p:nvSpPr>
        <p:spPr bwMode="auto">
          <a:xfrm>
            <a:off x="1254125" y="2466975"/>
            <a:ext cx="1231900"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Tổng số vụ hỏa hoạn</a:t>
            </a:r>
            <a:endParaRPr lang="ko-KR" altLang="en-US" sz="900">
              <a:latin typeface="Times New Roman" pitchFamily="18" charset="0"/>
              <a:cs typeface="Times New Roman" pitchFamily="18" charset="0"/>
            </a:endParaRPr>
          </a:p>
        </p:txBody>
      </p:sp>
      <p:sp>
        <p:nvSpPr>
          <p:cNvPr id="40985" name="직사각형 18"/>
          <p:cNvSpPr>
            <a:spLocks noChangeArrowheads="1"/>
          </p:cNvSpPr>
          <p:nvPr/>
        </p:nvSpPr>
        <p:spPr bwMode="auto">
          <a:xfrm>
            <a:off x="1254125" y="2684463"/>
            <a:ext cx="1403350"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Số vụ hỏa hoạn do điện</a:t>
            </a:r>
            <a:endParaRPr lang="ko-KR" altLang="en-US" sz="900">
              <a:latin typeface="Times New Roman" pitchFamily="18" charset="0"/>
              <a:cs typeface="Times New Roman" pitchFamily="18" charset="0"/>
            </a:endParaRPr>
          </a:p>
        </p:txBody>
      </p:sp>
      <p:sp>
        <p:nvSpPr>
          <p:cNvPr id="40986" name="직사각형 18"/>
          <p:cNvSpPr>
            <a:spLocks noChangeArrowheads="1"/>
          </p:cNvSpPr>
          <p:nvPr/>
        </p:nvSpPr>
        <p:spPr bwMode="auto">
          <a:xfrm>
            <a:off x="1254125" y="2928938"/>
            <a:ext cx="1733550" cy="1397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Số vụ hỏa hoạn do có yếu tố điện</a:t>
            </a:r>
            <a:endParaRPr lang="ko-KR" altLang="en-US" sz="900">
              <a:latin typeface="Times New Roman" pitchFamily="18" charset="0"/>
              <a:cs typeface="Times New Roman" pitchFamily="18" charset="0"/>
            </a:endParaRPr>
          </a:p>
        </p:txBody>
      </p:sp>
      <p:sp>
        <p:nvSpPr>
          <p:cNvPr id="40987" name="직사각형 18"/>
          <p:cNvSpPr>
            <a:spLocks noChangeArrowheads="1"/>
          </p:cNvSpPr>
          <p:nvPr/>
        </p:nvSpPr>
        <p:spPr bwMode="auto">
          <a:xfrm>
            <a:off x="1254125" y="3127375"/>
            <a:ext cx="1479550" cy="1857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Số nạn nhân</a:t>
            </a:r>
            <a:endParaRPr lang="ko-KR" altLang="en-US" sz="900">
              <a:latin typeface="Times New Roman" pitchFamily="18" charset="0"/>
              <a:cs typeface="Times New Roman" pitchFamily="18" charset="0"/>
            </a:endParaRPr>
          </a:p>
        </p:txBody>
      </p:sp>
      <p:sp>
        <p:nvSpPr>
          <p:cNvPr id="40988" name="직사각형 18"/>
          <p:cNvSpPr>
            <a:spLocks noChangeArrowheads="1"/>
          </p:cNvSpPr>
          <p:nvPr/>
        </p:nvSpPr>
        <p:spPr bwMode="auto">
          <a:xfrm>
            <a:off x="1254125" y="3360738"/>
            <a:ext cx="1479550"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Số người thiệt mạng</a:t>
            </a:r>
            <a:endParaRPr lang="ko-KR" altLang="en-US" sz="900">
              <a:latin typeface="Times New Roman" pitchFamily="18" charset="0"/>
              <a:cs typeface="Times New Roman" pitchFamily="18" charset="0"/>
            </a:endParaRPr>
          </a:p>
        </p:txBody>
      </p:sp>
      <p:sp>
        <p:nvSpPr>
          <p:cNvPr id="40989" name="직사각형 18"/>
          <p:cNvSpPr>
            <a:spLocks noChangeArrowheads="1"/>
          </p:cNvSpPr>
          <p:nvPr/>
        </p:nvSpPr>
        <p:spPr bwMode="auto">
          <a:xfrm>
            <a:off x="1254125" y="3573463"/>
            <a:ext cx="1479550"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Số người bị thương</a:t>
            </a:r>
            <a:endParaRPr lang="ko-KR" altLang="en-US" sz="900">
              <a:latin typeface="Times New Roman" pitchFamily="18" charset="0"/>
              <a:cs typeface="Times New Roman" pitchFamily="18" charset="0"/>
            </a:endParaRPr>
          </a:p>
        </p:txBody>
      </p:sp>
      <p:sp>
        <p:nvSpPr>
          <p:cNvPr id="40990" name="직사각형 18"/>
          <p:cNvSpPr>
            <a:spLocks noChangeArrowheads="1"/>
          </p:cNvSpPr>
          <p:nvPr/>
        </p:nvSpPr>
        <p:spPr bwMode="auto">
          <a:xfrm>
            <a:off x="1262063" y="3787775"/>
            <a:ext cx="1479550" cy="1841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Tổng số thiệt hại về tài sản</a:t>
            </a:r>
            <a:endParaRPr lang="ko-KR" altLang="en-US" sz="900">
              <a:latin typeface="Times New Roman" pitchFamily="18" charset="0"/>
              <a:cs typeface="Times New Roman" pitchFamily="18" charset="0"/>
            </a:endParaRPr>
          </a:p>
        </p:txBody>
      </p:sp>
      <p:sp>
        <p:nvSpPr>
          <p:cNvPr id="40991" name="직사각형 22"/>
          <p:cNvSpPr>
            <a:spLocks noChangeArrowheads="1"/>
          </p:cNvSpPr>
          <p:nvPr/>
        </p:nvSpPr>
        <p:spPr bwMode="auto">
          <a:xfrm>
            <a:off x="5364163" y="2222500"/>
            <a:ext cx="512762"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600">
                <a:latin typeface="Times New Roman" pitchFamily="18" charset="0"/>
                <a:cs typeface="Times New Roman" pitchFamily="18" charset="0"/>
              </a:rPr>
              <a:t>Tỷ lệ tăng giảm</a:t>
            </a:r>
            <a:endParaRPr lang="ko-KR" altLang="en-US" sz="600">
              <a:latin typeface="Times New Roman" pitchFamily="18" charset="0"/>
              <a:cs typeface="Times New Roman" pitchFamily="18" charset="0"/>
            </a:endParaRPr>
          </a:p>
        </p:txBody>
      </p:sp>
      <p:sp>
        <p:nvSpPr>
          <p:cNvPr id="40992" name="직사각형 22"/>
          <p:cNvSpPr>
            <a:spLocks noChangeArrowheads="1"/>
          </p:cNvSpPr>
          <p:nvPr/>
        </p:nvSpPr>
        <p:spPr bwMode="auto">
          <a:xfrm>
            <a:off x="5959475" y="2227263"/>
            <a:ext cx="512763" cy="2143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600">
                <a:latin typeface="Times New Roman" pitchFamily="18" charset="0"/>
                <a:cs typeface="Times New Roman" pitchFamily="18" charset="0"/>
              </a:rPr>
              <a:t>Tình trạng</a:t>
            </a:r>
            <a:endParaRPr lang="ko-KR" altLang="en-US" sz="600">
              <a:latin typeface="Times New Roman" pitchFamily="18" charset="0"/>
              <a:cs typeface="Times New Roman" pitchFamily="18" charset="0"/>
            </a:endParaRPr>
          </a:p>
        </p:txBody>
      </p:sp>
      <p:sp>
        <p:nvSpPr>
          <p:cNvPr id="40993" name="직사각형 22"/>
          <p:cNvSpPr>
            <a:spLocks noChangeArrowheads="1"/>
          </p:cNvSpPr>
          <p:nvPr/>
        </p:nvSpPr>
        <p:spPr bwMode="auto">
          <a:xfrm>
            <a:off x="4806950" y="1628775"/>
            <a:ext cx="512763"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600">
                <a:latin typeface="Times New Roman" pitchFamily="18" charset="0"/>
                <a:cs typeface="Times New Roman" pitchFamily="18" charset="0"/>
              </a:rPr>
              <a:t>Không biến động</a:t>
            </a:r>
            <a:endParaRPr lang="ko-KR" altLang="en-US" sz="600">
              <a:latin typeface="Times New Roman" pitchFamily="18" charset="0"/>
              <a:cs typeface="Times New Roman" pitchFamily="18" charset="0"/>
            </a:endParaRPr>
          </a:p>
        </p:txBody>
      </p:sp>
      <p:sp>
        <p:nvSpPr>
          <p:cNvPr id="40994" name="직사각형 22"/>
          <p:cNvSpPr>
            <a:spLocks noChangeArrowheads="1"/>
          </p:cNvSpPr>
          <p:nvPr/>
        </p:nvSpPr>
        <p:spPr bwMode="auto">
          <a:xfrm>
            <a:off x="5459413" y="1628775"/>
            <a:ext cx="417512"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Giảm</a:t>
            </a:r>
            <a:r>
              <a:rPr lang="en-US" altLang="ko-KR" sz="600">
                <a:latin typeface="Times New Roman" pitchFamily="18" charset="0"/>
                <a:cs typeface="Times New Roman" pitchFamily="18" charset="0"/>
              </a:rPr>
              <a:t> </a:t>
            </a:r>
            <a:r>
              <a:rPr lang="en-US" altLang="ko-KR" sz="800">
                <a:latin typeface="Times New Roman" pitchFamily="18" charset="0"/>
                <a:cs typeface="Times New Roman" pitchFamily="18" charset="0"/>
              </a:rPr>
              <a:t>5%</a:t>
            </a:r>
            <a:endParaRPr lang="ko-KR" altLang="en-US" sz="800">
              <a:latin typeface="Times New Roman" pitchFamily="18" charset="0"/>
              <a:cs typeface="Times New Roman" pitchFamily="18" charset="0"/>
            </a:endParaRPr>
          </a:p>
        </p:txBody>
      </p:sp>
      <p:sp>
        <p:nvSpPr>
          <p:cNvPr id="40995" name="직사각형 22"/>
          <p:cNvSpPr>
            <a:spLocks noChangeArrowheads="1"/>
          </p:cNvSpPr>
          <p:nvPr/>
        </p:nvSpPr>
        <p:spPr bwMode="auto">
          <a:xfrm>
            <a:off x="6669088" y="1628775"/>
            <a:ext cx="711200"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Quá 10%</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118740F-B4E9-4407-9887-6F2F8C3EFB74}" type="slidenum">
              <a:rPr lang="en-US" altLang="ko-KR" sz="1400" smtClean="0">
                <a:latin typeface="Times New Roman" pitchFamily="18" charset="0"/>
                <a:cs typeface="Times New Roman" pitchFamily="18" charset="0"/>
              </a:rPr>
              <a:pPr eaLnBrk="1" hangingPunct="1"/>
              <a:t>36</a:t>
            </a:fld>
            <a:endParaRPr lang="en-US" altLang="ko-KR" sz="1400" smtClean="0">
              <a:latin typeface="Times New Roman" pitchFamily="18" charset="0"/>
              <a:cs typeface="Times New Roman" pitchFamily="18" charset="0"/>
            </a:endParaRPr>
          </a:p>
        </p:txBody>
      </p:sp>
      <p:sp>
        <p:nvSpPr>
          <p:cNvPr id="4198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198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Ví dụ về tai nạn cháy nổ điện[An toàn thi công điện Hàn Quốc]</a:t>
            </a:r>
          </a:p>
          <a:p>
            <a:pPr eaLnBrk="1" hangingPunct="1"/>
            <a:endParaRPr lang="en-US" altLang="ko-KR" sz="800"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Tai nạn tiếp địa trong lúc lắp bolt của aptomat</a:t>
            </a:r>
            <a:endParaRPr lang="ko-KR" altLang="en-US" b="1">
              <a:latin typeface="Times New Roman" pitchFamily="18" charset="0"/>
              <a:cs typeface="Times New Roman" pitchFamily="18" charset="0"/>
            </a:endParaRPr>
          </a:p>
          <a:p>
            <a:pPr eaLnBrk="1" hangingPunct="1">
              <a:buFont typeface="Wingdings" pitchFamily="2" charset="2"/>
              <a:buChar char="§"/>
            </a:pPr>
            <a:endParaRPr lang="ko-KR" altLang="en-US" sz="800">
              <a:latin typeface="Times New Roman" pitchFamily="18" charset="0"/>
              <a:cs typeface="Times New Roman" pitchFamily="18" charset="0"/>
            </a:endParaRPr>
          </a:p>
          <a:p>
            <a:pPr eaLnBrk="1" hangingPunct="1">
              <a:buFont typeface="Wingdings" pitchFamily="2" charset="2"/>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Nối máy hàn tại máy cắt dùng dây cáp (MCCB 2P 50A) bên trong bảng điện dùng cho việc vận hành và do đầu cốt của máy cắt dùng dây cáp bị hư hại nên phát sinh ra trạng thái tiếp xúc bất ổn. Hiểu đơn giản là khi thực hiện thao tác phải để mạch điện mở và để ở trạng thái ngắt điện, và khi dùng driver để vặn chân aptomat dùng cáp cũng là thời điểm chân đã bị hư hỏng tiếp xúc với mặt lưng bảng phân phối điện. Và là tai nạn bỏng mặt, tay, cổ tay do lửa bắt vào quần áo bảo hộ do bắn tia hồ quang sinh ra khi tiếp địa.</a:t>
            </a:r>
            <a:endParaRPr lang="ko-KR" altLang="en-US">
              <a:latin typeface="Times New Roman" pitchFamily="18" charset="0"/>
              <a:cs typeface="Times New Roman" pitchFamily="18" charset="0"/>
            </a:endParaRPr>
          </a:p>
        </p:txBody>
      </p:sp>
      <p:sp>
        <p:nvSpPr>
          <p:cNvPr id="41989"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4199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924175"/>
            <a:ext cx="5819775"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3C6FA56-8287-48BD-AE85-9BD046B62439}" type="slidenum">
              <a:rPr lang="en-US" altLang="ko-KR" sz="1400" smtClean="0">
                <a:latin typeface="Times New Roman" pitchFamily="18" charset="0"/>
                <a:cs typeface="Times New Roman" pitchFamily="18" charset="0"/>
              </a:rPr>
              <a:pPr eaLnBrk="1" hangingPunct="1"/>
              <a:t>37</a:t>
            </a:fld>
            <a:endParaRPr lang="en-US" altLang="ko-KR" sz="1400" smtClean="0">
              <a:latin typeface="Times New Roman" pitchFamily="18" charset="0"/>
              <a:cs typeface="Times New Roman" pitchFamily="18" charset="0"/>
            </a:endParaRPr>
          </a:p>
        </p:txBody>
      </p:sp>
      <p:sp>
        <p:nvSpPr>
          <p:cNvPr id="4301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3012" name="Rectangle 3"/>
          <p:cNvSpPr>
            <a:spLocks noChangeArrowheads="1"/>
          </p:cNvSpPr>
          <p:nvPr/>
        </p:nvSpPr>
        <p:spPr bwMode="auto">
          <a:xfrm>
            <a:off x="827088" y="836613"/>
            <a:ext cx="7632700"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2</a:t>
            </a:r>
            <a:r>
              <a:rPr lang="en-US" altLang="en-US" b="1">
                <a:latin typeface="Times New Roman" pitchFamily="18" charset="0"/>
                <a:cs typeface="Times New Roman" pitchFamily="18" charset="0"/>
              </a:rPr>
              <a:t>) Chú ý khi nối thiết bị squint và chân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Mục đích</a:t>
            </a:r>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Dùng để ngăn chặn từ ngay từ khi chưa phát sinh lỗi của con người không nối bolt một cách hoàn chỉnh trên mặt tiếp xúc trên bề mặt tiếp xúc.</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Risk Point</a:t>
            </a:r>
          </a:p>
          <a:p>
            <a:pPr eaLnBrk="1" hangingPunct="1"/>
            <a:r>
              <a:rPr lang="en-US" altLang="ko-KR">
                <a:latin typeface="Times New Roman" pitchFamily="18" charset="0"/>
                <a:cs typeface="Times New Roman" pitchFamily="18" charset="0"/>
              </a:rPr>
              <a:t>    Là nguyên nhân thiết bị Down hay gây cháy điện khi dòng điện quá mạnh hay nhiệt độ tăng cao do điện trở phần tiếp xúc tăng vọt hay có lỗi tiếp xúc do nối bolt không thích hợp vào chân.    </a:t>
            </a:r>
          </a:p>
          <a:p>
            <a:pPr eaLnBrk="1" hangingPunct="1"/>
            <a:r>
              <a:rPr lang="en-US" altLang="ko-KR">
                <a:latin typeface="Times New Roman" pitchFamily="18" charset="0"/>
                <a:cs typeface="Times New Roman" pitchFamily="18" charset="0"/>
              </a:rPr>
              <a:t>   </a:t>
            </a:r>
          </a:p>
          <a:p>
            <a:pPr eaLnBrk="1" hangingPunct="1"/>
            <a:r>
              <a:rPr lang="en-US" altLang="ko-KR" b="1">
                <a:latin typeface="Times New Roman" pitchFamily="18" charset="0"/>
                <a:cs typeface="Times New Roman" pitchFamily="18" charset="0"/>
              </a:rPr>
              <a:t>③ Trung điểm</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Point</a:t>
            </a:r>
          </a:p>
          <a:p>
            <a:pPr eaLnBrk="1" hangingPunct="1"/>
            <a:r>
              <a:rPr lang="en-US" altLang="ko-KR">
                <a:latin typeface="Times New Roman" pitchFamily="18" charset="0"/>
                <a:cs typeface="Times New Roman" pitchFamily="18" charset="0"/>
              </a:rPr>
              <a:t>   - Phải để dây điện đồng tiếp xúc hoàn toàn với aptomat của máy móc thiết bị và đảm bảo không để xảy ra cong vênh đáng lo ngại.</a:t>
            </a:r>
          </a:p>
          <a:p>
            <a:pPr eaLnBrk="1" hangingPunct="1"/>
            <a:r>
              <a:rPr lang="en-US" altLang="ko-KR">
                <a:latin typeface="Times New Roman" pitchFamily="18" charset="0"/>
                <a:cs typeface="Times New Roman" pitchFamily="18" charset="0"/>
              </a:rPr>
              <a:t>   - Do điện năng tải càng lớn thì hiện tượng sụt giảm điện áp càng xảy ra nhiều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để ngăn ngừa tình trạng aptomat bị sụt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cần kiểm tra theo chu kỳ 1 năm khoảng 1~2 lần aptomat được lắp của rơ le và sử dụng điện bằng dòng điện kín.</a:t>
            </a:r>
          </a:p>
          <a:p>
            <a:pPr eaLnBrk="1" hangingPunct="1"/>
            <a:r>
              <a:rPr lang="en-US" altLang="ko-KR">
                <a:latin typeface="Times New Roman" pitchFamily="18" charset="0"/>
                <a:cs typeface="Times New Roman" pitchFamily="18" charset="0"/>
              </a:rPr>
              <a:t>   - Trong trường hợp cố định dây điện bằng đinh ốc,  nếu đặt ở nơi có ảnh hưởng rung làm lỏng ốc, cần sử dụng các loại ốc đôi, loại có vòng đệm và ốc nới lỏng vv..</a:t>
            </a: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④ Ví dụ về lỗi tiếp xúc</a:t>
            </a:r>
            <a:endParaRPr lang="ko-KR" altLang="en-US" b="1">
              <a:latin typeface="Times New Roman" pitchFamily="18" charset="0"/>
              <a:cs typeface="Times New Roman" pitchFamily="18" charset="0"/>
            </a:endParaRPr>
          </a:p>
        </p:txBody>
      </p:sp>
      <p:sp>
        <p:nvSpPr>
          <p:cNvPr id="43013" name="Text Box 4"/>
          <p:cNvSpPr txBox="1">
            <a:spLocks noChangeArrowheads="1"/>
          </p:cNvSpPr>
          <p:nvPr/>
        </p:nvSpPr>
        <p:spPr bwMode="auto">
          <a:xfrm>
            <a:off x="7458075" y="68263"/>
            <a:ext cx="1506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2. An toàn điện</a:t>
            </a:r>
            <a:endParaRPr lang="ko-KR" altLang="en-US" sz="1600" b="1">
              <a:latin typeface="Times New Roman" pitchFamily="18" charset="0"/>
              <a:cs typeface="Times New Roman" pitchFamily="18" charset="0"/>
            </a:endParaRPr>
          </a:p>
        </p:txBody>
      </p:sp>
      <p:pic>
        <p:nvPicPr>
          <p:cNvPr id="43014" name="Picture 6" descr="DSC00810"/>
          <p:cNvPicPr>
            <a:picLocks noChangeAspect="1" noChangeArrowheads="1"/>
          </p:cNvPicPr>
          <p:nvPr/>
        </p:nvPicPr>
        <p:blipFill>
          <a:blip r:embed="rId3">
            <a:extLst>
              <a:ext uri="{28A0092B-C50C-407E-A947-70E740481C1C}">
                <a14:useLocalDpi xmlns:a14="http://schemas.microsoft.com/office/drawing/2010/main" val="0"/>
              </a:ext>
            </a:extLst>
          </a:blip>
          <a:srcRect r="-310"/>
          <a:stretch>
            <a:fillRect/>
          </a:stretch>
        </p:blipFill>
        <p:spPr bwMode="auto">
          <a:xfrm>
            <a:off x="1093788" y="5205413"/>
            <a:ext cx="1512887"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7"/>
          <p:cNvPicPr>
            <a:picLocks noChangeAspect="1" noChangeArrowheads="1"/>
          </p:cNvPicPr>
          <p:nvPr/>
        </p:nvPicPr>
        <p:blipFill>
          <a:blip r:embed="rId4">
            <a:extLst>
              <a:ext uri="{28A0092B-C50C-407E-A947-70E740481C1C}">
                <a14:useLocalDpi xmlns:a14="http://schemas.microsoft.com/office/drawing/2010/main" val="0"/>
              </a:ext>
            </a:extLst>
          </a:blip>
          <a:srcRect r="-172"/>
          <a:stretch>
            <a:fillRect/>
          </a:stretch>
        </p:blipFill>
        <p:spPr bwMode="auto">
          <a:xfrm>
            <a:off x="2700338" y="5205413"/>
            <a:ext cx="1676400" cy="12128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16" name="AutoShape 8"/>
          <p:cNvSpPr>
            <a:spLocks noChangeArrowheads="1"/>
          </p:cNvSpPr>
          <p:nvPr/>
        </p:nvSpPr>
        <p:spPr bwMode="auto">
          <a:xfrm>
            <a:off x="992188" y="5121275"/>
            <a:ext cx="3435350" cy="1368425"/>
          </a:xfrm>
          <a:prstGeom prst="roundRect">
            <a:avLst>
              <a:gd name="adj" fmla="val 2088"/>
            </a:avLst>
          </a:prstGeom>
          <a:noFill/>
          <a:ln w="3175">
            <a:solidFill>
              <a:srgbClr val="0000FF"/>
            </a:solidFill>
            <a:round/>
            <a:headEnd/>
            <a:tailEnd/>
          </a:ln>
          <a:effectLst>
            <a:prstShdw prst="shdw17" dist="17961" dir="2700000">
              <a:srgbClr val="000099"/>
            </a:prst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pic>
        <p:nvPicPr>
          <p:cNvPr id="4301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5205413"/>
            <a:ext cx="1819275" cy="12128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3018"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963" y="5205413"/>
            <a:ext cx="1819275" cy="11938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19" name="AutoShape 12"/>
          <p:cNvSpPr>
            <a:spLocks noChangeArrowheads="1"/>
          </p:cNvSpPr>
          <p:nvPr/>
        </p:nvSpPr>
        <p:spPr bwMode="auto">
          <a:xfrm>
            <a:off x="4573588" y="5121275"/>
            <a:ext cx="3814762" cy="1368425"/>
          </a:xfrm>
          <a:prstGeom prst="roundRect">
            <a:avLst>
              <a:gd name="adj" fmla="val 2088"/>
            </a:avLst>
          </a:prstGeom>
          <a:noFill/>
          <a:ln w="3175">
            <a:solidFill>
              <a:srgbClr val="0000FF"/>
            </a:solidFill>
            <a:round/>
            <a:headEnd/>
            <a:tailEnd/>
          </a:ln>
          <a:effectLst>
            <a:prstShdw prst="shdw17" dist="17961" dir="2700000">
              <a:srgbClr val="000099"/>
            </a:prst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471949" name="AutoShape 13"/>
          <p:cNvSpPr>
            <a:spLocks noChangeArrowheads="1"/>
          </p:cNvSpPr>
          <p:nvPr/>
        </p:nvSpPr>
        <p:spPr bwMode="auto">
          <a:xfrm>
            <a:off x="1447800" y="5145088"/>
            <a:ext cx="142875" cy="288925"/>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wrap="none" anchor="ctr"/>
          <a:lstStyle/>
          <a:p>
            <a:pPr algn="ctr" latinLnBrk="1">
              <a:lnSpc>
                <a:spcPct val="100000"/>
              </a:lnSpc>
              <a:defRPr/>
            </a:pPr>
            <a:endParaRPr lang="ko-KR" altLang="ko-KR" sz="1000" b="1">
              <a:effectLst>
                <a:outerShdw blurRad="38100" dist="38100" dir="2700000" algn="tl">
                  <a:srgbClr val="C0C0C0"/>
                </a:outerShdw>
              </a:effectLst>
              <a:latin typeface="Times New Roman" panose="02020603050405020304" pitchFamily="18" charset="0"/>
              <a:ea typeface="돋움" pitchFamily="50" charset="-127"/>
              <a:cs typeface="Times New Roman" panose="02020603050405020304" pitchFamily="18" charset="0"/>
            </a:endParaRPr>
          </a:p>
        </p:txBody>
      </p:sp>
      <p:sp>
        <p:nvSpPr>
          <p:cNvPr id="2471950" name="AutoShape 14"/>
          <p:cNvSpPr>
            <a:spLocks noChangeArrowheads="1"/>
          </p:cNvSpPr>
          <p:nvPr/>
        </p:nvSpPr>
        <p:spPr bwMode="auto">
          <a:xfrm>
            <a:off x="2239963" y="5145088"/>
            <a:ext cx="142875" cy="288925"/>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wrap="none" anchor="ctr"/>
          <a:lstStyle/>
          <a:p>
            <a:pPr algn="ctr" latinLnBrk="1">
              <a:lnSpc>
                <a:spcPct val="100000"/>
              </a:lnSpc>
              <a:defRPr/>
            </a:pPr>
            <a:endParaRPr lang="ko-KR" altLang="ko-KR" sz="1000" b="1">
              <a:effectLst>
                <a:outerShdw blurRad="38100" dist="38100" dir="2700000" algn="tl">
                  <a:srgbClr val="C0C0C0"/>
                </a:outerShdw>
              </a:effectLst>
              <a:latin typeface="Times New Roman" panose="02020603050405020304" pitchFamily="18" charset="0"/>
              <a:ea typeface="돋움" pitchFamily="50" charset="-127"/>
              <a:cs typeface="Times New Roman" panose="02020603050405020304" pitchFamily="18" charset="0"/>
            </a:endParaRPr>
          </a:p>
        </p:txBody>
      </p:sp>
      <p:sp>
        <p:nvSpPr>
          <p:cNvPr id="2471951" name="AutoShape 15"/>
          <p:cNvSpPr>
            <a:spLocks noChangeArrowheads="1"/>
          </p:cNvSpPr>
          <p:nvPr/>
        </p:nvSpPr>
        <p:spPr bwMode="auto">
          <a:xfrm>
            <a:off x="5580063" y="5362575"/>
            <a:ext cx="287337" cy="647700"/>
          </a:xfrm>
          <a:prstGeom prst="roundRect">
            <a:avLst>
              <a:gd name="adj" fmla="val 16667"/>
            </a:avLst>
          </a:prstGeom>
          <a:noFill/>
          <a:ln w="9525">
            <a:solidFill>
              <a:schemeClr val="bg1"/>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wrap="none" anchor="ctr"/>
          <a:lstStyle/>
          <a:p>
            <a:pPr algn="ctr" latinLnBrk="1">
              <a:lnSpc>
                <a:spcPct val="100000"/>
              </a:lnSpc>
              <a:defRPr/>
            </a:pPr>
            <a:endParaRPr lang="ko-KR" altLang="ko-KR" sz="1000" b="1">
              <a:effectLst>
                <a:outerShdw blurRad="38100" dist="38100" dir="2700000" algn="tl">
                  <a:srgbClr val="C0C0C0"/>
                </a:outerShdw>
              </a:effectLst>
              <a:latin typeface="Times New Roman" panose="02020603050405020304" pitchFamily="18" charset="0"/>
              <a:ea typeface="돋움" pitchFamily="50" charset="-127"/>
              <a:cs typeface="Times New Roman" panose="02020603050405020304" pitchFamily="18" charset="0"/>
            </a:endParaRPr>
          </a:p>
        </p:txBody>
      </p:sp>
      <p:sp>
        <p:nvSpPr>
          <p:cNvPr id="43023" name="Text Box 16"/>
          <p:cNvSpPr txBox="1">
            <a:spLocks noChangeArrowheads="1"/>
          </p:cNvSpPr>
          <p:nvPr/>
        </p:nvSpPr>
        <p:spPr bwMode="auto">
          <a:xfrm>
            <a:off x="1042988" y="5478463"/>
            <a:ext cx="14478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71450" indent="-17145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solidFill>
                  <a:schemeClr val="bg1"/>
                </a:solidFill>
                <a:latin typeface="Times New Roman" pitchFamily="18" charset="0"/>
                <a:ea typeface="돋움" pitchFamily="50" charset="-127"/>
                <a:cs typeface="Times New Roman" pitchFamily="18" charset="0"/>
              </a:rPr>
              <a:t>Nhiệt hóa lỗi tiếp xúc S</a:t>
            </a:r>
            <a:endParaRPr lang="ko-KR" altLang="en-US" sz="1000" b="1">
              <a:solidFill>
                <a:schemeClr val="bg1"/>
              </a:solidFill>
              <a:latin typeface="Times New Roman" pitchFamily="18" charset="0"/>
              <a:ea typeface="돋움" pitchFamily="50" charset="-127"/>
              <a:cs typeface="Times New Roman" pitchFamily="18" charset="0"/>
            </a:endParaRPr>
          </a:p>
        </p:txBody>
      </p:sp>
      <p:sp>
        <p:nvSpPr>
          <p:cNvPr id="43024" name="Text Box 17"/>
          <p:cNvSpPr txBox="1">
            <a:spLocks noChangeArrowheads="1"/>
          </p:cNvSpPr>
          <p:nvPr/>
        </p:nvSpPr>
        <p:spPr bwMode="auto">
          <a:xfrm>
            <a:off x="4714875" y="5118100"/>
            <a:ext cx="14700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71450" indent="-17145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solidFill>
                  <a:schemeClr val="bg1"/>
                </a:solidFill>
                <a:latin typeface="Times New Roman" pitchFamily="18" charset="0"/>
                <a:ea typeface="돋움" pitchFamily="50" charset="-127"/>
                <a:cs typeface="Times New Roman" pitchFamily="18" charset="0"/>
              </a:rPr>
              <a:t>Nhiệt hóa lỗi tiếp xúc R</a:t>
            </a:r>
            <a:endParaRPr lang="ko-KR" altLang="en-US" sz="1000" b="1">
              <a:solidFill>
                <a:schemeClr val="bg1"/>
              </a:solidFill>
              <a:latin typeface="Times New Roman" pitchFamily="18" charset="0"/>
              <a:ea typeface="돋움" pitchFamily="50" charset="-127"/>
              <a:cs typeface="Times New Roman" pitchFamily="18" charset="0"/>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AC709E6-C893-4B45-AC58-4126976E59C4}" type="slidenum">
              <a:rPr lang="en-US" altLang="ko-KR" sz="1400" smtClean="0">
                <a:latin typeface="Times New Roman" pitchFamily="18" charset="0"/>
                <a:cs typeface="Times New Roman" pitchFamily="18" charset="0"/>
              </a:rPr>
              <a:pPr eaLnBrk="1" hangingPunct="1"/>
              <a:t>38</a:t>
            </a:fld>
            <a:endParaRPr lang="en-US" altLang="ko-KR" sz="1400" smtClean="0">
              <a:latin typeface="Times New Roman" pitchFamily="18" charset="0"/>
              <a:cs typeface="Times New Roman" pitchFamily="18" charset="0"/>
            </a:endParaRPr>
          </a:p>
        </p:txBody>
      </p:sp>
      <p:sp>
        <p:nvSpPr>
          <p:cNvPr id="4403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4036" name="Rectangle 3"/>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1</a:t>
            </a:r>
            <a:r>
              <a:rPr lang="en-US" altLang="en-US" b="1">
                <a:latin typeface="Times New Roman" pitchFamily="18" charset="0"/>
                <a:cs typeface="Times New Roman" pitchFamily="18" charset="0"/>
              </a:rPr>
              <a:t>) Cấu tạo </a:t>
            </a:r>
            <a:r>
              <a:rPr lang="en-US" altLang="ko-KR" b="1">
                <a:latin typeface="Times New Roman" pitchFamily="18" charset="0"/>
                <a:cs typeface="Times New Roman" pitchFamily="18" charset="0"/>
              </a:rPr>
              <a:t>FLUKE 11/12 MULTIMETER</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44037"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
        <p:nvSpPr>
          <p:cNvPr id="44038" name="Text Box 5"/>
          <p:cNvSpPr txBox="1">
            <a:spLocks noChangeArrowheads="1"/>
          </p:cNvSpPr>
          <p:nvPr/>
        </p:nvSpPr>
        <p:spPr bwMode="auto">
          <a:xfrm>
            <a:off x="1066800" y="1989138"/>
            <a:ext cx="11779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 DISPLAY</a:t>
            </a:r>
          </a:p>
        </p:txBody>
      </p:sp>
      <p:grpSp>
        <p:nvGrpSpPr>
          <p:cNvPr id="44039" name="Group 6"/>
          <p:cNvGrpSpPr>
            <a:grpSpLocks/>
          </p:cNvGrpSpPr>
          <p:nvPr/>
        </p:nvGrpSpPr>
        <p:grpSpPr bwMode="auto">
          <a:xfrm>
            <a:off x="1571625" y="2370138"/>
            <a:ext cx="5895975" cy="3862387"/>
            <a:chOff x="990" y="1632"/>
            <a:chExt cx="3714" cy="2433"/>
          </a:xfrm>
        </p:grpSpPr>
        <p:pic>
          <p:nvPicPr>
            <p:cNvPr id="4404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 y="1632"/>
              <a:ext cx="3714" cy="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43" name="Line 8"/>
            <p:cNvSpPr>
              <a:spLocks noChangeShapeType="1"/>
            </p:cNvSpPr>
            <p:nvPr/>
          </p:nvSpPr>
          <p:spPr bwMode="auto">
            <a:xfrm>
              <a:off x="1255" y="2365"/>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44044" name="Text Box 9"/>
            <p:cNvSpPr txBox="1">
              <a:spLocks noChangeArrowheads="1"/>
            </p:cNvSpPr>
            <p:nvPr/>
          </p:nvSpPr>
          <p:spPr bwMode="auto">
            <a:xfrm>
              <a:off x="1190" y="2836"/>
              <a:ext cx="83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(AUTO RANGE)</a:t>
              </a:r>
            </a:p>
          </p:txBody>
        </p:sp>
        <p:sp>
          <p:nvSpPr>
            <p:cNvPr id="44045" name="AutoShape 10"/>
            <p:cNvSpPr>
              <a:spLocks/>
            </p:cNvSpPr>
            <p:nvPr/>
          </p:nvSpPr>
          <p:spPr bwMode="auto">
            <a:xfrm rot="-5400000">
              <a:off x="1920" y="3120"/>
              <a:ext cx="96" cy="1440"/>
            </a:xfrm>
            <a:prstGeom prst="leftBrace">
              <a:avLst>
                <a:gd name="adj1" fmla="val 12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4046" name="Text Box 11"/>
            <p:cNvSpPr txBox="1">
              <a:spLocks noChangeArrowheads="1"/>
            </p:cNvSpPr>
            <p:nvPr/>
          </p:nvSpPr>
          <p:spPr bwMode="auto">
            <a:xfrm>
              <a:off x="1399" y="3891"/>
              <a:ext cx="127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Kỹ năng FLUKE 12 MODEL</a:t>
              </a:r>
              <a:endParaRPr lang="ko-KR" altLang="en-US">
                <a:latin typeface="Times New Roman" pitchFamily="18" charset="0"/>
                <a:cs typeface="Times New Roman" pitchFamily="18" charset="0"/>
              </a:endParaRPr>
            </a:p>
          </p:txBody>
        </p:sp>
      </p:grpSp>
      <p:sp>
        <p:nvSpPr>
          <p:cNvPr id="44040" name="Text Box 12"/>
          <p:cNvSpPr txBox="1">
            <a:spLocks noChangeArrowheads="1"/>
          </p:cNvSpPr>
          <p:nvPr/>
        </p:nvSpPr>
        <p:spPr bwMode="auto">
          <a:xfrm>
            <a:off x="684213" y="892175"/>
            <a:ext cx="2651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3-1. DVM (Digital Volts Meter)</a:t>
            </a:r>
          </a:p>
        </p:txBody>
      </p:sp>
      <p:sp>
        <p:nvSpPr>
          <p:cNvPr id="44041" name="Text Box 3"/>
          <p:cNvSpPr txBox="1">
            <a:spLocks noChangeArrowheads="1"/>
          </p:cNvSpPr>
          <p:nvPr/>
        </p:nvSpPr>
        <p:spPr bwMode="auto">
          <a:xfrm>
            <a:off x="352425" y="501650"/>
            <a:ext cx="10683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CB41143-2EC3-46B6-8DA2-DE9F152A30AD}" type="slidenum">
              <a:rPr lang="en-US" altLang="ko-KR" sz="1400" smtClean="0">
                <a:latin typeface="Times New Roman" pitchFamily="18" charset="0"/>
                <a:cs typeface="Times New Roman" pitchFamily="18" charset="0"/>
              </a:rPr>
              <a:pPr eaLnBrk="1" hangingPunct="1"/>
              <a:t>39</a:t>
            </a:fld>
            <a:endParaRPr lang="en-US" altLang="ko-KR" sz="1400" smtClean="0">
              <a:latin typeface="Times New Roman" pitchFamily="18" charset="0"/>
              <a:cs typeface="Times New Roman" pitchFamily="18" charset="0"/>
            </a:endParaRPr>
          </a:p>
        </p:txBody>
      </p:sp>
      <p:sp>
        <p:nvSpPr>
          <p:cNvPr id="45059"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5060"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
        <p:nvSpPr>
          <p:cNvPr id="45061" name="Text Box 5"/>
          <p:cNvSpPr txBox="1">
            <a:spLocks noChangeArrowheads="1"/>
          </p:cNvSpPr>
          <p:nvPr/>
        </p:nvSpPr>
        <p:spPr bwMode="auto">
          <a:xfrm>
            <a:off x="1066800" y="1066800"/>
            <a:ext cx="2711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 Bộ phận vận hành(Operation)</a:t>
            </a:r>
          </a:p>
        </p:txBody>
      </p:sp>
      <p:grpSp>
        <p:nvGrpSpPr>
          <p:cNvPr id="45062" name="Group 6"/>
          <p:cNvGrpSpPr>
            <a:grpSpLocks/>
          </p:cNvGrpSpPr>
          <p:nvPr/>
        </p:nvGrpSpPr>
        <p:grpSpPr bwMode="auto">
          <a:xfrm>
            <a:off x="1828800" y="1752600"/>
            <a:ext cx="5962650" cy="4000500"/>
            <a:chOff x="1008" y="1056"/>
            <a:chExt cx="3756" cy="2520"/>
          </a:xfrm>
        </p:grpSpPr>
        <p:pic>
          <p:nvPicPr>
            <p:cNvPr id="4506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 y="1056"/>
              <a:ext cx="3756" cy="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8" name="Rectangle 8"/>
            <p:cNvSpPr>
              <a:spLocks noChangeArrowheads="1"/>
            </p:cNvSpPr>
            <p:nvPr/>
          </p:nvSpPr>
          <p:spPr bwMode="auto">
            <a:xfrm>
              <a:off x="1248" y="2016"/>
              <a:ext cx="672"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5069" name="Rectangle 9"/>
            <p:cNvSpPr>
              <a:spLocks noChangeArrowheads="1"/>
            </p:cNvSpPr>
            <p:nvPr/>
          </p:nvSpPr>
          <p:spPr bwMode="auto">
            <a:xfrm>
              <a:off x="3648" y="1920"/>
              <a:ext cx="768"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5070" name="Rectangle 10"/>
            <p:cNvSpPr>
              <a:spLocks noChangeArrowheads="1"/>
            </p:cNvSpPr>
            <p:nvPr/>
          </p:nvSpPr>
          <p:spPr bwMode="auto">
            <a:xfrm>
              <a:off x="3463" y="1364"/>
              <a:ext cx="768"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5071" name="Rectangle 11"/>
            <p:cNvSpPr>
              <a:spLocks noChangeArrowheads="1"/>
            </p:cNvSpPr>
            <p:nvPr/>
          </p:nvSpPr>
          <p:spPr bwMode="auto">
            <a:xfrm>
              <a:off x="3202" y="1105"/>
              <a:ext cx="240"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45063" name="Text Box 12"/>
          <p:cNvSpPr txBox="1">
            <a:spLocks noChangeArrowheads="1"/>
          </p:cNvSpPr>
          <p:nvPr/>
        </p:nvSpPr>
        <p:spPr bwMode="auto">
          <a:xfrm>
            <a:off x="1465263" y="2422525"/>
            <a:ext cx="2438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(Nút chỉnh điện áp 1 chiều/điện áp </a:t>
            </a:r>
          </a:p>
          <a:p>
            <a:pPr eaLnBrk="1" latinLnBrk="1" hangingPunct="1">
              <a:lnSpc>
                <a:spcPct val="100000"/>
              </a:lnSpc>
            </a:pPr>
            <a:r>
              <a:rPr lang="en-US" altLang="ko-KR">
                <a:latin typeface="Times New Roman" pitchFamily="18" charset="0"/>
                <a:cs typeface="Times New Roman" pitchFamily="18" charset="0"/>
              </a:rPr>
              <a:t>xoay chiều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hay lưỡng điện/ điện trở)</a:t>
            </a:r>
          </a:p>
        </p:txBody>
      </p:sp>
      <p:sp>
        <p:nvSpPr>
          <p:cNvPr id="45064" name="Text Box 13"/>
          <p:cNvSpPr txBox="1">
            <a:spLocks noChangeArrowheads="1"/>
          </p:cNvSpPr>
          <p:nvPr/>
        </p:nvSpPr>
        <p:spPr bwMode="auto">
          <a:xfrm>
            <a:off x="5619750" y="1752600"/>
            <a:ext cx="24288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Chức năng của Model FLUKE12</a:t>
            </a:r>
            <a:endParaRPr lang="ko-KR" altLang="en-US">
              <a:latin typeface="Times New Roman" pitchFamily="18" charset="0"/>
              <a:cs typeface="Times New Roman" pitchFamily="18" charset="0"/>
            </a:endParaRPr>
          </a:p>
        </p:txBody>
      </p:sp>
      <p:sp>
        <p:nvSpPr>
          <p:cNvPr id="45065" name="Text Box 14"/>
          <p:cNvSpPr txBox="1">
            <a:spLocks noChangeArrowheads="1"/>
          </p:cNvSpPr>
          <p:nvPr/>
        </p:nvSpPr>
        <p:spPr bwMode="auto">
          <a:xfrm>
            <a:off x="5753100" y="2197100"/>
            <a:ext cx="318928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Chức năng biểu hiện giá trị max/min sau khi </a:t>
            </a:r>
          </a:p>
          <a:p>
            <a:pPr eaLnBrk="1" latinLnBrk="1" hangingPunct="1">
              <a:lnSpc>
                <a:spcPct val="100000"/>
              </a:lnSpc>
            </a:pPr>
            <a:r>
              <a:rPr lang="en-US" altLang="ko-KR">
                <a:latin typeface="Times New Roman" pitchFamily="18" charset="0"/>
                <a:cs typeface="Times New Roman" pitchFamily="18" charset="0"/>
              </a:rPr>
              <a:t> 	đọc chỉ số biến động</a:t>
            </a:r>
            <a:endParaRPr lang="ko-KR" altLang="en-US">
              <a:latin typeface="Times New Roman" pitchFamily="18" charset="0"/>
              <a:cs typeface="Times New Roman" pitchFamily="18" charset="0"/>
            </a:endParaRPr>
          </a:p>
          <a:p>
            <a:pPr eaLnBrk="1" latinLnBrk="1" hangingPunct="1">
              <a:lnSpc>
                <a:spcPct val="100000"/>
              </a:lnSpc>
              <a:buFontTx/>
              <a:buChar char="-"/>
            </a:pPr>
            <a:r>
              <a:rPr lang="en-US" altLang="ko-KR">
                <a:latin typeface="Times New Roman" pitchFamily="18" charset="0"/>
                <a:cs typeface="Times New Roman" pitchFamily="18" charset="0"/>
              </a:rPr>
              <a:t> Được dùng giống như chức năng Continuity và</a:t>
            </a:r>
          </a:p>
          <a:p>
            <a:pPr eaLnBrk="1" latinLnBrk="1" hangingPunct="1">
              <a:lnSpc>
                <a:spcPct val="100000"/>
              </a:lnSpc>
            </a:pPr>
            <a:r>
              <a:rPr lang="en-US" altLang="ko-KR">
                <a:latin typeface="Times New Roman" pitchFamily="18" charset="0"/>
                <a:cs typeface="Times New Roman" pitchFamily="18" charset="0"/>
              </a:rPr>
              <a:t> có khả năng quan sát biến đổi Short/Open</a:t>
            </a:r>
            <a:endParaRPr lang="ko-KR" altLang="en-US">
              <a:latin typeface="Times New Roman" pitchFamily="18" charset="0"/>
              <a:cs typeface="Times New Roman" pitchFamily="18" charset="0"/>
            </a:endParaRPr>
          </a:p>
        </p:txBody>
      </p:sp>
      <p:sp>
        <p:nvSpPr>
          <p:cNvPr id="45066" name="Text Box 15"/>
          <p:cNvSpPr txBox="1">
            <a:spLocks noChangeArrowheads="1"/>
          </p:cNvSpPr>
          <p:nvPr/>
        </p:nvSpPr>
        <p:spPr bwMode="auto">
          <a:xfrm>
            <a:off x="5943600" y="3124200"/>
            <a:ext cx="233203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Đo lượng điện dung của tụ điện</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30C454E-2A67-4BAC-A29B-B1B52D8E54B8}" type="slidenum">
              <a:rPr lang="en-US" altLang="ko-KR" sz="1400" smtClean="0">
                <a:latin typeface="Times New Roman" pitchFamily="18" charset="0"/>
                <a:cs typeface="Times New Roman" pitchFamily="18" charset="0"/>
              </a:rPr>
              <a:pPr eaLnBrk="1" hangingPunct="1"/>
              <a:t>40</a:t>
            </a:fld>
            <a:endParaRPr lang="en-US" altLang="ko-KR" sz="1400" smtClean="0">
              <a:latin typeface="Times New Roman" pitchFamily="18" charset="0"/>
              <a:cs typeface="Times New Roman" pitchFamily="18" charset="0"/>
            </a:endParaRPr>
          </a:p>
        </p:txBody>
      </p:sp>
      <p:sp>
        <p:nvSpPr>
          <p:cNvPr id="4608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608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2</a:t>
            </a:r>
            <a:r>
              <a:rPr lang="en-US" altLang="en-US" b="1">
                <a:latin typeface="Times New Roman" pitchFamily="18" charset="0"/>
                <a:cs typeface="Times New Roman" pitchFamily="18" charset="0"/>
              </a:rPr>
              <a:t>) Đo điện áp</a:t>
            </a:r>
            <a:r>
              <a:rPr lang="en-US" altLang="ko-KR" b="1">
                <a:latin typeface="Times New Roman" pitchFamily="18" charset="0"/>
                <a:cs typeface="Times New Roman" pitchFamily="18" charset="0"/>
              </a:rPr>
              <a:t>(Measuring Voltage)</a:t>
            </a:r>
          </a:p>
          <a:p>
            <a:pPr eaLnBrk="1" hangingPunct="1"/>
            <a:endParaRPr lang="en-US" altLang="ko-KR"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46085"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pic>
        <p:nvPicPr>
          <p:cNvPr id="46086" name="Picture 5"/>
          <p:cNvPicPr>
            <a:picLocks noChangeAspect="1" noChangeArrowheads="1"/>
          </p:cNvPicPr>
          <p:nvPr/>
        </p:nvPicPr>
        <p:blipFill>
          <a:blip r:embed="rId3">
            <a:extLst>
              <a:ext uri="{28A0092B-C50C-407E-A947-70E740481C1C}">
                <a14:useLocalDpi xmlns:a14="http://schemas.microsoft.com/office/drawing/2010/main" val="0"/>
              </a:ext>
            </a:extLst>
          </a:blip>
          <a:srcRect r="60199"/>
          <a:stretch>
            <a:fillRect/>
          </a:stretch>
        </p:blipFill>
        <p:spPr bwMode="auto">
          <a:xfrm>
            <a:off x="666750" y="1600200"/>
            <a:ext cx="1524000"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7" name="Text Box 6"/>
          <p:cNvSpPr txBox="1">
            <a:spLocks noChangeArrowheads="1"/>
          </p:cNvSpPr>
          <p:nvPr/>
        </p:nvSpPr>
        <p:spPr bwMode="auto">
          <a:xfrm>
            <a:off x="4419600" y="1398588"/>
            <a:ext cx="3309938" cy="164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&lt; Đo điện áp dòng điện 1 chiều&gt;</a:t>
            </a:r>
          </a:p>
          <a:p>
            <a:pPr eaLnBrk="1" latinLnBrk="1" hangingPunct="1">
              <a:lnSpc>
                <a:spcPct val="100000"/>
              </a:lnSpc>
            </a:pPr>
            <a:endParaRPr lang="en-US" altLang="ko-KR" sz="500" b="1">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Lắp Test 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Jack.</a:t>
            </a:r>
          </a:p>
          <a:p>
            <a:pPr eaLnBrk="1" latinLnBrk="1" hangingPunct="1">
              <a:lnSpc>
                <a:spcPct val="100000"/>
              </a:lnSpc>
              <a:buFontTx/>
              <a:buAutoNum type="arabicPeriod"/>
            </a:pPr>
            <a:r>
              <a:rPr lang="en-US" altLang="ko-KR">
                <a:latin typeface="Times New Roman" pitchFamily="18" charset="0"/>
                <a:cs typeface="Times New Roman" pitchFamily="18" charset="0"/>
              </a:rPr>
              <a:t>Chuyển SLIDE SW vào giữa vị trí đo điện.</a:t>
            </a: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Test Lead Probecó vị trí 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Point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đo.</a:t>
            </a:r>
          </a:p>
          <a:p>
            <a:pPr eaLnBrk="1" latinLnBrk="1" hangingPunct="1">
              <a:lnSpc>
                <a:spcPct val="100000"/>
              </a:lnSpc>
              <a:buFontTx/>
              <a:buAutoNum type="arabicPeriod"/>
            </a:pPr>
            <a:r>
              <a:rPr lang="en-US" altLang="ko-KR">
                <a:latin typeface="Times New Roman" pitchFamily="18" charset="0"/>
                <a:cs typeface="Times New Roman" pitchFamily="18" charset="0"/>
              </a:rPr>
              <a:t>Đọc chỉ số đo hiện lên trên màn LCD.</a:t>
            </a:r>
          </a:p>
        </p:txBody>
      </p:sp>
      <p:sp>
        <p:nvSpPr>
          <p:cNvPr id="46088" name="Text Box 7"/>
          <p:cNvSpPr txBox="1">
            <a:spLocks noChangeArrowheads="1"/>
          </p:cNvSpPr>
          <p:nvPr/>
        </p:nvSpPr>
        <p:spPr bwMode="auto">
          <a:xfrm>
            <a:off x="4419600" y="3727450"/>
            <a:ext cx="4114800" cy="164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&lt; Đo điện áp dòng điện xoay chiều &gt;</a:t>
            </a:r>
          </a:p>
          <a:p>
            <a:pPr eaLnBrk="1" latinLnBrk="1" hangingPunct="1">
              <a:lnSpc>
                <a:spcPct val="100000"/>
              </a:lnSpc>
            </a:pPr>
            <a:endParaRPr lang="en-US" altLang="ko-KR" sz="500" b="1">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Lắp Test 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Jack.</a:t>
            </a:r>
          </a:p>
          <a:p>
            <a:pPr eaLnBrk="1" latinLnBrk="1" hangingPunct="1">
              <a:lnSpc>
                <a:spcPct val="100000"/>
              </a:lnSpc>
              <a:buFontTx/>
              <a:buAutoNum type="arabicPeriod"/>
            </a:pPr>
            <a:r>
              <a:rPr lang="en-US" altLang="ko-KR">
                <a:latin typeface="Times New Roman" pitchFamily="18" charset="0"/>
                <a:cs typeface="Times New Roman" pitchFamily="18" charset="0"/>
              </a:rPr>
              <a:t>Chuyển SLIDE SW vào giữa vị trí đo điện và ấn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SELECT” SW.</a:t>
            </a: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Test Lead Probecó vị trí 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Point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đo.</a:t>
            </a:r>
          </a:p>
          <a:p>
            <a:pPr eaLnBrk="1" latinLnBrk="1" hangingPunct="1">
              <a:lnSpc>
                <a:spcPct val="100000"/>
              </a:lnSpc>
              <a:buFontTx/>
              <a:buAutoNum type="arabicPeriod"/>
            </a:pPr>
            <a:r>
              <a:rPr lang="en-US" altLang="ko-KR">
                <a:latin typeface="Times New Roman" pitchFamily="18" charset="0"/>
                <a:cs typeface="Times New Roman" pitchFamily="18" charset="0"/>
              </a:rPr>
              <a:t>Đọc chỉ số đo hiện lên trên màn LCD.</a:t>
            </a:r>
          </a:p>
        </p:txBody>
      </p:sp>
      <p:pic>
        <p:nvPicPr>
          <p:cNvPr id="4608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2203450"/>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90" name="Text Box 9"/>
          <p:cNvSpPr txBox="1">
            <a:spLocks noChangeArrowheads="1"/>
          </p:cNvSpPr>
          <p:nvPr/>
        </p:nvSpPr>
        <p:spPr bwMode="auto">
          <a:xfrm>
            <a:off x="5387975" y="2252663"/>
            <a:ext cx="29210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Hiện lên ký hiệu dòng điện 1 chiều trên màn LCD.</a:t>
            </a:r>
          </a:p>
        </p:txBody>
      </p:sp>
      <p:pic>
        <p:nvPicPr>
          <p:cNvPr id="46091"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4618038"/>
            <a:ext cx="381000"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92" name="Text Box 11"/>
          <p:cNvSpPr txBox="1">
            <a:spLocks noChangeArrowheads="1"/>
          </p:cNvSpPr>
          <p:nvPr/>
        </p:nvSpPr>
        <p:spPr bwMode="auto">
          <a:xfrm>
            <a:off x="5410200" y="4618038"/>
            <a:ext cx="317182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 Hiện lên ký hiệu dòng điện xoay chiều trên màn LCD.</a:t>
            </a:r>
          </a:p>
        </p:txBody>
      </p:sp>
      <p:pic>
        <p:nvPicPr>
          <p:cNvPr id="46093" name="Picture 12"/>
          <p:cNvPicPr>
            <a:picLocks noChangeAspect="1" noChangeArrowheads="1"/>
          </p:cNvPicPr>
          <p:nvPr/>
        </p:nvPicPr>
        <p:blipFill>
          <a:blip r:embed="rId3">
            <a:extLst>
              <a:ext uri="{28A0092B-C50C-407E-A947-70E740481C1C}">
                <a14:useLocalDpi xmlns:a14="http://schemas.microsoft.com/office/drawing/2010/main" val="0"/>
              </a:ext>
            </a:extLst>
          </a:blip>
          <a:srcRect l="53731"/>
          <a:stretch>
            <a:fillRect/>
          </a:stretch>
        </p:blipFill>
        <p:spPr bwMode="auto">
          <a:xfrm>
            <a:off x="2266950" y="1600200"/>
            <a:ext cx="1771650"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94" name="Picture 13" descr="MCj0237845000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8675" y="5830888"/>
            <a:ext cx="5032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5" name="Text Box 14"/>
          <p:cNvSpPr txBox="1">
            <a:spLocks noChangeArrowheads="1"/>
          </p:cNvSpPr>
          <p:nvPr/>
        </p:nvSpPr>
        <p:spPr bwMode="auto">
          <a:xfrm>
            <a:off x="1384300" y="5915025"/>
            <a:ext cx="3268663"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latin typeface="Times New Roman" pitchFamily="18" charset="0"/>
                <a:cs typeface="Times New Roman" pitchFamily="18" charset="0"/>
              </a:rPr>
              <a:t>※ Sử dụng DVM để đo điện áp AC / DC đầu ra Conson.</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AB45F7A-0015-4EA7-9A6D-76FA33E07CBF}" type="slidenum">
              <a:rPr lang="en-US" altLang="ko-KR" sz="1400" smtClean="0">
                <a:latin typeface="Times New Roman" pitchFamily="18" charset="0"/>
                <a:cs typeface="Times New Roman" pitchFamily="18" charset="0"/>
              </a:rPr>
              <a:pPr eaLnBrk="1" hangingPunct="1"/>
              <a:t>41</a:t>
            </a:fld>
            <a:endParaRPr lang="en-US" altLang="ko-KR" sz="1400" smtClean="0">
              <a:latin typeface="Times New Roman" pitchFamily="18" charset="0"/>
              <a:cs typeface="Times New Roman" pitchFamily="18" charset="0"/>
            </a:endParaRPr>
          </a:p>
        </p:txBody>
      </p:sp>
      <p:sp>
        <p:nvSpPr>
          <p:cNvPr id="4710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710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3</a:t>
            </a:r>
            <a:r>
              <a:rPr lang="en-US" altLang="en-US" b="1">
                <a:latin typeface="Times New Roman" pitchFamily="18" charset="0"/>
                <a:cs typeface="Times New Roman" pitchFamily="18" charset="0"/>
              </a:rPr>
              <a:t>) Đo dòng điện</a:t>
            </a:r>
            <a:endParaRPr lang="ko-KR" altLang="en-US"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47109"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
        <p:nvSpPr>
          <p:cNvPr id="47110" name="Text Box 7"/>
          <p:cNvSpPr txBox="1">
            <a:spLocks noChangeArrowheads="1"/>
          </p:cNvSpPr>
          <p:nvPr/>
        </p:nvSpPr>
        <p:spPr bwMode="auto">
          <a:xfrm>
            <a:off x="4283075" y="1916113"/>
            <a:ext cx="4810125" cy="227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en-US" altLang="ko-KR" b="1">
                <a:latin typeface="Times New Roman" pitchFamily="18" charset="0"/>
                <a:cs typeface="Times New Roman" pitchFamily="18" charset="0"/>
              </a:rPr>
              <a:t>&lt; Đo dòng điện&gt;</a:t>
            </a:r>
          </a:p>
          <a:p>
            <a:pPr eaLnBrk="1" latinLnBrk="1" hangingPunct="1">
              <a:lnSpc>
                <a:spcPct val="110000"/>
              </a:lnSpc>
            </a:pPr>
            <a:endParaRPr lang="en-US" altLang="ko-KR" sz="400" b="1">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Lắp Test 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Jack.</a:t>
            </a:r>
          </a:p>
          <a:p>
            <a:pPr eaLnBrk="1" latinLnBrk="1" hangingPunct="1">
              <a:lnSpc>
                <a:spcPct val="110000"/>
              </a:lnSpc>
              <a:buFontTx/>
              <a:buAutoNum type="arabicPeriod"/>
            </a:pPr>
            <a:r>
              <a:rPr lang="en-US" altLang="ko-KR">
                <a:latin typeface="Times New Roman" pitchFamily="18" charset="0"/>
                <a:cs typeface="Times New Roman" pitchFamily="18" charset="0"/>
              </a:rPr>
              <a:t>Chuyển SLIDE SW vào giữa vị trí đo điện</a:t>
            </a:r>
            <a:r>
              <a:rPr lang="en-US" altLang="ko-KR" sz="1400">
                <a:latin typeface="Times New Roman" pitchFamily="18" charset="0"/>
                <a:cs typeface="Times New Roman" pitchFamily="18" charset="0"/>
              </a:rPr>
              <a:t>.</a:t>
            </a:r>
          </a:p>
          <a:p>
            <a:pPr eaLnBrk="1" latinLnBrk="1" hangingPunct="1">
              <a:lnSpc>
                <a:spcPct val="110000"/>
              </a:lnSpc>
              <a:buFontTx/>
              <a:buAutoNum type="arabicPeriod"/>
            </a:pPr>
            <a:endParaRPr lang="en-US" altLang="ko-KR" sz="1400">
              <a:latin typeface="Times New Roman" pitchFamily="18" charset="0"/>
              <a:cs typeface="Times New Roman" pitchFamily="18" charset="0"/>
            </a:endParaRPr>
          </a:p>
          <a:p>
            <a:pPr eaLnBrk="1" latinLnBrk="1" hangingPunct="1">
              <a:lnSpc>
                <a:spcPct val="110000"/>
              </a:lnSpc>
              <a:buFontTx/>
              <a:buAutoNum type="arabicPeriod"/>
            </a:pPr>
            <a:endParaRPr lang="en-US" altLang="ko-KR" sz="1400">
              <a:latin typeface="Times New Roman" pitchFamily="18" charset="0"/>
              <a:cs typeface="Times New Roman" pitchFamily="18" charset="0"/>
            </a:endParaRPr>
          </a:p>
          <a:p>
            <a:pPr eaLnBrk="1" latinLnBrk="1" hangingPunct="1">
              <a:lnSpc>
                <a:spcPct val="110000"/>
              </a:lnSpc>
              <a:buFontTx/>
              <a:buAutoNum type="arabicPeriod"/>
            </a:pPr>
            <a:r>
              <a:rPr lang="en-US" altLang="ko-KR">
                <a:latin typeface="Times New Roman" pitchFamily="18" charset="0"/>
                <a:cs typeface="Times New Roman" pitchFamily="18" charset="0"/>
              </a:rPr>
              <a:t>Chọn Level dòng điện theo cường độ dòng điện cần do.</a:t>
            </a:r>
          </a:p>
          <a:p>
            <a:pPr eaLnBrk="1" latinLnBrk="1" hangingPunct="1">
              <a:lnSpc>
                <a:spcPct val="110000"/>
              </a:lnSpc>
              <a:buFontTx/>
              <a:buAutoNum type="arabicPeriod"/>
            </a:pPr>
            <a:r>
              <a:rPr lang="en-US" altLang="ko-KR">
                <a:latin typeface="Times New Roman" pitchFamily="18" charset="0"/>
                <a:cs typeface="Times New Roman" pitchFamily="18" charset="0"/>
              </a:rPr>
              <a:t>Trường hợp không rõ cường độ dòng điện thì chọn từ cái lớn trước.</a:t>
            </a:r>
          </a:p>
          <a:p>
            <a:pPr eaLnBrk="1" latinLnBrk="1" hangingPunct="1">
              <a:lnSpc>
                <a:spcPct val="110000"/>
              </a:lnSpc>
              <a:buFontTx/>
              <a:buAutoNum type="arabicPeriod"/>
            </a:pPr>
            <a:r>
              <a:rPr lang="en-US" altLang="ko-KR">
                <a:latin typeface="Times New Roman" pitchFamily="18" charset="0"/>
                <a:cs typeface="Times New Roman" pitchFamily="18" charset="0"/>
              </a:rPr>
              <a:t>Ngắt mạch.</a:t>
            </a:r>
          </a:p>
          <a:p>
            <a:pPr eaLnBrk="1" latinLnBrk="1" hangingPunct="1">
              <a:lnSpc>
                <a:spcPct val="110000"/>
              </a:lnSpc>
              <a:buFontTx/>
              <a:buAutoNum type="arabicPeriod"/>
            </a:pPr>
            <a:r>
              <a:rPr lang="en-US" altLang="ko-KR">
                <a:latin typeface="Times New Roman" pitchFamily="18" charset="0"/>
                <a:cs typeface="Times New Roman" pitchFamily="18" charset="0"/>
              </a:rPr>
              <a:t>Nối hai đầu mạch điện vừa ngắt với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Test Lead.</a:t>
            </a:r>
          </a:p>
          <a:p>
            <a:pPr eaLnBrk="1" latinLnBrk="1" hangingPunct="1">
              <a:lnSpc>
                <a:spcPct val="110000"/>
              </a:lnSpc>
              <a:buFontTx/>
              <a:buAutoNum type="arabicPeriod"/>
            </a:pPr>
            <a:r>
              <a:rPr lang="en-US" altLang="ko-KR">
                <a:latin typeface="Times New Roman" pitchFamily="18" charset="0"/>
                <a:cs typeface="Times New Roman" pitchFamily="18" charset="0"/>
              </a:rPr>
              <a:t>Đo dòng điện chạy qua.</a:t>
            </a:r>
          </a:p>
        </p:txBody>
      </p:sp>
      <p:pic>
        <p:nvPicPr>
          <p:cNvPr id="47111" name="Picture 8"/>
          <p:cNvPicPr>
            <a:picLocks noChangeAspect="1" noChangeArrowheads="1"/>
          </p:cNvPicPr>
          <p:nvPr/>
        </p:nvPicPr>
        <p:blipFill>
          <a:blip r:embed="rId3">
            <a:extLst>
              <a:ext uri="{28A0092B-C50C-407E-A947-70E740481C1C}">
                <a14:useLocalDpi xmlns:a14="http://schemas.microsoft.com/office/drawing/2010/main" val="0"/>
              </a:ext>
            </a:extLst>
          </a:blip>
          <a:srcRect r="-1833"/>
          <a:stretch>
            <a:fillRect/>
          </a:stretch>
        </p:blipFill>
        <p:spPr bwMode="auto">
          <a:xfrm>
            <a:off x="5024438" y="2725738"/>
            <a:ext cx="1651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2" name="Text Box 9"/>
          <p:cNvSpPr txBox="1">
            <a:spLocks noChangeArrowheads="1"/>
          </p:cNvSpPr>
          <p:nvPr/>
        </p:nvSpPr>
        <p:spPr bwMode="auto">
          <a:xfrm>
            <a:off x="5119688" y="2773363"/>
            <a:ext cx="29210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Hiện lên ký hiệu dòng điện 1 chiều trên màn LCD.</a:t>
            </a:r>
          </a:p>
        </p:txBody>
      </p:sp>
      <p:sp>
        <p:nvSpPr>
          <p:cNvPr id="47113" name="Text Box 10"/>
          <p:cNvSpPr txBox="1">
            <a:spLocks noChangeArrowheads="1"/>
          </p:cNvSpPr>
          <p:nvPr/>
        </p:nvSpPr>
        <p:spPr bwMode="auto">
          <a:xfrm>
            <a:off x="4787900" y="2752725"/>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A</a:t>
            </a:r>
          </a:p>
        </p:txBody>
      </p:sp>
      <p:sp>
        <p:nvSpPr>
          <p:cNvPr id="47114" name="Text Box 11"/>
          <p:cNvSpPr txBox="1">
            <a:spLocks noChangeArrowheads="1"/>
          </p:cNvSpPr>
          <p:nvPr/>
        </p:nvSpPr>
        <p:spPr bwMode="auto">
          <a:xfrm>
            <a:off x="4264025" y="4589463"/>
            <a:ext cx="1905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 Chú ý khi đo dòng điện</a:t>
            </a:r>
            <a:endParaRPr lang="ko-KR" altLang="en-US" b="1">
              <a:latin typeface="Times New Roman" pitchFamily="18" charset="0"/>
              <a:cs typeface="Times New Roman" pitchFamily="18" charset="0"/>
            </a:endParaRPr>
          </a:p>
        </p:txBody>
      </p:sp>
      <p:sp>
        <p:nvSpPr>
          <p:cNvPr id="47115" name="Text Box 12"/>
          <p:cNvSpPr txBox="1">
            <a:spLocks noChangeArrowheads="1"/>
          </p:cNvSpPr>
          <p:nvPr/>
        </p:nvSpPr>
        <p:spPr bwMode="auto">
          <a:xfrm>
            <a:off x="4479925" y="4878388"/>
            <a:ext cx="452120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u="sng">
                <a:latin typeface="Times New Roman" pitchFamily="18" charset="0"/>
                <a:cs typeface="Times New Roman" pitchFamily="18" charset="0"/>
              </a:rPr>
              <a:t>Mắc nối tiếp máy Test vào mạch điện khi đo dòng điện.</a:t>
            </a:r>
          </a:p>
          <a:p>
            <a:pPr eaLnBrk="1" latinLnBrk="1" hangingPunct="1">
              <a:lnSpc>
                <a:spcPct val="100000"/>
              </a:lnSpc>
            </a:pPr>
            <a:r>
              <a:rPr lang="en-US" altLang="ko-KR" b="1">
                <a:latin typeface="Times New Roman" pitchFamily="18" charset="0"/>
                <a:cs typeface="Times New Roman" pitchFamily="18" charset="0"/>
              </a:rPr>
              <a:t>Cần chú ý nếu trong trường hợp không mắc như vậy mà mắc máy</a:t>
            </a:r>
          </a:p>
          <a:p>
            <a:pPr eaLnBrk="1" latinLnBrk="1" hangingPunct="1">
              <a:lnSpc>
                <a:spcPct val="100000"/>
              </a:lnSpc>
            </a:pPr>
            <a:r>
              <a:rPr lang="en-US" altLang="ko-KR" b="1">
                <a:latin typeface="Times New Roman" pitchFamily="18" charset="0"/>
                <a:cs typeface="Times New Roman" pitchFamily="18" charset="0"/>
              </a:rPr>
              <a:t>Test bên trong mạch điện thì có thể sẽ gây hao tổn.</a:t>
            </a:r>
          </a:p>
        </p:txBody>
      </p:sp>
      <p:pic>
        <p:nvPicPr>
          <p:cNvPr id="4711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484313"/>
            <a:ext cx="13684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4005263"/>
            <a:ext cx="20955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8" name="Text Box 15"/>
          <p:cNvSpPr txBox="1">
            <a:spLocks noChangeArrowheads="1"/>
          </p:cNvSpPr>
          <p:nvPr/>
        </p:nvSpPr>
        <p:spPr bwMode="auto">
          <a:xfrm>
            <a:off x="1835150" y="5235575"/>
            <a:ext cx="8826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Mạch đóng</a:t>
            </a:r>
            <a:endParaRPr lang="ko-KR" altLang="en-US">
              <a:latin typeface="Times New Roman" pitchFamily="18" charset="0"/>
              <a:cs typeface="Times New Roman" pitchFamily="18" charset="0"/>
            </a:endParaRPr>
          </a:p>
        </p:txBody>
      </p:sp>
      <p:sp>
        <p:nvSpPr>
          <p:cNvPr id="47119" name="Freeform 16"/>
          <p:cNvSpPr>
            <a:spLocks/>
          </p:cNvSpPr>
          <p:nvPr/>
        </p:nvSpPr>
        <p:spPr bwMode="auto">
          <a:xfrm>
            <a:off x="2051050" y="3548063"/>
            <a:ext cx="73025" cy="504825"/>
          </a:xfrm>
          <a:custGeom>
            <a:avLst/>
            <a:gdLst>
              <a:gd name="T0" fmla="*/ 2147483647 w 257"/>
              <a:gd name="T1" fmla="*/ 0 h 106"/>
              <a:gd name="T2" fmla="*/ 2147483647 w 257"/>
              <a:gd name="T3" fmla="*/ 2147483647 h 106"/>
              <a:gd name="T4" fmla="*/ 2147483647 w 257"/>
              <a:gd name="T5" fmla="*/ 2147483647 h 106"/>
              <a:gd name="T6" fmla="*/ 0 60000 65536"/>
              <a:gd name="T7" fmla="*/ 0 60000 65536"/>
              <a:gd name="T8" fmla="*/ 0 60000 65536"/>
            </a:gdLst>
            <a:ahLst/>
            <a:cxnLst>
              <a:cxn ang="T6">
                <a:pos x="T0" y="T1"/>
              </a:cxn>
              <a:cxn ang="T7">
                <a:pos x="T2" y="T3"/>
              </a:cxn>
              <a:cxn ang="T8">
                <a:pos x="T4" y="T5"/>
              </a:cxn>
            </a:cxnLst>
            <a:rect l="0" t="0" r="r" b="b"/>
            <a:pathLst>
              <a:path w="257" h="106">
                <a:moveTo>
                  <a:pt x="257" y="0"/>
                </a:moveTo>
                <a:cubicBezTo>
                  <a:pt x="158" y="38"/>
                  <a:pt x="60" y="76"/>
                  <a:pt x="30" y="91"/>
                </a:cubicBezTo>
                <a:cubicBezTo>
                  <a:pt x="0" y="106"/>
                  <a:pt x="37" y="98"/>
                  <a:pt x="75" y="91"/>
                </a:cubicBezTo>
              </a:path>
            </a:pathLst>
          </a:custGeom>
          <a:noFill/>
          <a:ln w="571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7120" name="Line 17"/>
          <p:cNvSpPr>
            <a:spLocks noChangeShapeType="1"/>
          </p:cNvSpPr>
          <p:nvPr/>
        </p:nvSpPr>
        <p:spPr bwMode="auto">
          <a:xfrm>
            <a:off x="1604963" y="3557588"/>
            <a:ext cx="187325" cy="466725"/>
          </a:xfrm>
          <a:prstGeom prst="line">
            <a:avLst/>
          </a:prstGeom>
          <a:noFill/>
          <a:ln w="571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7121" name="Oval 18"/>
          <p:cNvSpPr>
            <a:spLocks noChangeArrowheads="1"/>
          </p:cNvSpPr>
          <p:nvPr/>
        </p:nvSpPr>
        <p:spPr bwMode="auto">
          <a:xfrm>
            <a:off x="1514475" y="3448050"/>
            <a:ext cx="144463" cy="144463"/>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7122" name="Oval 19"/>
          <p:cNvSpPr>
            <a:spLocks noChangeArrowheads="1"/>
          </p:cNvSpPr>
          <p:nvPr/>
        </p:nvSpPr>
        <p:spPr bwMode="auto">
          <a:xfrm>
            <a:off x="2022475" y="3438525"/>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47123" name="Rectangle 20"/>
          <p:cNvSpPr>
            <a:spLocks noChangeArrowheads="1"/>
          </p:cNvSpPr>
          <p:nvPr/>
        </p:nvSpPr>
        <p:spPr bwMode="auto">
          <a:xfrm>
            <a:off x="971550" y="5300663"/>
            <a:ext cx="360363" cy="576262"/>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lnSpc>
                <a:spcPct val="110000"/>
              </a:lnSpc>
            </a:pPr>
            <a:r>
              <a:rPr lang="en-US" altLang="ko-KR" b="1">
                <a:latin typeface="Times New Roman" pitchFamily="18" charset="0"/>
                <a:cs typeface="Times New Roman" pitchFamily="18" charset="0"/>
              </a:rPr>
              <a:t>Tải</a:t>
            </a:r>
            <a:endParaRPr lang="ko-KR" altLang="en-US" b="1">
              <a:latin typeface="Times New Roman" pitchFamily="18" charset="0"/>
              <a:cs typeface="Times New Roman" pitchFamily="18" charset="0"/>
            </a:endParaRPr>
          </a:p>
        </p:txBody>
      </p:sp>
      <p:sp>
        <p:nvSpPr>
          <p:cNvPr id="47124" name="Text Box 21"/>
          <p:cNvSpPr txBox="1">
            <a:spLocks noChangeArrowheads="1"/>
          </p:cNvSpPr>
          <p:nvPr/>
        </p:nvSpPr>
        <p:spPr bwMode="auto">
          <a:xfrm>
            <a:off x="4140200" y="1341438"/>
            <a:ext cx="24288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 Hạn chế của máy đo dòng điện.</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58E3D2C-5173-4BCB-A9E8-A29E7CAD9161}" type="slidenum">
              <a:rPr lang="en-US" altLang="ko-KR" sz="1400" smtClean="0">
                <a:latin typeface="Times New Roman" pitchFamily="18" charset="0"/>
                <a:cs typeface="Times New Roman" pitchFamily="18" charset="0"/>
              </a:rPr>
              <a:pPr eaLnBrk="1" hangingPunct="1"/>
              <a:t>42</a:t>
            </a:fld>
            <a:endParaRPr lang="en-US" altLang="ko-KR" sz="1400" smtClean="0">
              <a:latin typeface="Times New Roman" pitchFamily="18" charset="0"/>
              <a:cs typeface="Times New Roman" pitchFamily="18" charset="0"/>
            </a:endParaRPr>
          </a:p>
        </p:txBody>
      </p:sp>
      <p:sp>
        <p:nvSpPr>
          <p:cNvPr id="48131" name="Text Box 2"/>
          <p:cNvSpPr txBox="1">
            <a:spLocks noChangeArrowheads="1"/>
          </p:cNvSpPr>
          <p:nvPr/>
        </p:nvSpPr>
        <p:spPr bwMode="auto">
          <a:xfrm>
            <a:off x="684213" y="892175"/>
            <a:ext cx="3756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3-2. Thước kẹp mét(</a:t>
            </a:r>
            <a:r>
              <a:rPr lang="en-US" altLang="ko-KR" b="1">
                <a:latin typeface="Times New Roman" pitchFamily="18" charset="0"/>
                <a:cs typeface="Times New Roman" pitchFamily="18" charset="0"/>
              </a:rPr>
              <a:t>Clamp Meter, thước kẹp hook)</a:t>
            </a:r>
            <a:endParaRPr lang="en-US" altLang="ko-KR">
              <a:latin typeface="Times New Roman" pitchFamily="18" charset="0"/>
              <a:cs typeface="Times New Roman" pitchFamily="18" charset="0"/>
            </a:endParaRPr>
          </a:p>
        </p:txBody>
      </p:sp>
      <p:sp>
        <p:nvSpPr>
          <p:cNvPr id="48132"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8133" name="Text Box 5"/>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
        <p:nvSpPr>
          <p:cNvPr id="48134"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Có thể đo điện áp xoay chiều, 1 chiều, dòng điện 1 chiều, điện trở vv..bằng đồng hồ vạn năng, nhưng không thể đo dòng điện xoay chiều bằng đồng hồ vạn năng mà phải đo bằng đồng hồ hook có các kỹ năng giống đồng hồ vạn năng, không cần phải cắt dây điện mà chỉ cần vòng dây điện vào trong vòng tròn của kẹp là có thể đo dòng điện đang chạy và nó được gọi là máy đo.</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Nguyên lý đo thước kẹp mét</a:t>
            </a:r>
            <a:endParaRPr lang="ko-KR" altLang="en-US" b="1">
              <a:latin typeface="Times New Roman" pitchFamily="18" charset="0"/>
              <a:cs typeface="Times New Roman" pitchFamily="18" charset="0"/>
            </a:endParaRPr>
          </a:p>
          <a:p>
            <a:pPr eaLnBrk="1" hangingPunct="1"/>
            <a:endParaRPr lang="ko-KR" altLang="en-US" sz="700"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Quấn dây điện vào thước kẹp và nó có chức năng như một loại máy biến áp. Thước kẹp tự nó đã là một lõi và nếu đưa dây điện có dòng điện chạy qua vào trong lõi ấy thì nó biến thành cuộn cảm thứ nhất và cuộn cảm thứ 2 cuộn cuộn cảm ở bên trong thước kẹp làm hiện lên màn hình theo tỷ lệ đó và đây chính là cách đo dòng điện xoay chiều.</a:t>
            </a:r>
          </a:p>
        </p:txBody>
      </p:sp>
      <p:pic>
        <p:nvPicPr>
          <p:cNvPr id="481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2688" y="2276475"/>
            <a:ext cx="3937000"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6" name="Picture 9" descr="Operation Principle of clampmeter"/>
          <p:cNvPicPr>
            <a:picLocks noChangeAspect="1" noChangeArrowheads="1"/>
          </p:cNvPicPr>
          <p:nvPr/>
        </p:nvPicPr>
        <p:blipFill>
          <a:blip r:embed="rId4">
            <a:extLst>
              <a:ext uri="{28A0092B-C50C-407E-A947-70E740481C1C}">
                <a14:useLocalDpi xmlns:a14="http://schemas.microsoft.com/office/drawing/2010/main" val="0"/>
              </a:ext>
            </a:extLst>
          </a:blip>
          <a:srcRect b="-26"/>
          <a:stretch>
            <a:fillRect/>
          </a:stretch>
        </p:blipFill>
        <p:spPr bwMode="auto">
          <a:xfrm>
            <a:off x="2008188" y="4891088"/>
            <a:ext cx="4824412"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ADDEF09-C804-480B-8B87-A73A25806883}" type="slidenum">
              <a:rPr lang="en-US" altLang="ko-KR" sz="1400" smtClean="0">
                <a:latin typeface="Times New Roman" pitchFamily="18" charset="0"/>
                <a:cs typeface="Times New Roman" pitchFamily="18" charset="0"/>
              </a:rPr>
              <a:pPr eaLnBrk="1" hangingPunct="1"/>
              <a:t>43</a:t>
            </a:fld>
            <a:endParaRPr lang="en-US" altLang="ko-KR" sz="1400" smtClean="0">
              <a:latin typeface="Times New Roman" pitchFamily="18" charset="0"/>
              <a:cs typeface="Times New Roman" pitchFamily="18" charset="0"/>
            </a:endParaRPr>
          </a:p>
        </p:txBody>
      </p:sp>
      <p:sp>
        <p:nvSpPr>
          <p:cNvPr id="4915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4915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Phương pháp sử dụng thước kẹp mét</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Phương pháp sử dụng thước kẹp mét là phương pháp đưa một sợi dây điện hay 1 sợi cáp vào trong vòng tròn của thước rồi kiểm tra lại xem vòng tròn đã khít chưa. Lưu ý không thể đo nếu đưa vào vòng tròn thước kẹp nhiều hơn 1 đường dây. Sau khi đó chọn RANGE phù hợp và có thể đọc được giá trị đo.</a:t>
            </a:r>
          </a:p>
          <a:p>
            <a:pPr eaLnBrk="1" hangingPunct="1"/>
            <a:r>
              <a:rPr lang="en-US" altLang="ko-KR">
                <a:latin typeface="Times New Roman" pitchFamily="18" charset="0"/>
                <a:cs typeface="Times New Roman" pitchFamily="18" charset="0"/>
              </a:rPr>
              <a:t>Nếu được mắc đúng RANGE thì thiết bị đo sẽ bắt đầu chạy từ giá trị đo lớn nhất đến giá trị đúng và nếu đọc giá trị đo đó thì sẽ tìm ra giá trị dòng điện[A].</a:t>
            </a:r>
          </a:p>
          <a:p>
            <a:pPr eaLnBrk="1" hangingPunct="1"/>
            <a:endParaRPr lang="en-US" altLang="ko-KR" b="1">
              <a:latin typeface="Times New Roman" pitchFamily="18" charset="0"/>
              <a:cs typeface="Times New Roman" pitchFamily="18" charset="0"/>
            </a:endParaRPr>
          </a:p>
        </p:txBody>
      </p:sp>
      <p:sp>
        <p:nvSpPr>
          <p:cNvPr id="49157"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pic>
        <p:nvPicPr>
          <p:cNvPr id="4915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905125"/>
            <a:ext cx="1731962" cy="237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9" name="Rectangle 6"/>
          <p:cNvSpPr>
            <a:spLocks noChangeArrowheads="1"/>
          </p:cNvSpPr>
          <p:nvPr/>
        </p:nvSpPr>
        <p:spPr bwMode="auto">
          <a:xfrm>
            <a:off x="2916238" y="3122613"/>
            <a:ext cx="2630487"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fontAlgn="ctr" latinLnBrk="1" hangingPunct="1">
              <a:lnSpc>
                <a:spcPct val="100000"/>
              </a:lnSpc>
            </a:pPr>
            <a:r>
              <a:rPr lang="en-US" altLang="ko-KR" sz="900" b="1">
                <a:solidFill>
                  <a:srgbClr val="000000"/>
                </a:solidFill>
                <a:latin typeface="Times New Roman" pitchFamily="18" charset="0"/>
                <a:cs typeface="Times New Roman" pitchFamily="18" charset="0"/>
              </a:rPr>
              <a:t>  </a:t>
            </a:r>
            <a:r>
              <a:rPr lang="en-US" altLang="ko-KR" sz="12300" b="1">
                <a:solidFill>
                  <a:srgbClr val="000000"/>
                </a:solidFill>
                <a:latin typeface="Times New Roman" pitchFamily="18" charset="0"/>
                <a:cs typeface="Times New Roman" pitchFamily="18" charset="0"/>
              </a:rPr>
              <a:t> </a:t>
            </a:r>
            <a:r>
              <a:rPr lang="en-US" altLang="ko-KR" sz="900" b="1">
                <a:solidFill>
                  <a:srgbClr val="000000"/>
                </a:solidFill>
                <a:latin typeface="Times New Roman" pitchFamily="18" charset="0"/>
                <a:cs typeface="Times New Roman" pitchFamily="18" charset="0"/>
              </a:rPr>
              <a:t>                                                              </a:t>
            </a:r>
          </a:p>
        </p:txBody>
      </p:sp>
      <p:pic>
        <p:nvPicPr>
          <p:cNvPr id="49160" name="Picture 7" descr="38_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3194050"/>
            <a:ext cx="242887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161" name="Group 8"/>
          <p:cNvGrpSpPr>
            <a:grpSpLocks/>
          </p:cNvGrpSpPr>
          <p:nvPr/>
        </p:nvGrpSpPr>
        <p:grpSpPr bwMode="auto">
          <a:xfrm>
            <a:off x="6372225" y="3049588"/>
            <a:ext cx="2160588" cy="2266950"/>
            <a:chOff x="249" y="2432"/>
            <a:chExt cx="1361" cy="1428"/>
          </a:xfrm>
        </p:grpSpPr>
        <p:pic>
          <p:nvPicPr>
            <p:cNvPr id="49165" name="Picture 9" descr="39_2"/>
            <p:cNvPicPr>
              <a:picLocks noChangeAspect="1" noChangeArrowheads="1"/>
            </p:cNvPicPr>
            <p:nvPr/>
          </p:nvPicPr>
          <p:blipFill>
            <a:blip r:embed="rId5">
              <a:extLst>
                <a:ext uri="{28A0092B-C50C-407E-A947-70E740481C1C}">
                  <a14:useLocalDpi xmlns:a14="http://schemas.microsoft.com/office/drawing/2010/main" val="0"/>
                </a:ext>
              </a:extLst>
            </a:blip>
            <a:srcRect r="48447"/>
            <a:stretch>
              <a:fillRect/>
            </a:stretch>
          </p:blipFill>
          <p:spPr bwMode="auto">
            <a:xfrm>
              <a:off x="249" y="2432"/>
              <a:ext cx="1361" cy="1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6" name="Rectangle 10"/>
            <p:cNvSpPr>
              <a:spLocks noChangeArrowheads="1"/>
            </p:cNvSpPr>
            <p:nvPr/>
          </p:nvSpPr>
          <p:spPr bwMode="auto">
            <a:xfrm>
              <a:off x="485" y="2438"/>
              <a:ext cx="115"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endParaRPr lang="en-US" altLang="ko-KR" sz="1800">
                <a:latin typeface="Times New Roman" pitchFamily="18" charset="0"/>
                <a:cs typeface="Times New Roman" pitchFamily="18" charset="0"/>
              </a:endParaRPr>
            </a:p>
          </p:txBody>
        </p:sp>
        <p:sp>
          <p:nvSpPr>
            <p:cNvPr id="49167" name="Rectangle 11"/>
            <p:cNvSpPr>
              <a:spLocks noChangeArrowheads="1"/>
            </p:cNvSpPr>
            <p:nvPr/>
          </p:nvSpPr>
          <p:spPr bwMode="auto">
            <a:xfrm>
              <a:off x="370" y="2438"/>
              <a:ext cx="115"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endParaRPr lang="en-US" altLang="ko-KR" sz="1800">
                <a:latin typeface="Times New Roman" pitchFamily="18" charset="0"/>
                <a:cs typeface="Times New Roman" pitchFamily="18" charset="0"/>
              </a:endParaRPr>
            </a:p>
          </p:txBody>
        </p:sp>
        <p:sp>
          <p:nvSpPr>
            <p:cNvPr id="49168" name="Rectangle 12"/>
            <p:cNvSpPr>
              <a:spLocks noChangeArrowheads="1"/>
            </p:cNvSpPr>
            <p:nvPr/>
          </p:nvSpPr>
          <p:spPr bwMode="auto">
            <a:xfrm>
              <a:off x="255" y="2438"/>
              <a:ext cx="115"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900" b="1">
                  <a:solidFill>
                    <a:srgbClr val="000000"/>
                  </a:solidFill>
                  <a:latin typeface="Times New Roman" pitchFamily="18" charset="0"/>
                  <a:cs typeface="Times New Roman" pitchFamily="18" charset="0"/>
                </a:rPr>
                <a:t>  </a:t>
              </a:r>
              <a:endParaRPr lang="en-US" altLang="ko-KR" sz="1800">
                <a:latin typeface="Times New Roman" pitchFamily="18" charset="0"/>
                <a:cs typeface="Times New Roman" pitchFamily="18" charset="0"/>
              </a:endParaRPr>
            </a:p>
          </p:txBody>
        </p:sp>
        <p:sp>
          <p:nvSpPr>
            <p:cNvPr id="49169" name="Line 13"/>
            <p:cNvSpPr>
              <a:spLocks noChangeShapeType="1"/>
            </p:cNvSpPr>
            <p:nvPr/>
          </p:nvSpPr>
          <p:spPr bwMode="auto">
            <a:xfrm>
              <a:off x="255" y="2438"/>
              <a:ext cx="34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9170" name="Line 14"/>
            <p:cNvSpPr>
              <a:spLocks noChangeShapeType="1"/>
            </p:cNvSpPr>
            <p:nvPr/>
          </p:nvSpPr>
          <p:spPr bwMode="auto">
            <a:xfrm>
              <a:off x="255" y="3355"/>
              <a:ext cx="34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9171" name="Line 15"/>
            <p:cNvSpPr>
              <a:spLocks noChangeShapeType="1"/>
            </p:cNvSpPr>
            <p:nvPr/>
          </p:nvSpPr>
          <p:spPr bwMode="auto">
            <a:xfrm>
              <a:off x="255" y="2438"/>
              <a:ext cx="0" cy="9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9172" name="Line 16"/>
            <p:cNvSpPr>
              <a:spLocks noChangeShapeType="1"/>
            </p:cNvSpPr>
            <p:nvPr/>
          </p:nvSpPr>
          <p:spPr bwMode="auto">
            <a:xfrm>
              <a:off x="600" y="2438"/>
              <a:ext cx="0" cy="9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49162" name="Text Box 17"/>
          <p:cNvSpPr txBox="1">
            <a:spLocks noChangeArrowheads="1"/>
          </p:cNvSpPr>
          <p:nvPr/>
        </p:nvSpPr>
        <p:spPr bwMode="auto">
          <a:xfrm>
            <a:off x="3624263" y="5473700"/>
            <a:ext cx="176212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100">
                <a:latin typeface="Times New Roman" pitchFamily="18" charset="0"/>
                <a:cs typeface="Times New Roman" pitchFamily="18" charset="0"/>
              </a:rPr>
              <a:t>Đo dòng DC</a:t>
            </a:r>
            <a:r>
              <a:rPr lang="ko-KR" altLang="en-US" sz="1100">
                <a:latin typeface="Times New Roman" pitchFamily="18" charset="0"/>
                <a:cs typeface="Times New Roman" pitchFamily="18" charset="0"/>
              </a:rPr>
              <a:t> </a:t>
            </a:r>
            <a:r>
              <a:rPr lang="en-US" altLang="ko-KR" sz="1100">
                <a:latin typeface="Times New Roman" pitchFamily="18" charset="0"/>
                <a:cs typeface="Times New Roman" pitchFamily="18" charset="0"/>
              </a:rPr>
              <a:t>– Đo trực tiếp</a:t>
            </a:r>
            <a:r>
              <a:rPr lang="ko-KR" altLang="en-US" sz="1100">
                <a:latin typeface="Times New Roman" pitchFamily="18" charset="0"/>
                <a:cs typeface="Times New Roman" pitchFamily="18" charset="0"/>
              </a:rPr>
              <a:t> </a:t>
            </a:r>
          </a:p>
        </p:txBody>
      </p:sp>
      <p:sp>
        <p:nvSpPr>
          <p:cNvPr id="49163" name="Text Box 18"/>
          <p:cNvSpPr txBox="1">
            <a:spLocks noChangeArrowheads="1"/>
          </p:cNvSpPr>
          <p:nvPr/>
        </p:nvSpPr>
        <p:spPr bwMode="auto">
          <a:xfrm>
            <a:off x="6804025" y="5461000"/>
            <a:ext cx="1744663"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100">
                <a:latin typeface="Times New Roman" pitchFamily="18" charset="0"/>
                <a:cs typeface="Times New Roman" pitchFamily="18" charset="0"/>
              </a:rPr>
              <a:t>Đo dòng AC– Đo gián tiếp</a:t>
            </a:r>
            <a:r>
              <a:rPr lang="ko-KR" altLang="en-US" sz="1100">
                <a:latin typeface="Times New Roman" pitchFamily="18" charset="0"/>
                <a:cs typeface="Times New Roman" pitchFamily="18" charset="0"/>
              </a:rPr>
              <a:t> </a:t>
            </a:r>
          </a:p>
        </p:txBody>
      </p:sp>
      <p:sp>
        <p:nvSpPr>
          <p:cNvPr id="49164" name="Text Box 19"/>
          <p:cNvSpPr txBox="1">
            <a:spLocks noChangeArrowheads="1"/>
          </p:cNvSpPr>
          <p:nvPr/>
        </p:nvSpPr>
        <p:spPr bwMode="auto">
          <a:xfrm>
            <a:off x="1085850" y="5451475"/>
            <a:ext cx="833438"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100">
                <a:latin typeface="Times New Roman" pitchFamily="18" charset="0"/>
                <a:cs typeface="Times New Roman" pitchFamily="18" charset="0"/>
              </a:rPr>
              <a:t>Cách đo lỗi</a:t>
            </a:r>
            <a:endParaRPr lang="ko-KR" altLang="en-US" sz="11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FF8FF54-AB80-4187-B5D9-9D456EF9E09C}" type="slidenum">
              <a:rPr lang="en-US" altLang="ko-KR" sz="1400" smtClean="0">
                <a:latin typeface="Times New Roman" pitchFamily="18" charset="0"/>
                <a:cs typeface="Times New Roman" pitchFamily="18" charset="0"/>
              </a:rPr>
              <a:pPr eaLnBrk="1" hangingPunct="1"/>
              <a:t>44</a:t>
            </a:fld>
            <a:endParaRPr lang="en-US" altLang="ko-KR" sz="1400" smtClean="0">
              <a:latin typeface="Times New Roman" pitchFamily="18" charset="0"/>
              <a:cs typeface="Times New Roman" pitchFamily="18" charset="0"/>
            </a:endParaRPr>
          </a:p>
        </p:txBody>
      </p:sp>
      <p:sp>
        <p:nvSpPr>
          <p:cNvPr id="50179" name="Text Box 2"/>
          <p:cNvSpPr txBox="1">
            <a:spLocks noChangeArrowheads="1"/>
          </p:cNvSpPr>
          <p:nvPr/>
        </p:nvSpPr>
        <p:spPr bwMode="auto">
          <a:xfrm>
            <a:off x="684213" y="892175"/>
            <a:ext cx="31845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3-3. </a:t>
            </a:r>
            <a:r>
              <a:rPr lang="en-US" altLang="ko-KR" b="1">
                <a:latin typeface="Times New Roman" pitchFamily="18" charset="0"/>
                <a:cs typeface="Times New Roman" pitchFamily="18" charset="0"/>
              </a:rPr>
              <a:t>Mega Tester (Máy đo điện trở cách điện)</a:t>
            </a:r>
          </a:p>
        </p:txBody>
      </p:sp>
      <p:sp>
        <p:nvSpPr>
          <p:cNvPr id="50180" name="Text Box 3"/>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0181" name="Text Box 4"/>
          <p:cNvSpPr txBox="1">
            <a:spLocks noChangeArrowheads="1"/>
          </p:cNvSpPr>
          <p:nvPr/>
        </p:nvSpPr>
        <p:spPr bwMode="auto">
          <a:xfrm>
            <a:off x="7896225" y="68263"/>
            <a:ext cx="10683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3. Đo điện</a:t>
            </a:r>
            <a:endParaRPr lang="ko-KR" altLang="en-US" sz="1600" b="1">
              <a:latin typeface="Times New Roman" pitchFamily="18" charset="0"/>
              <a:cs typeface="Times New Roman" pitchFamily="18" charset="0"/>
            </a:endParaRPr>
          </a:p>
        </p:txBody>
      </p:sp>
      <p:sp>
        <p:nvSpPr>
          <p:cNvPr id="50182"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en-US" sz="1000" b="1">
                <a:latin typeface="Times New Roman" pitchFamily="18" charset="0"/>
                <a:cs typeface="Times New Roman" pitchFamily="18" charset="0"/>
              </a:rPr>
              <a:t>(</a:t>
            </a:r>
            <a:r>
              <a:rPr lang="en-US" altLang="ko-KR" sz="1000" b="1">
                <a:latin typeface="Times New Roman" pitchFamily="18" charset="0"/>
                <a:cs typeface="Times New Roman" pitchFamily="18" charset="0"/>
              </a:rPr>
              <a:t>1</a:t>
            </a:r>
            <a:r>
              <a:rPr lang="en-US" altLang="en-US" sz="1000" b="1">
                <a:latin typeface="Times New Roman" pitchFamily="18" charset="0"/>
                <a:cs typeface="Times New Roman" pitchFamily="18" charset="0"/>
              </a:rPr>
              <a:t>) Điện trở cách điện</a:t>
            </a:r>
            <a:endParaRPr lang="ko-KR" altLang="en-US" sz="1000" b="1">
              <a:latin typeface="Times New Roman" pitchFamily="18" charset="0"/>
              <a:cs typeface="Times New Roman" pitchFamily="18" charset="0"/>
            </a:endParaRPr>
          </a:p>
          <a:p>
            <a:pPr eaLnBrk="1" latinLnBrk="1" hangingPunct="1">
              <a:lnSpc>
                <a:spcPct val="100000"/>
              </a:lnSpc>
            </a:pPr>
            <a:endParaRPr lang="ko-KR" altLang="en-US" sz="1000">
              <a:latin typeface="Times New Roman" pitchFamily="18" charset="0"/>
              <a:cs typeface="Times New Roman" pitchFamily="18" charset="0"/>
            </a:endParaRPr>
          </a:p>
          <a:p>
            <a:pPr eaLnBrk="1" hangingPunct="1"/>
            <a:r>
              <a:rPr lang="en-US" altLang="ko-KR" sz="1000">
                <a:latin typeface="Times New Roman" pitchFamily="18" charset="0"/>
                <a:cs typeface="Times New Roman" pitchFamily="18" charset="0"/>
              </a:rPr>
              <a:t>Điện trở cách điện mà một trong những phương pháp kiểm tra rò điện. Về cơ bản, là phương pháp kiểm tra xem có dòng điện chạy quay hay không có dòng điện chạy qua. </a:t>
            </a:r>
          </a:p>
          <a:p>
            <a:pPr eaLnBrk="1" hangingPunct="1"/>
            <a:r>
              <a:rPr lang="en-US" altLang="ko-KR" sz="1000" b="1">
                <a:solidFill>
                  <a:srgbClr val="FF3300"/>
                </a:solidFill>
                <a:latin typeface="Times New Roman" pitchFamily="18" charset="0"/>
                <a:cs typeface="Times New Roman" pitchFamily="18" charset="0"/>
              </a:rPr>
              <a:t>Điện trở cách điện đo được dòng điện 1 chiều, vì dòng điện 1 chiều là dòng điện có nguồn điện an toàn.(dòng điện xoay chiều có cực + , - lặp lại nên không an toàn)</a:t>
            </a:r>
          </a:p>
          <a:p>
            <a:pPr eaLnBrk="1" hangingPunct="1"/>
            <a:r>
              <a:rPr lang="en-US" altLang="ko-KR" sz="1000">
                <a:latin typeface="Times New Roman" pitchFamily="18" charset="0"/>
                <a:cs typeface="Times New Roman" pitchFamily="18" charset="0"/>
              </a:rPr>
              <a:t>Tham khảo) Điện trở tiếp đất và điện trở cách điện phải đối lập với nhau. Nghĩa là, </a:t>
            </a:r>
            <a:r>
              <a:rPr lang="en-US" altLang="ko-KR" sz="1000" u="sng">
                <a:latin typeface="Times New Roman" pitchFamily="18" charset="0"/>
                <a:cs typeface="Times New Roman" pitchFamily="18" charset="0"/>
              </a:rPr>
              <a:t>điện trở tiếp địa càng thấp thì điện trở cách điện càng cao càng tốt.</a:t>
            </a:r>
          </a:p>
          <a:p>
            <a:pPr eaLnBrk="1" latinLnBrk="1" hangingPunct="1">
              <a:lnSpc>
                <a:spcPct val="100000"/>
              </a:lnSpc>
            </a:pPr>
            <a:r>
              <a:rPr lang="en-US" altLang="en-US" sz="1000" b="1">
                <a:latin typeface="Times New Roman" pitchFamily="18" charset="0"/>
                <a:cs typeface="Times New Roman" pitchFamily="18" charset="0"/>
              </a:rPr>
              <a:t>(</a:t>
            </a:r>
            <a:r>
              <a:rPr lang="en-US" altLang="ko-KR" sz="1000" b="1">
                <a:latin typeface="Times New Roman" pitchFamily="18" charset="0"/>
                <a:cs typeface="Times New Roman" pitchFamily="18" charset="0"/>
              </a:rPr>
              <a:t>2</a:t>
            </a:r>
            <a:r>
              <a:rPr lang="en-US" altLang="en-US" sz="1000" b="1">
                <a:latin typeface="Times New Roman" pitchFamily="18" charset="0"/>
                <a:cs typeface="Times New Roman" pitchFamily="18" charset="0"/>
              </a:rPr>
              <a:t>) Phương pháp sử dụng máy đo điện trở cách điện</a:t>
            </a:r>
            <a:endParaRPr lang="ko-KR" altLang="en-US" sz="1000" b="1">
              <a:latin typeface="Times New Roman" pitchFamily="18" charset="0"/>
              <a:cs typeface="Times New Roman" pitchFamily="18" charset="0"/>
            </a:endParaRPr>
          </a:p>
          <a:p>
            <a:pPr eaLnBrk="1" latinLnBrk="1" hangingPunct="1">
              <a:lnSpc>
                <a:spcPct val="100000"/>
              </a:lnSpc>
            </a:pPr>
            <a:endParaRPr lang="ko-KR" altLang="en-US" sz="1000" b="1">
              <a:latin typeface="Times New Roman" pitchFamily="18" charset="0"/>
              <a:cs typeface="Times New Roman" pitchFamily="18" charset="0"/>
            </a:endParaRPr>
          </a:p>
          <a:p>
            <a:pPr eaLnBrk="1" latinLnBrk="1" hangingPunct="1">
              <a:lnSpc>
                <a:spcPct val="100000"/>
              </a:lnSpc>
            </a:pPr>
            <a:endParaRPr lang="en-US" altLang="ko-KR" sz="1000" b="1">
              <a:latin typeface="Times New Roman" pitchFamily="18" charset="0"/>
              <a:cs typeface="Times New Roman" pitchFamily="18" charset="0"/>
            </a:endParaRPr>
          </a:p>
        </p:txBody>
      </p:sp>
      <p:sp>
        <p:nvSpPr>
          <p:cNvPr id="50183" name="Text Box 8"/>
          <p:cNvSpPr txBox="1">
            <a:spLocks noChangeArrowheads="1"/>
          </p:cNvSpPr>
          <p:nvPr/>
        </p:nvSpPr>
        <p:spPr bwMode="auto">
          <a:xfrm>
            <a:off x="827088" y="2852738"/>
            <a:ext cx="80772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pPr>
            <a:r>
              <a:rPr lang="en-US" altLang="ko-KR" sz="1000">
                <a:latin typeface="Times New Roman" pitchFamily="18" charset="0"/>
                <a:ea typeface="돋움" pitchFamily="50" charset="-127"/>
                <a:cs typeface="Times New Roman" pitchFamily="18" charset="0"/>
              </a:rPr>
              <a:t>Là dụng cụ đo được sử dụng với mục đích đo điện trở cách điện.  (Điểm khác biệt so với các dụng cụ đo điện trở thông thường? Đo điện trở của DC 500 ~ 1000V và hơn thế nữa)</a:t>
            </a:r>
            <a:endParaRPr lang="ko-KR" altLang="ko-KR" sz="1000">
              <a:latin typeface="Times New Roman" pitchFamily="18" charset="0"/>
              <a:ea typeface="돋움" pitchFamily="50" charset="-127"/>
              <a:cs typeface="Times New Roman" pitchFamily="18" charset="0"/>
            </a:endParaRPr>
          </a:p>
        </p:txBody>
      </p:sp>
      <p:sp>
        <p:nvSpPr>
          <p:cNvPr id="50184" name="Text Box 9"/>
          <p:cNvSpPr txBox="1">
            <a:spLocks noChangeArrowheads="1"/>
          </p:cNvSpPr>
          <p:nvPr/>
        </p:nvSpPr>
        <p:spPr bwMode="auto">
          <a:xfrm>
            <a:off x="4500563" y="3330575"/>
            <a:ext cx="4392612"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pPr>
            <a:r>
              <a:rPr lang="en-US" altLang="ko-KR" sz="1000" b="1">
                <a:latin typeface="Times New Roman" pitchFamily="18" charset="0"/>
                <a:cs typeface="Times New Roman" pitchFamily="18" charset="0"/>
              </a:rPr>
              <a:t>■ Phương pháp đo điện  trở cách điện</a:t>
            </a:r>
            <a:endParaRPr lang="ko-KR" altLang="en-US" sz="1000" b="1">
              <a:latin typeface="Times New Roman" pitchFamily="18" charset="0"/>
              <a:cs typeface="Times New Roman" pitchFamily="18" charset="0"/>
            </a:endParaRPr>
          </a:p>
          <a:p>
            <a:pPr eaLnBrk="1" latinLnBrk="1" hangingPunct="1">
              <a:lnSpc>
                <a:spcPct val="130000"/>
              </a:lnSpc>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Chỉnh Level ở vị trí</a:t>
            </a:r>
            <a:r>
              <a:rPr lang="ko-KR" altLang="en-US" sz="1000" b="1">
                <a:solidFill>
                  <a:srgbClr val="FF3300"/>
                </a:solidFill>
                <a:latin typeface="Times New Roman" pitchFamily="18" charset="0"/>
                <a:cs typeface="Times New Roman" pitchFamily="18" charset="0"/>
              </a:rPr>
              <a:t>“</a:t>
            </a:r>
            <a:r>
              <a:rPr lang="en-US" altLang="ko-KR" sz="1000" b="1">
                <a:solidFill>
                  <a:srgbClr val="FF3300"/>
                </a:solidFill>
                <a:latin typeface="Times New Roman" pitchFamily="18" charset="0"/>
                <a:cs typeface="Times New Roman" pitchFamily="18" charset="0"/>
              </a:rPr>
              <a:t>MΩ” </a:t>
            </a:r>
            <a:r>
              <a:rPr lang="en-US" altLang="ko-KR" sz="1000">
                <a:latin typeface="Times New Roman" pitchFamily="18" charset="0"/>
                <a:cs typeface="Times New Roman" pitchFamily="18" charset="0"/>
              </a:rPr>
              <a:t>. </a:t>
            </a:r>
          </a:p>
          <a:p>
            <a:pPr eaLnBrk="1" latinLnBrk="1" hangingPunct="1">
              <a:lnSpc>
                <a:spcPct val="130000"/>
              </a:lnSpc>
            </a:pPr>
            <a:r>
              <a:rPr lang="en-US" altLang="ko-KR" sz="1000">
                <a:latin typeface="Times New Roman" pitchFamily="18" charset="0"/>
                <a:cs typeface="Times New Roman" pitchFamily="18" charset="0"/>
              </a:rPr>
              <a:t>  - Đưa phần có hình như cái kẹp đến đường tiếp địa.</a:t>
            </a:r>
          </a:p>
          <a:p>
            <a:pPr eaLnBrk="1" latinLnBrk="1" hangingPunct="1">
              <a:lnSpc>
                <a:spcPct val="130000"/>
              </a:lnSpc>
            </a:pPr>
            <a:r>
              <a:rPr lang="en-US" altLang="ko-KR" sz="1000">
                <a:latin typeface="Times New Roman" pitchFamily="18" charset="0"/>
                <a:cs typeface="Times New Roman" pitchFamily="18" charset="0"/>
              </a:rPr>
              <a:t>  - Đưa vào nơi không có dây tiếp địa mà có thể dùng vòi nước hay khung xe làm đối tượng tiếp địa. </a:t>
            </a:r>
          </a:p>
          <a:p>
            <a:pPr eaLnBrk="1" latinLnBrk="1" hangingPunct="1">
              <a:lnSpc>
                <a:spcPct val="130000"/>
              </a:lnSpc>
            </a:pPr>
            <a:r>
              <a:rPr lang="en-US" altLang="ko-KR" sz="1000">
                <a:latin typeface="Times New Roman" pitchFamily="18" charset="0"/>
                <a:cs typeface="Times New Roman" pitchFamily="18" charset="0"/>
              </a:rPr>
              <a:t>  - Kiểm tra bằng cách nối que</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Test màu đỏ vào dây điện.</a:t>
            </a:r>
          </a:p>
          <a:p>
            <a:pPr eaLnBrk="1" latinLnBrk="1" hangingPunct="1">
              <a:lnSpc>
                <a:spcPct val="130000"/>
              </a:lnSpc>
            </a:pPr>
            <a:r>
              <a:rPr lang="en-US" altLang="ko-KR" sz="1000">
                <a:latin typeface="Times New Roman" pitchFamily="18" charset="0"/>
                <a:cs typeface="Times New Roman" pitchFamily="18" charset="0"/>
              </a:rPr>
              <a:t>    Khi Level chỉ đến MΩ nếu muốn đọc giá trị đo phải ấn vào </a:t>
            </a:r>
            <a:r>
              <a:rPr lang="en-US" altLang="ko-KR" sz="1000" b="1">
                <a:solidFill>
                  <a:srgbClr val="FF3300"/>
                </a:solidFill>
                <a:latin typeface="Times New Roman" pitchFamily="18" charset="0"/>
                <a:cs typeface="Times New Roman" pitchFamily="18" charset="0"/>
              </a:rPr>
              <a:t>(Power)</a:t>
            </a:r>
            <a:endParaRPr lang="en-US" altLang="ko-KR" sz="1000">
              <a:latin typeface="Times New Roman" pitchFamily="18" charset="0"/>
              <a:cs typeface="Times New Roman" pitchFamily="18" charset="0"/>
            </a:endParaRPr>
          </a:p>
          <a:p>
            <a:pPr eaLnBrk="1" latinLnBrk="1" hangingPunct="1">
              <a:lnSpc>
                <a:spcPct val="130000"/>
              </a:lnSpc>
            </a:pPr>
            <a:r>
              <a:rPr lang="en-US" altLang="ko-KR" sz="1000">
                <a:latin typeface="Times New Roman" pitchFamily="18" charset="0"/>
                <a:cs typeface="Times New Roman" pitchFamily="18" charset="0"/>
              </a:rPr>
              <a:t>    Do maga testing dùng cao áp 500V đến 1000V nên tiêu hao điện năng lớn.</a:t>
            </a:r>
          </a:p>
          <a:p>
            <a:pPr eaLnBrk="1" latinLnBrk="1" hangingPunct="1">
              <a:lnSpc>
                <a:spcPct val="130000"/>
              </a:lnSpc>
            </a:pPr>
            <a:r>
              <a:rPr lang="en-US" altLang="ko-KR" sz="1000">
                <a:latin typeface="Times New Roman" pitchFamily="18" charset="0"/>
                <a:cs typeface="Times New Roman" pitchFamily="18" charset="0"/>
              </a:rPr>
              <a:t>  </a:t>
            </a:r>
          </a:p>
          <a:p>
            <a:pPr eaLnBrk="1" latinLnBrk="1" hangingPunct="1">
              <a:lnSpc>
                <a:spcPct val="130000"/>
              </a:lnSpc>
            </a:pPr>
            <a:r>
              <a:rPr lang="en-US" altLang="ko-KR" sz="1000">
                <a:latin typeface="Times New Roman" pitchFamily="18" charset="0"/>
                <a:cs typeface="Times New Roman" pitchFamily="18" charset="0"/>
              </a:rPr>
              <a:t> </a:t>
            </a:r>
            <a:r>
              <a:rPr lang="en-US" altLang="ko-KR" sz="1000" b="1">
                <a:solidFill>
                  <a:srgbClr val="FF3300"/>
                </a:solidFill>
                <a:latin typeface="Times New Roman" pitchFamily="18" charset="0"/>
                <a:cs typeface="Times New Roman" pitchFamily="18" charset="0"/>
              </a:rPr>
              <a:t>(Chú ý)</a:t>
            </a:r>
          </a:p>
          <a:p>
            <a:pPr eaLnBrk="1" latinLnBrk="1" hangingPunct="1">
              <a:lnSpc>
                <a:spcPct val="130000"/>
              </a:lnSpc>
            </a:pPr>
            <a:r>
              <a:rPr lang="en-US" altLang="ko-KR" sz="1000" b="1">
                <a:solidFill>
                  <a:srgbClr val="FF3300"/>
                </a:solidFill>
                <a:latin typeface="Times New Roman" pitchFamily="18" charset="0"/>
                <a:cs typeface="Times New Roman" pitchFamily="18" charset="0"/>
              </a:rPr>
              <a:t>  Không được đo tại dây sống. (Nhất định phải OFF nguồn điện rồi mới đo)  </a:t>
            </a:r>
          </a:p>
          <a:p>
            <a:pPr eaLnBrk="1" latinLnBrk="1" hangingPunct="1">
              <a:lnSpc>
                <a:spcPct val="130000"/>
              </a:lnSpc>
            </a:pPr>
            <a:r>
              <a:rPr lang="en-US" altLang="ko-KR" sz="1000" b="1">
                <a:solidFill>
                  <a:srgbClr val="FF3300"/>
                </a:solidFill>
                <a:latin typeface="Times New Roman" pitchFamily="18" charset="0"/>
                <a:cs typeface="Times New Roman" pitchFamily="18" charset="0"/>
              </a:rPr>
              <a:t>  Nguyên tắc cơ bản là trước khi test phải kiểm tra hai đầu!!!</a:t>
            </a:r>
          </a:p>
          <a:p>
            <a:pPr eaLnBrk="1" latinLnBrk="1" hangingPunct="1">
              <a:lnSpc>
                <a:spcPct val="130000"/>
              </a:lnSpc>
            </a:pPr>
            <a:r>
              <a:rPr lang="en-US" altLang="ko-KR" sz="1000" b="1">
                <a:solidFill>
                  <a:srgbClr val="FF3300"/>
                </a:solidFill>
                <a:latin typeface="Times New Roman" pitchFamily="18" charset="0"/>
                <a:cs typeface="Times New Roman" pitchFamily="18" charset="0"/>
              </a:rPr>
              <a:t>  (Kiểm tra xem chạm đầu test và đầu tiếp địa phải có giá trị bằng 0.)</a:t>
            </a:r>
          </a:p>
          <a:p>
            <a:pPr eaLnBrk="1" latinLnBrk="1" hangingPunct="1">
              <a:lnSpc>
                <a:spcPct val="130000"/>
              </a:lnSpc>
            </a:pPr>
            <a:r>
              <a:rPr lang="en-US" altLang="ko-KR" sz="1000" b="1">
                <a:solidFill>
                  <a:srgbClr val="FF3300"/>
                </a:solidFill>
                <a:latin typeface="Times New Roman" pitchFamily="18" charset="0"/>
                <a:cs typeface="Times New Roman" pitchFamily="18" charset="0"/>
              </a:rPr>
              <a:t> </a:t>
            </a:r>
            <a:r>
              <a:rPr lang="en-US" altLang="ko-KR" sz="1000">
                <a:latin typeface="Times New Roman" pitchFamily="18" charset="0"/>
                <a:cs typeface="Times New Roman" pitchFamily="18" charset="0"/>
              </a:rPr>
              <a:t>   </a:t>
            </a:r>
          </a:p>
        </p:txBody>
      </p:sp>
      <p:pic>
        <p:nvPicPr>
          <p:cNvPr id="5018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3489325"/>
            <a:ext cx="407670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6" name="직사각형 1"/>
          <p:cNvSpPr>
            <a:spLocks noChangeArrowheads="1"/>
          </p:cNvSpPr>
          <p:nvPr/>
        </p:nvSpPr>
        <p:spPr bwMode="auto">
          <a:xfrm>
            <a:off x="2454275" y="3489325"/>
            <a:ext cx="1223963" cy="4587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Đọc số màu đen mà kim đồng hồ chỉ.</a:t>
            </a:r>
            <a:endParaRPr lang="ko-KR" altLang="en-US" sz="1000">
              <a:latin typeface="Times New Roman" pitchFamily="18" charset="0"/>
              <a:cs typeface="Times New Roman" pitchFamily="18" charset="0"/>
            </a:endParaRPr>
          </a:p>
        </p:txBody>
      </p:sp>
      <p:sp>
        <p:nvSpPr>
          <p:cNvPr id="50187" name="직사각형 10"/>
          <p:cNvSpPr>
            <a:spLocks noChangeArrowheads="1"/>
          </p:cNvSpPr>
          <p:nvPr/>
        </p:nvSpPr>
        <p:spPr bwMode="auto">
          <a:xfrm>
            <a:off x="2451100" y="4803775"/>
            <a:ext cx="1800225"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Chỉ số kim chỉ là 4M</a:t>
            </a:r>
            <a:r>
              <a:rPr lang="el-GR" altLang="ko-KR" sz="1000">
                <a:latin typeface="Times New Roman" pitchFamily="18" charset="0"/>
                <a:cs typeface="Times New Roman" pitchFamily="18" charset="0"/>
              </a:rPr>
              <a:t>Ω</a:t>
            </a:r>
            <a:endParaRPr lang="ko-KR" altLang="en-US" sz="1000">
              <a:latin typeface="Times New Roman" pitchFamily="18" charset="0"/>
              <a:cs typeface="Times New Roman" pitchFamily="18" charset="0"/>
            </a:endParaRPr>
          </a:p>
        </p:txBody>
      </p:sp>
      <p:sp>
        <p:nvSpPr>
          <p:cNvPr id="50188" name="직사각형 11"/>
          <p:cNvSpPr>
            <a:spLocks noChangeArrowheads="1"/>
          </p:cNvSpPr>
          <p:nvPr/>
        </p:nvSpPr>
        <p:spPr bwMode="auto">
          <a:xfrm>
            <a:off x="2411413" y="5548313"/>
            <a:ext cx="1419225" cy="292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Đo điện trở cách điện</a:t>
            </a:r>
          </a:p>
          <a:p>
            <a:pPr algn="ctr" eaLnBrk="1" hangingPunct="1"/>
            <a:r>
              <a:rPr lang="en-US" altLang="ko-KR" sz="1000">
                <a:latin typeface="Times New Roman" pitchFamily="18" charset="0"/>
                <a:cs typeface="Times New Roman" pitchFamily="18" charset="0"/>
              </a:rPr>
              <a:t>(Đo mega)</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AECCC8D-0023-4327-A5A1-58936449A05F}" type="slidenum">
              <a:rPr lang="en-US" altLang="ko-KR" sz="1400" smtClean="0">
                <a:latin typeface="Times New Roman" pitchFamily="18" charset="0"/>
                <a:cs typeface="Times New Roman" pitchFamily="18" charset="0"/>
              </a:rPr>
              <a:pPr eaLnBrk="1" hangingPunct="1"/>
              <a:t>45</a:t>
            </a:fld>
            <a:endParaRPr lang="en-US" altLang="ko-KR" sz="1400" smtClean="0">
              <a:latin typeface="Times New Roman" pitchFamily="18" charset="0"/>
              <a:cs typeface="Times New Roman" pitchFamily="18" charset="0"/>
            </a:endParaRPr>
          </a:p>
        </p:txBody>
      </p:sp>
      <p:sp>
        <p:nvSpPr>
          <p:cNvPr id="51203" name="Text Box 2"/>
          <p:cNvSpPr txBox="1">
            <a:spLocks noChangeArrowheads="1"/>
          </p:cNvSpPr>
          <p:nvPr/>
        </p:nvSpPr>
        <p:spPr bwMode="auto">
          <a:xfrm>
            <a:off x="684213" y="892175"/>
            <a:ext cx="21447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4-1. Tìm hiểu về pha sóng</a:t>
            </a:r>
            <a:endParaRPr lang="ko-KR" altLang="en-US" sz="1400" b="1">
              <a:latin typeface="Times New Roman" pitchFamily="18" charset="0"/>
              <a:cs typeface="Times New Roman" pitchFamily="18" charset="0"/>
            </a:endParaRPr>
          </a:p>
        </p:txBody>
      </p:sp>
      <p:sp>
        <p:nvSpPr>
          <p:cNvPr id="51204" name="Text Box 3"/>
          <p:cNvSpPr txBox="1">
            <a:spLocks noChangeArrowheads="1"/>
          </p:cNvSpPr>
          <p:nvPr/>
        </p:nvSpPr>
        <p:spPr bwMode="auto">
          <a:xfrm>
            <a:off x="352425" y="501650"/>
            <a:ext cx="13589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sp>
        <p:nvSpPr>
          <p:cNvPr id="51205"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1206" name="Text Box 5"/>
          <p:cNvSpPr txBox="1">
            <a:spLocks noChangeArrowheads="1"/>
          </p:cNvSpPr>
          <p:nvPr/>
        </p:nvSpPr>
        <p:spPr bwMode="auto">
          <a:xfrm>
            <a:off x="7553325" y="68263"/>
            <a:ext cx="14112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sp>
        <p:nvSpPr>
          <p:cNvPr id="51207"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Pha sóng của dòng điện 1 chiều và dòng xoay chiều</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grpSp>
        <p:nvGrpSpPr>
          <p:cNvPr id="51208" name="Group 7"/>
          <p:cNvGrpSpPr>
            <a:grpSpLocks/>
          </p:cNvGrpSpPr>
          <p:nvPr/>
        </p:nvGrpSpPr>
        <p:grpSpPr bwMode="auto">
          <a:xfrm>
            <a:off x="862013" y="2235200"/>
            <a:ext cx="3187700" cy="1603375"/>
            <a:chOff x="541" y="1392"/>
            <a:chExt cx="2008" cy="1010"/>
          </a:xfrm>
        </p:grpSpPr>
        <p:sp>
          <p:nvSpPr>
            <p:cNvPr id="51221" name="Line 8"/>
            <p:cNvSpPr>
              <a:spLocks noChangeShapeType="1"/>
            </p:cNvSpPr>
            <p:nvPr/>
          </p:nvSpPr>
          <p:spPr bwMode="auto">
            <a:xfrm>
              <a:off x="1056" y="1440"/>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22" name="Line 9"/>
            <p:cNvSpPr>
              <a:spLocks noChangeShapeType="1"/>
            </p:cNvSpPr>
            <p:nvPr/>
          </p:nvSpPr>
          <p:spPr bwMode="auto">
            <a:xfrm>
              <a:off x="1056" y="1920"/>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23" name="Line 10"/>
            <p:cNvSpPr>
              <a:spLocks noChangeShapeType="1"/>
            </p:cNvSpPr>
            <p:nvPr/>
          </p:nvSpPr>
          <p:spPr bwMode="auto">
            <a:xfrm>
              <a:off x="1056" y="1680"/>
              <a:ext cx="1296"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24" name="Text Box 11"/>
            <p:cNvSpPr txBox="1">
              <a:spLocks noChangeArrowheads="1"/>
            </p:cNvSpPr>
            <p:nvPr/>
          </p:nvSpPr>
          <p:spPr bwMode="auto">
            <a:xfrm>
              <a:off x="864" y="158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ν</a:t>
              </a:r>
            </a:p>
          </p:txBody>
        </p:sp>
        <p:sp>
          <p:nvSpPr>
            <p:cNvPr id="51225" name="Text Box 12"/>
            <p:cNvSpPr txBox="1">
              <a:spLocks noChangeArrowheads="1"/>
            </p:cNvSpPr>
            <p:nvPr/>
          </p:nvSpPr>
          <p:spPr bwMode="auto">
            <a:xfrm>
              <a:off x="541" y="1436"/>
              <a:ext cx="4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Điện áp</a:t>
              </a:r>
            </a:p>
            <a:p>
              <a:pPr eaLnBrk="1" latinLnBrk="1" hangingPunct="1">
                <a:lnSpc>
                  <a:spcPct val="100000"/>
                </a:lnSpc>
              </a:pPr>
              <a:r>
                <a:rPr lang="en-US" altLang="ko-KR">
                  <a:latin typeface="Times New Roman" pitchFamily="18" charset="0"/>
                  <a:cs typeface="Times New Roman" pitchFamily="18" charset="0"/>
                </a:rPr>
                <a:t> dòng</a:t>
              </a:r>
              <a:endParaRPr lang="ko-KR" altLang="en-US">
                <a:latin typeface="Times New Roman" pitchFamily="18" charset="0"/>
                <a:cs typeface="Times New Roman" pitchFamily="18" charset="0"/>
              </a:endParaRPr>
            </a:p>
          </p:txBody>
        </p:sp>
        <p:sp>
          <p:nvSpPr>
            <p:cNvPr id="51226" name="Text Box 13"/>
            <p:cNvSpPr txBox="1">
              <a:spLocks noChangeArrowheads="1"/>
            </p:cNvSpPr>
            <p:nvPr/>
          </p:nvSpPr>
          <p:spPr bwMode="auto">
            <a:xfrm>
              <a:off x="2054" y="1985"/>
              <a:ext cx="49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Thời gian</a:t>
              </a:r>
              <a:endParaRPr lang="ko-KR" altLang="en-US">
                <a:latin typeface="Times New Roman" pitchFamily="18" charset="0"/>
                <a:cs typeface="Times New Roman" pitchFamily="18" charset="0"/>
              </a:endParaRPr>
            </a:p>
          </p:txBody>
        </p:sp>
        <p:sp>
          <p:nvSpPr>
            <p:cNvPr id="51227" name="Text Box 14"/>
            <p:cNvSpPr txBox="1">
              <a:spLocks noChangeArrowheads="1"/>
            </p:cNvSpPr>
            <p:nvPr/>
          </p:nvSpPr>
          <p:spPr bwMode="auto">
            <a:xfrm>
              <a:off x="854" y="1392"/>
              <a:ext cx="18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a:t>
              </a:r>
            </a:p>
          </p:txBody>
        </p:sp>
        <p:sp>
          <p:nvSpPr>
            <p:cNvPr id="51228" name="Text Box 15"/>
            <p:cNvSpPr txBox="1">
              <a:spLocks noChangeArrowheads="1"/>
            </p:cNvSpPr>
            <p:nvPr/>
          </p:nvSpPr>
          <p:spPr bwMode="auto">
            <a:xfrm>
              <a:off x="854" y="2208"/>
              <a:ext cx="15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a:t>
              </a:r>
            </a:p>
          </p:txBody>
        </p:sp>
      </p:grpSp>
      <p:sp>
        <p:nvSpPr>
          <p:cNvPr id="51209" name="Text Box 16"/>
          <p:cNvSpPr txBox="1">
            <a:spLocks noChangeArrowheads="1"/>
          </p:cNvSpPr>
          <p:nvPr/>
        </p:nvSpPr>
        <p:spPr bwMode="auto">
          <a:xfrm>
            <a:off x="993775" y="3970338"/>
            <a:ext cx="26162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solidFill>
                  <a:srgbClr val="000000"/>
                </a:solidFill>
                <a:latin typeface="Times New Roman" pitchFamily="18" charset="0"/>
                <a:cs typeface="Times New Roman" pitchFamily="18" charset="0"/>
              </a:rPr>
              <a:t>Dòng một chiều</a:t>
            </a:r>
            <a:r>
              <a:rPr lang="ko-KR" altLang="en-US" b="1">
                <a:solidFill>
                  <a:srgbClr val="000000"/>
                </a:solidFill>
                <a:latin typeface="Times New Roman" pitchFamily="18" charset="0"/>
                <a:cs typeface="Times New Roman" pitchFamily="18" charset="0"/>
              </a:rPr>
              <a:t> 直流 </a:t>
            </a:r>
            <a:r>
              <a:rPr lang="en-US" altLang="ko-KR" b="1">
                <a:solidFill>
                  <a:srgbClr val="000000"/>
                </a:solidFill>
                <a:latin typeface="Times New Roman" pitchFamily="18" charset="0"/>
                <a:cs typeface="Times New Roman" pitchFamily="18" charset="0"/>
              </a:rPr>
              <a:t>(direct current)</a:t>
            </a:r>
          </a:p>
          <a:p>
            <a:pPr eaLnBrk="1" latinLnBrk="1" hangingPunct="1">
              <a:lnSpc>
                <a:spcPct val="100000"/>
              </a:lnSpc>
            </a:pPr>
            <a:endParaRPr lang="en-US" altLang="ko-KR" b="1">
              <a:solidFill>
                <a:srgbClr val="000000"/>
              </a:solidFill>
              <a:latin typeface="Times New Roman" pitchFamily="18" charset="0"/>
              <a:cs typeface="Times New Roman" pitchFamily="18" charset="0"/>
            </a:endParaRPr>
          </a:p>
          <a:p>
            <a:pPr eaLnBrk="1" latinLnBrk="1" hangingPunct="1">
              <a:lnSpc>
                <a:spcPct val="100000"/>
              </a:lnSpc>
              <a:buFontTx/>
              <a:buChar char="•"/>
            </a:pPr>
            <a:r>
              <a:rPr lang="en-US" altLang="ko-KR">
                <a:solidFill>
                  <a:srgbClr val="000000"/>
                </a:solidFill>
                <a:latin typeface="Times New Roman" pitchFamily="18" charset="0"/>
                <a:cs typeface="Times New Roman" pitchFamily="18" charset="0"/>
              </a:rPr>
              <a:t> Dòng điện không đổi chiều và độ lớn </a:t>
            </a:r>
          </a:p>
          <a:p>
            <a:pPr eaLnBrk="1" latinLnBrk="1" hangingPunct="1">
              <a:lnSpc>
                <a:spcPct val="100000"/>
              </a:lnSpc>
            </a:pPr>
            <a:r>
              <a:rPr lang="en-US" altLang="ko-KR">
                <a:solidFill>
                  <a:srgbClr val="000000"/>
                </a:solidFill>
                <a:latin typeface="Times New Roman" pitchFamily="18" charset="0"/>
                <a:cs typeface="Times New Roman" pitchFamily="18" charset="0"/>
              </a:rPr>
              <a:t> theo thời gian</a:t>
            </a:r>
            <a:endParaRPr lang="ko-KR" altLang="en-US">
              <a:solidFill>
                <a:srgbClr val="000000"/>
              </a:solidFill>
              <a:latin typeface="Times New Roman" pitchFamily="18" charset="0"/>
              <a:cs typeface="Times New Roman" pitchFamily="18" charset="0"/>
            </a:endParaRPr>
          </a:p>
        </p:txBody>
      </p:sp>
      <p:sp>
        <p:nvSpPr>
          <p:cNvPr id="51210" name="Line 17"/>
          <p:cNvSpPr>
            <a:spLocks noChangeShapeType="1"/>
          </p:cNvSpPr>
          <p:nvPr/>
        </p:nvSpPr>
        <p:spPr bwMode="auto">
          <a:xfrm>
            <a:off x="4657725" y="2060575"/>
            <a:ext cx="0" cy="1035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11" name="Line 18"/>
          <p:cNvSpPr>
            <a:spLocks noChangeShapeType="1"/>
          </p:cNvSpPr>
          <p:nvPr/>
        </p:nvSpPr>
        <p:spPr bwMode="auto">
          <a:xfrm>
            <a:off x="4657725" y="2605088"/>
            <a:ext cx="1200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51212" name="Group 19"/>
          <p:cNvGrpSpPr>
            <a:grpSpLocks/>
          </p:cNvGrpSpPr>
          <p:nvPr/>
        </p:nvGrpSpPr>
        <p:grpSpPr bwMode="auto">
          <a:xfrm>
            <a:off x="4670425" y="2084388"/>
            <a:ext cx="1063625" cy="1049337"/>
            <a:chOff x="3241" y="1297"/>
            <a:chExt cx="670" cy="661"/>
          </a:xfrm>
        </p:grpSpPr>
        <p:sp>
          <p:nvSpPr>
            <p:cNvPr id="51219" name="Arc 20"/>
            <p:cNvSpPr>
              <a:spLocks/>
            </p:cNvSpPr>
            <p:nvPr/>
          </p:nvSpPr>
          <p:spPr bwMode="auto">
            <a:xfrm>
              <a:off x="3241" y="1297"/>
              <a:ext cx="335" cy="334"/>
            </a:xfrm>
            <a:custGeom>
              <a:avLst/>
              <a:gdLst>
                <a:gd name="T0" fmla="*/ 0 w 43193"/>
                <a:gd name="T1" fmla="*/ 0 h 21600"/>
                <a:gd name="T2" fmla="*/ 0 w 43193"/>
                <a:gd name="T3" fmla="*/ 0 h 21600"/>
                <a:gd name="T4" fmla="*/ 0 w 43193"/>
                <a:gd name="T5" fmla="*/ 0 h 21600"/>
                <a:gd name="T6" fmla="*/ 0 60000 65536"/>
                <a:gd name="T7" fmla="*/ 0 60000 65536"/>
                <a:gd name="T8" fmla="*/ 0 60000 65536"/>
              </a:gdLst>
              <a:ahLst/>
              <a:cxnLst>
                <a:cxn ang="T6">
                  <a:pos x="T0" y="T1"/>
                </a:cxn>
                <a:cxn ang="T7">
                  <a:pos x="T2" y="T3"/>
                </a:cxn>
                <a:cxn ang="T8">
                  <a:pos x="T4" y="T5"/>
                </a:cxn>
              </a:cxnLst>
              <a:rect l="0" t="0" r="r" b="b"/>
              <a:pathLst>
                <a:path w="43193" h="21600" fill="none" extrusionOk="0">
                  <a:moveTo>
                    <a:pt x="0" y="21048"/>
                  </a:moveTo>
                  <a:cubicBezTo>
                    <a:pt x="299" y="9337"/>
                    <a:pt x="9878" y="-1"/>
                    <a:pt x="21593" y="0"/>
                  </a:cubicBezTo>
                  <a:cubicBezTo>
                    <a:pt x="33522" y="0"/>
                    <a:pt x="43193" y="9670"/>
                    <a:pt x="43193" y="21600"/>
                  </a:cubicBezTo>
                </a:path>
                <a:path w="43193" h="21600" stroke="0" extrusionOk="0">
                  <a:moveTo>
                    <a:pt x="0" y="21048"/>
                  </a:moveTo>
                  <a:cubicBezTo>
                    <a:pt x="299" y="9337"/>
                    <a:pt x="9878" y="-1"/>
                    <a:pt x="21593" y="0"/>
                  </a:cubicBezTo>
                  <a:cubicBezTo>
                    <a:pt x="33522" y="0"/>
                    <a:pt x="43193" y="9670"/>
                    <a:pt x="43193" y="21600"/>
                  </a:cubicBezTo>
                  <a:lnTo>
                    <a:pt x="21593" y="21600"/>
                  </a:lnTo>
                  <a:lnTo>
                    <a:pt x="0" y="21048"/>
                  </a:lnTo>
                  <a:close/>
                </a:path>
              </a:pathLst>
            </a:custGeom>
            <a:noFill/>
            <a:ln w="190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20" name="Arc 21"/>
            <p:cNvSpPr>
              <a:spLocks/>
            </p:cNvSpPr>
            <p:nvPr/>
          </p:nvSpPr>
          <p:spPr bwMode="auto">
            <a:xfrm flipV="1">
              <a:off x="3576" y="1624"/>
              <a:ext cx="335" cy="334"/>
            </a:xfrm>
            <a:custGeom>
              <a:avLst/>
              <a:gdLst>
                <a:gd name="T0" fmla="*/ 0 w 43193"/>
                <a:gd name="T1" fmla="*/ 0 h 21600"/>
                <a:gd name="T2" fmla="*/ 0 w 43193"/>
                <a:gd name="T3" fmla="*/ 0 h 21600"/>
                <a:gd name="T4" fmla="*/ 0 w 43193"/>
                <a:gd name="T5" fmla="*/ 0 h 21600"/>
                <a:gd name="T6" fmla="*/ 0 60000 65536"/>
                <a:gd name="T7" fmla="*/ 0 60000 65536"/>
                <a:gd name="T8" fmla="*/ 0 60000 65536"/>
              </a:gdLst>
              <a:ahLst/>
              <a:cxnLst>
                <a:cxn ang="T6">
                  <a:pos x="T0" y="T1"/>
                </a:cxn>
                <a:cxn ang="T7">
                  <a:pos x="T2" y="T3"/>
                </a:cxn>
                <a:cxn ang="T8">
                  <a:pos x="T4" y="T5"/>
                </a:cxn>
              </a:cxnLst>
              <a:rect l="0" t="0" r="r" b="b"/>
              <a:pathLst>
                <a:path w="43193" h="21600" fill="none" extrusionOk="0">
                  <a:moveTo>
                    <a:pt x="0" y="21048"/>
                  </a:moveTo>
                  <a:cubicBezTo>
                    <a:pt x="299" y="9337"/>
                    <a:pt x="9878" y="-1"/>
                    <a:pt x="21593" y="0"/>
                  </a:cubicBezTo>
                  <a:cubicBezTo>
                    <a:pt x="33522" y="0"/>
                    <a:pt x="43193" y="9670"/>
                    <a:pt x="43193" y="21600"/>
                  </a:cubicBezTo>
                </a:path>
                <a:path w="43193" h="21600" stroke="0" extrusionOk="0">
                  <a:moveTo>
                    <a:pt x="0" y="21048"/>
                  </a:moveTo>
                  <a:cubicBezTo>
                    <a:pt x="299" y="9337"/>
                    <a:pt x="9878" y="-1"/>
                    <a:pt x="21593" y="0"/>
                  </a:cubicBezTo>
                  <a:cubicBezTo>
                    <a:pt x="33522" y="0"/>
                    <a:pt x="43193" y="9670"/>
                    <a:pt x="43193" y="21600"/>
                  </a:cubicBezTo>
                  <a:lnTo>
                    <a:pt x="21593" y="21600"/>
                  </a:lnTo>
                  <a:lnTo>
                    <a:pt x="0" y="21048"/>
                  </a:lnTo>
                  <a:close/>
                </a:path>
              </a:pathLst>
            </a:custGeom>
            <a:noFill/>
            <a:ln w="190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51213" name="Text Box 22"/>
          <p:cNvSpPr txBox="1">
            <a:spLocks noChangeArrowheads="1"/>
          </p:cNvSpPr>
          <p:nvPr/>
        </p:nvSpPr>
        <p:spPr bwMode="auto">
          <a:xfrm>
            <a:off x="4500563" y="3252788"/>
            <a:ext cx="1479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Sóng sin(Sine Wave)</a:t>
            </a:r>
          </a:p>
          <a:p>
            <a:pPr eaLnBrk="1" latinLnBrk="1" hangingPunct="1">
              <a:lnSpc>
                <a:spcPct val="100000"/>
              </a:lnSpc>
            </a:pP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定弦波</a:t>
            </a:r>
            <a:r>
              <a:rPr lang="en-US" altLang="ko-KR">
                <a:latin typeface="Times New Roman" pitchFamily="18" charset="0"/>
                <a:cs typeface="Times New Roman" pitchFamily="18" charset="0"/>
              </a:rPr>
              <a:t>)</a:t>
            </a:r>
          </a:p>
        </p:txBody>
      </p:sp>
      <p:sp>
        <p:nvSpPr>
          <p:cNvPr id="51214" name="Line 23"/>
          <p:cNvSpPr>
            <a:spLocks noChangeShapeType="1"/>
          </p:cNvSpPr>
          <p:nvPr/>
        </p:nvSpPr>
        <p:spPr bwMode="auto">
          <a:xfrm>
            <a:off x="6588125" y="2060575"/>
            <a:ext cx="0" cy="1035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15" name="Line 24"/>
          <p:cNvSpPr>
            <a:spLocks noChangeShapeType="1"/>
          </p:cNvSpPr>
          <p:nvPr/>
        </p:nvSpPr>
        <p:spPr bwMode="auto">
          <a:xfrm>
            <a:off x="6588125" y="2605088"/>
            <a:ext cx="1200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16" name="Freeform 25"/>
          <p:cNvSpPr>
            <a:spLocks/>
          </p:cNvSpPr>
          <p:nvPr/>
        </p:nvSpPr>
        <p:spPr bwMode="auto">
          <a:xfrm>
            <a:off x="6600825" y="2159000"/>
            <a:ext cx="1219200" cy="838200"/>
          </a:xfrm>
          <a:custGeom>
            <a:avLst/>
            <a:gdLst>
              <a:gd name="T0" fmla="*/ 0 w 768"/>
              <a:gd name="T1" fmla="*/ 0 h 528"/>
              <a:gd name="T2" fmla="*/ 2147483647 w 768"/>
              <a:gd name="T3" fmla="*/ 0 h 528"/>
              <a:gd name="T4" fmla="*/ 2147483647 w 768"/>
              <a:gd name="T5" fmla="*/ 2147483647 h 528"/>
              <a:gd name="T6" fmla="*/ 2147483647 w 768"/>
              <a:gd name="T7" fmla="*/ 2147483647 h 528"/>
              <a:gd name="T8" fmla="*/ 2147483647 w 768"/>
              <a:gd name="T9" fmla="*/ 0 h 528"/>
              <a:gd name="T10" fmla="*/ 2147483647 w 768"/>
              <a:gd name="T11" fmla="*/ 0 h 528"/>
              <a:gd name="T12" fmla="*/ 2147483647 w 768"/>
              <a:gd name="T13" fmla="*/ 2147483647 h 528"/>
              <a:gd name="T14" fmla="*/ 2147483647 w 768"/>
              <a:gd name="T15" fmla="*/ 2147483647 h 5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68" h="528">
                <a:moveTo>
                  <a:pt x="0" y="0"/>
                </a:moveTo>
                <a:lnTo>
                  <a:pt x="192" y="0"/>
                </a:lnTo>
                <a:lnTo>
                  <a:pt x="192" y="528"/>
                </a:lnTo>
                <a:lnTo>
                  <a:pt x="432" y="528"/>
                </a:lnTo>
                <a:lnTo>
                  <a:pt x="432" y="0"/>
                </a:lnTo>
                <a:lnTo>
                  <a:pt x="672" y="0"/>
                </a:lnTo>
                <a:lnTo>
                  <a:pt x="672" y="528"/>
                </a:lnTo>
                <a:lnTo>
                  <a:pt x="768" y="528"/>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1217" name="Text Box 26"/>
          <p:cNvSpPr txBox="1">
            <a:spLocks noChangeArrowheads="1"/>
          </p:cNvSpPr>
          <p:nvPr/>
        </p:nvSpPr>
        <p:spPr bwMode="auto">
          <a:xfrm>
            <a:off x="6253163" y="3252788"/>
            <a:ext cx="18176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solidFill>
                  <a:srgbClr val="000000"/>
                </a:solidFill>
                <a:latin typeface="Times New Roman" pitchFamily="18" charset="0"/>
                <a:cs typeface="Times New Roman" pitchFamily="18" charset="0"/>
              </a:rPr>
              <a:t>Xung vuông(square wave)</a:t>
            </a:r>
          </a:p>
          <a:p>
            <a:pPr eaLnBrk="1" latinLnBrk="1" hangingPunct="1">
              <a:lnSpc>
                <a:spcPct val="100000"/>
              </a:lnSpc>
            </a:pPr>
            <a:r>
              <a:rPr lang="en-US" altLang="ko-KR">
                <a:solidFill>
                  <a:srgbClr val="000000"/>
                </a:solidFill>
                <a:latin typeface="Times New Roman" pitchFamily="18" charset="0"/>
                <a:cs typeface="Times New Roman" pitchFamily="18" charset="0"/>
              </a:rPr>
              <a:t>(</a:t>
            </a:r>
            <a:r>
              <a:rPr lang="ko-KR" altLang="en-US">
                <a:solidFill>
                  <a:srgbClr val="000000"/>
                </a:solidFill>
                <a:latin typeface="Times New Roman" pitchFamily="18" charset="0"/>
                <a:cs typeface="Times New Roman" pitchFamily="18" charset="0"/>
              </a:rPr>
              <a:t>矩形波</a:t>
            </a:r>
            <a:r>
              <a:rPr lang="en-US" altLang="ko-KR">
                <a:solidFill>
                  <a:srgbClr val="000000"/>
                </a:solidFill>
                <a:latin typeface="Times New Roman" pitchFamily="18" charset="0"/>
                <a:cs typeface="Times New Roman" pitchFamily="18" charset="0"/>
              </a:rPr>
              <a:t>)·(</a:t>
            </a:r>
            <a:r>
              <a:rPr lang="ko-KR" altLang="en-US">
                <a:solidFill>
                  <a:srgbClr val="000000"/>
                </a:solidFill>
                <a:latin typeface="Times New Roman" pitchFamily="18" charset="0"/>
                <a:cs typeface="Times New Roman" pitchFamily="18" charset="0"/>
              </a:rPr>
              <a:t>方形波</a:t>
            </a:r>
            <a:r>
              <a:rPr lang="en-US" altLang="ko-KR">
                <a:solidFill>
                  <a:srgbClr val="000000"/>
                </a:solidFill>
                <a:latin typeface="Times New Roman" pitchFamily="18" charset="0"/>
                <a:cs typeface="Times New Roman" pitchFamily="18" charset="0"/>
              </a:rPr>
              <a:t>)</a:t>
            </a:r>
          </a:p>
        </p:txBody>
      </p:sp>
      <p:sp>
        <p:nvSpPr>
          <p:cNvPr id="51218" name="Text Box 27"/>
          <p:cNvSpPr txBox="1">
            <a:spLocks noChangeArrowheads="1"/>
          </p:cNvSpPr>
          <p:nvPr/>
        </p:nvSpPr>
        <p:spPr bwMode="auto">
          <a:xfrm>
            <a:off x="4652963" y="3943350"/>
            <a:ext cx="3429000"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solidFill>
                  <a:srgbClr val="000000"/>
                </a:solidFill>
                <a:latin typeface="Times New Roman" pitchFamily="18" charset="0"/>
                <a:cs typeface="Times New Roman" pitchFamily="18" charset="0"/>
              </a:rPr>
              <a:t>Dòng xoay chiều</a:t>
            </a:r>
            <a:r>
              <a:rPr lang="ko-KR" altLang="en-US" b="1">
                <a:solidFill>
                  <a:srgbClr val="000000"/>
                </a:solidFill>
                <a:latin typeface="Times New Roman" pitchFamily="18" charset="0"/>
                <a:cs typeface="Times New Roman" pitchFamily="18" charset="0"/>
              </a:rPr>
              <a:t> 交流 </a:t>
            </a:r>
            <a:r>
              <a:rPr lang="en-US" altLang="ko-KR" b="1">
                <a:solidFill>
                  <a:srgbClr val="000000"/>
                </a:solidFill>
                <a:latin typeface="Times New Roman" pitchFamily="18" charset="0"/>
                <a:cs typeface="Times New Roman" pitchFamily="18" charset="0"/>
              </a:rPr>
              <a:t>(alternating current) </a:t>
            </a:r>
          </a:p>
          <a:p>
            <a:pPr eaLnBrk="1" latinLnBrk="1" hangingPunct="1">
              <a:lnSpc>
                <a:spcPct val="100000"/>
              </a:lnSpc>
            </a:pPr>
            <a:endParaRPr lang="en-US" altLang="ko-KR" b="1">
              <a:solidFill>
                <a:srgbClr val="000000"/>
              </a:solidFill>
              <a:latin typeface="Times New Roman" pitchFamily="18" charset="0"/>
              <a:cs typeface="Times New Roman" pitchFamily="18" charset="0"/>
            </a:endParaRPr>
          </a:p>
          <a:p>
            <a:pPr eaLnBrk="1" latinLnBrk="1" hangingPunct="1">
              <a:lnSpc>
                <a:spcPct val="100000"/>
              </a:lnSpc>
              <a:buFontTx/>
              <a:buChar char="•"/>
            </a:pPr>
            <a:r>
              <a:rPr lang="en-US" altLang="ko-KR">
                <a:solidFill>
                  <a:srgbClr val="000000"/>
                </a:solidFill>
                <a:latin typeface="Times New Roman" pitchFamily="18" charset="0"/>
                <a:cs typeface="Times New Roman" pitchFamily="18" charset="0"/>
              </a:rPr>
              <a:t> </a:t>
            </a:r>
            <a:r>
              <a:rPr lang="vi-VN" altLang="ko-KR">
                <a:solidFill>
                  <a:srgbClr val="000000"/>
                </a:solidFill>
                <a:latin typeface="Times New Roman" pitchFamily="18" charset="0"/>
                <a:cs typeface="Times New Roman" pitchFamily="18" charset="0"/>
              </a:rPr>
              <a:t>Dòng điện xoay chiều là dòng điện có chiều và giá trị biến đổi theo thời gian, những thay đổi này thường tuần hoàn theo một chu kỳ nhất định</a:t>
            </a:r>
            <a:r>
              <a:rPr lang="en-US" altLang="ko-KR">
                <a:solidFill>
                  <a:srgbClr val="000000"/>
                </a:solidFill>
                <a:latin typeface="Times New Roman" pitchFamily="18" charset="0"/>
                <a:cs typeface="Times New Roman" pitchFamily="18" charset="0"/>
              </a:rPr>
              <a:t>.</a:t>
            </a:r>
            <a:endParaRPr lang="ko-KR" altLang="en-US">
              <a:solidFill>
                <a:srgbClr val="000000"/>
              </a:solidFill>
              <a:latin typeface="Times New Roman" pitchFamily="18" charset="0"/>
              <a:cs typeface="Times New Roman" pitchFamily="18" charset="0"/>
            </a:endParaRPr>
          </a:p>
          <a:p>
            <a:pPr eaLnBrk="1" latinLnBrk="1" hangingPunct="1">
              <a:lnSpc>
                <a:spcPct val="100000"/>
              </a:lnSpc>
              <a:buFontTx/>
              <a:buChar char="•"/>
            </a:pPr>
            <a:r>
              <a:rPr lang="en-US" altLang="ko-KR">
                <a:solidFill>
                  <a:srgbClr val="000000"/>
                </a:solidFill>
                <a:latin typeface="Times New Roman" pitchFamily="18" charset="0"/>
                <a:cs typeface="Times New Roman" pitchFamily="18" charset="0"/>
              </a:rPr>
              <a:t> Có chu kỳ và tần sóng</a:t>
            </a:r>
            <a:endParaRPr lang="ko-KR" altLang="en-US">
              <a:solidFill>
                <a:srgbClr val="000000"/>
              </a:solidFill>
              <a:latin typeface="Times New Roman" pitchFamily="18" charset="0"/>
              <a:cs typeface="Times New Roman" pitchFamily="18" charset="0"/>
            </a:endParaRPr>
          </a:p>
          <a:p>
            <a:pPr eaLnBrk="1" latinLnBrk="1" hangingPunct="1">
              <a:lnSpc>
                <a:spcPct val="100000"/>
              </a:lnSpc>
              <a:buFontTx/>
              <a:buChar char="•"/>
            </a:pP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Biểu hiện độ lớn bằng giá trị tức thời, giá trị đỉnh, giá trị trung bình, giá trị hiệu dụng, giá trị đỉnh-đỉnh vv..</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42740EF-BC26-4E6F-B30D-F5F9FEEC6F2F}" type="slidenum">
              <a:rPr lang="en-US" altLang="ko-KR" sz="1400" smtClean="0">
                <a:latin typeface="Times New Roman" pitchFamily="18" charset="0"/>
                <a:cs typeface="Times New Roman" pitchFamily="18" charset="0"/>
              </a:rPr>
              <a:pPr eaLnBrk="1" hangingPunct="1"/>
              <a:t>46</a:t>
            </a:fld>
            <a:endParaRPr lang="en-US" altLang="ko-KR" sz="1400" smtClean="0">
              <a:latin typeface="Times New Roman" pitchFamily="18" charset="0"/>
              <a:cs typeface="Times New Roman" pitchFamily="18" charset="0"/>
            </a:endParaRPr>
          </a:p>
        </p:txBody>
      </p:sp>
      <p:sp>
        <p:nvSpPr>
          <p:cNvPr id="5222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222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(2) Chu kỳ và tần sóng(Period &amp; Frequency)</a:t>
            </a:r>
          </a:p>
          <a:p>
            <a:pPr eaLnBrk="1" hangingPunct="1"/>
            <a:endParaRPr lang="en-US" altLang="ko-KR" b="1">
              <a:latin typeface="Times New Roman" pitchFamily="18" charset="0"/>
              <a:cs typeface="Times New Roman" pitchFamily="18" charset="0"/>
            </a:endParaRPr>
          </a:p>
          <a:p>
            <a:pPr eaLnBrk="1" latinLnBrk="1" hangingPunct="1">
              <a:lnSpc>
                <a:spcPct val="110000"/>
              </a:lnSpc>
              <a:buFont typeface="Wingdings" pitchFamily="2" charset="2"/>
              <a:buChar char="§"/>
            </a:pPr>
            <a:r>
              <a:rPr lang="en-US" altLang="ko-KR">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Chu kỳ</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a:t>
            </a:r>
            <a:r>
              <a:rPr lang="vi-VN" altLang="ko-KR">
                <a:solidFill>
                  <a:srgbClr val="000000"/>
                </a:solidFill>
                <a:latin typeface="Times New Roman" pitchFamily="18" charset="0"/>
                <a:cs typeface="Times New Roman" pitchFamily="18" charset="0"/>
              </a:rPr>
              <a:t>là khoảng thời gian mà điện xoay chiều lặp lại vị trí cũ</a:t>
            </a:r>
            <a:r>
              <a:rPr lang="en-US" altLang="ko-KR">
                <a:solidFill>
                  <a:srgbClr val="000000"/>
                </a:solidFill>
                <a:latin typeface="Times New Roman" pitchFamily="18" charset="0"/>
                <a:cs typeface="Times New Roman" pitchFamily="18" charset="0"/>
              </a:rPr>
              <a:t> </a:t>
            </a:r>
          </a:p>
          <a:p>
            <a:pPr eaLnBrk="1" latinLnBrk="1" hangingPunct="1">
              <a:lnSpc>
                <a:spcPct val="110000"/>
              </a:lnSpc>
              <a:buFont typeface="Wingdings" pitchFamily="2" charset="2"/>
              <a:buChar char="§"/>
            </a:pPr>
            <a:r>
              <a:rPr lang="en-US" altLang="ko-KR">
                <a:solidFill>
                  <a:srgbClr val="000000"/>
                </a:solidFill>
                <a:latin typeface="Times New Roman" pitchFamily="18" charset="0"/>
                <a:cs typeface="Times New Roman" pitchFamily="18" charset="0"/>
              </a:rPr>
              <a:t> Ký hiệu</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T         </a:t>
            </a:r>
          </a:p>
          <a:p>
            <a:pPr eaLnBrk="1" latinLnBrk="1" hangingPunct="1">
              <a:lnSpc>
                <a:spcPct val="110000"/>
              </a:lnSpc>
              <a:buFont typeface="Wingdings" pitchFamily="2" charset="2"/>
              <a:buChar char="§"/>
            </a:pPr>
            <a:r>
              <a:rPr lang="en-US" altLang="ko-KR">
                <a:solidFill>
                  <a:srgbClr val="000000"/>
                </a:solidFill>
                <a:latin typeface="Times New Roman" pitchFamily="18" charset="0"/>
                <a:cs typeface="Times New Roman" pitchFamily="18" charset="0"/>
              </a:rPr>
              <a:t> Đơn vị</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được tính bằng [s] seconds ‘giây</a:t>
            </a:r>
            <a:r>
              <a:rPr lang="ko-KR" altLang="en-US">
                <a:solidFill>
                  <a:srgbClr val="000000"/>
                </a:solidFill>
                <a:latin typeface="Times New Roman" pitchFamily="18" charset="0"/>
                <a:cs typeface="Times New Roman" pitchFamily="18" charset="0"/>
              </a:rPr>
              <a:t>’</a:t>
            </a:r>
            <a:r>
              <a:rPr lang="en-US" altLang="ko-KR">
                <a:solidFill>
                  <a:srgbClr val="000000"/>
                </a:solidFill>
                <a:latin typeface="Times New Roman" pitchFamily="18" charset="0"/>
                <a:cs typeface="Times New Roman" pitchFamily="18" charset="0"/>
              </a:rPr>
              <a:t>.  </a:t>
            </a:r>
          </a:p>
          <a:p>
            <a:pPr eaLnBrk="1" latinLnBrk="1" hangingPunct="1">
              <a:lnSpc>
                <a:spcPct val="100000"/>
              </a:lnSpc>
              <a:buFont typeface="Wingdings" pitchFamily="2" charset="2"/>
              <a:buNone/>
            </a:pPr>
            <a:r>
              <a:rPr lang="en-US" altLang="ko-KR">
                <a:solidFill>
                  <a:srgbClr val="000000"/>
                </a:solidFill>
                <a:latin typeface="Times New Roman" pitchFamily="18" charset="0"/>
                <a:cs typeface="Times New Roman" pitchFamily="18" charset="0"/>
              </a:rPr>
              <a:t>           [ms], [μs]</a:t>
            </a: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00000"/>
              </a:lnSpc>
              <a:buFontTx/>
              <a:buChar char="•"/>
            </a:pPr>
            <a:endParaRPr lang="en-US" altLang="ko-KR">
              <a:solidFill>
                <a:srgbClr val="000000"/>
              </a:solidFill>
              <a:latin typeface="Times New Roman" pitchFamily="18" charset="0"/>
              <a:cs typeface="Times New Roman" pitchFamily="18" charset="0"/>
            </a:endParaRPr>
          </a:p>
          <a:p>
            <a:pPr eaLnBrk="1" latinLnBrk="1" hangingPunct="1">
              <a:lnSpc>
                <a:spcPct val="110000"/>
              </a:lnSpc>
              <a:buFont typeface="Wingdings" pitchFamily="2" charset="2"/>
              <a:buChar char="§"/>
            </a:pPr>
            <a:r>
              <a:rPr lang="en-US" altLang="ko-KR">
                <a:solidFill>
                  <a:srgbClr val="000000"/>
                </a:solidFill>
                <a:latin typeface="Times New Roman" pitchFamily="18" charset="0"/>
                <a:cs typeface="Times New Roman" pitchFamily="18" charset="0"/>
              </a:rPr>
              <a:t> Tần sóng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a:t>
            </a:r>
            <a:r>
              <a:rPr lang="vi-VN" altLang="ko-KR">
                <a:solidFill>
                  <a:srgbClr val="000000"/>
                </a:solidFill>
                <a:latin typeface="Times New Roman" pitchFamily="18" charset="0"/>
                <a:cs typeface="Times New Roman" pitchFamily="18" charset="0"/>
              </a:rPr>
              <a:t>là số lần lặp lại trang thái cũ của dòng điện xoay chiều</a:t>
            </a:r>
            <a:endParaRPr lang="en-US" altLang="ko-KR">
              <a:solidFill>
                <a:srgbClr val="000000"/>
              </a:solidFill>
              <a:latin typeface="Times New Roman" pitchFamily="18" charset="0"/>
              <a:cs typeface="Times New Roman" pitchFamily="18" charset="0"/>
            </a:endParaRPr>
          </a:p>
          <a:p>
            <a:pPr eaLnBrk="1" latinLnBrk="1" hangingPunct="1">
              <a:lnSpc>
                <a:spcPct val="110000"/>
              </a:lnSpc>
            </a:pPr>
            <a:r>
              <a:rPr lang="vi-VN" altLang="ko-KR">
                <a:solidFill>
                  <a:srgbClr val="000000"/>
                </a:solidFill>
                <a:latin typeface="Times New Roman" pitchFamily="18" charset="0"/>
                <a:cs typeface="Times New Roman" pitchFamily="18" charset="0"/>
              </a:rPr>
              <a:t> trong một giây </a:t>
            </a:r>
            <a:endParaRPr lang="ko-KR" altLang="en-US">
              <a:solidFill>
                <a:srgbClr val="000000"/>
              </a:solidFill>
              <a:latin typeface="Times New Roman" pitchFamily="18" charset="0"/>
              <a:cs typeface="Times New Roman" pitchFamily="18" charset="0"/>
            </a:endParaRPr>
          </a:p>
          <a:p>
            <a:pPr eaLnBrk="1" latinLnBrk="1" hangingPunct="1">
              <a:lnSpc>
                <a:spcPct val="110000"/>
              </a:lnSpc>
              <a:buFont typeface="Wingdings" pitchFamily="2" charset="2"/>
              <a:buChar char="§"/>
            </a:pP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Ký hiệu</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f         </a:t>
            </a:r>
          </a:p>
          <a:p>
            <a:pPr eaLnBrk="1" latinLnBrk="1" hangingPunct="1">
              <a:lnSpc>
                <a:spcPct val="110000"/>
              </a:lnSpc>
              <a:buFont typeface="Wingdings" pitchFamily="2" charset="2"/>
              <a:buChar char="§"/>
            </a:pPr>
            <a:r>
              <a:rPr lang="en-US" altLang="ko-KR">
                <a:solidFill>
                  <a:srgbClr val="000000"/>
                </a:solidFill>
                <a:latin typeface="Times New Roman" pitchFamily="18" charset="0"/>
                <a:cs typeface="Times New Roman" pitchFamily="18" charset="0"/>
              </a:rPr>
              <a:t> Đơn vị</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được tính bằng [Hz].</a:t>
            </a:r>
          </a:p>
          <a:p>
            <a:pPr eaLnBrk="1" latinLnBrk="1" hangingPunct="1">
              <a:lnSpc>
                <a:spcPct val="100000"/>
              </a:lnSpc>
            </a:pPr>
            <a:r>
              <a:rPr lang="en-US" altLang="ko-KR">
                <a:solidFill>
                  <a:srgbClr val="000000"/>
                </a:solidFill>
                <a:latin typeface="Times New Roman" pitchFamily="18" charset="0"/>
                <a:cs typeface="Times New Roman" pitchFamily="18" charset="0"/>
              </a:rPr>
              <a:t>           [kHz], [MHz], [GHz]</a:t>
            </a:r>
          </a:p>
        </p:txBody>
      </p:sp>
      <p:sp>
        <p:nvSpPr>
          <p:cNvPr id="52229"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52230" name="Picture 5" descr="fig01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0525" y="1217613"/>
            <a:ext cx="1943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6" descr="fig01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3198813"/>
            <a:ext cx="23209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Text Box 7"/>
          <p:cNvSpPr txBox="1">
            <a:spLocks noChangeArrowheads="1"/>
          </p:cNvSpPr>
          <p:nvPr/>
        </p:nvSpPr>
        <p:spPr bwMode="auto">
          <a:xfrm>
            <a:off x="2278063" y="4768850"/>
            <a:ext cx="285115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Trong 1 giây chu kỳ sóng lặp lại 4 lần, là 4[Hz].</a:t>
            </a:r>
          </a:p>
        </p:txBody>
      </p:sp>
      <p:sp>
        <p:nvSpPr>
          <p:cNvPr id="52233" name="Text Box 8"/>
          <p:cNvSpPr txBox="1">
            <a:spLocks noChangeArrowheads="1"/>
          </p:cNvSpPr>
          <p:nvPr/>
        </p:nvSpPr>
        <p:spPr bwMode="auto">
          <a:xfrm>
            <a:off x="950913" y="5067300"/>
            <a:ext cx="22923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Liên hệ của chu kỳ và tần sóng</a:t>
            </a:r>
            <a:endParaRPr lang="ko-KR" altLang="en-US">
              <a:latin typeface="Times New Roman" pitchFamily="18" charset="0"/>
              <a:cs typeface="Times New Roman" pitchFamily="18" charset="0"/>
            </a:endParaRPr>
          </a:p>
        </p:txBody>
      </p:sp>
      <p:pic>
        <p:nvPicPr>
          <p:cNvPr id="52234"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5522913"/>
            <a:ext cx="649288" cy="63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2235"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59113" y="5541963"/>
            <a:ext cx="649287"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12E3F9E-6A67-4D7B-9B25-653A2DCA4123}" type="slidenum">
              <a:rPr lang="en-US" altLang="ko-KR" sz="1400" smtClean="0">
                <a:latin typeface="Times New Roman" pitchFamily="18" charset="0"/>
                <a:cs typeface="Times New Roman" pitchFamily="18" charset="0"/>
              </a:rPr>
              <a:pPr eaLnBrk="1" hangingPunct="1"/>
              <a:t>47</a:t>
            </a:fld>
            <a:endParaRPr lang="en-US" altLang="ko-KR" sz="1400" smtClean="0">
              <a:latin typeface="Times New Roman" pitchFamily="18" charset="0"/>
              <a:cs typeface="Times New Roman" pitchFamily="18" charset="0"/>
            </a:endParaRPr>
          </a:p>
        </p:txBody>
      </p:sp>
      <p:sp>
        <p:nvSpPr>
          <p:cNvPr id="5325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325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en-US" b="1" dirty="0" smtClean="0">
                <a:latin typeface="Times New Roman" pitchFamily="18" charset="0"/>
                <a:cs typeface="Times New Roman" pitchFamily="18" charset="0"/>
              </a:rPr>
              <a:t>(</a:t>
            </a:r>
            <a:r>
              <a:rPr lang="en-US" altLang="ko-KR" b="1" dirty="0" smtClean="0">
                <a:latin typeface="Times New Roman" pitchFamily="18" charset="0"/>
                <a:cs typeface="Times New Roman" pitchFamily="18" charset="0"/>
              </a:rPr>
              <a:t>3</a:t>
            </a:r>
            <a:r>
              <a:rPr lang="en-US" altLang="en-US" b="1" dirty="0" smtClean="0">
                <a:latin typeface="Times New Roman" pitchFamily="18" charset="0"/>
                <a:cs typeface="Times New Roman" pitchFamily="18" charset="0"/>
              </a:rPr>
              <a:t>) </a:t>
            </a:r>
            <a:r>
              <a:rPr lang="en-US" altLang="en-US" b="1" dirty="0" err="1" smtClean="0">
                <a:latin typeface="Times New Roman" pitchFamily="18" charset="0"/>
                <a:cs typeface="Times New Roman" pitchFamily="18" charset="0"/>
              </a:rPr>
              <a:t>Giá</a:t>
            </a:r>
            <a:r>
              <a:rPr lang="en-US" altLang="en-US" b="1" dirty="0" smtClean="0">
                <a:latin typeface="Times New Roman" pitchFamily="18" charset="0"/>
                <a:cs typeface="Times New Roman" pitchFamily="18" charset="0"/>
              </a:rPr>
              <a:t> </a:t>
            </a:r>
            <a:r>
              <a:rPr lang="en-US" altLang="en-US" b="1" dirty="0" err="1" smtClean="0">
                <a:latin typeface="Times New Roman" pitchFamily="18" charset="0"/>
                <a:cs typeface="Times New Roman" pitchFamily="18" charset="0"/>
              </a:rPr>
              <a:t>trị</a:t>
            </a:r>
            <a:r>
              <a:rPr lang="en-US" altLang="en-US" b="1" dirty="0" smtClean="0">
                <a:latin typeface="Times New Roman" pitchFamily="18" charset="0"/>
                <a:cs typeface="Times New Roman" pitchFamily="18" charset="0"/>
              </a:rPr>
              <a:t> </a:t>
            </a:r>
            <a:r>
              <a:rPr lang="en-US" altLang="en-US" b="1" dirty="0" err="1" smtClean="0">
                <a:latin typeface="Times New Roman" pitchFamily="18" charset="0"/>
                <a:cs typeface="Times New Roman" pitchFamily="18" charset="0"/>
              </a:rPr>
              <a:t>tức</a:t>
            </a:r>
            <a:r>
              <a:rPr lang="en-US" altLang="en-US" b="1" dirty="0" smtClean="0">
                <a:latin typeface="Times New Roman" pitchFamily="18" charset="0"/>
                <a:cs typeface="Times New Roman" pitchFamily="18" charset="0"/>
              </a:rPr>
              <a:t> </a:t>
            </a:r>
            <a:r>
              <a:rPr lang="en-US" altLang="en-US" b="1" dirty="0" err="1" smtClean="0">
                <a:latin typeface="Times New Roman" pitchFamily="18" charset="0"/>
                <a:cs typeface="Times New Roman" pitchFamily="18" charset="0"/>
              </a:rPr>
              <a:t>thời</a:t>
            </a:r>
            <a:r>
              <a:rPr lang="ko-KR" altLang="en-US" b="1" dirty="0" smtClean="0">
                <a:latin typeface="Times New Roman" pitchFamily="18" charset="0"/>
                <a:cs typeface="Times New Roman" pitchFamily="18" charset="0"/>
              </a:rPr>
              <a:t> </a:t>
            </a:r>
            <a:r>
              <a:rPr lang="en-US" altLang="en-US" b="1" dirty="0" smtClean="0">
                <a:latin typeface="Times New Roman" pitchFamily="18" charset="0"/>
                <a:cs typeface="Times New Roman" pitchFamily="18" charset="0"/>
              </a:rPr>
              <a:t>(instantaneous value)</a:t>
            </a:r>
          </a:p>
          <a:p>
            <a:pPr eaLnBrk="1" hangingPunct="1">
              <a:defRPr/>
            </a:pPr>
            <a:endParaRPr lang="en-US" altLang="ko-KR" b="1" dirty="0" smtClean="0">
              <a:latin typeface="Times New Roman" pitchFamily="18" charset="0"/>
              <a:cs typeface="Times New Roman" pitchFamily="18" charset="0"/>
            </a:endParaRPr>
          </a:p>
          <a:p>
            <a:pPr eaLnBrk="1" hangingPunct="1">
              <a:lnSpc>
                <a:spcPct val="130000"/>
              </a:lnSpc>
              <a:defRPr/>
            </a:pPr>
            <a:r>
              <a:rPr lang="en-US" altLang="ko-KR" dirty="0" err="1" smtClean="0">
                <a:latin typeface="Times New Roman" pitchFamily="18" charset="0"/>
                <a:cs typeface="Times New Roman" pitchFamily="18" charset="0"/>
              </a:rPr>
              <a:t>Trong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hình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phải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sóng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biến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đổi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theo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thời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gian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dạng</a:t>
            </a:r>
            <a:r>
              <a:rPr lang="en-US" altLang="ko-KR" dirty="0" smtClean="0">
                <a:latin typeface="Times New Roman" pitchFamily="18" charset="0"/>
                <a:cs typeface="Times New Roman" pitchFamily="18" charset="0"/>
              </a:rPr>
              <a:t> </a:t>
            </a:r>
          </a:p>
          <a:p>
            <a:pPr eaLnBrk="1" hangingPunct="1">
              <a:lnSpc>
                <a:spcPct val="130000"/>
              </a:lnSpc>
              <a:defRPr/>
            </a:pPr>
            <a:r>
              <a:rPr lang="en-US" altLang="ko-KR" dirty="0" smtClean="0">
                <a:latin typeface="Times New Roman" pitchFamily="18" charset="0"/>
                <a:cs typeface="Times New Roman" pitchFamily="18" charset="0"/>
              </a:rPr>
              <a:t>                                          . </a:t>
            </a:r>
            <a:r>
              <a:rPr lang="en-US" altLang="ko-KR" dirty="0" err="1" smtClean="0">
                <a:latin typeface="Times New Roman" pitchFamily="18" charset="0"/>
                <a:cs typeface="Times New Roman" pitchFamily="18" charset="0"/>
              </a:rPr>
              <a:t>Trong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xoay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chiều</a:t>
            </a:r>
            <a:r>
              <a:rPr lang="en-US" altLang="ko-KR" dirty="0" smtClean="0">
                <a:latin typeface="Times New Roman" pitchFamily="18" charset="0"/>
                <a:cs typeface="Times New Roman" pitchFamily="18" charset="0"/>
              </a:rPr>
              <a:t> v</a:t>
            </a:r>
          </a:p>
          <a:p>
            <a:pPr eaLnBrk="1" hangingPunct="1">
              <a:lnSpc>
                <a:spcPct val="130000"/>
              </a:lnSpc>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cho</a:t>
            </a:r>
            <a:r>
              <a:rPr lang="en-US" altLang="ko-KR" dirty="0" smtClean="0">
                <a:latin typeface="Times New Roman" pitchFamily="18" charset="0"/>
                <a:cs typeface="Times New Roman" pitchFamily="18" charset="0"/>
              </a:rPr>
              <a:t> ta </a:t>
            </a:r>
            <a:r>
              <a:rPr lang="en-US" altLang="ko-KR" dirty="0" err="1" smtClean="0">
                <a:latin typeface="Times New Roman" pitchFamily="18" charset="0"/>
                <a:cs typeface="Times New Roman" pitchFamily="18" charset="0"/>
              </a:rPr>
              <a:t>biết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tìm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trong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thời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gian</a:t>
            </a:r>
            <a:r>
              <a:rPr lang="en-US" altLang="ko-KR" dirty="0" smtClean="0">
                <a:latin typeface="Times New Roman" pitchFamily="18" charset="0"/>
                <a:cs typeface="Times New Roman" pitchFamily="18" charset="0"/>
              </a:rPr>
              <a:t> t </a:t>
            </a:r>
            <a:r>
              <a:rPr lang="en-US" altLang="ko-KR" dirty="0" err="1" smtClean="0">
                <a:latin typeface="Times New Roman" pitchFamily="18" charset="0"/>
                <a:cs typeface="Times New Roman" pitchFamily="18" charset="0"/>
              </a:rPr>
              <a:t>đặc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biệt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gọi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endParaRPr lang="en-US" altLang="ko-KR" dirty="0" smtClean="0">
              <a:latin typeface="Times New Roman" pitchFamily="18" charset="0"/>
              <a:cs typeface="Times New Roman" pitchFamily="18" charset="0"/>
            </a:endParaRPr>
          </a:p>
          <a:p>
            <a:pPr eaLnBrk="1" hangingPunct="1">
              <a:lnSpc>
                <a:spcPct val="130000"/>
              </a:lnSpc>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tức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thời</a:t>
            </a:r>
            <a:endParaRPr lang="en-US" altLang="ko-KR" dirty="0" smtClean="0">
              <a:latin typeface="Times New Roman" pitchFamily="18" charset="0"/>
              <a:cs typeface="Times New Roman" pitchFamily="18" charset="0"/>
            </a:endParaRPr>
          </a:p>
          <a:p>
            <a:pPr marL="171450" indent="-171450" eaLnBrk="1" hangingPunct="1">
              <a:lnSpc>
                <a:spcPct val="130000"/>
              </a:lnSpc>
              <a:buFont typeface="Arial" panose="020B0604020202020204" pitchFamily="34" charset="0"/>
              <a:buChar char="•"/>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Độ</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lớn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xoay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chiều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được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biểu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Vm</a:t>
            </a:r>
            <a:r>
              <a:rPr lang="en-US" altLang="ko-KR" b="1" dirty="0" smtClean="0">
                <a:latin typeface="Times New Roman" pitchFamily="18" charset="0"/>
                <a:cs typeface="Times New Roman" pitchFamily="18" charset="0"/>
              </a:rPr>
              <a:t>.</a:t>
            </a:r>
          </a:p>
          <a:p>
            <a:pPr marL="171450" indent="-171450" eaLnBrk="1" hangingPunct="1">
              <a:lnSpc>
                <a:spcPct val="130000"/>
              </a:lnSpc>
              <a:buFont typeface="Arial" panose="020B0604020202020204" pitchFamily="34" charset="0"/>
              <a:buChar char="•"/>
              <a:defRPr/>
            </a:pP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Tốc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độ</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xoay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chiều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được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biểu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ωt</a:t>
            </a:r>
            <a:r>
              <a:rPr lang="en-US" altLang="ko-KR" dirty="0" smtClean="0">
                <a:latin typeface="Times New Roman" pitchFamily="18" charset="0"/>
                <a:cs typeface="Times New Roman" pitchFamily="18" charset="0"/>
              </a:rPr>
              <a:t>.   ※ ω = 2πf</a:t>
            </a:r>
          </a:p>
          <a:p>
            <a:pPr eaLnBrk="1" hangingPunct="1">
              <a:lnSpc>
                <a:spcPct val="130000"/>
              </a:lnSpc>
              <a:buFontTx/>
              <a:buChar char="•"/>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xoay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chiều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được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biểu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b="1" dirty="0" smtClean="0">
                <a:latin typeface="Times New Roman" pitchFamily="18" charset="0"/>
                <a:cs typeface="Times New Roman" pitchFamily="18" charset="0"/>
              </a:rPr>
              <a:t>Θ</a:t>
            </a:r>
            <a:r>
              <a:rPr lang="en-US" altLang="ko-KR" dirty="0" smtClean="0">
                <a:latin typeface="Times New Roman" pitchFamily="18" charset="0"/>
                <a:cs typeface="Times New Roman" pitchFamily="18" charset="0"/>
              </a:rPr>
              <a:t>.</a:t>
            </a:r>
          </a:p>
          <a:p>
            <a:pPr eaLnBrk="1" hangingPunct="1">
              <a:lnSpc>
                <a:spcPct val="130000"/>
              </a:lnSpc>
              <a:buFontTx/>
              <a:buChar char="•"/>
              <a:defRPr/>
            </a:pPr>
            <a:endParaRPr lang="en-US" altLang="ko-KR" dirty="0" smtClean="0">
              <a:latin typeface="Times New Roman" pitchFamily="18" charset="0"/>
              <a:cs typeface="Times New Roman" pitchFamily="18" charset="0"/>
            </a:endParaRPr>
          </a:p>
          <a:p>
            <a:pPr eaLnBrk="1" hangingPunct="1">
              <a:lnSpc>
                <a:spcPct val="130000"/>
              </a:lnSpc>
              <a:buFontTx/>
              <a:buChar char="•"/>
              <a:defRPr/>
            </a:pPr>
            <a:endParaRPr lang="en-US" altLang="ko-KR" dirty="0" smtClean="0">
              <a:latin typeface="Times New Roman" pitchFamily="18" charset="0"/>
              <a:cs typeface="Times New Roman" pitchFamily="18" charset="0"/>
            </a:endParaRPr>
          </a:p>
          <a:p>
            <a:pPr eaLnBrk="1" hangingPunct="1">
              <a:lnSpc>
                <a:spcPct val="130000"/>
              </a:lnSpc>
              <a:buFontTx/>
              <a:buChar char="•"/>
              <a:defRPr/>
            </a:pPr>
            <a:endParaRPr lang="en-US" altLang="ko-KR" dirty="0" smtClean="0">
              <a:latin typeface="Times New Roman" pitchFamily="18" charset="0"/>
              <a:cs typeface="Times New Roman" pitchFamily="18" charset="0"/>
            </a:endParaRPr>
          </a:p>
          <a:p>
            <a:pPr eaLnBrk="1" latinLnBrk="1" hangingPunct="1">
              <a:lnSpc>
                <a:spcPct val="100000"/>
              </a:lnSpc>
              <a:defRPr/>
            </a:pPr>
            <a:r>
              <a:rPr lang="en-US" altLang="ko-KR" b="1" dirty="0" smtClean="0">
                <a:latin typeface="Times New Roman" pitchFamily="18" charset="0"/>
                <a:cs typeface="Times New Roman" pitchFamily="18" charset="0"/>
              </a:rPr>
              <a:t>(4) </a:t>
            </a:r>
            <a:r>
              <a:rPr lang="en-US" altLang="ko-KR" b="1" dirty="0" err="1" smtClean="0">
                <a:latin typeface="Times New Roman" pitchFamily="18" charset="0"/>
                <a:cs typeface="Times New Roman" pitchFamily="18" charset="0"/>
              </a:rPr>
              <a:t>Giá</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trị</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đỉnh</a:t>
            </a:r>
            <a:r>
              <a:rPr lang="en-US" altLang="ko-KR" b="1" dirty="0" smtClean="0">
                <a:latin typeface="Times New Roman" pitchFamily="18" charset="0"/>
                <a:cs typeface="Times New Roman" pitchFamily="18" charset="0"/>
              </a:rPr>
              <a:t>(Peak Voltage), </a:t>
            </a:r>
            <a:r>
              <a:rPr lang="en-US" altLang="ko-KR" b="1" dirty="0" err="1" smtClean="0">
                <a:latin typeface="Times New Roman" pitchFamily="18" charset="0"/>
                <a:cs typeface="Times New Roman" pitchFamily="18" charset="0"/>
              </a:rPr>
              <a:t>giá</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trị</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đỉnh</a:t>
            </a:r>
            <a:r>
              <a:rPr lang="en-US" altLang="ko-KR" b="1" dirty="0" smtClean="0">
                <a:latin typeface="Times New Roman" pitchFamily="18" charset="0"/>
                <a:cs typeface="Times New Roman" pitchFamily="18" charset="0"/>
              </a:rPr>
              <a:t> – </a:t>
            </a:r>
            <a:r>
              <a:rPr lang="en-US" altLang="ko-KR" b="1" dirty="0" err="1" smtClean="0">
                <a:latin typeface="Times New Roman" pitchFamily="18" charset="0"/>
                <a:cs typeface="Times New Roman" pitchFamily="18" charset="0"/>
              </a:rPr>
              <a:t>đỉnh</a:t>
            </a:r>
            <a:r>
              <a:rPr lang="en-US" altLang="ko-KR" b="1" dirty="0" smtClean="0">
                <a:latin typeface="Times New Roman" pitchFamily="18" charset="0"/>
                <a:cs typeface="Times New Roman" pitchFamily="18" charset="0"/>
              </a:rPr>
              <a:t>(Peak to Peak Voltage)</a:t>
            </a:r>
          </a:p>
          <a:p>
            <a:pPr eaLnBrk="1" hangingPunct="1">
              <a:lnSpc>
                <a:spcPct val="130000"/>
              </a:lnSpc>
              <a:defRPr/>
            </a:pPr>
            <a:endParaRPr lang="en-US" altLang="ko-KR" b="1" dirty="0" smtClean="0">
              <a:latin typeface="Times New Roman" pitchFamily="18" charset="0"/>
              <a:cs typeface="Times New Roman" pitchFamily="18" charset="0"/>
            </a:endParaRPr>
          </a:p>
          <a:p>
            <a:pPr marL="171450" indent="-171450" eaLnBrk="1" hangingPunct="1">
              <a:buFont typeface="Arial" panose="020B0604020202020204" pitchFamily="34" charset="0"/>
              <a:buChar char="•"/>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đỉnh</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Giá</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trị</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lớn</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nhất</a:t>
            </a:r>
            <a:r>
              <a:rPr lang="en-US" altLang="ko-KR" dirty="0" smtClean="0">
                <a:latin typeface="Times New Roman" pitchFamily="18" charset="0"/>
                <a:cs typeface="Times New Roman" pitchFamily="18" charset="0"/>
              </a:rPr>
              <a:t>(maximum value),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lớn</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nhất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trong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tức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thời</a:t>
            </a:r>
            <a:endParaRPr lang="ko-KR" altLang="en-US" dirty="0" smtClean="0">
              <a:latin typeface="Times New Roman" pitchFamily="18" charset="0"/>
              <a:cs typeface="Times New Roman" pitchFamily="18" charset="0"/>
            </a:endParaRPr>
          </a:p>
          <a:p>
            <a:pPr eaLnBrk="1" hangingPunct="1">
              <a:defRPr/>
            </a:pPr>
            <a:endParaRPr lang="ko-KR" altLang="en-US" sz="700"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Ký</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hiệu</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b="1" dirty="0" smtClean="0">
                <a:latin typeface="Times New Roman" pitchFamily="18" charset="0"/>
                <a:cs typeface="Times New Roman" pitchFamily="18" charset="0"/>
              </a:rPr>
              <a:t>V</a:t>
            </a:r>
            <a:r>
              <a:rPr lang="en-US" altLang="ko-KR" b="1" baseline="-25000" dirty="0" smtClean="0">
                <a:latin typeface="Times New Roman" pitchFamily="18" charset="0"/>
                <a:cs typeface="Times New Roman" pitchFamily="18" charset="0"/>
              </a:rPr>
              <a:t>P</a:t>
            </a:r>
            <a:r>
              <a:rPr lang="en-US" altLang="ko-KR" dirty="0" smtClean="0">
                <a:latin typeface="Times New Roman" pitchFamily="18" charset="0"/>
                <a:cs typeface="Times New Roman" pitchFamily="18" charset="0"/>
              </a:rPr>
              <a:t>    hay    </a:t>
            </a:r>
            <a:r>
              <a:rPr lang="en-US" altLang="ko-KR" b="1" dirty="0" smtClean="0">
                <a:latin typeface="Times New Roman" pitchFamily="18" charset="0"/>
                <a:cs typeface="Times New Roman" pitchFamily="18" charset="0"/>
              </a:rPr>
              <a:t>V</a:t>
            </a:r>
            <a:r>
              <a:rPr lang="en-US" altLang="ko-KR" b="1" baseline="-25000" dirty="0" smtClean="0">
                <a:latin typeface="Times New Roman" pitchFamily="18" charset="0"/>
                <a:cs typeface="Times New Roman" pitchFamily="18" charset="0"/>
              </a:rPr>
              <a:t>M</a:t>
            </a:r>
          </a:p>
          <a:p>
            <a:pPr eaLnBrk="1" hangingPunct="1">
              <a:defRPr/>
            </a:pPr>
            <a:endParaRPr lang="en-US" altLang="ko-KR" dirty="0" smtClean="0">
              <a:latin typeface="Times New Roman" pitchFamily="18" charset="0"/>
              <a:cs typeface="Times New Roman" pitchFamily="18" charset="0"/>
            </a:endParaRPr>
          </a:p>
          <a:p>
            <a:pPr marL="171450" indent="-171450" eaLnBrk="1" hangingPunct="1">
              <a:buFont typeface="Arial" panose="020B0604020202020204" pitchFamily="34" charset="0"/>
              <a:buChar char="•"/>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đỉnh</a:t>
            </a:r>
            <a:r>
              <a:rPr lang="en-US" altLang="ko-KR" dirty="0" smtClean="0">
                <a:latin typeface="Times New Roman" pitchFamily="18" charset="0"/>
                <a:cs typeface="Times New Roman" pitchFamily="18" charset="0"/>
              </a:rPr>
              <a:t> – </a:t>
            </a:r>
            <a:r>
              <a:rPr lang="en-US" altLang="ko-KR" dirty="0" err="1" smtClean="0">
                <a:latin typeface="Times New Roman" pitchFamily="18" charset="0"/>
                <a:cs typeface="Times New Roman" pitchFamily="18" charset="0"/>
              </a:rPr>
              <a:t>đỉnh</a:t>
            </a:r>
            <a:r>
              <a:rPr lang="en-US" altLang="ko-KR"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giá</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trị</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đỉnh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khoảng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cách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giữa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dương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lớn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nhất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âm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lớn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nhất</a:t>
            </a:r>
            <a:endParaRPr lang="ko-KR" altLang="en-US" dirty="0" smtClean="0">
              <a:latin typeface="Times New Roman" pitchFamily="18" charset="0"/>
              <a:cs typeface="Times New Roman" pitchFamily="18" charset="0"/>
            </a:endParaRPr>
          </a:p>
          <a:p>
            <a:pPr eaLnBrk="1" hangingPunct="1">
              <a:defRPr/>
            </a:pPr>
            <a:endParaRPr lang="ko-KR" altLang="en-US" sz="700" dirty="0" smtClean="0">
              <a:latin typeface="Times New Roman" pitchFamily="18" charset="0"/>
              <a:cs typeface="Times New Roman" pitchFamily="18" charset="0"/>
            </a:endParaRPr>
          </a:p>
          <a:p>
            <a:pPr eaLnBrk="1" hangingPunct="1">
              <a:defRPr/>
            </a:pP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Ký</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hiệu</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b="1" dirty="0" smtClean="0">
                <a:latin typeface="Times New Roman" pitchFamily="18" charset="0"/>
                <a:cs typeface="Times New Roman" pitchFamily="18" charset="0"/>
              </a:rPr>
              <a:t>V</a:t>
            </a:r>
            <a:r>
              <a:rPr lang="en-US" altLang="ko-KR" b="1" baseline="-25000" dirty="0" smtClean="0">
                <a:latin typeface="Times New Roman" pitchFamily="18" charset="0"/>
                <a:cs typeface="Times New Roman" pitchFamily="18" charset="0"/>
              </a:rPr>
              <a:t>P_P</a:t>
            </a:r>
            <a:r>
              <a:rPr lang="en-US" altLang="ko-KR" dirty="0" smtClean="0">
                <a:latin typeface="Times New Roman" pitchFamily="18" charset="0"/>
                <a:cs typeface="Times New Roman" pitchFamily="18" charset="0"/>
              </a:rPr>
              <a:t> </a:t>
            </a:r>
            <a:endParaRPr lang="en-US" altLang="ko-KR" b="1" dirty="0" smtClean="0">
              <a:latin typeface="Times New Roman" pitchFamily="18" charset="0"/>
              <a:cs typeface="Times New Roman" pitchFamily="18" charset="0"/>
            </a:endParaRPr>
          </a:p>
        </p:txBody>
      </p:sp>
      <p:sp>
        <p:nvSpPr>
          <p:cNvPr id="53253"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grpSp>
        <p:nvGrpSpPr>
          <p:cNvPr id="53254" name="Group 11"/>
          <p:cNvGrpSpPr>
            <a:grpSpLocks/>
          </p:cNvGrpSpPr>
          <p:nvPr/>
        </p:nvGrpSpPr>
        <p:grpSpPr bwMode="auto">
          <a:xfrm>
            <a:off x="5076825" y="1341438"/>
            <a:ext cx="3171825" cy="1828800"/>
            <a:chOff x="3216" y="2400"/>
            <a:chExt cx="1998" cy="1152"/>
          </a:xfrm>
        </p:grpSpPr>
        <p:pic>
          <p:nvPicPr>
            <p:cNvPr id="53257" name="Picture 12"/>
            <p:cNvPicPr>
              <a:picLocks noChangeAspect="1" noChangeArrowheads="1"/>
            </p:cNvPicPr>
            <p:nvPr/>
          </p:nvPicPr>
          <p:blipFill>
            <a:blip r:embed="rId3">
              <a:extLst>
                <a:ext uri="{28A0092B-C50C-407E-A947-70E740481C1C}">
                  <a14:useLocalDpi xmlns:a14="http://schemas.microsoft.com/office/drawing/2010/main" val="0"/>
                </a:ext>
              </a:extLst>
            </a:blip>
            <a:srcRect l="6357" r="23711"/>
            <a:stretch>
              <a:fillRect/>
            </a:stretch>
          </p:blipFill>
          <p:spPr bwMode="auto">
            <a:xfrm>
              <a:off x="3495" y="2472"/>
              <a:ext cx="1329" cy="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8" name="Line 13"/>
            <p:cNvSpPr>
              <a:spLocks noChangeShapeType="1"/>
            </p:cNvSpPr>
            <p:nvPr/>
          </p:nvSpPr>
          <p:spPr bwMode="auto">
            <a:xfrm>
              <a:off x="3519" y="2400"/>
              <a:ext cx="0" cy="115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3259" name="Line 14"/>
            <p:cNvSpPr>
              <a:spLocks noChangeShapeType="1"/>
            </p:cNvSpPr>
            <p:nvPr/>
          </p:nvSpPr>
          <p:spPr bwMode="auto">
            <a:xfrm>
              <a:off x="3519" y="2976"/>
              <a:ext cx="14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3260" name="Text Box 15"/>
            <p:cNvSpPr txBox="1">
              <a:spLocks noChangeArrowheads="1"/>
            </p:cNvSpPr>
            <p:nvPr/>
          </p:nvSpPr>
          <p:spPr bwMode="auto">
            <a:xfrm>
              <a:off x="3216" y="2448"/>
              <a:ext cx="25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V</a:t>
              </a:r>
              <a:r>
                <a:rPr lang="en-US" altLang="ko-KR" sz="900">
                  <a:latin typeface="Times New Roman" pitchFamily="18" charset="0"/>
                  <a:cs typeface="Times New Roman" pitchFamily="18" charset="0"/>
                </a:rPr>
                <a:t>m</a:t>
              </a:r>
            </a:p>
          </p:txBody>
        </p:sp>
        <p:sp>
          <p:nvSpPr>
            <p:cNvPr id="53261" name="Text Box 16"/>
            <p:cNvSpPr txBox="1">
              <a:spLocks noChangeArrowheads="1"/>
            </p:cNvSpPr>
            <p:nvPr/>
          </p:nvSpPr>
          <p:spPr bwMode="auto">
            <a:xfrm>
              <a:off x="3216" y="2880"/>
              <a:ext cx="2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Θ</a:t>
              </a:r>
            </a:p>
          </p:txBody>
        </p:sp>
        <p:sp>
          <p:nvSpPr>
            <p:cNvPr id="53262" name="Text Box 17"/>
            <p:cNvSpPr txBox="1">
              <a:spLocks noChangeArrowheads="1"/>
            </p:cNvSpPr>
            <p:nvPr/>
          </p:nvSpPr>
          <p:spPr bwMode="auto">
            <a:xfrm>
              <a:off x="4992" y="2880"/>
              <a:ext cx="222"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ωt</a:t>
              </a:r>
            </a:p>
          </p:txBody>
        </p:sp>
      </p:grpSp>
      <p:pic>
        <p:nvPicPr>
          <p:cNvPr id="53255"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0113" y="1557338"/>
            <a:ext cx="1630362"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256" name="Picture 19" descr="fig01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4292600"/>
            <a:ext cx="337185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87F1FDC-D065-40F5-810B-24D5AC68A763}" type="slidenum">
              <a:rPr lang="en-US" altLang="ko-KR" sz="1400" smtClean="0">
                <a:latin typeface="Times New Roman" pitchFamily="18" charset="0"/>
                <a:cs typeface="Times New Roman" pitchFamily="18" charset="0"/>
              </a:rPr>
              <a:pPr eaLnBrk="1" hangingPunct="1"/>
              <a:t>48</a:t>
            </a:fld>
            <a:endParaRPr lang="en-US" altLang="ko-KR" sz="1400" smtClean="0">
              <a:latin typeface="Times New Roman" pitchFamily="18" charset="0"/>
              <a:cs typeface="Times New Roman" pitchFamily="18" charset="0"/>
            </a:endParaRPr>
          </a:p>
        </p:txBody>
      </p:sp>
      <p:sp>
        <p:nvSpPr>
          <p:cNvPr id="5427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427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5) Giá trị hiệu dụng</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(effective value)</a:t>
            </a:r>
          </a:p>
          <a:p>
            <a:pPr eaLnBrk="1" hangingPunct="1"/>
            <a:endParaRPr lang="en-US" altLang="ko-KR" b="1">
              <a:latin typeface="Times New Roman" pitchFamily="18" charset="0"/>
              <a:cs typeface="Times New Roman" pitchFamily="18" charset="0"/>
            </a:endParaRPr>
          </a:p>
          <a:p>
            <a:pPr eaLnBrk="1" hangingPunct="1">
              <a:buFontTx/>
              <a:buChar char="•"/>
            </a:pPr>
            <a:r>
              <a:rPr lang="en-US" altLang="ko-KR">
                <a:latin typeface="Times New Roman" pitchFamily="18" charset="0"/>
                <a:cs typeface="Times New Roman" pitchFamily="18" charset="0"/>
              </a:rPr>
              <a:t> RMS (Root-Mean-Square) Voltage</a:t>
            </a:r>
          </a:p>
          <a:p>
            <a:pPr eaLnBrk="1" hangingPunct="1"/>
            <a:endParaRPr lang="en-US" altLang="ko-KR">
              <a:latin typeface="Times New Roman" pitchFamily="18" charset="0"/>
              <a:cs typeface="Times New Roman" pitchFamily="18" charset="0"/>
            </a:endParaRPr>
          </a:p>
          <a:p>
            <a:pPr eaLnBrk="1" hangingPunct="1">
              <a:buFontTx/>
              <a:buChar char="•"/>
            </a:pPr>
            <a:r>
              <a:rPr lang="en-US" altLang="ko-KR">
                <a:latin typeface="Times New Roman" pitchFamily="18" charset="0"/>
                <a:cs typeface="Times New Roman" pitchFamily="18" charset="0"/>
              </a:rPr>
              <a:t> Ký hiệu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V</a:t>
            </a:r>
            <a:r>
              <a:rPr lang="en-US" altLang="ko-KR" b="1" baseline="-25000">
                <a:latin typeface="Times New Roman" pitchFamily="18" charset="0"/>
                <a:cs typeface="Times New Roman" pitchFamily="18" charset="0"/>
              </a:rPr>
              <a:t>RMS</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Để biểu thị độ lớn của dòng xoay chiều ta có giá trị lớn nhất hay giá trị trung bình nhưng giá trị hiệu dụng(effective value) biểu thị bằng dòng 1 chiều mà hoạt động như dòng xoay chiều. Giá trị hiệu dụng là giá trị sinh ra dựa theo lượng điện năng xoay chiều. Tức, là giá trị biểu thị điện năng của dòng điện xoay chiều bằng dòng điện 1 chiều.</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Dụng cụ đo dòng điện xoay chiều gồm điện trở kế, điện kế hay điện năng kế vv...Và tất cả các loại dụng cụ đo này đều dùng để đo giá trị hiệu dụng. Theo đó, giá trị hiệu dụng là phương pháp biểu hiện cực kỳ quan trọng khi cần biết độ rộng của pha sóng xoay chiều.</a:t>
            </a:r>
          </a:p>
          <a:p>
            <a:pPr eaLnBrk="1" hangingPunct="1"/>
            <a:endParaRPr lang="en-US" altLang="ko-KR">
              <a:latin typeface="Times New Roman" pitchFamily="18" charset="0"/>
              <a:cs typeface="Times New Roman" pitchFamily="18" charset="0"/>
            </a:endParaRPr>
          </a:p>
          <a:p>
            <a:pPr eaLnBrk="1" hangingPunct="1">
              <a:buFontTx/>
              <a:buChar char="•"/>
            </a:pPr>
            <a:r>
              <a:rPr lang="en-US" altLang="ko-KR" b="1">
                <a:latin typeface="Times New Roman" pitchFamily="18" charset="0"/>
                <a:cs typeface="Times New Roman" pitchFamily="18" charset="0"/>
              </a:rPr>
              <a:t> Giá trị hiệu dụng của sóng sin</a:t>
            </a:r>
            <a:endParaRPr lang="ko-KR" altLang="en-US" b="1">
              <a:latin typeface="Times New Roman" pitchFamily="18" charset="0"/>
              <a:cs typeface="Times New Roman" pitchFamily="18" charset="0"/>
            </a:endParaRPr>
          </a:p>
          <a:p>
            <a:pPr eaLnBrk="1" latinLnBrk="1" hangingPunct="1">
              <a:lnSpc>
                <a:spcPct val="110000"/>
              </a:lnSpc>
            </a:pPr>
            <a:endParaRPr lang="en-US" altLang="ko-KR" sz="1400">
              <a:latin typeface="Times New Roman" pitchFamily="18" charset="0"/>
              <a:cs typeface="Times New Roman" pitchFamily="18" charset="0"/>
            </a:endParaRPr>
          </a:p>
        </p:txBody>
      </p:sp>
      <p:sp>
        <p:nvSpPr>
          <p:cNvPr id="54277"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5427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4437063"/>
            <a:ext cx="26654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4279" name="Picture 6" descr="fig0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3962400"/>
            <a:ext cx="3497262"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0" name="Text Box 7"/>
          <p:cNvSpPr txBox="1">
            <a:spLocks noChangeArrowheads="1"/>
          </p:cNvSpPr>
          <p:nvPr/>
        </p:nvSpPr>
        <p:spPr bwMode="auto">
          <a:xfrm>
            <a:off x="1127125" y="5610225"/>
            <a:ext cx="714375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ko-KR" altLang="en-US" sz="900">
                <a:latin typeface="Times New Roman" pitchFamily="18" charset="0"/>
                <a:cs typeface="Times New Roman" pitchFamily="18" charset="0"/>
              </a:rPr>
              <a:t>＊</a:t>
            </a:r>
            <a:r>
              <a:rPr lang="en-US" altLang="ko-KR" sz="900">
                <a:latin typeface="Times New Roman" pitchFamily="18" charset="0"/>
                <a:cs typeface="Times New Roman" pitchFamily="18" charset="0"/>
              </a:rPr>
              <a:t>Hiện tại điện dân dụng chúng ta thường sử dụng là dòng điện có điện trở 220[V].</a:t>
            </a:r>
            <a:r>
              <a:rPr lang="ko-KR" altLang="en-US" sz="900">
                <a:latin typeface="Times New Roman" pitchFamily="18" charset="0"/>
                <a:cs typeface="Times New Roman" pitchFamily="18" charset="0"/>
              </a:rPr>
              <a:t> </a:t>
            </a:r>
            <a:endParaRPr lang="en-US" altLang="ko-KR" sz="900">
              <a:latin typeface="Times New Roman" pitchFamily="18" charset="0"/>
              <a:cs typeface="Times New Roman" pitchFamily="18" charset="0"/>
            </a:endParaRPr>
          </a:p>
          <a:p>
            <a:pPr eaLnBrk="1" latinLnBrk="1" hangingPunct="1">
              <a:lnSpc>
                <a:spcPct val="110000"/>
              </a:lnSpc>
            </a:pPr>
            <a:r>
              <a:rPr lang="en-US" altLang="ko-KR" sz="900">
                <a:latin typeface="Times New Roman" pitchFamily="18" charset="0"/>
                <a:cs typeface="Times New Roman" pitchFamily="18" charset="0"/>
              </a:rPr>
              <a:t>    Tại đây, dòng điện 220[V] xuất hiện giá trị nào?</a:t>
            </a:r>
          </a:p>
          <a:p>
            <a:pPr eaLnBrk="1" latinLnBrk="1" hangingPunct="1">
              <a:lnSpc>
                <a:spcPct val="110000"/>
              </a:lnSpc>
            </a:pPr>
            <a:r>
              <a:rPr lang="en-US" altLang="ko-KR" sz="900">
                <a:latin typeface="Times New Roman" pitchFamily="18" charset="0"/>
                <a:cs typeface="Times New Roman" pitchFamily="18" charset="0"/>
              </a:rPr>
              <a:t>    Độ lớn dòng xoay chiều mà chúng ta hay nhắc đến chính là giá trị hiệu dụng. Tức là dòng điện xoay chiều 220[V] chính là giá trị hiệu dụng 220[V].</a:t>
            </a:r>
          </a:p>
          <a:p>
            <a:pPr eaLnBrk="1" latinLnBrk="1" hangingPunct="1">
              <a:lnSpc>
                <a:spcPct val="100000"/>
              </a:lnSpc>
            </a:pPr>
            <a:endParaRPr lang="en-US" altLang="ko-KR"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EBC75DF-E694-4DC8-A920-923F5CC54454}" type="slidenum">
              <a:rPr lang="en-US" altLang="ko-KR" sz="1400" smtClean="0">
                <a:latin typeface="Times New Roman" pitchFamily="18" charset="0"/>
                <a:cs typeface="Times New Roman" pitchFamily="18" charset="0"/>
              </a:rPr>
              <a:pPr eaLnBrk="1" hangingPunct="1"/>
              <a:t>49</a:t>
            </a:fld>
            <a:endParaRPr lang="en-US" altLang="ko-KR" sz="1400" smtClean="0">
              <a:latin typeface="Times New Roman" pitchFamily="18" charset="0"/>
              <a:cs typeface="Times New Roman" pitchFamily="18" charset="0"/>
            </a:endParaRPr>
          </a:p>
        </p:txBody>
      </p:sp>
      <p:sp>
        <p:nvSpPr>
          <p:cNvPr id="55299"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530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6) Giá trị trung bình</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(average value)</a:t>
            </a:r>
          </a:p>
          <a:p>
            <a:pPr eaLnBrk="1" hangingPunct="1"/>
            <a:endParaRPr lang="en-US" altLang="ko-KR" b="1">
              <a:latin typeface="Times New Roman" pitchFamily="18" charset="0"/>
              <a:cs typeface="Times New Roman" pitchFamily="18" charset="0"/>
            </a:endParaRPr>
          </a:p>
          <a:p>
            <a:pPr eaLnBrk="1" hangingPunct="1">
              <a:buFontTx/>
              <a:buChar char="•"/>
            </a:pPr>
            <a:r>
              <a:rPr lang="en-US" altLang="ko-KR">
                <a:latin typeface="Times New Roman" pitchFamily="18" charset="0"/>
                <a:cs typeface="Times New Roman" pitchFamily="18" charset="0"/>
              </a:rPr>
              <a:t> Average Voltage</a:t>
            </a:r>
          </a:p>
          <a:p>
            <a:pPr eaLnBrk="1" hangingPunct="1"/>
            <a:r>
              <a:rPr lang="en-US" altLang="ko-KR">
                <a:latin typeface="Times New Roman" pitchFamily="18" charset="0"/>
                <a:cs typeface="Times New Roman" pitchFamily="18" charset="0"/>
              </a:rPr>
              <a:t>  Là giá trị trung bình của giá trị hiệu dụng trong một</a:t>
            </a:r>
          </a:p>
          <a:p>
            <a:pPr eaLnBrk="1" hangingPunct="1"/>
            <a:r>
              <a:rPr lang="en-US" altLang="ko-KR">
                <a:latin typeface="Times New Roman" pitchFamily="18" charset="0"/>
                <a:cs typeface="Times New Roman" pitchFamily="18" charset="0"/>
              </a:rPr>
              <a:t> chu kỳ.</a:t>
            </a:r>
            <a:endParaRPr lang="ko-KR" altLang="en-US">
              <a:latin typeface="Times New Roman" pitchFamily="18" charset="0"/>
              <a:cs typeface="Times New Roman" pitchFamily="18" charset="0"/>
            </a:endParaRPr>
          </a:p>
          <a:p>
            <a:pPr eaLnBrk="1" hangingPunct="1">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Ký hiệu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V</a:t>
            </a:r>
            <a:r>
              <a:rPr lang="en-US" altLang="ko-KR" b="1" baseline="-25000">
                <a:latin typeface="Times New Roman" pitchFamily="18" charset="0"/>
                <a:cs typeface="Times New Roman" pitchFamily="18" charset="0"/>
              </a:rPr>
              <a:t>AVE</a:t>
            </a: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buFontTx/>
              <a:buChar char="•"/>
            </a:pPr>
            <a:r>
              <a:rPr lang="en-US" altLang="ko-KR">
                <a:latin typeface="Times New Roman" pitchFamily="18" charset="0"/>
                <a:cs typeface="Times New Roman" pitchFamily="18" charset="0"/>
              </a:rPr>
              <a:t> Giá trị trung bình của sóng sin</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Do sóng pha có độ lớn hướng (+) và (-) đối xứng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trung bình 1 chu kỳ là 0.</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Theo đó, sóng sin có bình quân là ½ chu kỳ và được quy định là giá trị trung bình.</a:t>
            </a:r>
          </a:p>
        </p:txBody>
      </p:sp>
      <p:sp>
        <p:nvSpPr>
          <p:cNvPr id="55301"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grpSp>
        <p:nvGrpSpPr>
          <p:cNvPr id="55302" name="Group 5"/>
          <p:cNvGrpSpPr>
            <a:grpSpLocks/>
          </p:cNvGrpSpPr>
          <p:nvPr/>
        </p:nvGrpSpPr>
        <p:grpSpPr bwMode="auto">
          <a:xfrm>
            <a:off x="4406900" y="1435100"/>
            <a:ext cx="2667000" cy="1524000"/>
            <a:chOff x="2736" y="2640"/>
            <a:chExt cx="1680" cy="960"/>
          </a:xfrm>
        </p:grpSpPr>
        <p:sp>
          <p:nvSpPr>
            <p:cNvPr id="55311" name="Line 6"/>
            <p:cNvSpPr>
              <a:spLocks noChangeShapeType="1"/>
            </p:cNvSpPr>
            <p:nvPr/>
          </p:nvSpPr>
          <p:spPr bwMode="auto">
            <a:xfrm>
              <a:off x="2928" y="2640"/>
              <a:ext cx="0" cy="96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2" name="Line 7"/>
            <p:cNvSpPr>
              <a:spLocks noChangeShapeType="1"/>
            </p:cNvSpPr>
            <p:nvPr/>
          </p:nvSpPr>
          <p:spPr bwMode="auto">
            <a:xfrm>
              <a:off x="3120"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3" name="Line 8"/>
            <p:cNvSpPr>
              <a:spLocks noChangeShapeType="1"/>
            </p:cNvSpPr>
            <p:nvPr/>
          </p:nvSpPr>
          <p:spPr bwMode="auto">
            <a:xfrm>
              <a:off x="3312"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4" name="Line 9"/>
            <p:cNvSpPr>
              <a:spLocks noChangeShapeType="1"/>
            </p:cNvSpPr>
            <p:nvPr/>
          </p:nvSpPr>
          <p:spPr bwMode="auto">
            <a:xfrm>
              <a:off x="3504"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5" name="Line 10"/>
            <p:cNvSpPr>
              <a:spLocks noChangeShapeType="1"/>
            </p:cNvSpPr>
            <p:nvPr/>
          </p:nvSpPr>
          <p:spPr bwMode="auto">
            <a:xfrm>
              <a:off x="3696"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6" name="Line 11"/>
            <p:cNvSpPr>
              <a:spLocks noChangeShapeType="1"/>
            </p:cNvSpPr>
            <p:nvPr/>
          </p:nvSpPr>
          <p:spPr bwMode="auto">
            <a:xfrm>
              <a:off x="2928" y="3168"/>
              <a:ext cx="139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7" name="Line 12"/>
            <p:cNvSpPr>
              <a:spLocks noChangeShapeType="1"/>
            </p:cNvSpPr>
            <p:nvPr/>
          </p:nvSpPr>
          <p:spPr bwMode="auto">
            <a:xfrm>
              <a:off x="2928" y="2976"/>
              <a:ext cx="139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8" name="Line 13"/>
            <p:cNvSpPr>
              <a:spLocks noChangeShapeType="1"/>
            </p:cNvSpPr>
            <p:nvPr/>
          </p:nvSpPr>
          <p:spPr bwMode="auto">
            <a:xfrm>
              <a:off x="3888"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19" name="Line 14"/>
            <p:cNvSpPr>
              <a:spLocks noChangeShapeType="1"/>
            </p:cNvSpPr>
            <p:nvPr/>
          </p:nvSpPr>
          <p:spPr bwMode="auto">
            <a:xfrm>
              <a:off x="2928" y="2784"/>
              <a:ext cx="139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0" name="Line 15"/>
            <p:cNvSpPr>
              <a:spLocks noChangeShapeType="1"/>
            </p:cNvSpPr>
            <p:nvPr/>
          </p:nvSpPr>
          <p:spPr bwMode="auto">
            <a:xfrm>
              <a:off x="2928" y="3360"/>
              <a:ext cx="148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1" name="Line 16"/>
            <p:cNvSpPr>
              <a:spLocks noChangeShapeType="1"/>
            </p:cNvSpPr>
            <p:nvPr/>
          </p:nvSpPr>
          <p:spPr bwMode="auto">
            <a:xfrm>
              <a:off x="2928" y="3552"/>
              <a:ext cx="139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2" name="Line 17"/>
            <p:cNvSpPr>
              <a:spLocks noChangeShapeType="1"/>
            </p:cNvSpPr>
            <p:nvPr/>
          </p:nvSpPr>
          <p:spPr bwMode="auto">
            <a:xfrm>
              <a:off x="4080"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3" name="Line 18"/>
            <p:cNvSpPr>
              <a:spLocks noChangeShapeType="1"/>
            </p:cNvSpPr>
            <p:nvPr/>
          </p:nvSpPr>
          <p:spPr bwMode="auto">
            <a:xfrm>
              <a:off x="4272" y="2736"/>
              <a:ext cx="0" cy="8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4" name="Freeform 19"/>
            <p:cNvSpPr>
              <a:spLocks/>
            </p:cNvSpPr>
            <p:nvPr/>
          </p:nvSpPr>
          <p:spPr bwMode="auto">
            <a:xfrm>
              <a:off x="2928" y="2976"/>
              <a:ext cx="1344" cy="384"/>
            </a:xfrm>
            <a:custGeom>
              <a:avLst/>
              <a:gdLst>
                <a:gd name="T0" fmla="*/ 0 w 1344"/>
                <a:gd name="T1" fmla="*/ 0 h 384"/>
                <a:gd name="T2" fmla="*/ 384 w 1344"/>
                <a:gd name="T3" fmla="*/ 0 h 384"/>
                <a:gd name="T4" fmla="*/ 384 w 1344"/>
                <a:gd name="T5" fmla="*/ 384 h 384"/>
                <a:gd name="T6" fmla="*/ 768 w 1344"/>
                <a:gd name="T7" fmla="*/ 384 h 384"/>
                <a:gd name="T8" fmla="*/ 768 w 1344"/>
                <a:gd name="T9" fmla="*/ 0 h 384"/>
                <a:gd name="T10" fmla="*/ 1152 w 1344"/>
                <a:gd name="T11" fmla="*/ 0 h 384"/>
                <a:gd name="T12" fmla="*/ 1152 w 1344"/>
                <a:gd name="T13" fmla="*/ 384 h 384"/>
                <a:gd name="T14" fmla="*/ 1344 w 1344"/>
                <a:gd name="T15" fmla="*/ 384 h 38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44" h="384">
                  <a:moveTo>
                    <a:pt x="0" y="0"/>
                  </a:moveTo>
                  <a:lnTo>
                    <a:pt x="384" y="0"/>
                  </a:lnTo>
                  <a:lnTo>
                    <a:pt x="384" y="384"/>
                  </a:lnTo>
                  <a:lnTo>
                    <a:pt x="768" y="384"/>
                  </a:lnTo>
                  <a:lnTo>
                    <a:pt x="768" y="0"/>
                  </a:lnTo>
                  <a:lnTo>
                    <a:pt x="1152" y="0"/>
                  </a:lnTo>
                  <a:lnTo>
                    <a:pt x="1152" y="384"/>
                  </a:lnTo>
                  <a:lnTo>
                    <a:pt x="1344" y="384"/>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25" name="Rectangle 20"/>
            <p:cNvSpPr>
              <a:spLocks noChangeArrowheads="1"/>
            </p:cNvSpPr>
            <p:nvPr/>
          </p:nvSpPr>
          <p:spPr bwMode="auto">
            <a:xfrm>
              <a:off x="2736" y="3168"/>
              <a:ext cx="768" cy="192"/>
            </a:xfrm>
            <a:prstGeom prst="rect">
              <a:avLst/>
            </a:prstGeom>
            <a:solidFill>
              <a:srgbClr val="00CCFF">
                <a:alpha val="50195"/>
              </a:srgbClr>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55326" name="Rectangle 21"/>
            <p:cNvSpPr>
              <a:spLocks noChangeArrowheads="1"/>
            </p:cNvSpPr>
            <p:nvPr/>
          </p:nvSpPr>
          <p:spPr bwMode="auto">
            <a:xfrm>
              <a:off x="3504" y="3168"/>
              <a:ext cx="768" cy="192"/>
            </a:xfrm>
            <a:prstGeom prst="rect">
              <a:avLst/>
            </a:prstGeom>
            <a:solidFill>
              <a:srgbClr val="00CCFF">
                <a:alpha val="50195"/>
              </a:srgbClr>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55303" name="Text Box 22"/>
          <p:cNvSpPr txBox="1">
            <a:spLocks noChangeArrowheads="1"/>
          </p:cNvSpPr>
          <p:nvPr/>
        </p:nvSpPr>
        <p:spPr bwMode="auto">
          <a:xfrm>
            <a:off x="6981825" y="1419225"/>
            <a:ext cx="11017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Giá trị tức thời</a:t>
            </a:r>
            <a:endParaRPr lang="ko-KR" altLang="en-US">
              <a:latin typeface="Times New Roman" pitchFamily="18" charset="0"/>
              <a:cs typeface="Times New Roman" pitchFamily="18" charset="0"/>
            </a:endParaRPr>
          </a:p>
        </p:txBody>
      </p:sp>
      <p:sp>
        <p:nvSpPr>
          <p:cNvPr id="55304" name="Text Box 23"/>
          <p:cNvSpPr txBox="1">
            <a:spLocks noChangeArrowheads="1"/>
          </p:cNvSpPr>
          <p:nvPr/>
        </p:nvSpPr>
        <p:spPr bwMode="auto">
          <a:xfrm>
            <a:off x="7181850" y="1798638"/>
            <a:ext cx="12604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Giá trị trung bình</a:t>
            </a:r>
            <a:endParaRPr lang="ko-KR" altLang="en-US">
              <a:latin typeface="Times New Roman" pitchFamily="18" charset="0"/>
              <a:cs typeface="Times New Roman" pitchFamily="18" charset="0"/>
            </a:endParaRPr>
          </a:p>
        </p:txBody>
      </p:sp>
      <p:sp>
        <p:nvSpPr>
          <p:cNvPr id="55305" name="Freeform 24"/>
          <p:cNvSpPr>
            <a:spLocks/>
          </p:cNvSpPr>
          <p:nvPr/>
        </p:nvSpPr>
        <p:spPr bwMode="auto">
          <a:xfrm>
            <a:off x="6540500" y="1663700"/>
            <a:ext cx="1066800" cy="304800"/>
          </a:xfrm>
          <a:custGeom>
            <a:avLst/>
            <a:gdLst>
              <a:gd name="T0" fmla="*/ 0 w 672"/>
              <a:gd name="T1" fmla="*/ 2147483647 h 192"/>
              <a:gd name="T2" fmla="*/ 2147483647 w 672"/>
              <a:gd name="T3" fmla="*/ 0 h 192"/>
              <a:gd name="T4" fmla="*/ 2147483647 w 672"/>
              <a:gd name="T5" fmla="*/ 0 h 192"/>
              <a:gd name="T6" fmla="*/ 0 60000 65536"/>
              <a:gd name="T7" fmla="*/ 0 60000 65536"/>
              <a:gd name="T8" fmla="*/ 0 60000 65536"/>
            </a:gdLst>
            <a:ahLst/>
            <a:cxnLst>
              <a:cxn ang="T6">
                <a:pos x="T0" y="T1"/>
              </a:cxn>
              <a:cxn ang="T7">
                <a:pos x="T2" y="T3"/>
              </a:cxn>
              <a:cxn ang="T8">
                <a:pos x="T4" y="T5"/>
              </a:cxn>
            </a:cxnLst>
            <a:rect l="0" t="0" r="r" b="b"/>
            <a:pathLst>
              <a:path w="672" h="192">
                <a:moveTo>
                  <a:pt x="0" y="192"/>
                </a:moveTo>
                <a:lnTo>
                  <a:pt x="288" y="0"/>
                </a:lnTo>
                <a:lnTo>
                  <a:pt x="672" y="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06" name="Freeform 25"/>
          <p:cNvSpPr>
            <a:spLocks/>
          </p:cNvSpPr>
          <p:nvPr/>
        </p:nvSpPr>
        <p:spPr bwMode="auto">
          <a:xfrm>
            <a:off x="6769100" y="2044700"/>
            <a:ext cx="1066800" cy="381000"/>
          </a:xfrm>
          <a:custGeom>
            <a:avLst/>
            <a:gdLst>
              <a:gd name="T0" fmla="*/ 0 w 672"/>
              <a:gd name="T1" fmla="*/ 2147483647 h 240"/>
              <a:gd name="T2" fmla="*/ 2147483647 w 672"/>
              <a:gd name="T3" fmla="*/ 0 h 240"/>
              <a:gd name="T4" fmla="*/ 2147483647 w 672"/>
              <a:gd name="T5" fmla="*/ 0 h 240"/>
              <a:gd name="T6" fmla="*/ 0 60000 65536"/>
              <a:gd name="T7" fmla="*/ 0 60000 65536"/>
              <a:gd name="T8" fmla="*/ 0 60000 65536"/>
            </a:gdLst>
            <a:ahLst/>
            <a:cxnLst>
              <a:cxn ang="T6">
                <a:pos x="T0" y="T1"/>
              </a:cxn>
              <a:cxn ang="T7">
                <a:pos x="T2" y="T3"/>
              </a:cxn>
              <a:cxn ang="T8">
                <a:pos x="T4" y="T5"/>
              </a:cxn>
            </a:cxnLst>
            <a:rect l="0" t="0" r="r" b="b"/>
            <a:pathLst>
              <a:path w="672" h="240">
                <a:moveTo>
                  <a:pt x="0" y="240"/>
                </a:moveTo>
                <a:lnTo>
                  <a:pt x="288" y="0"/>
                </a:lnTo>
                <a:lnTo>
                  <a:pt x="672" y="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5307" name="Text Box 26"/>
          <p:cNvSpPr txBox="1">
            <a:spLocks noChangeArrowheads="1"/>
          </p:cNvSpPr>
          <p:nvPr/>
        </p:nvSpPr>
        <p:spPr bwMode="auto">
          <a:xfrm>
            <a:off x="4483100" y="1211263"/>
            <a:ext cx="6127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Độ lớn</a:t>
            </a:r>
            <a:endParaRPr lang="ko-KR" altLang="en-US">
              <a:latin typeface="Times New Roman" pitchFamily="18" charset="0"/>
              <a:cs typeface="Times New Roman" pitchFamily="18" charset="0"/>
            </a:endParaRPr>
          </a:p>
        </p:txBody>
      </p:sp>
      <p:sp>
        <p:nvSpPr>
          <p:cNvPr id="55308" name="Text Box 27"/>
          <p:cNvSpPr txBox="1">
            <a:spLocks noChangeArrowheads="1"/>
          </p:cNvSpPr>
          <p:nvPr/>
        </p:nvSpPr>
        <p:spPr bwMode="auto">
          <a:xfrm>
            <a:off x="7073900" y="2425700"/>
            <a:ext cx="7858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Thời gian</a:t>
            </a:r>
            <a:endParaRPr lang="ko-KR" altLang="en-US">
              <a:latin typeface="Times New Roman" pitchFamily="18" charset="0"/>
              <a:cs typeface="Times New Roman" pitchFamily="18" charset="0"/>
            </a:endParaRPr>
          </a:p>
        </p:txBody>
      </p:sp>
      <p:pic>
        <p:nvPicPr>
          <p:cNvPr id="55309" name="Picture 51" descr="fig01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463" y="4292600"/>
            <a:ext cx="3692525"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0" name="Picture 5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988" y="4200525"/>
            <a:ext cx="29559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BC8695C-2B4E-4D4B-90C6-B684C25448DF}" type="slidenum">
              <a:rPr lang="en-US" altLang="ko-KR" sz="1400" smtClean="0">
                <a:latin typeface="Times New Roman" pitchFamily="18" charset="0"/>
                <a:cs typeface="Times New Roman" pitchFamily="18" charset="0"/>
              </a:rPr>
              <a:pPr eaLnBrk="1" hangingPunct="1"/>
              <a:t>50</a:t>
            </a:fld>
            <a:endParaRPr lang="en-US" altLang="ko-KR" sz="1400" smtClean="0">
              <a:latin typeface="Times New Roman" pitchFamily="18" charset="0"/>
              <a:cs typeface="Times New Roman" pitchFamily="18" charset="0"/>
            </a:endParaRPr>
          </a:p>
        </p:txBody>
      </p:sp>
      <p:sp>
        <p:nvSpPr>
          <p:cNvPr id="5632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632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7</a:t>
            </a:r>
            <a:r>
              <a:rPr lang="en-US" altLang="en-US" b="1">
                <a:latin typeface="Times New Roman" pitchFamily="18" charset="0"/>
                <a:cs typeface="Times New Roman" pitchFamily="18" charset="0"/>
              </a:rPr>
              <a:t>) Giải mã sóng pha</a:t>
            </a:r>
          </a:p>
        </p:txBody>
      </p:sp>
      <p:sp>
        <p:nvSpPr>
          <p:cNvPr id="56325"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sp>
        <p:nvSpPr>
          <p:cNvPr id="56326" name="Rectangle 5"/>
          <p:cNvSpPr>
            <a:spLocks noChangeArrowheads="1"/>
          </p:cNvSpPr>
          <p:nvPr/>
        </p:nvSpPr>
        <p:spPr bwMode="auto">
          <a:xfrm>
            <a:off x="4587875"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27" name="Rectangle 6"/>
          <p:cNvSpPr>
            <a:spLocks noChangeArrowheads="1"/>
          </p:cNvSpPr>
          <p:nvPr/>
        </p:nvSpPr>
        <p:spPr bwMode="auto">
          <a:xfrm>
            <a:off x="4221163" y="40290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28" name="Rectangle 7"/>
          <p:cNvSpPr>
            <a:spLocks noChangeArrowheads="1"/>
          </p:cNvSpPr>
          <p:nvPr/>
        </p:nvSpPr>
        <p:spPr bwMode="auto">
          <a:xfrm>
            <a:off x="3856038"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29" name="Rectangle 8"/>
          <p:cNvSpPr>
            <a:spLocks noChangeArrowheads="1"/>
          </p:cNvSpPr>
          <p:nvPr/>
        </p:nvSpPr>
        <p:spPr bwMode="auto">
          <a:xfrm>
            <a:off x="3489325" y="40290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0" name="Rectangle 9"/>
          <p:cNvSpPr>
            <a:spLocks noChangeArrowheads="1"/>
          </p:cNvSpPr>
          <p:nvPr/>
        </p:nvSpPr>
        <p:spPr bwMode="auto">
          <a:xfrm>
            <a:off x="3124200"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1" name="Rectangle 10"/>
          <p:cNvSpPr>
            <a:spLocks noChangeArrowheads="1"/>
          </p:cNvSpPr>
          <p:nvPr/>
        </p:nvSpPr>
        <p:spPr bwMode="auto">
          <a:xfrm>
            <a:off x="2759075"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2" name="Rectangle 11"/>
          <p:cNvSpPr>
            <a:spLocks noChangeArrowheads="1"/>
          </p:cNvSpPr>
          <p:nvPr/>
        </p:nvSpPr>
        <p:spPr bwMode="auto">
          <a:xfrm>
            <a:off x="2392363" y="40290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3" name="Rectangle 12"/>
          <p:cNvSpPr>
            <a:spLocks noChangeArrowheads="1"/>
          </p:cNvSpPr>
          <p:nvPr/>
        </p:nvSpPr>
        <p:spPr bwMode="auto">
          <a:xfrm>
            <a:off x="2027238"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4" name="Rectangle 13"/>
          <p:cNvSpPr>
            <a:spLocks noChangeArrowheads="1"/>
          </p:cNvSpPr>
          <p:nvPr/>
        </p:nvSpPr>
        <p:spPr bwMode="auto">
          <a:xfrm>
            <a:off x="1660525" y="40290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5" name="Rectangle 14"/>
          <p:cNvSpPr>
            <a:spLocks noChangeArrowheads="1"/>
          </p:cNvSpPr>
          <p:nvPr/>
        </p:nvSpPr>
        <p:spPr bwMode="auto">
          <a:xfrm>
            <a:off x="1295400" y="4029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6" name="Rectangle 15"/>
          <p:cNvSpPr>
            <a:spLocks noChangeArrowheads="1"/>
          </p:cNvSpPr>
          <p:nvPr/>
        </p:nvSpPr>
        <p:spPr bwMode="auto">
          <a:xfrm>
            <a:off x="4587875"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7" name="Rectangle 16"/>
          <p:cNvSpPr>
            <a:spLocks noChangeArrowheads="1"/>
          </p:cNvSpPr>
          <p:nvPr/>
        </p:nvSpPr>
        <p:spPr bwMode="auto">
          <a:xfrm>
            <a:off x="4221163" y="36798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8" name="Rectangle 17"/>
          <p:cNvSpPr>
            <a:spLocks noChangeArrowheads="1"/>
          </p:cNvSpPr>
          <p:nvPr/>
        </p:nvSpPr>
        <p:spPr bwMode="auto">
          <a:xfrm>
            <a:off x="3856038"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39" name="Rectangle 18"/>
          <p:cNvSpPr>
            <a:spLocks noChangeArrowheads="1"/>
          </p:cNvSpPr>
          <p:nvPr/>
        </p:nvSpPr>
        <p:spPr bwMode="auto">
          <a:xfrm>
            <a:off x="3489325" y="36798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0" name="Rectangle 19"/>
          <p:cNvSpPr>
            <a:spLocks noChangeArrowheads="1"/>
          </p:cNvSpPr>
          <p:nvPr/>
        </p:nvSpPr>
        <p:spPr bwMode="auto">
          <a:xfrm>
            <a:off x="3124200"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1" name="Rectangle 20"/>
          <p:cNvSpPr>
            <a:spLocks noChangeArrowheads="1"/>
          </p:cNvSpPr>
          <p:nvPr/>
        </p:nvSpPr>
        <p:spPr bwMode="auto">
          <a:xfrm>
            <a:off x="2759075"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2" name="Rectangle 21"/>
          <p:cNvSpPr>
            <a:spLocks noChangeArrowheads="1"/>
          </p:cNvSpPr>
          <p:nvPr/>
        </p:nvSpPr>
        <p:spPr bwMode="auto">
          <a:xfrm>
            <a:off x="2392363" y="36798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3" name="Rectangle 22"/>
          <p:cNvSpPr>
            <a:spLocks noChangeArrowheads="1"/>
          </p:cNvSpPr>
          <p:nvPr/>
        </p:nvSpPr>
        <p:spPr bwMode="auto">
          <a:xfrm>
            <a:off x="2027238"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4" name="Rectangle 23"/>
          <p:cNvSpPr>
            <a:spLocks noChangeArrowheads="1"/>
          </p:cNvSpPr>
          <p:nvPr/>
        </p:nvSpPr>
        <p:spPr bwMode="auto">
          <a:xfrm>
            <a:off x="1660525" y="36798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5" name="Rectangle 24"/>
          <p:cNvSpPr>
            <a:spLocks noChangeArrowheads="1"/>
          </p:cNvSpPr>
          <p:nvPr/>
        </p:nvSpPr>
        <p:spPr bwMode="auto">
          <a:xfrm>
            <a:off x="1295400" y="3679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6" name="Rectangle 25"/>
          <p:cNvSpPr>
            <a:spLocks noChangeArrowheads="1"/>
          </p:cNvSpPr>
          <p:nvPr/>
        </p:nvSpPr>
        <p:spPr bwMode="auto">
          <a:xfrm>
            <a:off x="4587875"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7" name="Rectangle 26"/>
          <p:cNvSpPr>
            <a:spLocks noChangeArrowheads="1"/>
          </p:cNvSpPr>
          <p:nvPr/>
        </p:nvSpPr>
        <p:spPr bwMode="auto">
          <a:xfrm>
            <a:off x="4221163" y="33305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8" name="Rectangle 27"/>
          <p:cNvSpPr>
            <a:spLocks noChangeArrowheads="1"/>
          </p:cNvSpPr>
          <p:nvPr/>
        </p:nvSpPr>
        <p:spPr bwMode="auto">
          <a:xfrm>
            <a:off x="3856038"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49" name="Rectangle 28"/>
          <p:cNvSpPr>
            <a:spLocks noChangeArrowheads="1"/>
          </p:cNvSpPr>
          <p:nvPr/>
        </p:nvSpPr>
        <p:spPr bwMode="auto">
          <a:xfrm>
            <a:off x="3489325" y="33305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0" name="Rectangle 29"/>
          <p:cNvSpPr>
            <a:spLocks noChangeArrowheads="1"/>
          </p:cNvSpPr>
          <p:nvPr/>
        </p:nvSpPr>
        <p:spPr bwMode="auto">
          <a:xfrm>
            <a:off x="3124200"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1" name="Rectangle 30"/>
          <p:cNvSpPr>
            <a:spLocks noChangeArrowheads="1"/>
          </p:cNvSpPr>
          <p:nvPr/>
        </p:nvSpPr>
        <p:spPr bwMode="auto">
          <a:xfrm>
            <a:off x="2759075"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2" name="Rectangle 31"/>
          <p:cNvSpPr>
            <a:spLocks noChangeArrowheads="1"/>
          </p:cNvSpPr>
          <p:nvPr/>
        </p:nvSpPr>
        <p:spPr bwMode="auto">
          <a:xfrm>
            <a:off x="2392363" y="33305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3" name="Rectangle 32"/>
          <p:cNvSpPr>
            <a:spLocks noChangeArrowheads="1"/>
          </p:cNvSpPr>
          <p:nvPr/>
        </p:nvSpPr>
        <p:spPr bwMode="auto">
          <a:xfrm>
            <a:off x="2027238"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4" name="Rectangle 33"/>
          <p:cNvSpPr>
            <a:spLocks noChangeArrowheads="1"/>
          </p:cNvSpPr>
          <p:nvPr/>
        </p:nvSpPr>
        <p:spPr bwMode="auto">
          <a:xfrm>
            <a:off x="1660525" y="33305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5" name="Rectangle 34"/>
          <p:cNvSpPr>
            <a:spLocks noChangeArrowheads="1"/>
          </p:cNvSpPr>
          <p:nvPr/>
        </p:nvSpPr>
        <p:spPr bwMode="auto">
          <a:xfrm>
            <a:off x="1295400" y="3330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6" name="Rectangle 35"/>
          <p:cNvSpPr>
            <a:spLocks noChangeArrowheads="1"/>
          </p:cNvSpPr>
          <p:nvPr/>
        </p:nvSpPr>
        <p:spPr bwMode="auto">
          <a:xfrm>
            <a:off x="4587875"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7" name="Rectangle 36"/>
          <p:cNvSpPr>
            <a:spLocks noChangeArrowheads="1"/>
          </p:cNvSpPr>
          <p:nvPr/>
        </p:nvSpPr>
        <p:spPr bwMode="auto">
          <a:xfrm>
            <a:off x="4221163" y="29813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8" name="Rectangle 37"/>
          <p:cNvSpPr>
            <a:spLocks noChangeArrowheads="1"/>
          </p:cNvSpPr>
          <p:nvPr/>
        </p:nvSpPr>
        <p:spPr bwMode="auto">
          <a:xfrm>
            <a:off x="3856038"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59" name="Rectangle 38"/>
          <p:cNvSpPr>
            <a:spLocks noChangeArrowheads="1"/>
          </p:cNvSpPr>
          <p:nvPr/>
        </p:nvSpPr>
        <p:spPr bwMode="auto">
          <a:xfrm>
            <a:off x="3489325" y="29813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0" name="Rectangle 39"/>
          <p:cNvSpPr>
            <a:spLocks noChangeArrowheads="1"/>
          </p:cNvSpPr>
          <p:nvPr/>
        </p:nvSpPr>
        <p:spPr bwMode="auto">
          <a:xfrm>
            <a:off x="3124200"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1" name="Rectangle 40"/>
          <p:cNvSpPr>
            <a:spLocks noChangeArrowheads="1"/>
          </p:cNvSpPr>
          <p:nvPr/>
        </p:nvSpPr>
        <p:spPr bwMode="auto">
          <a:xfrm>
            <a:off x="2759075"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2" name="Rectangle 41"/>
          <p:cNvSpPr>
            <a:spLocks noChangeArrowheads="1"/>
          </p:cNvSpPr>
          <p:nvPr/>
        </p:nvSpPr>
        <p:spPr bwMode="auto">
          <a:xfrm>
            <a:off x="2392363" y="29813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3" name="Rectangle 42"/>
          <p:cNvSpPr>
            <a:spLocks noChangeArrowheads="1"/>
          </p:cNvSpPr>
          <p:nvPr/>
        </p:nvSpPr>
        <p:spPr bwMode="auto">
          <a:xfrm>
            <a:off x="2027238"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4" name="Rectangle 43"/>
          <p:cNvSpPr>
            <a:spLocks noChangeArrowheads="1"/>
          </p:cNvSpPr>
          <p:nvPr/>
        </p:nvSpPr>
        <p:spPr bwMode="auto">
          <a:xfrm>
            <a:off x="1660525" y="29813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5" name="Rectangle 44"/>
          <p:cNvSpPr>
            <a:spLocks noChangeArrowheads="1"/>
          </p:cNvSpPr>
          <p:nvPr/>
        </p:nvSpPr>
        <p:spPr bwMode="auto">
          <a:xfrm>
            <a:off x="1295400" y="2981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6" name="Rectangle 45"/>
          <p:cNvSpPr>
            <a:spLocks noChangeArrowheads="1"/>
          </p:cNvSpPr>
          <p:nvPr/>
        </p:nvSpPr>
        <p:spPr bwMode="auto">
          <a:xfrm>
            <a:off x="4587875"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7" name="Rectangle 46"/>
          <p:cNvSpPr>
            <a:spLocks noChangeArrowheads="1"/>
          </p:cNvSpPr>
          <p:nvPr/>
        </p:nvSpPr>
        <p:spPr bwMode="auto">
          <a:xfrm>
            <a:off x="4221163" y="26320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8" name="Rectangle 47"/>
          <p:cNvSpPr>
            <a:spLocks noChangeArrowheads="1"/>
          </p:cNvSpPr>
          <p:nvPr/>
        </p:nvSpPr>
        <p:spPr bwMode="auto">
          <a:xfrm>
            <a:off x="3856038"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69" name="Rectangle 48"/>
          <p:cNvSpPr>
            <a:spLocks noChangeArrowheads="1"/>
          </p:cNvSpPr>
          <p:nvPr/>
        </p:nvSpPr>
        <p:spPr bwMode="auto">
          <a:xfrm>
            <a:off x="3489325" y="26320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0" name="Rectangle 49"/>
          <p:cNvSpPr>
            <a:spLocks noChangeArrowheads="1"/>
          </p:cNvSpPr>
          <p:nvPr/>
        </p:nvSpPr>
        <p:spPr bwMode="auto">
          <a:xfrm>
            <a:off x="3124200"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1" name="Rectangle 50"/>
          <p:cNvSpPr>
            <a:spLocks noChangeArrowheads="1"/>
          </p:cNvSpPr>
          <p:nvPr/>
        </p:nvSpPr>
        <p:spPr bwMode="auto">
          <a:xfrm>
            <a:off x="2759075"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2" name="Rectangle 51"/>
          <p:cNvSpPr>
            <a:spLocks noChangeArrowheads="1"/>
          </p:cNvSpPr>
          <p:nvPr/>
        </p:nvSpPr>
        <p:spPr bwMode="auto">
          <a:xfrm>
            <a:off x="2392363" y="26320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3" name="Rectangle 52"/>
          <p:cNvSpPr>
            <a:spLocks noChangeArrowheads="1"/>
          </p:cNvSpPr>
          <p:nvPr/>
        </p:nvSpPr>
        <p:spPr bwMode="auto">
          <a:xfrm>
            <a:off x="2027238"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4" name="Rectangle 53"/>
          <p:cNvSpPr>
            <a:spLocks noChangeArrowheads="1"/>
          </p:cNvSpPr>
          <p:nvPr/>
        </p:nvSpPr>
        <p:spPr bwMode="auto">
          <a:xfrm>
            <a:off x="1660525" y="26320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5" name="Rectangle 54"/>
          <p:cNvSpPr>
            <a:spLocks noChangeArrowheads="1"/>
          </p:cNvSpPr>
          <p:nvPr/>
        </p:nvSpPr>
        <p:spPr bwMode="auto">
          <a:xfrm>
            <a:off x="1295400" y="26320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6" name="Rectangle 55"/>
          <p:cNvSpPr>
            <a:spLocks noChangeArrowheads="1"/>
          </p:cNvSpPr>
          <p:nvPr/>
        </p:nvSpPr>
        <p:spPr bwMode="auto">
          <a:xfrm>
            <a:off x="4587875"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7" name="Rectangle 56"/>
          <p:cNvSpPr>
            <a:spLocks noChangeArrowheads="1"/>
          </p:cNvSpPr>
          <p:nvPr/>
        </p:nvSpPr>
        <p:spPr bwMode="auto">
          <a:xfrm>
            <a:off x="4221163" y="22828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8" name="Rectangle 57"/>
          <p:cNvSpPr>
            <a:spLocks noChangeArrowheads="1"/>
          </p:cNvSpPr>
          <p:nvPr/>
        </p:nvSpPr>
        <p:spPr bwMode="auto">
          <a:xfrm>
            <a:off x="3856038"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79" name="Rectangle 58"/>
          <p:cNvSpPr>
            <a:spLocks noChangeArrowheads="1"/>
          </p:cNvSpPr>
          <p:nvPr/>
        </p:nvSpPr>
        <p:spPr bwMode="auto">
          <a:xfrm>
            <a:off x="3489325" y="22828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0" name="Rectangle 59"/>
          <p:cNvSpPr>
            <a:spLocks noChangeArrowheads="1"/>
          </p:cNvSpPr>
          <p:nvPr/>
        </p:nvSpPr>
        <p:spPr bwMode="auto">
          <a:xfrm>
            <a:off x="3124200"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1" name="Rectangle 60"/>
          <p:cNvSpPr>
            <a:spLocks noChangeArrowheads="1"/>
          </p:cNvSpPr>
          <p:nvPr/>
        </p:nvSpPr>
        <p:spPr bwMode="auto">
          <a:xfrm>
            <a:off x="2759075"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2" name="Rectangle 61"/>
          <p:cNvSpPr>
            <a:spLocks noChangeArrowheads="1"/>
          </p:cNvSpPr>
          <p:nvPr/>
        </p:nvSpPr>
        <p:spPr bwMode="auto">
          <a:xfrm>
            <a:off x="2392363" y="22828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3" name="Rectangle 62"/>
          <p:cNvSpPr>
            <a:spLocks noChangeArrowheads="1"/>
          </p:cNvSpPr>
          <p:nvPr/>
        </p:nvSpPr>
        <p:spPr bwMode="auto">
          <a:xfrm>
            <a:off x="2027238"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4" name="Rectangle 63"/>
          <p:cNvSpPr>
            <a:spLocks noChangeArrowheads="1"/>
          </p:cNvSpPr>
          <p:nvPr/>
        </p:nvSpPr>
        <p:spPr bwMode="auto">
          <a:xfrm>
            <a:off x="1660525" y="22828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5" name="Rectangle 64"/>
          <p:cNvSpPr>
            <a:spLocks noChangeArrowheads="1"/>
          </p:cNvSpPr>
          <p:nvPr/>
        </p:nvSpPr>
        <p:spPr bwMode="auto">
          <a:xfrm>
            <a:off x="1295400" y="22828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6" name="Rectangle 65"/>
          <p:cNvSpPr>
            <a:spLocks noChangeArrowheads="1"/>
          </p:cNvSpPr>
          <p:nvPr/>
        </p:nvSpPr>
        <p:spPr bwMode="auto">
          <a:xfrm>
            <a:off x="4587875"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7" name="Rectangle 66"/>
          <p:cNvSpPr>
            <a:spLocks noChangeArrowheads="1"/>
          </p:cNvSpPr>
          <p:nvPr/>
        </p:nvSpPr>
        <p:spPr bwMode="auto">
          <a:xfrm>
            <a:off x="4221163" y="19335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8" name="Rectangle 67"/>
          <p:cNvSpPr>
            <a:spLocks noChangeArrowheads="1"/>
          </p:cNvSpPr>
          <p:nvPr/>
        </p:nvSpPr>
        <p:spPr bwMode="auto">
          <a:xfrm>
            <a:off x="3856038"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89" name="Rectangle 68"/>
          <p:cNvSpPr>
            <a:spLocks noChangeArrowheads="1"/>
          </p:cNvSpPr>
          <p:nvPr/>
        </p:nvSpPr>
        <p:spPr bwMode="auto">
          <a:xfrm>
            <a:off x="3489325" y="19335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0" name="Rectangle 69"/>
          <p:cNvSpPr>
            <a:spLocks noChangeArrowheads="1"/>
          </p:cNvSpPr>
          <p:nvPr/>
        </p:nvSpPr>
        <p:spPr bwMode="auto">
          <a:xfrm>
            <a:off x="3124200"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1" name="Rectangle 70"/>
          <p:cNvSpPr>
            <a:spLocks noChangeArrowheads="1"/>
          </p:cNvSpPr>
          <p:nvPr/>
        </p:nvSpPr>
        <p:spPr bwMode="auto">
          <a:xfrm>
            <a:off x="2759075"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2" name="Rectangle 71"/>
          <p:cNvSpPr>
            <a:spLocks noChangeArrowheads="1"/>
          </p:cNvSpPr>
          <p:nvPr/>
        </p:nvSpPr>
        <p:spPr bwMode="auto">
          <a:xfrm>
            <a:off x="2392363" y="193357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3" name="Rectangle 72"/>
          <p:cNvSpPr>
            <a:spLocks noChangeArrowheads="1"/>
          </p:cNvSpPr>
          <p:nvPr/>
        </p:nvSpPr>
        <p:spPr bwMode="auto">
          <a:xfrm>
            <a:off x="2027238"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4" name="Rectangle 73"/>
          <p:cNvSpPr>
            <a:spLocks noChangeArrowheads="1"/>
          </p:cNvSpPr>
          <p:nvPr/>
        </p:nvSpPr>
        <p:spPr bwMode="auto">
          <a:xfrm>
            <a:off x="1660525" y="193357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5" name="Rectangle 74"/>
          <p:cNvSpPr>
            <a:spLocks noChangeArrowheads="1"/>
          </p:cNvSpPr>
          <p:nvPr/>
        </p:nvSpPr>
        <p:spPr bwMode="auto">
          <a:xfrm>
            <a:off x="1295400" y="193357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6" name="Rectangle 75"/>
          <p:cNvSpPr>
            <a:spLocks noChangeArrowheads="1"/>
          </p:cNvSpPr>
          <p:nvPr/>
        </p:nvSpPr>
        <p:spPr bwMode="auto">
          <a:xfrm>
            <a:off x="4587875"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7" name="Rectangle 76"/>
          <p:cNvSpPr>
            <a:spLocks noChangeArrowheads="1"/>
          </p:cNvSpPr>
          <p:nvPr/>
        </p:nvSpPr>
        <p:spPr bwMode="auto">
          <a:xfrm>
            <a:off x="4221163" y="15843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8" name="Rectangle 77"/>
          <p:cNvSpPr>
            <a:spLocks noChangeArrowheads="1"/>
          </p:cNvSpPr>
          <p:nvPr/>
        </p:nvSpPr>
        <p:spPr bwMode="auto">
          <a:xfrm>
            <a:off x="3856038"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399" name="Rectangle 78"/>
          <p:cNvSpPr>
            <a:spLocks noChangeArrowheads="1"/>
          </p:cNvSpPr>
          <p:nvPr/>
        </p:nvSpPr>
        <p:spPr bwMode="auto">
          <a:xfrm>
            <a:off x="3489325" y="15843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0" name="Rectangle 79"/>
          <p:cNvSpPr>
            <a:spLocks noChangeArrowheads="1"/>
          </p:cNvSpPr>
          <p:nvPr/>
        </p:nvSpPr>
        <p:spPr bwMode="auto">
          <a:xfrm>
            <a:off x="3124200"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1" name="Rectangle 80"/>
          <p:cNvSpPr>
            <a:spLocks noChangeArrowheads="1"/>
          </p:cNvSpPr>
          <p:nvPr/>
        </p:nvSpPr>
        <p:spPr bwMode="auto">
          <a:xfrm>
            <a:off x="2759075"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2" name="Rectangle 81"/>
          <p:cNvSpPr>
            <a:spLocks noChangeArrowheads="1"/>
          </p:cNvSpPr>
          <p:nvPr/>
        </p:nvSpPr>
        <p:spPr bwMode="auto">
          <a:xfrm>
            <a:off x="2392363" y="1584325"/>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3" name="Rectangle 82"/>
          <p:cNvSpPr>
            <a:spLocks noChangeArrowheads="1"/>
          </p:cNvSpPr>
          <p:nvPr/>
        </p:nvSpPr>
        <p:spPr bwMode="auto">
          <a:xfrm>
            <a:off x="2027238"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4" name="Rectangle 83"/>
          <p:cNvSpPr>
            <a:spLocks noChangeArrowheads="1"/>
          </p:cNvSpPr>
          <p:nvPr/>
        </p:nvSpPr>
        <p:spPr bwMode="auto">
          <a:xfrm>
            <a:off x="1660525" y="1584325"/>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5" name="Rectangle 84"/>
          <p:cNvSpPr>
            <a:spLocks noChangeArrowheads="1"/>
          </p:cNvSpPr>
          <p:nvPr/>
        </p:nvSpPr>
        <p:spPr bwMode="auto">
          <a:xfrm>
            <a:off x="1295400" y="1584325"/>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spcBef>
                <a:spcPct val="20000"/>
              </a:spcBef>
            </a:pPr>
            <a:endParaRPr lang="ko-KR" altLang="ko-KR" sz="900">
              <a:latin typeface="Times New Roman" pitchFamily="18" charset="0"/>
              <a:cs typeface="Times New Roman" pitchFamily="18" charset="0"/>
            </a:endParaRPr>
          </a:p>
        </p:txBody>
      </p:sp>
      <p:sp>
        <p:nvSpPr>
          <p:cNvPr id="56406" name="Line 85"/>
          <p:cNvSpPr>
            <a:spLocks noChangeShapeType="1"/>
          </p:cNvSpPr>
          <p:nvPr/>
        </p:nvSpPr>
        <p:spPr bwMode="auto">
          <a:xfrm>
            <a:off x="1295400" y="1584325"/>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07" name="Line 86"/>
          <p:cNvSpPr>
            <a:spLocks noChangeShapeType="1"/>
          </p:cNvSpPr>
          <p:nvPr/>
        </p:nvSpPr>
        <p:spPr bwMode="auto">
          <a:xfrm>
            <a:off x="1295400" y="1933575"/>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08" name="Line 87"/>
          <p:cNvSpPr>
            <a:spLocks noChangeShapeType="1"/>
          </p:cNvSpPr>
          <p:nvPr/>
        </p:nvSpPr>
        <p:spPr bwMode="auto">
          <a:xfrm>
            <a:off x="1295400" y="2282825"/>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09" name="Line 88"/>
          <p:cNvSpPr>
            <a:spLocks noChangeShapeType="1"/>
          </p:cNvSpPr>
          <p:nvPr/>
        </p:nvSpPr>
        <p:spPr bwMode="auto">
          <a:xfrm>
            <a:off x="1295400" y="2981325"/>
            <a:ext cx="3657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0" name="Line 89"/>
          <p:cNvSpPr>
            <a:spLocks noChangeShapeType="1"/>
          </p:cNvSpPr>
          <p:nvPr/>
        </p:nvSpPr>
        <p:spPr bwMode="auto">
          <a:xfrm>
            <a:off x="1295400" y="3679825"/>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1" name="Line 90"/>
          <p:cNvSpPr>
            <a:spLocks noChangeShapeType="1"/>
          </p:cNvSpPr>
          <p:nvPr/>
        </p:nvSpPr>
        <p:spPr bwMode="auto">
          <a:xfrm>
            <a:off x="1295400" y="4029075"/>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2" name="Line 91"/>
          <p:cNvSpPr>
            <a:spLocks noChangeShapeType="1"/>
          </p:cNvSpPr>
          <p:nvPr/>
        </p:nvSpPr>
        <p:spPr bwMode="auto">
          <a:xfrm>
            <a:off x="1295400" y="4378325"/>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3" name="Line 92"/>
          <p:cNvSpPr>
            <a:spLocks noChangeShapeType="1"/>
          </p:cNvSpPr>
          <p:nvPr/>
        </p:nvSpPr>
        <p:spPr bwMode="auto">
          <a:xfrm>
            <a:off x="1295400" y="1584325"/>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4" name="Line 93"/>
          <p:cNvSpPr>
            <a:spLocks noChangeShapeType="1"/>
          </p:cNvSpPr>
          <p:nvPr/>
        </p:nvSpPr>
        <p:spPr bwMode="auto">
          <a:xfrm>
            <a:off x="1660525"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5" name="Line 94"/>
          <p:cNvSpPr>
            <a:spLocks noChangeShapeType="1"/>
          </p:cNvSpPr>
          <p:nvPr/>
        </p:nvSpPr>
        <p:spPr bwMode="auto">
          <a:xfrm>
            <a:off x="2027238"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6" name="Line 95"/>
          <p:cNvSpPr>
            <a:spLocks noChangeShapeType="1"/>
          </p:cNvSpPr>
          <p:nvPr/>
        </p:nvSpPr>
        <p:spPr bwMode="auto">
          <a:xfrm>
            <a:off x="2392363"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7" name="Line 96"/>
          <p:cNvSpPr>
            <a:spLocks noChangeShapeType="1"/>
          </p:cNvSpPr>
          <p:nvPr/>
        </p:nvSpPr>
        <p:spPr bwMode="auto">
          <a:xfrm>
            <a:off x="3124200" y="1584325"/>
            <a:ext cx="0" cy="2794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8" name="Line 97"/>
          <p:cNvSpPr>
            <a:spLocks noChangeShapeType="1"/>
          </p:cNvSpPr>
          <p:nvPr/>
        </p:nvSpPr>
        <p:spPr bwMode="auto">
          <a:xfrm>
            <a:off x="3856038"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19" name="Line 98"/>
          <p:cNvSpPr>
            <a:spLocks noChangeShapeType="1"/>
          </p:cNvSpPr>
          <p:nvPr/>
        </p:nvSpPr>
        <p:spPr bwMode="auto">
          <a:xfrm>
            <a:off x="4221163"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0" name="Line 99"/>
          <p:cNvSpPr>
            <a:spLocks noChangeShapeType="1"/>
          </p:cNvSpPr>
          <p:nvPr/>
        </p:nvSpPr>
        <p:spPr bwMode="auto">
          <a:xfrm>
            <a:off x="4587875" y="1584325"/>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1" name="Line 100"/>
          <p:cNvSpPr>
            <a:spLocks noChangeShapeType="1"/>
          </p:cNvSpPr>
          <p:nvPr/>
        </p:nvSpPr>
        <p:spPr bwMode="auto">
          <a:xfrm>
            <a:off x="4953000" y="1584325"/>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2" name="Line 101"/>
          <p:cNvSpPr>
            <a:spLocks noChangeShapeType="1"/>
          </p:cNvSpPr>
          <p:nvPr/>
        </p:nvSpPr>
        <p:spPr bwMode="auto">
          <a:xfrm>
            <a:off x="1295400" y="2632075"/>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3" name="Line 102"/>
          <p:cNvSpPr>
            <a:spLocks noChangeShapeType="1"/>
          </p:cNvSpPr>
          <p:nvPr/>
        </p:nvSpPr>
        <p:spPr bwMode="auto">
          <a:xfrm>
            <a:off x="1295400" y="3330575"/>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4" name="Line 103"/>
          <p:cNvSpPr>
            <a:spLocks noChangeShapeType="1"/>
          </p:cNvSpPr>
          <p:nvPr/>
        </p:nvSpPr>
        <p:spPr bwMode="auto">
          <a:xfrm>
            <a:off x="2759075" y="1584325"/>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5" name="Line 104"/>
          <p:cNvSpPr>
            <a:spLocks noChangeShapeType="1"/>
          </p:cNvSpPr>
          <p:nvPr/>
        </p:nvSpPr>
        <p:spPr bwMode="auto">
          <a:xfrm>
            <a:off x="3489325" y="1584325"/>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6" name="Freeform 105"/>
          <p:cNvSpPr>
            <a:spLocks/>
          </p:cNvSpPr>
          <p:nvPr/>
        </p:nvSpPr>
        <p:spPr bwMode="auto">
          <a:xfrm>
            <a:off x="1293813" y="1771650"/>
            <a:ext cx="3659187" cy="2251075"/>
          </a:xfrm>
          <a:custGeom>
            <a:avLst/>
            <a:gdLst>
              <a:gd name="T0" fmla="*/ 0 w 2305"/>
              <a:gd name="T1" fmla="*/ 2147483647 h 1910"/>
              <a:gd name="T2" fmla="*/ 2147483647 w 2305"/>
              <a:gd name="T3" fmla="*/ 2147483647 h 1910"/>
              <a:gd name="T4" fmla="*/ 2147483647 w 2305"/>
              <a:gd name="T5" fmla="*/ 2147483647 h 1910"/>
              <a:gd name="T6" fmla="*/ 2147483647 w 2305"/>
              <a:gd name="T7" fmla="*/ 2147483647 h 1910"/>
              <a:gd name="T8" fmla="*/ 2147483647 w 2305"/>
              <a:gd name="T9" fmla="*/ 2147483647 h 1910"/>
              <a:gd name="T10" fmla="*/ 2147483647 w 2305"/>
              <a:gd name="T11" fmla="*/ 2147483647 h 1910"/>
              <a:gd name="T12" fmla="*/ 2147483647 w 2305"/>
              <a:gd name="T13" fmla="*/ 2147483647 h 19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05" h="1910">
                <a:moveTo>
                  <a:pt x="0" y="1006"/>
                </a:moveTo>
                <a:cubicBezTo>
                  <a:pt x="45" y="864"/>
                  <a:pt x="154" y="0"/>
                  <a:pt x="270" y="151"/>
                </a:cubicBezTo>
                <a:cubicBezTo>
                  <a:pt x="386" y="302"/>
                  <a:pt x="548" y="1910"/>
                  <a:pt x="696" y="1909"/>
                </a:cubicBezTo>
                <a:cubicBezTo>
                  <a:pt x="844" y="1908"/>
                  <a:pt x="1008" y="145"/>
                  <a:pt x="1160" y="143"/>
                </a:cubicBezTo>
                <a:cubicBezTo>
                  <a:pt x="1312" y="141"/>
                  <a:pt x="1463" y="1892"/>
                  <a:pt x="1609" y="1894"/>
                </a:cubicBezTo>
                <a:cubicBezTo>
                  <a:pt x="1755" y="1896"/>
                  <a:pt x="1919" y="301"/>
                  <a:pt x="2035" y="158"/>
                </a:cubicBezTo>
                <a:cubicBezTo>
                  <a:pt x="2151" y="15"/>
                  <a:pt x="2249" y="851"/>
                  <a:pt x="2305" y="1033"/>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27" name="Text Box 106"/>
          <p:cNvSpPr txBox="1">
            <a:spLocks noChangeArrowheads="1"/>
          </p:cNvSpPr>
          <p:nvPr/>
        </p:nvSpPr>
        <p:spPr bwMode="auto">
          <a:xfrm>
            <a:off x="1219200" y="4392613"/>
            <a:ext cx="8064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latin typeface="Times New Roman" pitchFamily="18" charset="0"/>
                <a:cs typeface="Times New Roman" pitchFamily="18" charset="0"/>
              </a:rPr>
              <a:t>CH1 1.00V</a:t>
            </a:r>
          </a:p>
        </p:txBody>
      </p:sp>
      <p:sp>
        <p:nvSpPr>
          <p:cNvPr id="56428" name="Text Box 107"/>
          <p:cNvSpPr txBox="1">
            <a:spLocks noChangeArrowheads="1"/>
          </p:cNvSpPr>
          <p:nvPr/>
        </p:nvSpPr>
        <p:spPr bwMode="auto">
          <a:xfrm>
            <a:off x="2727325" y="4392613"/>
            <a:ext cx="652463"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latin typeface="Times New Roman" pitchFamily="18" charset="0"/>
                <a:cs typeface="Times New Roman" pitchFamily="18" charset="0"/>
              </a:rPr>
              <a:t>M 500μs</a:t>
            </a:r>
          </a:p>
        </p:txBody>
      </p:sp>
      <p:sp>
        <p:nvSpPr>
          <p:cNvPr id="56429" name="Line 108"/>
          <p:cNvSpPr>
            <a:spLocks noChangeShapeType="1"/>
          </p:cNvSpPr>
          <p:nvPr/>
        </p:nvSpPr>
        <p:spPr bwMode="auto">
          <a:xfrm>
            <a:off x="3505200" y="1431925"/>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30" name="Text Box 109"/>
          <p:cNvSpPr txBox="1">
            <a:spLocks noChangeArrowheads="1"/>
          </p:cNvSpPr>
          <p:nvPr/>
        </p:nvSpPr>
        <p:spPr bwMode="auto">
          <a:xfrm>
            <a:off x="4191000" y="1308100"/>
            <a:ext cx="912813"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Time</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giây[s]</a:t>
            </a:r>
          </a:p>
        </p:txBody>
      </p:sp>
      <p:sp>
        <p:nvSpPr>
          <p:cNvPr id="56431" name="Text Box 110"/>
          <p:cNvSpPr txBox="1">
            <a:spLocks noChangeArrowheads="1"/>
          </p:cNvSpPr>
          <p:nvPr/>
        </p:nvSpPr>
        <p:spPr bwMode="auto">
          <a:xfrm>
            <a:off x="312738" y="1355725"/>
            <a:ext cx="11652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Độ lớn</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điện áp[v]</a:t>
            </a:r>
          </a:p>
        </p:txBody>
      </p:sp>
      <p:sp>
        <p:nvSpPr>
          <p:cNvPr id="56432" name="Line 111"/>
          <p:cNvSpPr>
            <a:spLocks noChangeShapeType="1"/>
          </p:cNvSpPr>
          <p:nvPr/>
        </p:nvSpPr>
        <p:spPr bwMode="auto">
          <a:xfrm flipV="1">
            <a:off x="1143000" y="1812925"/>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33" name="Line 112"/>
          <p:cNvSpPr>
            <a:spLocks noChangeShapeType="1"/>
          </p:cNvSpPr>
          <p:nvPr/>
        </p:nvSpPr>
        <p:spPr bwMode="auto">
          <a:xfrm>
            <a:off x="1066800" y="3684588"/>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34" name="Line 113"/>
          <p:cNvSpPr>
            <a:spLocks noChangeShapeType="1"/>
          </p:cNvSpPr>
          <p:nvPr/>
        </p:nvSpPr>
        <p:spPr bwMode="auto">
          <a:xfrm>
            <a:off x="1066800" y="4033838"/>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35" name="Line 114"/>
          <p:cNvSpPr>
            <a:spLocks noChangeShapeType="1"/>
          </p:cNvSpPr>
          <p:nvPr/>
        </p:nvSpPr>
        <p:spPr bwMode="auto">
          <a:xfrm>
            <a:off x="1131888" y="3687763"/>
            <a:ext cx="0" cy="35718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36" name="Text Box 115"/>
          <p:cNvSpPr txBox="1">
            <a:spLocks noChangeArrowheads="1"/>
          </p:cNvSpPr>
          <p:nvPr/>
        </p:nvSpPr>
        <p:spPr bwMode="auto">
          <a:xfrm>
            <a:off x="228600" y="3714750"/>
            <a:ext cx="7334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Độ lớn 1 ô</a:t>
            </a:r>
            <a:endParaRPr lang="ko-KR" altLang="en-US" sz="1000">
              <a:latin typeface="Times New Roman" pitchFamily="18" charset="0"/>
              <a:cs typeface="Times New Roman" pitchFamily="18" charset="0"/>
            </a:endParaRPr>
          </a:p>
        </p:txBody>
      </p:sp>
      <p:sp>
        <p:nvSpPr>
          <p:cNvPr id="56437" name="Freeform 116"/>
          <p:cNvSpPr>
            <a:spLocks/>
          </p:cNvSpPr>
          <p:nvPr/>
        </p:nvSpPr>
        <p:spPr bwMode="auto">
          <a:xfrm>
            <a:off x="228600" y="3944938"/>
            <a:ext cx="1019175" cy="561975"/>
          </a:xfrm>
          <a:custGeom>
            <a:avLst/>
            <a:gdLst>
              <a:gd name="T0" fmla="*/ 0 w 672"/>
              <a:gd name="T1" fmla="*/ 0 h 384"/>
              <a:gd name="T2" fmla="*/ 2147483647 w 672"/>
              <a:gd name="T3" fmla="*/ 0 h 384"/>
              <a:gd name="T4" fmla="*/ 2147483647 w 672"/>
              <a:gd name="T5" fmla="*/ 2147483647 h 384"/>
              <a:gd name="T6" fmla="*/ 0 60000 65536"/>
              <a:gd name="T7" fmla="*/ 0 60000 65536"/>
              <a:gd name="T8" fmla="*/ 0 60000 65536"/>
            </a:gdLst>
            <a:ahLst/>
            <a:cxnLst>
              <a:cxn ang="T6">
                <a:pos x="T0" y="T1"/>
              </a:cxn>
              <a:cxn ang="T7">
                <a:pos x="T2" y="T3"/>
              </a:cxn>
              <a:cxn ang="T8">
                <a:pos x="T4" y="T5"/>
              </a:cxn>
            </a:cxnLst>
            <a:rect l="0" t="0" r="r" b="b"/>
            <a:pathLst>
              <a:path w="672" h="384">
                <a:moveTo>
                  <a:pt x="0" y="0"/>
                </a:moveTo>
                <a:lnTo>
                  <a:pt x="432" y="0"/>
                </a:lnTo>
                <a:lnTo>
                  <a:pt x="672" y="384"/>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56438" name="Group 117"/>
          <p:cNvGrpSpPr>
            <a:grpSpLocks/>
          </p:cNvGrpSpPr>
          <p:nvPr/>
        </p:nvGrpSpPr>
        <p:grpSpPr bwMode="auto">
          <a:xfrm rot="-5400000">
            <a:off x="4326732" y="4309268"/>
            <a:ext cx="152400" cy="360363"/>
            <a:chOff x="2791" y="3118"/>
            <a:chExt cx="96" cy="227"/>
          </a:xfrm>
        </p:grpSpPr>
        <p:sp>
          <p:nvSpPr>
            <p:cNvPr id="56457" name="Line 118"/>
            <p:cNvSpPr>
              <a:spLocks noChangeShapeType="1"/>
            </p:cNvSpPr>
            <p:nvPr/>
          </p:nvSpPr>
          <p:spPr bwMode="auto">
            <a:xfrm>
              <a:off x="2791" y="311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58" name="Line 119"/>
            <p:cNvSpPr>
              <a:spLocks noChangeShapeType="1"/>
            </p:cNvSpPr>
            <p:nvPr/>
          </p:nvSpPr>
          <p:spPr bwMode="auto">
            <a:xfrm>
              <a:off x="2791" y="333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59" name="Line 120"/>
            <p:cNvSpPr>
              <a:spLocks noChangeShapeType="1"/>
            </p:cNvSpPr>
            <p:nvPr/>
          </p:nvSpPr>
          <p:spPr bwMode="auto">
            <a:xfrm>
              <a:off x="2832" y="3120"/>
              <a:ext cx="0" cy="2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56439" name="Text Box 121"/>
          <p:cNvSpPr txBox="1">
            <a:spLocks noChangeArrowheads="1"/>
          </p:cNvSpPr>
          <p:nvPr/>
        </p:nvSpPr>
        <p:spPr bwMode="auto">
          <a:xfrm>
            <a:off x="3810000" y="4632325"/>
            <a:ext cx="8731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Chiều dài 1 ô</a:t>
            </a:r>
            <a:endParaRPr lang="ko-KR" altLang="en-US" sz="1000">
              <a:latin typeface="Times New Roman" pitchFamily="18" charset="0"/>
              <a:cs typeface="Times New Roman" pitchFamily="18" charset="0"/>
            </a:endParaRPr>
          </a:p>
        </p:txBody>
      </p:sp>
      <p:sp>
        <p:nvSpPr>
          <p:cNvPr id="56440" name="Freeform 122"/>
          <p:cNvSpPr>
            <a:spLocks/>
          </p:cNvSpPr>
          <p:nvPr/>
        </p:nvSpPr>
        <p:spPr bwMode="auto">
          <a:xfrm>
            <a:off x="3352800" y="4632325"/>
            <a:ext cx="1371600" cy="228600"/>
          </a:xfrm>
          <a:custGeom>
            <a:avLst/>
            <a:gdLst>
              <a:gd name="T0" fmla="*/ 2147483647 w 864"/>
              <a:gd name="T1" fmla="*/ 2147483647 h 144"/>
              <a:gd name="T2" fmla="*/ 2147483647 w 864"/>
              <a:gd name="T3" fmla="*/ 2147483647 h 144"/>
              <a:gd name="T4" fmla="*/ 0 w 864"/>
              <a:gd name="T5" fmla="*/ 0 h 144"/>
              <a:gd name="T6" fmla="*/ 0 60000 65536"/>
              <a:gd name="T7" fmla="*/ 0 60000 65536"/>
              <a:gd name="T8" fmla="*/ 0 60000 65536"/>
            </a:gdLst>
            <a:ahLst/>
            <a:cxnLst>
              <a:cxn ang="T6">
                <a:pos x="T0" y="T1"/>
              </a:cxn>
              <a:cxn ang="T7">
                <a:pos x="T2" y="T3"/>
              </a:cxn>
              <a:cxn ang="T8">
                <a:pos x="T4" y="T5"/>
              </a:cxn>
            </a:cxnLst>
            <a:rect l="0" t="0" r="r" b="b"/>
            <a:pathLst>
              <a:path w="864" h="144">
                <a:moveTo>
                  <a:pt x="864" y="144"/>
                </a:moveTo>
                <a:lnTo>
                  <a:pt x="336" y="144"/>
                </a:lnTo>
                <a:lnTo>
                  <a:pt x="0"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56441" name="Text Box 123"/>
          <p:cNvSpPr txBox="1">
            <a:spLocks noChangeArrowheads="1"/>
          </p:cNvSpPr>
          <p:nvPr/>
        </p:nvSpPr>
        <p:spPr bwMode="auto">
          <a:xfrm>
            <a:off x="5376863" y="1143000"/>
            <a:ext cx="27209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Giá trị max</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V</a:t>
            </a:r>
            <a:r>
              <a:rPr lang="en-US" altLang="ko-KR" sz="900">
                <a:latin typeface="Times New Roman" pitchFamily="18" charset="0"/>
                <a:cs typeface="Times New Roman" pitchFamily="18" charset="0"/>
              </a:rPr>
              <a:t>p</a:t>
            </a:r>
            <a:r>
              <a:rPr lang="en-US" altLang="ko-KR" sz="1400">
                <a:latin typeface="Times New Roman" pitchFamily="18" charset="0"/>
                <a:cs typeface="Times New Roman" pitchFamily="18" charset="0"/>
              </a:rPr>
              <a:t>= 1v * 3 ô</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 </a:t>
            </a:r>
            <a:r>
              <a:rPr lang="en-US" altLang="ko-KR" sz="1400" b="1">
                <a:latin typeface="Times New Roman" pitchFamily="18" charset="0"/>
                <a:cs typeface="Times New Roman" pitchFamily="18" charset="0"/>
              </a:rPr>
              <a:t>3[V]</a:t>
            </a:r>
          </a:p>
        </p:txBody>
      </p:sp>
      <p:sp>
        <p:nvSpPr>
          <p:cNvPr id="56442" name="Text Box 124"/>
          <p:cNvSpPr txBox="1">
            <a:spLocks noChangeArrowheads="1"/>
          </p:cNvSpPr>
          <p:nvPr/>
        </p:nvSpPr>
        <p:spPr bwMode="auto">
          <a:xfrm>
            <a:off x="5376863" y="1447800"/>
            <a:ext cx="28448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Giá trị đỉnh</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V</a:t>
            </a:r>
            <a:r>
              <a:rPr lang="en-US" altLang="ko-KR" sz="900">
                <a:latin typeface="Times New Roman" pitchFamily="18" charset="0"/>
                <a:cs typeface="Times New Roman" pitchFamily="18" charset="0"/>
              </a:rPr>
              <a:t>p_p</a:t>
            </a:r>
            <a:r>
              <a:rPr lang="en-US" altLang="ko-KR" sz="1400">
                <a:latin typeface="Times New Roman" pitchFamily="18" charset="0"/>
                <a:cs typeface="Times New Roman" pitchFamily="18" charset="0"/>
              </a:rPr>
              <a:t>= 1v * 6</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ô</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 </a:t>
            </a:r>
            <a:r>
              <a:rPr lang="en-US" altLang="ko-KR" sz="1400" b="1">
                <a:latin typeface="Times New Roman" pitchFamily="18" charset="0"/>
                <a:cs typeface="Times New Roman" pitchFamily="18" charset="0"/>
              </a:rPr>
              <a:t>6[V]</a:t>
            </a:r>
          </a:p>
        </p:txBody>
      </p:sp>
      <p:sp>
        <p:nvSpPr>
          <p:cNvPr id="56443" name="Text Box 125"/>
          <p:cNvSpPr txBox="1">
            <a:spLocks noChangeArrowheads="1"/>
          </p:cNvSpPr>
          <p:nvPr/>
        </p:nvSpPr>
        <p:spPr bwMode="auto">
          <a:xfrm>
            <a:off x="5376863" y="1752600"/>
            <a:ext cx="15922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Giá trị hiệu dụng</a:t>
            </a:r>
            <a:endParaRPr lang="ko-KR" altLang="en-US" sz="1400">
              <a:latin typeface="Times New Roman" pitchFamily="18" charset="0"/>
              <a:cs typeface="Times New Roman" pitchFamily="18" charset="0"/>
            </a:endParaRPr>
          </a:p>
        </p:txBody>
      </p:sp>
      <p:sp>
        <p:nvSpPr>
          <p:cNvPr id="56444" name="Text Box 126"/>
          <p:cNvSpPr txBox="1">
            <a:spLocks noChangeArrowheads="1"/>
          </p:cNvSpPr>
          <p:nvPr/>
        </p:nvSpPr>
        <p:spPr bwMode="auto">
          <a:xfrm>
            <a:off x="5913438" y="2590800"/>
            <a:ext cx="18462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 0.707 * 3v = </a:t>
            </a:r>
            <a:r>
              <a:rPr lang="en-US" altLang="ko-KR" sz="1400" b="1">
                <a:latin typeface="Times New Roman" pitchFamily="18" charset="0"/>
                <a:cs typeface="Times New Roman" pitchFamily="18" charset="0"/>
              </a:rPr>
              <a:t>2.12[V]</a:t>
            </a:r>
          </a:p>
        </p:txBody>
      </p:sp>
      <p:sp>
        <p:nvSpPr>
          <p:cNvPr id="56445" name="Text Box 127"/>
          <p:cNvSpPr txBox="1">
            <a:spLocks noChangeArrowheads="1"/>
          </p:cNvSpPr>
          <p:nvPr/>
        </p:nvSpPr>
        <p:spPr bwMode="auto">
          <a:xfrm>
            <a:off x="5376863" y="2895600"/>
            <a:ext cx="16208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Giá trị trung bình</a:t>
            </a:r>
            <a:endParaRPr lang="ko-KR" altLang="en-US" sz="1400">
              <a:latin typeface="Times New Roman" pitchFamily="18" charset="0"/>
              <a:cs typeface="Times New Roman" pitchFamily="18" charset="0"/>
            </a:endParaRPr>
          </a:p>
        </p:txBody>
      </p:sp>
      <p:sp>
        <p:nvSpPr>
          <p:cNvPr id="56446" name="Text Box 128"/>
          <p:cNvSpPr txBox="1">
            <a:spLocks noChangeArrowheads="1"/>
          </p:cNvSpPr>
          <p:nvPr/>
        </p:nvSpPr>
        <p:spPr bwMode="auto">
          <a:xfrm>
            <a:off x="5945188" y="3657600"/>
            <a:ext cx="18462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a:latin typeface="Times New Roman" pitchFamily="18" charset="0"/>
                <a:cs typeface="Times New Roman" pitchFamily="18" charset="0"/>
              </a:rPr>
              <a:t>= 0.637 * 3v = </a:t>
            </a:r>
            <a:r>
              <a:rPr lang="en-US" altLang="ko-KR" sz="1400" b="1">
                <a:latin typeface="Times New Roman" pitchFamily="18" charset="0"/>
                <a:cs typeface="Times New Roman" pitchFamily="18" charset="0"/>
              </a:rPr>
              <a:t>1.91[V]</a:t>
            </a:r>
          </a:p>
        </p:txBody>
      </p:sp>
      <p:sp>
        <p:nvSpPr>
          <p:cNvPr id="56447" name="Text Box 129"/>
          <p:cNvSpPr txBox="1">
            <a:spLocks noChangeArrowheads="1"/>
          </p:cNvSpPr>
          <p:nvPr/>
        </p:nvSpPr>
        <p:spPr bwMode="auto">
          <a:xfrm>
            <a:off x="1295400" y="5181600"/>
            <a:ext cx="34496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Bước sóng</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 khoảng sóng trong 1 giây. [m]</a:t>
            </a:r>
          </a:p>
        </p:txBody>
      </p:sp>
      <p:sp>
        <p:nvSpPr>
          <p:cNvPr id="56448" name="Text Box 130"/>
          <p:cNvSpPr txBox="1">
            <a:spLocks noChangeArrowheads="1"/>
          </p:cNvSpPr>
          <p:nvPr/>
        </p:nvSpPr>
        <p:spPr bwMode="auto">
          <a:xfrm>
            <a:off x="5376863" y="3983038"/>
            <a:ext cx="29972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Chu kỳ</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T = 500μs * 4</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ô</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 2,000[μs]</a:t>
            </a:r>
          </a:p>
          <a:p>
            <a:pPr eaLnBrk="1" latinLnBrk="1" hangingPunct="1">
              <a:lnSpc>
                <a:spcPct val="100000"/>
              </a:lnSpc>
              <a:buFont typeface="Wingdings" pitchFamily="2" charset="2"/>
              <a:buNone/>
            </a:pPr>
            <a:r>
              <a:rPr lang="en-US" altLang="ko-KR" sz="1400">
                <a:latin typeface="Times New Roman" pitchFamily="18" charset="0"/>
                <a:cs typeface="Times New Roman" pitchFamily="18" charset="0"/>
              </a:rPr>
              <a:t>                                   = </a:t>
            </a:r>
            <a:r>
              <a:rPr lang="en-US" altLang="ko-KR" sz="1400" b="1">
                <a:latin typeface="Times New Roman" pitchFamily="18" charset="0"/>
                <a:cs typeface="Times New Roman" pitchFamily="18" charset="0"/>
              </a:rPr>
              <a:t>2[ms] </a:t>
            </a:r>
          </a:p>
        </p:txBody>
      </p:sp>
      <p:sp>
        <p:nvSpPr>
          <p:cNvPr id="56449" name="Text Box 131"/>
          <p:cNvSpPr txBox="1">
            <a:spLocks noChangeArrowheads="1"/>
          </p:cNvSpPr>
          <p:nvPr/>
        </p:nvSpPr>
        <p:spPr bwMode="auto">
          <a:xfrm>
            <a:off x="5376863" y="4440238"/>
            <a:ext cx="10302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 typeface="Wingdings" pitchFamily="2" charset="2"/>
              <a:buChar char="ü"/>
            </a:pPr>
            <a:r>
              <a:rPr lang="en-US" altLang="ko-KR" sz="1400">
                <a:latin typeface="Times New Roman" pitchFamily="18" charset="0"/>
                <a:cs typeface="Times New Roman" pitchFamily="18" charset="0"/>
              </a:rPr>
              <a:t> Tần sóng</a:t>
            </a:r>
            <a:endParaRPr lang="ko-KR" altLang="en-US" sz="1400" b="1">
              <a:latin typeface="Times New Roman" pitchFamily="18" charset="0"/>
              <a:cs typeface="Times New Roman" pitchFamily="18" charset="0"/>
            </a:endParaRPr>
          </a:p>
        </p:txBody>
      </p:sp>
      <p:pic>
        <p:nvPicPr>
          <p:cNvPr id="56450" name="Picture 1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5486400"/>
            <a:ext cx="2647950"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6451" name="Picture 1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0388" y="2057400"/>
            <a:ext cx="27416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6452" name="Picture 1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4675" y="3155950"/>
            <a:ext cx="29559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6453" name="Picture 13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4702175"/>
            <a:ext cx="2271713"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56454" name="Group 136"/>
          <p:cNvGrpSpPr>
            <a:grpSpLocks/>
          </p:cNvGrpSpPr>
          <p:nvPr/>
        </p:nvGrpSpPr>
        <p:grpSpPr bwMode="auto">
          <a:xfrm>
            <a:off x="1981200" y="6156325"/>
            <a:ext cx="1949450" cy="246063"/>
            <a:chOff x="614" y="3872"/>
            <a:chExt cx="1228" cy="155"/>
          </a:xfrm>
        </p:grpSpPr>
        <p:sp>
          <p:nvSpPr>
            <p:cNvPr id="56455" name="Text Box 137"/>
            <p:cNvSpPr txBox="1">
              <a:spLocks noChangeArrowheads="1"/>
            </p:cNvSpPr>
            <p:nvPr/>
          </p:nvSpPr>
          <p:spPr bwMode="auto">
            <a:xfrm>
              <a:off x="614" y="3872"/>
              <a:ext cx="859"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c là tốc độ ánh sáng</a:t>
              </a:r>
              <a:endParaRPr lang="ko-KR" altLang="en-US" sz="1000">
                <a:latin typeface="Times New Roman" pitchFamily="18" charset="0"/>
                <a:cs typeface="Times New Roman" pitchFamily="18" charset="0"/>
              </a:endParaRPr>
            </a:p>
          </p:txBody>
        </p:sp>
        <p:pic>
          <p:nvPicPr>
            <p:cNvPr id="56456" name="Picture 13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48" y="3891"/>
              <a:ext cx="394" cy="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C94AB73-E656-41CA-85B2-D6757958D2A1}" type="slidenum">
              <a:rPr lang="en-US" altLang="ko-KR" sz="1400" smtClean="0">
                <a:latin typeface="Times New Roman" pitchFamily="18" charset="0"/>
                <a:cs typeface="Times New Roman" pitchFamily="18" charset="0"/>
              </a:rPr>
              <a:pPr eaLnBrk="1" hangingPunct="1"/>
              <a:t>51</a:t>
            </a:fld>
            <a:endParaRPr lang="en-US" altLang="ko-KR" sz="1400" smtClean="0">
              <a:latin typeface="Times New Roman" pitchFamily="18" charset="0"/>
              <a:cs typeface="Times New Roman" pitchFamily="18" charset="0"/>
            </a:endParaRPr>
          </a:p>
        </p:txBody>
      </p:sp>
      <p:sp>
        <p:nvSpPr>
          <p:cNvPr id="57347" name="Text Box 2"/>
          <p:cNvSpPr txBox="1">
            <a:spLocks noChangeArrowheads="1"/>
          </p:cNvSpPr>
          <p:nvPr/>
        </p:nvSpPr>
        <p:spPr bwMode="auto">
          <a:xfrm>
            <a:off x="684213" y="892175"/>
            <a:ext cx="3616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4-2. Cách sử dụng dao động ký(Oscilloscope)</a:t>
            </a:r>
            <a:endParaRPr lang="ko-KR" altLang="en-US" sz="1400" b="1">
              <a:latin typeface="Times New Roman" pitchFamily="18" charset="0"/>
              <a:cs typeface="Times New Roman" pitchFamily="18" charset="0"/>
            </a:endParaRPr>
          </a:p>
        </p:txBody>
      </p:sp>
      <p:sp>
        <p:nvSpPr>
          <p:cNvPr id="57348"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7349" name="Text Box 5"/>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sp>
        <p:nvSpPr>
          <p:cNvPr id="57350"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Kiểm tra chức năng</a:t>
            </a:r>
            <a:endParaRPr lang="ko-KR" altLang="en-US" b="1">
              <a:latin typeface="Times New Roman" pitchFamily="18" charset="0"/>
              <a:cs typeface="Times New Roman" pitchFamily="18" charset="0"/>
            </a:endParaRPr>
          </a:p>
          <a:p>
            <a:pPr eaLnBrk="1" hangingPunct="1"/>
            <a:endParaRPr lang="ko-KR" altLang="en-US" sz="700"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Chỉnh switch PROBE COMP đến 10X và nối PROBE với</a:t>
            </a:r>
          </a:p>
          <a:p>
            <a:pPr eaLnBrk="1" hangingPunct="1"/>
            <a:r>
              <a:rPr lang="en-US" altLang="ko-KR">
                <a:latin typeface="Times New Roman" pitchFamily="18" charset="0"/>
                <a:cs typeface="Times New Roman" pitchFamily="18" charset="0"/>
              </a:rPr>
              <a:t> chanel 1 trên dao động ký.</a:t>
            </a:r>
          </a:p>
          <a:p>
            <a:pPr eaLnBrk="1" hangingPunct="1"/>
            <a:r>
              <a:rPr lang="en-US" altLang="ko-KR">
                <a:latin typeface="Times New Roman" pitchFamily="18" charset="0"/>
                <a:cs typeface="Times New Roman" pitchFamily="18" charset="0"/>
              </a:rPr>
              <a:t>   Nối đầu PROBE với dây lead tiêu chuẩn tại PROBE COMP</a:t>
            </a:r>
          </a:p>
          <a:p>
            <a:pPr eaLnBrk="1" hangingPunct="1"/>
            <a:r>
              <a:rPr lang="en-US" altLang="ko-KR">
                <a:latin typeface="Times New Roman" pitchFamily="18" charset="0"/>
                <a:cs typeface="Times New Roman" pitchFamily="18" charset="0"/>
              </a:rPr>
              <a:t> connector.</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Ấn nút AUTOSET.</a:t>
            </a:r>
          </a:p>
          <a:p>
            <a:pPr eaLnBrk="1" hangingPunct="1"/>
            <a:r>
              <a:rPr lang="en-US" altLang="ko-KR">
                <a:latin typeface="Times New Roman" pitchFamily="18" charset="0"/>
                <a:cs typeface="Times New Roman" pitchFamily="18" charset="0"/>
              </a:rPr>
              <a:t>Xung vuông phải hiện lên màn hình của hai giá trị đỉnh </a:t>
            </a:r>
          </a:p>
          <a:p>
            <a:pPr eaLnBrk="1" hangingPunct="1"/>
            <a:r>
              <a:rPr lang="en-US" altLang="ko-KR">
                <a:latin typeface="Times New Roman" pitchFamily="18" charset="0"/>
                <a:cs typeface="Times New Roman" pitchFamily="18" charset="0"/>
              </a:rPr>
              <a:t> khoảng 5V/1kHz trong vòng vài giây.</a:t>
            </a:r>
          </a:p>
          <a:p>
            <a:pPr eaLnBrk="1" latinLnBrk="1" hangingPunct="1">
              <a:lnSpc>
                <a:spcPct val="100000"/>
              </a:lnSpc>
            </a:pP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Tạo Probe tự động</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Khi cần kiểm tra hình dạng pha sóng được biểu hiện khi kiểm tra chức năng trên cần điều chỉnh probe.</a:t>
            </a:r>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p:txBody>
      </p:sp>
      <p:sp>
        <p:nvSpPr>
          <p:cNvPr id="57351" name="Text Box 7"/>
          <p:cNvSpPr txBox="1">
            <a:spLocks noChangeArrowheads="1"/>
          </p:cNvSpPr>
          <p:nvPr/>
        </p:nvSpPr>
        <p:spPr bwMode="auto">
          <a:xfrm>
            <a:off x="4683125" y="1184275"/>
            <a:ext cx="3697288" cy="25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900">
                <a:latin typeface="Times New Roman" pitchFamily="18" charset="0"/>
                <a:cs typeface="Times New Roman" pitchFamily="18" charset="0"/>
              </a:rPr>
              <a:t>＊</a:t>
            </a:r>
            <a:r>
              <a:rPr lang="en-US" altLang="ko-KR" sz="900">
                <a:latin typeface="Times New Roman" pitchFamily="18" charset="0"/>
                <a:cs typeface="Times New Roman" pitchFamily="18" charset="0"/>
              </a:rPr>
              <a:t>Chức năng  TDS2024(200MHz) Model trong Oscilloscope của Tektronix</a:t>
            </a:r>
            <a:endParaRPr lang="ko-KR" altLang="en-US" sz="900">
              <a:latin typeface="Times New Roman" pitchFamily="18" charset="0"/>
              <a:cs typeface="Times New Roman" pitchFamily="18" charset="0"/>
            </a:endParaRPr>
          </a:p>
        </p:txBody>
      </p:sp>
      <p:pic>
        <p:nvPicPr>
          <p:cNvPr id="5735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971800"/>
            <a:ext cx="533400"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600200"/>
            <a:ext cx="15240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3048000"/>
            <a:ext cx="116205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1752600"/>
            <a:ext cx="146685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7356" name="Group 12"/>
          <p:cNvGrpSpPr>
            <a:grpSpLocks/>
          </p:cNvGrpSpPr>
          <p:nvPr/>
        </p:nvGrpSpPr>
        <p:grpSpPr bwMode="auto">
          <a:xfrm>
            <a:off x="1511300" y="4676775"/>
            <a:ext cx="1684338" cy="1704975"/>
            <a:chOff x="816" y="2928"/>
            <a:chExt cx="1061" cy="1074"/>
          </a:xfrm>
        </p:grpSpPr>
        <p:pic>
          <p:nvPicPr>
            <p:cNvPr id="57358"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 y="2928"/>
              <a:ext cx="1061" cy="1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9" name="Rectangle 14"/>
            <p:cNvSpPr>
              <a:spLocks noChangeArrowheads="1"/>
            </p:cNvSpPr>
            <p:nvPr/>
          </p:nvSpPr>
          <p:spPr bwMode="auto">
            <a:xfrm>
              <a:off x="1072" y="3144"/>
              <a:ext cx="432"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Tạo dư</a:t>
              </a:r>
              <a:endParaRPr lang="ko-KR" altLang="en-US" sz="1000">
                <a:latin typeface="Times New Roman" pitchFamily="18" charset="0"/>
                <a:cs typeface="Times New Roman" pitchFamily="18" charset="0"/>
              </a:endParaRPr>
            </a:p>
          </p:txBody>
        </p:sp>
        <p:sp>
          <p:nvSpPr>
            <p:cNvPr id="57360" name="Rectangle 15"/>
            <p:cNvSpPr>
              <a:spLocks noChangeArrowheads="1"/>
            </p:cNvSpPr>
            <p:nvPr/>
          </p:nvSpPr>
          <p:spPr bwMode="auto">
            <a:xfrm>
              <a:off x="1096" y="3496"/>
              <a:ext cx="432"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Tạo thiếu</a:t>
              </a:r>
              <a:endParaRPr lang="ko-KR" altLang="en-US" sz="1000">
                <a:latin typeface="Times New Roman" pitchFamily="18" charset="0"/>
                <a:cs typeface="Times New Roman" pitchFamily="18" charset="0"/>
              </a:endParaRPr>
            </a:p>
          </p:txBody>
        </p:sp>
        <p:sp>
          <p:nvSpPr>
            <p:cNvPr id="57361" name="Rectangle 16"/>
            <p:cNvSpPr>
              <a:spLocks noChangeArrowheads="1"/>
            </p:cNvSpPr>
            <p:nvPr/>
          </p:nvSpPr>
          <p:spPr bwMode="auto">
            <a:xfrm>
              <a:off x="1096" y="3856"/>
              <a:ext cx="432"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Tạo chuẩn</a:t>
              </a:r>
              <a:endParaRPr lang="ko-KR" altLang="en-US" sz="1000">
                <a:latin typeface="Times New Roman" pitchFamily="18" charset="0"/>
                <a:cs typeface="Times New Roman" pitchFamily="18" charset="0"/>
              </a:endParaRPr>
            </a:p>
          </p:txBody>
        </p:sp>
      </p:grpSp>
      <p:pic>
        <p:nvPicPr>
          <p:cNvPr id="57357"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9700" y="4752975"/>
            <a:ext cx="17145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1799A66-F117-459B-9CF7-DF669466209E}" type="slidenum">
              <a:rPr lang="en-US" altLang="ko-KR" sz="1400" smtClean="0">
                <a:latin typeface="Times New Roman" pitchFamily="18" charset="0"/>
                <a:cs typeface="Times New Roman" pitchFamily="18" charset="0"/>
              </a:rPr>
              <a:pPr eaLnBrk="1" hangingPunct="1"/>
              <a:t>52</a:t>
            </a:fld>
            <a:endParaRPr lang="en-US" altLang="ko-KR" sz="1400" smtClean="0">
              <a:latin typeface="Times New Roman" pitchFamily="18" charset="0"/>
              <a:cs typeface="Times New Roman" pitchFamily="18" charset="0"/>
            </a:endParaRPr>
          </a:p>
        </p:txBody>
      </p:sp>
      <p:sp>
        <p:nvSpPr>
          <p:cNvPr id="5837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837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(3) Ranh giới màn hình</a:t>
            </a:r>
            <a:endParaRPr lang="ko-KR" altLang="en-US" b="1">
              <a:latin typeface="Times New Roman" pitchFamily="18" charset="0"/>
              <a:cs typeface="Times New Roman" pitchFamily="18" charset="0"/>
            </a:endParaRPr>
          </a:p>
        </p:txBody>
      </p:sp>
      <p:sp>
        <p:nvSpPr>
          <p:cNvPr id="58373"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5837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19200"/>
            <a:ext cx="4419600" cy="356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75" name="Text Box 6"/>
          <p:cNvSpPr txBox="1">
            <a:spLocks noChangeArrowheads="1"/>
          </p:cNvSpPr>
          <p:nvPr/>
        </p:nvSpPr>
        <p:spPr bwMode="auto">
          <a:xfrm>
            <a:off x="5084763" y="1398588"/>
            <a:ext cx="3916362" cy="478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buFontTx/>
              <a:buChar char="•"/>
            </a:pPr>
            <a:r>
              <a:rPr lang="en-US" altLang="ko-KR">
                <a:latin typeface="Times New Roman" pitchFamily="18" charset="0"/>
                <a:cs typeface="Times New Roman" pitchFamily="18" charset="0"/>
              </a:rPr>
              <a:t> 1 : chế độ ghi lại</a:t>
            </a:r>
          </a:p>
          <a:p>
            <a:pPr eaLnBrk="1" latinLnBrk="1" hangingPunct="1">
              <a:lnSpc>
                <a:spcPct val="100000"/>
              </a:lnSpc>
            </a:pPr>
            <a:r>
              <a:rPr lang="en-US" altLang="ko-KR">
                <a:latin typeface="Times New Roman" pitchFamily="18" charset="0"/>
                <a:cs typeface="Times New Roman" pitchFamily="18" charset="0"/>
              </a:rPr>
              <a:t>          sample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đỉnh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trung bình</a:t>
            </a:r>
            <a:endParaRPr lang="ko-KR" altLang="en-US">
              <a:latin typeface="Times New Roman" pitchFamily="18" charset="0"/>
              <a:cs typeface="Times New Roman" pitchFamily="18" charset="0"/>
            </a:endParaRPr>
          </a:p>
          <a:p>
            <a:pPr eaLnBrk="1" latinLnBrk="1" hangingPunct="1">
              <a:lnSpc>
                <a:spcPct val="100000"/>
              </a:lnSpc>
            </a:pPr>
            <a:endParaRPr lang="ko-KR" altLang="en-US" sz="500">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 : Trạng thái trig</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 : Vị trí trig thẳng</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 : Biểu thị thời gian của lưới giữa.</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5 : Hiển thị độ lớn xung trig hay xung H</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6 : Điểm tiếp địa tiêu chuẩn của sóng được biểu thị</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7 : Mũi tên con trỏ chỉ ngược hướng sóng</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8 : Hệ số quy mô vuông góc của chanel</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9 : Bw biểu thị giới hạn băng thông</a:t>
            </a: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10 : Điều chỉnh trục thời gian</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11 : Cho thấy giá trị điều chỉnh trong trường hợp sử dụng</a:t>
            </a:r>
          </a:p>
          <a:p>
            <a:pPr eaLnBrk="1" latinLnBrk="1" hangingPunct="1">
              <a:lnSpc>
                <a:spcPct val="100000"/>
              </a:lnSpc>
            </a:pPr>
            <a:r>
              <a:rPr lang="en-US" altLang="ko-KR">
                <a:latin typeface="Times New Roman" pitchFamily="18" charset="0"/>
                <a:cs typeface="Times New Roman" pitchFamily="18" charset="0"/>
              </a:rPr>
              <a:t> 	trục thời gian window.</a:t>
            </a:r>
          </a:p>
          <a:p>
            <a:pPr eaLnBrk="1" latinLnBrk="1" hangingPunct="1">
              <a:lnSpc>
                <a:spcPct val="100000"/>
              </a:lnSpc>
              <a:buFontTx/>
              <a:buChar char="•"/>
            </a:pPr>
            <a:r>
              <a:rPr lang="en-US" altLang="ko-KR">
                <a:latin typeface="Times New Roman" pitchFamily="18" charset="0"/>
                <a:cs typeface="Times New Roman" pitchFamily="18" charset="0"/>
              </a:rPr>
              <a:t> 12 : Nguồn trig sử dụng trong trig</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13 : Loại trig</a:t>
            </a:r>
            <a:endParaRPr lang="ko-KR" altLang="en-US">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		                 H 		 </a:t>
            </a:r>
          </a:p>
          <a:p>
            <a:pPr eaLnBrk="1" latinLnBrk="1" hangingPunct="1">
              <a:lnSpc>
                <a:spcPct val="100000"/>
              </a:lnSpc>
            </a:pPr>
            <a:endParaRPr lang="en-US" altLang="ko-KR">
              <a:latin typeface="Times New Roman" pitchFamily="18" charset="0"/>
              <a:cs typeface="Times New Roman" pitchFamily="18" charset="0"/>
            </a:endParaRPr>
          </a:p>
          <a:p>
            <a:pPr eaLnBrk="1" latinLnBrk="1" hangingPunct="1">
              <a:lnSpc>
                <a:spcPct val="100000"/>
              </a:lnSpc>
            </a:pPr>
            <a:endParaRPr lang="en-US" altLang="ko-KR">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		                  </a:t>
            </a:r>
            <a:endParaRPr lang="ko-KR" altLang="en-US">
              <a:latin typeface="Times New Roman" pitchFamily="18" charset="0"/>
              <a:cs typeface="Times New Roman" pitchFamily="18" charset="0"/>
            </a:endParaRPr>
          </a:p>
          <a:p>
            <a:pPr eaLnBrk="1" latinLnBrk="1" hangingPunct="1">
              <a:lnSpc>
                <a:spcPct val="100000"/>
              </a:lnSpc>
              <a:buFontTx/>
              <a:buChar char="•"/>
            </a:pPr>
            <a:endParaRPr lang="en-US" altLang="ko-KR">
              <a:latin typeface="Times New Roman" pitchFamily="18" charset="0"/>
              <a:cs typeface="Times New Roman" pitchFamily="18" charset="0"/>
            </a:endParaRPr>
          </a:p>
          <a:p>
            <a:pPr eaLnBrk="1" latinLnBrk="1" hangingPunct="1">
              <a:lnSpc>
                <a:spcPct val="100000"/>
              </a:lnSpc>
              <a:buFontTx/>
              <a:buChar char="•"/>
            </a:pPr>
            <a:endParaRPr lang="en-US" altLang="ko-KR">
              <a:latin typeface="Times New Roman" pitchFamily="18" charset="0"/>
              <a:cs typeface="Times New Roman" pitchFamily="18" charset="0"/>
            </a:endParaRPr>
          </a:p>
          <a:p>
            <a:pPr eaLnBrk="1" latinLnBrk="1" hangingPunct="1">
              <a:lnSpc>
                <a:spcPct val="100000"/>
              </a:lnSpc>
              <a:buFontTx/>
              <a:buChar char="•"/>
            </a:pP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14 : Độ lớn xung trig hay xung H</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15 : Hiển thị thông báo</a:t>
            </a:r>
            <a:endParaRPr lang="ko-KR" altLang="en-US">
              <a:latin typeface="Times New Roman" pitchFamily="18" charset="0"/>
              <a:cs typeface="Times New Roman" pitchFamily="18" charset="0"/>
            </a:endParaRPr>
          </a:p>
          <a:p>
            <a:pPr eaLnBrk="1" latinLnBrk="1" hangingPunct="1">
              <a:lnSpc>
                <a:spcPct val="100000"/>
              </a:lnSpc>
              <a:buFontTx/>
              <a:buChar char="•"/>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16 : Tần sóng trig</a:t>
            </a:r>
            <a:endParaRPr lang="ko-KR" altLang="en-US">
              <a:latin typeface="Times New Roman" pitchFamily="18" charset="0"/>
              <a:cs typeface="Times New Roman" pitchFamily="18" charset="0"/>
            </a:endParaRPr>
          </a:p>
        </p:txBody>
      </p:sp>
      <p:pic>
        <p:nvPicPr>
          <p:cNvPr id="58376" name="Picture 7"/>
          <p:cNvPicPr>
            <a:picLocks noChangeAspect="1" noChangeArrowheads="1"/>
          </p:cNvPicPr>
          <p:nvPr/>
        </p:nvPicPr>
        <p:blipFill>
          <a:blip r:embed="rId4">
            <a:extLst>
              <a:ext uri="{28A0092B-C50C-407E-A947-70E740481C1C}">
                <a14:useLocalDpi xmlns:a14="http://schemas.microsoft.com/office/drawing/2010/main" val="0"/>
              </a:ext>
            </a:extLst>
          </a:blip>
          <a:srcRect b="73033"/>
          <a:stretch>
            <a:fillRect/>
          </a:stretch>
        </p:blipFill>
        <p:spPr bwMode="auto">
          <a:xfrm>
            <a:off x="5124450" y="1609725"/>
            <a:ext cx="4095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7" name="Picture 8"/>
          <p:cNvPicPr>
            <a:picLocks noChangeAspect="1" noChangeArrowheads="1"/>
          </p:cNvPicPr>
          <p:nvPr/>
        </p:nvPicPr>
        <p:blipFill>
          <a:blip r:embed="rId4">
            <a:extLst>
              <a:ext uri="{28A0092B-C50C-407E-A947-70E740481C1C}">
                <a14:useLocalDpi xmlns:a14="http://schemas.microsoft.com/office/drawing/2010/main" val="0"/>
              </a:ext>
            </a:extLst>
          </a:blip>
          <a:srcRect t="26967" b="37079"/>
          <a:stretch>
            <a:fillRect/>
          </a:stretch>
        </p:blipFill>
        <p:spPr bwMode="auto">
          <a:xfrm>
            <a:off x="6156325" y="1590675"/>
            <a:ext cx="325438" cy="24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8" name="Picture 9"/>
          <p:cNvPicPr>
            <a:picLocks noChangeAspect="1" noChangeArrowheads="1"/>
          </p:cNvPicPr>
          <p:nvPr/>
        </p:nvPicPr>
        <p:blipFill>
          <a:blip r:embed="rId4">
            <a:extLst>
              <a:ext uri="{28A0092B-C50C-407E-A947-70E740481C1C}">
                <a14:useLocalDpi xmlns:a14="http://schemas.microsoft.com/office/drawing/2010/main" val="0"/>
              </a:ext>
            </a:extLst>
          </a:blip>
          <a:srcRect t="62921"/>
          <a:stretch>
            <a:fillRect/>
          </a:stretch>
        </p:blipFill>
        <p:spPr bwMode="auto">
          <a:xfrm>
            <a:off x="6994525" y="1590675"/>
            <a:ext cx="4095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9"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4292600"/>
            <a:ext cx="2057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80" name="직사각형 1"/>
          <p:cNvSpPr>
            <a:spLocks noChangeArrowheads="1"/>
          </p:cNvSpPr>
          <p:nvPr/>
        </p:nvSpPr>
        <p:spPr bwMode="auto">
          <a:xfrm>
            <a:off x="6011863" y="5373688"/>
            <a:ext cx="2016125" cy="1793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Độ rộng xung, không có tính phân cực</a:t>
            </a:r>
            <a:endParaRPr lang="ko-KR" altLang="en-US" sz="900">
              <a:latin typeface="Times New Roman" pitchFamily="18" charset="0"/>
              <a:cs typeface="Times New Roman" pitchFamily="18" charset="0"/>
            </a:endParaRPr>
          </a:p>
        </p:txBody>
      </p:sp>
      <p:sp>
        <p:nvSpPr>
          <p:cNvPr id="58381" name="직사각형 12"/>
          <p:cNvSpPr>
            <a:spLocks noChangeArrowheads="1"/>
          </p:cNvSpPr>
          <p:nvPr/>
        </p:nvSpPr>
        <p:spPr bwMode="auto">
          <a:xfrm>
            <a:off x="6011863" y="5157788"/>
            <a:ext cx="2016125" cy="1428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Độ rộng xung, có tính phân cực</a:t>
            </a:r>
            <a:endParaRPr lang="ko-KR" altLang="en-US" sz="900">
              <a:latin typeface="Times New Roman" pitchFamily="18" charset="0"/>
              <a:cs typeface="Times New Roman" pitchFamily="18" charset="0"/>
            </a:endParaRPr>
          </a:p>
        </p:txBody>
      </p:sp>
      <p:sp>
        <p:nvSpPr>
          <p:cNvPr id="58382" name="직사각형 13"/>
          <p:cNvSpPr>
            <a:spLocks noChangeArrowheads="1"/>
          </p:cNvSpPr>
          <p:nvPr/>
        </p:nvSpPr>
        <p:spPr bwMode="auto">
          <a:xfrm>
            <a:off x="6011863" y="4724400"/>
            <a:ext cx="2016125"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Video Trigger cho động cơ line</a:t>
            </a:r>
            <a:endParaRPr lang="ko-KR" altLang="en-US" sz="900">
              <a:latin typeface="Times New Roman" pitchFamily="18" charset="0"/>
              <a:cs typeface="Times New Roman" pitchFamily="18" charset="0"/>
            </a:endParaRPr>
          </a:p>
        </p:txBody>
      </p:sp>
      <p:sp>
        <p:nvSpPr>
          <p:cNvPr id="58383" name="직사각형 14"/>
          <p:cNvSpPr>
            <a:spLocks noChangeArrowheads="1"/>
          </p:cNvSpPr>
          <p:nvPr/>
        </p:nvSpPr>
        <p:spPr bwMode="auto">
          <a:xfrm>
            <a:off x="6011863" y="4508500"/>
            <a:ext cx="2016125" cy="1444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H trig giảm H</a:t>
            </a:r>
            <a:endParaRPr lang="ko-KR" altLang="en-US" sz="900">
              <a:latin typeface="Times New Roman" pitchFamily="18" charset="0"/>
              <a:cs typeface="Times New Roman" pitchFamily="18" charset="0"/>
            </a:endParaRPr>
          </a:p>
        </p:txBody>
      </p:sp>
      <p:sp>
        <p:nvSpPr>
          <p:cNvPr id="58384" name="직사각형 15"/>
          <p:cNvSpPr>
            <a:spLocks noChangeArrowheads="1"/>
          </p:cNvSpPr>
          <p:nvPr/>
        </p:nvSpPr>
        <p:spPr bwMode="auto">
          <a:xfrm>
            <a:off x="6011863" y="4292600"/>
            <a:ext cx="2016125"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H trig tăng H</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D9C2607-8647-4BDC-A587-3E5FCDAEE383}" type="slidenum">
              <a:rPr lang="en-US" altLang="ko-KR" sz="1400" smtClean="0">
                <a:latin typeface="Times New Roman" pitchFamily="18" charset="0"/>
                <a:cs typeface="Times New Roman" pitchFamily="18" charset="0"/>
              </a:rPr>
              <a:pPr eaLnBrk="1" hangingPunct="1"/>
              <a:t>53</a:t>
            </a:fld>
            <a:endParaRPr lang="en-US" altLang="ko-KR" sz="1400" smtClean="0">
              <a:latin typeface="Times New Roman" pitchFamily="18" charset="0"/>
              <a:cs typeface="Times New Roman" pitchFamily="18" charset="0"/>
            </a:endParaRPr>
          </a:p>
        </p:txBody>
      </p:sp>
      <p:sp>
        <p:nvSpPr>
          <p:cNvPr id="59395"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5939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(4) Triggering</a:t>
            </a:r>
            <a:endParaRPr lang="ko-KR" altLang="en-US" b="1">
              <a:latin typeface="Times New Roman" pitchFamily="18" charset="0"/>
              <a:cs typeface="Times New Roman" pitchFamily="18" charset="0"/>
            </a:endParaRPr>
          </a:p>
          <a:p>
            <a:pPr eaLnBrk="1" hangingPunct="1"/>
            <a:endParaRPr lang="ko-KR" altLang="en-US" sz="800"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Trig bắt đầu với việc ghi lại  dữ liệu cho máy dao động ký và xác định khi biểu hiện sóng pha. Nếu lắp chính xác trig thì nó sẽ biến màn hình không ổn định hay màn hình trống của máy dao động ký thành pha sóng có nghĩa.</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có 3 loại trig là trig chữ H, trig video và trig xung.</a:t>
            </a:r>
          </a:p>
          <a:p>
            <a:pPr eaLnBrk="1" hangingPunct="1"/>
            <a:r>
              <a:rPr lang="en-US" altLang="ko-KR">
                <a:latin typeface="Times New Roman" pitchFamily="18" charset="0"/>
                <a:cs typeface="Times New Roman" pitchFamily="18" charset="0"/>
              </a:rPr>
              <a:t>Chế độ</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được định nghĩa là phương pháp ghi dữ liệu khi máy dao động ký không nhận diện được điều kiện trig.       	Có chế độ tự động và chế độ thường. Nếu muốn thực hiện ghi lại theo một thứ tự duy nhất thì chọn 	SINGLE SEQ.</a:t>
            </a:r>
          </a:p>
          <a:p>
            <a:pPr eaLnBrk="1" hangingPunct="1"/>
            <a:r>
              <a:rPr lang="en-US" altLang="ko-KR">
                <a:latin typeface="Times New Roman" pitchFamily="18" charset="0"/>
                <a:cs typeface="Times New Roman" pitchFamily="18" charset="0"/>
              </a:rPr>
              <a:t>Coupling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Sử dụng option coupling trig xác định bộ phận nào truyền đến mạch trig. Nó giúp nhận được màn hình 	ổn định của sóng. Nếu muốn dùng coupling trig phải ấn vào nút trig trên bảng điều khiển sau đó chọn 	trig H hay trig xung và cuối cùng chọn option coupling.</a:t>
            </a:r>
          </a:p>
          <a:p>
            <a:pPr eaLnBrk="1" hangingPunct="1"/>
            <a:endParaRPr lang="en-US" altLang="ko-KR" b="1">
              <a:latin typeface="Times New Roman" pitchFamily="18" charset="0"/>
              <a:cs typeface="Times New Roman" pitchFamily="18" charset="0"/>
            </a:endParaRPr>
          </a:p>
        </p:txBody>
      </p:sp>
      <p:sp>
        <p:nvSpPr>
          <p:cNvPr id="59397"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grpSp>
        <p:nvGrpSpPr>
          <p:cNvPr id="59398" name="Group 5"/>
          <p:cNvGrpSpPr>
            <a:grpSpLocks/>
          </p:cNvGrpSpPr>
          <p:nvPr/>
        </p:nvGrpSpPr>
        <p:grpSpPr bwMode="auto">
          <a:xfrm>
            <a:off x="1066800" y="1989138"/>
            <a:ext cx="6934200" cy="2070100"/>
            <a:chOff x="672" y="1200"/>
            <a:chExt cx="4368" cy="1304"/>
          </a:xfrm>
        </p:grpSpPr>
        <p:pic>
          <p:nvPicPr>
            <p:cNvPr id="593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200"/>
              <a:ext cx="4368" cy="1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400" name="Rectangle 7"/>
            <p:cNvSpPr>
              <a:spLocks noChangeArrowheads="1"/>
            </p:cNvSpPr>
            <p:nvPr/>
          </p:nvSpPr>
          <p:spPr bwMode="auto">
            <a:xfrm>
              <a:off x="1088" y="2256"/>
              <a:ext cx="720"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Sóng có trig</a:t>
              </a:r>
              <a:endParaRPr lang="ko-KR" altLang="en-US">
                <a:latin typeface="Times New Roman" pitchFamily="18" charset="0"/>
                <a:cs typeface="Times New Roman" pitchFamily="18" charset="0"/>
              </a:endParaRPr>
            </a:p>
          </p:txBody>
        </p:sp>
        <p:sp>
          <p:nvSpPr>
            <p:cNvPr id="59401" name="Rectangle 8"/>
            <p:cNvSpPr>
              <a:spLocks noChangeArrowheads="1"/>
            </p:cNvSpPr>
            <p:nvPr/>
          </p:nvSpPr>
          <p:spPr bwMode="auto">
            <a:xfrm>
              <a:off x="3168" y="2272"/>
              <a:ext cx="1248"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Sóng không trig</a:t>
              </a:r>
              <a:endParaRPr lang="ko-KR" altLang="en-US">
                <a:latin typeface="Times New Roman" pitchFamily="18" charset="0"/>
                <a:cs typeface="Times New Roman" pitchFamily="18" charset="0"/>
              </a:endParaRPr>
            </a:p>
          </p:txBody>
        </p:sp>
      </p:gr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7E864BC-85A2-43C3-80A1-EC4CAD44B066}" type="slidenum">
              <a:rPr lang="en-US" altLang="ko-KR" sz="1400" smtClean="0">
                <a:latin typeface="Times New Roman" pitchFamily="18" charset="0"/>
                <a:cs typeface="Times New Roman" pitchFamily="18" charset="0"/>
              </a:rPr>
              <a:pPr eaLnBrk="1" hangingPunct="1"/>
              <a:t>54</a:t>
            </a:fld>
            <a:endParaRPr lang="en-US" altLang="ko-KR" sz="1400" smtClean="0">
              <a:latin typeface="Times New Roman" pitchFamily="18" charset="0"/>
              <a:cs typeface="Times New Roman" pitchFamily="18" charset="0"/>
            </a:endParaRPr>
          </a:p>
        </p:txBody>
      </p:sp>
      <p:sp>
        <p:nvSpPr>
          <p:cNvPr id="60419"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0420" name="Rectangle 3"/>
          <p:cNvSpPr>
            <a:spLocks noChangeArrowheads="1"/>
          </p:cNvSpPr>
          <p:nvPr/>
        </p:nvSpPr>
        <p:spPr bwMode="auto">
          <a:xfrm>
            <a:off x="827088" y="836613"/>
            <a:ext cx="7777162"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(5) Singal capture</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Nếu tín hiệu được đảm bảo thì máy dao động ký biến đổi và biểu thị tín hiệu dưới dạng kỹ thuật số.</a:t>
            </a:r>
          </a:p>
          <a:p>
            <a:pPr eaLnBrk="1" hangingPunct="1"/>
            <a:r>
              <a:rPr lang="en-US" altLang="ko-KR">
                <a:latin typeface="Times New Roman" pitchFamily="18" charset="0"/>
                <a:cs typeface="Times New Roman" pitchFamily="18" charset="0"/>
              </a:rPr>
              <a:t>Chế độ đảm bảo được định nghĩa là phương pháp kỹ thuật số hóa tín hiệu và việc điều chỉnh trục thời gian chịu ảnh hưởng của phạm vi thời gian đảm bảo và mức độ chi tiết.</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Capture mode</a:t>
            </a:r>
            <a:r>
              <a:rPr lang="en-US" altLang="ko-KR">
                <a:latin typeface="Times New Roman" pitchFamily="18" charset="0"/>
                <a:cs typeface="Times New Roman" pitchFamily="18" charset="0"/>
              </a:rPr>
              <a:t>: capture mode bao gồm sample, phân tích đỉnh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số trung bình.</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Sample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Để hình thành sóng pha, tín hiệu biểu thị rõ ràng tín hiệu của đại đa số các sampling với các khoảng cách        	bằng nhau. Thế nhưng, có thể phát sinh dạng bậc thang không mong muốn nếu không đảm bảo được  biến 	động đột ngột của tín hiệu phát sinh trong khoảng sample. Trong trường hợp này cần phân tích đỉnh.</a:t>
            </a: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Phân tích đỉnh – Tìm giá trị thấp nhất và giá trị cao nhất của tín hiệu đầu vào trong mỗi sample và dùng giá trị đó để biểu 	thị pha sóng.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Bằng cách này, máy dao động ký có thể giành được và biểu thị độ dài pha có thể bị sót trên 	sample mode. Và nhiễu cũng xuất hiện nhiều trên mode này.</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Số trung bình – Đảm bảo được nhiều pha sóng và biểu thị pha sóng như kết quả trung bình sau. Nếu dùng mode này có thể 	giảm bớt tiếng ồn ngẫu nhiên.</a:t>
            </a:r>
          </a:p>
        </p:txBody>
      </p:sp>
      <p:sp>
        <p:nvSpPr>
          <p:cNvPr id="60421"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6042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5029200"/>
            <a:ext cx="398145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3" name="Text Box 6"/>
          <p:cNvSpPr txBox="1">
            <a:spLocks noChangeArrowheads="1"/>
          </p:cNvSpPr>
          <p:nvPr/>
        </p:nvSpPr>
        <p:spPr bwMode="auto">
          <a:xfrm>
            <a:off x="6461125" y="5970588"/>
            <a:ext cx="21955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&lt;miền bậc thang theo thời gian&gt;</a:t>
            </a:r>
          </a:p>
        </p:txBody>
      </p:sp>
      <p:sp>
        <p:nvSpPr>
          <p:cNvPr id="60424" name="직사각형 1"/>
          <p:cNvSpPr>
            <a:spLocks noChangeArrowheads="1"/>
          </p:cNvSpPr>
          <p:nvPr/>
        </p:nvSpPr>
        <p:spPr bwMode="auto">
          <a:xfrm>
            <a:off x="2486025" y="5984875"/>
            <a:ext cx="981075" cy="2746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Điểm được chọn làm sampling</a:t>
            </a:r>
            <a:endParaRPr lang="ko-KR" altLang="en-US" sz="900">
              <a:latin typeface="Times New Roman" pitchFamily="18" charset="0"/>
              <a:cs typeface="Times New Roman" pitchFamily="18" charset="0"/>
            </a:endParaRPr>
          </a:p>
        </p:txBody>
      </p:sp>
      <p:sp>
        <p:nvSpPr>
          <p:cNvPr id="60425" name="직사각형 8"/>
          <p:cNvSpPr>
            <a:spLocks noChangeArrowheads="1"/>
          </p:cNvSpPr>
          <p:nvPr/>
        </p:nvSpPr>
        <p:spPr bwMode="auto">
          <a:xfrm>
            <a:off x="2436813" y="5565775"/>
            <a:ext cx="1079500" cy="4048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Tần sóng thấp dạng pha răng cưa</a:t>
            </a:r>
            <a:endParaRPr lang="ko-KR" altLang="en-US" sz="900">
              <a:latin typeface="Times New Roman" pitchFamily="18" charset="0"/>
              <a:cs typeface="Times New Roman" pitchFamily="18" charset="0"/>
            </a:endParaRPr>
          </a:p>
        </p:txBody>
      </p:sp>
      <p:sp>
        <p:nvSpPr>
          <p:cNvPr id="60426" name="직사각형 9"/>
          <p:cNvSpPr>
            <a:spLocks noChangeArrowheads="1"/>
          </p:cNvSpPr>
          <p:nvPr/>
        </p:nvSpPr>
        <p:spPr bwMode="auto">
          <a:xfrm>
            <a:off x="2438400" y="5124450"/>
            <a:ext cx="1081088" cy="2730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Tần sóng cao thực</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BBD6340-B59B-4F03-889F-BBD62A1A9102}" type="slidenum">
              <a:rPr lang="en-US" altLang="ko-KR" sz="1400" smtClean="0">
                <a:latin typeface="Times New Roman" pitchFamily="18" charset="0"/>
                <a:cs typeface="Times New Roman" pitchFamily="18" charset="0"/>
              </a:rPr>
              <a:pPr eaLnBrk="1" hangingPunct="1"/>
              <a:t>55</a:t>
            </a:fld>
            <a:endParaRPr lang="en-US" altLang="ko-KR" sz="1400" smtClean="0">
              <a:latin typeface="Times New Roman" pitchFamily="18" charset="0"/>
              <a:cs typeface="Times New Roman" pitchFamily="18" charset="0"/>
            </a:endParaRPr>
          </a:p>
        </p:txBody>
      </p:sp>
      <p:sp>
        <p:nvSpPr>
          <p:cNvPr id="61443"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144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6) Điều khiển trục tung</a:t>
            </a:r>
            <a:endParaRPr lang="ko-KR" altLang="en-US" b="1">
              <a:latin typeface="Times New Roman" pitchFamily="18" charset="0"/>
              <a:cs typeface="Times New Roman" pitchFamily="18" charset="0"/>
            </a:endParaRPr>
          </a:p>
        </p:txBody>
      </p:sp>
      <p:sp>
        <p:nvSpPr>
          <p:cNvPr id="61445"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6144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419225"/>
            <a:ext cx="22002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7" name="Text Box 6"/>
          <p:cNvSpPr txBox="1">
            <a:spLocks noChangeArrowheads="1"/>
          </p:cNvSpPr>
          <p:nvPr/>
        </p:nvSpPr>
        <p:spPr bwMode="auto">
          <a:xfrm>
            <a:off x="1187450" y="4581525"/>
            <a:ext cx="7326313"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Vị trí tay cầm: sử dụng khi muốn di chuyển vị trí sóng màn hình lên trên/xuống dưới.</a:t>
            </a:r>
          </a:p>
          <a:p>
            <a:pPr eaLnBrk="1" latinLnBrk="1" hangingPunct="1">
              <a:lnSpc>
                <a:spcPct val="100000"/>
              </a:lnSpc>
            </a:pPr>
            <a:r>
              <a:rPr lang="en-US" altLang="ko-KR">
                <a:latin typeface="Times New Roman" pitchFamily="18" charset="0"/>
                <a:cs typeface="Times New Roman" pitchFamily="18" charset="0"/>
              </a:rPr>
              <a:t>※ Điện áp tay cầm: đổi tỷ lệ trục tung. Tăng giảm độ lớn màn hình sóng theo chiều dọc.</a:t>
            </a:r>
          </a:p>
          <a:p>
            <a:pPr eaLnBrk="1" latinLnBrk="1" hangingPunct="1">
              <a:lnSpc>
                <a:spcPct val="100000"/>
              </a:lnSpc>
            </a:pPr>
            <a:r>
              <a:rPr lang="en-US" altLang="ko-KR">
                <a:latin typeface="Times New Roman" pitchFamily="18" charset="0"/>
                <a:cs typeface="Times New Roman" pitchFamily="18" charset="0"/>
              </a:rPr>
              <a:t>	Chỉ có thể thay đổi đơn giản độ lớn màn hình chứ không thể thay đổi điện áp của pha sóng.</a:t>
            </a:r>
          </a:p>
          <a:p>
            <a:pPr eaLnBrk="1" latinLnBrk="1" hangingPunct="1">
              <a:lnSpc>
                <a:spcPct val="100000"/>
              </a:lnSpc>
            </a:pPr>
            <a:endParaRPr lang="en-US" altLang="ko-KR">
              <a:latin typeface="Times New Roman" pitchFamily="18" charset="0"/>
              <a:cs typeface="Times New Roman" pitchFamily="18" charset="0"/>
            </a:endParaRPr>
          </a:p>
          <a:p>
            <a:pPr eaLnBrk="1" latinLnBrk="1" hangingPunct="1">
              <a:lnSpc>
                <a:spcPct val="100000"/>
              </a:lnSpc>
            </a:pP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GND coupling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dùng GND coupling và biểu thị pha sóng 0V. Ở bên trong thì chanel đầu vào được nối trên mức </a:t>
            </a:r>
          </a:p>
          <a:p>
            <a:pPr eaLnBrk="1" latinLnBrk="1" hangingPunct="1">
              <a:lnSpc>
                <a:spcPct val="100000"/>
              </a:lnSpc>
            </a:pPr>
            <a:r>
              <a:rPr lang="en-US" altLang="ko-KR">
                <a:latin typeface="Times New Roman" pitchFamily="18" charset="0"/>
                <a:cs typeface="Times New Roman" pitchFamily="18" charset="0"/>
              </a:rPr>
              <a:t>tiêu chuẩn 0V.</a:t>
            </a:r>
          </a:p>
          <a:p>
            <a:pPr eaLnBrk="1" latinLnBrk="1" hangingPunct="1">
              <a:lnSpc>
                <a:spcPct val="100000"/>
              </a:lnSpc>
            </a:pP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Độ phân giải cài siêu nhỏ: tỷ lệ trục tung của giá trị đọc biểu thị sự cài đặt vạch điện áp thực khi cài đặt độ phân </a:t>
            </a:r>
          </a:p>
          <a:p>
            <a:pPr eaLnBrk="1" latinLnBrk="1" hangingPunct="1">
              <a:lnSpc>
                <a:spcPct val="100000"/>
              </a:lnSpc>
            </a:pPr>
            <a:r>
              <a:rPr lang="en-US" altLang="ko-KR">
                <a:latin typeface="Times New Roman" pitchFamily="18" charset="0"/>
                <a:cs typeface="Times New Roman" pitchFamily="18" charset="0"/>
              </a:rPr>
              <a:t> giải chỉnh siêu nhỏ. Nếu cài chỉnh thường thì khi cài đặt điều khiển vạch điện áp không thể thay đổi tỷ lệ trục tung.</a:t>
            </a:r>
          </a:p>
        </p:txBody>
      </p:sp>
      <p:pic>
        <p:nvPicPr>
          <p:cNvPr id="6144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0175" y="1108075"/>
            <a:ext cx="4319588" cy="333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직사각형 1"/>
          <p:cNvSpPr/>
          <p:nvPr/>
        </p:nvSpPr>
        <p:spPr bwMode="auto">
          <a:xfrm>
            <a:off x="3924300" y="1125538"/>
            <a:ext cx="863600"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a:latin typeface="Times New Roman" panose="02020603050405020304" pitchFamily="18" charset="0"/>
                <a:cs typeface="Times New Roman" panose="02020603050405020304" pitchFamily="18" charset="0"/>
              </a:rPr>
              <a:t>Option</a:t>
            </a:r>
            <a:endParaRPr lang="ko-KR" altLang="en-US" sz="1050" dirty="0">
              <a:latin typeface="Times New Roman" panose="02020603050405020304" pitchFamily="18" charset="0"/>
              <a:cs typeface="Times New Roman" panose="02020603050405020304" pitchFamily="18" charset="0"/>
            </a:endParaRPr>
          </a:p>
        </p:txBody>
      </p:sp>
      <p:sp>
        <p:nvSpPr>
          <p:cNvPr id="10" name="직사각형 9"/>
          <p:cNvSpPr/>
          <p:nvPr/>
        </p:nvSpPr>
        <p:spPr bwMode="auto">
          <a:xfrm>
            <a:off x="4805363" y="1112838"/>
            <a:ext cx="774700"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Cài</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đặt</a:t>
            </a:r>
            <a:endParaRPr lang="ko-KR" altLang="en-US" sz="1050" dirty="0">
              <a:latin typeface="Times New Roman" panose="02020603050405020304" pitchFamily="18" charset="0"/>
              <a:cs typeface="Times New Roman" panose="02020603050405020304" pitchFamily="18" charset="0"/>
            </a:endParaRPr>
          </a:p>
        </p:txBody>
      </p:sp>
      <p:sp>
        <p:nvSpPr>
          <p:cNvPr id="11" name="직사각형 10"/>
          <p:cNvSpPr/>
          <p:nvPr/>
        </p:nvSpPr>
        <p:spPr bwMode="auto">
          <a:xfrm>
            <a:off x="5651500" y="1093788"/>
            <a:ext cx="865188"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Chú</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thích</a:t>
            </a:r>
            <a:endParaRPr lang="ko-KR" altLang="en-US" sz="1050" dirty="0">
              <a:latin typeface="Times New Roman" panose="02020603050405020304" pitchFamily="18" charset="0"/>
              <a:cs typeface="Times New Roman" panose="02020603050405020304" pitchFamily="18" charset="0"/>
            </a:endParaRPr>
          </a:p>
        </p:txBody>
      </p:sp>
      <p:sp>
        <p:nvSpPr>
          <p:cNvPr id="61452" name="직사각형 2"/>
          <p:cNvSpPr>
            <a:spLocks noChangeArrowheads="1"/>
          </p:cNvSpPr>
          <p:nvPr/>
        </p:nvSpPr>
        <p:spPr bwMode="auto">
          <a:xfrm>
            <a:off x="4716463" y="1108075"/>
            <a:ext cx="3568700" cy="460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13" name="직사각형 12"/>
          <p:cNvSpPr/>
          <p:nvPr/>
        </p:nvSpPr>
        <p:spPr bwMode="auto">
          <a:xfrm>
            <a:off x="3903663" y="1390650"/>
            <a:ext cx="863600"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a:latin typeface="Times New Roman" panose="02020603050405020304" pitchFamily="18" charset="0"/>
                <a:cs typeface="Times New Roman" panose="02020603050405020304" pitchFamily="18" charset="0"/>
              </a:rPr>
              <a:t>Coupling</a:t>
            </a:r>
            <a:endParaRPr lang="ko-KR" altLang="en-US" sz="1050" dirty="0">
              <a:latin typeface="Times New Roman" panose="02020603050405020304" pitchFamily="18" charset="0"/>
              <a:cs typeface="Times New Roman" panose="02020603050405020304" pitchFamily="18" charset="0"/>
            </a:endParaRPr>
          </a:p>
        </p:txBody>
      </p:sp>
      <p:sp>
        <p:nvSpPr>
          <p:cNvPr id="14" name="직사각형 13"/>
          <p:cNvSpPr/>
          <p:nvPr/>
        </p:nvSpPr>
        <p:spPr bwMode="auto">
          <a:xfrm>
            <a:off x="3916363" y="2822575"/>
            <a:ext cx="863600" cy="461963"/>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Vạch</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điện</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áp</a:t>
            </a:r>
            <a:endParaRPr lang="ko-KR" altLang="en-US" sz="1050" dirty="0">
              <a:latin typeface="Times New Roman" panose="02020603050405020304" pitchFamily="18" charset="0"/>
              <a:cs typeface="Times New Roman" panose="02020603050405020304" pitchFamily="18" charset="0"/>
            </a:endParaRPr>
          </a:p>
        </p:txBody>
      </p:sp>
      <p:sp>
        <p:nvSpPr>
          <p:cNvPr id="15" name="직사각형 14"/>
          <p:cNvSpPr/>
          <p:nvPr/>
        </p:nvSpPr>
        <p:spPr bwMode="auto">
          <a:xfrm>
            <a:off x="3916363" y="3479800"/>
            <a:ext cx="863600"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a:latin typeface="Times New Roman" panose="02020603050405020304" pitchFamily="18" charset="0"/>
                <a:cs typeface="Times New Roman" panose="02020603050405020304" pitchFamily="18" charset="0"/>
              </a:rPr>
              <a:t>Probe</a:t>
            </a:r>
            <a:endParaRPr lang="ko-KR" altLang="en-US" sz="1050" dirty="0">
              <a:latin typeface="Times New Roman" panose="02020603050405020304" pitchFamily="18" charset="0"/>
              <a:cs typeface="Times New Roman" panose="02020603050405020304" pitchFamily="18" charset="0"/>
            </a:endParaRPr>
          </a:p>
        </p:txBody>
      </p:sp>
      <p:sp>
        <p:nvSpPr>
          <p:cNvPr id="16" name="직사각형 15"/>
          <p:cNvSpPr/>
          <p:nvPr/>
        </p:nvSpPr>
        <p:spPr bwMode="auto">
          <a:xfrm>
            <a:off x="3903663" y="4083050"/>
            <a:ext cx="863600"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Đảo</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chiều</a:t>
            </a:r>
            <a:endParaRPr lang="ko-KR" altLang="en-US" sz="1050" dirty="0">
              <a:latin typeface="Times New Roman" panose="02020603050405020304" pitchFamily="18" charset="0"/>
              <a:cs typeface="Times New Roman" panose="02020603050405020304" pitchFamily="18" charset="0"/>
            </a:endParaRPr>
          </a:p>
        </p:txBody>
      </p:sp>
      <p:sp>
        <p:nvSpPr>
          <p:cNvPr id="17" name="직사각형 16"/>
          <p:cNvSpPr/>
          <p:nvPr/>
        </p:nvSpPr>
        <p:spPr bwMode="auto">
          <a:xfrm>
            <a:off x="5651500" y="4098925"/>
            <a:ext cx="1512888"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defRPr/>
            </a:pP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Sóng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đổi</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chiều</a:t>
            </a:r>
            <a:endParaRPr lang="ko-KR" altLang="en-US" sz="1050" dirty="0">
              <a:latin typeface="Times New Roman" panose="02020603050405020304" pitchFamily="18" charset="0"/>
              <a:cs typeface="Times New Roman" panose="02020603050405020304" pitchFamily="18" charset="0"/>
            </a:endParaRPr>
          </a:p>
        </p:txBody>
      </p:sp>
      <p:sp>
        <p:nvSpPr>
          <p:cNvPr id="18" name="직사각형 17"/>
          <p:cNvSpPr/>
          <p:nvPr/>
        </p:nvSpPr>
        <p:spPr bwMode="auto">
          <a:xfrm>
            <a:off x="5635625" y="1352550"/>
            <a:ext cx="2752725" cy="188913"/>
          </a:xfrm>
          <a:prstGeom prst="rect">
            <a:avLst/>
          </a:prstGeom>
          <a:solidFill>
            <a:schemeClr val="bg1"/>
          </a:solidFill>
          <a:ln w="9525" cap="flat" cmpd="sng" algn="ctr">
            <a:noFill/>
            <a:prstDash val="solid"/>
            <a:round/>
            <a:headEnd type="none" w="med" len="med"/>
            <a:tailEnd type="none" w="med" len="med"/>
          </a:ln>
          <a:effectLst/>
          <a:extLst/>
        </p:spPr>
        <p:txBody>
          <a:bodyPr anchor="ctr"/>
          <a:lstStyle/>
          <a:p>
            <a:pPr algn="ctr">
              <a:defRPr/>
            </a:pPr>
            <a:r>
              <a:rPr lang="en-US" altLang="ko-KR" sz="900" dirty="0">
                <a:latin typeface="Times New Roman" panose="02020603050405020304" pitchFamily="18" charset="0"/>
                <a:cs typeface="Times New Roman" panose="02020603050405020304" pitchFamily="18" charset="0"/>
              </a:rPr>
              <a:t>Cho </a:t>
            </a:r>
            <a:r>
              <a:rPr lang="en-US" altLang="ko-KR" sz="900" dirty="0" err="1">
                <a:latin typeface="Times New Roman" panose="02020603050405020304" pitchFamily="18" charset="0"/>
                <a:cs typeface="Times New Roman" panose="02020603050405020304" pitchFamily="18" charset="0"/>
              </a:rPr>
              <a:t>cả</a:t>
            </a:r>
            <a:r>
              <a:rPr lang="en-US" altLang="ko-KR" sz="900" dirty="0">
                <a:latin typeface="Times New Roman" panose="02020603050405020304" pitchFamily="18" charset="0"/>
                <a:cs typeface="Times New Roman" panose="02020603050405020304" pitchFamily="18" charset="0"/>
              </a:rPr>
              <a:t> AC </a:t>
            </a:r>
            <a:r>
              <a:rPr lang="en-US" altLang="ko-KR" sz="900" dirty="0" err="1">
                <a:latin typeface="Times New Roman" panose="02020603050405020304" pitchFamily="18" charset="0"/>
                <a:cs typeface="Times New Roman" panose="02020603050405020304" pitchFamily="18" charset="0"/>
              </a:rPr>
              <a:t>và</a:t>
            </a:r>
            <a:r>
              <a:rPr lang="en-US" altLang="ko-KR" sz="900" dirty="0">
                <a:latin typeface="Times New Roman" panose="02020603050405020304" pitchFamily="18" charset="0"/>
                <a:cs typeface="Times New Roman" panose="02020603050405020304" pitchFamily="18" charset="0"/>
              </a:rPr>
              <a:t> DC </a:t>
            </a:r>
            <a:r>
              <a:rPr lang="en-US" altLang="ko-KR" sz="900" dirty="0" err="1">
                <a:latin typeface="Times New Roman" panose="02020603050405020304" pitchFamily="18" charset="0"/>
                <a:cs typeface="Times New Roman" panose="02020603050405020304" pitchFamily="18" charset="0"/>
              </a:rPr>
              <a:t>của</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tín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hiệu</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sóng</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vào</a:t>
            </a:r>
            <a:r>
              <a:rPr lang="en-US" altLang="ko-KR" sz="900" dirty="0">
                <a:latin typeface="Times New Roman" panose="02020603050405020304" pitchFamily="18" charset="0"/>
                <a:cs typeface="Times New Roman" panose="02020603050405020304" pitchFamily="18" charset="0"/>
              </a:rPr>
              <a:t> DC </a:t>
            </a:r>
            <a:r>
              <a:rPr lang="en-US" altLang="ko-KR" sz="900" dirty="0" err="1">
                <a:latin typeface="Times New Roman" panose="02020603050405020304" pitchFamily="18" charset="0"/>
                <a:cs typeface="Times New Roman" panose="02020603050405020304" pitchFamily="18" charset="0"/>
              </a:rPr>
              <a:t>chạy</a:t>
            </a:r>
            <a:r>
              <a:rPr lang="en-US" altLang="ko-KR" sz="900" dirty="0">
                <a:latin typeface="Times New Roman" panose="02020603050405020304" pitchFamily="18" charset="0"/>
                <a:cs typeface="Times New Roman" panose="02020603050405020304" pitchFamily="18" charset="0"/>
              </a:rPr>
              <a:t> qua</a:t>
            </a:r>
            <a:r>
              <a:rPr lang="en-US" altLang="ko-KR" sz="1050" dirty="0">
                <a:latin typeface="Times New Roman" panose="02020603050405020304" pitchFamily="18" charset="0"/>
                <a:cs typeface="Times New Roman" panose="02020603050405020304" pitchFamily="18" charset="0"/>
              </a:rPr>
              <a:t>.</a:t>
            </a:r>
            <a:endParaRPr lang="ko-KR" altLang="en-US" sz="1050" dirty="0">
              <a:latin typeface="Times New Roman" panose="02020603050405020304" pitchFamily="18" charset="0"/>
              <a:cs typeface="Times New Roman" panose="02020603050405020304" pitchFamily="18" charset="0"/>
            </a:endParaRPr>
          </a:p>
        </p:txBody>
      </p:sp>
      <p:sp>
        <p:nvSpPr>
          <p:cNvPr id="19" name="직사각형 18"/>
          <p:cNvSpPr/>
          <p:nvPr/>
        </p:nvSpPr>
        <p:spPr bwMode="auto">
          <a:xfrm>
            <a:off x="5651500" y="2060575"/>
            <a:ext cx="1360488" cy="188913"/>
          </a:xfrm>
          <a:prstGeom prst="rect">
            <a:avLst/>
          </a:prstGeom>
          <a:solidFill>
            <a:schemeClr val="bg1"/>
          </a:solidFill>
          <a:ln w="9525" cap="flat" cmpd="sng" algn="ctr">
            <a:noFill/>
            <a:prstDash val="solid"/>
            <a:round/>
            <a:headEnd type="none" w="med" len="med"/>
            <a:tailEnd type="none" w="med" len="med"/>
          </a:ln>
          <a:effectLst/>
          <a:extLst/>
        </p:spPr>
        <p:txBody>
          <a:bodyPr anchor="ctr"/>
          <a:lstStyle/>
          <a:p>
            <a:pPr>
              <a:defRPr/>
            </a:pP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Tách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tín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hiệu</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sóng</a:t>
            </a:r>
            <a:r>
              <a:rPr lang="en-US" altLang="ko-KR" sz="900" dirty="0">
                <a:latin typeface="Times New Roman" panose="02020603050405020304" pitchFamily="18" charset="0"/>
                <a:cs typeface="Times New Roman" panose="02020603050405020304" pitchFamily="18" charset="0"/>
              </a:rPr>
              <a:t>.</a:t>
            </a:r>
            <a:endParaRPr lang="ko-KR" altLang="en-US" sz="1050" dirty="0">
              <a:latin typeface="Times New Roman" panose="02020603050405020304" pitchFamily="18" charset="0"/>
              <a:cs typeface="Times New Roman" panose="02020603050405020304" pitchFamily="18" charset="0"/>
            </a:endParaRPr>
          </a:p>
        </p:txBody>
      </p:sp>
      <p:sp>
        <p:nvSpPr>
          <p:cNvPr id="61460" name="직사각형 19"/>
          <p:cNvSpPr>
            <a:spLocks noChangeArrowheads="1"/>
          </p:cNvSpPr>
          <p:nvPr/>
        </p:nvSpPr>
        <p:spPr bwMode="auto">
          <a:xfrm>
            <a:off x="5651500" y="1606550"/>
            <a:ext cx="2305050" cy="3540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Chặn phần DC của sóng vào và giảm tín hiệu </a:t>
            </a:r>
          </a:p>
          <a:p>
            <a:pPr eaLnBrk="1" hangingPunct="1"/>
            <a:r>
              <a:rPr lang="en-US" altLang="ko-KR" sz="900">
                <a:latin typeface="Times New Roman" pitchFamily="18" charset="0"/>
                <a:cs typeface="Times New Roman" pitchFamily="18" charset="0"/>
              </a:rPr>
              <a:t>dưới 10Hz</a:t>
            </a:r>
            <a:endParaRPr lang="ko-KR" altLang="en-US" sz="900">
              <a:latin typeface="Times New Roman" pitchFamily="18" charset="0"/>
              <a:cs typeface="Times New Roman" pitchFamily="18" charset="0"/>
            </a:endParaRPr>
          </a:p>
        </p:txBody>
      </p:sp>
      <p:sp>
        <p:nvSpPr>
          <p:cNvPr id="22" name="직사각형 21"/>
          <p:cNvSpPr/>
          <p:nvPr/>
        </p:nvSpPr>
        <p:spPr bwMode="auto">
          <a:xfrm>
            <a:off x="3933825" y="2319338"/>
            <a:ext cx="855663" cy="215900"/>
          </a:xfrm>
          <a:prstGeom prst="rect">
            <a:avLst/>
          </a:prstGeom>
          <a:solidFill>
            <a:schemeClr val="bg1"/>
          </a:solidFill>
          <a:ln w="9525" cap="flat" cmpd="sng" algn="ctr">
            <a:noFill/>
            <a:prstDash val="solid"/>
            <a:round/>
            <a:headEnd type="none" w="med" len="med"/>
            <a:tailEnd type="none" w="med" len="med"/>
          </a:ln>
          <a:effectLst/>
          <a:extLst/>
        </p:spPr>
        <p:txBody>
          <a:bodyPr/>
          <a:lstStyle/>
          <a:p>
            <a:pPr algn="ctr">
              <a:defRPr/>
            </a:pPr>
            <a:r>
              <a:rPr lang="en-US" altLang="ko-KR" sz="1050" dirty="0" err="1">
                <a:latin typeface="Times New Roman" panose="02020603050405020304" pitchFamily="18" charset="0"/>
                <a:cs typeface="Times New Roman" panose="02020603050405020304" pitchFamily="18" charset="0"/>
              </a:rPr>
              <a:t>Dải</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băng</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giới</a:t>
            </a:r>
            <a:r>
              <a:rPr lang="en-US" altLang="ko-KR" sz="1050" dirty="0">
                <a:latin typeface="Times New Roman" panose="02020603050405020304" pitchFamily="18" charset="0"/>
                <a:cs typeface="Times New Roman" panose="02020603050405020304" pitchFamily="18" charset="0"/>
              </a:rPr>
              <a:t> </a:t>
            </a:r>
            <a:r>
              <a:rPr lang="en-US" altLang="ko-KR" sz="1050" dirty="0" err="1">
                <a:latin typeface="Times New Roman" panose="02020603050405020304" pitchFamily="18" charset="0"/>
                <a:cs typeface="Times New Roman" panose="02020603050405020304" pitchFamily="18" charset="0"/>
              </a:rPr>
              <a:t>hạn</a:t>
            </a:r>
            <a:endParaRPr lang="ko-KR" altLang="en-US" sz="1050" dirty="0">
              <a:latin typeface="Times New Roman" panose="02020603050405020304" pitchFamily="18" charset="0"/>
              <a:cs typeface="Times New Roman" panose="02020603050405020304" pitchFamily="18" charset="0"/>
            </a:endParaRPr>
          </a:p>
        </p:txBody>
      </p:sp>
      <p:sp>
        <p:nvSpPr>
          <p:cNvPr id="61462" name="직사각형 22"/>
          <p:cNvSpPr>
            <a:spLocks noChangeArrowheads="1"/>
          </p:cNvSpPr>
          <p:nvPr/>
        </p:nvSpPr>
        <p:spPr bwMode="auto">
          <a:xfrm>
            <a:off x="5683250" y="2286000"/>
            <a:ext cx="2417763" cy="1682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Giới hạn độ rộng băng và giảm nhiễu màn hình.</a:t>
            </a:r>
            <a:endParaRPr lang="ko-KR" altLang="en-US" sz="900">
              <a:latin typeface="Times New Roman" pitchFamily="18" charset="0"/>
              <a:cs typeface="Times New Roman" pitchFamily="18" charset="0"/>
            </a:endParaRPr>
          </a:p>
        </p:txBody>
      </p:sp>
      <p:sp>
        <p:nvSpPr>
          <p:cNvPr id="61463" name="직사각형 23"/>
          <p:cNvSpPr>
            <a:spLocks noChangeArrowheads="1"/>
          </p:cNvSpPr>
          <p:nvPr/>
        </p:nvSpPr>
        <p:spPr bwMode="auto">
          <a:xfrm>
            <a:off x="5683250" y="2454275"/>
            <a:ext cx="2576513" cy="2936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Lọc tín hiệu, giảm nhiễu và tần sóng cao không mong muốn khác.</a:t>
            </a:r>
            <a:endParaRPr lang="ko-KR" altLang="en-US" sz="900">
              <a:latin typeface="Times New Roman" pitchFamily="18" charset="0"/>
              <a:cs typeface="Times New Roman" pitchFamily="18" charset="0"/>
            </a:endParaRPr>
          </a:p>
        </p:txBody>
      </p:sp>
      <p:sp>
        <p:nvSpPr>
          <p:cNvPr id="61464" name="직사각형 24"/>
          <p:cNvSpPr>
            <a:spLocks noChangeArrowheads="1"/>
          </p:cNvSpPr>
          <p:nvPr/>
        </p:nvSpPr>
        <p:spPr bwMode="auto">
          <a:xfrm>
            <a:off x="4859338" y="2789238"/>
            <a:ext cx="766762" cy="5286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Chỉnh thường</a:t>
            </a:r>
          </a:p>
          <a:p>
            <a:pPr algn="ctr" eaLnBrk="1" hangingPunct="1"/>
            <a:endParaRPr lang="en-US" altLang="ko-KR" sz="800">
              <a:latin typeface="Times New Roman" pitchFamily="18" charset="0"/>
              <a:cs typeface="Times New Roman" pitchFamily="18" charset="0"/>
            </a:endParaRPr>
          </a:p>
          <a:p>
            <a:pPr algn="ctr" eaLnBrk="1" hangingPunct="1"/>
            <a:r>
              <a:rPr lang="en-US" altLang="ko-KR" sz="700">
                <a:latin typeface="Times New Roman" pitchFamily="18" charset="0"/>
                <a:cs typeface="Times New Roman" pitchFamily="18" charset="0"/>
              </a:rPr>
              <a:t>Chỉnh siêu nhỏ</a:t>
            </a:r>
            <a:endParaRPr lang="ko-KR" altLang="en-US" sz="700">
              <a:latin typeface="Times New Roman" pitchFamily="18" charset="0"/>
              <a:cs typeface="Times New Roman" pitchFamily="18" charset="0"/>
            </a:endParaRPr>
          </a:p>
        </p:txBody>
      </p:sp>
      <p:sp>
        <p:nvSpPr>
          <p:cNvPr id="26" name="직사각형 25"/>
          <p:cNvSpPr/>
          <p:nvPr/>
        </p:nvSpPr>
        <p:spPr bwMode="auto">
          <a:xfrm>
            <a:off x="5668963" y="2789238"/>
            <a:ext cx="2590800" cy="188912"/>
          </a:xfrm>
          <a:prstGeom prst="rect">
            <a:avLst/>
          </a:prstGeom>
          <a:solidFill>
            <a:schemeClr val="bg1"/>
          </a:solidFill>
          <a:ln w="9525" cap="flat" cmpd="sng" algn="ctr">
            <a:noFill/>
            <a:prstDash val="solid"/>
            <a:round/>
            <a:headEnd type="none" w="med" len="med"/>
            <a:tailEnd type="none" w="med" len="med"/>
          </a:ln>
          <a:effectLst/>
          <a:extLst/>
        </p:spPr>
        <p:txBody>
          <a:bodyPr anchor="ctr"/>
          <a:lstStyle/>
          <a:p>
            <a:pPr>
              <a:defRPr/>
            </a:pP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Chọn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độ</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phân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giải</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của</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vạch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điện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áp</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tay</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cầm</a:t>
            </a:r>
            <a:r>
              <a:rPr lang="en-US" altLang="ko-KR" sz="900" dirty="0">
                <a:latin typeface="Times New Roman" panose="02020603050405020304" pitchFamily="18" charset="0"/>
                <a:cs typeface="Times New Roman" panose="02020603050405020304" pitchFamily="18" charset="0"/>
              </a:rPr>
              <a:t>.</a:t>
            </a:r>
            <a:endParaRPr lang="ko-KR" altLang="en-US" sz="1050" dirty="0">
              <a:latin typeface="Times New Roman" panose="02020603050405020304" pitchFamily="18" charset="0"/>
              <a:cs typeface="Times New Roman" panose="02020603050405020304" pitchFamily="18" charset="0"/>
            </a:endParaRPr>
          </a:p>
        </p:txBody>
      </p:sp>
      <p:sp>
        <p:nvSpPr>
          <p:cNvPr id="27" name="직사각형 26"/>
          <p:cNvSpPr/>
          <p:nvPr/>
        </p:nvSpPr>
        <p:spPr bwMode="auto">
          <a:xfrm>
            <a:off x="5683250" y="2978150"/>
            <a:ext cx="2576513" cy="403225"/>
          </a:xfrm>
          <a:prstGeom prst="rect">
            <a:avLst/>
          </a:prstGeom>
          <a:solidFill>
            <a:schemeClr val="bg1"/>
          </a:solidFill>
          <a:ln w="9525" cap="flat" cmpd="sng" algn="ctr">
            <a:noFill/>
            <a:prstDash val="solid"/>
            <a:round/>
            <a:headEnd type="none" w="med" len="med"/>
            <a:tailEnd type="none" w="med" len="med"/>
          </a:ln>
          <a:effectLst/>
          <a:extLst/>
        </p:spPr>
        <p:txBody>
          <a:bodyPr anchor="ctr"/>
          <a:lstStyle/>
          <a:p>
            <a:pPr>
              <a:defRPr/>
            </a:pPr>
            <a:r>
              <a:rPr lang="en-US" altLang="ko-KR" sz="900" dirty="0" err="1">
                <a:latin typeface="Times New Roman" panose="02020603050405020304" pitchFamily="18" charset="0"/>
                <a:cs typeface="Times New Roman" panose="02020603050405020304" pitchFamily="18" charset="0"/>
              </a:rPr>
              <a:t>Chỉnh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thường</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được</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định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nghĩa</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theo</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thứ</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tự</a:t>
            </a:r>
            <a:r>
              <a:rPr lang="en-US" altLang="ko-KR" sz="900" dirty="0">
                <a:latin typeface="Times New Roman" panose="02020603050405020304" pitchFamily="18" charset="0"/>
                <a:cs typeface="Times New Roman" panose="02020603050405020304" pitchFamily="18" charset="0"/>
              </a:rPr>
              <a:t> 1-2-5. </a:t>
            </a:r>
            <a:r>
              <a:rPr lang="en-US" altLang="ko-KR" sz="900" dirty="0" err="1">
                <a:latin typeface="Times New Roman" panose="02020603050405020304" pitchFamily="18" charset="0"/>
                <a:cs typeface="Times New Roman" panose="02020603050405020304" pitchFamily="18" charset="0"/>
              </a:rPr>
              <a:t>Chỉnh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siêu</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nhỏ</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thay</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đổi</a:t>
            </a:r>
            <a:r>
              <a:rPr lang="en-US" altLang="ko-KR" sz="900" dirty="0">
                <a:latin typeface="Times New Roman" panose="02020603050405020304" pitchFamily="18" charset="0"/>
                <a:cs typeface="Times New Roman" panose="02020603050405020304" pitchFamily="18" charset="0"/>
              </a:rPr>
              <a:t> ở </a:t>
            </a:r>
            <a:r>
              <a:rPr lang="en-US" altLang="ko-KR" sz="900" dirty="0" err="1">
                <a:latin typeface="Times New Roman" panose="02020603050405020304" pitchFamily="18" charset="0"/>
                <a:cs typeface="Times New Roman" panose="02020603050405020304" pitchFamily="18" charset="0"/>
              </a:rPr>
              <a:t>mức</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độ</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nhỏ</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độ</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phân</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giải</a:t>
            </a:r>
            <a:r>
              <a:rPr lang="en-US" altLang="ko-KR" sz="900" dirty="0">
                <a:latin typeface="Times New Roman" panose="02020603050405020304" pitchFamily="18" charset="0"/>
                <a:cs typeface="Times New Roman" panose="02020603050405020304" pitchFamily="18" charset="0"/>
              </a:rPr>
              <a:t> so </a:t>
            </a:r>
            <a:r>
              <a:rPr lang="en-US" altLang="ko-KR" sz="900" dirty="0" err="1">
                <a:latin typeface="Times New Roman" panose="02020603050405020304" pitchFamily="18" charset="0"/>
                <a:cs typeface="Times New Roman" panose="02020603050405020304" pitchFamily="18" charset="0"/>
              </a:rPr>
              <a:t>với</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cài</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đặt</a:t>
            </a:r>
            <a:r>
              <a:rPr lang="en-US" altLang="ko-KR" sz="900" dirty="0">
                <a:latin typeface="Times New Roman" panose="02020603050405020304" pitchFamily="18" charset="0"/>
                <a:cs typeface="Times New Roman" panose="02020603050405020304" pitchFamily="18" charset="0"/>
              </a:rPr>
              <a:t> ở </a:t>
            </a:r>
            <a:r>
              <a:rPr lang="en-US" altLang="ko-KR" sz="900" dirty="0" err="1">
                <a:latin typeface="Times New Roman" panose="02020603050405020304" pitchFamily="18" charset="0"/>
                <a:cs typeface="Times New Roman" panose="02020603050405020304" pitchFamily="18" charset="0"/>
              </a:rPr>
              <a:t>mức</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chỉnh</a:t>
            </a:r>
            <a:r>
              <a:rPr lang="en-US" altLang="ko-KR" sz="900" dirty="0">
                <a:latin typeface="Times New Roman" panose="02020603050405020304" pitchFamily="18" charset="0"/>
                <a:cs typeface="Times New Roman" panose="02020603050405020304" pitchFamily="18" charset="0"/>
              </a:rPr>
              <a:t> </a:t>
            </a:r>
            <a:r>
              <a:rPr lang="en-US" altLang="ko-KR" sz="900" dirty="0" err="1">
                <a:latin typeface="Times New Roman" panose="02020603050405020304" pitchFamily="18" charset="0"/>
                <a:cs typeface="Times New Roman" panose="02020603050405020304" pitchFamily="18" charset="0"/>
              </a:rPr>
              <a:t>thường</a:t>
            </a:r>
            <a:endParaRPr lang="ko-KR" altLang="en-US" sz="1050" dirty="0">
              <a:latin typeface="Times New Roman" panose="02020603050405020304" pitchFamily="18" charset="0"/>
              <a:cs typeface="Times New Roman" panose="02020603050405020304" pitchFamily="18" charset="0"/>
            </a:endParaRPr>
          </a:p>
        </p:txBody>
      </p:sp>
      <p:sp>
        <p:nvSpPr>
          <p:cNvPr id="61467" name="직사각형 27"/>
          <p:cNvSpPr>
            <a:spLocks noChangeArrowheads="1"/>
          </p:cNvSpPr>
          <p:nvPr/>
        </p:nvSpPr>
        <p:spPr bwMode="auto">
          <a:xfrm>
            <a:off x="5711825" y="3463925"/>
            <a:ext cx="2487613" cy="2936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Để có giá trị đọc chính xác phải thiết lập sao cho các loại Probe thống nhất với nhau.</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95E8BA4-C202-4B42-95D5-B4B48C4ACB7E}" type="slidenum">
              <a:rPr lang="en-US" altLang="ko-KR" sz="1400" smtClean="0">
                <a:latin typeface="Times New Roman" pitchFamily="18" charset="0"/>
                <a:cs typeface="Times New Roman" pitchFamily="18" charset="0"/>
              </a:rPr>
              <a:pPr eaLnBrk="1" hangingPunct="1"/>
              <a:t>56</a:t>
            </a:fld>
            <a:endParaRPr lang="en-US" altLang="ko-KR" sz="1400" smtClean="0">
              <a:latin typeface="Times New Roman" pitchFamily="18" charset="0"/>
              <a:cs typeface="Times New Roman" pitchFamily="18" charset="0"/>
            </a:endParaRPr>
          </a:p>
        </p:txBody>
      </p:sp>
      <p:sp>
        <p:nvSpPr>
          <p:cNvPr id="62467"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246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7</a:t>
            </a:r>
            <a:r>
              <a:rPr lang="en-US" altLang="en-US" b="1">
                <a:latin typeface="Times New Roman" pitchFamily="18" charset="0"/>
                <a:cs typeface="Times New Roman" pitchFamily="18" charset="0"/>
              </a:rPr>
              <a:t>) Điều khiển cầm tay</a:t>
            </a: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latinLnBrk="1" hangingPunct="1">
              <a:lnSpc>
                <a:spcPct val="100000"/>
              </a:lnSpc>
            </a:pPr>
            <a:r>
              <a:rPr lang="en-US" altLang="ko-KR" b="1">
                <a:latin typeface="Times New Roman" pitchFamily="18" charset="0"/>
                <a:cs typeface="Times New Roman" pitchFamily="18" charset="0"/>
              </a:rPr>
              <a:t>(8) Điều khiển trig</a:t>
            </a:r>
            <a:endParaRPr lang="en-US" altLang="ko-KR">
              <a:latin typeface="Times New Roman" pitchFamily="18" charset="0"/>
              <a:cs typeface="Times New Roman" pitchFamily="18" charset="0"/>
            </a:endParaRPr>
          </a:p>
        </p:txBody>
      </p:sp>
      <p:sp>
        <p:nvSpPr>
          <p:cNvPr id="62469"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6247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1675" y="981075"/>
            <a:ext cx="1171575"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71" name="Text Box 6"/>
          <p:cNvSpPr txBox="1">
            <a:spLocks noChangeArrowheads="1"/>
          </p:cNvSpPr>
          <p:nvPr/>
        </p:nvSpPr>
        <p:spPr bwMode="auto">
          <a:xfrm>
            <a:off x="1201738" y="1854200"/>
            <a:ext cx="4233862"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Sử dụng khi di chuyển sang trái phải vị trí của sóng trên màn hình.</a:t>
            </a:r>
          </a:p>
        </p:txBody>
      </p:sp>
      <p:sp>
        <p:nvSpPr>
          <p:cNvPr id="62472" name="Text Box 7"/>
          <p:cNvSpPr txBox="1">
            <a:spLocks noChangeArrowheads="1"/>
          </p:cNvSpPr>
          <p:nvPr/>
        </p:nvSpPr>
        <p:spPr bwMode="auto">
          <a:xfrm>
            <a:off x="1162050" y="2643188"/>
            <a:ext cx="382905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Biến đổi quy mô trục hoành. Tăng giảm trái phải độ rộng </a:t>
            </a:r>
          </a:p>
          <a:p>
            <a:pPr eaLnBrk="1" latinLnBrk="1" hangingPunct="1">
              <a:lnSpc>
                <a:spcPct val="100000"/>
              </a:lnSpc>
            </a:pPr>
            <a:r>
              <a:rPr lang="en-US" altLang="ko-KR">
                <a:latin typeface="Times New Roman" pitchFamily="18" charset="0"/>
                <a:cs typeface="Times New Roman" pitchFamily="18" charset="0"/>
              </a:rPr>
              <a:t> sóng pha. Chỉ có thể thay đổi đơn giản độ lớn màn hình </a:t>
            </a:r>
          </a:p>
          <a:p>
            <a:pPr eaLnBrk="1" latinLnBrk="1" hangingPunct="1">
              <a:lnSpc>
                <a:spcPct val="100000"/>
              </a:lnSpc>
            </a:pPr>
            <a:r>
              <a:rPr lang="en-US" altLang="ko-KR">
                <a:latin typeface="Times New Roman" pitchFamily="18" charset="0"/>
                <a:cs typeface="Times New Roman" pitchFamily="18" charset="0"/>
              </a:rPr>
              <a:t> chứ không thể thay đổi giá trị trục thời gian của pha sóng.</a:t>
            </a:r>
          </a:p>
        </p:txBody>
      </p:sp>
      <p:sp>
        <p:nvSpPr>
          <p:cNvPr id="62473" name="Line 8"/>
          <p:cNvSpPr>
            <a:spLocks noChangeShapeType="1"/>
          </p:cNvSpPr>
          <p:nvPr/>
        </p:nvSpPr>
        <p:spPr bwMode="auto">
          <a:xfrm flipH="1" flipV="1">
            <a:off x="5429250" y="2006600"/>
            <a:ext cx="655638" cy="539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2474" name="Line 9"/>
          <p:cNvSpPr>
            <a:spLocks noChangeShapeType="1"/>
          </p:cNvSpPr>
          <p:nvPr/>
        </p:nvSpPr>
        <p:spPr bwMode="auto">
          <a:xfrm flipH="1" flipV="1">
            <a:off x="5505450" y="2997200"/>
            <a:ext cx="506413"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2475" name="Rectangle 10"/>
          <p:cNvSpPr>
            <a:spLocks noChangeArrowheads="1"/>
          </p:cNvSpPr>
          <p:nvPr/>
        </p:nvSpPr>
        <p:spPr bwMode="auto">
          <a:xfrm>
            <a:off x="914400" y="3933825"/>
            <a:ext cx="7239000" cy="259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endParaRPr lang="en-US" altLang="ko-KR" sz="1400">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TRIG MENU : biểu thị trig menu.</a:t>
            </a:r>
          </a:p>
          <a:p>
            <a:pPr eaLnBrk="1" latinLnBrk="1" hangingPunct="1">
              <a:lnSpc>
                <a:spcPct val="100000"/>
              </a:lnSpc>
            </a:pPr>
            <a:r>
              <a:rPr lang="en-US" altLang="ko-KR">
                <a:latin typeface="Times New Roman" pitchFamily="18" charset="0"/>
                <a:cs typeface="Times New Roman" pitchFamily="18" charset="0"/>
              </a:rPr>
              <a:t>SET TO 50% : Mức độ trig điều chỉnh bằng điểm chỉ định giữa trục tung của khoảng cách đỉnh tín hiệu trig</a:t>
            </a:r>
          </a:p>
          <a:p>
            <a:pPr eaLnBrk="1" latinLnBrk="1" hangingPunct="1">
              <a:lnSpc>
                <a:spcPct val="100000"/>
              </a:lnSpc>
            </a:pPr>
            <a:r>
              <a:rPr lang="en-US" altLang="ko-KR">
                <a:latin typeface="Times New Roman" pitchFamily="18" charset="0"/>
                <a:cs typeface="Times New Roman" pitchFamily="18" charset="0"/>
              </a:rPr>
              <a:t>FORCE TRIG : hoàn thành trên mọi tín hiệu trig phù hợp.</a:t>
            </a:r>
          </a:p>
          <a:p>
            <a:pPr eaLnBrk="1" latinLnBrk="1" hangingPunct="1">
              <a:lnSpc>
                <a:spcPct val="100000"/>
              </a:lnSpc>
            </a:pPr>
            <a:r>
              <a:rPr lang="en-US" altLang="ko-KR">
                <a:latin typeface="Times New Roman" pitchFamily="18" charset="0"/>
                <a:cs typeface="Times New Roman" pitchFamily="18" charset="0"/>
              </a:rPr>
              <a:t>TRIG VIEW : khi bấm nút, sóng trig được hiển thị tại vị trí pha chanel.</a:t>
            </a:r>
          </a:p>
        </p:txBody>
      </p:sp>
      <p:pic>
        <p:nvPicPr>
          <p:cNvPr id="62476"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216400"/>
            <a:ext cx="3886200"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9183314-EAA4-491E-A8A2-B0B1E75E3C44}" type="slidenum">
              <a:rPr lang="en-US" altLang="ko-KR" sz="1400" smtClean="0">
                <a:latin typeface="Times New Roman" pitchFamily="18" charset="0"/>
                <a:cs typeface="Times New Roman" pitchFamily="18" charset="0"/>
              </a:rPr>
              <a:pPr eaLnBrk="1" hangingPunct="1"/>
              <a:t>57</a:t>
            </a:fld>
            <a:endParaRPr lang="en-US" altLang="ko-KR" sz="1400" smtClean="0">
              <a:latin typeface="Times New Roman" pitchFamily="18" charset="0"/>
              <a:cs typeface="Times New Roman" pitchFamily="18" charset="0"/>
            </a:endParaRPr>
          </a:p>
        </p:txBody>
      </p:sp>
      <p:sp>
        <p:nvSpPr>
          <p:cNvPr id="63491" name="Text Box 2"/>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349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(9) Menu và nút điều khiển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sz="900">
              <a:latin typeface="Times New Roman" pitchFamily="18" charset="0"/>
              <a:cs typeface="Times New Roman" pitchFamily="18" charset="0"/>
            </a:endParaRPr>
          </a:p>
          <a:p>
            <a:pPr eaLnBrk="1" hangingPunct="1"/>
            <a:endParaRPr lang="ko-KR" altLang="en-US" sz="900">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SAVE/RECALL : lưu giữ cài đặt và hình dạng pha sóng/Call menu</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MEASURE : menu đo tự động</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ACQUIRE : menu đảm bảo</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DISPLAY : menu màn hình</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CURSOR : menu con trỏ</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UTILITY : menu tiện ích</a:t>
            </a:r>
            <a:endParaRPr lang="ko-KR" altLang="en-US">
              <a:latin typeface="Times New Roman" pitchFamily="18" charset="0"/>
              <a:cs typeface="Times New Roman" pitchFamily="18" charset="0"/>
            </a:endParaRPr>
          </a:p>
          <a:p>
            <a:pPr eaLnBrk="1" hangingPunct="1">
              <a:lnSpc>
                <a:spcPct val="110000"/>
              </a:lnSpc>
            </a:pPr>
            <a:r>
              <a:rPr lang="en-US" altLang="ko-KR">
                <a:latin typeface="Times New Roman" pitchFamily="18" charset="0"/>
                <a:cs typeface="Times New Roman" pitchFamily="18" charset="0"/>
              </a:rPr>
              <a:t>Chỉnh giá trị cơ bản: được gọi là cài đặt trong công xưởng</a:t>
            </a:r>
            <a:endParaRPr lang="ko-KR" altLang="en-US">
              <a:latin typeface="Times New Roman" pitchFamily="18" charset="0"/>
              <a:cs typeface="Times New Roman" pitchFamily="18" charset="0"/>
            </a:endParaRPr>
          </a:p>
        </p:txBody>
      </p:sp>
      <p:sp>
        <p:nvSpPr>
          <p:cNvPr id="63493"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6349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38250"/>
            <a:ext cx="479107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5" name="Text Box 6"/>
          <p:cNvSpPr txBox="1">
            <a:spLocks noChangeArrowheads="1"/>
          </p:cNvSpPr>
          <p:nvPr/>
        </p:nvSpPr>
        <p:spPr bwMode="auto">
          <a:xfrm>
            <a:off x="4038600" y="2854325"/>
            <a:ext cx="47640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AUTO SET : điều chỉnh bảng điều khiển tự động của máy dao động ký để</a:t>
            </a:r>
          </a:p>
          <a:p>
            <a:pPr eaLnBrk="1" latinLnBrk="1" hangingPunct="1">
              <a:lnSpc>
                <a:spcPct val="100000"/>
              </a:lnSpc>
            </a:pPr>
            <a:r>
              <a:rPr lang="en-US" altLang="ko-KR">
                <a:latin typeface="Times New Roman" pitchFamily="18" charset="0"/>
                <a:cs typeface="Times New Roman" pitchFamily="18" charset="0"/>
              </a:rPr>
              <a:t> 	hiển thị màn hình hữu ích của tín hiệu đầu vào.</a:t>
            </a:r>
          </a:p>
          <a:p>
            <a:pPr eaLnBrk="1" latinLnBrk="1" hangingPunct="1">
              <a:lnSpc>
                <a:spcPct val="100000"/>
              </a:lnSpc>
            </a:pPr>
            <a:r>
              <a:rPr lang="en-US" altLang="ko-KR">
                <a:latin typeface="Times New Roman" pitchFamily="18" charset="0"/>
                <a:cs typeface="Times New Roman" pitchFamily="18" charset="0"/>
              </a:rPr>
              <a:t>RUN/STOP : Liên tục ngắt hoặc giữ sóng.</a:t>
            </a:r>
          </a:p>
        </p:txBody>
      </p:sp>
      <p:pic>
        <p:nvPicPr>
          <p:cNvPr id="6349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863" y="3917950"/>
            <a:ext cx="1871662"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7"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141913"/>
            <a:ext cx="1800225" cy="123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8"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9338" y="3933825"/>
            <a:ext cx="2592387" cy="161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9" name="Text Box 10"/>
          <p:cNvSpPr txBox="1">
            <a:spLocks noChangeArrowheads="1"/>
          </p:cNvSpPr>
          <p:nvPr/>
        </p:nvSpPr>
        <p:spPr bwMode="auto">
          <a:xfrm>
            <a:off x="3184525" y="6035675"/>
            <a:ext cx="19843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Sử dụng chức năng Cursor</a:t>
            </a:r>
            <a:endParaRPr lang="ko-KR" altLang="en-US">
              <a:latin typeface="Times New Roman" pitchFamily="18" charset="0"/>
              <a:cs typeface="Times New Roman" pitchFamily="18" charset="0"/>
            </a:endParaRPr>
          </a:p>
        </p:txBody>
      </p:sp>
      <p:sp>
        <p:nvSpPr>
          <p:cNvPr id="63500" name="Text Box 11"/>
          <p:cNvSpPr txBox="1">
            <a:spLocks noChangeArrowheads="1"/>
          </p:cNvSpPr>
          <p:nvPr/>
        </p:nvSpPr>
        <p:spPr bwMode="auto">
          <a:xfrm>
            <a:off x="4932363" y="5589588"/>
            <a:ext cx="21351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Sử dụng chức năng Measure</a:t>
            </a:r>
            <a:endParaRPr lang="ko-KR" altLang="en-US">
              <a:latin typeface="Times New Roman" pitchFamily="18" charset="0"/>
              <a:cs typeface="Times New Roman" pitchFamily="18" charset="0"/>
            </a:endParaRPr>
          </a:p>
        </p:txBody>
      </p:sp>
      <p:sp>
        <p:nvSpPr>
          <p:cNvPr id="63501" name="직사각형 1"/>
          <p:cNvSpPr>
            <a:spLocks noChangeArrowheads="1"/>
          </p:cNvSpPr>
          <p:nvPr/>
        </p:nvSpPr>
        <p:spPr bwMode="auto">
          <a:xfrm>
            <a:off x="7524750" y="4005263"/>
            <a:ext cx="576263"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Tần sóng</a:t>
            </a:r>
            <a:endParaRPr lang="ko-KR" altLang="en-US" sz="800">
              <a:latin typeface="Times New Roman" pitchFamily="18" charset="0"/>
              <a:cs typeface="Times New Roman" pitchFamily="18" charset="0"/>
            </a:endParaRPr>
          </a:p>
        </p:txBody>
      </p:sp>
      <p:sp>
        <p:nvSpPr>
          <p:cNvPr id="63502" name="직사각형 13"/>
          <p:cNvSpPr>
            <a:spLocks noChangeArrowheads="1"/>
          </p:cNvSpPr>
          <p:nvPr/>
        </p:nvSpPr>
        <p:spPr bwMode="auto">
          <a:xfrm>
            <a:off x="7605713" y="4318000"/>
            <a:ext cx="576262"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Chu kỳ</a:t>
            </a:r>
            <a:endParaRPr lang="ko-KR" altLang="en-US" sz="800">
              <a:latin typeface="Times New Roman" pitchFamily="18" charset="0"/>
              <a:cs typeface="Times New Roman" pitchFamily="18" charset="0"/>
            </a:endParaRPr>
          </a:p>
        </p:txBody>
      </p:sp>
      <p:sp>
        <p:nvSpPr>
          <p:cNvPr id="63503" name="직사각형 14"/>
          <p:cNvSpPr>
            <a:spLocks noChangeArrowheads="1"/>
          </p:cNvSpPr>
          <p:nvPr/>
        </p:nvSpPr>
        <p:spPr bwMode="auto">
          <a:xfrm>
            <a:off x="7524750" y="4630738"/>
            <a:ext cx="657225" cy="2174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Giá trị đỉnh</a:t>
            </a:r>
            <a:endParaRPr lang="ko-KR" altLang="en-US" sz="800">
              <a:latin typeface="Times New Roman" pitchFamily="18" charset="0"/>
              <a:cs typeface="Times New Roman" pitchFamily="18" charset="0"/>
            </a:endParaRPr>
          </a:p>
        </p:txBody>
      </p:sp>
      <p:sp>
        <p:nvSpPr>
          <p:cNvPr id="63504" name="직사각형 15"/>
          <p:cNvSpPr>
            <a:spLocks noChangeArrowheads="1"/>
          </p:cNvSpPr>
          <p:nvPr/>
        </p:nvSpPr>
        <p:spPr bwMode="auto">
          <a:xfrm>
            <a:off x="7534275" y="4951413"/>
            <a:ext cx="78263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Thời gian tăng</a:t>
            </a:r>
            <a:endParaRPr lang="ko-KR" altLang="en-US" sz="800">
              <a:latin typeface="Times New Roman" pitchFamily="18" charset="0"/>
              <a:cs typeface="Times New Roman" pitchFamily="18" charset="0"/>
            </a:endParaRPr>
          </a:p>
        </p:txBody>
      </p:sp>
      <p:sp>
        <p:nvSpPr>
          <p:cNvPr id="63505" name="직사각형 16"/>
          <p:cNvSpPr>
            <a:spLocks noChangeArrowheads="1"/>
          </p:cNvSpPr>
          <p:nvPr/>
        </p:nvSpPr>
        <p:spPr bwMode="auto">
          <a:xfrm>
            <a:off x="7564438" y="5222875"/>
            <a:ext cx="782637"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Xung tăng</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DBDCD2B-CDB1-491B-9A33-FF65FC0743EB}" type="slidenum">
              <a:rPr lang="en-US" altLang="ko-KR" sz="1400" smtClean="0">
                <a:latin typeface="Times New Roman" pitchFamily="18" charset="0"/>
                <a:cs typeface="Times New Roman" pitchFamily="18" charset="0"/>
              </a:rPr>
              <a:pPr eaLnBrk="1" hangingPunct="1"/>
              <a:t>58</a:t>
            </a:fld>
            <a:endParaRPr lang="en-US" altLang="ko-KR" sz="1400" smtClean="0">
              <a:latin typeface="Times New Roman" pitchFamily="18" charset="0"/>
              <a:cs typeface="Times New Roman" pitchFamily="18" charset="0"/>
            </a:endParaRPr>
          </a:p>
        </p:txBody>
      </p:sp>
      <p:sp>
        <p:nvSpPr>
          <p:cNvPr id="64515" name="Text Box 2"/>
          <p:cNvSpPr txBox="1">
            <a:spLocks noChangeArrowheads="1"/>
          </p:cNvSpPr>
          <p:nvPr/>
        </p:nvSpPr>
        <p:spPr bwMode="auto">
          <a:xfrm>
            <a:off x="684213" y="892175"/>
            <a:ext cx="23606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4-3. Máy phát điện Function</a:t>
            </a:r>
          </a:p>
        </p:txBody>
      </p:sp>
      <p:sp>
        <p:nvSpPr>
          <p:cNvPr id="64516" name="Text Box 4"/>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4517" name="Text Box 5"/>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pic>
        <p:nvPicPr>
          <p:cNvPr id="64518" name="Picture 7" descr="mxd-98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88" y="1484313"/>
            <a:ext cx="5715000"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9" name="Text Box 8"/>
          <p:cNvSpPr txBox="1">
            <a:spLocks noChangeArrowheads="1"/>
          </p:cNvSpPr>
          <p:nvPr/>
        </p:nvSpPr>
        <p:spPr bwMode="auto">
          <a:xfrm>
            <a:off x="7227888" y="1738313"/>
            <a:ext cx="14859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Điều chỉnh tần sóng</a:t>
            </a:r>
            <a:endParaRPr lang="ko-KR" altLang="en-US" b="1">
              <a:latin typeface="Times New Roman" pitchFamily="18" charset="0"/>
              <a:cs typeface="Times New Roman" pitchFamily="18" charset="0"/>
            </a:endParaRPr>
          </a:p>
        </p:txBody>
      </p:sp>
      <p:sp>
        <p:nvSpPr>
          <p:cNvPr id="64520" name="Freeform 9"/>
          <p:cNvSpPr>
            <a:spLocks/>
          </p:cNvSpPr>
          <p:nvPr/>
        </p:nvSpPr>
        <p:spPr bwMode="auto">
          <a:xfrm>
            <a:off x="6694488" y="2017713"/>
            <a:ext cx="1524000" cy="457200"/>
          </a:xfrm>
          <a:custGeom>
            <a:avLst/>
            <a:gdLst>
              <a:gd name="T0" fmla="*/ 0 w 960"/>
              <a:gd name="T1" fmla="*/ 2147483647 h 288"/>
              <a:gd name="T2" fmla="*/ 2147483647 w 960"/>
              <a:gd name="T3" fmla="*/ 0 h 288"/>
              <a:gd name="T4" fmla="*/ 2147483647 w 960"/>
              <a:gd name="T5" fmla="*/ 0 h 288"/>
              <a:gd name="T6" fmla="*/ 0 60000 65536"/>
              <a:gd name="T7" fmla="*/ 0 60000 65536"/>
              <a:gd name="T8" fmla="*/ 0 60000 65536"/>
            </a:gdLst>
            <a:ahLst/>
            <a:cxnLst>
              <a:cxn ang="T6">
                <a:pos x="T0" y="T1"/>
              </a:cxn>
              <a:cxn ang="T7">
                <a:pos x="T2" y="T3"/>
              </a:cxn>
              <a:cxn ang="T8">
                <a:pos x="T4" y="T5"/>
              </a:cxn>
            </a:cxnLst>
            <a:rect l="0" t="0" r="r" b="b"/>
            <a:pathLst>
              <a:path w="960" h="288">
                <a:moveTo>
                  <a:pt x="0" y="288"/>
                </a:moveTo>
                <a:lnTo>
                  <a:pt x="336" y="0"/>
                </a:lnTo>
                <a:lnTo>
                  <a:pt x="960" y="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4521" name="Text Box 10"/>
          <p:cNvSpPr txBox="1">
            <a:spLocks noChangeArrowheads="1"/>
          </p:cNvSpPr>
          <p:nvPr/>
        </p:nvSpPr>
        <p:spPr bwMode="auto">
          <a:xfrm>
            <a:off x="827088" y="4456113"/>
            <a:ext cx="17399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Điều chỉnh điện áp điện</a:t>
            </a:r>
            <a:endParaRPr lang="ko-KR" altLang="en-US" b="1">
              <a:latin typeface="Times New Roman" pitchFamily="18" charset="0"/>
              <a:cs typeface="Times New Roman" pitchFamily="18" charset="0"/>
            </a:endParaRPr>
          </a:p>
        </p:txBody>
      </p:sp>
      <p:sp>
        <p:nvSpPr>
          <p:cNvPr id="64522" name="Freeform 11"/>
          <p:cNvSpPr>
            <a:spLocks/>
          </p:cNvSpPr>
          <p:nvPr/>
        </p:nvSpPr>
        <p:spPr bwMode="auto">
          <a:xfrm>
            <a:off x="903288" y="3541713"/>
            <a:ext cx="1676400" cy="1219200"/>
          </a:xfrm>
          <a:custGeom>
            <a:avLst/>
            <a:gdLst>
              <a:gd name="T0" fmla="*/ 0 w 1056"/>
              <a:gd name="T1" fmla="*/ 2147483647 h 768"/>
              <a:gd name="T2" fmla="*/ 2147483647 w 1056"/>
              <a:gd name="T3" fmla="*/ 2147483647 h 768"/>
              <a:gd name="T4" fmla="*/ 2147483647 w 1056"/>
              <a:gd name="T5" fmla="*/ 0 h 768"/>
              <a:gd name="T6" fmla="*/ 0 60000 65536"/>
              <a:gd name="T7" fmla="*/ 0 60000 65536"/>
              <a:gd name="T8" fmla="*/ 0 60000 65536"/>
            </a:gdLst>
            <a:ahLst/>
            <a:cxnLst>
              <a:cxn ang="T6">
                <a:pos x="T0" y="T1"/>
              </a:cxn>
              <a:cxn ang="T7">
                <a:pos x="T2" y="T3"/>
              </a:cxn>
              <a:cxn ang="T8">
                <a:pos x="T4" y="T5"/>
              </a:cxn>
            </a:cxnLst>
            <a:rect l="0" t="0" r="r" b="b"/>
            <a:pathLst>
              <a:path w="1056" h="768">
                <a:moveTo>
                  <a:pt x="0" y="768"/>
                </a:moveTo>
                <a:lnTo>
                  <a:pt x="720" y="768"/>
                </a:lnTo>
                <a:lnTo>
                  <a:pt x="1056" y="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4523" name="Text Box 12"/>
          <p:cNvSpPr txBox="1">
            <a:spLocks noChangeArrowheads="1"/>
          </p:cNvSpPr>
          <p:nvPr/>
        </p:nvSpPr>
        <p:spPr bwMode="auto">
          <a:xfrm>
            <a:off x="941388" y="2284413"/>
            <a:ext cx="8270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Chọn pha</a:t>
            </a:r>
            <a:endParaRPr lang="ko-KR" altLang="en-US" b="1">
              <a:latin typeface="Times New Roman" pitchFamily="18" charset="0"/>
              <a:cs typeface="Times New Roman" pitchFamily="18" charset="0"/>
            </a:endParaRPr>
          </a:p>
        </p:txBody>
      </p:sp>
      <p:sp>
        <p:nvSpPr>
          <p:cNvPr id="64524" name="Rectangle 13"/>
          <p:cNvSpPr>
            <a:spLocks noChangeArrowheads="1"/>
          </p:cNvSpPr>
          <p:nvPr/>
        </p:nvSpPr>
        <p:spPr bwMode="auto">
          <a:xfrm>
            <a:off x="2414588" y="2817813"/>
            <a:ext cx="838200" cy="304800"/>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64525" name="Freeform 14"/>
          <p:cNvSpPr>
            <a:spLocks/>
          </p:cNvSpPr>
          <p:nvPr/>
        </p:nvSpPr>
        <p:spPr bwMode="auto">
          <a:xfrm>
            <a:off x="979488" y="2551113"/>
            <a:ext cx="1447800" cy="304800"/>
          </a:xfrm>
          <a:custGeom>
            <a:avLst/>
            <a:gdLst>
              <a:gd name="T0" fmla="*/ 0 w 912"/>
              <a:gd name="T1" fmla="*/ 0 h 192"/>
              <a:gd name="T2" fmla="*/ 2147483647 w 912"/>
              <a:gd name="T3" fmla="*/ 0 h 192"/>
              <a:gd name="T4" fmla="*/ 2147483647 w 912"/>
              <a:gd name="T5" fmla="*/ 2147483647 h 192"/>
              <a:gd name="T6" fmla="*/ 0 60000 65536"/>
              <a:gd name="T7" fmla="*/ 0 60000 65536"/>
              <a:gd name="T8" fmla="*/ 0 60000 65536"/>
            </a:gdLst>
            <a:ahLst/>
            <a:cxnLst>
              <a:cxn ang="T6">
                <a:pos x="T0" y="T1"/>
              </a:cxn>
              <a:cxn ang="T7">
                <a:pos x="T2" y="T3"/>
              </a:cxn>
              <a:cxn ang="T8">
                <a:pos x="T4" y="T5"/>
              </a:cxn>
            </a:cxnLst>
            <a:rect l="0" t="0" r="r" b="b"/>
            <a:pathLst>
              <a:path w="912" h="192">
                <a:moveTo>
                  <a:pt x="0" y="0"/>
                </a:moveTo>
                <a:lnTo>
                  <a:pt x="480" y="0"/>
                </a:lnTo>
                <a:lnTo>
                  <a:pt x="912" y="192"/>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4526" name="Rectangle 15"/>
          <p:cNvSpPr>
            <a:spLocks noChangeArrowheads="1"/>
          </p:cNvSpPr>
          <p:nvPr/>
        </p:nvSpPr>
        <p:spPr bwMode="auto">
          <a:xfrm>
            <a:off x="3290888" y="2817813"/>
            <a:ext cx="1676400" cy="304800"/>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64527" name="Text Box 16"/>
          <p:cNvSpPr txBox="1">
            <a:spLocks noChangeArrowheads="1"/>
          </p:cNvSpPr>
          <p:nvPr/>
        </p:nvSpPr>
        <p:spPr bwMode="auto">
          <a:xfrm>
            <a:off x="4941888" y="4303713"/>
            <a:ext cx="18415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Phạm vi tần số sóng đi ra</a:t>
            </a:r>
            <a:endParaRPr lang="ko-KR" altLang="en-US" b="1">
              <a:latin typeface="Times New Roman" pitchFamily="18" charset="0"/>
              <a:cs typeface="Times New Roman" pitchFamily="18" charset="0"/>
            </a:endParaRPr>
          </a:p>
        </p:txBody>
      </p:sp>
      <p:sp>
        <p:nvSpPr>
          <p:cNvPr id="64528" name="Freeform 17"/>
          <p:cNvSpPr>
            <a:spLocks/>
          </p:cNvSpPr>
          <p:nvPr/>
        </p:nvSpPr>
        <p:spPr bwMode="auto">
          <a:xfrm>
            <a:off x="3722688" y="3084513"/>
            <a:ext cx="2743200" cy="1524000"/>
          </a:xfrm>
          <a:custGeom>
            <a:avLst/>
            <a:gdLst>
              <a:gd name="T0" fmla="*/ 0 w 1728"/>
              <a:gd name="T1" fmla="*/ 0 h 960"/>
              <a:gd name="T2" fmla="*/ 2147483647 w 1728"/>
              <a:gd name="T3" fmla="*/ 2147483647 h 960"/>
              <a:gd name="T4" fmla="*/ 2147483647 w 1728"/>
              <a:gd name="T5" fmla="*/ 2147483647 h 960"/>
              <a:gd name="T6" fmla="*/ 0 60000 65536"/>
              <a:gd name="T7" fmla="*/ 0 60000 65536"/>
              <a:gd name="T8" fmla="*/ 0 60000 65536"/>
            </a:gdLst>
            <a:ahLst/>
            <a:cxnLst>
              <a:cxn ang="T6">
                <a:pos x="T0" y="T1"/>
              </a:cxn>
              <a:cxn ang="T7">
                <a:pos x="T2" y="T3"/>
              </a:cxn>
              <a:cxn ang="T8">
                <a:pos x="T4" y="T5"/>
              </a:cxn>
            </a:cxnLst>
            <a:rect l="0" t="0" r="r" b="b"/>
            <a:pathLst>
              <a:path w="1728" h="960">
                <a:moveTo>
                  <a:pt x="0" y="0"/>
                </a:moveTo>
                <a:lnTo>
                  <a:pt x="768" y="960"/>
                </a:lnTo>
                <a:lnTo>
                  <a:pt x="1728" y="96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4529" name="Text Box 18"/>
          <p:cNvSpPr txBox="1">
            <a:spLocks noChangeArrowheads="1"/>
          </p:cNvSpPr>
          <p:nvPr/>
        </p:nvSpPr>
        <p:spPr bwMode="auto">
          <a:xfrm>
            <a:off x="950913" y="5211763"/>
            <a:ext cx="69723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Sử dụng máy biến áp(Function Generator)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máy dao động ký(Oscilloscope) để đo theo tín hiệu băng tần.</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B6CBD8E-F601-4A1E-8715-DA500AEBF090}" type="slidenum">
              <a:rPr lang="en-US" altLang="ko-KR" sz="1400" smtClean="0">
                <a:latin typeface="Times New Roman" pitchFamily="18" charset="0"/>
                <a:cs typeface="Times New Roman" pitchFamily="18" charset="0"/>
              </a:rPr>
              <a:pPr eaLnBrk="1" hangingPunct="1"/>
              <a:t>59</a:t>
            </a:fld>
            <a:endParaRPr lang="en-US" altLang="ko-KR" sz="1400" smtClean="0">
              <a:latin typeface="Times New Roman" pitchFamily="18" charset="0"/>
              <a:cs typeface="Times New Roman" pitchFamily="18" charset="0"/>
            </a:endParaRPr>
          </a:p>
        </p:txBody>
      </p:sp>
      <p:sp>
        <p:nvSpPr>
          <p:cNvPr id="65539" name="Text Box 3"/>
          <p:cNvSpPr txBox="1">
            <a:spLocks noChangeArrowheads="1"/>
          </p:cNvSpPr>
          <p:nvPr/>
        </p:nvSpPr>
        <p:spPr bwMode="auto">
          <a:xfrm>
            <a:off x="22225" y="38100"/>
            <a:ext cx="2463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1. Điện-Điện tử cơ bản</a:t>
            </a:r>
            <a:endParaRPr lang="ko-KR" altLang="en-US" sz="1800" b="1">
              <a:latin typeface="Times New Roman" pitchFamily="18" charset="0"/>
              <a:cs typeface="Times New Roman" pitchFamily="18" charset="0"/>
            </a:endParaRPr>
          </a:p>
        </p:txBody>
      </p:sp>
      <p:sp>
        <p:nvSpPr>
          <p:cNvPr id="65540" name="Text Box 4"/>
          <p:cNvSpPr txBox="1">
            <a:spLocks noChangeArrowheads="1"/>
          </p:cNvSpPr>
          <p:nvPr/>
        </p:nvSpPr>
        <p:spPr bwMode="auto">
          <a:xfrm>
            <a:off x="7605713" y="68263"/>
            <a:ext cx="1358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4. Đo tín hiệu</a:t>
            </a:r>
            <a:endParaRPr lang="ko-KR" altLang="en-US" sz="1600" b="1">
              <a:latin typeface="Times New Roman" pitchFamily="18" charset="0"/>
              <a:cs typeface="Times New Roman" pitchFamily="18" charset="0"/>
            </a:endParaRPr>
          </a:p>
        </p:txBody>
      </p:sp>
      <p:sp>
        <p:nvSpPr>
          <p:cNvPr id="65541" name="Text Box 17"/>
          <p:cNvSpPr txBox="1">
            <a:spLocks noChangeArrowheads="1"/>
          </p:cNvSpPr>
          <p:nvPr/>
        </p:nvSpPr>
        <p:spPr bwMode="auto">
          <a:xfrm>
            <a:off x="685800" y="1138238"/>
            <a:ext cx="29114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 Thí nghiệm đo pha sóng máy phát điện</a:t>
            </a:r>
            <a:endParaRPr lang="ko-KR" altLang="en-US" b="1">
              <a:latin typeface="Times New Roman" pitchFamily="18" charset="0"/>
              <a:cs typeface="Times New Roman" pitchFamily="18" charset="0"/>
            </a:endParaRPr>
          </a:p>
        </p:txBody>
      </p:sp>
      <p:graphicFrame>
        <p:nvGraphicFramePr>
          <p:cNvPr id="2611218" name="Group 18"/>
          <p:cNvGraphicFramePr>
            <a:graphicFrameLocks noGrp="1"/>
          </p:cNvGraphicFramePr>
          <p:nvPr/>
        </p:nvGraphicFramePr>
        <p:xfrm>
          <a:off x="1403350" y="2708275"/>
          <a:ext cx="2255838" cy="2103439"/>
        </p:xfrm>
        <a:graphic>
          <a:graphicData uri="http://schemas.openxmlformats.org/drawingml/2006/table">
            <a:tbl>
              <a:tblPr/>
              <a:tblGrid>
                <a:gridCol w="282575"/>
                <a:gridCol w="279400"/>
                <a:gridCol w="282575"/>
                <a:gridCol w="282575"/>
                <a:gridCol w="282575"/>
                <a:gridCol w="280988"/>
                <a:gridCol w="280987"/>
                <a:gridCol w="284163"/>
              </a:tblGrid>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bl>
          </a:graphicData>
        </a:graphic>
      </p:graphicFrame>
      <p:sp>
        <p:nvSpPr>
          <p:cNvPr id="65625" name="Line 101"/>
          <p:cNvSpPr>
            <a:spLocks noChangeShapeType="1"/>
          </p:cNvSpPr>
          <p:nvPr/>
        </p:nvSpPr>
        <p:spPr bwMode="auto">
          <a:xfrm>
            <a:off x="1403350" y="5084763"/>
            <a:ext cx="8651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5626" name="Line 102"/>
          <p:cNvSpPr>
            <a:spLocks noChangeShapeType="1"/>
          </p:cNvSpPr>
          <p:nvPr/>
        </p:nvSpPr>
        <p:spPr bwMode="auto">
          <a:xfrm>
            <a:off x="2411413" y="5084763"/>
            <a:ext cx="8651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5627" name="Text Box 103"/>
          <p:cNvSpPr txBox="1">
            <a:spLocks noChangeArrowheads="1"/>
          </p:cNvSpPr>
          <p:nvPr/>
        </p:nvSpPr>
        <p:spPr bwMode="auto">
          <a:xfrm>
            <a:off x="1187450" y="1916113"/>
            <a:ext cx="2746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Hãy đo pha sóng 2[kHz] Vp_p 10[V] được tạo</a:t>
            </a:r>
          </a:p>
          <a:p>
            <a:pPr eaLnBrk="1" latinLnBrk="1" hangingPunct="1">
              <a:lnSpc>
                <a:spcPct val="100000"/>
              </a:lnSpc>
            </a:pPr>
            <a:r>
              <a:rPr lang="en-US" altLang="ko-KR" sz="1000">
                <a:latin typeface="Times New Roman" pitchFamily="18" charset="0"/>
                <a:cs typeface="Times New Roman" pitchFamily="18" charset="0"/>
              </a:rPr>
              <a:t> ra bởi máy phát điện.</a:t>
            </a:r>
          </a:p>
        </p:txBody>
      </p:sp>
      <p:graphicFrame>
        <p:nvGraphicFramePr>
          <p:cNvPr id="2611304" name="Group 104"/>
          <p:cNvGraphicFramePr>
            <a:graphicFrameLocks noGrp="1"/>
          </p:cNvGraphicFramePr>
          <p:nvPr/>
        </p:nvGraphicFramePr>
        <p:xfrm>
          <a:off x="4716463" y="2708275"/>
          <a:ext cx="2255837" cy="2103439"/>
        </p:xfrm>
        <a:graphic>
          <a:graphicData uri="http://schemas.openxmlformats.org/drawingml/2006/table">
            <a:tbl>
              <a:tblPr/>
              <a:tblGrid>
                <a:gridCol w="282575"/>
                <a:gridCol w="279400"/>
                <a:gridCol w="282575"/>
                <a:gridCol w="282575"/>
                <a:gridCol w="282575"/>
                <a:gridCol w="280987"/>
                <a:gridCol w="280988"/>
                <a:gridCol w="284162"/>
              </a:tblGrid>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1938">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r h="263525">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900" b="0" i="0" u="none" strike="noStrike" cap="none" normalizeH="0" baseline="0" smtClean="0">
                        <a:ln>
                          <a:noFill/>
                        </a:ln>
                        <a:solidFill>
                          <a:schemeClr val="tx1"/>
                        </a:solidFill>
                        <a:effectLst/>
                        <a:latin typeface="굴림" pitchFamily="50" charset="-127"/>
                        <a:ea typeface="굴림" pitchFamily="50" charset="-127"/>
                      </a:endParaRPr>
                    </a:p>
                  </a:txBody>
                  <a:tcPr horzOverflow="overflow">
                    <a:lnL w="12700" cap="flat" cmpd="sng" algn="ctr">
                      <a:solidFill>
                        <a:srgbClr val="969696"/>
                      </a:solidFill>
                      <a:prstDash val="solid"/>
                      <a:round/>
                      <a:headEnd type="none" w="med" len="med"/>
                      <a:tailEnd type="none" w="med" len="med"/>
                    </a:lnL>
                    <a:lnR w="12700" cap="flat" cmpd="sng" algn="ctr">
                      <a:solidFill>
                        <a:srgbClr val="969696"/>
                      </a:solidFill>
                      <a:prstDash val="solid"/>
                      <a:round/>
                      <a:headEnd type="none" w="med" len="med"/>
                      <a:tailEnd type="none" w="med" len="med"/>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a:noFill/>
                    </a:lnTlToBr>
                    <a:lnBlToTr>
                      <a:noFill/>
                    </a:lnBlToTr>
                    <a:noFill/>
                  </a:tcPr>
                </a:tc>
              </a:tr>
            </a:tbl>
          </a:graphicData>
        </a:graphic>
      </p:graphicFrame>
      <p:sp>
        <p:nvSpPr>
          <p:cNvPr id="65711" name="Line 187"/>
          <p:cNvSpPr>
            <a:spLocks noChangeShapeType="1"/>
          </p:cNvSpPr>
          <p:nvPr/>
        </p:nvSpPr>
        <p:spPr bwMode="auto">
          <a:xfrm>
            <a:off x="4716463" y="5084763"/>
            <a:ext cx="8651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5712" name="Line 188"/>
          <p:cNvSpPr>
            <a:spLocks noChangeShapeType="1"/>
          </p:cNvSpPr>
          <p:nvPr/>
        </p:nvSpPr>
        <p:spPr bwMode="auto">
          <a:xfrm>
            <a:off x="5724525" y="5084763"/>
            <a:ext cx="8651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5713" name="Text Box 189"/>
          <p:cNvSpPr txBox="1">
            <a:spLocks noChangeArrowheads="1"/>
          </p:cNvSpPr>
          <p:nvPr/>
        </p:nvSpPr>
        <p:spPr bwMode="auto">
          <a:xfrm>
            <a:off x="4643438" y="1916113"/>
            <a:ext cx="25892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Hãy đo pha sóng 17[kHz] Vp_p 8[V] được </a:t>
            </a:r>
          </a:p>
          <a:p>
            <a:pPr eaLnBrk="1" latinLnBrk="1" hangingPunct="1">
              <a:lnSpc>
                <a:spcPct val="100000"/>
              </a:lnSpc>
            </a:pPr>
            <a:r>
              <a:rPr lang="en-US" altLang="ko-KR" sz="1000">
                <a:latin typeface="Times New Roman" pitchFamily="18" charset="0"/>
                <a:cs typeface="Times New Roman" pitchFamily="18" charset="0"/>
              </a:rPr>
              <a:t> tạo ra từ máy phát điện.</a:t>
            </a:r>
          </a:p>
        </p:txBody>
      </p:sp>
      <p:sp>
        <p:nvSpPr>
          <p:cNvPr id="65714" name="Text Box 190"/>
          <p:cNvSpPr txBox="1">
            <a:spLocks noChangeArrowheads="1"/>
          </p:cNvSpPr>
          <p:nvPr/>
        </p:nvSpPr>
        <p:spPr bwMode="auto">
          <a:xfrm>
            <a:off x="1311275" y="5561013"/>
            <a:ext cx="535622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Sử dụng chức năng MEASURE để đo giá trị đỉnh, giá trị hiệu dụng, giá trị max, chu kỳ, tần sóng.</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D0EC325-5BA4-4CFD-9608-4D3188873260}" type="slidenum">
              <a:rPr lang="en-US" altLang="ko-KR" sz="1400" smtClean="0">
                <a:latin typeface="Times New Roman" pitchFamily="18" charset="0"/>
                <a:cs typeface="Times New Roman" pitchFamily="18" charset="0"/>
              </a:rPr>
              <a:pPr eaLnBrk="1" hangingPunct="1"/>
              <a:t>60</a:t>
            </a:fld>
            <a:endParaRPr lang="en-US" altLang="ko-KR" sz="1400" smtClean="0">
              <a:latin typeface="Times New Roman" pitchFamily="18" charset="0"/>
              <a:cs typeface="Times New Roman" pitchFamily="18" charset="0"/>
            </a:endParaRPr>
          </a:p>
        </p:txBody>
      </p:sp>
      <p:sp>
        <p:nvSpPr>
          <p:cNvPr id="66563" name="Rectangle 4"/>
          <p:cNvSpPr>
            <a:spLocks noChangeArrowheads="1"/>
          </p:cNvSpPr>
          <p:nvPr/>
        </p:nvSpPr>
        <p:spPr bwMode="auto">
          <a:xfrm>
            <a:off x="2484438" y="1219200"/>
            <a:ext cx="4175125" cy="914400"/>
          </a:xfrm>
          <a:prstGeom prst="rect">
            <a:avLst/>
          </a:prstGeom>
          <a:solidFill>
            <a:schemeClr val="bg1"/>
          </a:solidFill>
          <a:ln w="19050">
            <a:solidFill>
              <a:schemeClr val="tx1"/>
            </a:solidFill>
            <a:miter lim="800000"/>
            <a:headEnd/>
            <a:tailEnd/>
          </a:ln>
          <a:effectLst>
            <a:outerShdw dist="107763" dir="2700000" algn="ctr" rotWithShape="0">
              <a:schemeClr val="bg2"/>
            </a:outerShdw>
          </a:effec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2400" b="1">
                <a:latin typeface="Times New Roman" pitchFamily="18" charset="0"/>
                <a:cs typeface="Times New Roman" pitchFamily="18" charset="0"/>
              </a:rPr>
              <a:t>2. Linh kiện điện tử thụ động</a:t>
            </a:r>
            <a:endParaRPr lang="ko-KR" altLang="en-US" sz="2400" b="1">
              <a:latin typeface="Times New Roman" pitchFamily="18" charset="0"/>
              <a:cs typeface="Times New Roman" pitchFamily="18" charset="0"/>
            </a:endParaRPr>
          </a:p>
        </p:txBody>
      </p:sp>
      <p:sp>
        <p:nvSpPr>
          <p:cNvPr id="66564" name="Text Box 5"/>
          <p:cNvSpPr txBox="1">
            <a:spLocks noChangeArrowheads="1"/>
          </p:cNvSpPr>
          <p:nvPr/>
        </p:nvSpPr>
        <p:spPr bwMode="auto">
          <a:xfrm>
            <a:off x="1970088" y="2817813"/>
            <a:ext cx="2446337" cy="362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 Điện trở</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1-1. Chức năng của điện trở</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1-2. Điện trở là gì?</a:t>
            </a:r>
          </a:p>
          <a:p>
            <a:pPr eaLnBrk="1" latinLnBrk="1" hangingPunct="1"/>
            <a:r>
              <a:rPr lang="en-US" altLang="ko-KR">
                <a:latin typeface="Times New Roman" pitchFamily="18" charset="0"/>
                <a:cs typeface="Times New Roman" pitchFamily="18" charset="0"/>
              </a:rPr>
              <a:t>   1-3. Đặc điểm của điện trở</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1-4. Đánh dấu và đọc điện trở</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1-5. Điện trở cố định</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1-6. Điện trở biến thiên</a:t>
            </a:r>
          </a:p>
          <a:p>
            <a:pPr eaLnBrk="1" latinLnBrk="1" hangingPunct="1"/>
            <a:r>
              <a:rPr lang="en-US" altLang="ko-KR">
                <a:latin typeface="Times New Roman" pitchFamily="18" charset="0"/>
                <a:cs typeface="Times New Roman" pitchFamily="18" charset="0"/>
              </a:rPr>
              <a:t>   1-7. Định luật Ohm</a:t>
            </a:r>
            <a:endParaRPr lang="ko-KR" altLang="en-US">
              <a:latin typeface="Times New Roman" pitchFamily="18" charset="0"/>
              <a:cs typeface="Times New Roman" pitchFamily="18" charset="0"/>
            </a:endParaRPr>
          </a:p>
          <a:p>
            <a:pPr eaLnBrk="1" latinLnBrk="1" hangingPunct="1"/>
            <a:r>
              <a:rPr lang="en-US" altLang="ko-KR">
                <a:latin typeface="Times New Roman" pitchFamily="18" charset="0"/>
                <a:cs typeface="Times New Roman" pitchFamily="18" charset="0"/>
              </a:rPr>
              <a:t>   1-8. Định luật Kirchhoff</a:t>
            </a:r>
          </a:p>
          <a:p>
            <a:pPr eaLnBrk="1" latinLnBrk="1" hangingPunct="1"/>
            <a:r>
              <a:rPr lang="ko-KR" altLang="en-US">
                <a:latin typeface="Times New Roman" pitchFamily="18" charset="0"/>
                <a:cs typeface="Times New Roman" pitchFamily="18" charset="0"/>
              </a:rPr>
              <a:t>   </a:t>
            </a:r>
            <a:endParaRPr lang="ko-KR" altLang="en-US" sz="900">
              <a:latin typeface="Times New Roman" pitchFamily="18" charset="0"/>
              <a:cs typeface="Times New Roman" pitchFamily="18" charset="0"/>
            </a:endParaRPr>
          </a:p>
          <a:p>
            <a:pPr eaLnBrk="1" latinLnBrk="1" hangingPunct="1">
              <a:lnSpc>
                <a:spcPct val="100000"/>
              </a:lnSpc>
            </a:pPr>
            <a:r>
              <a:rPr lang="en-US" altLang="ko-KR" sz="1400" b="1">
                <a:latin typeface="Times New Roman" pitchFamily="18" charset="0"/>
                <a:cs typeface="Times New Roman" pitchFamily="18" charset="0"/>
              </a:rPr>
              <a:t>2. Tụ điện</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2-1. Chức năng của tụ điện</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2-2. Mục đích chủ yếu của  tụ điện</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2-3. Ký hiệu và mục đích sử dụng</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2-4. Chủng loại tụ điện</a:t>
            </a: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2-5. Tuổi thọ và chú ý về tụ điện</a:t>
            </a:r>
            <a:endParaRPr lang="ko-KR" altLang="en-US">
              <a:latin typeface="Times New Roman" pitchFamily="18" charset="0"/>
              <a:cs typeface="Times New Roman" pitchFamily="18" charset="0"/>
            </a:endParaRPr>
          </a:p>
        </p:txBody>
      </p:sp>
      <p:sp>
        <p:nvSpPr>
          <p:cNvPr id="66565" name="Text Box 6"/>
          <p:cNvSpPr txBox="1">
            <a:spLocks noChangeArrowheads="1"/>
          </p:cNvSpPr>
          <p:nvPr/>
        </p:nvSpPr>
        <p:spPr bwMode="auto">
          <a:xfrm>
            <a:off x="4833938" y="2781300"/>
            <a:ext cx="2584450" cy="282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r>
              <a:rPr lang="en-US" altLang="ko-KR" sz="1400" b="1">
                <a:latin typeface="Times New Roman" pitchFamily="18" charset="0"/>
                <a:cs typeface="Times New Roman" pitchFamily="18" charset="0"/>
              </a:rPr>
              <a:t>3. Cuộn cảm</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3-1. Sơ lược cuộn cảm</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3-2. Tính chất cuộn cảm</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3-3. Ký hiệu và đơn vị</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3-4. Chủng loại và mục đích sử dụng</a:t>
            </a:r>
            <a:endParaRPr lang="ko-KR" altLang="en-US">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3-5. Đo cuộn cảm và chú ý</a:t>
            </a:r>
            <a:endParaRPr lang="ko-KR" altLang="en-US">
              <a:latin typeface="Times New Roman" pitchFamily="18" charset="0"/>
              <a:cs typeface="Times New Roman" pitchFamily="18" charset="0"/>
            </a:endParaRPr>
          </a:p>
          <a:p>
            <a:pPr eaLnBrk="1" latinLnBrk="1" hangingPunct="1"/>
            <a:endParaRPr lang="ko-KR" altLang="en-US">
              <a:latin typeface="Times New Roman" pitchFamily="18" charset="0"/>
              <a:cs typeface="Times New Roman" pitchFamily="18" charset="0"/>
            </a:endParaRPr>
          </a:p>
          <a:p>
            <a:pPr eaLnBrk="1" latinLnBrk="1" hangingPunct="1"/>
            <a:endParaRPr lang="ko-KR" altLang="en-US">
              <a:latin typeface="Times New Roman" pitchFamily="18" charset="0"/>
              <a:cs typeface="Times New Roman" pitchFamily="18" charset="0"/>
            </a:endParaRPr>
          </a:p>
          <a:p>
            <a:pPr eaLnBrk="1" latinLnBrk="1" hangingPunct="1"/>
            <a:r>
              <a:rPr lang="en-US" altLang="ko-KR" sz="1400" b="1">
                <a:latin typeface="Times New Roman" pitchFamily="18" charset="0"/>
                <a:cs typeface="Times New Roman" pitchFamily="18" charset="0"/>
              </a:rPr>
              <a:t>4. Thiết bị chip</a:t>
            </a:r>
            <a:endParaRPr lang="ko-KR" altLang="en-US" sz="1400" b="1">
              <a:latin typeface="Times New Roman" pitchFamily="18" charset="0"/>
              <a:cs typeface="Times New Roman" pitchFamily="18" charset="0"/>
            </a:endParaRPr>
          </a:p>
          <a:p>
            <a:pPr eaLnBrk="1" latin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4-1. Chip Resistor (điện trở chip)</a:t>
            </a:r>
          </a:p>
          <a:p>
            <a:pPr eaLnBrk="1" latinLnBrk="1" hangingPunct="1"/>
            <a:r>
              <a:rPr lang="en-US" altLang="ko-KR">
                <a:latin typeface="Times New Roman" pitchFamily="18" charset="0"/>
                <a:cs typeface="Times New Roman" pitchFamily="18" charset="0"/>
              </a:rPr>
              <a:t>   4-2. Chip Capacitor (tụ điện chip)</a:t>
            </a:r>
          </a:p>
          <a:p>
            <a:pPr eaLnBrk="1" latinLnBrk="1" hangingPunct="1"/>
            <a:r>
              <a:rPr lang="en-US" altLang="ko-KR">
                <a:latin typeface="Times New Roman" pitchFamily="18" charset="0"/>
                <a:cs typeface="Times New Roman" pitchFamily="18" charset="0"/>
              </a:rPr>
              <a:t>   4-3. Chip Inductor (cuộn cảm chip)</a:t>
            </a:r>
          </a:p>
        </p:txBody>
      </p:sp>
      <p:pic>
        <p:nvPicPr>
          <p:cNvPr id="6656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5640388"/>
            <a:ext cx="15430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7"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89012">
            <a:off x="250825" y="2997200"/>
            <a:ext cx="147637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8"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31447">
            <a:off x="827088" y="4724400"/>
            <a:ext cx="847725"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9" name="Picture 13"/>
          <p:cNvPicPr>
            <a:picLocks noChangeAspect="1" noChangeArrowheads="1"/>
          </p:cNvPicPr>
          <p:nvPr/>
        </p:nvPicPr>
        <p:blipFill>
          <a:blip r:embed="rId6">
            <a:clrChange>
              <a:clrFrom>
                <a:srgbClr val="F8F9F4"/>
              </a:clrFrom>
              <a:clrTo>
                <a:srgbClr val="F8F9F4">
                  <a:alpha val="0"/>
                </a:srgbClr>
              </a:clrTo>
            </a:clrChange>
            <a:extLst>
              <a:ext uri="{28A0092B-C50C-407E-A947-70E740481C1C}">
                <a14:useLocalDpi xmlns:a14="http://schemas.microsoft.com/office/drawing/2010/main" val="0"/>
              </a:ext>
            </a:extLst>
          </a:blip>
          <a:srcRect/>
          <a:stretch>
            <a:fillRect/>
          </a:stretch>
        </p:blipFill>
        <p:spPr bwMode="auto">
          <a:xfrm rot="3027612">
            <a:off x="7175501" y="3057525"/>
            <a:ext cx="1350962"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F5FFD69-35A7-488A-8DEB-F327ADD5A21D}" type="slidenum">
              <a:rPr lang="en-US" altLang="ko-KR" sz="1400" smtClean="0">
                <a:latin typeface="Times New Roman" pitchFamily="18" charset="0"/>
                <a:cs typeface="Times New Roman" pitchFamily="18" charset="0"/>
              </a:rPr>
              <a:pPr eaLnBrk="1" hangingPunct="1"/>
              <a:t>61</a:t>
            </a:fld>
            <a:endParaRPr lang="en-US" altLang="ko-KR" sz="1400" smtClean="0">
              <a:latin typeface="Times New Roman" pitchFamily="18" charset="0"/>
              <a:cs typeface="Times New Roman" pitchFamily="18" charset="0"/>
            </a:endParaRPr>
          </a:p>
        </p:txBody>
      </p:sp>
      <p:sp>
        <p:nvSpPr>
          <p:cNvPr id="67587" name="Text Box 2"/>
          <p:cNvSpPr txBox="1">
            <a:spLocks noChangeArrowheads="1"/>
          </p:cNvSpPr>
          <p:nvPr/>
        </p:nvSpPr>
        <p:spPr bwMode="auto">
          <a:xfrm>
            <a:off x="684213" y="892175"/>
            <a:ext cx="2311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1-1. Chức năng của điện trở</a:t>
            </a:r>
            <a:endParaRPr lang="ko-KR" altLang="en-US" sz="1400" b="1">
              <a:latin typeface="Times New Roman" pitchFamily="18" charset="0"/>
              <a:cs typeface="Times New Roman" pitchFamily="18" charset="0"/>
            </a:endParaRPr>
          </a:p>
        </p:txBody>
      </p:sp>
      <p:sp>
        <p:nvSpPr>
          <p:cNvPr id="67588" name="Text Box 3"/>
          <p:cNvSpPr txBox="1">
            <a:spLocks noChangeArrowheads="1"/>
          </p:cNvSpPr>
          <p:nvPr/>
        </p:nvSpPr>
        <p:spPr bwMode="auto">
          <a:xfrm>
            <a:off x="352425" y="501650"/>
            <a:ext cx="1125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67589"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67590" name="Text Box 5"/>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67591"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LED( diode phát quang) cần điện áp 2V ở hai cực để phát ra ánh sáng. Nhưng trong hình(a) bên dưới, do thiếu điện áp vì 1pin chỉ có gí trị 1.5V nên đèn không sáng. Trong hình(b) sử dụng 2pin nối tiếp có điện áp(khoảng 3V) cao nên dòng điện chạy qua lớn gây hỏng LED. Và nếu nối LED và pin giống trong hình ( c), do độ lớn của điện trở phù hợp nên LED sáng, LED và pin không phải chịu tải quá mức nên hoạt động tốt. </a:t>
            </a:r>
            <a:r>
              <a:rPr lang="en-US" altLang="ko-KR" b="1">
                <a:latin typeface="Times New Roman" pitchFamily="18" charset="0"/>
                <a:cs typeface="Times New Roman" pitchFamily="18" charset="0"/>
              </a:rPr>
              <a:t>Điện trở </a:t>
            </a:r>
            <a:r>
              <a:rPr lang="en-US" altLang="ko-KR">
                <a:latin typeface="Times New Roman" pitchFamily="18" charset="0"/>
                <a:cs typeface="Times New Roman" pitchFamily="18" charset="0"/>
              </a:rPr>
              <a:t>có </a:t>
            </a:r>
            <a:r>
              <a:rPr lang="en-US" altLang="ko-KR" b="1">
                <a:latin typeface="Times New Roman" pitchFamily="18" charset="0"/>
                <a:cs typeface="Times New Roman" pitchFamily="18" charset="0"/>
              </a:rPr>
              <a:t>chức năng vận hành trôi chảy mạch điện bằng việc giới hạn dòng điện</a:t>
            </a:r>
            <a:r>
              <a:rPr lang="en-US" altLang="ko-KR">
                <a:latin typeface="Times New Roman" pitchFamily="18" charset="0"/>
                <a:cs typeface="Times New Roman" pitchFamily="18" charset="0"/>
              </a:rPr>
              <a:t> và là một trong những linh kiện không thể thiếu của một mạch điện.</a:t>
            </a:r>
          </a:p>
          <a:p>
            <a:pPr eaLnBrk="1" latinLnBrk="1" hangingPunct="1">
              <a:lnSpc>
                <a:spcPct val="100000"/>
              </a:lnSpc>
            </a:pPr>
            <a:r>
              <a:rPr lang="en-US" altLang="ko-KR">
                <a:latin typeface="Times New Roman" pitchFamily="18" charset="0"/>
                <a:cs typeface="Times New Roman" pitchFamily="18" charset="0"/>
              </a:rPr>
              <a:t> </a:t>
            </a:r>
          </a:p>
        </p:txBody>
      </p:sp>
      <p:sp>
        <p:nvSpPr>
          <p:cNvPr id="4104" name="Text Box 31"/>
          <p:cNvSpPr txBox="1">
            <a:spLocks noChangeArrowheads="1"/>
          </p:cNvSpPr>
          <p:nvPr/>
        </p:nvSpPr>
        <p:spPr bwMode="auto">
          <a:xfrm>
            <a:off x="495300" y="6153150"/>
            <a:ext cx="8105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marL="171450" indent="-171450" eaLnBrk="1" latinLnBrk="1" hangingPunct="1">
              <a:lnSpc>
                <a:spcPct val="100000"/>
              </a:lnSpc>
              <a:buFont typeface="Arial" charset="0"/>
              <a:buChar char="•"/>
              <a:defRPr/>
            </a:pPr>
            <a:r>
              <a:rPr lang="en-US" altLang="ko-KR" sz="900" dirty="0" smtClean="0">
                <a:latin typeface="Times New Roman" pitchFamily="18" charset="0"/>
                <a:cs typeface="Times New Roman" pitchFamily="18" charset="0"/>
              </a:rPr>
              <a:t>Diode </a:t>
            </a:r>
            <a:r>
              <a:rPr lang="en-US" altLang="ko-KR" sz="900" dirty="0" err="1" smtClean="0">
                <a:latin typeface="Times New Roman" pitchFamily="18" charset="0"/>
                <a:cs typeface="Times New Roman" pitchFamily="18" charset="0"/>
              </a:rPr>
              <a:t>phát</a:t>
            </a:r>
            <a:r>
              <a:rPr lang="en-US" altLang="ko-KR" sz="900" dirty="0" smtClean="0">
                <a:latin typeface="Times New Roman" pitchFamily="18" charset="0"/>
                <a:cs typeface="Times New Roman" pitchFamily="18" charset="0"/>
              </a:rPr>
              <a:t> </a:t>
            </a:r>
            <a:r>
              <a:rPr lang="en-US" altLang="ko-KR" sz="900" dirty="0" err="1" smtClean="0">
                <a:latin typeface="Times New Roman" pitchFamily="18" charset="0"/>
                <a:cs typeface="Times New Roman" pitchFamily="18" charset="0"/>
              </a:rPr>
              <a:t>quang</a:t>
            </a:r>
            <a:r>
              <a:rPr lang="en-US" altLang="ko-KR" sz="900" dirty="0" smtClean="0">
                <a:latin typeface="Times New Roman" pitchFamily="18" charset="0"/>
                <a:cs typeface="Times New Roman" pitchFamily="18" charset="0"/>
              </a:rPr>
              <a:t>(</a:t>
            </a:r>
            <a:r>
              <a:rPr lang="en-US" altLang="ko-KR" sz="900" dirty="0" smtClean="0">
                <a:solidFill>
                  <a:srgbClr val="000000"/>
                </a:solidFill>
                <a:latin typeface="Times New Roman" pitchFamily="18" charset="0"/>
                <a:cs typeface="Times New Roman" pitchFamily="18" charset="0"/>
              </a:rPr>
              <a:t>luminescent diode) : </a:t>
            </a:r>
            <a:r>
              <a:rPr lang="en-US" altLang="ko-KR" sz="900" dirty="0" err="1" smtClean="0">
                <a:solidFill>
                  <a:srgbClr val="000000"/>
                </a:solidFill>
                <a:latin typeface="Times New Roman" pitchFamily="18" charset="0"/>
                <a:cs typeface="Times New Roman" pitchFamily="18" charset="0"/>
              </a:rPr>
              <a:t>còn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được</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gọi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b="1" dirty="0" smtClean="0">
                <a:solidFill>
                  <a:srgbClr val="000000"/>
                </a:solidFill>
                <a:latin typeface="Times New Roman" pitchFamily="18" charset="0"/>
                <a:cs typeface="Times New Roman" pitchFamily="18" charset="0"/>
              </a:rPr>
              <a:t>LED</a:t>
            </a:r>
            <a:r>
              <a:rPr lang="en-US" altLang="ko-KR" sz="900" dirty="0" smtClean="0">
                <a:solidFill>
                  <a:srgbClr val="000000"/>
                </a:solidFill>
                <a:latin typeface="Times New Roman" pitchFamily="18" charset="0"/>
                <a:cs typeface="Times New Roman" pitchFamily="18" charset="0"/>
              </a:rPr>
              <a:t>(light emitting diode).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chất</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bán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dẫn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của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cấu</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tạo</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tiếp</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hợp</a:t>
            </a:r>
            <a:r>
              <a:rPr lang="en-US" altLang="ko-KR" sz="900" dirty="0" smtClean="0">
                <a:solidFill>
                  <a:srgbClr val="000000"/>
                </a:solidFill>
                <a:latin typeface="Times New Roman" pitchFamily="18" charset="0"/>
                <a:cs typeface="Times New Roman" pitchFamily="18" charset="0"/>
              </a:rPr>
              <a:t> P-N.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ánh</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sáng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được</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tạo</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ra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bằng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sự</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kết</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hợp</a:t>
            </a:r>
            <a:r>
              <a:rPr lang="en-US" altLang="ko-KR" sz="900" dirty="0" smtClean="0">
                <a:solidFill>
                  <a:srgbClr val="000000"/>
                </a:solidFill>
                <a:latin typeface="Times New Roman" pitchFamily="18" charset="0"/>
                <a:cs typeface="Times New Roman" pitchFamily="18" charset="0"/>
              </a:rPr>
              <a:t> </a:t>
            </a:r>
          </a:p>
          <a:p>
            <a:pPr eaLnBrk="1" latinLnBrk="1" hangingPunct="1">
              <a:lnSpc>
                <a:spcPct val="100000"/>
              </a:lnSpc>
              <a:defRPr/>
            </a:pP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giữa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điện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tử</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và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lỗ</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trống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điện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tử</a:t>
            </a:r>
            <a:r>
              <a:rPr lang="en-US" altLang="ko-KR" sz="900" dirty="0" smtClean="0">
                <a:solidFill>
                  <a:srgbClr val="000000"/>
                </a:solidFill>
                <a:latin typeface="Times New Roman" pitchFamily="18" charset="0"/>
                <a:cs typeface="Times New Roman" pitchFamily="18" charset="0"/>
              </a:rPr>
              <a:t>(electron hole).</a:t>
            </a:r>
            <a:endParaRPr lang="en-US" altLang="ko-KR" sz="900" dirty="0" smtClean="0">
              <a:latin typeface="Times New Roman" pitchFamily="18" charset="0"/>
              <a:cs typeface="Times New Roman" pitchFamily="18" charset="0"/>
            </a:endParaRPr>
          </a:p>
        </p:txBody>
      </p:sp>
      <p:pic>
        <p:nvPicPr>
          <p:cNvPr id="67593"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938" y="2968625"/>
            <a:ext cx="6335712"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4" name="직사각형 1"/>
          <p:cNvSpPr>
            <a:spLocks noChangeArrowheads="1"/>
          </p:cNvSpPr>
          <p:nvPr/>
        </p:nvSpPr>
        <p:spPr bwMode="auto">
          <a:xfrm>
            <a:off x="1962150" y="5300663"/>
            <a:ext cx="129698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Không phát quang</a:t>
            </a:r>
            <a:endParaRPr lang="ko-KR" altLang="en-US" sz="1100">
              <a:latin typeface="Times New Roman" pitchFamily="18" charset="0"/>
              <a:cs typeface="Times New Roman" pitchFamily="18" charset="0"/>
            </a:endParaRPr>
          </a:p>
        </p:txBody>
      </p:sp>
      <p:sp>
        <p:nvSpPr>
          <p:cNvPr id="67595" name="직사각형 10"/>
          <p:cNvSpPr>
            <a:spLocks noChangeArrowheads="1"/>
          </p:cNvSpPr>
          <p:nvPr/>
        </p:nvSpPr>
        <p:spPr bwMode="auto">
          <a:xfrm>
            <a:off x="3781425" y="5300663"/>
            <a:ext cx="158273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Dòng điện lớn chạy qua</a:t>
            </a:r>
            <a:endParaRPr lang="ko-KR" altLang="en-US" sz="1100">
              <a:latin typeface="Times New Roman" pitchFamily="18" charset="0"/>
              <a:cs typeface="Times New Roman" pitchFamily="18" charset="0"/>
            </a:endParaRPr>
          </a:p>
        </p:txBody>
      </p:sp>
      <p:sp>
        <p:nvSpPr>
          <p:cNvPr id="67596" name="직사각형 11"/>
          <p:cNvSpPr>
            <a:spLocks noChangeArrowheads="1"/>
          </p:cNvSpPr>
          <p:nvPr/>
        </p:nvSpPr>
        <p:spPr bwMode="auto">
          <a:xfrm>
            <a:off x="5967413" y="5294313"/>
            <a:ext cx="2447925"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Trạng thái hoạt động không bình thường</a:t>
            </a:r>
            <a:endParaRPr lang="ko-KR" altLang="en-US" sz="11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01946FD-3D33-40BC-AA92-7FA1B6942FE2}" type="slidenum">
              <a:rPr lang="en-US" altLang="ko-KR" sz="1400" smtClean="0">
                <a:latin typeface="Times New Roman" pitchFamily="18" charset="0"/>
                <a:cs typeface="Times New Roman" pitchFamily="18" charset="0"/>
              </a:rPr>
              <a:pPr eaLnBrk="1" hangingPunct="1"/>
              <a:t>62</a:t>
            </a:fld>
            <a:endParaRPr lang="en-US" altLang="ko-KR" sz="1400" smtClean="0">
              <a:latin typeface="Times New Roman" pitchFamily="18" charset="0"/>
              <a:cs typeface="Times New Roman" pitchFamily="18" charset="0"/>
            </a:endParaRPr>
          </a:p>
        </p:txBody>
      </p:sp>
      <p:sp>
        <p:nvSpPr>
          <p:cNvPr id="68611" name="Text Box 2"/>
          <p:cNvSpPr txBox="1">
            <a:spLocks noChangeArrowheads="1"/>
          </p:cNvSpPr>
          <p:nvPr/>
        </p:nvSpPr>
        <p:spPr bwMode="auto">
          <a:xfrm>
            <a:off x="684213" y="892175"/>
            <a:ext cx="16144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1-2. Điện trở là gì?</a:t>
            </a:r>
          </a:p>
        </p:txBody>
      </p:sp>
      <p:sp>
        <p:nvSpPr>
          <p:cNvPr id="68612"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68613" name="Text Box 5"/>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68614"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just" eaLnBrk="1" hangingPunct="1"/>
            <a:r>
              <a:rPr lang="en-US" altLang="ko-KR">
                <a:latin typeface="Times New Roman" pitchFamily="18" charset="0"/>
                <a:cs typeface="Times New Roman" pitchFamily="18" charset="0"/>
              </a:rPr>
              <a:t>Trong bất cứ vật chất nào đều có sự di chuyển của điện tử tự do và do điện tử (</a:t>
            </a:r>
            <a:r>
              <a:rPr lang="ko-KR" altLang="en-US">
                <a:latin typeface="Times New Roman" pitchFamily="18" charset="0"/>
                <a:cs typeface="Times New Roman" pitchFamily="18" charset="0"/>
              </a:rPr>
              <a:t>電子</a:t>
            </a:r>
            <a:r>
              <a:rPr lang="en-US" altLang="ko-KR">
                <a:latin typeface="Times New Roman" pitchFamily="18" charset="0"/>
                <a:cs typeface="Times New Roman" pitchFamily="18" charset="0"/>
              </a:rPr>
              <a:t>:Electron) mang điện nên hình thành dòng điện. Dựa vào số điện tử di chuyển trong một đơn vị thời gian tức là dòng điện, nếu </a:t>
            </a:r>
            <a:r>
              <a:rPr lang="en-US" altLang="ko-KR" b="1">
                <a:latin typeface="Times New Roman" pitchFamily="18" charset="0"/>
                <a:cs typeface="Times New Roman" pitchFamily="18" charset="0"/>
              </a:rPr>
              <a:t>trong vòng 1 giây di chuyển được</a:t>
            </a:r>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6.25×10</a:t>
            </a:r>
            <a:r>
              <a:rPr lang="en-US" altLang="ko-KR" b="1" baseline="30000">
                <a:latin typeface="Times New Roman" pitchFamily="18" charset="0"/>
                <a:cs typeface="Times New Roman" pitchFamily="18" charset="0"/>
              </a:rPr>
              <a:t>18</a:t>
            </a:r>
            <a:r>
              <a:rPr lang="en-US" altLang="ko-KR" b="1">
                <a:latin typeface="Times New Roman" pitchFamily="18" charset="0"/>
                <a:cs typeface="Times New Roman" pitchFamily="18" charset="0"/>
              </a:rPr>
              <a:t>  điện tử </a:t>
            </a:r>
            <a:r>
              <a:rPr lang="en-US" altLang="ko-KR">
                <a:latin typeface="Times New Roman" pitchFamily="18" charset="0"/>
                <a:cs typeface="Times New Roman" pitchFamily="18" charset="0"/>
              </a:rPr>
              <a:t>ta có thể nói đó là dòng điện 1 Ampere và ký hiệu là 1[A].</a:t>
            </a:r>
          </a:p>
          <a:p>
            <a:pPr algn="just" eaLnBrk="1" hangingPunct="1"/>
            <a:r>
              <a:rPr lang="en-US" altLang="ko-KR">
                <a:latin typeface="Times New Roman" pitchFamily="18" charset="0"/>
                <a:cs typeface="Times New Roman" pitchFamily="18" charset="0"/>
              </a:rPr>
              <a:t>Thế nhưng do các vật chất đều được cấu tạo bởi các hạt nhân nguyên tử nên cuối cùng các điện tử tự do này cũng bị hút vào những lỗ trống và bị cản trở. </a:t>
            </a:r>
            <a:r>
              <a:rPr lang="en-US" altLang="ko-KR" b="1">
                <a:latin typeface="Times New Roman" pitchFamily="18" charset="0"/>
                <a:cs typeface="Times New Roman" pitchFamily="18" charset="0"/>
              </a:rPr>
              <a:t>Điện trở (Resistance)</a:t>
            </a:r>
            <a:r>
              <a:rPr lang="en-US" altLang="ko-KR">
                <a:latin typeface="Times New Roman" pitchFamily="18" charset="0"/>
                <a:cs typeface="Times New Roman" pitchFamily="18" charset="0"/>
              </a:rPr>
              <a:t> ngăn sự di chuyển của các điện tử đó. Và dựa theo 4 yếu tố</a:t>
            </a:r>
            <a:r>
              <a:rPr lang="en-US" altLang="ko-KR" b="1">
                <a:latin typeface="Times New Roman" pitchFamily="18" charset="0"/>
                <a:cs typeface="Times New Roman" pitchFamily="18" charset="0"/>
              </a:rPr>
              <a:t> (loại vật chất, diện tích dây điện, độ dài dây điện, nhiệt độ)</a:t>
            </a:r>
            <a:r>
              <a:rPr lang="en-US" altLang="ko-KR">
                <a:latin typeface="Times New Roman" pitchFamily="18" charset="0"/>
                <a:cs typeface="Times New Roman" pitchFamily="18" charset="0"/>
              </a:rPr>
              <a:t> thì điện trở của vật chất trở nên khác nhau.</a:t>
            </a:r>
            <a:endParaRPr lang="en-US" altLang="ko-KR" b="1">
              <a:latin typeface="Times New Roman" pitchFamily="18" charset="0"/>
              <a:cs typeface="Times New Roman" pitchFamily="18" charset="0"/>
            </a:endParaRPr>
          </a:p>
          <a:p>
            <a:pPr algn="just" eaLnBrk="1" hangingPunct="1"/>
            <a:r>
              <a:rPr lang="en-US" altLang="ko-KR">
                <a:latin typeface="Times New Roman" pitchFamily="18" charset="0"/>
                <a:cs typeface="Times New Roman" pitchFamily="18" charset="0"/>
              </a:rPr>
              <a:t>                                                                                	    Do cấu tạo nguyên tử của từng loại vật chất là khác nhau 			   	nên sự di chuyển của các điện tử tự do trong lỗ trống điện 					tử là khác nhau. Do đó, cho dù có cùng số điện tử đi vào 					nhưng do số lỗ trống điện tử là khác nhau  nên sau một đơn 				vị thời gian thì số điện tử đi qua trở nên khác nhau. Hơn 					nữa, cho dù cùng là một loại vật chất nhưng diện tích tiếp xúc càng lớn thì khoảng cách lỗ trống có thể di chuyển đến càng lớn. Dây dẫn càng dài thì thời gian lưu chuyển từ đầu này qua đầu kia càng dài, theo đó có thể phát sinh vấn đề. Và ta có công thức điện trở như sau:</a:t>
            </a:r>
          </a:p>
          <a:p>
            <a:pPr algn="just" eaLnBrk="1" hangingPunct="1"/>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(Điện trở) = (Hằng số loại vật chất) * (chiều dài) / (diện tích tiếp xúc)</a:t>
            </a:r>
          </a:p>
          <a:p>
            <a:pPr eaLnBrk="1" hangingPunct="1"/>
            <a:endParaRPr lang="en-US" altLang="ko-KR" b="1">
              <a:latin typeface="Times New Roman" pitchFamily="18" charset="0"/>
              <a:cs typeface="Times New Roman" pitchFamily="18" charset="0"/>
            </a:endParaRPr>
          </a:p>
          <a:p>
            <a:pPr algn="just" eaLnBrk="1" hangingPunct="1"/>
            <a:r>
              <a:rPr lang="en-US" altLang="ko-KR">
                <a:latin typeface="Times New Roman" pitchFamily="18" charset="0"/>
                <a:cs typeface="Times New Roman" pitchFamily="18" charset="0"/>
              </a:rPr>
              <a:t>Và hầu như khi nhiệt độ của vật chất tăng lên thì hạt nhân nguyên tử sẽ hoạt động linh hoạt hơn. Do đó, nếu hạt nhân nguyên tử chuyển động linh hoạt khi điện tử tự do đang di chuyển sẽ gây trở ngại cho sự di chuyển của điện tử tự do và do nguyên nhân này nên khi nhiệt độ điện trở dòng của vật thay thế tăng thì điện trở dòng cũng tăng theo.</a:t>
            </a:r>
          </a:p>
        </p:txBody>
      </p:sp>
      <p:pic>
        <p:nvPicPr>
          <p:cNvPr id="68615" name="Picture 9" descr="전자의이동"/>
          <p:cNvPicPr>
            <a:picLocks noChangeAspect="1" noChangeArrowheads="1"/>
          </p:cNvPicPr>
          <p:nvPr/>
        </p:nvPicPr>
        <p:blipFill>
          <a:blip r:embed="rId3">
            <a:extLst>
              <a:ext uri="{28A0092B-C50C-407E-A947-70E740481C1C}">
                <a14:useLocalDpi xmlns:a14="http://schemas.microsoft.com/office/drawing/2010/main" val="0"/>
              </a:ext>
            </a:extLst>
          </a:blip>
          <a:srcRect l="2199" t="41405" r="48315" b="8318"/>
          <a:stretch>
            <a:fillRect/>
          </a:stretch>
        </p:blipFill>
        <p:spPr bwMode="auto">
          <a:xfrm>
            <a:off x="809625" y="2636838"/>
            <a:ext cx="3714750" cy="1295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8616" name="직사각형 1"/>
          <p:cNvSpPr>
            <a:spLocks noChangeArrowheads="1"/>
          </p:cNvSpPr>
          <p:nvPr/>
        </p:nvSpPr>
        <p:spPr bwMode="auto">
          <a:xfrm>
            <a:off x="827088" y="2708275"/>
            <a:ext cx="649287"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Hạt nhân</a:t>
            </a:r>
            <a:endParaRPr lang="ko-KR" altLang="en-US" sz="1000">
              <a:latin typeface="Times New Roman" pitchFamily="18" charset="0"/>
              <a:cs typeface="Times New Roman" pitchFamily="18" charset="0"/>
            </a:endParaRPr>
          </a:p>
        </p:txBody>
      </p:sp>
      <p:sp>
        <p:nvSpPr>
          <p:cNvPr id="68617" name="직사각형 8"/>
          <p:cNvSpPr>
            <a:spLocks noChangeArrowheads="1"/>
          </p:cNvSpPr>
          <p:nvPr/>
        </p:nvSpPr>
        <p:spPr bwMode="auto">
          <a:xfrm>
            <a:off x="3419475" y="3608388"/>
            <a:ext cx="936625" cy="2174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Dòng điện</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602F207-A3A6-43FD-B7C5-49230E95A835}" type="slidenum">
              <a:rPr lang="en-US" altLang="ko-KR" sz="1400" smtClean="0">
                <a:latin typeface="Times New Roman" pitchFamily="18" charset="0"/>
                <a:cs typeface="Times New Roman" pitchFamily="18" charset="0"/>
              </a:rPr>
              <a:pPr eaLnBrk="1" hangingPunct="1"/>
              <a:t>63</a:t>
            </a:fld>
            <a:endParaRPr lang="en-US" altLang="ko-KR" sz="1400" smtClean="0">
              <a:latin typeface="Times New Roman" pitchFamily="18" charset="0"/>
              <a:cs typeface="Times New Roman" pitchFamily="18" charset="0"/>
            </a:endParaRPr>
          </a:p>
        </p:txBody>
      </p:sp>
      <p:sp>
        <p:nvSpPr>
          <p:cNvPr id="69635" name="Text Box 2"/>
          <p:cNvSpPr txBox="1">
            <a:spLocks noChangeArrowheads="1"/>
          </p:cNvSpPr>
          <p:nvPr/>
        </p:nvSpPr>
        <p:spPr bwMode="auto">
          <a:xfrm>
            <a:off x="684213" y="892175"/>
            <a:ext cx="22653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1-3. Đặc trưng của điện trở</a:t>
            </a:r>
            <a:endParaRPr lang="ko-KR" altLang="en-US" sz="1400" b="1">
              <a:latin typeface="Times New Roman" pitchFamily="18" charset="0"/>
              <a:cs typeface="Times New Roman" pitchFamily="18" charset="0"/>
            </a:endParaRPr>
          </a:p>
        </p:txBody>
      </p:sp>
      <p:sp>
        <p:nvSpPr>
          <p:cNvPr id="69636" name="Text Box 3"/>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69637"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69638"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Khi điện tử tự do di chuyển trong chất dẫn thì một phần điện tử sẽ lao vào hạt nhân nguyên tử, một phần năng lượng chuyển động sẽ phát ra nhiệt và sáng. Nhiệt được sinh ra như thế được gọi là nhiệt Jul</a:t>
            </a:r>
            <a:r>
              <a:rPr lang="en-US" altLang="ko-KR" b="1">
                <a:latin typeface="Times New Roman" pitchFamily="18" charset="0"/>
                <a:cs typeface="Times New Roman" pitchFamily="18" charset="0"/>
              </a:rPr>
              <a:t> (Joule)</a:t>
            </a:r>
            <a:r>
              <a:rPr lang="en-US" altLang="ko-KR">
                <a:latin typeface="Times New Roman" pitchFamily="18" charset="0"/>
                <a:cs typeface="Times New Roman" pitchFamily="18" charset="0"/>
              </a:rPr>
              <a:t>, độ lớn của nó tỉ lệ thuận với độ lớn của điện trở và bình phương điện năng.</a:t>
            </a:r>
          </a:p>
          <a:p>
            <a:pPr eaLnBrk="1" hangingPunct="1"/>
            <a:endParaRPr lang="en-US" altLang="ko-KR"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(Nhiệt Jul) = (Điện năng bình phương) * (Điện trở)</a:t>
            </a:r>
          </a:p>
          <a:p>
            <a:pPr eaLnBrk="1" hangingPunct="1"/>
            <a:endParaRPr lang="en-US" altLang="ko-KR" sz="700"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Các vật liệu phát nhiệt từ điện như máy sưởi điện, bàn là điện, hay quạt sưởi điện vv… bản thân nó đã có điện trở và được được làm từ các vật liệu có thể chịu mức điện trở cao. Và các vật liệu cách điện này được sử dụng trong dây nicrom(dây hợp kim nikel và crom). Ví dụ như bóng đèn sợi dây tóc là một loại bóng đèn vừa tỏa nhiệt vừa phát sáng.</a:t>
            </a:r>
          </a:p>
          <a:p>
            <a:pPr eaLnBrk="1" hangingPunct="1"/>
            <a:r>
              <a:rPr lang="en-US" altLang="ko-KR">
                <a:latin typeface="Times New Roman" pitchFamily="18" charset="0"/>
                <a:cs typeface="Times New Roman" pitchFamily="18" charset="0"/>
              </a:rPr>
              <a:t>Dây tóc bóng đèn được làm từ vonfram, vừa  không bị nhiệt hóa vừa chịu được nhiệt độ cao. Cũng như dây điện, được sử dụng vào mục đích truyền lượng điện lớn thì do nhiệt Jul càng nhỏ thì càng ít hao hụt nên thường sử dụng dây đồng hoặc dây aluminium.</a:t>
            </a:r>
          </a:p>
          <a:p>
            <a:pPr eaLnBrk="1" hangingPunct="1"/>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Khi sử dụng điện trở điểm quang trọng chính là </a:t>
            </a:r>
            <a:r>
              <a:rPr lang="en-US" altLang="ko-KR" b="1" u="sng">
                <a:latin typeface="Times New Roman" pitchFamily="18" charset="0"/>
                <a:cs typeface="Times New Roman" pitchFamily="18" charset="0"/>
              </a:rPr>
              <a:t>giá trị điện trở</a:t>
            </a:r>
            <a:r>
              <a:rPr lang="en-US" altLang="ko-KR">
                <a:latin typeface="Times New Roman" pitchFamily="18" charset="0"/>
                <a:cs typeface="Times New Roman" pitchFamily="18" charset="0"/>
              </a:rPr>
              <a:t>, </a:t>
            </a:r>
            <a:r>
              <a:rPr lang="en-US" altLang="ko-KR" b="1" u="sng">
                <a:latin typeface="Times New Roman" pitchFamily="18" charset="0"/>
                <a:cs typeface="Times New Roman" pitchFamily="18" charset="0"/>
              </a:rPr>
              <a:t>công suất</a:t>
            </a:r>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và </a:t>
            </a:r>
            <a:r>
              <a:rPr lang="en-US" altLang="ko-KR" b="1" u="sng">
                <a:latin typeface="Times New Roman" pitchFamily="18" charset="0"/>
                <a:cs typeface="Times New Roman" pitchFamily="18" charset="0"/>
              </a:rPr>
              <a:t>chênh lệch</a:t>
            </a:r>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giá trị điện trở. </a:t>
            </a:r>
            <a:r>
              <a:rPr lang="en-US" altLang="ko-KR" b="1" u="sng">
                <a:latin typeface="Times New Roman" pitchFamily="18" charset="0"/>
                <a:cs typeface="Times New Roman" pitchFamily="18" charset="0"/>
              </a:rPr>
              <a:t>Công suất</a:t>
            </a:r>
            <a:r>
              <a:rPr lang="en-US" altLang="ko-KR" u="sng">
                <a:latin typeface="Times New Roman" pitchFamily="18" charset="0"/>
                <a:cs typeface="Times New Roman" pitchFamily="18" charset="0"/>
              </a:rPr>
              <a:t> là </a:t>
            </a:r>
            <a:r>
              <a:rPr lang="en-US" altLang="ko-KR" b="1" u="sng">
                <a:latin typeface="Times New Roman" pitchFamily="18" charset="0"/>
                <a:cs typeface="Times New Roman" pitchFamily="18" charset="0"/>
              </a:rPr>
              <a:t>điện năng tiêu thụ (W:wat) </a:t>
            </a:r>
            <a:r>
              <a:rPr lang="en-US" altLang="ko-KR" u="sng">
                <a:latin typeface="Times New Roman" pitchFamily="18" charset="0"/>
                <a:cs typeface="Times New Roman" pitchFamily="18" charset="0"/>
              </a:rPr>
              <a:t>mà điện trở có thể chịu được, ta có công thức tìm điện năng bằng bình phương cường độ dòng điện</a:t>
            </a:r>
            <a:r>
              <a:rPr lang="en-US" altLang="ko-KR" b="1" u="sng">
                <a:latin typeface="Times New Roman" pitchFamily="18" charset="0"/>
                <a:cs typeface="Times New Roman" pitchFamily="18" charset="0"/>
              </a:rPr>
              <a:t> (I2</a:t>
            </a:r>
            <a:r>
              <a:rPr lang="en-US" altLang="ko-KR" u="sng">
                <a:latin typeface="Times New Roman" pitchFamily="18" charset="0"/>
                <a:cs typeface="Times New Roman" pitchFamily="18" charset="0"/>
              </a:rPr>
              <a:t>)×điện trở(</a:t>
            </a:r>
            <a:r>
              <a:rPr lang="en-US" altLang="ko-KR" b="1" u="sng">
                <a:latin typeface="Times New Roman" pitchFamily="18" charset="0"/>
                <a:cs typeface="Times New Roman" pitchFamily="18" charset="0"/>
              </a:rPr>
              <a:t>R)</a:t>
            </a:r>
            <a:r>
              <a:rPr lang="en-US" altLang="ko-KR" u="sng">
                <a:latin typeface="Times New Roman" pitchFamily="18" charset="0"/>
                <a:cs typeface="Times New Roman" pitchFamily="18" charset="0"/>
              </a:rPr>
              <a:t>, nếu  dùng vượt quá mức ấy sẽ phát sinh nhiệt trên điện trở dẫn đến cháy.</a:t>
            </a: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Trên mạch điện thường được sử dụng các loại 1/8W, 1/4W, 1/2W và thường được dùng trong audio, TV hay các thiết bị gia dụng.</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1/8W hay 1/4W đủ cho mạch sóng(dòng điện nhỏ) của mạch điện nhưng do điện trở của mạch điện nguồn, điều khiển dòng điện của diode phát quang hay amp lực lớn có dòng điện lớn hơn so với suy nghĩ nên khi sử dụng công suất cần xem xét thật kỹ.</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F19DCF7-48FA-4EB9-87BF-0B08F03118A3}" type="slidenum">
              <a:rPr lang="en-US" altLang="ko-KR" sz="1400" smtClean="0">
                <a:latin typeface="Times New Roman" pitchFamily="18" charset="0"/>
                <a:cs typeface="Times New Roman" pitchFamily="18" charset="0"/>
              </a:rPr>
              <a:pPr eaLnBrk="1" hangingPunct="1"/>
              <a:t>64</a:t>
            </a:fld>
            <a:endParaRPr lang="en-US" altLang="ko-KR" sz="1400" smtClean="0">
              <a:latin typeface="Times New Roman" pitchFamily="18" charset="0"/>
              <a:cs typeface="Times New Roman" pitchFamily="18" charset="0"/>
            </a:endParaRPr>
          </a:p>
        </p:txBody>
      </p:sp>
      <p:sp>
        <p:nvSpPr>
          <p:cNvPr id="70659" name="Text Box 2"/>
          <p:cNvSpPr txBox="1">
            <a:spLocks noChangeArrowheads="1"/>
          </p:cNvSpPr>
          <p:nvPr/>
        </p:nvSpPr>
        <p:spPr bwMode="auto">
          <a:xfrm>
            <a:off x="684213" y="892175"/>
            <a:ext cx="24193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1-4. Biểu diễn và đọc điện trở</a:t>
            </a:r>
            <a:endParaRPr lang="ko-KR" altLang="en-US" sz="1400" b="1">
              <a:latin typeface="Times New Roman" pitchFamily="18" charset="0"/>
              <a:cs typeface="Times New Roman" pitchFamily="18" charset="0"/>
            </a:endParaRPr>
          </a:p>
        </p:txBody>
      </p:sp>
      <p:sp>
        <p:nvSpPr>
          <p:cNvPr id="70660" name="Text Box 3"/>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70661"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0662"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Đơn gị giá trị điện trở là ohm(Ω), được đặt theo tên người phát minh ra nó</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Ohm. Ký hiệu điện trở là </a:t>
            </a:r>
            <a:r>
              <a:rPr lang="en-US" altLang="ko-KR" b="1" i="1">
                <a:latin typeface="Times New Roman" pitchFamily="18" charset="0"/>
                <a:cs typeface="Times New Roman" pitchFamily="18" charset="0"/>
              </a:rPr>
              <a:t>R</a:t>
            </a:r>
            <a:r>
              <a:rPr lang="en-US" altLang="ko-KR" i="1">
                <a:latin typeface="Times New Roman" pitchFamily="18" charset="0"/>
                <a:cs typeface="Times New Roman" pitchFamily="18" charset="0"/>
              </a:rPr>
              <a:t>, </a:t>
            </a:r>
            <a:r>
              <a:rPr lang="en-US" altLang="ko-KR">
                <a:latin typeface="Times New Roman" pitchFamily="18" charset="0"/>
                <a:cs typeface="Times New Roman" pitchFamily="18" charset="0"/>
              </a:rPr>
              <a:t>đơn vị điện trở được ký hiệu là </a:t>
            </a:r>
            <a:r>
              <a:rPr lang="en-US" altLang="ko-KR" b="1">
                <a:latin typeface="Times New Roman" pitchFamily="18" charset="0"/>
                <a:cs typeface="Times New Roman" pitchFamily="18" charset="0"/>
              </a:rPr>
              <a:t>Ω( Ohm:ôm)</a:t>
            </a:r>
            <a:r>
              <a:rPr lang="en-US" altLang="ko-KR">
                <a:latin typeface="Times New Roman" pitchFamily="18" charset="0"/>
                <a:cs typeface="Times New Roman" pitchFamily="18" charset="0"/>
              </a:rPr>
              <a:t>. Mạch điện cũng được ký hiệu là	</a:t>
            </a:r>
          </a:p>
          <a:p>
            <a:pPr eaLnBrk="1" hangingPunct="1"/>
            <a:endParaRPr lang="en-US" altLang="ko-KR">
              <a:latin typeface="Times New Roman" pitchFamily="18" charset="0"/>
              <a:cs typeface="Times New Roman" pitchFamily="18" charset="0"/>
            </a:endParaRPr>
          </a:p>
          <a:p>
            <a:pPr eaLnBrk="1" hangingPunct="1"/>
            <a:r>
              <a:rPr lang="vi-VN" altLang="ko-KR">
                <a:latin typeface="Times New Roman" pitchFamily="18" charset="0"/>
                <a:cs typeface="Times New Roman" pitchFamily="18" charset="0"/>
              </a:rPr>
              <a:t>Thí dụ như có một đoạn dây dẫn có điện trở là 1</a:t>
            </a:r>
            <a:r>
              <a:rPr lang="el-GR" altLang="ko-KR">
                <a:latin typeface="Times New Roman" pitchFamily="18" charset="0"/>
                <a:cs typeface="Times New Roman" pitchFamily="18" charset="0"/>
              </a:rPr>
              <a:t>Ω </a:t>
            </a:r>
            <a:r>
              <a:rPr lang="vi-VN" altLang="ko-KR">
                <a:latin typeface="Times New Roman" pitchFamily="18" charset="0"/>
                <a:cs typeface="Times New Roman" pitchFamily="18" charset="0"/>
              </a:rPr>
              <a:t>và có dòng điện 1A chạy qua thì điện áp giữa hai đầu dây là 1V</a:t>
            </a:r>
            <a:r>
              <a:rPr lang="en-US" altLang="ko-KR">
                <a:latin typeface="Times New Roman" pitchFamily="18" charset="0"/>
                <a:cs typeface="Times New Roman" pitchFamily="18" charset="0"/>
              </a:rPr>
              <a:t>. Và ta có 1000Ω</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1kΩ(kilo ohm), 1000kΩ</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1MΩ(mega ohm).</a:t>
            </a:r>
          </a:p>
          <a:p>
            <a:pPr eaLnBrk="1" latinLnBrk="1" hangingPunct="1">
              <a:lnSpc>
                <a:spcPct val="100000"/>
              </a:lnSpc>
            </a:pPr>
            <a:endParaRPr lang="en-US" altLang="ko-KR">
              <a:latin typeface="Times New Roman" pitchFamily="18" charset="0"/>
              <a:cs typeface="Times New Roman" pitchFamily="18" charset="0"/>
            </a:endParaRPr>
          </a:p>
        </p:txBody>
      </p:sp>
      <p:pic>
        <p:nvPicPr>
          <p:cNvPr id="70663" name="Picture 6" descr="저항기호"/>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590675"/>
            <a:ext cx="508000"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4" name="Text Box 7"/>
          <p:cNvSpPr txBox="1">
            <a:spLocks noChangeArrowheads="1"/>
          </p:cNvSpPr>
          <p:nvPr/>
        </p:nvSpPr>
        <p:spPr bwMode="auto">
          <a:xfrm>
            <a:off x="4102100" y="6096000"/>
            <a:ext cx="137953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Cách đọc bảng màu&gt;</a:t>
            </a:r>
          </a:p>
        </p:txBody>
      </p:sp>
      <p:graphicFrame>
        <p:nvGraphicFramePr>
          <p:cNvPr id="2617555" name="Group 211"/>
          <p:cNvGraphicFramePr>
            <a:graphicFrameLocks noGrp="1"/>
          </p:cNvGraphicFramePr>
          <p:nvPr/>
        </p:nvGraphicFramePr>
        <p:xfrm>
          <a:off x="971550" y="2527300"/>
          <a:ext cx="7200900" cy="3568698"/>
        </p:xfrm>
        <a:graphic>
          <a:graphicData uri="http://schemas.openxmlformats.org/drawingml/2006/table">
            <a:tbl>
              <a:tblPr/>
              <a:tblGrid>
                <a:gridCol w="1200150"/>
                <a:gridCol w="1200150"/>
                <a:gridCol w="1200150"/>
                <a:gridCol w="1200150"/>
                <a:gridCol w="1200150"/>
                <a:gridCol w="1200150"/>
              </a:tblGrid>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Màu</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thứ</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thứ</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2</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mũ</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Chênh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lệch</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Ký</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hiệu</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sai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Đen</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Nâu</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F</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Đỏ</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Cam</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3</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3</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3</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Vàng</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4</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4</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4</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Xanh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lục</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Xanh</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lam</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6</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6</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6</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±0.25%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Tím</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7</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7</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7</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Xám</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8</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8</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8</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±0.05%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Trắng</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9</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9</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9</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J</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Gold</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±5%</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Bạc</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r>
                        <a:rPr kumimoji="1" lang="en-US" altLang="ko-KR" sz="1200" b="0" i="0" u="none" strike="noStrike" cap="none" normalizeH="0" baseline="3000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4907">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màu</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±20%</a:t>
                      </a: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4" marB="360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4B2EB3B-9669-4DDE-846F-35BE6F6931F6}" type="slidenum">
              <a:rPr lang="en-US" altLang="ko-KR" sz="1400" smtClean="0">
                <a:latin typeface="Times New Roman" pitchFamily="18" charset="0"/>
                <a:cs typeface="Times New Roman" pitchFamily="18" charset="0"/>
              </a:rPr>
              <a:pPr eaLnBrk="1" hangingPunct="1"/>
              <a:t>65</a:t>
            </a:fld>
            <a:endParaRPr lang="en-US" altLang="ko-KR" sz="1400" smtClean="0">
              <a:latin typeface="Times New Roman" pitchFamily="18" charset="0"/>
              <a:cs typeface="Times New Roman" pitchFamily="18" charset="0"/>
            </a:endParaRPr>
          </a:p>
        </p:txBody>
      </p:sp>
      <p:sp>
        <p:nvSpPr>
          <p:cNvPr id="71683" name="Text Box 3"/>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71684"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1685" name="Rectangle 5"/>
          <p:cNvSpPr>
            <a:spLocks noChangeArrowheads="1"/>
          </p:cNvSpPr>
          <p:nvPr/>
        </p:nvSpPr>
        <p:spPr bwMode="auto">
          <a:xfrm>
            <a:off x="827088" y="1125538"/>
            <a:ext cx="748982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Trên những điện trở tương đối lớn thì người ta ghi trực tiếp giá trị điện trở lên bề mặt điện trở nhưng với những điện trở nhỏ rất khó để hiển thị toàn bộ chỉ số thì người ta chọn cách đơn giản là hiển thi bằng màu sắc(Color Code). </a:t>
            </a:r>
          </a:p>
          <a:p>
            <a:pPr eaLnBrk="1" hangingPunct="1"/>
            <a:r>
              <a:rPr lang="en-US" altLang="ko-KR">
                <a:latin typeface="Times New Roman" pitchFamily="18" charset="0"/>
                <a:cs typeface="Times New Roman" pitchFamily="18" charset="0"/>
              </a:rPr>
              <a:t>Ngay cả khi giá trị điện trở được biểu thị cũng có thể xảy ra sự cố như số nhỏ quá bị xóa mất nên người ta biểu thị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4.7KΩ±5%</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4K7J</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Phía cuối J có±5% là sai số(tham khảo hình bên dưới), giống với nó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2.2Ω±10%</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được biểu diễn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2R2K</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R là viết tắt của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dấu chấm thập phân(dấu chấm tròn Round) là đơn vị phụ không có code sai số của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K</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cuối cùng. Khi biểu hiện ký hiệu số, giả sử</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472J</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thì 47</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số hữu hạn, ở vị trí thứ ba số 2 là số mũ</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của 10</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(thêm số 0 vào sau), cuối cùng chữ cái J là code sai số. Theo đó ta có 47×10</a:t>
            </a:r>
            <a:r>
              <a:rPr lang="en-US" altLang="ko-KR" baseline="30000">
                <a:latin typeface="Times New Roman" pitchFamily="18" charset="0"/>
                <a:cs typeface="Times New Roman" pitchFamily="18" charset="0"/>
              </a:rPr>
              <a:t>2</a:t>
            </a:r>
            <a:r>
              <a:rPr lang="en-US" altLang="ko-KR">
                <a:latin typeface="Times New Roman" pitchFamily="18" charset="0"/>
                <a:cs typeface="Times New Roman" pitchFamily="18" charset="0"/>
              </a:rPr>
              <a:t>=4,700Ω=4.7KΩ, sai số là±5%. </a:t>
            </a:r>
          </a:p>
          <a:p>
            <a:pPr eaLnBrk="1" hangingPunct="1"/>
            <a:r>
              <a:rPr lang="en-US" altLang="ko-KR">
                <a:latin typeface="Times New Roman" pitchFamily="18" charset="0"/>
                <a:cs typeface="Times New Roman" pitchFamily="18" charset="0"/>
              </a:rPr>
              <a:t>Với điện trở có độ chính xác cao, có cả trường hợp chữ số hữu hạn chiếm 3 hàng nên sẽ được ghi tổng cộng 4 chữ số. Ví dụ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4701F</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trong số hữu hạn 470 xuất hiện 1 số 0 có nghĩa là 4,700Ω=4.7KΩ, sai số F Class=±1%. Khi biểu diễn ký hiệu số thường dùng cả số có gạch chân bên dưới nhưng đôi lúc có những loại sản phẩm không được gạch chân như vậy tức đó là loại cần được Tester. </a:t>
            </a:r>
          </a:p>
        </p:txBody>
      </p:sp>
      <p:sp>
        <p:nvSpPr>
          <p:cNvPr id="71686" name="Text Box 8"/>
          <p:cNvSpPr txBox="1">
            <a:spLocks noChangeArrowheads="1"/>
          </p:cNvSpPr>
          <p:nvPr/>
        </p:nvSpPr>
        <p:spPr bwMode="auto">
          <a:xfrm>
            <a:off x="1519238" y="5697538"/>
            <a:ext cx="2098675"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Ví dụ)  Màu vàng, tím, cam,  gold</a:t>
            </a:r>
            <a:endParaRPr lang="ko-KR" altLang="en-US" sz="1000">
              <a:latin typeface="Times New Roman" pitchFamily="18" charset="0"/>
              <a:cs typeface="Times New Roman" pitchFamily="18" charset="0"/>
            </a:endParaRPr>
          </a:p>
          <a:p>
            <a:pPr eaLnBrk="1" latinLnBrk="1" hangingPunct="1">
              <a:lnSpc>
                <a:spcPct val="100000"/>
              </a:lnSpc>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4      7   *  1000</a:t>
            </a:r>
          </a:p>
          <a:p>
            <a:pPr eaLnBrk="1" latinLnBrk="1" hangingPunct="1">
              <a:lnSpc>
                <a:spcPct val="100000"/>
              </a:lnSpc>
            </a:pPr>
            <a:r>
              <a:rPr lang="en-US" altLang="ko-KR" sz="1000">
                <a:latin typeface="Times New Roman" pitchFamily="18" charset="0"/>
                <a:cs typeface="Times New Roman" pitchFamily="18" charset="0"/>
              </a:rPr>
              <a:t>   = 47000 Ω = 47 KΩ  (sai số</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±5% )</a:t>
            </a:r>
          </a:p>
        </p:txBody>
      </p:sp>
      <p:sp>
        <p:nvSpPr>
          <p:cNvPr id="71687" name="Text Box 9"/>
          <p:cNvSpPr txBox="1">
            <a:spLocks noChangeArrowheads="1"/>
          </p:cNvSpPr>
          <p:nvPr/>
        </p:nvSpPr>
        <p:spPr bwMode="auto">
          <a:xfrm>
            <a:off x="4572000" y="5621338"/>
            <a:ext cx="391160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Điện trở có độ chính xác cao có 3 dãy số hữu hạn và để biểu diễn bằng</a:t>
            </a:r>
          </a:p>
          <a:p>
            <a:pPr eaLnBrk="1" latinLnBrk="1" hangingPunct="1">
              <a:lnSpc>
                <a:spcPct val="100000"/>
              </a:lnSpc>
            </a:pPr>
            <a:r>
              <a:rPr lang="en-US" altLang="ko-KR" sz="1000">
                <a:latin typeface="Times New Roman" pitchFamily="18" charset="0"/>
                <a:cs typeface="Times New Roman" pitchFamily="18" charset="0"/>
              </a:rPr>
              <a:t> bảng mã màu cần sử dụng 5 dải màu sắc. Khi đó 3 dải đầu chính là biểu</a:t>
            </a:r>
          </a:p>
          <a:p>
            <a:pPr eaLnBrk="1" latinLnBrk="1" hangingPunct="1">
              <a:lnSpc>
                <a:spcPct val="100000"/>
              </a:lnSpc>
            </a:pPr>
            <a:r>
              <a:rPr lang="en-US" altLang="ko-KR" sz="1000">
                <a:latin typeface="Times New Roman" pitchFamily="18" charset="0"/>
                <a:cs typeface="Times New Roman" pitchFamily="18" charset="0"/>
              </a:rPr>
              <a:t> thị số hữu hạn, dải thứ 4 biểu thị cấp số nhân, dải thứ 5 biểu thị sai số.</a:t>
            </a:r>
          </a:p>
        </p:txBody>
      </p:sp>
      <p:pic>
        <p:nvPicPr>
          <p:cNvPr id="7168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3716338"/>
            <a:ext cx="3314700" cy="1876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168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2663" y="3716338"/>
            <a:ext cx="3305175" cy="190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1690" name="직사각형 1"/>
          <p:cNvSpPr>
            <a:spLocks noChangeArrowheads="1"/>
          </p:cNvSpPr>
          <p:nvPr/>
        </p:nvSpPr>
        <p:spPr bwMode="auto">
          <a:xfrm>
            <a:off x="5619750" y="3716338"/>
            <a:ext cx="43180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Hẹp</a:t>
            </a:r>
            <a:endParaRPr lang="ko-KR" altLang="en-US" sz="1000">
              <a:latin typeface="Times New Roman" pitchFamily="18" charset="0"/>
              <a:cs typeface="Times New Roman" pitchFamily="18" charset="0"/>
            </a:endParaRPr>
          </a:p>
        </p:txBody>
      </p:sp>
      <p:sp>
        <p:nvSpPr>
          <p:cNvPr id="71691" name="직사각형 11"/>
          <p:cNvSpPr>
            <a:spLocks noChangeArrowheads="1"/>
          </p:cNvSpPr>
          <p:nvPr/>
        </p:nvSpPr>
        <p:spPr bwMode="auto">
          <a:xfrm>
            <a:off x="1801813" y="3724275"/>
            <a:ext cx="431800" cy="2079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Hẹp</a:t>
            </a:r>
            <a:endParaRPr lang="ko-KR" altLang="en-US" sz="1000">
              <a:latin typeface="Times New Roman" pitchFamily="18" charset="0"/>
              <a:cs typeface="Times New Roman" pitchFamily="18" charset="0"/>
            </a:endParaRPr>
          </a:p>
        </p:txBody>
      </p:sp>
      <p:sp>
        <p:nvSpPr>
          <p:cNvPr id="71692" name="직사각형 12"/>
          <p:cNvSpPr>
            <a:spLocks noChangeArrowheads="1"/>
          </p:cNvSpPr>
          <p:nvPr/>
        </p:nvSpPr>
        <p:spPr bwMode="auto">
          <a:xfrm>
            <a:off x="6527800" y="3760788"/>
            <a:ext cx="52863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Rộng</a:t>
            </a:r>
            <a:endParaRPr lang="ko-KR" altLang="en-US" sz="1000">
              <a:latin typeface="Times New Roman" pitchFamily="18" charset="0"/>
              <a:cs typeface="Times New Roman" pitchFamily="18" charset="0"/>
            </a:endParaRPr>
          </a:p>
        </p:txBody>
      </p:sp>
      <p:sp>
        <p:nvSpPr>
          <p:cNvPr id="71693" name="직사각형 13"/>
          <p:cNvSpPr>
            <a:spLocks noChangeArrowheads="1"/>
          </p:cNvSpPr>
          <p:nvPr/>
        </p:nvSpPr>
        <p:spPr bwMode="auto">
          <a:xfrm>
            <a:off x="2613025" y="3721100"/>
            <a:ext cx="5270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Rộng</a:t>
            </a:r>
            <a:endParaRPr lang="ko-KR" altLang="en-US" sz="1000">
              <a:latin typeface="Times New Roman" pitchFamily="18" charset="0"/>
              <a:cs typeface="Times New Roman" pitchFamily="18" charset="0"/>
            </a:endParaRPr>
          </a:p>
        </p:txBody>
      </p:sp>
      <p:sp>
        <p:nvSpPr>
          <p:cNvPr id="71694" name="직사각형 14"/>
          <p:cNvSpPr>
            <a:spLocks noChangeArrowheads="1"/>
          </p:cNvSpPr>
          <p:nvPr/>
        </p:nvSpPr>
        <p:spPr bwMode="auto">
          <a:xfrm>
            <a:off x="6840538" y="4630738"/>
            <a:ext cx="5270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Sai số</a:t>
            </a:r>
            <a:endParaRPr lang="ko-KR" altLang="en-US" sz="1000">
              <a:latin typeface="Times New Roman" pitchFamily="18" charset="0"/>
              <a:cs typeface="Times New Roman" pitchFamily="18" charset="0"/>
            </a:endParaRPr>
          </a:p>
        </p:txBody>
      </p:sp>
      <p:sp>
        <p:nvSpPr>
          <p:cNvPr id="71695" name="직사각형 15"/>
          <p:cNvSpPr>
            <a:spLocks noChangeArrowheads="1"/>
          </p:cNvSpPr>
          <p:nvPr/>
        </p:nvSpPr>
        <p:spPr bwMode="auto">
          <a:xfrm>
            <a:off x="6840538" y="4813300"/>
            <a:ext cx="987425"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Cấp số nhân</a:t>
            </a:r>
            <a:endParaRPr lang="ko-KR" altLang="en-US" sz="1000">
              <a:latin typeface="Times New Roman" pitchFamily="18" charset="0"/>
              <a:cs typeface="Times New Roman" pitchFamily="18" charset="0"/>
            </a:endParaRPr>
          </a:p>
        </p:txBody>
      </p:sp>
      <p:sp>
        <p:nvSpPr>
          <p:cNvPr id="71696" name="직사각형 16"/>
          <p:cNvSpPr>
            <a:spLocks noChangeArrowheads="1"/>
          </p:cNvSpPr>
          <p:nvPr/>
        </p:nvSpPr>
        <p:spPr bwMode="auto">
          <a:xfrm>
            <a:off x="6799263" y="5418138"/>
            <a:ext cx="842962"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Hàng trăm</a:t>
            </a:r>
            <a:endParaRPr lang="ko-KR" altLang="en-US" sz="1000">
              <a:latin typeface="Times New Roman" pitchFamily="18" charset="0"/>
              <a:cs typeface="Times New Roman" pitchFamily="18" charset="0"/>
            </a:endParaRPr>
          </a:p>
        </p:txBody>
      </p:sp>
      <p:sp>
        <p:nvSpPr>
          <p:cNvPr id="71697" name="직사각형 17"/>
          <p:cNvSpPr>
            <a:spLocks noChangeArrowheads="1"/>
          </p:cNvSpPr>
          <p:nvPr/>
        </p:nvSpPr>
        <p:spPr bwMode="auto">
          <a:xfrm>
            <a:off x="6791325" y="5222875"/>
            <a:ext cx="844550"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Hàng chục</a:t>
            </a:r>
            <a:endParaRPr lang="ko-KR" altLang="en-US" sz="1000">
              <a:latin typeface="Times New Roman" pitchFamily="18" charset="0"/>
              <a:cs typeface="Times New Roman" pitchFamily="18" charset="0"/>
            </a:endParaRPr>
          </a:p>
        </p:txBody>
      </p:sp>
      <p:sp>
        <p:nvSpPr>
          <p:cNvPr id="71698" name="직사각형 18"/>
          <p:cNvSpPr>
            <a:spLocks noChangeArrowheads="1"/>
          </p:cNvSpPr>
          <p:nvPr/>
        </p:nvSpPr>
        <p:spPr bwMode="auto">
          <a:xfrm>
            <a:off x="6808788" y="5029200"/>
            <a:ext cx="842962"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Hàng đơn vị</a:t>
            </a:r>
            <a:endParaRPr lang="ko-KR" altLang="en-US" sz="1000">
              <a:latin typeface="Times New Roman" pitchFamily="18" charset="0"/>
              <a:cs typeface="Times New Roman" pitchFamily="18" charset="0"/>
            </a:endParaRPr>
          </a:p>
        </p:txBody>
      </p:sp>
      <p:sp>
        <p:nvSpPr>
          <p:cNvPr id="71699" name="직사각형 19"/>
          <p:cNvSpPr>
            <a:spLocks noChangeArrowheads="1"/>
          </p:cNvSpPr>
          <p:nvPr/>
        </p:nvSpPr>
        <p:spPr bwMode="auto">
          <a:xfrm>
            <a:off x="2987675" y="4786313"/>
            <a:ext cx="52863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Sai số</a:t>
            </a:r>
            <a:endParaRPr lang="ko-KR" altLang="en-US" sz="1000">
              <a:latin typeface="Times New Roman" pitchFamily="18" charset="0"/>
              <a:cs typeface="Times New Roman" pitchFamily="18" charset="0"/>
            </a:endParaRPr>
          </a:p>
        </p:txBody>
      </p:sp>
      <p:sp>
        <p:nvSpPr>
          <p:cNvPr id="71700" name="직사각형 20"/>
          <p:cNvSpPr>
            <a:spLocks noChangeArrowheads="1"/>
          </p:cNvSpPr>
          <p:nvPr/>
        </p:nvSpPr>
        <p:spPr bwMode="auto">
          <a:xfrm>
            <a:off x="2987675" y="4965700"/>
            <a:ext cx="989013"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Cấp số nhân</a:t>
            </a:r>
            <a:endParaRPr lang="ko-KR" altLang="en-US" sz="1000">
              <a:latin typeface="Times New Roman" pitchFamily="18" charset="0"/>
              <a:cs typeface="Times New Roman" pitchFamily="18" charset="0"/>
            </a:endParaRPr>
          </a:p>
        </p:txBody>
      </p:sp>
      <p:sp>
        <p:nvSpPr>
          <p:cNvPr id="71701" name="직사각형 21"/>
          <p:cNvSpPr>
            <a:spLocks noChangeArrowheads="1"/>
          </p:cNvSpPr>
          <p:nvPr/>
        </p:nvSpPr>
        <p:spPr bwMode="auto">
          <a:xfrm>
            <a:off x="2971800" y="5351463"/>
            <a:ext cx="842963"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Hàng chục</a:t>
            </a:r>
            <a:endParaRPr lang="ko-KR" altLang="en-US" sz="1000">
              <a:latin typeface="Times New Roman" pitchFamily="18" charset="0"/>
              <a:cs typeface="Times New Roman" pitchFamily="18" charset="0"/>
            </a:endParaRPr>
          </a:p>
        </p:txBody>
      </p:sp>
      <p:sp>
        <p:nvSpPr>
          <p:cNvPr id="71702" name="직사각형 22"/>
          <p:cNvSpPr>
            <a:spLocks noChangeArrowheads="1"/>
          </p:cNvSpPr>
          <p:nvPr/>
        </p:nvSpPr>
        <p:spPr bwMode="auto">
          <a:xfrm>
            <a:off x="2987675" y="5181600"/>
            <a:ext cx="844550" cy="152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Hàng đơn vị</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7CD5B6C-D570-45F5-A705-6C37E6FF0E2F}" type="slidenum">
              <a:rPr lang="en-US" altLang="ko-KR" sz="1400" smtClean="0">
                <a:latin typeface="Times New Roman" pitchFamily="18" charset="0"/>
                <a:cs typeface="Times New Roman" pitchFamily="18" charset="0"/>
              </a:rPr>
              <a:pPr eaLnBrk="1" hangingPunct="1"/>
              <a:t>66</a:t>
            </a:fld>
            <a:endParaRPr lang="en-US" altLang="ko-KR" sz="1400" smtClean="0">
              <a:latin typeface="Times New Roman" pitchFamily="18" charset="0"/>
              <a:cs typeface="Times New Roman" pitchFamily="18" charset="0"/>
            </a:endParaRPr>
          </a:p>
        </p:txBody>
      </p:sp>
      <p:sp>
        <p:nvSpPr>
          <p:cNvPr id="72707" name="Text Box 2"/>
          <p:cNvSpPr txBox="1">
            <a:spLocks noChangeArrowheads="1"/>
          </p:cNvSpPr>
          <p:nvPr/>
        </p:nvSpPr>
        <p:spPr bwMode="auto">
          <a:xfrm>
            <a:off x="684213" y="892175"/>
            <a:ext cx="17637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1-5. Điện trở cố định</a:t>
            </a:r>
            <a:endParaRPr lang="ko-KR" altLang="en-US" sz="1400" b="1">
              <a:latin typeface="Times New Roman" pitchFamily="18" charset="0"/>
              <a:cs typeface="Times New Roman" pitchFamily="18" charset="0"/>
            </a:endParaRPr>
          </a:p>
        </p:txBody>
      </p:sp>
      <p:sp>
        <p:nvSpPr>
          <p:cNvPr id="72708" name="Text Box 3"/>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2709"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2710"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(1) Điện trở màng than[Dạng sợi(</a:t>
            </a:r>
            <a:r>
              <a:rPr lang="ko-KR" altLang="en-US" b="1">
                <a:latin typeface="Times New Roman" pitchFamily="18" charset="0"/>
                <a:cs typeface="Times New Roman" pitchFamily="18" charset="0"/>
              </a:rPr>
              <a:t>塗裝型</a:t>
            </a:r>
            <a:r>
              <a:rPr lang="en-US" altLang="ko-KR" b="1">
                <a:latin typeface="Times New Roman" pitchFamily="18" charset="0"/>
                <a:cs typeface="Times New Roman" pitchFamily="18" charset="0"/>
              </a:rPr>
              <a:t>)]</a:t>
            </a:r>
          </a:p>
          <a:p>
            <a:pPr eaLnBrk="1" latinLnBrk="1" hangingPunct="1">
              <a:lnSpc>
                <a:spcPct val="100000"/>
              </a:lnSpc>
            </a:pPr>
            <a:endParaRPr lang="en-US" altLang="ko-KR" b="1">
              <a:latin typeface="Times New Roman" pitchFamily="18" charset="0"/>
              <a:cs typeface="Times New Roman" pitchFamily="18" charset="0"/>
            </a:endParaRPr>
          </a:p>
          <a:p>
            <a:pPr eaLnBrk="1" latinLnBrk="1" hangingPunct="1">
              <a:lnSpc>
                <a:spcPct val="100000"/>
              </a:lnSpc>
            </a:pPr>
            <a:endParaRPr lang="en-US" altLang="ko-KR">
              <a:latin typeface="Times New Roman" pitchFamily="18" charset="0"/>
              <a:cs typeface="Times New Roman" pitchFamily="18" charset="0"/>
            </a:endParaRPr>
          </a:p>
        </p:txBody>
      </p:sp>
      <p:pic>
        <p:nvPicPr>
          <p:cNvPr id="72711" name="Picture 6" descr="탄소피막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581150"/>
            <a:ext cx="3619500" cy="15954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2712" name="Picture 7" descr="탄소피막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0288" y="1576388"/>
            <a:ext cx="3467100" cy="16240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2713" name="Rectangle 8"/>
          <p:cNvSpPr>
            <a:spLocks noChangeArrowheads="1"/>
          </p:cNvSpPr>
          <p:nvPr/>
        </p:nvSpPr>
        <p:spPr bwMode="auto">
          <a:xfrm>
            <a:off x="1042988" y="3252788"/>
            <a:ext cx="990600" cy="669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Cấu tạo</a:t>
            </a:r>
            <a:endParaRPr lang="ko-KR" altLang="en-US">
              <a:latin typeface="Times New Roman" pitchFamily="18" charset="0"/>
              <a:cs typeface="Times New Roman" pitchFamily="18" charset="0"/>
            </a:endParaRPr>
          </a:p>
        </p:txBody>
      </p:sp>
      <p:sp>
        <p:nvSpPr>
          <p:cNvPr id="72714" name="Rectangle 9"/>
          <p:cNvSpPr>
            <a:spLocks noChangeArrowheads="1"/>
          </p:cNvSpPr>
          <p:nvPr/>
        </p:nvSpPr>
        <p:spPr bwMode="auto">
          <a:xfrm>
            <a:off x="2033588" y="3252788"/>
            <a:ext cx="6273800" cy="669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Là điện trở các bon được nung dính chặt trên gậy ceramic, và tại đây rãnh home được khoét theo hình đường xoắn ốc tạo ra giá trị điện trở mong muốn. Nối cáp kim loại dính dây lead vào hai đầu, quét sơn bảo vệ (</a:t>
            </a:r>
            <a:r>
              <a:rPr lang="ko-KR" altLang="en-US">
                <a:latin typeface="Times New Roman" pitchFamily="18" charset="0"/>
                <a:cs typeface="Times New Roman" pitchFamily="18" charset="0"/>
              </a:rPr>
              <a:t>保護塗料</a:t>
            </a:r>
            <a:r>
              <a:rPr lang="en-US" altLang="ko-KR">
                <a:latin typeface="Times New Roman" pitchFamily="18" charset="0"/>
                <a:cs typeface="Times New Roman" pitchFamily="18" charset="0"/>
              </a:rPr>
              <a:t>) để cách điện.</a:t>
            </a:r>
          </a:p>
        </p:txBody>
      </p:sp>
      <p:grpSp>
        <p:nvGrpSpPr>
          <p:cNvPr id="72715" name="Group 20"/>
          <p:cNvGrpSpPr>
            <a:grpSpLocks/>
          </p:cNvGrpSpPr>
          <p:nvPr/>
        </p:nvGrpSpPr>
        <p:grpSpPr bwMode="auto">
          <a:xfrm>
            <a:off x="1042988" y="3922713"/>
            <a:ext cx="7264400" cy="2243137"/>
            <a:chOff x="657" y="2471"/>
            <a:chExt cx="4576" cy="1549"/>
          </a:xfrm>
        </p:grpSpPr>
        <p:sp>
          <p:nvSpPr>
            <p:cNvPr id="72722" name="Rectangle 10"/>
            <p:cNvSpPr>
              <a:spLocks noChangeArrowheads="1"/>
            </p:cNvSpPr>
            <p:nvPr/>
          </p:nvSpPr>
          <p:spPr bwMode="auto">
            <a:xfrm>
              <a:off x="657" y="2471"/>
              <a:ext cx="624" cy="3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Đặc điểm</a:t>
              </a:r>
              <a:endParaRPr lang="ko-KR" altLang="en-US">
                <a:latin typeface="Times New Roman" pitchFamily="18" charset="0"/>
                <a:cs typeface="Times New Roman" pitchFamily="18" charset="0"/>
              </a:endParaRPr>
            </a:p>
          </p:txBody>
        </p:sp>
        <p:sp>
          <p:nvSpPr>
            <p:cNvPr id="72723" name="Rectangle 11"/>
            <p:cNvSpPr>
              <a:spLocks noChangeArrowheads="1"/>
            </p:cNvSpPr>
            <p:nvPr/>
          </p:nvSpPr>
          <p:spPr bwMode="auto">
            <a:xfrm>
              <a:off x="1281" y="2471"/>
              <a:ext cx="3952" cy="3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Disk-Lead là loại điện trở cơ bản giá rẻ được sử dụng nhiều trong nước hiện nay, đa số dùng trong sản xuất, là loại điện trở các bon thông thường. </a:t>
              </a:r>
            </a:p>
          </p:txBody>
        </p:sp>
        <p:sp>
          <p:nvSpPr>
            <p:cNvPr id="72724" name="Rectangle 12"/>
            <p:cNvSpPr>
              <a:spLocks noChangeArrowheads="1"/>
            </p:cNvSpPr>
            <p:nvPr/>
          </p:nvSpPr>
          <p:spPr bwMode="auto">
            <a:xfrm>
              <a:off x="657" y="3081"/>
              <a:ext cx="624" cy="5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Chú ý</a:t>
              </a:r>
              <a:endParaRPr lang="ko-KR" altLang="en-US">
                <a:latin typeface="Times New Roman" pitchFamily="18" charset="0"/>
                <a:cs typeface="Times New Roman" pitchFamily="18" charset="0"/>
              </a:endParaRPr>
            </a:p>
          </p:txBody>
        </p:sp>
        <p:sp>
          <p:nvSpPr>
            <p:cNvPr id="72725" name="Rectangle 13"/>
            <p:cNvSpPr>
              <a:spLocks noChangeArrowheads="1"/>
            </p:cNvSpPr>
            <p:nvPr/>
          </p:nvSpPr>
          <p:spPr bwMode="auto">
            <a:xfrm>
              <a:off x="1281" y="3081"/>
              <a:ext cx="3952" cy="5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Hệ số nhiệt độ lớn. Do giá trị điện trở có sự thay đổi lớn theo nhiệt độ nên không thể áp dụng trong các mục đích cần độ chính xác cao. Và do có nhiễu nên không áp dụng trong mạch tiếp nhận tín hiệu sóng siêu nhỏ. Cho dù lực điện bình quân vừa đủ cũng dễ xảy ra việc phóng tia hồ quang xung cao áp trên mức điện áp định mức.</a:t>
              </a:r>
            </a:p>
          </p:txBody>
        </p:sp>
        <p:sp>
          <p:nvSpPr>
            <p:cNvPr id="72726" name="Rectangle 14"/>
            <p:cNvSpPr>
              <a:spLocks noChangeArrowheads="1"/>
            </p:cNvSpPr>
            <p:nvPr/>
          </p:nvSpPr>
          <p:spPr bwMode="auto">
            <a:xfrm>
              <a:off x="657" y="3645"/>
              <a:ext cx="624" cy="3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Tiêu chuẩn</a:t>
              </a:r>
              <a:endParaRPr lang="ko-KR" altLang="en-US">
                <a:latin typeface="Times New Roman" pitchFamily="18" charset="0"/>
                <a:cs typeface="Times New Roman" pitchFamily="18" charset="0"/>
              </a:endParaRPr>
            </a:p>
          </p:txBody>
        </p:sp>
        <p:sp>
          <p:nvSpPr>
            <p:cNvPr id="72727" name="Rectangle 15"/>
            <p:cNvSpPr>
              <a:spLocks noChangeArrowheads="1"/>
            </p:cNvSpPr>
            <p:nvPr/>
          </p:nvSpPr>
          <p:spPr bwMode="auto">
            <a:xfrm>
              <a:off x="1281" y="3645"/>
              <a:ext cx="3952" cy="3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P: 1/8W∼1/2W, R: hệ thống E24(1Ω∼10MΩ), T: ±5%(J), TCR: thường không được định nghĩa, Biểu diễn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color code(dải 4 màu)</a:t>
              </a:r>
            </a:p>
          </p:txBody>
        </p:sp>
        <p:sp>
          <p:nvSpPr>
            <p:cNvPr id="72728" name="Rectangle 16"/>
            <p:cNvSpPr>
              <a:spLocks noChangeArrowheads="1"/>
            </p:cNvSpPr>
            <p:nvPr/>
          </p:nvSpPr>
          <p:spPr bwMode="auto">
            <a:xfrm>
              <a:off x="657" y="2847"/>
              <a:ext cx="624" cy="2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Dụng đồ</a:t>
              </a:r>
              <a:endParaRPr lang="ko-KR" altLang="en-US">
                <a:latin typeface="Times New Roman" pitchFamily="18" charset="0"/>
                <a:cs typeface="Times New Roman" pitchFamily="18" charset="0"/>
              </a:endParaRPr>
            </a:p>
          </p:txBody>
        </p:sp>
        <p:sp>
          <p:nvSpPr>
            <p:cNvPr id="72729" name="Rectangle 17"/>
            <p:cNvSpPr>
              <a:spLocks noChangeArrowheads="1"/>
            </p:cNvSpPr>
            <p:nvPr/>
          </p:nvSpPr>
          <p:spPr bwMode="auto">
            <a:xfrm>
              <a:off x="1281" y="2847"/>
              <a:ext cx="3952" cy="2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Mạch điện tử thông thường</a:t>
              </a:r>
              <a:endParaRPr lang="ko-KR" altLang="en-US">
                <a:latin typeface="Times New Roman" pitchFamily="18" charset="0"/>
                <a:cs typeface="Times New Roman" pitchFamily="18" charset="0"/>
              </a:endParaRPr>
            </a:p>
          </p:txBody>
        </p:sp>
      </p:grpSp>
      <p:sp>
        <p:nvSpPr>
          <p:cNvPr id="72716" name="Text Box 18"/>
          <p:cNvSpPr txBox="1">
            <a:spLocks noChangeArrowheads="1"/>
          </p:cNvSpPr>
          <p:nvPr/>
        </p:nvSpPr>
        <p:spPr bwMode="auto">
          <a:xfrm>
            <a:off x="2051050" y="6219825"/>
            <a:ext cx="399097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900">
                <a:latin typeface="Times New Roman" pitchFamily="18" charset="0"/>
                <a:cs typeface="Times New Roman" pitchFamily="18" charset="0"/>
              </a:rPr>
              <a:t>P : công suất</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R : giá trị điện trở</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T : sai số giá trị điện trở,  TCR : hệ số nhiệt độ</a:t>
            </a:r>
            <a:endParaRPr lang="ko-KR" altLang="en-US" sz="900">
              <a:latin typeface="Times New Roman" pitchFamily="18" charset="0"/>
              <a:cs typeface="Times New Roman" pitchFamily="18" charset="0"/>
            </a:endParaRPr>
          </a:p>
        </p:txBody>
      </p:sp>
      <p:sp>
        <p:nvSpPr>
          <p:cNvPr id="72717" name="모서리가 둥근 직사각형 1"/>
          <p:cNvSpPr>
            <a:spLocks noChangeArrowheads="1"/>
          </p:cNvSpPr>
          <p:nvPr/>
        </p:nvSpPr>
        <p:spPr bwMode="auto">
          <a:xfrm>
            <a:off x="1792288" y="1773238"/>
            <a:ext cx="517525"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Home</a:t>
            </a:r>
            <a:endParaRPr lang="ko-KR" altLang="en-US" sz="1000">
              <a:latin typeface="Times New Roman" pitchFamily="18" charset="0"/>
              <a:cs typeface="Times New Roman" pitchFamily="18" charset="0"/>
            </a:endParaRPr>
          </a:p>
        </p:txBody>
      </p:sp>
      <p:sp>
        <p:nvSpPr>
          <p:cNvPr id="72718" name="모서리가 둥근 직사각형 21"/>
          <p:cNvSpPr>
            <a:spLocks noChangeArrowheads="1"/>
          </p:cNvSpPr>
          <p:nvPr/>
        </p:nvSpPr>
        <p:spPr bwMode="auto">
          <a:xfrm>
            <a:off x="1377950" y="2033588"/>
            <a:ext cx="828675" cy="215900"/>
          </a:xfrm>
          <a:prstGeom prst="roundRect">
            <a:avLst>
              <a:gd name="adj" fmla="val 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Màng than</a:t>
            </a:r>
            <a:endParaRPr lang="ko-KR" altLang="en-US" sz="1000">
              <a:latin typeface="Times New Roman" pitchFamily="18" charset="0"/>
              <a:cs typeface="Times New Roman" pitchFamily="18" charset="0"/>
            </a:endParaRPr>
          </a:p>
        </p:txBody>
      </p:sp>
      <p:sp>
        <p:nvSpPr>
          <p:cNvPr id="72719" name="모서리가 둥근 직사각형 22"/>
          <p:cNvSpPr>
            <a:spLocks noChangeArrowheads="1"/>
          </p:cNvSpPr>
          <p:nvPr/>
        </p:nvSpPr>
        <p:spPr bwMode="auto">
          <a:xfrm>
            <a:off x="1042988" y="2390775"/>
            <a:ext cx="955675" cy="217488"/>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Gậy ceramic</a:t>
            </a:r>
            <a:endParaRPr lang="ko-KR" altLang="en-US" sz="1000">
              <a:latin typeface="Times New Roman" pitchFamily="18" charset="0"/>
              <a:cs typeface="Times New Roman" pitchFamily="18" charset="0"/>
            </a:endParaRPr>
          </a:p>
        </p:txBody>
      </p:sp>
      <p:sp>
        <p:nvSpPr>
          <p:cNvPr id="72720" name="모서리가 둥근 직사각형 23"/>
          <p:cNvSpPr>
            <a:spLocks noChangeArrowheads="1"/>
          </p:cNvSpPr>
          <p:nvPr/>
        </p:nvSpPr>
        <p:spPr bwMode="auto">
          <a:xfrm>
            <a:off x="3951288" y="1719263"/>
            <a:ext cx="908050"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Đường lead</a:t>
            </a:r>
            <a:endParaRPr lang="ko-KR" altLang="en-US" sz="1000">
              <a:latin typeface="Times New Roman" pitchFamily="18" charset="0"/>
              <a:cs typeface="Times New Roman" pitchFamily="18" charset="0"/>
            </a:endParaRPr>
          </a:p>
        </p:txBody>
      </p:sp>
      <p:sp>
        <p:nvSpPr>
          <p:cNvPr id="72721" name="모서리가 둥근 직사각형 24"/>
          <p:cNvSpPr>
            <a:spLocks noChangeArrowheads="1"/>
          </p:cNvSpPr>
          <p:nvPr/>
        </p:nvSpPr>
        <p:spPr bwMode="auto">
          <a:xfrm>
            <a:off x="3900488" y="2036763"/>
            <a:ext cx="971550"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Sợi cách điện</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4E2ED22-079A-4CEA-BE64-CA50B90A44D1}" type="slidenum">
              <a:rPr lang="en-US" altLang="ko-KR" sz="1400" smtClean="0">
                <a:latin typeface="Times New Roman" pitchFamily="18" charset="0"/>
                <a:cs typeface="Times New Roman" pitchFamily="18" charset="0"/>
              </a:rPr>
              <a:pPr eaLnBrk="1" hangingPunct="1"/>
              <a:t>67</a:t>
            </a:fld>
            <a:endParaRPr lang="en-US" altLang="ko-KR" sz="1400" smtClean="0">
              <a:latin typeface="Times New Roman" pitchFamily="18" charset="0"/>
              <a:cs typeface="Times New Roman" pitchFamily="18" charset="0"/>
            </a:endParaRPr>
          </a:p>
        </p:txBody>
      </p:sp>
      <p:sp>
        <p:nvSpPr>
          <p:cNvPr id="73731"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7373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Điện trở màng kim loại(Dạng sợi)</a:t>
            </a:r>
          </a:p>
          <a:p>
            <a:pPr eaLnBrk="1" hangingPunct="1"/>
            <a:endParaRPr lang="en-US" altLang="ko-KR" b="1">
              <a:latin typeface="Times New Roman" pitchFamily="18" charset="0"/>
              <a:cs typeface="Times New Roman" pitchFamily="18" charset="0"/>
            </a:endParaRPr>
          </a:p>
        </p:txBody>
      </p:sp>
      <p:sp>
        <p:nvSpPr>
          <p:cNvPr id="73733"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pic>
        <p:nvPicPr>
          <p:cNvPr id="73734" name="Picture 28" descr="금속피막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412875"/>
            <a:ext cx="4003675" cy="16176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3735" name="Picture 29" descr="금속피막2"/>
          <p:cNvPicPr>
            <a:picLocks noChangeAspect="1" noChangeArrowheads="1"/>
          </p:cNvPicPr>
          <p:nvPr/>
        </p:nvPicPr>
        <p:blipFill>
          <a:blip r:embed="rId4">
            <a:extLst>
              <a:ext uri="{28A0092B-C50C-407E-A947-70E740481C1C}">
                <a14:useLocalDpi xmlns:a14="http://schemas.microsoft.com/office/drawing/2010/main" val="0"/>
              </a:ext>
            </a:extLst>
          </a:blip>
          <a:srcRect r="125"/>
          <a:stretch>
            <a:fillRect/>
          </a:stretch>
        </p:blipFill>
        <p:spPr bwMode="auto">
          <a:xfrm>
            <a:off x="5130800" y="1412875"/>
            <a:ext cx="3025775" cy="16129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73736" name="Group 33"/>
          <p:cNvGrpSpPr>
            <a:grpSpLocks/>
          </p:cNvGrpSpPr>
          <p:nvPr/>
        </p:nvGrpSpPr>
        <p:grpSpPr bwMode="auto">
          <a:xfrm>
            <a:off x="941388" y="3089275"/>
            <a:ext cx="7264400" cy="2916238"/>
            <a:chOff x="593" y="2001"/>
            <a:chExt cx="4576" cy="1920"/>
          </a:xfrm>
        </p:grpSpPr>
        <p:sp>
          <p:nvSpPr>
            <p:cNvPr id="73744" name="Rectangle 20"/>
            <p:cNvSpPr>
              <a:spLocks noChangeArrowheads="1"/>
            </p:cNvSpPr>
            <p:nvPr/>
          </p:nvSpPr>
          <p:spPr bwMode="auto">
            <a:xfrm>
              <a:off x="593" y="2001"/>
              <a:ext cx="624"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Cấu tạo</a:t>
              </a:r>
              <a:endParaRPr lang="ko-KR" altLang="en-US">
                <a:latin typeface="Times New Roman" pitchFamily="18" charset="0"/>
                <a:cs typeface="Times New Roman" pitchFamily="18" charset="0"/>
              </a:endParaRPr>
            </a:p>
          </p:txBody>
        </p:sp>
        <p:sp>
          <p:nvSpPr>
            <p:cNvPr id="73745" name="Rectangle 21"/>
            <p:cNvSpPr>
              <a:spLocks noChangeArrowheads="1"/>
            </p:cNvSpPr>
            <p:nvPr/>
          </p:nvSpPr>
          <p:spPr bwMode="auto">
            <a:xfrm>
              <a:off x="1217" y="2001"/>
              <a:ext cx="3952"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Là điện trở các bon được nung dính chặt trên gậy ceramic, và tại đây rãnh home được khoét theo hình đường xoắn ốc tạo ra giá trị điện trở mong muốn. Nối cáp kim loại dính dây lead vào hai đầu, bôi sơn bảo vệ (</a:t>
              </a:r>
              <a:r>
                <a:rPr lang="ko-KR" altLang="en-US">
                  <a:latin typeface="Times New Roman" pitchFamily="18" charset="0"/>
                  <a:cs typeface="Times New Roman" pitchFamily="18" charset="0"/>
                </a:rPr>
                <a:t>保護塗料</a:t>
              </a:r>
              <a:r>
                <a:rPr lang="en-US" altLang="ko-KR">
                  <a:latin typeface="Times New Roman" pitchFamily="18" charset="0"/>
                  <a:cs typeface="Times New Roman" pitchFamily="18" charset="0"/>
                </a:rPr>
                <a:t>) để cách điện.</a:t>
              </a:r>
            </a:p>
          </p:txBody>
        </p:sp>
        <p:sp>
          <p:nvSpPr>
            <p:cNvPr id="73746" name="Rectangle 22"/>
            <p:cNvSpPr>
              <a:spLocks noChangeArrowheads="1"/>
            </p:cNvSpPr>
            <p:nvPr/>
          </p:nvSpPr>
          <p:spPr bwMode="auto">
            <a:xfrm>
              <a:off x="593" y="2577"/>
              <a:ext cx="62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Đặc điểm</a:t>
              </a:r>
              <a:endParaRPr lang="ko-KR" altLang="en-US">
                <a:latin typeface="Times New Roman" pitchFamily="18" charset="0"/>
                <a:cs typeface="Times New Roman" pitchFamily="18" charset="0"/>
              </a:endParaRPr>
            </a:p>
          </p:txBody>
        </p:sp>
        <p:sp>
          <p:nvSpPr>
            <p:cNvPr id="73747" name="Rectangle 23"/>
            <p:cNvSpPr>
              <a:spLocks noChangeArrowheads="1"/>
            </p:cNvSpPr>
            <p:nvPr/>
          </p:nvSpPr>
          <p:spPr bwMode="auto">
            <a:xfrm>
              <a:off x="1217" y="2577"/>
              <a:ext cx="395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Hệ số nhiệt độ nhỏ nên có thể đạt được độ chính xác cao. Thường có sai số ±1%, giá trị điện trở phong phú, giá cả tương đối rẻ.</a:t>
              </a:r>
            </a:p>
          </p:txBody>
        </p:sp>
        <p:sp>
          <p:nvSpPr>
            <p:cNvPr id="73748" name="Rectangle 24"/>
            <p:cNvSpPr>
              <a:spLocks noChangeArrowheads="1"/>
            </p:cNvSpPr>
            <p:nvPr/>
          </p:nvSpPr>
          <p:spPr bwMode="auto">
            <a:xfrm>
              <a:off x="593" y="3201"/>
              <a:ext cx="624"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Chú ý</a:t>
              </a:r>
              <a:endParaRPr lang="ko-KR" altLang="en-US">
                <a:latin typeface="Times New Roman" pitchFamily="18" charset="0"/>
                <a:cs typeface="Times New Roman" pitchFamily="18" charset="0"/>
              </a:endParaRPr>
            </a:p>
          </p:txBody>
        </p:sp>
        <p:sp>
          <p:nvSpPr>
            <p:cNvPr id="73749" name="Rectangle 25"/>
            <p:cNvSpPr>
              <a:spLocks noChangeArrowheads="1"/>
            </p:cNvSpPr>
            <p:nvPr/>
          </p:nvSpPr>
          <p:spPr bwMode="auto">
            <a:xfrm>
              <a:off x="1217" y="3201"/>
              <a:ext cx="3952"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Dù có hình dáng bên ngoài giống nhau thì tùy vào đánh dấu(maker) hay chủng loại thì chức năng cũng rất khác biệt nhau. Và hệ số nhiệt độ thay đổi dựa theo giá trị điện trở.</a:t>
              </a:r>
            </a:p>
          </p:txBody>
        </p:sp>
        <p:sp>
          <p:nvSpPr>
            <p:cNvPr id="73750" name="Rectangle 26"/>
            <p:cNvSpPr>
              <a:spLocks noChangeArrowheads="1"/>
            </p:cNvSpPr>
            <p:nvPr/>
          </p:nvSpPr>
          <p:spPr bwMode="auto">
            <a:xfrm>
              <a:off x="593" y="3537"/>
              <a:ext cx="62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Tiêu chuẩn</a:t>
              </a:r>
              <a:endParaRPr lang="ko-KR" altLang="en-US">
                <a:latin typeface="Times New Roman" pitchFamily="18" charset="0"/>
                <a:cs typeface="Times New Roman" pitchFamily="18" charset="0"/>
              </a:endParaRPr>
            </a:p>
          </p:txBody>
        </p:sp>
        <p:sp>
          <p:nvSpPr>
            <p:cNvPr id="73751" name="Rectangle 27"/>
            <p:cNvSpPr>
              <a:spLocks noChangeArrowheads="1"/>
            </p:cNvSpPr>
            <p:nvPr/>
          </p:nvSpPr>
          <p:spPr bwMode="auto">
            <a:xfrm>
              <a:off x="1217" y="3537"/>
              <a:ext cx="395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P: 1/8W∼2W, R: hệ thống E24/E96(2Ω∼1MΩ), T: ±0.1%(B)∼2%(G), TCR: ±25∼300ppm/℃, Biểu diễn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Color Code(5dải màu), hoặc ký tự.</a:t>
              </a:r>
            </a:p>
          </p:txBody>
        </p:sp>
        <p:sp>
          <p:nvSpPr>
            <p:cNvPr id="73752" name="Rectangle 30"/>
            <p:cNvSpPr>
              <a:spLocks noChangeArrowheads="1"/>
            </p:cNvSpPr>
            <p:nvPr/>
          </p:nvSpPr>
          <p:spPr bwMode="auto">
            <a:xfrm>
              <a:off x="593" y="2961"/>
              <a:ext cx="624"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Dụng đồ</a:t>
              </a:r>
              <a:endParaRPr lang="ko-KR" altLang="en-US">
                <a:latin typeface="Times New Roman" pitchFamily="18" charset="0"/>
                <a:cs typeface="Times New Roman" pitchFamily="18" charset="0"/>
              </a:endParaRPr>
            </a:p>
          </p:txBody>
        </p:sp>
        <p:sp>
          <p:nvSpPr>
            <p:cNvPr id="73753" name="Rectangle 31"/>
            <p:cNvSpPr>
              <a:spLocks noChangeArrowheads="1"/>
            </p:cNvSpPr>
            <p:nvPr/>
          </p:nvSpPr>
          <p:spPr bwMode="auto">
            <a:xfrm>
              <a:off x="1217" y="2961"/>
              <a:ext cx="3952"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Dùng trong mạch Analog cơ bản, có độ chính xác cao</a:t>
              </a:r>
              <a:endParaRPr lang="ko-KR" altLang="en-US">
                <a:latin typeface="Times New Roman" pitchFamily="18" charset="0"/>
                <a:cs typeface="Times New Roman" pitchFamily="18" charset="0"/>
              </a:endParaRPr>
            </a:p>
          </p:txBody>
        </p:sp>
      </p:grpSp>
      <p:sp>
        <p:nvSpPr>
          <p:cNvPr id="73737" name="Text Box 32"/>
          <p:cNvSpPr txBox="1">
            <a:spLocks noChangeArrowheads="1"/>
          </p:cNvSpPr>
          <p:nvPr/>
        </p:nvSpPr>
        <p:spPr bwMode="auto">
          <a:xfrm>
            <a:off x="1957388" y="6165850"/>
            <a:ext cx="399097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900">
                <a:latin typeface="Times New Roman" pitchFamily="18" charset="0"/>
                <a:cs typeface="Times New Roman" pitchFamily="18" charset="0"/>
              </a:rPr>
              <a:t>P : công suất</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R : giá trị điện trở</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T : sai số giá trị điện trở,  TCR : hệ số nhiệt độ</a:t>
            </a:r>
            <a:endParaRPr lang="ko-KR" altLang="en-US" sz="900">
              <a:latin typeface="Times New Roman" pitchFamily="18" charset="0"/>
              <a:cs typeface="Times New Roman" pitchFamily="18" charset="0"/>
            </a:endParaRPr>
          </a:p>
        </p:txBody>
      </p:sp>
      <p:sp>
        <p:nvSpPr>
          <p:cNvPr id="73738" name="모서리가 둥근 직사각형 19"/>
          <p:cNvSpPr>
            <a:spLocks noChangeArrowheads="1"/>
          </p:cNvSpPr>
          <p:nvPr/>
        </p:nvSpPr>
        <p:spPr bwMode="auto">
          <a:xfrm>
            <a:off x="4235450" y="1430338"/>
            <a:ext cx="908050"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Đường lead</a:t>
            </a:r>
            <a:endParaRPr lang="ko-KR" altLang="en-US" sz="1000">
              <a:latin typeface="Times New Roman" pitchFamily="18" charset="0"/>
              <a:cs typeface="Times New Roman" pitchFamily="18" charset="0"/>
            </a:endParaRPr>
          </a:p>
        </p:txBody>
      </p:sp>
      <p:sp>
        <p:nvSpPr>
          <p:cNvPr id="73739" name="모서리가 둥근 직사각형 20"/>
          <p:cNvSpPr>
            <a:spLocks noChangeArrowheads="1"/>
          </p:cNvSpPr>
          <p:nvPr/>
        </p:nvSpPr>
        <p:spPr bwMode="auto">
          <a:xfrm>
            <a:off x="4098925" y="1785938"/>
            <a:ext cx="969963"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Sợi cách điện</a:t>
            </a:r>
            <a:endParaRPr lang="ko-KR" altLang="en-US" sz="1000">
              <a:latin typeface="Times New Roman" pitchFamily="18" charset="0"/>
              <a:cs typeface="Times New Roman" pitchFamily="18" charset="0"/>
            </a:endParaRPr>
          </a:p>
        </p:txBody>
      </p:sp>
      <p:sp>
        <p:nvSpPr>
          <p:cNvPr id="73740" name="모서리가 둥근 직사각형 21"/>
          <p:cNvSpPr>
            <a:spLocks noChangeArrowheads="1"/>
          </p:cNvSpPr>
          <p:nvPr/>
        </p:nvSpPr>
        <p:spPr bwMode="auto">
          <a:xfrm>
            <a:off x="1574800" y="2341563"/>
            <a:ext cx="515938"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Home</a:t>
            </a:r>
            <a:endParaRPr lang="ko-KR" altLang="en-US" sz="1000">
              <a:latin typeface="Times New Roman" pitchFamily="18" charset="0"/>
              <a:cs typeface="Times New Roman" pitchFamily="18" charset="0"/>
            </a:endParaRPr>
          </a:p>
        </p:txBody>
      </p:sp>
      <p:sp>
        <p:nvSpPr>
          <p:cNvPr id="73741" name="모서리가 둥근 직사각형 22"/>
          <p:cNvSpPr>
            <a:spLocks noChangeArrowheads="1"/>
          </p:cNvSpPr>
          <p:nvPr/>
        </p:nvSpPr>
        <p:spPr bwMode="auto">
          <a:xfrm>
            <a:off x="1377950" y="1557338"/>
            <a:ext cx="828675" cy="215900"/>
          </a:xfrm>
          <a:prstGeom prst="roundRect">
            <a:avLst>
              <a:gd name="adj" fmla="val 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Màng than</a:t>
            </a:r>
            <a:endParaRPr lang="ko-KR" altLang="en-US" sz="1000">
              <a:latin typeface="Times New Roman" pitchFamily="18" charset="0"/>
              <a:cs typeface="Times New Roman" pitchFamily="18" charset="0"/>
            </a:endParaRPr>
          </a:p>
        </p:txBody>
      </p:sp>
      <p:sp>
        <p:nvSpPr>
          <p:cNvPr id="73742" name="모서리가 둥근 직사각형 23"/>
          <p:cNvSpPr>
            <a:spLocks noChangeArrowheads="1"/>
          </p:cNvSpPr>
          <p:nvPr/>
        </p:nvSpPr>
        <p:spPr bwMode="auto">
          <a:xfrm>
            <a:off x="971550" y="1785938"/>
            <a:ext cx="1439863" cy="32385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Ceramic truyền nhiệt, điện</a:t>
            </a:r>
            <a:endParaRPr lang="ko-KR" altLang="en-US" sz="1000">
              <a:latin typeface="Times New Roman" pitchFamily="18" charset="0"/>
              <a:cs typeface="Times New Roman" pitchFamily="18" charset="0"/>
            </a:endParaRPr>
          </a:p>
        </p:txBody>
      </p:sp>
      <p:sp>
        <p:nvSpPr>
          <p:cNvPr id="73743" name="모서리가 둥근 직사각형 25"/>
          <p:cNvSpPr>
            <a:spLocks noChangeArrowheads="1"/>
          </p:cNvSpPr>
          <p:nvPr/>
        </p:nvSpPr>
        <p:spPr bwMode="auto">
          <a:xfrm>
            <a:off x="3743325" y="2449513"/>
            <a:ext cx="828675" cy="215900"/>
          </a:xfrm>
          <a:prstGeom prst="roundRect">
            <a:avLst>
              <a:gd name="adj" fmla="val 5000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Sơn trong</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7F5EE81-16F4-417C-9E7D-E1A0FD3050C4}" type="slidenum">
              <a:rPr lang="en-US" altLang="ko-KR" sz="1400" smtClean="0">
                <a:latin typeface="Times New Roman" pitchFamily="18" charset="0"/>
                <a:cs typeface="Times New Roman" pitchFamily="18" charset="0"/>
              </a:rPr>
              <a:pPr eaLnBrk="1" hangingPunct="1"/>
              <a:t>68</a:t>
            </a:fld>
            <a:endParaRPr lang="en-US" altLang="ko-KR" sz="1400" smtClean="0">
              <a:latin typeface="Times New Roman" pitchFamily="18" charset="0"/>
              <a:cs typeface="Times New Roman" pitchFamily="18" charset="0"/>
            </a:endParaRPr>
          </a:p>
        </p:txBody>
      </p:sp>
      <p:sp>
        <p:nvSpPr>
          <p:cNvPr id="74755"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7475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Điện trở xi măng(CEMENT)</a:t>
            </a:r>
            <a:endParaRPr lang="ko-KR" altLang="en-US" b="1">
              <a:latin typeface="Times New Roman" pitchFamily="18" charset="0"/>
              <a:cs typeface="Times New Roman" pitchFamily="18" charset="0"/>
            </a:endParaRPr>
          </a:p>
        </p:txBody>
      </p:sp>
      <p:sp>
        <p:nvSpPr>
          <p:cNvPr id="74757"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grpSp>
        <p:nvGrpSpPr>
          <p:cNvPr id="74758" name="Group 18"/>
          <p:cNvGrpSpPr>
            <a:grpSpLocks/>
          </p:cNvGrpSpPr>
          <p:nvPr/>
        </p:nvGrpSpPr>
        <p:grpSpPr bwMode="auto">
          <a:xfrm>
            <a:off x="1050925" y="3044825"/>
            <a:ext cx="7264400" cy="3048000"/>
            <a:chOff x="832" y="2016"/>
            <a:chExt cx="4576" cy="1920"/>
          </a:xfrm>
        </p:grpSpPr>
        <p:sp>
          <p:nvSpPr>
            <p:cNvPr id="74768" name="Rectangle 5"/>
            <p:cNvSpPr>
              <a:spLocks noChangeArrowheads="1"/>
            </p:cNvSpPr>
            <p:nvPr/>
          </p:nvSpPr>
          <p:spPr bwMode="auto">
            <a:xfrm>
              <a:off x="832" y="2016"/>
              <a:ext cx="624"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Cấu tạo</a:t>
              </a:r>
              <a:endParaRPr lang="ko-KR" altLang="en-US">
                <a:latin typeface="Times New Roman" pitchFamily="18" charset="0"/>
                <a:cs typeface="Times New Roman" pitchFamily="18" charset="0"/>
              </a:endParaRPr>
            </a:p>
          </p:txBody>
        </p:sp>
        <p:sp>
          <p:nvSpPr>
            <p:cNvPr id="74769" name="Rectangle 6"/>
            <p:cNvSpPr>
              <a:spLocks noChangeArrowheads="1"/>
            </p:cNvSpPr>
            <p:nvPr/>
          </p:nvSpPr>
          <p:spPr bwMode="auto">
            <a:xfrm>
              <a:off x="1456" y="2016"/>
              <a:ext cx="395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Là đơn vị của điện trở màng kim loại oxy hóa hay điện trở hình cuộn dây được bọc bởi xi măng(cement) của hệ thống sillicon trong vỏ bọc được tạo bởi ceramic</a:t>
              </a:r>
            </a:p>
          </p:txBody>
        </p:sp>
        <p:sp>
          <p:nvSpPr>
            <p:cNvPr id="74770" name="Rectangle 7"/>
            <p:cNvSpPr>
              <a:spLocks noChangeArrowheads="1"/>
            </p:cNvSpPr>
            <p:nvPr/>
          </p:nvSpPr>
          <p:spPr bwMode="auto">
            <a:xfrm>
              <a:off x="832" y="2448"/>
              <a:ext cx="62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Đặc điểm</a:t>
              </a:r>
              <a:endParaRPr lang="ko-KR" altLang="en-US">
                <a:latin typeface="Times New Roman" pitchFamily="18" charset="0"/>
                <a:cs typeface="Times New Roman" pitchFamily="18" charset="0"/>
              </a:endParaRPr>
            </a:p>
          </p:txBody>
        </p:sp>
        <p:sp>
          <p:nvSpPr>
            <p:cNvPr id="74771" name="Rectangle 8"/>
            <p:cNvSpPr>
              <a:spLocks noChangeArrowheads="1"/>
            </p:cNvSpPr>
            <p:nvPr/>
          </p:nvSpPr>
          <p:spPr bwMode="auto">
            <a:xfrm>
              <a:off x="1456" y="2448"/>
              <a:ext cx="395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Có cấu tạo vỏ bọc từ xi măng không bắt nhiệt nên cho dù chịu nhiệt độ cao cũng không gây cháy, tính chống nhiệt cao nên lắp đặt dễ.</a:t>
              </a:r>
            </a:p>
          </p:txBody>
        </p:sp>
        <p:sp>
          <p:nvSpPr>
            <p:cNvPr id="74772" name="Rectangle 9"/>
            <p:cNvSpPr>
              <a:spLocks noChangeArrowheads="1"/>
            </p:cNvSpPr>
            <p:nvPr/>
          </p:nvSpPr>
          <p:spPr bwMode="auto">
            <a:xfrm>
              <a:off x="832" y="3072"/>
              <a:ext cx="624" cy="4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Chú ý</a:t>
              </a:r>
              <a:endParaRPr lang="ko-KR" altLang="en-US">
                <a:latin typeface="Times New Roman" pitchFamily="18" charset="0"/>
                <a:cs typeface="Times New Roman" pitchFamily="18" charset="0"/>
              </a:endParaRPr>
            </a:p>
          </p:txBody>
        </p:sp>
        <p:sp>
          <p:nvSpPr>
            <p:cNvPr id="74773" name="Rectangle 10"/>
            <p:cNvSpPr>
              <a:spLocks noChangeArrowheads="1"/>
            </p:cNvSpPr>
            <p:nvPr/>
          </p:nvSpPr>
          <p:spPr bwMode="auto">
            <a:xfrm>
              <a:off x="1456" y="3072"/>
              <a:ext cx="3952" cy="4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Dù có hình dạng  bên ngoài khá giống nhau nhưng tùy theo điện trở sẽ mang những đặc trưng, khiếm khuyết riêng nên phải đọc kỹ catalog của maker. Lắp mạch cách khi lực điện cao.</a:t>
              </a:r>
            </a:p>
          </p:txBody>
        </p:sp>
        <p:sp>
          <p:nvSpPr>
            <p:cNvPr id="74774" name="Rectangle 11"/>
            <p:cNvSpPr>
              <a:spLocks noChangeArrowheads="1"/>
            </p:cNvSpPr>
            <p:nvPr/>
          </p:nvSpPr>
          <p:spPr bwMode="auto">
            <a:xfrm>
              <a:off x="832" y="3552"/>
              <a:ext cx="624"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Tiêu chuẩn</a:t>
              </a:r>
              <a:endParaRPr lang="ko-KR" altLang="en-US">
                <a:latin typeface="Times New Roman" pitchFamily="18" charset="0"/>
                <a:cs typeface="Times New Roman" pitchFamily="18" charset="0"/>
              </a:endParaRPr>
            </a:p>
          </p:txBody>
        </p:sp>
        <p:sp>
          <p:nvSpPr>
            <p:cNvPr id="74775" name="Rectangle 12"/>
            <p:cNvSpPr>
              <a:spLocks noChangeArrowheads="1"/>
            </p:cNvSpPr>
            <p:nvPr/>
          </p:nvSpPr>
          <p:spPr bwMode="auto">
            <a:xfrm>
              <a:off x="1456" y="3552"/>
              <a:ext cx="395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P: 1W∼20W, R: hệ thống E24(0.1Ω∼68KΩ) T: ±1%(F)∼10%(M), TCR: ±25∼500ppm/℃, Biểu diễn: bằng ký tự.</a:t>
              </a:r>
            </a:p>
          </p:txBody>
        </p:sp>
        <p:sp>
          <p:nvSpPr>
            <p:cNvPr id="74776" name="Rectangle 13"/>
            <p:cNvSpPr>
              <a:spLocks noChangeArrowheads="1"/>
            </p:cNvSpPr>
            <p:nvPr/>
          </p:nvSpPr>
          <p:spPr bwMode="auto">
            <a:xfrm>
              <a:off x="832" y="2832"/>
              <a:ext cx="624"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a:latin typeface="Times New Roman" pitchFamily="18" charset="0"/>
                  <a:cs typeface="Times New Roman" pitchFamily="18" charset="0"/>
                </a:rPr>
                <a:t>Dụng đồ</a:t>
              </a:r>
              <a:endParaRPr lang="ko-KR" altLang="en-US">
                <a:latin typeface="Times New Roman" pitchFamily="18" charset="0"/>
                <a:cs typeface="Times New Roman" pitchFamily="18" charset="0"/>
              </a:endParaRPr>
            </a:p>
          </p:txBody>
        </p:sp>
        <p:sp>
          <p:nvSpPr>
            <p:cNvPr id="74777" name="Rectangle 14"/>
            <p:cNvSpPr>
              <a:spLocks noChangeArrowheads="1"/>
            </p:cNvSpPr>
            <p:nvPr/>
          </p:nvSpPr>
          <p:spPr bwMode="auto">
            <a:xfrm>
              <a:off x="1456" y="2832"/>
              <a:ext cx="3952"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Dùng trong các loại mạch thường.</a:t>
              </a:r>
            </a:p>
          </p:txBody>
        </p:sp>
      </p:grpSp>
      <p:pic>
        <p:nvPicPr>
          <p:cNvPr id="74759" name="Picture 15" descr="시멘터저항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447800"/>
            <a:ext cx="4392612" cy="1485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4760" name="Picture 16" descr="시멘터저항2"/>
          <p:cNvPicPr>
            <a:picLocks noChangeAspect="1" noChangeArrowheads="1"/>
          </p:cNvPicPr>
          <p:nvPr/>
        </p:nvPicPr>
        <p:blipFill>
          <a:blip r:embed="rId4">
            <a:extLst>
              <a:ext uri="{28A0092B-C50C-407E-A947-70E740481C1C}">
                <a14:useLocalDpi xmlns:a14="http://schemas.microsoft.com/office/drawing/2010/main" val="0"/>
              </a:ext>
            </a:extLst>
          </a:blip>
          <a:srcRect r="282"/>
          <a:stretch>
            <a:fillRect/>
          </a:stretch>
        </p:blipFill>
        <p:spPr bwMode="auto">
          <a:xfrm>
            <a:off x="5538788" y="1447800"/>
            <a:ext cx="2755900" cy="1492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4761" name="Text Box 17"/>
          <p:cNvSpPr txBox="1">
            <a:spLocks noChangeArrowheads="1"/>
          </p:cNvSpPr>
          <p:nvPr/>
        </p:nvSpPr>
        <p:spPr bwMode="auto">
          <a:xfrm>
            <a:off x="2122488" y="6165850"/>
            <a:ext cx="399097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900">
                <a:latin typeface="Times New Roman" pitchFamily="18" charset="0"/>
                <a:cs typeface="Times New Roman" pitchFamily="18" charset="0"/>
              </a:rPr>
              <a:t>P : công suất</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R : giá trị điện trở</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T : sai số giá trị điện trở,  TCR : hệ số nhiệt độ</a:t>
            </a:r>
            <a:endParaRPr lang="ko-KR" altLang="en-US" sz="900">
              <a:latin typeface="Times New Roman" pitchFamily="18" charset="0"/>
              <a:cs typeface="Times New Roman" pitchFamily="18" charset="0"/>
            </a:endParaRPr>
          </a:p>
        </p:txBody>
      </p:sp>
      <p:sp>
        <p:nvSpPr>
          <p:cNvPr id="74762" name="모서리가 둥근 직사각형 19"/>
          <p:cNvSpPr>
            <a:spLocks noChangeArrowheads="1"/>
          </p:cNvSpPr>
          <p:nvPr/>
        </p:nvSpPr>
        <p:spPr bwMode="auto">
          <a:xfrm>
            <a:off x="4630738" y="1538288"/>
            <a:ext cx="908050"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Đường lead</a:t>
            </a:r>
            <a:endParaRPr lang="ko-KR" altLang="en-US" sz="1000">
              <a:latin typeface="Times New Roman" pitchFamily="18" charset="0"/>
              <a:cs typeface="Times New Roman" pitchFamily="18" charset="0"/>
            </a:endParaRPr>
          </a:p>
        </p:txBody>
      </p:sp>
      <p:sp>
        <p:nvSpPr>
          <p:cNvPr id="74763" name="모서리가 둥근 직사각형 20"/>
          <p:cNvSpPr>
            <a:spLocks noChangeArrowheads="1"/>
          </p:cNvSpPr>
          <p:nvPr/>
        </p:nvSpPr>
        <p:spPr bwMode="auto">
          <a:xfrm>
            <a:off x="4208463" y="1879600"/>
            <a:ext cx="971550" cy="215900"/>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Xi măng</a:t>
            </a:r>
            <a:endParaRPr lang="ko-KR" altLang="en-US" sz="1000">
              <a:latin typeface="Times New Roman" pitchFamily="18" charset="0"/>
              <a:cs typeface="Times New Roman" pitchFamily="18" charset="0"/>
            </a:endParaRPr>
          </a:p>
        </p:txBody>
      </p:sp>
      <p:sp>
        <p:nvSpPr>
          <p:cNvPr id="74764" name="모서리가 둥근 직사각형 21"/>
          <p:cNvSpPr>
            <a:spLocks noChangeArrowheads="1"/>
          </p:cNvSpPr>
          <p:nvPr/>
        </p:nvSpPr>
        <p:spPr bwMode="auto">
          <a:xfrm>
            <a:off x="4140200" y="2217738"/>
            <a:ext cx="1152525" cy="265112"/>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Cảm biến ceramic</a:t>
            </a:r>
            <a:endParaRPr lang="ko-KR" altLang="en-US" sz="1000">
              <a:latin typeface="Times New Roman" pitchFamily="18" charset="0"/>
              <a:cs typeface="Times New Roman" pitchFamily="18" charset="0"/>
            </a:endParaRPr>
          </a:p>
        </p:txBody>
      </p:sp>
      <p:sp>
        <p:nvSpPr>
          <p:cNvPr id="74765" name="모서리가 둥근 직사각형 22"/>
          <p:cNvSpPr>
            <a:spLocks noChangeArrowheads="1"/>
          </p:cNvSpPr>
          <p:nvPr/>
        </p:nvSpPr>
        <p:spPr bwMode="auto">
          <a:xfrm>
            <a:off x="3941763" y="2635250"/>
            <a:ext cx="1493837" cy="263525"/>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Vỏ bọc ceramic</a:t>
            </a:r>
            <a:endParaRPr lang="ko-KR" altLang="en-US" sz="1000">
              <a:latin typeface="Times New Roman" pitchFamily="18" charset="0"/>
              <a:cs typeface="Times New Roman" pitchFamily="18" charset="0"/>
            </a:endParaRPr>
          </a:p>
        </p:txBody>
      </p:sp>
      <p:sp>
        <p:nvSpPr>
          <p:cNvPr id="74766" name="모서리가 둥근 직사각형 23"/>
          <p:cNvSpPr>
            <a:spLocks noChangeArrowheads="1"/>
          </p:cNvSpPr>
          <p:nvPr/>
        </p:nvSpPr>
        <p:spPr bwMode="auto">
          <a:xfrm>
            <a:off x="1476375" y="1844675"/>
            <a:ext cx="646113" cy="250825"/>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Home</a:t>
            </a:r>
            <a:endParaRPr lang="ko-KR" altLang="en-US" sz="1000">
              <a:latin typeface="Times New Roman" pitchFamily="18" charset="0"/>
              <a:cs typeface="Times New Roman" pitchFamily="18" charset="0"/>
            </a:endParaRPr>
          </a:p>
        </p:txBody>
      </p:sp>
      <p:sp>
        <p:nvSpPr>
          <p:cNvPr id="74767" name="모서리가 둥근 직사각형 24"/>
          <p:cNvSpPr>
            <a:spLocks noChangeArrowheads="1"/>
          </p:cNvSpPr>
          <p:nvPr/>
        </p:nvSpPr>
        <p:spPr bwMode="auto">
          <a:xfrm>
            <a:off x="1914525" y="1503363"/>
            <a:ext cx="646113" cy="250825"/>
          </a:xfrm>
          <a:prstGeom prst="roundRect">
            <a:avLst>
              <a:gd name="adj" fmla="val 16667"/>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Điện trở</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4F454DB-02A4-471B-9EC4-70A5BF81D8F8}" type="slidenum">
              <a:rPr lang="en-US" altLang="ko-KR" sz="1400" smtClean="0">
                <a:latin typeface="Times New Roman" pitchFamily="18" charset="0"/>
                <a:cs typeface="Times New Roman" pitchFamily="18" charset="0"/>
              </a:rPr>
              <a:pPr eaLnBrk="1" hangingPunct="1"/>
              <a:t>69</a:t>
            </a:fld>
            <a:endParaRPr lang="en-US" altLang="ko-KR" sz="1400" smtClean="0">
              <a:latin typeface="Times New Roman" pitchFamily="18" charset="0"/>
              <a:cs typeface="Times New Roman" pitchFamily="18" charset="0"/>
            </a:endParaRPr>
          </a:p>
        </p:txBody>
      </p:sp>
      <p:sp>
        <p:nvSpPr>
          <p:cNvPr id="75779" name="Text Box 2"/>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5780"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5781" name="Rectangle 5"/>
          <p:cNvSpPr>
            <a:spLocks noChangeArrowheads="1"/>
          </p:cNvSpPr>
          <p:nvPr/>
        </p:nvSpPr>
        <p:spPr bwMode="auto">
          <a:xfrm>
            <a:off x="1320800" y="981075"/>
            <a:ext cx="1898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(4) Điện trở SOLID</a:t>
            </a:r>
            <a:endParaRPr lang="ko-KR" altLang="en-US" b="1">
              <a:latin typeface="Times New Roman" pitchFamily="18" charset="0"/>
              <a:cs typeface="Times New Roman" pitchFamily="18" charset="0"/>
            </a:endParaRPr>
          </a:p>
        </p:txBody>
      </p:sp>
      <p:pic>
        <p:nvPicPr>
          <p:cNvPr id="75782" name="Picture 6" descr="솔리드저항"/>
          <p:cNvPicPr>
            <a:picLocks noChangeAspect="1" noChangeArrowheads="1"/>
          </p:cNvPicPr>
          <p:nvPr/>
        </p:nvPicPr>
        <p:blipFill>
          <a:blip r:embed="rId3">
            <a:extLst>
              <a:ext uri="{28A0092B-C50C-407E-A947-70E740481C1C}">
                <a14:useLocalDpi xmlns:a14="http://schemas.microsoft.com/office/drawing/2010/main" val="0"/>
              </a:ext>
            </a:extLst>
          </a:blip>
          <a:srcRect b="273"/>
          <a:stretch>
            <a:fillRect/>
          </a:stretch>
        </p:blipFill>
        <p:spPr bwMode="auto">
          <a:xfrm>
            <a:off x="1541463" y="1438275"/>
            <a:ext cx="2693987" cy="11064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5783" name="Rectangle 7"/>
          <p:cNvSpPr>
            <a:spLocks noChangeArrowheads="1"/>
          </p:cNvSpPr>
          <p:nvPr/>
        </p:nvSpPr>
        <p:spPr bwMode="auto">
          <a:xfrm>
            <a:off x="5035550" y="981075"/>
            <a:ext cx="37973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(5) Điện trở màng kim loại(màng mỏng;</a:t>
            </a:r>
            <a:r>
              <a:rPr lang="ko-KR" altLang="en-US" b="1">
                <a:latin typeface="Times New Roman" pitchFamily="18" charset="0"/>
                <a:cs typeface="Times New Roman" pitchFamily="18" charset="0"/>
              </a:rPr>
              <a:t>薄膜</a:t>
            </a:r>
            <a:r>
              <a:rPr lang="en-US" altLang="ko-KR" b="1">
                <a:latin typeface="Times New Roman" pitchFamily="18" charset="0"/>
                <a:cs typeface="Times New Roman" pitchFamily="18" charset="0"/>
              </a:rPr>
              <a:t>)</a:t>
            </a:r>
          </a:p>
        </p:txBody>
      </p:sp>
      <p:pic>
        <p:nvPicPr>
          <p:cNvPr id="75784" name="Picture 8" descr="금속피막_박막"/>
          <p:cNvPicPr>
            <a:picLocks noChangeAspect="1" noChangeArrowheads="1"/>
          </p:cNvPicPr>
          <p:nvPr/>
        </p:nvPicPr>
        <p:blipFill>
          <a:blip r:embed="rId4">
            <a:extLst>
              <a:ext uri="{28A0092B-C50C-407E-A947-70E740481C1C}">
                <a14:useLocalDpi xmlns:a14="http://schemas.microsoft.com/office/drawing/2010/main" val="0"/>
              </a:ext>
            </a:extLst>
          </a:blip>
          <a:srcRect b="-50"/>
          <a:stretch>
            <a:fillRect/>
          </a:stretch>
        </p:blipFill>
        <p:spPr bwMode="auto">
          <a:xfrm>
            <a:off x="5118100" y="1438275"/>
            <a:ext cx="2311400" cy="11033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5785" name="Rectangle 9"/>
          <p:cNvSpPr>
            <a:spLocks noChangeArrowheads="1"/>
          </p:cNvSpPr>
          <p:nvPr/>
        </p:nvSpPr>
        <p:spPr bwMode="auto">
          <a:xfrm>
            <a:off x="1320800" y="2809875"/>
            <a:ext cx="2914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(6) Điện trở màng mỏng kim loại(</a:t>
            </a:r>
            <a:r>
              <a:rPr lang="ko-KR" altLang="en-US" b="1">
                <a:latin typeface="Times New Roman" pitchFamily="18" charset="0"/>
                <a:cs typeface="Times New Roman" pitchFamily="18" charset="0"/>
              </a:rPr>
              <a:t>金屬箔抵抗</a:t>
            </a:r>
            <a:r>
              <a:rPr lang="en-US" altLang="ko-KR" b="1">
                <a:latin typeface="Times New Roman" pitchFamily="18" charset="0"/>
                <a:cs typeface="Times New Roman" pitchFamily="18" charset="0"/>
              </a:rPr>
              <a:t>) </a:t>
            </a:r>
          </a:p>
        </p:txBody>
      </p:sp>
      <p:pic>
        <p:nvPicPr>
          <p:cNvPr id="75786" name="Picture 10" descr="금속박저항"/>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8450" y="3267075"/>
            <a:ext cx="2074863" cy="10858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5787" name="Rectangle 11"/>
          <p:cNvSpPr>
            <a:spLocks noChangeArrowheads="1"/>
          </p:cNvSpPr>
          <p:nvPr/>
        </p:nvSpPr>
        <p:spPr bwMode="auto">
          <a:xfrm>
            <a:off x="5035550" y="2819400"/>
            <a:ext cx="397668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(7) Điện trở màng kim loại oxy hóa(</a:t>
            </a:r>
            <a:r>
              <a:rPr lang="ko-KR" altLang="en-US" b="1">
                <a:latin typeface="Times New Roman" pitchFamily="18" charset="0"/>
                <a:cs typeface="Times New Roman" pitchFamily="18" charset="0"/>
              </a:rPr>
              <a:t>金屬酸化物皮膜抵抗</a:t>
            </a:r>
            <a:r>
              <a:rPr lang="en-US" altLang="ko-KR" b="1">
                <a:latin typeface="Times New Roman" pitchFamily="18" charset="0"/>
                <a:cs typeface="Times New Roman" pitchFamily="18" charset="0"/>
              </a:rPr>
              <a:t>) </a:t>
            </a:r>
          </a:p>
        </p:txBody>
      </p:sp>
      <p:pic>
        <p:nvPicPr>
          <p:cNvPr id="75788" name="Picture 12" descr="금속산화물피막"/>
          <p:cNvPicPr>
            <a:picLocks noChangeAspect="1" noChangeArrowheads="1"/>
          </p:cNvPicPr>
          <p:nvPr/>
        </p:nvPicPr>
        <p:blipFill>
          <a:blip r:embed="rId6">
            <a:extLst>
              <a:ext uri="{28A0092B-C50C-407E-A947-70E740481C1C}">
                <a14:useLocalDpi xmlns:a14="http://schemas.microsoft.com/office/drawing/2010/main" val="0"/>
              </a:ext>
            </a:extLst>
          </a:blip>
          <a:srcRect b="-127"/>
          <a:stretch>
            <a:fillRect/>
          </a:stretch>
        </p:blipFill>
        <p:spPr bwMode="auto">
          <a:xfrm>
            <a:off x="5118100" y="3267075"/>
            <a:ext cx="2473325" cy="1076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5789" name="Rectangle 13"/>
          <p:cNvSpPr>
            <a:spLocks noChangeArrowheads="1"/>
          </p:cNvSpPr>
          <p:nvPr/>
        </p:nvSpPr>
        <p:spPr bwMode="auto">
          <a:xfrm>
            <a:off x="1320800" y="4486275"/>
            <a:ext cx="2806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(8) Điện trở dây cuộn(</a:t>
            </a:r>
            <a:r>
              <a:rPr lang="ko-KR" altLang="en-US" b="1">
                <a:latin typeface="Times New Roman" pitchFamily="18" charset="0"/>
                <a:cs typeface="Times New Roman" pitchFamily="18" charset="0"/>
              </a:rPr>
              <a:t>捲線抵抗</a:t>
            </a:r>
            <a:r>
              <a:rPr lang="en-US" altLang="ko-KR" b="1">
                <a:latin typeface="Times New Roman" pitchFamily="18" charset="0"/>
                <a:cs typeface="Times New Roman" pitchFamily="18" charset="0"/>
              </a:rPr>
              <a:t>) </a:t>
            </a:r>
          </a:p>
        </p:txBody>
      </p:sp>
      <p:pic>
        <p:nvPicPr>
          <p:cNvPr id="75790" name="Picture 14" descr="권선저항"/>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8450" y="4975225"/>
            <a:ext cx="2311400" cy="10350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5791" name="Rectangle 15"/>
          <p:cNvSpPr>
            <a:spLocks noChangeArrowheads="1"/>
          </p:cNvSpPr>
          <p:nvPr/>
        </p:nvSpPr>
        <p:spPr bwMode="auto">
          <a:xfrm>
            <a:off x="5035550" y="4486275"/>
            <a:ext cx="2806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(9) Điện trở thắng(</a:t>
            </a:r>
            <a:r>
              <a:rPr lang="ko-KR" altLang="en-US" b="1">
                <a:latin typeface="Times New Roman" pitchFamily="18" charset="0"/>
                <a:cs typeface="Times New Roman" pitchFamily="18" charset="0"/>
              </a:rPr>
              <a:t>琺瑯抵抗</a:t>
            </a:r>
            <a:r>
              <a:rPr lang="en-US" altLang="ko-KR" b="1">
                <a:latin typeface="Times New Roman" pitchFamily="18" charset="0"/>
                <a:cs typeface="Times New Roman" pitchFamily="18" charset="0"/>
              </a:rPr>
              <a:t>)</a:t>
            </a:r>
          </a:p>
        </p:txBody>
      </p:sp>
      <p:pic>
        <p:nvPicPr>
          <p:cNvPr id="75792" name="Picture 16" descr="범랑저항"/>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0650" y="4867275"/>
            <a:ext cx="2228850" cy="12842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93E8E09-2F06-46A5-AADD-91D1AB8E38CA}" type="slidenum">
              <a:rPr lang="en-US" altLang="ko-KR" sz="1400" smtClean="0">
                <a:latin typeface="Times New Roman" pitchFamily="18" charset="0"/>
                <a:cs typeface="Times New Roman" pitchFamily="18" charset="0"/>
              </a:rPr>
              <a:pPr eaLnBrk="1" hangingPunct="1"/>
              <a:t>70</a:t>
            </a:fld>
            <a:endParaRPr lang="en-US" altLang="ko-KR" sz="1400" smtClean="0">
              <a:latin typeface="Times New Roman" pitchFamily="18" charset="0"/>
              <a:cs typeface="Times New Roman" pitchFamily="18" charset="0"/>
            </a:endParaRPr>
          </a:p>
        </p:txBody>
      </p:sp>
      <p:sp>
        <p:nvSpPr>
          <p:cNvPr id="76803" name="Text Box 2"/>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680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(10) Đo điện trở</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Đo điện trở sử dụng DVM</a:t>
            </a:r>
            <a:endParaRPr lang="ko-KR" altLang="en-US">
              <a:latin typeface="Times New Roman" pitchFamily="18" charset="0"/>
              <a:cs typeface="Times New Roman" pitchFamily="18" charset="0"/>
            </a:endParaRPr>
          </a:p>
        </p:txBody>
      </p:sp>
      <p:sp>
        <p:nvSpPr>
          <p:cNvPr id="76805"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pic>
        <p:nvPicPr>
          <p:cNvPr id="7680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05000"/>
            <a:ext cx="164782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7" name="Text Box 6"/>
          <p:cNvSpPr txBox="1">
            <a:spLocks noChangeArrowheads="1"/>
          </p:cNvSpPr>
          <p:nvPr/>
        </p:nvSpPr>
        <p:spPr bwMode="auto">
          <a:xfrm>
            <a:off x="3532188" y="2060575"/>
            <a:ext cx="44958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&lt; Đo điện trở&gt;</a:t>
            </a:r>
          </a:p>
          <a:p>
            <a:pPr eaLnBrk="1" latinLnBrk="1" hangingPunct="1">
              <a:lnSpc>
                <a:spcPct val="100000"/>
              </a:lnSpc>
            </a:pPr>
            <a:endParaRPr lang="en-US" altLang="ko-KR" sz="500" b="1">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Lắp Test 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Jack.</a:t>
            </a: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Slide SW chuyển sang bên phải vị trí</a:t>
            </a: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sz="700">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endParaRPr lang="en-US" altLang="ko-KR">
              <a:latin typeface="Times New Roman" pitchFamily="18" charset="0"/>
              <a:cs typeface="Times New Roman" pitchFamily="18" charset="0"/>
            </a:endParaRPr>
          </a:p>
          <a:p>
            <a:pPr eaLnBrk="1" latinLnBrk="1" hangingPunct="1">
              <a:lnSpc>
                <a:spcPct val="100000"/>
              </a:lnSpc>
              <a:buFontTx/>
              <a:buAutoNum type="arabicPeriod"/>
            </a:pPr>
            <a:r>
              <a:rPr lang="en-US" altLang="ko-KR">
                <a:latin typeface="Times New Roman" pitchFamily="18" charset="0"/>
                <a:cs typeface="Times New Roman" pitchFamily="18" charset="0"/>
              </a:rPr>
              <a:t>Đặt Test Lead Probe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lên điểm đo.</a:t>
            </a:r>
          </a:p>
          <a:p>
            <a:pPr eaLnBrk="1" latinLnBrk="1" hangingPunct="1">
              <a:lnSpc>
                <a:spcPct val="100000"/>
              </a:lnSpc>
              <a:buFontTx/>
              <a:buAutoNum type="arabicPeriod"/>
            </a:pPr>
            <a:r>
              <a:rPr lang="en-US" altLang="ko-KR">
                <a:latin typeface="Times New Roman" pitchFamily="18" charset="0"/>
                <a:cs typeface="Times New Roman" pitchFamily="18" charset="0"/>
              </a:rPr>
              <a:t>Đọc giá trị đo trên màn LCD.</a:t>
            </a:r>
          </a:p>
        </p:txBody>
      </p:sp>
      <p:sp>
        <p:nvSpPr>
          <p:cNvPr id="76808" name="Text Box 7"/>
          <p:cNvSpPr txBox="1">
            <a:spLocks noChangeArrowheads="1"/>
          </p:cNvSpPr>
          <p:nvPr/>
        </p:nvSpPr>
        <p:spPr bwMode="auto">
          <a:xfrm>
            <a:off x="4751388" y="3074988"/>
            <a:ext cx="280987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Tiếng và ký hiệu diode xuất hiện trên màn LCD.</a:t>
            </a:r>
          </a:p>
        </p:txBody>
      </p:sp>
      <p:pic>
        <p:nvPicPr>
          <p:cNvPr id="76809"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2632075"/>
            <a:ext cx="4429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81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5588" y="3086100"/>
            <a:ext cx="74295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72298" name="Text Box 10"/>
          <p:cNvSpPr txBox="1">
            <a:spLocks noChangeArrowheads="1"/>
          </p:cNvSpPr>
          <p:nvPr/>
        </p:nvSpPr>
        <p:spPr bwMode="auto">
          <a:xfrm>
            <a:off x="3989388" y="3355975"/>
            <a:ext cx="1668462"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1">
              <a:lnSpc>
                <a:spcPct val="100000"/>
              </a:lnSpc>
              <a:defRPr/>
            </a:pPr>
            <a:r>
              <a:rPr lang="en-US" altLang="ko-KR" dirty="0" err="1">
                <a:latin typeface="Times New Roman" panose="02020603050405020304" pitchFamily="18" charset="0"/>
                <a:cs typeface="Times New Roman" panose="02020603050405020304" pitchFamily="18" charset="0"/>
              </a:rPr>
              <a:t>Ấn</a:t>
            </a:r>
            <a:r>
              <a:rPr lang="en-US" altLang="ko-KR" dirty="0">
                <a:latin typeface="Times New Roman" panose="02020603050405020304" pitchFamily="18" charset="0"/>
                <a:cs typeface="Times New Roman" panose="02020603050405020304" pitchFamily="18" charset="0"/>
              </a:rPr>
              <a:t> </a:t>
            </a:r>
            <a:r>
              <a:rPr lang="en-US" altLang="ko-KR" dirty="0" err="1">
                <a:latin typeface="Times New Roman" panose="02020603050405020304" pitchFamily="18" charset="0"/>
                <a:cs typeface="Times New Roman" panose="02020603050405020304" pitchFamily="18" charset="0"/>
              </a:rPr>
              <a:t>chọn</a:t>
            </a:r>
            <a:r>
              <a:rPr lang="en-US" altLang="ko-KR" dirty="0">
                <a:latin typeface="Times New Roman" panose="02020603050405020304" pitchFamily="18" charset="0"/>
                <a:cs typeface="Times New Roman" panose="02020603050405020304" pitchFamily="18" charset="0"/>
              </a:rPr>
              <a:t> </a:t>
            </a:r>
            <a:r>
              <a:rPr lang="en-US" altLang="ko-KR" b="1" u="sng" dirty="0">
                <a:effectLst>
                  <a:outerShdw blurRad="38100" dist="38100" dir="2700000" algn="tl">
                    <a:srgbClr val="C0C0C0"/>
                  </a:outerShdw>
                </a:effectLst>
                <a:latin typeface="Times New Roman" panose="02020603050405020304" pitchFamily="18" charset="0"/>
                <a:cs typeface="Times New Roman" panose="02020603050405020304" pitchFamily="18" charset="0"/>
              </a:rPr>
              <a:t>SELECT SW</a:t>
            </a:r>
            <a:r>
              <a:rPr lang="en-US" altLang="ko-KR" dirty="0">
                <a:latin typeface="Times New Roman" panose="02020603050405020304" pitchFamily="18" charset="0"/>
                <a:cs typeface="Times New Roman" panose="02020603050405020304" pitchFamily="18" charset="0"/>
              </a:rPr>
              <a:t>.</a:t>
            </a:r>
          </a:p>
        </p:txBody>
      </p:sp>
      <p:grpSp>
        <p:nvGrpSpPr>
          <p:cNvPr id="76812" name="Group 11"/>
          <p:cNvGrpSpPr>
            <a:grpSpLocks/>
          </p:cNvGrpSpPr>
          <p:nvPr/>
        </p:nvGrpSpPr>
        <p:grpSpPr bwMode="auto">
          <a:xfrm>
            <a:off x="4141788" y="3654425"/>
            <a:ext cx="533400" cy="228600"/>
            <a:chOff x="2160" y="2400"/>
            <a:chExt cx="432" cy="192"/>
          </a:xfrm>
        </p:grpSpPr>
        <p:pic>
          <p:nvPicPr>
            <p:cNvPr id="7681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0" y="24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17" name="Rectangle 13"/>
            <p:cNvSpPr>
              <a:spLocks noChangeArrowheads="1"/>
            </p:cNvSpPr>
            <p:nvPr/>
          </p:nvSpPr>
          <p:spPr bwMode="auto">
            <a:xfrm>
              <a:off x="2338" y="2400"/>
              <a:ext cx="9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76813" name="Text Box 14"/>
          <p:cNvSpPr txBox="1">
            <a:spLocks noChangeArrowheads="1"/>
          </p:cNvSpPr>
          <p:nvPr/>
        </p:nvSpPr>
        <p:spPr bwMode="auto">
          <a:xfrm>
            <a:off x="4751388" y="3622675"/>
            <a:ext cx="29797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Đơn vị và ký hiệu điện trở xuất hiện trên màn LCD.</a:t>
            </a:r>
          </a:p>
        </p:txBody>
      </p:sp>
      <p:pic>
        <p:nvPicPr>
          <p:cNvPr id="76814" name="Picture 15" descr="MCj0237845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52825" y="5045075"/>
            <a:ext cx="5032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15" name="Text Box 16"/>
          <p:cNvSpPr txBox="1">
            <a:spLocks noChangeArrowheads="1"/>
          </p:cNvSpPr>
          <p:nvPr/>
        </p:nvSpPr>
        <p:spPr bwMode="auto">
          <a:xfrm>
            <a:off x="4051300" y="5084763"/>
            <a:ext cx="2809875"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en-US" altLang="ko-KR" sz="1000" b="1">
                <a:latin typeface="Times New Roman" pitchFamily="18" charset="0"/>
                <a:cs typeface="Times New Roman" pitchFamily="18" charset="0"/>
              </a:rPr>
              <a:t>※ Dùng model thực nghiệm</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M-3 để đo điện trở.</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9D71749-9D09-4BFC-9B50-73BB813979FD}" type="slidenum">
              <a:rPr lang="en-US" altLang="ko-KR" sz="1400" smtClean="0">
                <a:latin typeface="Times New Roman" pitchFamily="18" charset="0"/>
                <a:cs typeface="Times New Roman" pitchFamily="18" charset="0"/>
              </a:rPr>
              <a:pPr eaLnBrk="1" hangingPunct="1"/>
              <a:t>71</a:t>
            </a:fld>
            <a:endParaRPr lang="en-US" altLang="ko-KR" sz="1400" smtClean="0">
              <a:latin typeface="Times New Roman" pitchFamily="18" charset="0"/>
              <a:cs typeface="Times New Roman" pitchFamily="18" charset="0"/>
            </a:endParaRPr>
          </a:p>
        </p:txBody>
      </p:sp>
      <p:sp>
        <p:nvSpPr>
          <p:cNvPr id="77827" name="Text Box 2"/>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782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Đo điện trở </a:t>
            </a:r>
            <a:r>
              <a:rPr lang="en-US" altLang="en-US">
                <a:latin typeface="Times New Roman" pitchFamily="18" charset="0"/>
                <a:cs typeface="Times New Roman" pitchFamily="18" charset="0"/>
              </a:rPr>
              <a:t>Analog Tester</a:t>
            </a:r>
            <a:endParaRPr lang="ko-KR" altLang="en-US">
              <a:latin typeface="Times New Roman" pitchFamily="18" charset="0"/>
              <a:cs typeface="Times New Roman" pitchFamily="18" charset="0"/>
            </a:endParaRPr>
          </a:p>
        </p:txBody>
      </p:sp>
      <p:sp>
        <p:nvSpPr>
          <p:cNvPr id="77829"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pic>
        <p:nvPicPr>
          <p:cNvPr id="7783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627188"/>
            <a:ext cx="2400300" cy="1801812"/>
          </a:xfrm>
          <a:prstGeom prst="rect">
            <a:avLst/>
          </a:prstGeom>
          <a:noFill/>
          <a:ln w="22225">
            <a:solidFill>
              <a:srgbClr val="C0C0C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77831" name="Text Box 16"/>
          <p:cNvSpPr txBox="1">
            <a:spLocks noChangeArrowheads="1"/>
          </p:cNvSpPr>
          <p:nvPr/>
        </p:nvSpPr>
        <p:spPr bwMode="auto">
          <a:xfrm>
            <a:off x="808038" y="1268413"/>
            <a:ext cx="5203825" cy="249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Đưa nút chọn thang đo đến thang đo đo điện trở.</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Que test màu đen đặt ở COM, </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que màu đỏ ở V,Ω,A.</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Theo quy định, khi chập 2 đầu que thử lại thì kim phải chỉ ngay vạch 0 ohm, nếu không phải chỉnh nút 0 ohm đưa kim về vị trí 0 ohm.</a:t>
            </a: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endParaRPr lang="en-US" altLang="ko-KR" sz="1000">
              <a:latin typeface="Times New Roman" pitchFamily="18" charset="0"/>
              <a:cs typeface="Times New Roman" pitchFamily="18" charset="0"/>
            </a:endParaRP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Đưa vật cần đo tiếp xúc với hai đầu que thử và đọc giá trị điện trở hiển thị. Khi này, nhân chỉ số hướng dẫn với mức chỉ số hiển thị trên thang đo điện trở được chọn.</a:t>
            </a:r>
          </a:p>
        </p:txBody>
      </p:sp>
      <p:sp>
        <p:nvSpPr>
          <p:cNvPr id="77832" name="Rectangle 17"/>
          <p:cNvSpPr>
            <a:spLocks noChangeArrowheads="1"/>
          </p:cNvSpPr>
          <p:nvPr/>
        </p:nvSpPr>
        <p:spPr bwMode="auto">
          <a:xfrm>
            <a:off x="1258888" y="2200275"/>
            <a:ext cx="4862512"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None/>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Tham khảo: nếu xoay vít theo hướng kim đồng hồ mà vẫn không đén thang đo ‘0’ thì</a:t>
            </a:r>
          </a:p>
          <a:p>
            <a:pPr eaLnBrk="1" latinLnBrk="1" hangingPunct="1">
              <a:lnSpc>
                <a:spcPct val="130000"/>
              </a:lnSpc>
              <a:buFont typeface="Wingdings" pitchFamily="2" charset="2"/>
              <a:buNone/>
            </a:pPr>
            <a:r>
              <a:rPr lang="en-US" altLang="ko-KR" sz="1000">
                <a:latin typeface="Times New Roman" pitchFamily="18" charset="0"/>
                <a:cs typeface="Times New Roman" pitchFamily="18" charset="0"/>
              </a:rPr>
              <a:t> có thể tuổi thọ pin dùng trong máy đo đã hết nên cần thay pin 1.5V cho X1, X10, X1K và thay pin 9V cho X10K.</a:t>
            </a:r>
          </a:p>
          <a:p>
            <a:pPr eaLnBrk="1" latinLnBrk="1" hangingPunct="1">
              <a:lnSpc>
                <a:spcPct val="130000"/>
              </a:lnSpc>
              <a:buFont typeface="Wingdings" pitchFamily="2" charset="2"/>
              <a:buNone/>
            </a:pPr>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Chú ý: không đo tùy tiện các vật thể đo hay đo điện trở với bất cứ nguồn điện nào và nếu không đo thì cần phải tháo pin ra khỏi máy.</a:t>
            </a:r>
          </a:p>
        </p:txBody>
      </p:sp>
      <p:grpSp>
        <p:nvGrpSpPr>
          <p:cNvPr id="77833" name="Group 18"/>
          <p:cNvGrpSpPr>
            <a:grpSpLocks/>
          </p:cNvGrpSpPr>
          <p:nvPr/>
        </p:nvGrpSpPr>
        <p:grpSpPr bwMode="auto">
          <a:xfrm>
            <a:off x="4356100" y="4005263"/>
            <a:ext cx="3902075" cy="2160587"/>
            <a:chOff x="1746" y="2523"/>
            <a:chExt cx="2458" cy="1361"/>
          </a:xfrm>
        </p:grpSpPr>
        <p:pic>
          <p:nvPicPr>
            <p:cNvPr id="77843" name="Picture 19" descr="anal_206tr"/>
            <p:cNvPicPr>
              <a:picLocks noChangeAspect="1" noChangeArrowheads="1"/>
            </p:cNvPicPr>
            <p:nvPr/>
          </p:nvPicPr>
          <p:blipFill>
            <a:blip r:embed="rId4">
              <a:extLst>
                <a:ext uri="{28A0092B-C50C-407E-A947-70E740481C1C}">
                  <a14:useLocalDpi xmlns:a14="http://schemas.microsoft.com/office/drawing/2010/main" val="0"/>
                </a:ext>
              </a:extLst>
            </a:blip>
            <a:srcRect b="51180"/>
            <a:stretch>
              <a:fillRect/>
            </a:stretch>
          </p:blipFill>
          <p:spPr bwMode="auto">
            <a:xfrm>
              <a:off x="2064" y="2932"/>
              <a:ext cx="1334" cy="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44" name="Oval 20"/>
            <p:cNvSpPr>
              <a:spLocks noChangeArrowheads="1"/>
            </p:cNvSpPr>
            <p:nvPr/>
          </p:nvSpPr>
          <p:spPr bwMode="auto">
            <a:xfrm>
              <a:off x="2154" y="3068"/>
              <a:ext cx="499" cy="363"/>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77845" name="Oval 21"/>
            <p:cNvSpPr>
              <a:spLocks noChangeArrowheads="1"/>
            </p:cNvSpPr>
            <p:nvPr/>
          </p:nvSpPr>
          <p:spPr bwMode="auto">
            <a:xfrm>
              <a:off x="3062" y="3068"/>
              <a:ext cx="272" cy="363"/>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77846" name="Oval 22"/>
            <p:cNvSpPr>
              <a:spLocks noChangeArrowheads="1"/>
            </p:cNvSpPr>
            <p:nvPr/>
          </p:nvSpPr>
          <p:spPr bwMode="auto">
            <a:xfrm>
              <a:off x="2563" y="3068"/>
              <a:ext cx="589" cy="363"/>
            </a:xfrm>
            <a:prstGeom prst="ellipse">
              <a:avLst/>
            </a:prstGeom>
            <a:noFill/>
            <a:ln w="1905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77847" name="Text Box 23"/>
            <p:cNvSpPr txBox="1">
              <a:spLocks noChangeArrowheads="1"/>
            </p:cNvSpPr>
            <p:nvPr/>
          </p:nvSpPr>
          <p:spPr bwMode="auto">
            <a:xfrm>
              <a:off x="1746" y="2523"/>
              <a:ext cx="1711"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Nếu kim có vị trí ở thang đo có mật độ cao thì</a:t>
              </a:r>
            </a:p>
            <a:p>
              <a:pPr eaLnBrk="1" latinLnBrk="1" hangingPunct="1">
                <a:lnSpc>
                  <a:spcPct val="100000"/>
                </a:lnSpc>
              </a:pPr>
              <a:r>
                <a:rPr lang="en-US" altLang="ko-KR" sz="1000">
                  <a:latin typeface="Times New Roman" pitchFamily="18" charset="0"/>
                  <a:cs typeface="Times New Roman" pitchFamily="18" charset="0"/>
                </a:rPr>
                <a:t>      dễ xảy ra sai số khi đọc giá trị!</a:t>
              </a:r>
            </a:p>
            <a:p>
              <a:pPr eaLnBrk="1" latinLnBrk="1" hangingPunct="1">
                <a:lnSpc>
                  <a:spcPct val="100000"/>
                </a:lnSpc>
              </a:pPr>
              <a:r>
                <a:rPr lang="en-US" altLang="ko-KR" sz="1000">
                  <a:latin typeface="Times New Roman" pitchFamily="18" charset="0"/>
                  <a:cs typeface="Times New Roman" pitchFamily="18" charset="0"/>
                </a:rPr>
                <a:t>       Đổi thang đo phù hợp.</a:t>
              </a:r>
            </a:p>
          </p:txBody>
        </p:sp>
        <p:sp>
          <p:nvSpPr>
            <p:cNvPr id="77848" name="Line 24"/>
            <p:cNvSpPr>
              <a:spLocks noChangeShapeType="1"/>
            </p:cNvSpPr>
            <p:nvPr/>
          </p:nvSpPr>
          <p:spPr bwMode="auto">
            <a:xfrm flipH="1">
              <a:off x="2245" y="2886"/>
              <a:ext cx="272"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77849" name="Line 25"/>
            <p:cNvSpPr>
              <a:spLocks noChangeShapeType="1"/>
            </p:cNvSpPr>
            <p:nvPr/>
          </p:nvSpPr>
          <p:spPr bwMode="auto">
            <a:xfrm>
              <a:off x="2517" y="2886"/>
              <a:ext cx="681"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77850" name="Text Box 26"/>
            <p:cNvSpPr txBox="1">
              <a:spLocks noChangeArrowheads="1"/>
            </p:cNvSpPr>
            <p:nvPr/>
          </p:nvSpPr>
          <p:spPr bwMode="auto">
            <a:xfrm>
              <a:off x="3424" y="2638"/>
              <a:ext cx="78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Thang đo dễ đọc.</a:t>
              </a:r>
            </a:p>
          </p:txBody>
        </p:sp>
        <p:sp>
          <p:nvSpPr>
            <p:cNvPr id="77851" name="Line 27"/>
            <p:cNvSpPr>
              <a:spLocks noChangeShapeType="1"/>
            </p:cNvSpPr>
            <p:nvPr/>
          </p:nvSpPr>
          <p:spPr bwMode="auto">
            <a:xfrm flipH="1">
              <a:off x="2971" y="2750"/>
              <a:ext cx="453" cy="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77834" name="Text Box 28"/>
          <p:cNvSpPr txBox="1">
            <a:spLocks noChangeArrowheads="1"/>
          </p:cNvSpPr>
          <p:nvPr/>
        </p:nvSpPr>
        <p:spPr bwMode="auto">
          <a:xfrm>
            <a:off x="1717675" y="6208713"/>
            <a:ext cx="2163763"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&lt; Setting về điểm “0” khi đo điện trở&gt;</a:t>
            </a:r>
          </a:p>
        </p:txBody>
      </p:sp>
      <p:grpSp>
        <p:nvGrpSpPr>
          <p:cNvPr id="77835" name="Group 29"/>
          <p:cNvGrpSpPr>
            <a:grpSpLocks/>
          </p:cNvGrpSpPr>
          <p:nvPr/>
        </p:nvGrpSpPr>
        <p:grpSpPr bwMode="auto">
          <a:xfrm>
            <a:off x="1619250" y="4278313"/>
            <a:ext cx="2243138" cy="1887537"/>
            <a:chOff x="1020" y="2695"/>
            <a:chExt cx="1413" cy="1189"/>
          </a:xfrm>
        </p:grpSpPr>
        <p:pic>
          <p:nvPicPr>
            <p:cNvPr id="77839" name="Picture 30"/>
            <p:cNvPicPr>
              <a:picLocks noChangeAspect="1" noChangeArrowheads="1"/>
            </p:cNvPicPr>
            <p:nvPr/>
          </p:nvPicPr>
          <p:blipFill>
            <a:blip r:embed="rId5">
              <a:extLst>
                <a:ext uri="{28A0092B-C50C-407E-A947-70E740481C1C}">
                  <a14:useLocalDpi xmlns:a14="http://schemas.microsoft.com/office/drawing/2010/main" val="0"/>
                </a:ext>
              </a:extLst>
            </a:blip>
            <a:srcRect r="-75" b="-5"/>
            <a:stretch>
              <a:fillRect/>
            </a:stretch>
          </p:blipFill>
          <p:spPr bwMode="auto">
            <a:xfrm>
              <a:off x="1020" y="2795"/>
              <a:ext cx="1413" cy="1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40" name="Rectangle 31"/>
            <p:cNvSpPr>
              <a:spLocks noChangeArrowheads="1"/>
            </p:cNvSpPr>
            <p:nvPr/>
          </p:nvSpPr>
          <p:spPr bwMode="auto">
            <a:xfrm>
              <a:off x="1506" y="2893"/>
              <a:ext cx="557" cy="334"/>
            </a:xfrm>
            <a:prstGeom prst="rect">
              <a:avLst/>
            </a:prstGeom>
            <a:noFill/>
            <a:ln w="38100">
              <a:solidFill>
                <a:srgbClr val="0000FF"/>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77841" name="Oval 32"/>
            <p:cNvSpPr>
              <a:spLocks noChangeArrowheads="1"/>
            </p:cNvSpPr>
            <p:nvPr/>
          </p:nvSpPr>
          <p:spPr bwMode="auto">
            <a:xfrm>
              <a:off x="1500" y="3319"/>
              <a:ext cx="148" cy="149"/>
            </a:xfrm>
            <a:prstGeom prst="ellipse">
              <a:avLst/>
            </a:prstGeom>
            <a:noFill/>
            <a:ln w="38100">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77842" name="Freeform 33"/>
            <p:cNvSpPr>
              <a:spLocks/>
            </p:cNvSpPr>
            <p:nvPr/>
          </p:nvSpPr>
          <p:spPr bwMode="auto">
            <a:xfrm>
              <a:off x="1983" y="2695"/>
              <a:ext cx="186" cy="297"/>
            </a:xfrm>
            <a:custGeom>
              <a:avLst/>
              <a:gdLst>
                <a:gd name="T0" fmla="*/ 0 w 240"/>
                <a:gd name="T1" fmla="*/ 2 h 384"/>
                <a:gd name="T2" fmla="*/ 2 w 240"/>
                <a:gd name="T3" fmla="*/ 2 h 384"/>
                <a:gd name="T4" fmla="*/ 2 w 240"/>
                <a:gd name="T5" fmla="*/ 0 h 384"/>
                <a:gd name="T6" fmla="*/ 0 60000 65536"/>
                <a:gd name="T7" fmla="*/ 0 60000 65536"/>
                <a:gd name="T8" fmla="*/ 0 60000 65536"/>
              </a:gdLst>
              <a:ahLst/>
              <a:cxnLst>
                <a:cxn ang="T6">
                  <a:pos x="T0" y="T1"/>
                </a:cxn>
                <a:cxn ang="T7">
                  <a:pos x="T2" y="T3"/>
                </a:cxn>
                <a:cxn ang="T8">
                  <a:pos x="T4" y="T5"/>
                </a:cxn>
              </a:cxnLst>
              <a:rect l="0" t="0" r="r" b="b"/>
              <a:pathLst>
                <a:path w="240" h="384">
                  <a:moveTo>
                    <a:pt x="0" y="240"/>
                  </a:moveTo>
                  <a:lnTo>
                    <a:pt x="48" y="384"/>
                  </a:lnTo>
                  <a:lnTo>
                    <a:pt x="240" y="0"/>
                  </a:lnTo>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77836" name="Text Box 34"/>
          <p:cNvSpPr txBox="1">
            <a:spLocks noChangeArrowheads="1"/>
          </p:cNvSpPr>
          <p:nvPr/>
        </p:nvSpPr>
        <p:spPr bwMode="auto">
          <a:xfrm>
            <a:off x="4932363" y="6199188"/>
            <a:ext cx="1871662"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&lt; Chọn phạm vi khi đo điện trở&gt;</a:t>
            </a:r>
          </a:p>
        </p:txBody>
      </p:sp>
      <p:pic>
        <p:nvPicPr>
          <p:cNvPr id="77837" name="Picture 37" descr="MCj0237845000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4875" y="3894138"/>
            <a:ext cx="5032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8" name="Text Box 38"/>
          <p:cNvSpPr txBox="1">
            <a:spLocks noChangeArrowheads="1"/>
          </p:cNvSpPr>
          <p:nvPr/>
        </p:nvSpPr>
        <p:spPr bwMode="auto">
          <a:xfrm>
            <a:off x="1403350" y="3933825"/>
            <a:ext cx="28162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en-US" altLang="ko-KR" sz="1000" b="1">
                <a:latin typeface="Times New Roman" pitchFamily="18" charset="0"/>
                <a:cs typeface="Times New Roman" pitchFamily="18" charset="0"/>
              </a:rPr>
              <a:t>※ Dùng model thực nghiệm</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M-3 để đo điện trở.</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3B509A1-A4B7-468E-84C8-C82CB5E34528}" type="slidenum">
              <a:rPr lang="en-US" altLang="ko-KR" sz="1400" smtClean="0">
                <a:latin typeface="Times New Roman" pitchFamily="18" charset="0"/>
                <a:cs typeface="Times New Roman" pitchFamily="18" charset="0"/>
              </a:rPr>
              <a:pPr eaLnBrk="1" hangingPunct="1"/>
              <a:t>72</a:t>
            </a:fld>
            <a:endParaRPr lang="en-US" altLang="ko-KR" sz="1400" smtClean="0">
              <a:latin typeface="Times New Roman" pitchFamily="18" charset="0"/>
              <a:cs typeface="Times New Roman" pitchFamily="18" charset="0"/>
            </a:endParaRPr>
          </a:p>
        </p:txBody>
      </p:sp>
      <p:sp>
        <p:nvSpPr>
          <p:cNvPr id="78851" name="Text Box 2"/>
          <p:cNvSpPr txBox="1">
            <a:spLocks noChangeArrowheads="1"/>
          </p:cNvSpPr>
          <p:nvPr/>
        </p:nvSpPr>
        <p:spPr bwMode="auto">
          <a:xfrm>
            <a:off x="684213" y="892175"/>
            <a:ext cx="18637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1-6. Điện trở khả biến</a:t>
            </a:r>
            <a:endParaRPr lang="ko-KR" altLang="en-US" sz="1400" b="1">
              <a:latin typeface="Times New Roman" pitchFamily="18" charset="0"/>
              <a:cs typeface="Times New Roman" pitchFamily="18" charset="0"/>
            </a:endParaRPr>
          </a:p>
        </p:txBody>
      </p:sp>
      <p:sp>
        <p:nvSpPr>
          <p:cNvPr id="78852" name="Text Box 4"/>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8853" name="Text Box 5"/>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8854"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Điện trở kháng giống với tên gọi của nó là loại điện trở có khả năng biến đổi. Xét về cấu tạo, vị trí điện trở có thể trượt để chuyển đổi vị trí và dựa vào vị trí dịch chuyển của nó mà mức điện trở cũng biến đổi theo. Được phân chia thành 3 loại thường được sử dụng như sau:</a:t>
            </a: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Màng than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do có giá thành rẻ và đặc tính khá tốt nên được sử dụng rộng rãi nhưng do vỏ ngoài dần dần nhỏ đi và 	rụng ra nên dẫn đến phần lõi phía trong cũng bị rụng ra theo.</a:t>
            </a:r>
          </a:p>
          <a:p>
            <a:pPr eaLnBrk="1" hangingPunct="1"/>
            <a:r>
              <a:rPr lang="en-US" altLang="ko-KR">
                <a:latin typeface="Times New Roman" pitchFamily="18" charset="0"/>
                <a:cs typeface="Times New Roman" pitchFamily="18" charset="0"/>
              </a:rPr>
              <a:t>② Màng kim loại: có đăc tính tạp âm và cấu tạo trong vượt trội nên được sử dụng trong máy đo âm thanh nổi stereo.  </a:t>
            </a:r>
          </a:p>
          <a:p>
            <a:pPr eaLnBrk="1" hangingPunct="1"/>
            <a:r>
              <a:rPr lang="en-US" altLang="ko-KR">
                <a:latin typeface="Times New Roman" pitchFamily="18" charset="0"/>
                <a:cs typeface="Times New Roman" pitchFamily="18" charset="0"/>
              </a:rPr>
              <a:t>③ Cuộn cảm: bằng việc sử dụng điện trở cuộn cảm ta có thể truyền được dòng điện lớn do điện trở tương đối nhỏ gần 	như bằng 0.</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Ký hiệu mạch ray là</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Hình dáng và chủng loại điện trở khả biến có dạng nút chỉnh volumn lớn và dạng điện trở bán cố định.</a:t>
            </a:r>
          </a:p>
        </p:txBody>
      </p:sp>
      <p:grpSp>
        <p:nvGrpSpPr>
          <p:cNvPr id="78855" name="Group 7"/>
          <p:cNvGrpSpPr>
            <a:grpSpLocks/>
          </p:cNvGrpSpPr>
          <p:nvPr/>
        </p:nvGrpSpPr>
        <p:grpSpPr bwMode="auto">
          <a:xfrm>
            <a:off x="2195513" y="3270250"/>
            <a:ext cx="825500" cy="457200"/>
            <a:chOff x="1776" y="2400"/>
            <a:chExt cx="480" cy="288"/>
          </a:xfrm>
        </p:grpSpPr>
        <p:sp>
          <p:nvSpPr>
            <p:cNvPr id="78860" name="Freeform 8"/>
            <p:cNvSpPr>
              <a:spLocks/>
            </p:cNvSpPr>
            <p:nvPr/>
          </p:nvSpPr>
          <p:spPr bwMode="auto">
            <a:xfrm>
              <a:off x="1776" y="2544"/>
              <a:ext cx="480" cy="144"/>
            </a:xfrm>
            <a:custGeom>
              <a:avLst/>
              <a:gdLst>
                <a:gd name="T0" fmla="*/ 0 w 624"/>
                <a:gd name="T1" fmla="*/ 2 h 192"/>
                <a:gd name="T2" fmla="*/ 2 w 624"/>
                <a:gd name="T3" fmla="*/ 2 h 192"/>
                <a:gd name="T4" fmla="*/ 2 w 624"/>
                <a:gd name="T5" fmla="*/ 0 h 192"/>
                <a:gd name="T6" fmla="*/ 2 w 624"/>
                <a:gd name="T7" fmla="*/ 2 h 192"/>
                <a:gd name="T8" fmla="*/ 2 w 624"/>
                <a:gd name="T9" fmla="*/ 0 h 192"/>
                <a:gd name="T10" fmla="*/ 2 w 624"/>
                <a:gd name="T11" fmla="*/ 2 h 192"/>
                <a:gd name="T12" fmla="*/ 2 w 624"/>
                <a:gd name="T13" fmla="*/ 0 h 192"/>
                <a:gd name="T14" fmla="*/ 2 w 624"/>
                <a:gd name="T15" fmla="*/ 2 h 192"/>
                <a:gd name="T16" fmla="*/ 2 w 624"/>
                <a:gd name="T17" fmla="*/ 2 h 192"/>
                <a:gd name="T18" fmla="*/ 2 w 624"/>
                <a:gd name="T19" fmla="*/ 2 h 1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24" h="192">
                  <a:moveTo>
                    <a:pt x="0" y="96"/>
                  </a:moveTo>
                  <a:lnTo>
                    <a:pt x="144" y="96"/>
                  </a:lnTo>
                  <a:lnTo>
                    <a:pt x="192" y="0"/>
                  </a:lnTo>
                  <a:lnTo>
                    <a:pt x="240" y="192"/>
                  </a:lnTo>
                  <a:lnTo>
                    <a:pt x="288" y="0"/>
                  </a:lnTo>
                  <a:lnTo>
                    <a:pt x="336" y="192"/>
                  </a:lnTo>
                  <a:lnTo>
                    <a:pt x="384" y="0"/>
                  </a:lnTo>
                  <a:lnTo>
                    <a:pt x="432" y="192"/>
                  </a:lnTo>
                  <a:lnTo>
                    <a:pt x="480" y="96"/>
                  </a:lnTo>
                  <a:lnTo>
                    <a:pt x="624" y="96"/>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78861" name="Line 9"/>
            <p:cNvSpPr>
              <a:spLocks noChangeShapeType="1"/>
            </p:cNvSpPr>
            <p:nvPr/>
          </p:nvSpPr>
          <p:spPr bwMode="auto">
            <a:xfrm>
              <a:off x="2016" y="240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pic>
        <p:nvPicPr>
          <p:cNvPr id="78856" name="Picture 10" descr="볼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650" y="4468813"/>
            <a:ext cx="2551113" cy="17129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8857" name="Picture 11" descr="반고정"/>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750" y="4468813"/>
            <a:ext cx="3136900" cy="10080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8858" name="Text Box 12"/>
          <p:cNvSpPr txBox="1">
            <a:spLocks noChangeArrowheads="1"/>
          </p:cNvSpPr>
          <p:nvPr/>
        </p:nvSpPr>
        <p:spPr bwMode="auto">
          <a:xfrm>
            <a:off x="3659188" y="5992813"/>
            <a:ext cx="814387"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Volumn</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sp>
        <p:nvSpPr>
          <p:cNvPr id="78859" name="Text Box 13"/>
          <p:cNvSpPr txBox="1">
            <a:spLocks noChangeArrowheads="1"/>
          </p:cNvSpPr>
          <p:nvPr/>
        </p:nvSpPr>
        <p:spPr bwMode="auto">
          <a:xfrm>
            <a:off x="5357813" y="5519738"/>
            <a:ext cx="1420812"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&lt; Điện trở bán cố định&gt;</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684213" y="892175"/>
            <a:ext cx="16668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1-7. Định luật Ohm</a:t>
            </a:r>
            <a:endParaRPr lang="ko-KR" altLang="en-US" sz="1400" b="1">
              <a:latin typeface="Times New Roman" pitchFamily="18" charset="0"/>
              <a:cs typeface="Times New Roman" pitchFamily="18" charset="0"/>
            </a:endParaRPr>
          </a:p>
        </p:txBody>
      </p:sp>
      <p:sp>
        <p:nvSpPr>
          <p:cNvPr id="79875" name="Text Box 4"/>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79876" name="Text Box 5"/>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79877"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Định luật Ohm định nghĩa mối quan hệ giữa suất điện động (E), cường độ dòng điện (I), điện trở mạch điện(R).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Tức là, nó cho ta thấy rằng c</a:t>
            </a:r>
            <a:r>
              <a:rPr lang="vi-VN" altLang="ko-KR">
                <a:latin typeface="Times New Roman" pitchFamily="18" charset="0"/>
                <a:cs typeface="Times New Roman" pitchFamily="18" charset="0"/>
              </a:rPr>
              <a:t>ường độ dòng điện chạy trong mạch điện kín tỉ lệ thuận với suất điện động của nguồn điện và tỉ lệ nghịch với điện trở toàn phần của mạch đó.</a:t>
            </a:r>
            <a:r>
              <a:rPr lang="en-US" altLang="ko-KR">
                <a:latin typeface="Times New Roman" pitchFamily="18" charset="0"/>
                <a:cs typeface="Times New Roman" pitchFamily="18" charset="0"/>
              </a:rPr>
              <a:t> Suất điện động là hiệu điện thế giữa hai đầu đoạn mạch mang ý nghĩa là điện áp(dòng điện), ký hiệu là “E”, đơn vị là V(Volt). Dòng điện chính là sự di chuyển của dòng điện tích và dòng di chuyển của những hạt điện tích tĩnh điện được quy ước là theo hướng +. Biểu diễn dòng lưu thông của điện trong một đơn vị thời gian(giây), được ký hiệu là “I” và có đơn vị là A(Ampere). Điện trở toàn phần của mạch được ký hiệu là “R”, được định nghĩa là</a:t>
            </a:r>
            <a:r>
              <a:rPr lang="vi-VN" altLang="ko-KR">
                <a:latin typeface="Times New Roman" pitchFamily="18" charset="0"/>
                <a:cs typeface="Times New Roman" pitchFamily="18" charset="0"/>
              </a:rPr>
              <a:t> đại lượng vật lý đặc trưng cho tính chất cản trở dòng điện của vật liệu</a:t>
            </a:r>
            <a:r>
              <a:rPr lang="en-US" altLang="ko-KR">
                <a:latin typeface="Times New Roman" pitchFamily="18" charset="0"/>
                <a:cs typeface="Times New Roman" pitchFamily="18" charset="0"/>
              </a:rPr>
              <a:t>, có đơn vị là Ω (ohm). </a:t>
            </a:r>
            <a:r>
              <a:rPr lang="vi-VN" altLang="ko-KR">
                <a:latin typeface="Times New Roman" pitchFamily="18" charset="0"/>
                <a:cs typeface="Times New Roman" pitchFamily="18" charset="0"/>
              </a:rPr>
              <a:t>Thí dụ như có một đoạn dây dẫn có điện trở là 1</a:t>
            </a:r>
            <a:r>
              <a:rPr lang="el-GR" altLang="ko-KR">
                <a:latin typeface="Times New Roman" pitchFamily="18" charset="0"/>
                <a:cs typeface="Times New Roman" pitchFamily="18" charset="0"/>
              </a:rPr>
              <a:t>Ω </a:t>
            </a:r>
            <a:r>
              <a:rPr lang="vi-VN" altLang="ko-KR">
                <a:latin typeface="Times New Roman" pitchFamily="18" charset="0"/>
                <a:cs typeface="Times New Roman" pitchFamily="18" charset="0"/>
              </a:rPr>
              <a:t>và có dòng điện 1A chạy qua thì điện áp giữa hai đầu dây là 1V</a:t>
            </a:r>
            <a:r>
              <a:rPr lang="en-US" altLang="ko-KR">
                <a:latin typeface="Times New Roman" pitchFamily="18" charset="0"/>
                <a:cs typeface="Times New Roman" pitchFamily="18" charset="0"/>
              </a:rPr>
              <a:t>.  Định luật Ohm được biểu diễn bằng công thức như sau:</a:t>
            </a:r>
          </a:p>
          <a:p>
            <a:pPr eaLnBrk="1" hangingPunct="1"/>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en-US" altLang="ko-KR">
              <a:latin typeface="Times New Roman" pitchFamily="18" charset="0"/>
              <a:cs typeface="Times New Roman" pitchFamily="18" charset="0"/>
            </a:endParaRPr>
          </a:p>
        </p:txBody>
      </p:sp>
      <p:pic>
        <p:nvPicPr>
          <p:cNvPr id="79878"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0650" y="3016250"/>
            <a:ext cx="8382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9250" y="2868613"/>
            <a:ext cx="5461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80"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67350" y="2800350"/>
            <a:ext cx="5842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81" name="Picture 7"/>
          <p:cNvPicPr>
            <a:picLocks noChangeAspect="1" noChangeArrowheads="1"/>
          </p:cNvPicPr>
          <p:nvPr/>
        </p:nvPicPr>
        <p:blipFill>
          <a:blip r:embed="rId6">
            <a:extLst>
              <a:ext uri="{28A0092B-C50C-407E-A947-70E740481C1C}">
                <a14:useLocalDpi xmlns:a14="http://schemas.microsoft.com/office/drawing/2010/main" val="0"/>
              </a:ext>
            </a:extLst>
          </a:blip>
          <a:srcRect b="14278"/>
          <a:stretch>
            <a:fillRect/>
          </a:stretch>
        </p:blipFill>
        <p:spPr bwMode="auto">
          <a:xfrm>
            <a:off x="900113" y="3357563"/>
            <a:ext cx="26670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2" name="Text Box 6"/>
          <p:cNvSpPr txBox="1">
            <a:spLocks noChangeArrowheads="1"/>
          </p:cNvSpPr>
          <p:nvPr/>
        </p:nvSpPr>
        <p:spPr bwMode="auto">
          <a:xfrm>
            <a:off x="4078288" y="3357563"/>
            <a:ext cx="447675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Mạch điện bên trái có điện trở R1 và  R2 mắc nối tiếp và được nối</a:t>
            </a:r>
          </a:p>
          <a:p>
            <a:pPr eaLnBrk="1" latinLnBrk="1" hangingPunct="1">
              <a:lnSpc>
                <a:spcPct val="100000"/>
              </a:lnSpc>
            </a:pPr>
            <a:r>
              <a:rPr lang="en-US" altLang="ko-KR">
                <a:latin typeface="Times New Roman" pitchFamily="18" charset="0"/>
                <a:cs typeface="Times New Roman" pitchFamily="18" charset="0"/>
              </a:rPr>
              <a:t> với suất điện động của dòng điện tạo thành một mạch điện kín.</a:t>
            </a:r>
          </a:p>
          <a:p>
            <a:pPr eaLnBrk="1" latinLnBrk="1" hangingPunct="1">
              <a:lnSpc>
                <a:spcPct val="100000"/>
              </a:lnSpc>
            </a:pPr>
            <a:r>
              <a:rPr lang="en-US" altLang="ko-KR">
                <a:latin typeface="Times New Roman" pitchFamily="18" charset="0"/>
                <a:cs typeface="Times New Roman" pitchFamily="18" charset="0"/>
              </a:rPr>
              <a:t>1.  Đo cường độ dòng điện tại điện trở R1 và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R2.</a:t>
            </a:r>
          </a:p>
          <a:p>
            <a:pPr eaLnBrk="1" latinLnBrk="1" hangingPunct="1">
              <a:lnSpc>
                <a:spcPct val="100000"/>
              </a:lnSpc>
            </a:pPr>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I [A]  =  V ( Điện áp đầu vào của mạch)   /    R1 + R2</a:t>
            </a:r>
            <a:r>
              <a:rPr lang="en-US" altLang="ko-KR">
                <a:latin typeface="Times New Roman" pitchFamily="18" charset="0"/>
                <a:cs typeface="Times New Roman" pitchFamily="18" charset="0"/>
              </a:rPr>
              <a:t>  </a:t>
            </a:r>
          </a:p>
          <a:p>
            <a:pPr eaLnBrk="1" latinLnBrk="1" hangingPunct="1">
              <a:lnSpc>
                <a:spcPct val="100000"/>
              </a:lnSpc>
            </a:pPr>
            <a:endParaRPr lang="en-US" altLang="ko-KR">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2. Đo điện áp trên mỗi hai râu điện trở  R1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R2.</a:t>
            </a:r>
          </a:p>
          <a:p>
            <a:pPr eaLnBrk="1" latinLnBrk="1" hangingPunct="1">
              <a:lnSpc>
                <a:spcPct val="100000"/>
              </a:lnSpc>
            </a:pPr>
            <a:r>
              <a:rPr lang="en-US" altLang="ko-KR">
                <a:latin typeface="Times New Roman" pitchFamily="18" charset="0"/>
                <a:cs typeface="Times New Roman" pitchFamily="18" charset="0"/>
              </a:rPr>
              <a:t>     Điện áp trên 2 râu  R1</a:t>
            </a:r>
            <a:r>
              <a:rPr lang="ko-KR" altLang="en-US" b="1">
                <a:latin typeface="Times New Roman" pitchFamily="18" charset="0"/>
                <a:cs typeface="Times New Roman" pitchFamily="18" charset="0"/>
              </a:rPr>
              <a:t> </a:t>
            </a:r>
          </a:p>
          <a:p>
            <a:pPr eaLnBrk="1" latinLnBrk="1" hangingPunct="1">
              <a:lnSpc>
                <a:spcPct val="100000"/>
              </a:lnSpc>
            </a:pP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V1 [V] =  I  (Cường độ dòng điện vào)  x  R1</a:t>
            </a:r>
          </a:p>
          <a:p>
            <a:pPr eaLnBrk="1" latinLnBrk="1" hangingPunct="1">
              <a:lnSpc>
                <a:spcPct val="100000"/>
              </a:lnSpc>
            </a:pPr>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Điện áp trên 2 râu  R2</a:t>
            </a:r>
            <a:endParaRPr lang="ko-KR" altLang="en-US">
              <a:latin typeface="Times New Roman" pitchFamily="18" charset="0"/>
              <a:cs typeface="Times New Roman" pitchFamily="18" charset="0"/>
            </a:endParaRPr>
          </a:p>
          <a:p>
            <a:pPr eaLnBrk="1" latinLnBrk="1" hangingPunct="1">
              <a:lnSpc>
                <a:spcPct val="100000"/>
              </a:lnSpc>
            </a:pP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V2 [V] =  I (Cường độ dòng điện vào)  x  R2</a:t>
            </a:r>
          </a:p>
          <a:p>
            <a:pPr eaLnBrk="1" latinLnBrk="1" hangingPunct="1">
              <a:lnSpc>
                <a:spcPct val="100000"/>
              </a:lnSpc>
            </a:pPr>
            <a:endParaRPr lang="en-US" altLang="ko-KR">
              <a:latin typeface="Times New Roman" pitchFamily="18" charset="0"/>
              <a:cs typeface="Times New Roman" pitchFamily="18" charset="0"/>
            </a:endParaRPr>
          </a:p>
          <a:p>
            <a:pPr eaLnBrk="1" latinLnBrk="1" hangingPunct="1">
              <a:lnSpc>
                <a:spcPct val="100000"/>
              </a:lnSpc>
            </a:pPr>
            <a:r>
              <a:rPr lang="en-US" altLang="ko-KR">
                <a:latin typeface="Times New Roman" pitchFamily="18" charset="0"/>
                <a:cs typeface="Times New Roman" pitchFamily="18" charset="0"/>
              </a:rPr>
              <a:t>3. Đo cường độ toàn mạch điện và cường độ dòng điện chạy qua điện</a:t>
            </a:r>
          </a:p>
          <a:p>
            <a:pPr eaLnBrk="1" latinLnBrk="1" hangingPunct="1">
              <a:lnSpc>
                <a:spcPct val="100000"/>
              </a:lnSpc>
            </a:pPr>
            <a:r>
              <a:rPr lang="en-US" altLang="ko-KR">
                <a:latin typeface="Times New Roman" pitchFamily="18" charset="0"/>
                <a:cs typeface="Times New Roman" pitchFamily="18" charset="0"/>
              </a:rPr>
              <a:t> trở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R1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R2.</a:t>
            </a:r>
          </a:p>
          <a:p>
            <a:pPr eaLnBrk="1" latinLnBrk="1" hangingPunct="1">
              <a:lnSpc>
                <a:spcPct val="100000"/>
              </a:lnSpc>
            </a:pP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I [A]  =  V (Điện áp đầu vào của mạch)    /    R1 + R2</a:t>
            </a:r>
            <a:endParaRPr lang="en-US" altLang="ko-KR">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1004304-BB97-44EC-80A1-C7372391F58D}" type="slidenum">
              <a:rPr lang="en-US" altLang="ko-KR" sz="1400" smtClean="0">
                <a:latin typeface="Times New Roman" pitchFamily="18" charset="0"/>
                <a:cs typeface="Times New Roman" pitchFamily="18" charset="0"/>
              </a:rPr>
              <a:pPr eaLnBrk="1" hangingPunct="1"/>
              <a:t>74</a:t>
            </a:fld>
            <a:endParaRPr lang="en-US" altLang="ko-KR" sz="1400" smtClean="0">
              <a:latin typeface="Times New Roman" pitchFamily="18" charset="0"/>
              <a:cs typeface="Times New Roman" pitchFamily="18" charset="0"/>
            </a:endParaRPr>
          </a:p>
        </p:txBody>
      </p:sp>
      <p:sp>
        <p:nvSpPr>
          <p:cNvPr id="80899" name="Text Box 3"/>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80900" name="Text Box 4"/>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80901"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định luật nói lên mối quan hệ giữa hiệu điện thế, cường độ dòng điện, điện trở bằng công thức. Tức là, c</a:t>
            </a:r>
            <a:r>
              <a:rPr lang="vi-VN" altLang="ko-KR">
                <a:latin typeface="Times New Roman" pitchFamily="18" charset="0"/>
                <a:cs typeface="Times New Roman" pitchFamily="18" charset="0"/>
              </a:rPr>
              <a:t>ường độ dòng điện chạy qua một dây dẫn tỉ lệ thuận với hiệu điện thế giữa hai đầu dây dẫn và tỉ lệ nghịch với điện trở.</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Cường độ dòng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(I) = V/R        Điện trở dây dẫn (R) = V/I    Hiệu điện thế (V)= I*R</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Ví dụ) Giá trị điện trở trong mạch dưới đây là bao nhiêu?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Ví dụ) Giá trị điện trong mạch dưới đây là bao nhiêu?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grpSp>
        <p:nvGrpSpPr>
          <p:cNvPr id="80902" name="Group 38"/>
          <p:cNvGrpSpPr>
            <a:grpSpLocks/>
          </p:cNvGrpSpPr>
          <p:nvPr/>
        </p:nvGrpSpPr>
        <p:grpSpPr bwMode="auto">
          <a:xfrm>
            <a:off x="3243263" y="2565400"/>
            <a:ext cx="2624137" cy="1222375"/>
            <a:chOff x="2064" y="1752"/>
            <a:chExt cx="1653" cy="770"/>
          </a:xfrm>
        </p:grpSpPr>
        <p:grpSp>
          <p:nvGrpSpPr>
            <p:cNvPr id="80924" name="Group 32"/>
            <p:cNvGrpSpPr>
              <a:grpSpLocks/>
            </p:cNvGrpSpPr>
            <p:nvPr/>
          </p:nvGrpSpPr>
          <p:grpSpPr bwMode="auto">
            <a:xfrm>
              <a:off x="2277" y="1956"/>
              <a:ext cx="1068" cy="566"/>
              <a:chOff x="1292" y="2251"/>
              <a:chExt cx="881" cy="672"/>
            </a:xfrm>
          </p:grpSpPr>
          <p:grpSp>
            <p:nvGrpSpPr>
              <p:cNvPr id="80928" name="Group 10"/>
              <p:cNvGrpSpPr>
                <a:grpSpLocks/>
              </p:cNvGrpSpPr>
              <p:nvPr/>
            </p:nvGrpSpPr>
            <p:grpSpPr bwMode="auto">
              <a:xfrm>
                <a:off x="1292" y="2568"/>
                <a:ext cx="182" cy="34"/>
                <a:chOff x="1292" y="2568"/>
                <a:chExt cx="182" cy="34"/>
              </a:xfrm>
            </p:grpSpPr>
            <p:sp>
              <p:nvSpPr>
                <p:cNvPr id="80942" name="Line 8"/>
                <p:cNvSpPr>
                  <a:spLocks noChangeShapeType="1"/>
                </p:cNvSpPr>
                <p:nvPr/>
              </p:nvSpPr>
              <p:spPr bwMode="auto">
                <a:xfrm>
                  <a:off x="1292" y="2568"/>
                  <a:ext cx="18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43" name="Line 9"/>
                <p:cNvSpPr>
                  <a:spLocks noChangeShapeType="1"/>
                </p:cNvSpPr>
                <p:nvPr/>
              </p:nvSpPr>
              <p:spPr bwMode="auto">
                <a:xfrm>
                  <a:off x="1334" y="2602"/>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80929" name="Line 11"/>
              <p:cNvSpPr>
                <a:spLocks noChangeShapeType="1"/>
              </p:cNvSpPr>
              <p:nvPr/>
            </p:nvSpPr>
            <p:spPr bwMode="auto">
              <a:xfrm flipV="1">
                <a:off x="1383" y="2251"/>
                <a:ext cx="0" cy="3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0" name="Line 12"/>
              <p:cNvSpPr>
                <a:spLocks noChangeShapeType="1"/>
              </p:cNvSpPr>
              <p:nvPr/>
            </p:nvSpPr>
            <p:spPr bwMode="auto">
              <a:xfrm flipV="1">
                <a:off x="1383" y="2606"/>
                <a:ext cx="0" cy="3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1" name="Line 14"/>
              <p:cNvSpPr>
                <a:spLocks noChangeShapeType="1"/>
              </p:cNvSpPr>
              <p:nvPr/>
            </p:nvSpPr>
            <p:spPr bwMode="auto">
              <a:xfrm>
                <a:off x="1383" y="2923"/>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2" name="Line 15"/>
              <p:cNvSpPr>
                <a:spLocks noChangeShapeType="1"/>
              </p:cNvSpPr>
              <p:nvPr/>
            </p:nvSpPr>
            <p:spPr bwMode="auto">
              <a:xfrm>
                <a:off x="1383" y="2251"/>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3" name="Line 17"/>
              <p:cNvSpPr>
                <a:spLocks noChangeShapeType="1"/>
              </p:cNvSpPr>
              <p:nvPr/>
            </p:nvSpPr>
            <p:spPr bwMode="auto">
              <a:xfrm flipV="1">
                <a:off x="2154" y="2251"/>
                <a:ext cx="0" cy="2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4" name="Line 18"/>
              <p:cNvSpPr>
                <a:spLocks noChangeShapeType="1"/>
              </p:cNvSpPr>
              <p:nvPr/>
            </p:nvSpPr>
            <p:spPr bwMode="auto">
              <a:xfrm flipV="1">
                <a:off x="2152" y="2750"/>
                <a:ext cx="0" cy="1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5" name="Line 19"/>
              <p:cNvSpPr>
                <a:spLocks noChangeShapeType="1"/>
              </p:cNvSpPr>
              <p:nvPr/>
            </p:nvSpPr>
            <p:spPr bwMode="auto">
              <a:xfrm flipV="1">
                <a:off x="2128" y="2478"/>
                <a:ext cx="35" cy="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6" name="Line 20"/>
              <p:cNvSpPr>
                <a:spLocks noChangeShapeType="1"/>
              </p:cNvSpPr>
              <p:nvPr/>
            </p:nvSpPr>
            <p:spPr bwMode="auto">
              <a:xfrm flipV="1">
                <a:off x="2128" y="2557"/>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7" name="Line 21"/>
              <p:cNvSpPr>
                <a:spLocks noChangeShapeType="1"/>
              </p:cNvSpPr>
              <p:nvPr/>
            </p:nvSpPr>
            <p:spPr bwMode="auto">
              <a:xfrm flipV="1">
                <a:off x="2150" y="2735"/>
                <a:ext cx="19" cy="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8" name="Line 22"/>
              <p:cNvSpPr>
                <a:spLocks noChangeShapeType="1"/>
              </p:cNvSpPr>
              <p:nvPr/>
            </p:nvSpPr>
            <p:spPr bwMode="auto">
              <a:xfrm flipH="1" flipV="1">
                <a:off x="2128" y="2602"/>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39" name="Line 23"/>
              <p:cNvSpPr>
                <a:spLocks noChangeShapeType="1"/>
              </p:cNvSpPr>
              <p:nvPr/>
            </p:nvSpPr>
            <p:spPr bwMode="auto">
              <a:xfrm flipH="1" flipV="1">
                <a:off x="2128" y="2511"/>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40" name="Line 28"/>
              <p:cNvSpPr>
                <a:spLocks noChangeShapeType="1"/>
              </p:cNvSpPr>
              <p:nvPr/>
            </p:nvSpPr>
            <p:spPr bwMode="auto">
              <a:xfrm flipV="1">
                <a:off x="2127" y="2647"/>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41" name="Line 30"/>
              <p:cNvSpPr>
                <a:spLocks noChangeShapeType="1"/>
              </p:cNvSpPr>
              <p:nvPr/>
            </p:nvSpPr>
            <p:spPr bwMode="auto">
              <a:xfrm flipH="1" flipV="1">
                <a:off x="2126" y="2691"/>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80925" name="Text Box 33"/>
            <p:cNvSpPr txBox="1">
              <a:spLocks noChangeArrowheads="1"/>
            </p:cNvSpPr>
            <p:nvPr/>
          </p:nvSpPr>
          <p:spPr bwMode="auto">
            <a:xfrm>
              <a:off x="2064" y="2169"/>
              <a:ext cx="35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12V</a:t>
              </a:r>
            </a:p>
          </p:txBody>
        </p:sp>
        <p:sp>
          <p:nvSpPr>
            <p:cNvPr id="80926" name="Text Box 34"/>
            <p:cNvSpPr txBox="1">
              <a:spLocks noChangeArrowheads="1"/>
            </p:cNvSpPr>
            <p:nvPr/>
          </p:nvSpPr>
          <p:spPr bwMode="auto">
            <a:xfrm>
              <a:off x="2653" y="1752"/>
              <a:ext cx="68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I= 0.1A</a:t>
              </a:r>
            </a:p>
          </p:txBody>
        </p:sp>
        <p:sp>
          <p:nvSpPr>
            <p:cNvPr id="80927" name="Text Box 35"/>
            <p:cNvSpPr txBox="1">
              <a:spLocks noChangeArrowheads="1"/>
            </p:cNvSpPr>
            <p:nvPr/>
          </p:nvSpPr>
          <p:spPr bwMode="auto">
            <a:xfrm>
              <a:off x="3361" y="2171"/>
              <a:ext cx="35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R=?</a:t>
              </a:r>
            </a:p>
          </p:txBody>
        </p:sp>
      </p:grpSp>
      <p:grpSp>
        <p:nvGrpSpPr>
          <p:cNvPr id="80903" name="Group 60"/>
          <p:cNvGrpSpPr>
            <a:grpSpLocks/>
          </p:cNvGrpSpPr>
          <p:nvPr/>
        </p:nvGrpSpPr>
        <p:grpSpPr bwMode="auto">
          <a:xfrm>
            <a:off x="3246438" y="4664075"/>
            <a:ext cx="3168650" cy="1222375"/>
            <a:chOff x="2109" y="2931"/>
            <a:chExt cx="1996" cy="770"/>
          </a:xfrm>
        </p:grpSpPr>
        <p:grpSp>
          <p:nvGrpSpPr>
            <p:cNvPr id="80904" name="Group 40"/>
            <p:cNvGrpSpPr>
              <a:grpSpLocks/>
            </p:cNvGrpSpPr>
            <p:nvPr/>
          </p:nvGrpSpPr>
          <p:grpSpPr bwMode="auto">
            <a:xfrm>
              <a:off x="2322" y="3135"/>
              <a:ext cx="1068" cy="566"/>
              <a:chOff x="1292" y="2251"/>
              <a:chExt cx="881" cy="672"/>
            </a:xfrm>
          </p:grpSpPr>
          <p:grpSp>
            <p:nvGrpSpPr>
              <p:cNvPr id="80908" name="Group 41"/>
              <p:cNvGrpSpPr>
                <a:grpSpLocks/>
              </p:cNvGrpSpPr>
              <p:nvPr/>
            </p:nvGrpSpPr>
            <p:grpSpPr bwMode="auto">
              <a:xfrm>
                <a:off x="1292" y="2568"/>
                <a:ext cx="182" cy="34"/>
                <a:chOff x="1292" y="2568"/>
                <a:chExt cx="182" cy="34"/>
              </a:xfrm>
            </p:grpSpPr>
            <p:sp>
              <p:nvSpPr>
                <p:cNvPr id="80922" name="Line 42"/>
                <p:cNvSpPr>
                  <a:spLocks noChangeShapeType="1"/>
                </p:cNvSpPr>
                <p:nvPr/>
              </p:nvSpPr>
              <p:spPr bwMode="auto">
                <a:xfrm>
                  <a:off x="1292" y="2568"/>
                  <a:ext cx="18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23" name="Line 43"/>
                <p:cNvSpPr>
                  <a:spLocks noChangeShapeType="1"/>
                </p:cNvSpPr>
                <p:nvPr/>
              </p:nvSpPr>
              <p:spPr bwMode="auto">
                <a:xfrm>
                  <a:off x="1334" y="2602"/>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80909" name="Line 44"/>
              <p:cNvSpPr>
                <a:spLocks noChangeShapeType="1"/>
              </p:cNvSpPr>
              <p:nvPr/>
            </p:nvSpPr>
            <p:spPr bwMode="auto">
              <a:xfrm flipV="1">
                <a:off x="1383" y="2251"/>
                <a:ext cx="0" cy="3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0" name="Line 45"/>
              <p:cNvSpPr>
                <a:spLocks noChangeShapeType="1"/>
              </p:cNvSpPr>
              <p:nvPr/>
            </p:nvSpPr>
            <p:spPr bwMode="auto">
              <a:xfrm flipV="1">
                <a:off x="1383" y="2606"/>
                <a:ext cx="0" cy="3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1" name="Line 46"/>
              <p:cNvSpPr>
                <a:spLocks noChangeShapeType="1"/>
              </p:cNvSpPr>
              <p:nvPr/>
            </p:nvSpPr>
            <p:spPr bwMode="auto">
              <a:xfrm>
                <a:off x="1383" y="2923"/>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2" name="Line 47"/>
              <p:cNvSpPr>
                <a:spLocks noChangeShapeType="1"/>
              </p:cNvSpPr>
              <p:nvPr/>
            </p:nvSpPr>
            <p:spPr bwMode="auto">
              <a:xfrm>
                <a:off x="1383" y="2251"/>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3" name="Line 48"/>
              <p:cNvSpPr>
                <a:spLocks noChangeShapeType="1"/>
              </p:cNvSpPr>
              <p:nvPr/>
            </p:nvSpPr>
            <p:spPr bwMode="auto">
              <a:xfrm flipV="1">
                <a:off x="2154" y="2251"/>
                <a:ext cx="0" cy="2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4" name="Line 49"/>
              <p:cNvSpPr>
                <a:spLocks noChangeShapeType="1"/>
              </p:cNvSpPr>
              <p:nvPr/>
            </p:nvSpPr>
            <p:spPr bwMode="auto">
              <a:xfrm flipV="1">
                <a:off x="2152" y="2750"/>
                <a:ext cx="0" cy="1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5" name="Line 50"/>
              <p:cNvSpPr>
                <a:spLocks noChangeShapeType="1"/>
              </p:cNvSpPr>
              <p:nvPr/>
            </p:nvSpPr>
            <p:spPr bwMode="auto">
              <a:xfrm flipV="1">
                <a:off x="2128" y="2478"/>
                <a:ext cx="35" cy="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6" name="Line 51"/>
              <p:cNvSpPr>
                <a:spLocks noChangeShapeType="1"/>
              </p:cNvSpPr>
              <p:nvPr/>
            </p:nvSpPr>
            <p:spPr bwMode="auto">
              <a:xfrm flipV="1">
                <a:off x="2128" y="2557"/>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7" name="Line 52"/>
              <p:cNvSpPr>
                <a:spLocks noChangeShapeType="1"/>
              </p:cNvSpPr>
              <p:nvPr/>
            </p:nvSpPr>
            <p:spPr bwMode="auto">
              <a:xfrm flipV="1">
                <a:off x="2150" y="2735"/>
                <a:ext cx="19" cy="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8" name="Line 53"/>
              <p:cNvSpPr>
                <a:spLocks noChangeShapeType="1"/>
              </p:cNvSpPr>
              <p:nvPr/>
            </p:nvSpPr>
            <p:spPr bwMode="auto">
              <a:xfrm flipH="1" flipV="1">
                <a:off x="2128" y="2602"/>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19" name="Line 54"/>
              <p:cNvSpPr>
                <a:spLocks noChangeShapeType="1"/>
              </p:cNvSpPr>
              <p:nvPr/>
            </p:nvSpPr>
            <p:spPr bwMode="auto">
              <a:xfrm flipH="1" flipV="1">
                <a:off x="2128" y="2511"/>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20" name="Line 55"/>
              <p:cNvSpPr>
                <a:spLocks noChangeShapeType="1"/>
              </p:cNvSpPr>
              <p:nvPr/>
            </p:nvSpPr>
            <p:spPr bwMode="auto">
              <a:xfrm flipV="1">
                <a:off x="2127" y="2647"/>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0921" name="Line 56"/>
              <p:cNvSpPr>
                <a:spLocks noChangeShapeType="1"/>
              </p:cNvSpPr>
              <p:nvPr/>
            </p:nvSpPr>
            <p:spPr bwMode="auto">
              <a:xfrm flipH="1" flipV="1">
                <a:off x="2126" y="2691"/>
                <a:ext cx="45" cy="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80905" name="Text Box 57"/>
            <p:cNvSpPr txBox="1">
              <a:spLocks noChangeArrowheads="1"/>
            </p:cNvSpPr>
            <p:nvPr/>
          </p:nvSpPr>
          <p:spPr bwMode="auto">
            <a:xfrm>
              <a:off x="2109" y="3348"/>
              <a:ext cx="35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10V</a:t>
              </a:r>
            </a:p>
          </p:txBody>
        </p:sp>
        <p:sp>
          <p:nvSpPr>
            <p:cNvPr id="80906" name="Text Box 58"/>
            <p:cNvSpPr txBox="1">
              <a:spLocks noChangeArrowheads="1"/>
            </p:cNvSpPr>
            <p:nvPr/>
          </p:nvSpPr>
          <p:spPr bwMode="auto">
            <a:xfrm>
              <a:off x="2698" y="2931"/>
              <a:ext cx="68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I = ?</a:t>
              </a:r>
            </a:p>
          </p:txBody>
        </p:sp>
        <p:sp>
          <p:nvSpPr>
            <p:cNvPr id="80907" name="Text Box 59"/>
            <p:cNvSpPr txBox="1">
              <a:spLocks noChangeArrowheads="1"/>
            </p:cNvSpPr>
            <p:nvPr/>
          </p:nvSpPr>
          <p:spPr bwMode="auto">
            <a:xfrm>
              <a:off x="3406" y="3350"/>
              <a:ext cx="699"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R=100</a:t>
              </a:r>
            </a:p>
          </p:txBody>
        </p:sp>
      </p:gr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684213" y="892175"/>
            <a:ext cx="20335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1-8. Định luật Kirchhoff</a:t>
            </a:r>
            <a:endParaRPr lang="ko-KR" altLang="en-US" sz="1400" b="1">
              <a:latin typeface="Times New Roman" pitchFamily="18" charset="0"/>
              <a:cs typeface="Times New Roman" pitchFamily="18" charset="0"/>
            </a:endParaRPr>
          </a:p>
        </p:txBody>
      </p:sp>
      <p:sp>
        <p:nvSpPr>
          <p:cNvPr id="81923" name="Text Box 4"/>
          <p:cNvSpPr txBox="1">
            <a:spLocks noChangeArrowheads="1"/>
          </p:cNvSpPr>
          <p:nvPr/>
        </p:nvSpPr>
        <p:spPr bwMode="auto">
          <a:xfrm>
            <a:off x="22225" y="38100"/>
            <a:ext cx="30607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2. Linh kiện điện tử thụ động</a:t>
            </a:r>
            <a:endParaRPr lang="ko-KR" altLang="en-US" sz="1800" b="1">
              <a:latin typeface="Times New Roman" pitchFamily="18" charset="0"/>
              <a:cs typeface="Times New Roman" pitchFamily="18" charset="0"/>
            </a:endParaRPr>
          </a:p>
        </p:txBody>
      </p:sp>
      <p:sp>
        <p:nvSpPr>
          <p:cNvPr id="81924" name="Text Box 5"/>
          <p:cNvSpPr txBox="1">
            <a:spLocks noChangeArrowheads="1"/>
          </p:cNvSpPr>
          <p:nvPr/>
        </p:nvSpPr>
        <p:spPr bwMode="auto">
          <a:xfrm>
            <a:off x="7839075" y="68263"/>
            <a:ext cx="11255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latinLnBrk="1" hangingPunct="1">
              <a:lnSpc>
                <a:spcPct val="100000"/>
              </a:lnSpc>
            </a:pPr>
            <a:r>
              <a:rPr lang="en-US" altLang="ko-KR" sz="1600" b="1">
                <a:latin typeface="Times New Roman" pitchFamily="18" charset="0"/>
                <a:cs typeface="Times New Roman" pitchFamily="18" charset="0"/>
              </a:rPr>
              <a:t>1. Điện trở</a:t>
            </a:r>
            <a:endParaRPr lang="ko-KR" altLang="en-US" sz="1600" b="1">
              <a:latin typeface="Times New Roman" pitchFamily="18" charset="0"/>
              <a:cs typeface="Times New Roman" pitchFamily="18" charset="0"/>
            </a:endParaRPr>
          </a:p>
        </p:txBody>
      </p:sp>
      <p:sp>
        <p:nvSpPr>
          <p:cNvPr id="81925"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Với định luật Kirchhoff, t</a:t>
            </a:r>
            <a:r>
              <a:rPr lang="vi-VN" altLang="ko-KR">
                <a:latin typeface="Times New Roman" pitchFamily="18" charset="0"/>
                <a:cs typeface="Times New Roman" pitchFamily="18" charset="0"/>
              </a:rPr>
              <a:t>ại bất kỳ nút (ngã rẽ) nào trong một mạch điện, thì tổng cường độ dòng điện chạy đến nút phải bằng tổng cường độ dòng điện từ nút chạy đi</a:t>
            </a:r>
            <a:r>
              <a:rPr lang="en-US" altLang="ko-KR">
                <a:latin typeface="Times New Roman" pitchFamily="18" charset="0"/>
                <a:cs typeface="Times New Roman" pitchFamily="18" charset="0"/>
              </a:rPr>
              <a:t>. Tại một nút tiếp xúc với nhiều hơn một điện trở nhưng cuối cùng khi dòng điện chạy ra ngoài thì phải có tổng bằng cường độ dòng điện chạy đến nút.</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                                                          I</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 I1 + I2</a:t>
            </a:r>
          </a:p>
          <a:p>
            <a:pPr eaLnBrk="1" hangingPunct="1"/>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                                  </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en-US" altLang="ko-KR">
              <a:latin typeface="Times New Roman" pitchFamily="18" charset="0"/>
              <a:cs typeface="Times New Roman" pitchFamily="18" charset="0"/>
            </a:endParaRPr>
          </a:p>
        </p:txBody>
      </p:sp>
      <p:pic>
        <p:nvPicPr>
          <p:cNvPr id="3297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1600" y="2708275"/>
            <a:ext cx="3314700" cy="287655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sp>
        <p:nvSpPr>
          <p:cNvPr id="81927"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9D6A0C6-CA78-4649-A473-E711D7DD1EB6}" type="slidenum">
              <a:rPr lang="en-US" altLang="ko-KR" sz="1400" smtClean="0">
                <a:latin typeface="Times New Roman" pitchFamily="18" charset="0"/>
                <a:cs typeface="Times New Roman" pitchFamily="18" charset="0"/>
              </a:rPr>
              <a:pPr eaLnBrk="1" hangingPunct="1"/>
              <a:t>75</a:t>
            </a:fld>
            <a:endParaRPr lang="en-US" altLang="ko-KR" sz="1400" smtClean="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32E3C35-D70D-41A0-8537-83D6A893B351}" type="slidenum">
              <a:rPr lang="en-US" altLang="ko-KR" sz="1400" smtClean="0">
                <a:latin typeface="Times New Roman" pitchFamily="18" charset="0"/>
                <a:cs typeface="Times New Roman" pitchFamily="18" charset="0"/>
              </a:rPr>
              <a:pPr eaLnBrk="1" hangingPunct="1"/>
              <a:t>76</a:t>
            </a:fld>
            <a:endParaRPr lang="en-US" altLang="ko-KR" sz="1400" smtClean="0">
              <a:latin typeface="Times New Roman" pitchFamily="18" charset="0"/>
              <a:cs typeface="Times New Roman" pitchFamily="18" charset="0"/>
            </a:endParaRPr>
          </a:p>
        </p:txBody>
      </p:sp>
      <p:sp>
        <p:nvSpPr>
          <p:cNvPr id="82947" name="Text Box 2"/>
          <p:cNvSpPr txBox="1">
            <a:spLocks noChangeArrowheads="1"/>
          </p:cNvSpPr>
          <p:nvPr/>
        </p:nvSpPr>
        <p:spPr bwMode="auto">
          <a:xfrm>
            <a:off x="684213" y="892175"/>
            <a:ext cx="22447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2-1. Chức năng của tụ điện</a:t>
            </a:r>
            <a:endParaRPr lang="ko-KR" altLang="en-US" sz="1400" b="1">
              <a:latin typeface="Times New Roman" pitchFamily="18" charset="0"/>
              <a:cs typeface="Times New Roman" pitchFamily="18" charset="0"/>
            </a:endParaRPr>
          </a:p>
        </p:txBody>
      </p:sp>
      <p:sp>
        <p:nvSpPr>
          <p:cNvPr id="82948" name="Text Box 3"/>
          <p:cNvSpPr txBox="1">
            <a:spLocks noChangeArrowheads="1"/>
          </p:cNvSpPr>
          <p:nvPr/>
        </p:nvSpPr>
        <p:spPr bwMode="auto">
          <a:xfrm>
            <a:off x="352425" y="501650"/>
            <a:ext cx="21986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82949"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2950" name="Text Box 5"/>
          <p:cNvSpPr txBox="1">
            <a:spLocks noChangeArrowheads="1"/>
          </p:cNvSpPr>
          <p:nvPr/>
        </p:nvSpPr>
        <p:spPr bwMode="auto">
          <a:xfrm>
            <a:off x="6837363" y="68263"/>
            <a:ext cx="219868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a:p>
            <a:pPr algn="r" eaLnBrk="1" hangingPunct="1"/>
            <a:r>
              <a:rPr lang="en-US" altLang="ko-KR" sz="1600" b="1">
                <a:latin typeface="Times New Roman" pitchFamily="18" charset="0"/>
                <a:cs typeface="Times New Roman" pitchFamily="18" charset="0"/>
              </a:rPr>
              <a:t> </a:t>
            </a:r>
            <a:endParaRPr lang="ko-KR" altLang="en-US" sz="1600" b="1">
              <a:latin typeface="Times New Roman" pitchFamily="18" charset="0"/>
              <a:cs typeface="Times New Roman" pitchFamily="18" charset="0"/>
            </a:endParaRPr>
          </a:p>
        </p:txBody>
      </p:sp>
      <p:sp>
        <p:nvSpPr>
          <p:cNvPr id="82951"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Chức năng của tụ điện được chia thành hai chức năng chính.  Một là </a:t>
            </a:r>
            <a:r>
              <a:rPr lang="en-US" altLang="ko-KR" b="1">
                <a:latin typeface="Times New Roman" pitchFamily="18" charset="0"/>
                <a:cs typeface="Times New Roman" pitchFamily="18" charset="0"/>
              </a:rPr>
              <a:t>chức năng của một bình ắc quy</a:t>
            </a:r>
            <a:r>
              <a:rPr lang="en-US" altLang="ko-KR">
                <a:latin typeface="Times New Roman" pitchFamily="18" charset="0"/>
                <a:cs typeface="Times New Roman" pitchFamily="18" charset="0"/>
              </a:rPr>
              <a:t>, nơi lưu trữ và phát ra dòng điện. Và chức năng thứ hai là </a:t>
            </a:r>
            <a:r>
              <a:rPr lang="en-US" altLang="ko-KR" b="1">
                <a:latin typeface="Times New Roman" pitchFamily="18" charset="0"/>
                <a:cs typeface="Times New Roman" pitchFamily="18" charset="0"/>
              </a:rPr>
              <a:t>chức năng sử dụng tính chất không lưu thông dòng điện một chiều</a:t>
            </a:r>
            <a:r>
              <a:rPr lang="en-US" altLang="ko-KR">
                <a:latin typeface="Times New Roman" pitchFamily="18" charset="0"/>
                <a:cs typeface="Times New Roman" pitchFamily="18" charset="0"/>
              </a:rPr>
              <a:t>. Ở mạch có sử dụng chức năng của bình ắc quy, có mạch làm trơn(mạch nắn thẳng)của mạch nguồn, mạch Back-up của Micro Computer… và mạch Timer có sử dụng thời gian cần cho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việc nạp và phóng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của tụ điện...  Hơn nữa ở mạch có sử dụng tính chất ngắt dòng điện một chiều có Filter chỉ lấy ra hay chỉ loại bỏ thành phần tần số đặc biệt và bắt buộc cần cho mạch phải cân nhắc đặc tính của tần số.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 Tên gốc của tụ điện</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Ở Mỹ, người ta gọi Capacitor bắt nguồn từ</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Điện dung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capacity</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Ở Nhật Bản, người ta dịch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tụ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với ý nghĩa là việc tích tụ dòng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nó được gọi là</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tụ điện(=condenser)</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Do đó Nhật Bản gọi tụ điện là Condenser còn Mỹ gọi tụ điện là Capacitor.</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C5BC834-3C8C-4282-B7F7-10F5F6D152F3}" type="slidenum">
              <a:rPr lang="en-US" altLang="ko-KR" sz="1400" smtClean="0">
                <a:latin typeface="Times New Roman" pitchFamily="18" charset="0"/>
                <a:cs typeface="Times New Roman" pitchFamily="18" charset="0"/>
              </a:rPr>
              <a:pPr eaLnBrk="1" hangingPunct="1"/>
              <a:t>77</a:t>
            </a:fld>
            <a:endParaRPr lang="en-US" altLang="ko-KR" sz="1400" smtClean="0">
              <a:latin typeface="Times New Roman" pitchFamily="18" charset="0"/>
              <a:cs typeface="Times New Roman" pitchFamily="18" charset="0"/>
            </a:endParaRPr>
          </a:p>
        </p:txBody>
      </p:sp>
      <p:sp>
        <p:nvSpPr>
          <p:cNvPr id="83971"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3972" name="Rectangle 3"/>
          <p:cNvSpPr>
            <a:spLocks noChangeArrowheads="1"/>
          </p:cNvSpPr>
          <p:nvPr/>
        </p:nvSpPr>
        <p:spPr bwMode="auto">
          <a:xfrm>
            <a:off x="827088" y="836613"/>
            <a:ext cx="2665412"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40000"/>
              </a:lnSpc>
            </a:pPr>
            <a:endParaRPr lang="en-US" altLang="ko-KR" b="1">
              <a:latin typeface="Times New Roman" pitchFamily="18" charset="0"/>
              <a:cs typeface="Times New Roman" pitchFamily="18" charset="0"/>
            </a:endParaRPr>
          </a:p>
          <a:p>
            <a:pPr eaLnBrk="1" hangingPunct="1">
              <a:lnSpc>
                <a:spcPct val="140000"/>
              </a:lnSpc>
            </a:pPr>
            <a:endParaRPr lang="en-US" altLang="ko-KR" b="1">
              <a:latin typeface="Times New Roman" pitchFamily="18" charset="0"/>
              <a:cs typeface="Times New Roman" pitchFamily="18" charset="0"/>
            </a:endParaRPr>
          </a:p>
          <a:p>
            <a:pPr eaLnBrk="1" hangingPunct="1">
              <a:lnSpc>
                <a:spcPct val="140000"/>
              </a:lnSpc>
            </a:pPr>
            <a:r>
              <a:rPr lang="en-US" altLang="ko-KR">
                <a:latin typeface="Times New Roman" pitchFamily="18" charset="0"/>
                <a:cs typeface="Times New Roman" pitchFamily="18" charset="0"/>
              </a:rPr>
              <a:t>Tụ điện có tác dụng tích trữ điện tại dòng điện một chiều nhưng đảm nhận chức năng là</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điện trở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có giá trị điện trở thay đổi dựa vào tần số ở dòng điện xoay chiều. Người ta gọi lượng được tích trữ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điện dung của tụ</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hoặc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điện dung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đơn vị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F(fara)</a:t>
            </a:r>
            <a:r>
              <a:rPr lang="en-US" altLang="ko-KR">
                <a:latin typeface="Times New Roman" pitchFamily="18" charset="0"/>
                <a:cs typeface="Times New Roman" pitchFamily="18" charset="0"/>
              </a:rPr>
              <a:t>. Tuy nhiên,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1F là một công suất vô cùng lớn nên người ta không sử dụng công suất lớn như vậy ở mạch điện tử. Bình thường hay sử dụng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pF(Pico(10</a:t>
            </a:r>
            <a:r>
              <a:rPr lang="en-US" altLang="ko-KR" baseline="30000">
                <a:latin typeface="Times New Roman" pitchFamily="18" charset="0"/>
                <a:cs typeface="Times New Roman" pitchFamily="18" charset="0"/>
              </a:rPr>
              <a:t>-12</a:t>
            </a:r>
            <a:r>
              <a:rPr lang="en-US" altLang="ko-KR">
                <a:latin typeface="Times New Roman" pitchFamily="18" charset="0"/>
                <a:cs typeface="Times New Roman" pitchFamily="18" charset="0"/>
              </a:rPr>
              <a:t>)fara) hoặc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μF(micro(10</a:t>
            </a:r>
            <a:r>
              <a:rPr lang="en-US" altLang="ko-KR" baseline="30000">
                <a:latin typeface="Times New Roman" pitchFamily="18" charset="0"/>
                <a:cs typeface="Times New Roman" pitchFamily="18" charset="0"/>
              </a:rPr>
              <a:t>-6</a:t>
            </a:r>
            <a:r>
              <a:rPr lang="en-US" altLang="ko-KR">
                <a:latin typeface="Times New Roman" pitchFamily="18" charset="0"/>
                <a:cs typeface="Times New Roman" pitchFamily="18" charset="0"/>
              </a:rPr>
              <a:t>)fara). Hơn nữa người ta gọi điện áp lớn nhất có thể ở đầu vào giữa các điện cực của tụ điện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điện áp định mức(điện áp chịu đựng)</a:t>
            </a:r>
            <a:r>
              <a:rPr lang="ko-KR" altLang="en-US">
                <a:latin typeface="Times New Roman" pitchFamily="18" charset="0"/>
                <a:cs typeface="Times New Roman" pitchFamily="18" charset="0"/>
              </a:rPr>
              <a:t>」，</a:t>
            </a:r>
            <a:r>
              <a:rPr lang="en-US" altLang="ko-KR" u="sng">
                <a:latin typeface="Times New Roman" pitchFamily="18" charset="0"/>
                <a:cs typeface="Times New Roman" pitchFamily="18" charset="0"/>
              </a:rPr>
              <a:t>điều này có nghĩa, nếu tạo một điện áp lớn hơn mức trên thì tụ điện có thể bị hỏng.</a:t>
            </a:r>
            <a:r>
              <a:rPr lang="en-US" altLang="ko-KR">
                <a:latin typeface="Times New Roman" pitchFamily="18" charset="0"/>
                <a:cs typeface="Times New Roman" pitchFamily="18" charset="0"/>
              </a:rPr>
              <a:t> </a:t>
            </a:r>
          </a:p>
          <a:p>
            <a:pPr eaLnBrk="1" hangingPunct="1">
              <a:lnSpc>
                <a:spcPct val="140000"/>
              </a:lnSpc>
            </a:pPr>
            <a:endParaRPr lang="en-US" altLang="ko-KR">
              <a:latin typeface="Times New Roman" pitchFamily="18" charset="0"/>
              <a:cs typeface="Times New Roman" pitchFamily="18" charset="0"/>
            </a:endParaRPr>
          </a:p>
        </p:txBody>
      </p:sp>
      <p:sp>
        <p:nvSpPr>
          <p:cNvPr id="83973"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pic>
        <p:nvPicPr>
          <p:cNvPr id="839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0" y="914400"/>
            <a:ext cx="5364163"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Text Box 7"/>
          <p:cNvSpPr txBox="1">
            <a:spLocks noChangeArrowheads="1"/>
          </p:cNvSpPr>
          <p:nvPr/>
        </p:nvSpPr>
        <p:spPr bwMode="auto">
          <a:xfrm>
            <a:off x="684213" y="892175"/>
            <a:ext cx="32559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2-2. Mục đích sử dụng chính của tụ điện</a:t>
            </a:r>
            <a:endParaRPr lang="ko-KR" altLang="en-US" sz="1400" b="1">
              <a:latin typeface="Times New Roman" pitchFamily="18" charset="0"/>
              <a:cs typeface="Times New Roman" pitchFamily="18" charset="0"/>
            </a:endParaRPr>
          </a:p>
        </p:txBody>
      </p:sp>
      <p:sp>
        <p:nvSpPr>
          <p:cNvPr id="83976" name="직사각형 1"/>
          <p:cNvSpPr>
            <a:spLocks noChangeArrowheads="1"/>
          </p:cNvSpPr>
          <p:nvPr/>
        </p:nvSpPr>
        <p:spPr bwMode="auto">
          <a:xfrm>
            <a:off x="3492500" y="4581525"/>
            <a:ext cx="129540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Trong nhiều tín hiệu</a:t>
            </a:r>
            <a:endParaRPr lang="ko-KR" altLang="en-US" sz="1000">
              <a:latin typeface="Times New Roman" pitchFamily="18" charset="0"/>
              <a:cs typeface="Times New Roman" pitchFamily="18" charset="0"/>
            </a:endParaRPr>
          </a:p>
        </p:txBody>
      </p:sp>
      <p:sp>
        <p:nvSpPr>
          <p:cNvPr id="83977" name="직사각형 8"/>
          <p:cNvSpPr>
            <a:spLocks noChangeArrowheads="1"/>
          </p:cNvSpPr>
          <p:nvPr/>
        </p:nvSpPr>
        <p:spPr bwMode="auto">
          <a:xfrm>
            <a:off x="7524750" y="4581525"/>
            <a:ext cx="1503363"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Chỉ lấy ra tín hiệu tần số</a:t>
            </a:r>
            <a:endParaRPr lang="ko-KR" altLang="en-US" sz="1000">
              <a:latin typeface="Times New Roman" pitchFamily="18" charset="0"/>
              <a:cs typeface="Times New Roman" pitchFamily="18" charset="0"/>
            </a:endParaRPr>
          </a:p>
        </p:txBody>
      </p:sp>
      <p:sp>
        <p:nvSpPr>
          <p:cNvPr id="83978" name="직사각형 9"/>
          <p:cNvSpPr>
            <a:spLocks noChangeArrowheads="1"/>
          </p:cNvSpPr>
          <p:nvPr/>
        </p:nvSpPr>
        <p:spPr bwMode="auto">
          <a:xfrm>
            <a:off x="5292725" y="4581525"/>
            <a:ext cx="1655763"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Tạo thành cùng với điện trở</a:t>
            </a:r>
            <a:endParaRPr lang="ko-KR" altLang="en-US" sz="1000">
              <a:latin typeface="Times New Roman" pitchFamily="18" charset="0"/>
              <a:cs typeface="Times New Roman" pitchFamily="18" charset="0"/>
            </a:endParaRPr>
          </a:p>
        </p:txBody>
      </p:sp>
      <p:sp>
        <p:nvSpPr>
          <p:cNvPr id="83979" name="직사각형 10"/>
          <p:cNvSpPr>
            <a:spLocks noChangeArrowheads="1"/>
          </p:cNvSpPr>
          <p:nvPr/>
        </p:nvSpPr>
        <p:spPr bwMode="auto">
          <a:xfrm>
            <a:off x="7820025" y="1773238"/>
            <a:ext cx="1144588"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Tạo dòng điện một chiều</a:t>
            </a:r>
            <a:endParaRPr lang="ko-KR" altLang="en-US" sz="1000">
              <a:latin typeface="Times New Roman" pitchFamily="18" charset="0"/>
              <a:cs typeface="Times New Roman" pitchFamily="18" charset="0"/>
            </a:endParaRPr>
          </a:p>
        </p:txBody>
      </p:sp>
      <p:sp>
        <p:nvSpPr>
          <p:cNvPr id="83980" name="직사각형 11"/>
          <p:cNvSpPr>
            <a:spLocks noChangeArrowheads="1"/>
          </p:cNvSpPr>
          <p:nvPr/>
        </p:nvSpPr>
        <p:spPr bwMode="auto">
          <a:xfrm>
            <a:off x="3422650" y="1844675"/>
            <a:ext cx="1331913"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Dòng điện xoay chiều</a:t>
            </a:r>
            <a:endParaRPr lang="ko-KR" altLang="en-US" sz="1000">
              <a:latin typeface="Times New Roman" pitchFamily="18" charset="0"/>
              <a:cs typeface="Times New Roman" pitchFamily="18" charset="0"/>
            </a:endParaRPr>
          </a:p>
        </p:txBody>
      </p:sp>
      <p:sp>
        <p:nvSpPr>
          <p:cNvPr id="83981" name="직사각형 12"/>
          <p:cNvSpPr>
            <a:spLocks noChangeArrowheads="1"/>
          </p:cNvSpPr>
          <p:nvPr/>
        </p:nvSpPr>
        <p:spPr bwMode="auto">
          <a:xfrm>
            <a:off x="5148263" y="1844675"/>
            <a:ext cx="208915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Tạo thành Diode và mạch chỉnh lưu</a:t>
            </a:r>
            <a:endParaRPr lang="ko-KR" altLang="en-US" sz="1000">
              <a:latin typeface="Times New Roman" pitchFamily="18" charset="0"/>
              <a:cs typeface="Times New Roman" pitchFamily="18" charset="0"/>
            </a:endParaRPr>
          </a:p>
        </p:txBody>
      </p:sp>
      <p:sp>
        <p:nvSpPr>
          <p:cNvPr id="83982" name="직사각형 13"/>
          <p:cNvSpPr>
            <a:spLocks noChangeArrowheads="1"/>
          </p:cNvSpPr>
          <p:nvPr/>
        </p:nvSpPr>
        <p:spPr bwMode="auto">
          <a:xfrm>
            <a:off x="3492500" y="6021388"/>
            <a:ext cx="12954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Trong nhiều tín hiệu</a:t>
            </a:r>
            <a:endParaRPr lang="ko-KR" altLang="en-US" sz="1000">
              <a:latin typeface="Times New Roman" pitchFamily="18" charset="0"/>
              <a:cs typeface="Times New Roman" pitchFamily="18" charset="0"/>
            </a:endParaRPr>
          </a:p>
        </p:txBody>
      </p:sp>
      <p:sp>
        <p:nvSpPr>
          <p:cNvPr id="83983" name="직사각형 14"/>
          <p:cNvSpPr>
            <a:spLocks noChangeArrowheads="1"/>
          </p:cNvSpPr>
          <p:nvPr/>
        </p:nvSpPr>
        <p:spPr bwMode="auto">
          <a:xfrm>
            <a:off x="5364163" y="6061075"/>
            <a:ext cx="165735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Tạo thành cùng với điện trở</a:t>
            </a:r>
            <a:endParaRPr lang="ko-KR" altLang="en-US" sz="1000">
              <a:latin typeface="Times New Roman" pitchFamily="18" charset="0"/>
              <a:cs typeface="Times New Roman" pitchFamily="18" charset="0"/>
            </a:endParaRPr>
          </a:p>
        </p:txBody>
      </p:sp>
      <p:sp>
        <p:nvSpPr>
          <p:cNvPr id="83984" name="직사각형 15"/>
          <p:cNvSpPr>
            <a:spLocks noChangeArrowheads="1"/>
          </p:cNvSpPr>
          <p:nvPr/>
        </p:nvSpPr>
        <p:spPr bwMode="auto">
          <a:xfrm>
            <a:off x="7451725" y="6021388"/>
            <a:ext cx="1657350"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Chỉ lấy ra tín hiệu tần số cao</a:t>
            </a:r>
            <a:endParaRPr lang="ko-KR" altLang="en-US" sz="1000">
              <a:latin typeface="Times New Roman" pitchFamily="18" charset="0"/>
              <a:cs typeface="Times New Roman" pitchFamily="18" charset="0"/>
            </a:endParaRPr>
          </a:p>
        </p:txBody>
      </p:sp>
      <p:sp>
        <p:nvSpPr>
          <p:cNvPr id="83985" name="직사각형 16"/>
          <p:cNvSpPr>
            <a:spLocks noChangeArrowheads="1"/>
          </p:cNvSpPr>
          <p:nvPr/>
        </p:nvSpPr>
        <p:spPr bwMode="auto">
          <a:xfrm>
            <a:off x="3779838" y="3213100"/>
            <a:ext cx="49530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Pulse</a:t>
            </a:r>
            <a:endParaRPr lang="ko-KR" altLang="en-US" sz="1000">
              <a:latin typeface="Times New Roman" pitchFamily="18" charset="0"/>
              <a:cs typeface="Times New Roman" pitchFamily="18" charset="0"/>
            </a:endParaRPr>
          </a:p>
        </p:txBody>
      </p:sp>
      <p:sp>
        <p:nvSpPr>
          <p:cNvPr id="83986" name="직사각형 17"/>
          <p:cNvSpPr>
            <a:spLocks noChangeArrowheads="1"/>
          </p:cNvSpPr>
          <p:nvPr/>
        </p:nvSpPr>
        <p:spPr bwMode="auto">
          <a:xfrm>
            <a:off x="5219700" y="3190875"/>
            <a:ext cx="194468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Sử dụng thời gian nạp tụ điện</a:t>
            </a:r>
            <a:endParaRPr lang="ko-KR" altLang="en-US" sz="1000">
              <a:latin typeface="Times New Roman" pitchFamily="18" charset="0"/>
              <a:cs typeface="Times New Roman" pitchFamily="18" charset="0"/>
            </a:endParaRPr>
          </a:p>
        </p:txBody>
      </p:sp>
      <p:sp>
        <p:nvSpPr>
          <p:cNvPr id="83987" name="직사각형 19"/>
          <p:cNvSpPr>
            <a:spLocks noChangeArrowheads="1"/>
          </p:cNvSpPr>
          <p:nvPr/>
        </p:nvSpPr>
        <p:spPr bwMode="auto">
          <a:xfrm>
            <a:off x="7650163" y="3213100"/>
            <a:ext cx="1503362"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Tạo sự trì hoãn thời gian</a:t>
            </a:r>
            <a:endParaRPr lang="ko-KR" altLang="en-US" sz="10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6F70936-8435-4753-A37E-1E56519B5F68}" type="slidenum">
              <a:rPr lang="en-US" altLang="ko-KR" sz="1400" smtClean="0">
                <a:latin typeface="Times New Roman" pitchFamily="18" charset="0"/>
                <a:cs typeface="Times New Roman" pitchFamily="18" charset="0"/>
              </a:rPr>
              <a:pPr eaLnBrk="1" hangingPunct="1"/>
              <a:t>78</a:t>
            </a:fld>
            <a:endParaRPr lang="en-US" altLang="ko-KR" sz="1400" smtClean="0">
              <a:latin typeface="Times New Roman" pitchFamily="18" charset="0"/>
              <a:cs typeface="Times New Roman" pitchFamily="18" charset="0"/>
            </a:endParaRPr>
          </a:p>
        </p:txBody>
      </p:sp>
      <p:sp>
        <p:nvSpPr>
          <p:cNvPr id="84995"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499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Điện dung của tụ</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(Electrostatic capacity)</a:t>
            </a:r>
            <a:r>
              <a:rPr lang="en-US" altLang="ko-KR">
                <a:latin typeface="Times New Roman" pitchFamily="18" charset="0"/>
                <a:cs typeface="Times New Roman" pitchFamily="18" charset="0"/>
              </a:rPr>
              <a:t> </a:t>
            </a:r>
          </a:p>
          <a:p>
            <a:pPr eaLnBrk="1" hangingPunct="1"/>
            <a:endParaRPr lang="en-US" altLang="ko-KR"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Tụ điện là việc sử dụng hiện tượng tích điện trên phần giữa của hai tấm kim 			                loại phẳng đặt song song với nhau bằng cách tạo điện áp lên hai tấm kim loại 			                như hình vẽ bên.</a:t>
            </a:r>
          </a:p>
          <a:p>
            <a:pPr eaLnBrk="1" hangingPunct="1"/>
            <a:r>
              <a:rPr lang="en-US" altLang="ko-KR">
                <a:latin typeface="Times New Roman" pitchFamily="18" charset="0"/>
                <a:cs typeface="Times New Roman" pitchFamily="18" charset="0"/>
              </a:rPr>
              <a:t>                                                                </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Điện dung của tụ</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là chỉ số biểu hiện lượng năng lượng điện có thể tích trữ 			                 ở nơi đó. Điện dung của tụ tỉ lệ thuận với diện tích của tấm kim loại và tỉ lệ 			                 nghịch với khoảng cách của hai tấm kim loại.</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Hằng số điện môi</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(Dielectric Constant ) </a:t>
            </a:r>
          </a:p>
          <a:p>
            <a:pPr eaLnBrk="1" hangingPunct="1"/>
            <a:r>
              <a:rPr lang="en-US" altLang="ko-KR">
                <a:latin typeface="Times New Roman" pitchFamily="18" charset="0"/>
                <a:cs typeface="Times New Roman" pitchFamily="18" charset="0"/>
              </a:rPr>
              <a:t>Thông thường phần giữa hai tấm điện cực của tụ điện được ngăn cách bằng các phương tiện như chất điện phân, sứ, tấm nhựa…Theo đó tụ điện được phân thành tụ điện hóa, tụ điện sứ... Những cái đó là yếu tố quyết định điện dung của tụ điện cùng với diện tích của điện cực giống nhau và độ dày của lớp cách điện giống nhau, theo đó hệ số cố định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gọi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hằng số điện môi</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a:t>
            </a:r>
            <a:r>
              <a:rPr lang="en-US" altLang="ko-KR" sz="900">
                <a:latin typeface="Times New Roman" pitchFamily="18" charset="0"/>
                <a:cs typeface="Times New Roman" pitchFamily="18" charset="0"/>
              </a:rPr>
              <a:t/>
            </a:r>
            <a:br>
              <a:rPr lang="en-US" altLang="ko-KR" sz="900">
                <a:latin typeface="Times New Roman" pitchFamily="18" charset="0"/>
                <a:cs typeface="Times New Roman" pitchFamily="18" charset="0"/>
              </a:rPr>
            </a:br>
            <a:endParaRPr lang="en-US" altLang="ko-KR" sz="5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C</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Điện dung của tụ</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hệ số cố định (hằng số điện môi)</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S</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Diện tích của điện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Khoảng cách giữa hai bản điện cực(độ dày của lớp 					             cách điện)</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F</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Fara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(đơn vị điện dung)</a:t>
            </a:r>
          </a:p>
          <a:p>
            <a:pPr eaLnBrk="1" hangingPunct="1"/>
            <a:endParaRPr lang="en-US" altLang="ko-KR" sz="500">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(3) Tang số hao tán điện môi</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(tan δ)   (Dielectric loss tangent) </a:t>
            </a:r>
          </a:p>
          <a:p>
            <a:pPr eaLnBrk="1" hangingPunct="1"/>
            <a:r>
              <a:rPr lang="en-US" altLang="ko-KR">
                <a:latin typeface="Times New Roman" pitchFamily="18" charset="0"/>
                <a:cs typeface="Times New Roman" pitchFamily="18" charset="0"/>
              </a:rPr>
              <a:t>Điện dung của tụ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có thể tìm theo công thức đã nói ở trên nhưng trên thực tế nó phát sinh tổn hao do độ phân cực điện và hằng số tự cảm của dây dẫn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Người ta gọi việc làm xuất hiện tỉ lệ tổn hao này là</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tang số hao tán điện môi</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được thể thiện bằng tỉ lệ phần trăm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biểu hiện tỉ lệ tổn hao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Q.</a:t>
            </a:r>
          </a:p>
        </p:txBody>
      </p:sp>
      <p:sp>
        <p:nvSpPr>
          <p:cNvPr id="84997"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pic>
        <p:nvPicPr>
          <p:cNvPr id="8499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8363" y="6021388"/>
            <a:ext cx="1000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481513"/>
            <a:ext cx="14478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557338"/>
            <a:ext cx="271462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1" name="Text Box 11"/>
          <p:cNvSpPr txBox="1">
            <a:spLocks noChangeArrowheads="1"/>
          </p:cNvSpPr>
          <p:nvPr/>
        </p:nvSpPr>
        <p:spPr bwMode="auto">
          <a:xfrm>
            <a:off x="684213" y="892175"/>
            <a:ext cx="30432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2-3. Thuật ngữ và ký hiệu của tụ điện</a:t>
            </a:r>
            <a:endParaRPr lang="ko-KR" altLang="en-US" sz="14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302A23F-1786-4AA4-BF77-1D4F33FAD0DE}" type="slidenum">
              <a:rPr lang="en-US" altLang="ko-KR" sz="1400" smtClean="0">
                <a:latin typeface="Times New Roman" pitchFamily="18" charset="0"/>
                <a:cs typeface="Times New Roman" pitchFamily="18" charset="0"/>
              </a:rPr>
              <a:pPr eaLnBrk="1" hangingPunct="1"/>
              <a:t>79</a:t>
            </a:fld>
            <a:endParaRPr lang="en-US" altLang="ko-KR" sz="1400" smtClean="0">
              <a:latin typeface="Times New Roman" pitchFamily="18" charset="0"/>
              <a:cs typeface="Times New Roman" pitchFamily="18" charset="0"/>
            </a:endParaRPr>
          </a:p>
        </p:txBody>
      </p:sp>
      <p:sp>
        <p:nvSpPr>
          <p:cNvPr id="86019"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602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Điện trở cách điện(IR)    (Insulation resistance) </a:t>
            </a:r>
          </a:p>
          <a:p>
            <a:pPr eaLnBrk="1" hangingPunct="1"/>
            <a:r>
              <a:rPr lang="en-US" altLang="ko-KR">
                <a:latin typeface="Times New Roman" pitchFamily="18" charset="0"/>
                <a:cs typeface="Times New Roman" pitchFamily="18" charset="0"/>
              </a:rPr>
              <a:t>Điện cực của tụ điện bị phân tách lẫn nhau nên theo lý thuyết giá trị điện trở  giữa các điện cực là vô cùng nhiều và trên thực tế có rò rỉ nhẹ nên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tồn tại điện trở hữu hạn ở giữa các điện cực. Người ta gọi giá trị điện trở này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điện trở cách điện</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và thông thường được thể hiện theo đơn vị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MΩ. </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(5) Kí hiệu trên sơ đồ mạch</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Có nhiều loại tụ điện nhưng khi biểu hiện trên sơ đồ mạch thì người ta chủ yếu sử dụng 3 loại chính như sau</a:t>
            </a:r>
            <a:r>
              <a:rPr lang="ko-KR" altLang="en-US">
                <a:latin typeface="Times New Roman" pitchFamily="18" charset="0"/>
                <a:cs typeface="Times New Roman" pitchFamily="18" charset="0"/>
              </a:rPr>
              <a:t>．</a:t>
            </a:r>
          </a:p>
          <a:p>
            <a:pPr eaLnBrk="1" hangingPunct="1"/>
            <a:endParaRPr lang="en-US" altLang="ko-KR">
              <a:latin typeface="Times New Roman" pitchFamily="18" charset="0"/>
              <a:cs typeface="Times New Roman" pitchFamily="18" charset="0"/>
            </a:endParaRPr>
          </a:p>
        </p:txBody>
      </p:sp>
      <p:sp>
        <p:nvSpPr>
          <p:cNvPr id="86021"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86022" name="Rectangle 5"/>
          <p:cNvSpPr>
            <a:spLocks noChangeArrowheads="1"/>
          </p:cNvSpPr>
          <p:nvPr/>
        </p:nvSpPr>
        <p:spPr bwMode="auto">
          <a:xfrm>
            <a:off x="993775" y="2924175"/>
            <a:ext cx="1733550" cy="3810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Kí hiệu sơ đồ mạch điện</a:t>
            </a:r>
            <a:endParaRPr lang="ko-KR" altLang="en-US">
              <a:latin typeface="Times New Roman" pitchFamily="18" charset="0"/>
              <a:cs typeface="Times New Roman" pitchFamily="18" charset="0"/>
            </a:endParaRPr>
          </a:p>
        </p:txBody>
      </p:sp>
      <p:sp>
        <p:nvSpPr>
          <p:cNvPr id="86023" name="Rectangle 6"/>
          <p:cNvSpPr>
            <a:spLocks noChangeArrowheads="1"/>
          </p:cNvSpPr>
          <p:nvPr/>
        </p:nvSpPr>
        <p:spPr bwMode="auto">
          <a:xfrm>
            <a:off x="5451475" y="2924175"/>
            <a:ext cx="2806700" cy="3810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Chức năng</a:t>
            </a:r>
            <a:endParaRPr lang="ko-KR" altLang="en-US">
              <a:latin typeface="Times New Roman" pitchFamily="18" charset="0"/>
              <a:cs typeface="Times New Roman" pitchFamily="18" charset="0"/>
            </a:endParaRPr>
          </a:p>
        </p:txBody>
      </p:sp>
      <p:sp>
        <p:nvSpPr>
          <p:cNvPr id="86024" name="Rectangle 7"/>
          <p:cNvSpPr>
            <a:spLocks noChangeArrowheads="1"/>
          </p:cNvSpPr>
          <p:nvPr/>
        </p:nvSpPr>
        <p:spPr bwMode="auto">
          <a:xfrm>
            <a:off x="2727325" y="2924175"/>
            <a:ext cx="908050" cy="3810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Viết tắt</a:t>
            </a:r>
            <a:endParaRPr lang="ko-KR" altLang="en-US">
              <a:latin typeface="Times New Roman" pitchFamily="18" charset="0"/>
              <a:cs typeface="Times New Roman" pitchFamily="18" charset="0"/>
            </a:endParaRPr>
          </a:p>
        </p:txBody>
      </p:sp>
      <p:sp>
        <p:nvSpPr>
          <p:cNvPr id="86025" name="Rectangle 8"/>
          <p:cNvSpPr>
            <a:spLocks noChangeArrowheads="1"/>
          </p:cNvSpPr>
          <p:nvPr/>
        </p:nvSpPr>
        <p:spPr bwMode="auto">
          <a:xfrm>
            <a:off x="3635375" y="2924175"/>
            <a:ext cx="1816100" cy="3810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Tên gọi</a:t>
            </a:r>
            <a:endParaRPr lang="ko-KR" altLang="en-US">
              <a:latin typeface="Times New Roman" pitchFamily="18" charset="0"/>
              <a:cs typeface="Times New Roman" pitchFamily="18" charset="0"/>
            </a:endParaRPr>
          </a:p>
        </p:txBody>
      </p:sp>
      <p:sp>
        <p:nvSpPr>
          <p:cNvPr id="86026" name="Rectangle 9"/>
          <p:cNvSpPr>
            <a:spLocks noChangeArrowheads="1"/>
          </p:cNvSpPr>
          <p:nvPr/>
        </p:nvSpPr>
        <p:spPr bwMode="auto">
          <a:xfrm>
            <a:off x="993775" y="3305175"/>
            <a:ext cx="17335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86027" name="Rectangle 10"/>
          <p:cNvSpPr>
            <a:spLocks noChangeArrowheads="1"/>
          </p:cNvSpPr>
          <p:nvPr/>
        </p:nvSpPr>
        <p:spPr bwMode="auto">
          <a:xfrm>
            <a:off x="5451475" y="3305175"/>
            <a:ext cx="28067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sử dụng cho mạch cộng hưởng loại nhỏ</a:t>
            </a:r>
            <a:endParaRPr lang="ko-KR" altLang="en-US">
              <a:latin typeface="Times New Roman" pitchFamily="18" charset="0"/>
              <a:cs typeface="Times New Roman" pitchFamily="18" charset="0"/>
            </a:endParaRPr>
          </a:p>
        </p:txBody>
      </p:sp>
      <p:sp>
        <p:nvSpPr>
          <p:cNvPr id="86028" name="Rectangle 11"/>
          <p:cNvSpPr>
            <a:spLocks noChangeArrowheads="1"/>
          </p:cNvSpPr>
          <p:nvPr/>
        </p:nvSpPr>
        <p:spPr bwMode="auto">
          <a:xfrm>
            <a:off x="2727325" y="3305175"/>
            <a:ext cx="9080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C</a:t>
            </a:r>
          </a:p>
        </p:txBody>
      </p:sp>
      <p:sp>
        <p:nvSpPr>
          <p:cNvPr id="86029" name="Rectangle 12"/>
          <p:cNvSpPr>
            <a:spLocks noChangeArrowheads="1"/>
          </p:cNvSpPr>
          <p:nvPr/>
        </p:nvSpPr>
        <p:spPr bwMode="auto">
          <a:xfrm>
            <a:off x="3635375" y="3305175"/>
            <a:ext cx="18161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Tụ điện</a:t>
            </a:r>
            <a:endParaRPr lang="ko-KR" altLang="en-US">
              <a:latin typeface="Times New Roman" pitchFamily="18" charset="0"/>
              <a:cs typeface="Times New Roman" pitchFamily="18" charset="0"/>
            </a:endParaRPr>
          </a:p>
        </p:txBody>
      </p:sp>
      <p:sp>
        <p:nvSpPr>
          <p:cNvPr id="86030" name="Rectangle 13"/>
          <p:cNvSpPr>
            <a:spLocks noChangeArrowheads="1"/>
          </p:cNvSpPr>
          <p:nvPr/>
        </p:nvSpPr>
        <p:spPr bwMode="auto">
          <a:xfrm>
            <a:off x="993775" y="3990975"/>
            <a:ext cx="17335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86031" name="Rectangle 14"/>
          <p:cNvSpPr>
            <a:spLocks noChangeArrowheads="1"/>
          </p:cNvSpPr>
          <p:nvPr/>
        </p:nvSpPr>
        <p:spPr bwMode="auto">
          <a:xfrm>
            <a:off x="5451475" y="3990975"/>
            <a:ext cx="28067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sử dụng cho đường rẽ tần số cao</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đơn vị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μ</a:t>
            </a:r>
            <a:r>
              <a:rPr lang="ko-KR" altLang="en-US">
                <a:latin typeface="Times New Roman" pitchFamily="18" charset="0"/>
                <a:cs typeface="Times New Roman" pitchFamily="18" charset="0"/>
              </a:rPr>
              <a:t>Ｆ</a:t>
            </a:r>
          </a:p>
        </p:txBody>
      </p:sp>
      <p:sp>
        <p:nvSpPr>
          <p:cNvPr id="86032" name="Rectangle 15"/>
          <p:cNvSpPr>
            <a:spLocks noChangeArrowheads="1"/>
          </p:cNvSpPr>
          <p:nvPr/>
        </p:nvSpPr>
        <p:spPr bwMode="auto">
          <a:xfrm>
            <a:off x="2727325" y="3990975"/>
            <a:ext cx="9080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C</a:t>
            </a:r>
          </a:p>
        </p:txBody>
      </p:sp>
      <p:sp>
        <p:nvSpPr>
          <p:cNvPr id="86033" name="Rectangle 16"/>
          <p:cNvSpPr>
            <a:spLocks noChangeArrowheads="1"/>
          </p:cNvSpPr>
          <p:nvPr/>
        </p:nvSpPr>
        <p:spPr bwMode="auto">
          <a:xfrm>
            <a:off x="3635375" y="3990975"/>
            <a:ext cx="18161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Tụ rẽ (Bypass Condenser)</a:t>
            </a:r>
            <a:endParaRPr lang="ko-KR" altLang="en-US">
              <a:latin typeface="Times New Roman" pitchFamily="18" charset="0"/>
              <a:cs typeface="Times New Roman" pitchFamily="18" charset="0"/>
            </a:endParaRPr>
          </a:p>
        </p:txBody>
      </p:sp>
      <p:sp>
        <p:nvSpPr>
          <p:cNvPr id="86034" name="Rectangle 17"/>
          <p:cNvSpPr>
            <a:spLocks noChangeArrowheads="1"/>
          </p:cNvSpPr>
          <p:nvPr/>
        </p:nvSpPr>
        <p:spPr bwMode="auto">
          <a:xfrm>
            <a:off x="993775" y="4676775"/>
            <a:ext cx="17335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86035" name="Rectangle 18"/>
          <p:cNvSpPr>
            <a:spLocks noChangeArrowheads="1"/>
          </p:cNvSpPr>
          <p:nvPr/>
        </p:nvSpPr>
        <p:spPr bwMode="auto">
          <a:xfrm>
            <a:off x="5451475" y="4676775"/>
            <a:ext cx="28067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dùng cho đường rẽ tần số thấp hoặc mạch lọc điện nên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cần chú ý đến tính phân cực và điện áp chịu đựng</a:t>
            </a:r>
            <a:endParaRPr lang="ko-KR" altLang="en-US">
              <a:latin typeface="Times New Roman" pitchFamily="18" charset="0"/>
              <a:cs typeface="Times New Roman" pitchFamily="18" charset="0"/>
            </a:endParaRPr>
          </a:p>
        </p:txBody>
      </p:sp>
      <p:sp>
        <p:nvSpPr>
          <p:cNvPr id="86036" name="Rectangle 19"/>
          <p:cNvSpPr>
            <a:spLocks noChangeArrowheads="1"/>
          </p:cNvSpPr>
          <p:nvPr/>
        </p:nvSpPr>
        <p:spPr bwMode="auto">
          <a:xfrm>
            <a:off x="2727325" y="4676775"/>
            <a:ext cx="90805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C</a:t>
            </a:r>
          </a:p>
        </p:txBody>
      </p:sp>
      <p:sp>
        <p:nvSpPr>
          <p:cNvPr id="86037" name="Rectangle 20"/>
          <p:cNvSpPr>
            <a:spLocks noChangeArrowheads="1"/>
          </p:cNvSpPr>
          <p:nvPr/>
        </p:nvSpPr>
        <p:spPr bwMode="auto">
          <a:xfrm>
            <a:off x="3635375" y="4676775"/>
            <a:ext cx="18161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Tụ điện hóa</a:t>
            </a:r>
            <a:endParaRPr lang="ko-KR" altLang="en-US">
              <a:latin typeface="Times New Roman" pitchFamily="18" charset="0"/>
              <a:cs typeface="Times New Roman" pitchFamily="18" charset="0"/>
            </a:endParaRPr>
          </a:p>
        </p:txBody>
      </p:sp>
      <p:grpSp>
        <p:nvGrpSpPr>
          <p:cNvPr id="86038" name="Group 21"/>
          <p:cNvGrpSpPr>
            <a:grpSpLocks/>
          </p:cNvGrpSpPr>
          <p:nvPr/>
        </p:nvGrpSpPr>
        <p:grpSpPr bwMode="auto">
          <a:xfrm>
            <a:off x="1443038" y="3546475"/>
            <a:ext cx="742950" cy="330200"/>
            <a:chOff x="1029" y="2840"/>
            <a:chExt cx="432" cy="208"/>
          </a:xfrm>
        </p:grpSpPr>
        <p:sp>
          <p:nvSpPr>
            <p:cNvPr id="86057" name="Line 22"/>
            <p:cNvSpPr>
              <a:spLocks noChangeShapeType="1"/>
            </p:cNvSpPr>
            <p:nvPr/>
          </p:nvSpPr>
          <p:spPr bwMode="auto">
            <a:xfrm>
              <a:off x="1029" y="293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8" name="Line 23"/>
            <p:cNvSpPr>
              <a:spLocks noChangeShapeType="1"/>
            </p:cNvSpPr>
            <p:nvPr/>
          </p:nvSpPr>
          <p:spPr bwMode="auto">
            <a:xfrm>
              <a:off x="1221" y="2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9" name="Line 24"/>
            <p:cNvSpPr>
              <a:spLocks noChangeShapeType="1"/>
            </p:cNvSpPr>
            <p:nvPr/>
          </p:nvSpPr>
          <p:spPr bwMode="auto">
            <a:xfrm>
              <a:off x="1269" y="293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60" name="Freeform 25"/>
            <p:cNvSpPr>
              <a:spLocks/>
            </p:cNvSpPr>
            <p:nvPr/>
          </p:nvSpPr>
          <p:spPr bwMode="auto">
            <a:xfrm>
              <a:off x="1269" y="2840"/>
              <a:ext cx="48" cy="208"/>
            </a:xfrm>
            <a:custGeom>
              <a:avLst/>
              <a:gdLst>
                <a:gd name="T0" fmla="*/ 1 w 96"/>
                <a:gd name="T1" fmla="*/ 0 h 208"/>
                <a:gd name="T2" fmla="*/ 0 w 96"/>
                <a:gd name="T3" fmla="*/ 96 h 208"/>
                <a:gd name="T4" fmla="*/ 1 w 96"/>
                <a:gd name="T5" fmla="*/ 192 h 208"/>
                <a:gd name="T6" fmla="*/ 0 60000 65536"/>
                <a:gd name="T7" fmla="*/ 0 60000 65536"/>
                <a:gd name="T8" fmla="*/ 0 60000 65536"/>
              </a:gdLst>
              <a:ahLst/>
              <a:cxnLst>
                <a:cxn ang="T6">
                  <a:pos x="T0" y="T1"/>
                </a:cxn>
                <a:cxn ang="T7">
                  <a:pos x="T2" y="T3"/>
                </a:cxn>
                <a:cxn ang="T8">
                  <a:pos x="T4" y="T5"/>
                </a:cxn>
              </a:cxnLst>
              <a:rect l="0" t="0" r="r" b="b"/>
              <a:pathLst>
                <a:path w="96" h="208">
                  <a:moveTo>
                    <a:pt x="96" y="0"/>
                  </a:moveTo>
                  <a:cubicBezTo>
                    <a:pt x="48" y="32"/>
                    <a:pt x="0" y="64"/>
                    <a:pt x="0" y="96"/>
                  </a:cubicBezTo>
                  <a:cubicBezTo>
                    <a:pt x="0" y="128"/>
                    <a:pt x="56" y="208"/>
                    <a:pt x="96" y="192"/>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86039" name="Text Box 26"/>
          <p:cNvSpPr txBox="1">
            <a:spLocks noChangeArrowheads="1"/>
          </p:cNvSpPr>
          <p:nvPr/>
        </p:nvSpPr>
        <p:spPr bwMode="auto">
          <a:xfrm>
            <a:off x="1589088" y="3311525"/>
            <a:ext cx="53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XX pF</a:t>
            </a:r>
          </a:p>
        </p:txBody>
      </p:sp>
      <p:grpSp>
        <p:nvGrpSpPr>
          <p:cNvPr id="86040" name="Group 27"/>
          <p:cNvGrpSpPr>
            <a:grpSpLocks/>
          </p:cNvGrpSpPr>
          <p:nvPr/>
        </p:nvGrpSpPr>
        <p:grpSpPr bwMode="auto">
          <a:xfrm>
            <a:off x="1443038" y="4143375"/>
            <a:ext cx="790575" cy="304800"/>
            <a:chOff x="1029" y="3216"/>
            <a:chExt cx="460" cy="192"/>
          </a:xfrm>
        </p:grpSpPr>
        <p:sp>
          <p:nvSpPr>
            <p:cNvPr id="86053" name="Line 28"/>
            <p:cNvSpPr>
              <a:spLocks noChangeShapeType="1"/>
            </p:cNvSpPr>
            <p:nvPr/>
          </p:nvSpPr>
          <p:spPr bwMode="auto">
            <a:xfrm>
              <a:off x="1029" y="331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4" name="Line 29"/>
            <p:cNvSpPr>
              <a:spLocks noChangeShapeType="1"/>
            </p:cNvSpPr>
            <p:nvPr/>
          </p:nvSpPr>
          <p:spPr bwMode="auto">
            <a:xfrm>
              <a:off x="1221" y="32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5" name="Line 30"/>
            <p:cNvSpPr>
              <a:spLocks noChangeShapeType="1"/>
            </p:cNvSpPr>
            <p:nvPr/>
          </p:nvSpPr>
          <p:spPr bwMode="auto">
            <a:xfrm>
              <a:off x="1297" y="331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6" name="Line 31"/>
            <p:cNvSpPr>
              <a:spLocks noChangeShapeType="1"/>
            </p:cNvSpPr>
            <p:nvPr/>
          </p:nvSpPr>
          <p:spPr bwMode="auto">
            <a:xfrm>
              <a:off x="1296" y="32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86041" name="Text Box 32"/>
          <p:cNvSpPr txBox="1">
            <a:spLocks noChangeArrowheads="1"/>
          </p:cNvSpPr>
          <p:nvPr/>
        </p:nvSpPr>
        <p:spPr bwMode="auto">
          <a:xfrm>
            <a:off x="1628775" y="4449763"/>
            <a:ext cx="40957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0.01</a:t>
            </a:r>
          </a:p>
        </p:txBody>
      </p:sp>
      <p:grpSp>
        <p:nvGrpSpPr>
          <p:cNvPr id="86042" name="Group 33"/>
          <p:cNvGrpSpPr>
            <a:grpSpLocks/>
          </p:cNvGrpSpPr>
          <p:nvPr/>
        </p:nvGrpSpPr>
        <p:grpSpPr bwMode="auto">
          <a:xfrm>
            <a:off x="1512888" y="4784725"/>
            <a:ext cx="330200" cy="457200"/>
            <a:chOff x="1056" y="3648"/>
            <a:chExt cx="192" cy="288"/>
          </a:xfrm>
        </p:grpSpPr>
        <p:sp>
          <p:nvSpPr>
            <p:cNvPr id="86045" name="Line 34"/>
            <p:cNvSpPr>
              <a:spLocks noChangeShapeType="1"/>
            </p:cNvSpPr>
            <p:nvPr/>
          </p:nvSpPr>
          <p:spPr bwMode="auto">
            <a:xfrm>
              <a:off x="1056" y="374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46" name="Line 35"/>
            <p:cNvSpPr>
              <a:spLocks noChangeShapeType="1"/>
            </p:cNvSpPr>
            <p:nvPr/>
          </p:nvSpPr>
          <p:spPr bwMode="auto">
            <a:xfrm>
              <a:off x="1056" y="384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47" name="Line 36"/>
            <p:cNvSpPr>
              <a:spLocks noChangeShapeType="1"/>
            </p:cNvSpPr>
            <p:nvPr/>
          </p:nvSpPr>
          <p:spPr bwMode="auto">
            <a:xfrm flipH="1">
              <a:off x="1056" y="3744"/>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48" name="Line 37"/>
            <p:cNvSpPr>
              <a:spLocks noChangeShapeType="1"/>
            </p:cNvSpPr>
            <p:nvPr/>
          </p:nvSpPr>
          <p:spPr bwMode="auto">
            <a:xfrm flipH="1">
              <a:off x="1104" y="3744"/>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49" name="Line 38"/>
            <p:cNvSpPr>
              <a:spLocks noChangeShapeType="1"/>
            </p:cNvSpPr>
            <p:nvPr/>
          </p:nvSpPr>
          <p:spPr bwMode="auto">
            <a:xfrm flipH="1">
              <a:off x="1152" y="3744"/>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0" name="Line 39"/>
            <p:cNvSpPr>
              <a:spLocks noChangeShapeType="1"/>
            </p:cNvSpPr>
            <p:nvPr/>
          </p:nvSpPr>
          <p:spPr bwMode="auto">
            <a:xfrm flipH="1">
              <a:off x="1200" y="3744"/>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1" name="Line 40"/>
            <p:cNvSpPr>
              <a:spLocks noChangeShapeType="1"/>
            </p:cNvSpPr>
            <p:nvPr/>
          </p:nvSpPr>
          <p:spPr bwMode="auto">
            <a:xfrm>
              <a:off x="1152" y="364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6052" name="Line 41"/>
            <p:cNvSpPr>
              <a:spLocks noChangeShapeType="1"/>
            </p:cNvSpPr>
            <p:nvPr/>
          </p:nvSpPr>
          <p:spPr bwMode="auto">
            <a:xfrm>
              <a:off x="1152" y="384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86043" name="Text Box 42"/>
          <p:cNvSpPr txBox="1">
            <a:spLocks noChangeArrowheads="1"/>
          </p:cNvSpPr>
          <p:nvPr/>
        </p:nvSpPr>
        <p:spPr bwMode="auto">
          <a:xfrm>
            <a:off x="1409700" y="4679950"/>
            <a:ext cx="296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a:t>
            </a:r>
          </a:p>
        </p:txBody>
      </p:sp>
      <p:sp>
        <p:nvSpPr>
          <p:cNvPr id="86044" name="Text Box 43"/>
          <p:cNvSpPr txBox="1">
            <a:spLocks noChangeArrowheads="1"/>
          </p:cNvSpPr>
          <p:nvPr/>
        </p:nvSpPr>
        <p:spPr bwMode="auto">
          <a:xfrm rot="-5400000">
            <a:off x="1708150" y="4872038"/>
            <a:ext cx="60007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XX μ</a:t>
            </a:r>
            <a:r>
              <a:rPr lang="ko-KR" altLang="en-US" sz="1000">
                <a:latin typeface="Times New Roman" pitchFamily="18" charset="0"/>
                <a:cs typeface="Times New Roman" pitchFamily="18" charset="0"/>
              </a:rPr>
              <a:t>Ｆ</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23C99C3-2BDB-4A5B-AF4F-0EB3BE806726}" type="slidenum">
              <a:rPr lang="en-US" altLang="ko-KR" sz="1400" smtClean="0">
                <a:latin typeface="Times New Roman" pitchFamily="18" charset="0"/>
                <a:cs typeface="Times New Roman" pitchFamily="18" charset="0"/>
              </a:rPr>
              <a:pPr eaLnBrk="1" hangingPunct="1"/>
              <a:t>80</a:t>
            </a:fld>
            <a:endParaRPr lang="en-US" altLang="ko-KR" sz="1400" smtClean="0">
              <a:latin typeface="Times New Roman" pitchFamily="18" charset="0"/>
              <a:cs typeface="Times New Roman" pitchFamily="18" charset="0"/>
            </a:endParaRPr>
          </a:p>
        </p:txBody>
      </p:sp>
      <p:sp>
        <p:nvSpPr>
          <p:cNvPr id="87043"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704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Tụ hóa </a:t>
            </a:r>
            <a:r>
              <a:rPr lang="ko-KR" altLang="ko-KR" b="1">
                <a:latin typeface="Times New Roman" pitchFamily="18" charset="0"/>
                <a:cs typeface="Times New Roman" pitchFamily="18" charset="0"/>
              </a:rPr>
              <a:t>(Electrolytic Capacitor)</a:t>
            </a:r>
            <a:endParaRPr lang="en-US" altLang="ko-KR" b="1">
              <a:latin typeface="Times New Roman" pitchFamily="18" charset="0"/>
              <a:cs typeface="Times New Roman" pitchFamily="18" charset="0"/>
            </a:endParaRPr>
          </a:p>
        </p:txBody>
      </p:sp>
      <p:sp>
        <p:nvSpPr>
          <p:cNvPr id="87045"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87046" name="Text Box 5"/>
          <p:cNvSpPr txBox="1">
            <a:spLocks noChangeArrowheads="1"/>
          </p:cNvSpPr>
          <p:nvPr/>
        </p:nvSpPr>
        <p:spPr bwMode="auto">
          <a:xfrm>
            <a:off x="684213" y="892175"/>
            <a:ext cx="1714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2-4. Các loại tụ điện</a:t>
            </a:r>
            <a:endParaRPr lang="ko-KR" altLang="en-US" sz="1400" b="1">
              <a:latin typeface="Times New Roman" pitchFamily="18" charset="0"/>
              <a:cs typeface="Times New Roman" pitchFamily="18" charset="0"/>
            </a:endParaRPr>
          </a:p>
        </p:txBody>
      </p:sp>
      <p:pic>
        <p:nvPicPr>
          <p:cNvPr id="87047" name="Picture 6" descr="전해콘덴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850" y="1698625"/>
            <a:ext cx="3138488" cy="18748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7048" name="Picture 7"/>
          <p:cNvPicPr>
            <a:picLocks noChangeAspect="1" noChangeArrowheads="1"/>
          </p:cNvPicPr>
          <p:nvPr/>
        </p:nvPicPr>
        <p:blipFill>
          <a:blip r:embed="rId4">
            <a:extLst>
              <a:ext uri="{28A0092B-C50C-407E-A947-70E740481C1C}">
                <a14:useLocalDpi xmlns:a14="http://schemas.microsoft.com/office/drawing/2010/main" val="0"/>
              </a:ext>
            </a:extLst>
          </a:blip>
          <a:srcRect b="-278"/>
          <a:stretch>
            <a:fillRect/>
          </a:stretch>
        </p:blipFill>
        <p:spPr bwMode="auto">
          <a:xfrm>
            <a:off x="4457700" y="1698625"/>
            <a:ext cx="3679825" cy="18748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9" name="Rectangle 8"/>
          <p:cNvSpPr>
            <a:spLocks noChangeArrowheads="1"/>
          </p:cNvSpPr>
          <p:nvPr/>
        </p:nvSpPr>
        <p:spPr bwMode="auto">
          <a:xfrm>
            <a:off x="1065213" y="3644900"/>
            <a:ext cx="1485900" cy="715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Điện dung</a:t>
            </a:r>
            <a:endParaRPr lang="ko-KR" altLang="en-US">
              <a:latin typeface="Times New Roman" pitchFamily="18" charset="0"/>
              <a:cs typeface="Times New Roman" pitchFamily="18" charset="0"/>
            </a:endParaRPr>
          </a:p>
        </p:txBody>
      </p:sp>
      <p:sp>
        <p:nvSpPr>
          <p:cNvPr id="87050" name="Rectangle 9"/>
          <p:cNvSpPr>
            <a:spLocks noChangeArrowheads="1"/>
          </p:cNvSpPr>
          <p:nvPr/>
        </p:nvSpPr>
        <p:spPr bwMode="auto">
          <a:xfrm>
            <a:off x="2551113" y="3644900"/>
            <a:ext cx="5613400" cy="715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Chủ yếu có điện dung lớn nên sản xuất được điện dung tầm0.1[μF] ~ 4,700 [μF]. Điện dung được in trên bề mặt của tụ điện và phải kiểm tra hiệu điện thế sử dụng.</a:t>
            </a:r>
          </a:p>
        </p:txBody>
      </p:sp>
      <p:sp>
        <p:nvSpPr>
          <p:cNvPr id="87051" name="Rectangle 10"/>
          <p:cNvSpPr>
            <a:spLocks noChangeArrowheads="1"/>
          </p:cNvSpPr>
          <p:nvPr/>
        </p:nvSpPr>
        <p:spPr bwMode="auto">
          <a:xfrm>
            <a:off x="1065213" y="4360863"/>
            <a:ext cx="14859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Dải tần số sử dụng</a:t>
            </a:r>
            <a:endParaRPr lang="ko-KR" altLang="en-US">
              <a:latin typeface="Times New Roman" pitchFamily="18" charset="0"/>
              <a:cs typeface="Times New Roman" pitchFamily="18" charset="0"/>
            </a:endParaRPr>
          </a:p>
        </p:txBody>
      </p:sp>
      <p:sp>
        <p:nvSpPr>
          <p:cNvPr id="87052" name="Rectangle 11"/>
          <p:cNvSpPr>
            <a:spLocks noChangeArrowheads="1"/>
          </p:cNvSpPr>
          <p:nvPr/>
        </p:nvSpPr>
        <p:spPr bwMode="auto">
          <a:xfrm>
            <a:off x="2551113" y="4360863"/>
            <a:ext cx="56134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Được sử dụng ở tần số thấp của dải tần số âm thanh.</a:t>
            </a:r>
          </a:p>
        </p:txBody>
      </p:sp>
      <p:sp>
        <p:nvSpPr>
          <p:cNvPr id="87053" name="Rectangle 12"/>
          <p:cNvSpPr>
            <a:spLocks noChangeArrowheads="1"/>
          </p:cNvSpPr>
          <p:nvPr/>
        </p:nvSpPr>
        <p:spPr bwMode="auto">
          <a:xfrm>
            <a:off x="1065213" y="4741863"/>
            <a:ext cx="1485900" cy="1063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Chú ý khi sử dụng</a:t>
            </a:r>
            <a:endParaRPr lang="ko-KR" altLang="en-US">
              <a:latin typeface="Times New Roman" pitchFamily="18" charset="0"/>
              <a:cs typeface="Times New Roman" pitchFamily="18" charset="0"/>
            </a:endParaRPr>
          </a:p>
        </p:txBody>
      </p:sp>
      <p:sp>
        <p:nvSpPr>
          <p:cNvPr id="87054" name="Rectangle 13"/>
          <p:cNvSpPr>
            <a:spLocks noChangeArrowheads="1"/>
          </p:cNvSpPr>
          <p:nvPr/>
        </p:nvSpPr>
        <p:spPr bwMode="auto">
          <a:xfrm>
            <a:off x="2551113" y="4741863"/>
            <a:ext cx="5613400" cy="1063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Tụ hóa có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dương(+), và cực âm(-). Chân dài là cực dương(+)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dây dẫn ngắn được biểu thị (-) là cực âm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Theo đó</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khi gài vào phải chú ý cực, nếu vượt quá điện áp sử dụng đã được quy định thì nó có thể bị nổ. Do đó hiện giờ phía trên đầu của tụ điện được đánh dấu X và được thiết kế theo dạng chống nổ để khi bị nổ được an toàn.</a:t>
            </a:r>
          </a:p>
        </p:txBody>
      </p:sp>
      <p:sp>
        <p:nvSpPr>
          <p:cNvPr id="88079" name="Text Box 14"/>
          <p:cNvSpPr txBox="1">
            <a:spLocks noChangeArrowheads="1"/>
          </p:cNvSpPr>
          <p:nvPr/>
        </p:nvSpPr>
        <p:spPr bwMode="auto">
          <a:xfrm>
            <a:off x="542925" y="5949950"/>
            <a:ext cx="79184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1200">
                <a:solidFill>
                  <a:schemeClr val="tx1"/>
                </a:solidFill>
                <a:latin typeface="굴림" pitchFamily="50" charset="-127"/>
                <a:ea typeface="굴림" pitchFamily="50" charset="-127"/>
              </a:defRPr>
            </a:lvl9pPr>
          </a:lstStyle>
          <a:p>
            <a:pPr marL="171450" indent="-171450" eaLnBrk="1" hangingPunct="1">
              <a:buFont typeface="Arial" pitchFamily="34" charset="0"/>
              <a:buChar char="•"/>
              <a:defRPr/>
            </a:pPr>
            <a:r>
              <a:rPr lang="en-US" altLang="ko-KR" sz="900" dirty="0" err="1" smtClean="0">
                <a:latin typeface="Times New Roman" pitchFamily="18" charset="0"/>
                <a:cs typeface="Times New Roman" pitchFamily="18" charset="0"/>
              </a:rPr>
              <a:t>Tần</a:t>
            </a:r>
            <a:r>
              <a:rPr lang="en-US" altLang="ko-KR" sz="900" dirty="0" smtClean="0">
                <a:latin typeface="Times New Roman" pitchFamily="18" charset="0"/>
                <a:cs typeface="Times New Roman" pitchFamily="18" charset="0"/>
              </a:rPr>
              <a:t> </a:t>
            </a:r>
            <a:r>
              <a:rPr lang="en-US" altLang="ko-KR" sz="900" dirty="0" err="1" smtClean="0">
                <a:latin typeface="Times New Roman" pitchFamily="18" charset="0"/>
                <a:cs typeface="Times New Roman" pitchFamily="18" charset="0"/>
              </a:rPr>
              <a:t>số</a:t>
            </a:r>
            <a:r>
              <a:rPr lang="en-US" altLang="ko-KR" sz="900" dirty="0" smtClean="0">
                <a:latin typeface="Times New Roman" pitchFamily="18" charset="0"/>
                <a:cs typeface="Times New Roman" pitchFamily="18" charset="0"/>
              </a:rPr>
              <a:t> </a:t>
            </a:r>
            <a:r>
              <a:rPr lang="en-US" altLang="ko-KR" sz="900" dirty="0" err="1" smtClean="0">
                <a:latin typeface="Times New Roman" pitchFamily="18" charset="0"/>
                <a:cs typeface="Times New Roman" pitchFamily="18" charset="0"/>
              </a:rPr>
              <a:t>âm</a:t>
            </a:r>
            <a:r>
              <a:rPr lang="en-US" altLang="ko-KR" sz="900" dirty="0" smtClean="0">
                <a:latin typeface="Times New Roman" pitchFamily="18" charset="0"/>
                <a:cs typeface="Times New Roman" pitchFamily="18" charset="0"/>
              </a:rPr>
              <a:t> </a:t>
            </a:r>
            <a:r>
              <a:rPr lang="en-US" altLang="ko-KR" sz="900" dirty="0" err="1" smtClean="0">
                <a:latin typeface="Times New Roman" pitchFamily="18" charset="0"/>
                <a:cs typeface="Times New Roman" pitchFamily="18" charset="0"/>
              </a:rPr>
              <a:t>thanh</a:t>
            </a:r>
            <a:r>
              <a:rPr lang="en-US" altLang="ko-KR" sz="900" dirty="0" smtClean="0">
                <a:latin typeface="Times New Roman" pitchFamily="18" charset="0"/>
                <a:cs typeface="Times New Roman" pitchFamily="18" charset="0"/>
              </a:rPr>
              <a:t>(</a:t>
            </a:r>
            <a:r>
              <a:rPr lang="en-US" altLang="ko-KR" sz="900" dirty="0" smtClean="0">
                <a:solidFill>
                  <a:srgbClr val="000000"/>
                </a:solidFill>
                <a:latin typeface="Times New Roman" pitchFamily="18" charset="0"/>
                <a:cs typeface="Times New Roman" pitchFamily="18" charset="0"/>
              </a:rPr>
              <a:t>audio: audio frequency) : </a:t>
            </a:r>
            <a:r>
              <a:rPr lang="en-US" altLang="ko-KR" sz="900" dirty="0" err="1" smtClean="0">
                <a:solidFill>
                  <a:srgbClr val="000000"/>
                </a:solidFill>
                <a:latin typeface="Times New Roman" pitchFamily="18" charset="0"/>
                <a:cs typeface="Times New Roman" pitchFamily="18" charset="0"/>
              </a:rPr>
              <a:t>âm</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a:t>
            </a:r>
            <a:r>
              <a:rPr lang="ko-KR" altLang="en-US"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tên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gọi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tắt</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của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số</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thấp</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sóng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âm</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trong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dải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âm</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như</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nhạc</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giọng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nói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của</a:t>
            </a:r>
            <a:r>
              <a:rPr lang="en-US" altLang="ko-KR" sz="900" dirty="0" smtClean="0">
                <a:solidFill>
                  <a:srgbClr val="000000"/>
                </a:solidFill>
                <a:latin typeface="Times New Roman" pitchFamily="18" charset="0"/>
                <a:cs typeface="Times New Roman" pitchFamily="18" charset="0"/>
              </a:rPr>
              <a:t> con </a:t>
            </a:r>
            <a:r>
              <a:rPr lang="en-US" altLang="ko-KR" sz="900" dirty="0" err="1" smtClean="0">
                <a:solidFill>
                  <a:srgbClr val="000000"/>
                </a:solidFill>
                <a:latin typeface="Times New Roman" pitchFamily="18" charset="0"/>
                <a:cs typeface="Times New Roman" pitchFamily="18" charset="0"/>
              </a:rPr>
              <a:t>người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tiếng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của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tự</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nhiên</a:t>
            </a:r>
            <a:r>
              <a:rPr lang="en-US" altLang="ko-KR" sz="900" dirty="0" smtClean="0">
                <a:solidFill>
                  <a:srgbClr val="000000"/>
                </a:solidFill>
                <a:latin typeface="Times New Roman" pitchFamily="18" charset="0"/>
                <a:cs typeface="Times New Roman" pitchFamily="18" charset="0"/>
              </a:rPr>
              <a:t>…</a:t>
            </a:r>
          </a:p>
          <a:p>
            <a:pPr eaLnBrk="1" hangingPunct="1">
              <a:defRPr/>
            </a:pPr>
            <a:r>
              <a:rPr lang="en-US" altLang="ko-KR" sz="900" dirty="0" smtClean="0">
                <a:solidFill>
                  <a:srgbClr val="000000"/>
                </a:solidFill>
                <a:latin typeface="Times New Roman" pitchFamily="18" charset="0"/>
                <a:cs typeface="Times New Roman" pitchFamily="18" charset="0"/>
              </a:rPr>
              <a:t>(</a:t>
            </a:r>
            <a:r>
              <a:rPr lang="en-US" altLang="ko-KR" sz="900" dirty="0" err="1" smtClean="0">
                <a:solidFill>
                  <a:srgbClr val="000000"/>
                </a:solidFill>
                <a:latin typeface="Times New Roman" pitchFamily="18" charset="0"/>
                <a:cs typeface="Times New Roman" pitchFamily="18" charset="0"/>
              </a:rPr>
              <a:t>thường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từ</a:t>
            </a:r>
            <a:r>
              <a:rPr lang="ko-KR" altLang="en-US" sz="900" dirty="0" smtClean="0">
                <a:solidFill>
                  <a:srgbClr val="000000"/>
                </a:solidFill>
                <a:latin typeface="Times New Roman" pitchFamily="18" charset="0"/>
                <a:cs typeface="Times New Roman" pitchFamily="18" charset="0"/>
              </a:rPr>
              <a:t> </a:t>
            </a:r>
            <a:r>
              <a:rPr lang="en-US" altLang="ko-KR" sz="900" dirty="0" smtClean="0">
                <a:solidFill>
                  <a:srgbClr val="000000"/>
                </a:solidFill>
                <a:latin typeface="Times New Roman" pitchFamily="18" charset="0"/>
                <a:cs typeface="Times New Roman" pitchFamily="18" charset="0"/>
              </a:rPr>
              <a:t>30~16,000 Hz).</a:t>
            </a:r>
          </a:p>
          <a:p>
            <a:pPr eaLnBrk="1" hangingPunct="1">
              <a:defRPr/>
            </a:pP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số</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thấp</a:t>
            </a:r>
            <a:r>
              <a:rPr lang="en-US" altLang="ko-KR" sz="900" dirty="0" smtClean="0">
                <a:solidFill>
                  <a:srgbClr val="000000"/>
                </a:solidFill>
                <a:latin typeface="Times New Roman" pitchFamily="18" charset="0"/>
                <a:cs typeface="Times New Roman" pitchFamily="18" charset="0"/>
              </a:rPr>
              <a:t>(low frequency) :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sóng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có</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số</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thấp</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Phân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loại</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dựa</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vào</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sóng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điện</a:t>
            </a:r>
            <a:r>
              <a:rPr lang="en-US" altLang="ko-KR" sz="900" dirty="0" smtClean="0">
                <a:solidFill>
                  <a:srgbClr val="000000"/>
                </a:solidFill>
                <a:latin typeface="Times New Roman" pitchFamily="18" charset="0"/>
                <a:cs typeface="Times New Roman" pitchFamily="18" charset="0"/>
              </a:rPr>
              <a:t> </a:t>
            </a:r>
            <a:r>
              <a:rPr lang="en-US" altLang="ko-KR" sz="900" smtClean="0">
                <a:solidFill>
                  <a:srgbClr val="000000"/>
                </a:solidFill>
                <a:latin typeface="Times New Roman" pitchFamily="18" charset="0"/>
                <a:cs typeface="Times New Roman" pitchFamily="18" charset="0"/>
              </a:rPr>
              <a:t>từ, </a:t>
            </a:r>
            <a:r>
              <a:rPr lang="en-US" altLang="ko-KR" sz="900" dirty="0" err="1" smtClean="0">
                <a:solidFill>
                  <a:srgbClr val="000000"/>
                </a:solidFill>
                <a:latin typeface="Times New Roman" pitchFamily="18" charset="0"/>
                <a:cs typeface="Times New Roman" pitchFamily="18" charset="0"/>
              </a:rPr>
              <a:t>thường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là</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dưới</a:t>
            </a:r>
            <a:r>
              <a:rPr lang="ko-KR" altLang="en-US" sz="900" dirty="0" smtClean="0">
                <a:solidFill>
                  <a:srgbClr val="000000"/>
                </a:solidFill>
                <a:latin typeface="Times New Roman" pitchFamily="18" charset="0"/>
                <a:cs typeface="Times New Roman" pitchFamily="18" charset="0"/>
              </a:rPr>
              <a:t> </a:t>
            </a:r>
            <a:r>
              <a:rPr lang="en-US" altLang="ko-KR" sz="900" dirty="0" smtClean="0">
                <a:solidFill>
                  <a:srgbClr val="000000"/>
                </a:solidFill>
                <a:latin typeface="Times New Roman" pitchFamily="18" charset="0"/>
                <a:cs typeface="Times New Roman" pitchFamily="18" charset="0"/>
              </a:rPr>
              <a:t>10 kHz. </a:t>
            </a:r>
            <a:r>
              <a:rPr lang="en-US" altLang="ko-KR" sz="900" dirty="0" err="1" smtClean="0">
                <a:solidFill>
                  <a:srgbClr val="000000"/>
                </a:solidFill>
                <a:latin typeface="Times New Roman" pitchFamily="18" charset="0"/>
                <a:cs typeface="Times New Roman" pitchFamily="18" charset="0"/>
              </a:rPr>
              <a:t>Tương</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tự</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như</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tần</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số</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âm</a:t>
            </a:r>
            <a:r>
              <a:rPr lang="en-US" altLang="ko-KR" sz="900" dirty="0" smtClean="0">
                <a:solidFill>
                  <a:srgbClr val="000000"/>
                </a:solidFill>
                <a:latin typeface="Times New Roman" pitchFamily="18" charset="0"/>
                <a:cs typeface="Times New Roman" pitchFamily="18" charset="0"/>
              </a:rPr>
              <a:t> </a:t>
            </a:r>
            <a:r>
              <a:rPr lang="en-US" altLang="ko-KR" sz="900" dirty="0" err="1" smtClean="0">
                <a:solidFill>
                  <a:srgbClr val="000000"/>
                </a:solidFill>
                <a:latin typeface="Times New Roman" pitchFamily="18" charset="0"/>
                <a:cs typeface="Times New Roman" pitchFamily="18" charset="0"/>
              </a:rPr>
              <a:t>thanh</a:t>
            </a:r>
            <a:r>
              <a:rPr lang="en-US" altLang="ko-KR" sz="900" dirty="0" smtClean="0">
                <a:solidFill>
                  <a:srgbClr val="000000"/>
                </a:solidFill>
                <a:latin typeface="Times New Roman" pitchFamily="18" charset="0"/>
                <a:cs typeface="Times New Roman" pitchFamily="18" charset="0"/>
              </a:rPr>
              <a:t>.</a:t>
            </a:r>
          </a:p>
        </p:txBody>
      </p:sp>
      <p:sp>
        <p:nvSpPr>
          <p:cNvPr id="87056" name="직사각형 1"/>
          <p:cNvSpPr>
            <a:spLocks noChangeArrowheads="1"/>
          </p:cNvSpPr>
          <p:nvPr/>
        </p:nvSpPr>
        <p:spPr bwMode="auto">
          <a:xfrm>
            <a:off x="4643438" y="2276475"/>
            <a:ext cx="936625" cy="5048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Biểu thị cực (-)</a:t>
            </a:r>
            <a:endParaRPr lang="ko-KR" altLang="en-US" sz="900">
              <a:latin typeface="Times New Roman" pitchFamily="18" charset="0"/>
              <a:cs typeface="Times New Roman" pitchFamily="18" charset="0"/>
            </a:endParaRPr>
          </a:p>
        </p:txBody>
      </p:sp>
      <p:sp>
        <p:nvSpPr>
          <p:cNvPr id="87057" name="직사각형 16"/>
          <p:cNvSpPr>
            <a:spLocks noChangeArrowheads="1"/>
          </p:cNvSpPr>
          <p:nvPr/>
        </p:nvSpPr>
        <p:spPr bwMode="auto">
          <a:xfrm>
            <a:off x="6773863" y="1916113"/>
            <a:ext cx="89376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Lon nhôm</a:t>
            </a:r>
          </a:p>
        </p:txBody>
      </p:sp>
      <p:sp>
        <p:nvSpPr>
          <p:cNvPr id="87058" name="직사각형 17"/>
          <p:cNvSpPr>
            <a:spLocks noChangeArrowheads="1"/>
          </p:cNvSpPr>
          <p:nvPr/>
        </p:nvSpPr>
        <p:spPr bwMode="auto">
          <a:xfrm>
            <a:off x="6773863" y="2347913"/>
            <a:ext cx="11017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Biểu thị điện dung</a:t>
            </a:r>
          </a:p>
        </p:txBody>
      </p:sp>
      <p:sp>
        <p:nvSpPr>
          <p:cNvPr id="87059" name="직사각형 18"/>
          <p:cNvSpPr>
            <a:spLocks noChangeArrowheads="1"/>
          </p:cNvSpPr>
          <p:nvPr/>
        </p:nvSpPr>
        <p:spPr bwMode="auto">
          <a:xfrm>
            <a:off x="6710363" y="2781300"/>
            <a:ext cx="741362"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Đệm cao su</a:t>
            </a:r>
          </a:p>
        </p:txBody>
      </p:sp>
      <p:sp>
        <p:nvSpPr>
          <p:cNvPr id="87060" name="직사각형 19"/>
          <p:cNvSpPr>
            <a:spLocks noChangeArrowheads="1"/>
          </p:cNvSpPr>
          <p:nvPr/>
        </p:nvSpPr>
        <p:spPr bwMode="auto">
          <a:xfrm>
            <a:off x="6773863" y="3068638"/>
            <a:ext cx="74136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Dây dẫn</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515259E-36C1-4518-ABFF-B34A6DE599D8}" type="slidenum">
              <a:rPr lang="en-US" altLang="ko-KR" sz="1400" smtClean="0">
                <a:latin typeface="Times New Roman" pitchFamily="18" charset="0"/>
                <a:cs typeface="Times New Roman" pitchFamily="18" charset="0"/>
              </a:rPr>
              <a:pPr eaLnBrk="1" hangingPunct="1"/>
              <a:t>81</a:t>
            </a:fld>
            <a:endParaRPr lang="en-US" altLang="ko-KR" sz="1400" smtClean="0">
              <a:latin typeface="Times New Roman" pitchFamily="18" charset="0"/>
              <a:cs typeface="Times New Roman" pitchFamily="18" charset="0"/>
            </a:endParaRPr>
          </a:p>
        </p:txBody>
      </p:sp>
      <p:sp>
        <p:nvSpPr>
          <p:cNvPr id="88067"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806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Tụ Mylar (Mylar Capacitor)</a:t>
            </a:r>
          </a:p>
          <a:p>
            <a:pPr eaLnBrk="1" hangingPunct="1"/>
            <a:endParaRPr lang="en-US" altLang="ko-KR" b="1">
              <a:latin typeface="Times New Roman" pitchFamily="18" charset="0"/>
              <a:cs typeface="Times New Roman" pitchFamily="18" charset="0"/>
            </a:endParaRPr>
          </a:p>
        </p:txBody>
      </p:sp>
      <p:sp>
        <p:nvSpPr>
          <p:cNvPr id="88069"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88070" name="Rectangle 5"/>
          <p:cNvSpPr>
            <a:spLocks noChangeArrowheads="1"/>
          </p:cNvSpPr>
          <p:nvPr/>
        </p:nvSpPr>
        <p:spPr bwMode="auto">
          <a:xfrm>
            <a:off x="1042988" y="3073400"/>
            <a:ext cx="1485900" cy="152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Điện dung</a:t>
            </a:r>
            <a:endParaRPr lang="ko-KR" altLang="en-US">
              <a:latin typeface="Times New Roman" pitchFamily="18" charset="0"/>
              <a:cs typeface="Times New Roman" pitchFamily="18" charset="0"/>
            </a:endParaRPr>
          </a:p>
        </p:txBody>
      </p:sp>
      <p:sp>
        <p:nvSpPr>
          <p:cNvPr id="88071" name="Rectangle 6"/>
          <p:cNvSpPr>
            <a:spLocks noChangeArrowheads="1"/>
          </p:cNvSpPr>
          <p:nvPr/>
        </p:nvSpPr>
        <p:spPr bwMode="auto">
          <a:xfrm>
            <a:off x="2528888" y="3073400"/>
            <a:ext cx="5613400" cy="152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loại tụ điện có điện dung nhỏ hơn tụ hóa và điện dung đó vào khoảng0.001[μF] ~  0.82[μF] .</a:t>
            </a:r>
          </a:p>
        </p:txBody>
      </p:sp>
      <p:sp>
        <p:nvSpPr>
          <p:cNvPr id="88072" name="Rectangle 7"/>
          <p:cNvSpPr>
            <a:spLocks noChangeArrowheads="1"/>
          </p:cNvSpPr>
          <p:nvPr/>
        </p:nvSpPr>
        <p:spPr bwMode="auto">
          <a:xfrm>
            <a:off x="1042988" y="4597400"/>
            <a:ext cx="14859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Dải tần số sử dụng</a:t>
            </a:r>
            <a:endParaRPr lang="ko-KR" altLang="en-US">
              <a:latin typeface="Times New Roman" pitchFamily="18" charset="0"/>
              <a:cs typeface="Times New Roman" pitchFamily="18" charset="0"/>
            </a:endParaRPr>
          </a:p>
        </p:txBody>
      </p:sp>
      <p:sp>
        <p:nvSpPr>
          <p:cNvPr id="88073" name="Rectangle 8"/>
          <p:cNvSpPr>
            <a:spLocks noChangeArrowheads="1"/>
          </p:cNvSpPr>
          <p:nvPr/>
        </p:nvSpPr>
        <p:spPr bwMode="auto">
          <a:xfrm>
            <a:off x="2528888" y="4597400"/>
            <a:ext cx="56134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Sử dụng ở dải tần số cao(dải tần số trung bình) hơn tụ hóa.</a:t>
            </a:r>
          </a:p>
        </p:txBody>
      </p:sp>
      <p:sp>
        <p:nvSpPr>
          <p:cNvPr id="88074" name="Rectangle 9"/>
          <p:cNvSpPr>
            <a:spLocks noChangeArrowheads="1"/>
          </p:cNvSpPr>
          <p:nvPr/>
        </p:nvSpPr>
        <p:spPr bwMode="auto">
          <a:xfrm>
            <a:off x="1042988" y="4978400"/>
            <a:ext cx="14859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Hạng mục cần chú ý</a:t>
            </a:r>
            <a:endParaRPr lang="ko-KR" altLang="en-US">
              <a:latin typeface="Times New Roman" pitchFamily="18" charset="0"/>
              <a:cs typeface="Times New Roman" pitchFamily="18" charset="0"/>
            </a:endParaRPr>
          </a:p>
        </p:txBody>
      </p:sp>
      <p:sp>
        <p:nvSpPr>
          <p:cNvPr id="88075" name="Rectangle 10"/>
          <p:cNvSpPr>
            <a:spLocks noChangeArrowheads="1"/>
          </p:cNvSpPr>
          <p:nvPr/>
        </p:nvSpPr>
        <p:spPr bwMode="auto">
          <a:xfrm>
            <a:off x="2528888" y="4978400"/>
            <a:ext cx="56134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Thông thường sử dụng ở mạch ghép hoặc mạch hằng số thời gian nhanh, và do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ôm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hầu như không sử dụng ở tần số cao. Sự tổn hao chất điện môi là khá lớn nên nó không tốt khi sử dụng với dòng điện lớn.</a:t>
            </a:r>
          </a:p>
          <a:p>
            <a:pPr eaLnBrk="1" hangingPunct="1"/>
            <a:endParaRPr lang="en-US" altLang="ko-KR">
              <a:latin typeface="Times New Roman" pitchFamily="18" charset="0"/>
              <a:cs typeface="Times New Roman" pitchFamily="18" charset="0"/>
            </a:endParaRPr>
          </a:p>
        </p:txBody>
      </p:sp>
      <p:pic>
        <p:nvPicPr>
          <p:cNvPr id="88076" name="Picture 11" descr="마일러콘덴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263" y="1412875"/>
            <a:ext cx="3665537" cy="15478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807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788" y="1412875"/>
            <a:ext cx="3224212" cy="15303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78" name="Rectangle 13"/>
          <p:cNvSpPr>
            <a:spLocks noChangeArrowheads="1"/>
          </p:cNvSpPr>
          <p:nvPr/>
        </p:nvSpPr>
        <p:spPr bwMode="auto">
          <a:xfrm>
            <a:off x="2876550" y="3683000"/>
            <a:ext cx="255905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1 0      4        K       100V</a:t>
            </a:r>
          </a:p>
        </p:txBody>
      </p:sp>
      <p:sp>
        <p:nvSpPr>
          <p:cNvPr id="88079" name="Line 14"/>
          <p:cNvSpPr>
            <a:spLocks noChangeShapeType="1"/>
          </p:cNvSpPr>
          <p:nvPr/>
        </p:nvSpPr>
        <p:spPr bwMode="auto">
          <a:xfrm>
            <a:off x="3436938" y="3759200"/>
            <a:ext cx="0" cy="762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8080" name="Line 15"/>
          <p:cNvSpPr>
            <a:spLocks noChangeShapeType="1"/>
          </p:cNvSpPr>
          <p:nvPr/>
        </p:nvSpPr>
        <p:spPr bwMode="auto">
          <a:xfrm>
            <a:off x="4014788" y="3759200"/>
            <a:ext cx="0" cy="762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8081" name="Line 16"/>
          <p:cNvSpPr>
            <a:spLocks noChangeShapeType="1"/>
          </p:cNvSpPr>
          <p:nvPr/>
        </p:nvSpPr>
        <p:spPr bwMode="auto">
          <a:xfrm>
            <a:off x="4675188" y="3759200"/>
            <a:ext cx="0" cy="762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88082" name="Text Box 17"/>
          <p:cNvSpPr txBox="1">
            <a:spLocks noChangeArrowheads="1"/>
          </p:cNvSpPr>
          <p:nvPr/>
        </p:nvSpPr>
        <p:spPr bwMode="auto">
          <a:xfrm>
            <a:off x="2700338" y="4048125"/>
            <a:ext cx="41290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Giá trị điện dung</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Số nhân</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Dung sai</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Hiệu điện thế</a:t>
            </a:r>
            <a:endParaRPr lang="ko-KR" altLang="en-US" sz="1000">
              <a:latin typeface="Times New Roman" pitchFamily="18" charset="0"/>
              <a:cs typeface="Times New Roman" pitchFamily="18" charset="0"/>
            </a:endParaRPr>
          </a:p>
          <a:p>
            <a:pPr eaLnBrk="1" hangingPunct="1"/>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10   X    10⁴    ±10[%]    100V             = 100,000[pF] = 0.1[μF] ±10[%] </a:t>
            </a:r>
          </a:p>
        </p:txBody>
      </p:sp>
      <p:sp>
        <p:nvSpPr>
          <p:cNvPr id="88083" name="Text Box 18"/>
          <p:cNvSpPr txBox="1">
            <a:spLocks noChangeArrowheads="1"/>
          </p:cNvSpPr>
          <p:nvPr/>
        </p:nvSpPr>
        <p:spPr bwMode="auto">
          <a:xfrm>
            <a:off x="5583238" y="3683000"/>
            <a:ext cx="25447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Thông thường dung sai sử dụng là</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J (±5%), K (±10%).</a:t>
            </a:r>
          </a:p>
        </p:txBody>
      </p:sp>
      <p:sp>
        <p:nvSpPr>
          <p:cNvPr id="88084" name="직사각형 19"/>
          <p:cNvSpPr>
            <a:spLocks noChangeArrowheads="1"/>
          </p:cNvSpPr>
          <p:nvPr/>
        </p:nvSpPr>
        <p:spPr bwMode="auto">
          <a:xfrm>
            <a:off x="6443663" y="2349500"/>
            <a:ext cx="74295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Dây dẫn</a:t>
            </a:r>
          </a:p>
        </p:txBody>
      </p:sp>
      <p:sp>
        <p:nvSpPr>
          <p:cNvPr id="88085" name="직사각형 20"/>
          <p:cNvSpPr>
            <a:spLocks noChangeArrowheads="1"/>
          </p:cNvSpPr>
          <p:nvPr/>
        </p:nvSpPr>
        <p:spPr bwMode="auto">
          <a:xfrm>
            <a:off x="6443663" y="1557338"/>
            <a:ext cx="1289050"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Khuôn Resin tổng hợp</a:t>
            </a:r>
          </a:p>
        </p:txBody>
      </p:sp>
      <p:sp>
        <p:nvSpPr>
          <p:cNvPr id="88086" name="직사각형 21"/>
          <p:cNvSpPr>
            <a:spLocks noChangeArrowheads="1"/>
          </p:cNvSpPr>
          <p:nvPr/>
        </p:nvSpPr>
        <p:spPr bwMode="auto">
          <a:xfrm>
            <a:off x="6443663" y="1916113"/>
            <a:ext cx="1792287"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Biểu thị điện dung và hiệu điện thế</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AACA21C-D989-4626-8EB8-DFA02231124E}" type="slidenum">
              <a:rPr lang="en-US" altLang="ko-KR" sz="1400" smtClean="0">
                <a:latin typeface="Times New Roman" pitchFamily="18" charset="0"/>
                <a:cs typeface="Times New Roman" pitchFamily="18" charset="0"/>
              </a:rPr>
              <a:pPr eaLnBrk="1" hangingPunct="1"/>
              <a:t>82</a:t>
            </a:fld>
            <a:endParaRPr lang="en-US" altLang="ko-KR" sz="1400" smtClean="0">
              <a:latin typeface="Times New Roman" pitchFamily="18" charset="0"/>
              <a:cs typeface="Times New Roman" pitchFamily="18" charset="0"/>
            </a:endParaRPr>
          </a:p>
        </p:txBody>
      </p:sp>
      <p:sp>
        <p:nvSpPr>
          <p:cNvPr id="89091"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8909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Tụ sứ(Ceramic Capacitor)</a:t>
            </a:r>
          </a:p>
          <a:p>
            <a:pPr eaLnBrk="1" hangingPunct="1"/>
            <a:endParaRPr lang="en-US" altLang="ko-KR"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89093"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89094" name="Rectangle 5"/>
          <p:cNvSpPr>
            <a:spLocks noChangeArrowheads="1"/>
          </p:cNvSpPr>
          <p:nvPr/>
        </p:nvSpPr>
        <p:spPr bwMode="auto">
          <a:xfrm>
            <a:off x="1073150" y="3000375"/>
            <a:ext cx="1485900"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Điện dung</a:t>
            </a:r>
            <a:endParaRPr lang="ko-KR" altLang="en-US">
              <a:latin typeface="Times New Roman" pitchFamily="18" charset="0"/>
              <a:cs typeface="Times New Roman" pitchFamily="18" charset="0"/>
            </a:endParaRPr>
          </a:p>
        </p:txBody>
      </p:sp>
      <p:sp>
        <p:nvSpPr>
          <p:cNvPr id="89095" name="Rectangle 6"/>
          <p:cNvSpPr>
            <a:spLocks noChangeArrowheads="1"/>
          </p:cNvSpPr>
          <p:nvPr/>
        </p:nvSpPr>
        <p:spPr bwMode="auto">
          <a:xfrm>
            <a:off x="1073150" y="4219575"/>
            <a:ext cx="14859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Dải tần số sử dụng</a:t>
            </a:r>
            <a:endParaRPr lang="ko-KR" altLang="en-US">
              <a:latin typeface="Times New Roman" pitchFamily="18" charset="0"/>
              <a:cs typeface="Times New Roman" pitchFamily="18" charset="0"/>
            </a:endParaRPr>
          </a:p>
        </p:txBody>
      </p:sp>
      <p:sp>
        <p:nvSpPr>
          <p:cNvPr id="89096" name="Rectangle 7"/>
          <p:cNvSpPr>
            <a:spLocks noChangeArrowheads="1"/>
          </p:cNvSpPr>
          <p:nvPr/>
        </p:nvSpPr>
        <p:spPr bwMode="auto">
          <a:xfrm>
            <a:off x="2559050" y="4219575"/>
            <a:ext cx="56134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Chủ yếu được sử dụng ở dải tần số cao. Tức được sử dụng ở mạch cộng hưởng tần số AM hoặc FM…và cũng được sử dụng ở nút điều chỉnh điện tử của tivi hoặc lựa chọn tần số.</a:t>
            </a:r>
          </a:p>
        </p:txBody>
      </p:sp>
      <p:sp>
        <p:nvSpPr>
          <p:cNvPr id="89097" name="Rectangle 8"/>
          <p:cNvSpPr>
            <a:spLocks noChangeArrowheads="1"/>
          </p:cNvSpPr>
          <p:nvPr/>
        </p:nvSpPr>
        <p:spPr bwMode="auto">
          <a:xfrm>
            <a:off x="1073150" y="4905375"/>
            <a:ext cx="1485900"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Chú ý khi sử dụng</a:t>
            </a:r>
            <a:endParaRPr lang="ko-KR" altLang="en-US">
              <a:latin typeface="Times New Roman" pitchFamily="18" charset="0"/>
              <a:cs typeface="Times New Roman" pitchFamily="18" charset="0"/>
            </a:endParaRPr>
          </a:p>
        </p:txBody>
      </p:sp>
      <p:sp>
        <p:nvSpPr>
          <p:cNvPr id="89098" name="Rectangle 9"/>
          <p:cNvSpPr>
            <a:spLocks noChangeArrowheads="1"/>
          </p:cNvSpPr>
          <p:nvPr/>
        </p:nvSpPr>
        <p:spPr bwMode="auto">
          <a:xfrm>
            <a:off x="2559050" y="4905375"/>
            <a:ext cx="5613400"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Tụ sứ</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làm có chân được làm bằng chất liệu bạc và thân được làm bằng sứ dưới dạng miếng tròn mỏng nên khi mang vác cần phải chú ý. Nếu mở hai dây dẫn ra quá mức sẽ làm hỏng phần được đúc. Theo đó khi Forming dây dẫn của tụ sứ cần phải chú ý.</a:t>
            </a:r>
          </a:p>
        </p:txBody>
      </p:sp>
      <p:pic>
        <p:nvPicPr>
          <p:cNvPr id="89099" name="Picture 10" descr="celamiccon"/>
          <p:cNvPicPr>
            <a:picLocks noChangeAspect="1" noChangeArrowheads="1"/>
          </p:cNvPicPr>
          <p:nvPr/>
        </p:nvPicPr>
        <p:blipFill>
          <a:blip r:embed="rId3">
            <a:extLst>
              <a:ext uri="{28A0092B-C50C-407E-A947-70E740481C1C}">
                <a14:useLocalDpi xmlns:a14="http://schemas.microsoft.com/office/drawing/2010/main" val="0"/>
              </a:ext>
            </a:extLst>
          </a:blip>
          <a:srcRect r="-165"/>
          <a:stretch>
            <a:fillRect/>
          </a:stretch>
        </p:blipFill>
        <p:spPr bwMode="auto">
          <a:xfrm>
            <a:off x="1073150" y="1446213"/>
            <a:ext cx="2063750" cy="14700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9100" name="Rectangle 11"/>
          <p:cNvSpPr>
            <a:spLocks noChangeArrowheads="1"/>
          </p:cNvSpPr>
          <p:nvPr/>
        </p:nvSpPr>
        <p:spPr bwMode="auto">
          <a:xfrm>
            <a:off x="2559050" y="3000375"/>
            <a:ext cx="5613400"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Tụ sứ là loại tụ được sử dụng trong phạm vi rộng rãi từ điện dung rất nhỏ đến điện dung lớn. Phạm vi của điện dung rất đa dạng, từ</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1[pF] ~ 0.1[μF]. Công suất được in và hiệu điện thế hầu như thấp vào khoảng 25[V],50[V]…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bán trên thị trường với hiệu điện thế cao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nhưng giá cả rất đắt. Cách giải mã điện dung giống với trường hợp của tụ Mylar..</a:t>
            </a:r>
          </a:p>
        </p:txBody>
      </p:sp>
      <p:pic>
        <p:nvPicPr>
          <p:cNvPr id="89101"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0" y="1450975"/>
            <a:ext cx="2063750" cy="1473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02" name="Text Box 13"/>
          <p:cNvSpPr txBox="1">
            <a:spLocks noChangeArrowheads="1"/>
          </p:cNvSpPr>
          <p:nvPr/>
        </p:nvSpPr>
        <p:spPr bwMode="auto">
          <a:xfrm>
            <a:off x="5903913" y="1412875"/>
            <a:ext cx="17875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Đặc tính nhiệt độ theo màu</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pic>
        <p:nvPicPr>
          <p:cNvPr id="89103"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0850" y="1649413"/>
            <a:ext cx="2641600" cy="12620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pic>
      <p:sp>
        <p:nvSpPr>
          <p:cNvPr id="89104" name="직사각형 1"/>
          <p:cNvSpPr>
            <a:spLocks noChangeArrowheads="1"/>
          </p:cNvSpPr>
          <p:nvPr/>
        </p:nvSpPr>
        <p:spPr bwMode="auto">
          <a:xfrm>
            <a:off x="5508625" y="1628775"/>
            <a:ext cx="503238"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Biểu thị</a:t>
            </a:r>
            <a:endParaRPr lang="ko-KR" altLang="en-US" sz="700">
              <a:latin typeface="Times New Roman" pitchFamily="18" charset="0"/>
              <a:cs typeface="Times New Roman" pitchFamily="18" charset="0"/>
            </a:endParaRPr>
          </a:p>
        </p:txBody>
      </p:sp>
      <p:sp>
        <p:nvSpPr>
          <p:cNvPr id="89105" name="직사각형 16"/>
          <p:cNvSpPr>
            <a:spLocks noChangeArrowheads="1"/>
          </p:cNvSpPr>
          <p:nvPr/>
        </p:nvSpPr>
        <p:spPr bwMode="auto">
          <a:xfrm>
            <a:off x="6084888" y="1628775"/>
            <a:ext cx="503237"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a:t>
            </a:r>
            <a:endParaRPr lang="ko-KR" altLang="en-US" sz="800">
              <a:latin typeface="Times New Roman" pitchFamily="18" charset="0"/>
              <a:cs typeface="Times New Roman" pitchFamily="18" charset="0"/>
            </a:endParaRPr>
          </a:p>
        </p:txBody>
      </p:sp>
      <p:sp>
        <p:nvSpPr>
          <p:cNvPr id="89106" name="직사각형 17"/>
          <p:cNvSpPr>
            <a:spLocks noChangeArrowheads="1"/>
          </p:cNvSpPr>
          <p:nvPr/>
        </p:nvSpPr>
        <p:spPr bwMode="auto">
          <a:xfrm>
            <a:off x="7051675" y="1628775"/>
            <a:ext cx="639763"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Nhiệt độ</a:t>
            </a:r>
            <a:endParaRPr lang="ko-KR" altLang="en-US" sz="800">
              <a:latin typeface="Times New Roman" pitchFamily="18" charset="0"/>
              <a:cs typeface="Times New Roman" pitchFamily="18" charset="0"/>
            </a:endParaRPr>
          </a:p>
        </p:txBody>
      </p:sp>
      <p:sp>
        <p:nvSpPr>
          <p:cNvPr id="89107" name="직사각형 18"/>
          <p:cNvSpPr>
            <a:spLocks noChangeArrowheads="1"/>
          </p:cNvSpPr>
          <p:nvPr/>
        </p:nvSpPr>
        <p:spPr bwMode="auto">
          <a:xfrm>
            <a:off x="6084888" y="1811338"/>
            <a:ext cx="503237"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Màu đen</a:t>
            </a:r>
            <a:endParaRPr lang="ko-KR" altLang="en-US" sz="700">
              <a:latin typeface="Times New Roman" pitchFamily="18" charset="0"/>
              <a:cs typeface="Times New Roman" pitchFamily="18" charset="0"/>
            </a:endParaRPr>
          </a:p>
        </p:txBody>
      </p:sp>
      <p:sp>
        <p:nvSpPr>
          <p:cNvPr id="89108" name="직사각형 19"/>
          <p:cNvSpPr>
            <a:spLocks noChangeArrowheads="1"/>
          </p:cNvSpPr>
          <p:nvPr/>
        </p:nvSpPr>
        <p:spPr bwMode="auto">
          <a:xfrm>
            <a:off x="6130925" y="1989138"/>
            <a:ext cx="385763"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Vàng</a:t>
            </a:r>
            <a:endParaRPr lang="ko-KR" altLang="en-US" sz="700">
              <a:latin typeface="Times New Roman" pitchFamily="18" charset="0"/>
              <a:cs typeface="Times New Roman" pitchFamily="18" charset="0"/>
            </a:endParaRPr>
          </a:p>
        </p:txBody>
      </p:sp>
      <p:sp>
        <p:nvSpPr>
          <p:cNvPr id="89109" name="직사각형 20"/>
          <p:cNvSpPr>
            <a:spLocks noChangeArrowheads="1"/>
          </p:cNvSpPr>
          <p:nvPr/>
        </p:nvSpPr>
        <p:spPr bwMode="auto">
          <a:xfrm>
            <a:off x="6045200" y="2171700"/>
            <a:ext cx="614363"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Xanh lá cây</a:t>
            </a:r>
            <a:endParaRPr lang="ko-KR" altLang="en-US" sz="700">
              <a:latin typeface="Times New Roman" pitchFamily="18" charset="0"/>
              <a:cs typeface="Times New Roman" pitchFamily="18" charset="0"/>
            </a:endParaRPr>
          </a:p>
        </p:txBody>
      </p:sp>
      <p:sp>
        <p:nvSpPr>
          <p:cNvPr id="89110" name="직사각형 21"/>
          <p:cNvSpPr>
            <a:spLocks noChangeArrowheads="1"/>
          </p:cNvSpPr>
          <p:nvPr/>
        </p:nvSpPr>
        <p:spPr bwMode="auto">
          <a:xfrm>
            <a:off x="6011863" y="2387600"/>
            <a:ext cx="647700"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Xanh da trời</a:t>
            </a:r>
            <a:endParaRPr lang="ko-KR" altLang="en-US" sz="700">
              <a:latin typeface="Times New Roman" pitchFamily="18" charset="0"/>
              <a:cs typeface="Times New Roman" pitchFamily="18" charset="0"/>
            </a:endParaRPr>
          </a:p>
        </p:txBody>
      </p:sp>
      <p:sp>
        <p:nvSpPr>
          <p:cNvPr id="89111" name="직사각형 22"/>
          <p:cNvSpPr>
            <a:spLocks noChangeArrowheads="1"/>
          </p:cNvSpPr>
          <p:nvPr/>
        </p:nvSpPr>
        <p:spPr bwMode="auto">
          <a:xfrm>
            <a:off x="6084888" y="2565400"/>
            <a:ext cx="503237" cy="1762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Màu tím</a:t>
            </a:r>
            <a:endParaRPr lang="ko-KR" altLang="en-US" sz="700">
              <a:latin typeface="Times New Roman" pitchFamily="18" charset="0"/>
              <a:cs typeface="Times New Roman" pitchFamily="18" charset="0"/>
            </a:endParaRPr>
          </a:p>
        </p:txBody>
      </p:sp>
      <p:sp>
        <p:nvSpPr>
          <p:cNvPr id="89112" name="직사각형 23"/>
          <p:cNvSpPr>
            <a:spLocks noChangeArrowheads="1"/>
          </p:cNvSpPr>
          <p:nvPr/>
        </p:nvSpPr>
        <p:spPr bwMode="auto">
          <a:xfrm>
            <a:off x="6011863" y="2708275"/>
            <a:ext cx="630237" cy="177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700">
                <a:latin typeface="Times New Roman" pitchFamily="18" charset="0"/>
                <a:cs typeface="Times New Roman" pitchFamily="18" charset="0"/>
              </a:rPr>
              <a:t>Không màu</a:t>
            </a:r>
            <a:endParaRPr lang="ko-KR" altLang="en-US" sz="700">
              <a:latin typeface="Times New Roman" pitchFamily="18" charset="0"/>
              <a:cs typeface="Times New Roman" pitchFamily="18" charset="0"/>
            </a:endParaRPr>
          </a:p>
        </p:txBody>
      </p:sp>
      <p:sp>
        <p:nvSpPr>
          <p:cNvPr id="89113" name="직사각형 24"/>
          <p:cNvSpPr>
            <a:spLocks noChangeArrowheads="1"/>
          </p:cNvSpPr>
          <p:nvPr/>
        </p:nvSpPr>
        <p:spPr bwMode="auto">
          <a:xfrm>
            <a:off x="4081463" y="2263775"/>
            <a:ext cx="635000" cy="212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Dây dẫn</a:t>
            </a:r>
            <a:endParaRPr lang="ko-KR" altLang="en-US" sz="1000">
              <a:latin typeface="Times New Roman" pitchFamily="18" charset="0"/>
              <a:cs typeface="Times New Roman" pitchFamily="18" charset="0"/>
            </a:endParaRPr>
          </a:p>
        </p:txBody>
      </p:sp>
      <p:sp>
        <p:nvSpPr>
          <p:cNvPr id="89114" name="직사각형 25"/>
          <p:cNvSpPr>
            <a:spLocks noChangeArrowheads="1"/>
          </p:cNvSpPr>
          <p:nvPr/>
        </p:nvSpPr>
        <p:spPr bwMode="auto">
          <a:xfrm>
            <a:off x="4140200" y="1781175"/>
            <a:ext cx="792163" cy="2968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Thân tụ</a:t>
            </a:r>
            <a:endParaRPr lang="ko-KR" altLang="en-US" sz="1000">
              <a:latin typeface="Times New Roman" pitchFamily="18" charset="0"/>
              <a:cs typeface="Times New Roman" pitchFamily="18" charset="0"/>
            </a:endParaRPr>
          </a:p>
        </p:txBody>
      </p:sp>
      <p:sp>
        <p:nvSpPr>
          <p:cNvPr id="89115" name="직사각형 26"/>
          <p:cNvSpPr>
            <a:spLocks noChangeArrowheads="1"/>
          </p:cNvSpPr>
          <p:nvPr/>
        </p:nvSpPr>
        <p:spPr bwMode="auto">
          <a:xfrm>
            <a:off x="3995738" y="1536700"/>
            <a:ext cx="1417637" cy="2111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 biểu thị đặc tính nhiệt độ</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DA3D42F-B8FD-4CF3-A3E5-7845648152FA}" type="slidenum">
              <a:rPr lang="en-US" altLang="ko-KR" sz="1400" smtClean="0">
                <a:latin typeface="Times New Roman" pitchFamily="18" charset="0"/>
                <a:cs typeface="Times New Roman" pitchFamily="18" charset="0"/>
              </a:rPr>
              <a:pPr eaLnBrk="1" hangingPunct="1"/>
              <a:t>83</a:t>
            </a:fld>
            <a:endParaRPr lang="en-US" altLang="ko-KR" sz="1400" smtClean="0">
              <a:latin typeface="Times New Roman" pitchFamily="18" charset="0"/>
              <a:cs typeface="Times New Roman" pitchFamily="18" charset="0"/>
            </a:endParaRPr>
          </a:p>
        </p:txBody>
      </p:sp>
      <p:sp>
        <p:nvSpPr>
          <p:cNvPr id="90115"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011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Tụ điện Tantan(Tantal Capacitor)</a:t>
            </a:r>
          </a:p>
          <a:p>
            <a:pPr eaLnBrk="1" hangingPunct="1"/>
            <a:r>
              <a:rPr lang="en-US" altLang="ko-KR">
                <a:latin typeface="Times New Roman" pitchFamily="18" charset="0"/>
                <a:cs typeface="Times New Roman" pitchFamily="18" charset="0"/>
              </a:rPr>
              <a:t> Có cùng điện dung với tụ hóa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nhưng do giá cả của tụ có </a:t>
            </a:r>
          </a:p>
          <a:p>
            <a:pPr eaLnBrk="1" hangingPunct="1"/>
            <a:r>
              <a:rPr lang="en-US" altLang="ko-KR">
                <a:latin typeface="Times New Roman" pitchFamily="18" charset="0"/>
                <a:cs typeface="Times New Roman" pitchFamily="18" charset="0"/>
              </a:rPr>
              <a:t>điện dung cao và tụ có hiệu điện thế cao thì đắt nên thường </a:t>
            </a:r>
          </a:p>
          <a:p>
            <a:pPr eaLnBrk="1" hangingPunct="1"/>
            <a:r>
              <a:rPr lang="en-US" altLang="ko-KR">
                <a:latin typeface="Times New Roman" pitchFamily="18" charset="0"/>
                <a:cs typeface="Times New Roman" pitchFamily="18" charset="0"/>
              </a:rPr>
              <a:t>không sử dụng. Khi sử dụng tụ tantan bắt buộc phải chú ý </a:t>
            </a:r>
          </a:p>
          <a:p>
            <a:pPr eaLnBrk="1" hangingPunct="1"/>
            <a:r>
              <a:rPr lang="en-US" altLang="ko-KR">
                <a:latin typeface="Times New Roman" pitchFamily="18" charset="0"/>
                <a:cs typeface="Times New Roman" pitchFamily="18" charset="0"/>
              </a:rPr>
              <a:t>đến cực của tụ(nổ). Dòng điện nạp vào và phóng ra</a:t>
            </a:r>
          </a:p>
          <a:p>
            <a:pPr eaLnBrk="1" hangingPunct="1"/>
            <a:r>
              <a:rPr lang="en-US" altLang="ko-KR">
                <a:latin typeface="Times New Roman" pitchFamily="18" charset="0"/>
                <a:cs typeface="Times New Roman" pitchFamily="18" charset="0"/>
              </a:rPr>
              <a:t>của tụ phải theo giá trị quy định một cách nghiêm ngặt.</a:t>
            </a:r>
          </a:p>
          <a:p>
            <a:pPr eaLnBrk="1" hangingPunct="1"/>
            <a:r>
              <a:rPr lang="en-US" altLang="ko-KR">
                <a:latin typeface="Times New Roman" pitchFamily="18" charset="0"/>
                <a:cs typeface="Times New Roman" pitchFamily="18" charset="0"/>
              </a:rPr>
              <a:t>Tuyệt đối tuân thủ hiệu điện thế</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của tụ. Nếu không </a:t>
            </a:r>
          </a:p>
          <a:p>
            <a:pPr eaLnBrk="1" hangingPunct="1"/>
            <a:r>
              <a:rPr lang="en-US" altLang="ko-KR">
                <a:latin typeface="Times New Roman" pitchFamily="18" charset="0"/>
                <a:cs typeface="Times New Roman" pitchFamily="18" charset="0"/>
              </a:rPr>
              <a:t>có thể bị phá hỏng do Short Mode. Hơn nữa Tantan kim loại dễ bị ô xi hóa, khi bị hỏng sẽ bốc cháy nên tốt nhất ngoài trường hợp thiết kế chuyên dụng một cách đặc biệt thì nên sử dụng như Pass Condenser của nguồn điện.</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(5) Tụ Styrol(Styrol Capacitor)</a:t>
            </a:r>
          </a:p>
          <a:p>
            <a:pPr eaLnBrk="1" hangingPunct="1"/>
            <a:r>
              <a:rPr lang="en-US" altLang="ko-KR">
                <a:latin typeface="Times New Roman" pitchFamily="18" charset="0"/>
                <a:cs typeface="Times New Roman" pitchFamily="18" charset="0"/>
              </a:rPr>
              <a:t> Tu Styrol được sử dụng trong mạch liên hệ ngược có yêu cầu sự dao động một cách ổn định (ví dụ</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mạch dao động sóng răng cưa của mạch…).</a:t>
            </a:r>
          </a:p>
          <a:p>
            <a:pPr eaLnBrk="1" hangingPunct="1"/>
            <a:r>
              <a:rPr lang="en-US" altLang="ko-KR">
                <a:latin typeface="Times New Roman" pitchFamily="18" charset="0"/>
                <a:cs typeface="Times New Roman" pitchFamily="18" charset="0"/>
              </a:rPr>
              <a:t>Resin Styrol có phạm vi nhiệt độ sử dụng hẹp từ</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-10℃ ∼</a:t>
            </a:r>
          </a:p>
          <a:p>
            <a:pPr eaLnBrk="1" hangingPunct="1"/>
            <a:r>
              <a:rPr lang="en-US" altLang="ko-KR">
                <a:latin typeface="Times New Roman" pitchFamily="18" charset="0"/>
                <a:cs typeface="Times New Roman" pitchFamily="18" charset="0"/>
              </a:rPr>
              <a:t>+70℃, hơn nữa có nhược điểm là bị chảy ở nhiều loại dung</a:t>
            </a:r>
          </a:p>
          <a:p>
            <a:pPr eaLnBrk="1" hangingPunct="1"/>
            <a:r>
              <a:rPr lang="en-US" altLang="ko-KR">
                <a:latin typeface="Times New Roman" pitchFamily="18" charset="0"/>
                <a:cs typeface="Times New Roman" pitchFamily="18" charset="0"/>
              </a:rPr>
              <a:t>môi hữu cơ nên về cơ bản là không tự động gài/vệ sinh được. </a:t>
            </a:r>
          </a:p>
          <a:p>
            <a:pPr eaLnBrk="1" hangingPunct="1"/>
            <a:r>
              <a:rPr lang="en-US" altLang="ko-KR">
                <a:latin typeface="Times New Roman" pitchFamily="18" charset="0"/>
                <a:cs typeface="Times New Roman" pitchFamily="18" charset="0"/>
              </a:rPr>
              <a:t>Đối với khoảng tần số cao, sử dụng sản phẩm dạng ôm không </a:t>
            </a:r>
          </a:p>
          <a:p>
            <a:pPr eaLnBrk="1" hangingPunct="1"/>
            <a:r>
              <a:rPr lang="en-US" altLang="ko-KR">
                <a:latin typeface="Times New Roman" pitchFamily="18" charset="0"/>
                <a:cs typeface="Times New Roman" pitchFamily="18" charset="0"/>
              </a:rPr>
              <a:t>tự cảm có độ tự cảm ứng nhỏ. Chú ý khi điện dung lớn thì thân của tụ sẽ </a:t>
            </a:r>
          </a:p>
          <a:p>
            <a:pPr eaLnBrk="1" hangingPunct="1"/>
            <a:r>
              <a:rPr lang="en-US" altLang="ko-KR">
                <a:latin typeface="Times New Roman" pitchFamily="18" charset="0"/>
                <a:cs typeface="Times New Roman" pitchFamily="18" charset="0"/>
              </a:rPr>
              <a:t>to ra.</a:t>
            </a:r>
          </a:p>
        </p:txBody>
      </p:sp>
      <p:sp>
        <p:nvSpPr>
          <p:cNvPr id="90117"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pic>
        <p:nvPicPr>
          <p:cNvPr id="90118" name="Picture 5" descr="탄탈콘덴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1144588"/>
            <a:ext cx="2706687" cy="12763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0119" name="Picture 6" descr="스티롤 콘덴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3744913"/>
            <a:ext cx="2720975" cy="1268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0F95D37-77D0-4765-B8E7-D3AC6380253D}" type="slidenum">
              <a:rPr lang="en-US" altLang="ko-KR" sz="1400" smtClean="0">
                <a:latin typeface="Times New Roman" pitchFamily="18" charset="0"/>
                <a:cs typeface="Times New Roman" pitchFamily="18" charset="0"/>
              </a:rPr>
              <a:pPr eaLnBrk="1" hangingPunct="1"/>
              <a:t>84</a:t>
            </a:fld>
            <a:endParaRPr lang="en-US" altLang="ko-KR" sz="1400" smtClean="0">
              <a:latin typeface="Times New Roman" pitchFamily="18" charset="0"/>
              <a:cs typeface="Times New Roman" pitchFamily="18" charset="0"/>
            </a:endParaRPr>
          </a:p>
        </p:txBody>
      </p:sp>
      <p:sp>
        <p:nvSpPr>
          <p:cNvPr id="91139"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114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Đo điện dung bằng cách sử dụng DVM</a:t>
            </a:r>
          </a:p>
        </p:txBody>
      </p:sp>
      <p:sp>
        <p:nvSpPr>
          <p:cNvPr id="91141"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pic>
        <p:nvPicPr>
          <p:cNvPr id="9114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846263"/>
            <a:ext cx="1836738" cy="424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43" name="Text Box 7"/>
          <p:cNvSpPr txBox="1">
            <a:spLocks noChangeArrowheads="1"/>
          </p:cNvSpPr>
          <p:nvPr/>
        </p:nvSpPr>
        <p:spPr bwMode="auto">
          <a:xfrm>
            <a:off x="3995738" y="2349500"/>
            <a:ext cx="44958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&lt; Đo tụ điện</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&gt;</a:t>
            </a:r>
          </a:p>
          <a:p>
            <a:pPr eaLnBrk="1" hangingPunct="1"/>
            <a:endParaRPr lang="en-US" altLang="ko-KR" sz="500" b="1">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Gắn Test 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Jack.</a:t>
            </a: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Chuyển thanh trượt SW</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sang vị trí bên phải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sz="700">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Để Test Lead Probe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lên điểm đo.</a:t>
            </a:r>
          </a:p>
          <a:p>
            <a:pPr eaLnBrk="1" hangingPunct="1">
              <a:buFontTx/>
              <a:buAutoNum type="arabicPeriod"/>
            </a:pPr>
            <a:r>
              <a:rPr lang="en-US" altLang="ko-KR">
                <a:latin typeface="Times New Roman" pitchFamily="18" charset="0"/>
                <a:cs typeface="Times New Roman" pitchFamily="18" charset="0"/>
              </a:rPr>
              <a:t>Đọc giá trị đo hiển thị trên màn hình.</a:t>
            </a:r>
          </a:p>
        </p:txBody>
      </p:sp>
      <p:sp>
        <p:nvSpPr>
          <p:cNvPr id="91144" name="Text Box 8"/>
          <p:cNvSpPr txBox="1">
            <a:spLocks noChangeArrowheads="1"/>
          </p:cNvSpPr>
          <p:nvPr/>
        </p:nvSpPr>
        <p:spPr bwMode="auto">
          <a:xfrm>
            <a:off x="5214938" y="3378200"/>
            <a:ext cx="31718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Trên màn hình sẽ xuất hiện âm thanh</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và kí hiệu</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Diode.</a:t>
            </a:r>
          </a:p>
        </p:txBody>
      </p:sp>
      <p:pic>
        <p:nvPicPr>
          <p:cNvPr id="91145"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08850" y="2862263"/>
            <a:ext cx="4429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4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9138" y="3389313"/>
            <a:ext cx="74295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41931" name="Text Box 11"/>
          <p:cNvSpPr txBox="1">
            <a:spLocks noChangeArrowheads="1"/>
          </p:cNvSpPr>
          <p:nvPr/>
        </p:nvSpPr>
        <p:spPr bwMode="auto">
          <a:xfrm>
            <a:off x="4452938" y="3635375"/>
            <a:ext cx="17526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ko-KR"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Nhấn</a:t>
            </a:r>
            <a:r>
              <a:rPr lang="en-US" altLang="ko-KR"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b="1" u="sng"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nút</a:t>
            </a:r>
            <a:r>
              <a:rPr lang="en-US" altLang="ko-KR" b="1" u="sng" dirty="0">
                <a:effectLst>
                  <a:outerShdw blurRad="38100" dist="38100" dir="2700000" algn="tl">
                    <a:srgbClr val="C0C0C0"/>
                  </a:outerShdw>
                </a:effectLst>
                <a:latin typeface="Times New Roman" panose="02020603050405020304" pitchFamily="18" charset="0"/>
                <a:cs typeface="Times New Roman" panose="02020603050405020304" pitchFamily="18" charset="0"/>
              </a:rPr>
              <a:t> SW </a:t>
            </a:r>
            <a:r>
              <a:rPr lang="en-US" altLang="ko-KR" b="1" u="sng"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kí</a:t>
            </a:r>
            <a:r>
              <a:rPr lang="en-US" altLang="ko-KR" b="1" u="sng"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b="1" u="sng"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hiệu</a:t>
            </a:r>
            <a:r>
              <a:rPr lang="en-US" altLang="ko-KR" b="1" u="sng"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b="1" u="sng"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tụ</a:t>
            </a:r>
            <a:r>
              <a:rPr lang="en-US" altLang="ko-KR" dirty="0">
                <a:latin typeface="Times New Roman" panose="02020603050405020304" pitchFamily="18" charset="0"/>
                <a:cs typeface="Times New Roman" panose="02020603050405020304" pitchFamily="18" charset="0"/>
              </a:rPr>
              <a:t>.</a:t>
            </a:r>
          </a:p>
        </p:txBody>
      </p:sp>
      <p:sp>
        <p:nvSpPr>
          <p:cNvPr id="91148" name="Text Box 12"/>
          <p:cNvSpPr txBox="1">
            <a:spLocks noChangeArrowheads="1"/>
          </p:cNvSpPr>
          <p:nvPr/>
        </p:nvSpPr>
        <p:spPr bwMode="auto">
          <a:xfrm>
            <a:off x="5214938" y="3902075"/>
            <a:ext cx="30178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000">
                <a:latin typeface="Times New Roman" pitchFamily="18" charset="0"/>
                <a:cs typeface="Times New Roman" pitchFamily="18" charset="0"/>
              </a:rPr>
              <a:t>＊</a:t>
            </a:r>
            <a:r>
              <a:rPr lang="en-US" altLang="ko-KR" sz="1000">
                <a:latin typeface="Times New Roman" pitchFamily="18" charset="0"/>
                <a:cs typeface="Times New Roman" pitchFamily="18" charset="0"/>
              </a:rPr>
              <a:t>Trên màn hình sẽ xuất hiện đơn vị và ký hiệu của tụ.</a:t>
            </a:r>
          </a:p>
        </p:txBody>
      </p:sp>
      <p:pic>
        <p:nvPicPr>
          <p:cNvPr id="9114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0588" y="3911600"/>
            <a:ext cx="36195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50" name="Text Box 14"/>
          <p:cNvSpPr txBox="1">
            <a:spLocks noChangeArrowheads="1"/>
          </p:cNvSpPr>
          <p:nvPr/>
        </p:nvSpPr>
        <p:spPr bwMode="auto">
          <a:xfrm>
            <a:off x="684213" y="892175"/>
            <a:ext cx="13096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2-5. Đo tụ điện</a:t>
            </a:r>
            <a:endParaRPr lang="ko-KR" altLang="en-US" sz="1400" b="1">
              <a:latin typeface="Times New Roman" pitchFamily="18" charset="0"/>
              <a:cs typeface="Times New Roman" pitchFamily="18" charset="0"/>
            </a:endParaRPr>
          </a:p>
        </p:txBody>
      </p:sp>
      <p:pic>
        <p:nvPicPr>
          <p:cNvPr id="91151" name="Picture 15" descr="MCj0237845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95738" y="5186363"/>
            <a:ext cx="5032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2" name="Text Box 16"/>
          <p:cNvSpPr txBox="1">
            <a:spLocks noChangeArrowheads="1"/>
          </p:cNvSpPr>
          <p:nvPr/>
        </p:nvSpPr>
        <p:spPr bwMode="auto">
          <a:xfrm>
            <a:off x="4494213" y="5226050"/>
            <a:ext cx="2459037"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pPr>
            <a:r>
              <a:rPr lang="en-US" altLang="ko-KR" sz="1000" b="1">
                <a:latin typeface="Times New Roman" pitchFamily="18" charset="0"/>
                <a:cs typeface="Times New Roman" pitchFamily="18" charset="0"/>
              </a:rPr>
              <a:t>※ Sử dụng M-3 Module thực hành</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để đo.</a:t>
            </a: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61A45D9-30BD-44F0-9EB9-63FE2F7C5AA1}" type="slidenum">
              <a:rPr lang="en-US" altLang="ko-KR" sz="1400" smtClean="0">
                <a:latin typeface="Times New Roman" pitchFamily="18" charset="0"/>
                <a:cs typeface="Times New Roman" pitchFamily="18" charset="0"/>
              </a:rPr>
              <a:pPr eaLnBrk="1" hangingPunct="1"/>
              <a:t>85</a:t>
            </a:fld>
            <a:endParaRPr lang="en-US" altLang="ko-KR" sz="1400" smtClean="0">
              <a:latin typeface="Times New Roman" pitchFamily="18" charset="0"/>
              <a:cs typeface="Times New Roman" pitchFamily="18" charset="0"/>
            </a:endParaRPr>
          </a:p>
        </p:txBody>
      </p:sp>
      <p:sp>
        <p:nvSpPr>
          <p:cNvPr id="92163"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216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Đo tụ bằng Analog Tester</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92165"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sp>
        <p:nvSpPr>
          <p:cNvPr id="92166" name="Text Box 5"/>
          <p:cNvSpPr txBox="1">
            <a:spLocks noChangeArrowheads="1"/>
          </p:cNvSpPr>
          <p:nvPr/>
        </p:nvSpPr>
        <p:spPr bwMode="auto">
          <a:xfrm>
            <a:off x="966788" y="4108450"/>
            <a:ext cx="7926387" cy="21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50000"/>
              </a:lnSpc>
            </a:pPr>
            <a:r>
              <a:rPr lang="en-US" altLang="ko-KR" b="1">
                <a:latin typeface="Times New Roman" pitchFamily="18" charset="0"/>
                <a:cs typeface="Times New Roman" pitchFamily="18" charset="0"/>
              </a:rPr>
              <a:t>Thứ tự đo</a:t>
            </a:r>
            <a:endParaRPr lang="ko-KR" altLang="en-US" b="1">
              <a:latin typeface="Times New Roman" pitchFamily="18" charset="0"/>
              <a:cs typeface="Times New Roman" pitchFamily="18" charset="0"/>
            </a:endParaRPr>
          </a:p>
          <a:p>
            <a:pPr eaLnBrk="1" hangingPunct="1">
              <a:lnSpc>
                <a:spcPct val="150000"/>
              </a:lnSpc>
            </a:pPr>
            <a:r>
              <a:rPr lang="ko-KR" altLang="en-US" sz="500">
                <a:latin typeface="Times New Roman" pitchFamily="18" charset="0"/>
                <a:cs typeface="Times New Roman" pitchFamily="18" charset="0"/>
              </a:rPr>
              <a:t> </a:t>
            </a:r>
          </a:p>
          <a:p>
            <a:pPr eaLnBrk="1" hangingPunct="1">
              <a:lnSpc>
                <a:spcPct val="150000"/>
              </a:lnSpc>
            </a:pP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 Chọn dãy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điện trở</a:t>
            </a:r>
            <a:r>
              <a:rPr lang="ko-KR" altLang="en-US">
                <a:latin typeface="Times New Roman" pitchFamily="18" charset="0"/>
                <a:cs typeface="Times New Roman" pitchFamily="18" charset="0"/>
              </a:rPr>
              <a:t> </a:t>
            </a:r>
            <a:r>
              <a:rPr lang="en-US" altLang="ko-KR" b="1" u="sng">
                <a:latin typeface="Times New Roman" pitchFamily="18" charset="0"/>
                <a:cs typeface="Times New Roman" pitchFamily="18" charset="0"/>
              </a:rPr>
              <a:t>Ⅹ10K</a:t>
            </a:r>
            <a:r>
              <a:rPr lang="en-US" altLang="ko-KR">
                <a:latin typeface="Times New Roman" pitchFamily="18" charset="0"/>
                <a:cs typeface="Times New Roman" pitchFamily="18" charset="0"/>
              </a:rPr>
              <a:t> ”._ Ảnh 1</a:t>
            </a:r>
          </a:p>
          <a:p>
            <a:pPr eaLnBrk="1" hangingPunct="1">
              <a:lnSpc>
                <a:spcPct val="150000"/>
              </a:lnSpc>
            </a:pPr>
            <a:r>
              <a:rPr lang="en-US" altLang="ko-KR">
                <a:latin typeface="Times New Roman" pitchFamily="18" charset="0"/>
                <a:cs typeface="Times New Roman" pitchFamily="18" charset="0"/>
              </a:rPr>
              <a:t> 2. Đặt bút màu đen lên cực âm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bút màu đỏ lên cực dương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như trong ảnh 2 kim sẽ chỉ giá trị đo một cách nhanh chóng sau đó từ từ ổn định lại, lúc này ta sẽ biết được máy đã trở lại trạng thái bình thường.</a:t>
            </a:r>
          </a:p>
          <a:p>
            <a:pPr eaLnBrk="1" hangingPunct="1">
              <a:lnSpc>
                <a:spcPct val="150000"/>
              </a:lnSpc>
            </a:pPr>
            <a:r>
              <a:rPr lang="en-US" altLang="ko-KR">
                <a:latin typeface="Times New Roman" pitchFamily="18" charset="0"/>
                <a:cs typeface="Times New Roman" pitchFamily="18" charset="0"/>
              </a:rPr>
              <a:t> 3. Nếu đổi bên của hai cực như ảnh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 thì giá trị điện trở không hiện lên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cho dù có đo giống như hình số 2 mà giá trị đo không hiện lên thì được phán đoán là máy đã hỏng.(nếu không được phòng nổ thì hầu như sẽ không có lỗi.)</a:t>
            </a:r>
          </a:p>
          <a:p>
            <a:pPr eaLnBrk="1" hangingPunct="1">
              <a:lnSpc>
                <a:spcPct val="150000"/>
              </a:lnSpc>
            </a:pPr>
            <a:r>
              <a:rPr lang="en-US" altLang="ko-KR">
                <a:latin typeface="Times New Roman" pitchFamily="18" charset="0"/>
                <a:cs typeface="Times New Roman" pitchFamily="18" charset="0"/>
              </a:rPr>
              <a:t> </a:t>
            </a:r>
          </a:p>
        </p:txBody>
      </p:sp>
      <p:pic>
        <p:nvPicPr>
          <p:cNvPr id="9216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824038"/>
            <a:ext cx="2400300" cy="1800225"/>
          </a:xfrm>
          <a:prstGeom prst="rect">
            <a:avLst/>
          </a:prstGeom>
          <a:noFill/>
          <a:ln w="25400">
            <a:solidFill>
              <a:schemeClr val="fo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pic>
        <p:nvPicPr>
          <p:cNvPr id="9216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6313" y="1824038"/>
            <a:ext cx="2400300" cy="1800225"/>
          </a:xfrm>
          <a:prstGeom prst="rect">
            <a:avLst/>
          </a:prstGeom>
          <a:noFill/>
          <a:ln w="25400">
            <a:solidFill>
              <a:schemeClr val="fo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pic>
        <p:nvPicPr>
          <p:cNvPr id="9216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0438" y="1824038"/>
            <a:ext cx="2400300" cy="1800225"/>
          </a:xfrm>
          <a:prstGeom prst="rect">
            <a:avLst/>
          </a:prstGeom>
          <a:noFill/>
          <a:ln w="25400">
            <a:solidFill>
              <a:schemeClr val="fo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92170" name="Text Box 9"/>
          <p:cNvSpPr txBox="1">
            <a:spLocks noChangeArrowheads="1"/>
          </p:cNvSpPr>
          <p:nvPr/>
        </p:nvSpPr>
        <p:spPr bwMode="auto">
          <a:xfrm>
            <a:off x="1889125" y="3667125"/>
            <a:ext cx="5651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a:t>
            </a:r>
          </a:p>
        </p:txBody>
      </p:sp>
      <p:sp>
        <p:nvSpPr>
          <p:cNvPr id="92171" name="Text Box 10"/>
          <p:cNvSpPr txBox="1">
            <a:spLocks noChangeArrowheads="1"/>
          </p:cNvSpPr>
          <p:nvPr/>
        </p:nvSpPr>
        <p:spPr bwMode="auto">
          <a:xfrm>
            <a:off x="4389438" y="3667125"/>
            <a:ext cx="5651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2</a:t>
            </a:r>
          </a:p>
        </p:txBody>
      </p:sp>
      <p:sp>
        <p:nvSpPr>
          <p:cNvPr id="92172" name="Text Box 11"/>
          <p:cNvSpPr txBox="1">
            <a:spLocks noChangeArrowheads="1"/>
          </p:cNvSpPr>
          <p:nvPr/>
        </p:nvSpPr>
        <p:spPr bwMode="auto">
          <a:xfrm>
            <a:off x="6904038" y="3667125"/>
            <a:ext cx="5651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3</a:t>
            </a:r>
          </a:p>
        </p:txBody>
      </p:sp>
      <p:sp>
        <p:nvSpPr>
          <p:cNvPr id="92173" name="Text Box 12"/>
          <p:cNvSpPr txBox="1">
            <a:spLocks noChangeArrowheads="1"/>
          </p:cNvSpPr>
          <p:nvPr/>
        </p:nvSpPr>
        <p:spPr bwMode="auto">
          <a:xfrm>
            <a:off x="822325" y="1484313"/>
            <a:ext cx="24574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Lựa chọn dãy đo điện trở</a:t>
            </a:r>
            <a:r>
              <a:rPr lang="ko-KR" altLang="en-US">
                <a:latin typeface="Times New Roman" pitchFamily="18" charset="0"/>
                <a:cs typeface="Times New Roman" pitchFamily="18" charset="0"/>
              </a:rPr>
              <a:t> </a:t>
            </a:r>
            <a:r>
              <a:rPr lang="en-US" altLang="ko-KR" b="1" u="sng">
                <a:latin typeface="Times New Roman" pitchFamily="18" charset="0"/>
                <a:cs typeface="Times New Roman" pitchFamily="18" charset="0"/>
              </a:rPr>
              <a:t>Ⅹ10K </a:t>
            </a:r>
            <a:r>
              <a:rPr lang="en-US" altLang="ko-KR">
                <a:latin typeface="Times New Roman" pitchFamily="18" charset="0"/>
                <a:cs typeface="Times New Roman" pitchFamily="18" charset="0"/>
              </a:rPr>
              <a:t>.</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AAB6919-3320-4D6E-9416-13C688DD8F3D}" type="slidenum">
              <a:rPr lang="en-US" altLang="ko-KR" sz="1400" smtClean="0">
                <a:latin typeface="Times New Roman" pitchFamily="18" charset="0"/>
                <a:cs typeface="Times New Roman" pitchFamily="18" charset="0"/>
              </a:rPr>
              <a:pPr eaLnBrk="1" hangingPunct="1"/>
              <a:t>86</a:t>
            </a:fld>
            <a:endParaRPr lang="en-US" altLang="ko-KR" sz="1400" smtClean="0">
              <a:latin typeface="Times New Roman" pitchFamily="18" charset="0"/>
              <a:cs typeface="Times New Roman" pitchFamily="18" charset="0"/>
            </a:endParaRPr>
          </a:p>
        </p:txBody>
      </p:sp>
      <p:sp>
        <p:nvSpPr>
          <p:cNvPr id="93187"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318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Đo tụ bằng cách sử dụng Digital LCR Meter</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93189" name="Text Box 4"/>
          <p:cNvSpPr txBox="1">
            <a:spLocks noChangeArrowheads="1"/>
          </p:cNvSpPr>
          <p:nvPr/>
        </p:nvSpPr>
        <p:spPr bwMode="auto">
          <a:xfrm>
            <a:off x="6765925" y="68263"/>
            <a:ext cx="21986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Tụ điện (Condenser)</a:t>
            </a:r>
            <a:endParaRPr lang="ko-KR" altLang="en-US" sz="1600" b="1">
              <a:latin typeface="Times New Roman" pitchFamily="18" charset="0"/>
              <a:cs typeface="Times New Roman" pitchFamily="18" charset="0"/>
            </a:endParaRPr>
          </a:p>
        </p:txBody>
      </p:sp>
      <p:pic>
        <p:nvPicPr>
          <p:cNvPr id="93190" name="Picture 5" descr="edc-1630_big"/>
          <p:cNvPicPr>
            <a:picLocks noChangeAspect="1" noChangeArrowheads="1"/>
          </p:cNvPicPr>
          <p:nvPr/>
        </p:nvPicPr>
        <p:blipFill>
          <a:blip r:embed="rId3">
            <a:extLst>
              <a:ext uri="{28A0092B-C50C-407E-A947-70E740481C1C}">
                <a14:useLocalDpi xmlns:a14="http://schemas.microsoft.com/office/drawing/2010/main" val="0"/>
              </a:ext>
            </a:extLst>
          </a:blip>
          <a:srcRect r="64" b="63"/>
          <a:stretch>
            <a:fillRect/>
          </a:stretch>
        </p:blipFill>
        <p:spPr bwMode="auto">
          <a:xfrm>
            <a:off x="1066800" y="1325563"/>
            <a:ext cx="6888163" cy="245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1" name="Text Box 6"/>
          <p:cNvSpPr txBox="1">
            <a:spLocks noChangeArrowheads="1"/>
          </p:cNvSpPr>
          <p:nvPr/>
        </p:nvSpPr>
        <p:spPr bwMode="auto">
          <a:xfrm>
            <a:off x="981075" y="3992563"/>
            <a:ext cx="6516688"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 </a:t>
            </a:r>
            <a:r>
              <a:rPr lang="en-US" altLang="ko-KR" b="1">
                <a:latin typeface="Times New Roman" pitchFamily="18" charset="0"/>
                <a:cs typeface="Times New Roman" pitchFamily="18" charset="0"/>
              </a:rPr>
              <a:t>Đo giá trị điện trở</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Biểu thị giá trị</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 (Resistance Value) thông thường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giá trị Q (Quality Factor) của máy đo điện trở.</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2. </a:t>
            </a:r>
            <a:r>
              <a:rPr lang="en-US" altLang="ko-KR" b="1">
                <a:latin typeface="Times New Roman" pitchFamily="18" charset="0"/>
                <a:cs typeface="Times New Roman" pitchFamily="18" charset="0"/>
              </a:rPr>
              <a:t>Đo độ tự cảm Inductance</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Biểu thị giá trị L (Inductance Value) thông thường và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giá trị</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Q (Quality Factor) của L.</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3</a:t>
            </a:r>
            <a:r>
              <a:rPr lang="en-US" altLang="ko-KR" b="1">
                <a:latin typeface="Times New Roman" pitchFamily="18" charset="0"/>
                <a:cs typeface="Times New Roman" pitchFamily="18" charset="0"/>
              </a:rPr>
              <a:t>. Đo I Capacitance</a:t>
            </a:r>
            <a:r>
              <a:rPr lang="ko-KR" altLang="en-US" b="1">
                <a:latin typeface="Times New Roman" pitchFamily="18" charset="0"/>
                <a:cs typeface="Times New Roman" pitchFamily="18" charset="0"/>
              </a:rPr>
              <a:t> </a:t>
            </a:r>
            <a:r>
              <a:rPr lang="en-US" altLang="ko-KR">
                <a:latin typeface="Times New Roman" pitchFamily="18" charset="0"/>
                <a:cs typeface="Times New Roman" pitchFamily="18" charset="0"/>
              </a:rPr>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Biểu thị giá trị C (Capacitance Value) thông thường và giá trị R có bao gồm trong C.</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4. </a:t>
            </a:r>
            <a:r>
              <a:rPr lang="en-US" altLang="ko-KR" b="1">
                <a:latin typeface="Times New Roman" pitchFamily="18" charset="0"/>
                <a:cs typeface="Times New Roman" pitchFamily="18" charset="0"/>
              </a:rPr>
              <a:t>Đo II Capacitance</a:t>
            </a:r>
            <a:r>
              <a:rPr lang="en-US" altLang="ko-KR">
                <a:latin typeface="Times New Roman" pitchFamily="18" charset="0"/>
                <a:cs typeface="Times New Roman" pitchFamily="18" charset="0"/>
              </a:rPr>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Biểu thị giá trị C (Capacitance Value) thông thường và giá trị</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 (Dissipation Factor) của C.</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C9207A0-CFA0-4D63-9B84-D78DD58C07C1}" type="slidenum">
              <a:rPr lang="en-US" altLang="ko-KR" sz="1400" smtClean="0">
                <a:latin typeface="Times New Roman" pitchFamily="18" charset="0"/>
                <a:cs typeface="Times New Roman" pitchFamily="18" charset="0"/>
              </a:rPr>
              <a:pPr eaLnBrk="1" hangingPunct="1"/>
              <a:t>87</a:t>
            </a:fld>
            <a:endParaRPr lang="en-US" altLang="ko-KR" sz="1400" smtClean="0">
              <a:latin typeface="Times New Roman" pitchFamily="18" charset="0"/>
              <a:cs typeface="Times New Roman" pitchFamily="18" charset="0"/>
            </a:endParaRPr>
          </a:p>
        </p:txBody>
      </p:sp>
      <p:sp>
        <p:nvSpPr>
          <p:cNvPr id="94211" name="Text Box 2"/>
          <p:cNvSpPr txBox="1">
            <a:spLocks noChangeArrowheads="1"/>
          </p:cNvSpPr>
          <p:nvPr/>
        </p:nvSpPr>
        <p:spPr bwMode="auto">
          <a:xfrm>
            <a:off x="684213" y="892175"/>
            <a:ext cx="22764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3-1. Khái quát về cuộn cảm</a:t>
            </a:r>
            <a:endParaRPr lang="ko-KR" altLang="en-US" sz="1400" b="1">
              <a:latin typeface="Times New Roman" pitchFamily="18" charset="0"/>
              <a:cs typeface="Times New Roman" pitchFamily="18" charset="0"/>
            </a:endParaRPr>
          </a:p>
        </p:txBody>
      </p:sp>
      <p:sp>
        <p:nvSpPr>
          <p:cNvPr id="94212" name="Text Box 3"/>
          <p:cNvSpPr txBox="1">
            <a:spLocks noChangeArrowheads="1"/>
          </p:cNvSpPr>
          <p:nvPr/>
        </p:nvSpPr>
        <p:spPr bwMode="auto">
          <a:xfrm>
            <a:off x="352425" y="501650"/>
            <a:ext cx="18383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94213"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4214" name="Text Box 5"/>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94215"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Cuộn cảm là vật cuốn dây đồng và thép cuộn theo hình xoắn ốc.</a:t>
            </a:r>
          </a:p>
          <a:p>
            <a:pPr eaLnBrk="1" hangingPunct="1"/>
            <a:endParaRPr lang="en-US" altLang="ko-KR" sz="5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Trong mạch người ta biểu thị là                .</a:t>
            </a:r>
          </a:p>
          <a:p>
            <a:pPr eaLnBrk="1" hangingPunct="1"/>
            <a:endParaRPr lang="en-US" altLang="ko-KR" sz="5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a:t>
            </a:r>
            <a:r>
              <a:rPr lang="en-US" altLang="ko-KR" b="1">
                <a:latin typeface="Times New Roman" pitchFamily="18" charset="0"/>
                <a:cs typeface="Times New Roman" pitchFamily="18" charset="0"/>
              </a:rPr>
              <a:t>Henry:H</a:t>
            </a:r>
            <a:r>
              <a:rPr lang="en-US" altLang="ko-KR">
                <a:latin typeface="Times New Roman" pitchFamily="18" charset="0"/>
                <a:cs typeface="Times New Roman" pitchFamily="18" charset="0"/>
              </a:rPr>
              <a:t> được sử dụng là đơn vị và nó thể hiện được mức độ đặc tính của cuộn cảm. </a:t>
            </a:r>
          </a:p>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Nếu cuốn thép cuộn thì càng cuốn thì đặc tính của cuộn cảm càng mạnh và giá trị Henry cũng lớn hơn. </a:t>
            </a:r>
          </a:p>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So với việc để lõi rỗng cho cuộn cảm thì việc cuốn lõi thép hoặc làm cô đặc bột thép rồi cuốn lên thì sẽ cho được giá trị Henry lớn hơn. </a:t>
            </a:r>
          </a:p>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Cuộn Cảm có chứa đặc tính gọi là điện cảm (Inductance) trong đó có </a:t>
            </a:r>
            <a:r>
              <a:rPr lang="en-US" altLang="ko-KR" sz="1400" b="1">
                <a:latin typeface="Times New Roman" pitchFamily="18" charset="0"/>
                <a:cs typeface="Times New Roman" pitchFamily="18" charset="0"/>
              </a:rPr>
              <a:t>Hỗ cảm</a:t>
            </a:r>
            <a:r>
              <a:rPr lang="en-US" altLang="ko-KR">
                <a:solidFill>
                  <a:srgbClr val="000000"/>
                </a:solidFill>
                <a:latin typeface="Times New Roman" pitchFamily="18" charset="0"/>
                <a:cs typeface="Times New Roman" pitchFamily="18" charset="0"/>
              </a:rPr>
              <a:t>(Mutual Inductance)</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 </a:t>
            </a:r>
            <a:r>
              <a:rPr lang="en-US" altLang="ko-KR" sz="1400" b="1">
                <a:solidFill>
                  <a:srgbClr val="000000"/>
                </a:solidFill>
                <a:latin typeface="Times New Roman" pitchFamily="18" charset="0"/>
                <a:cs typeface="Times New Roman" pitchFamily="18" charset="0"/>
              </a:rPr>
              <a:t>Tự cảm </a:t>
            </a:r>
            <a:r>
              <a:rPr lang="en-US" altLang="ko-KR">
                <a:solidFill>
                  <a:srgbClr val="000000"/>
                </a:solidFill>
                <a:latin typeface="Times New Roman" pitchFamily="18" charset="0"/>
                <a:cs typeface="Times New Roman" pitchFamily="18" charset="0"/>
              </a:rPr>
              <a:t>(Self Inductance).</a:t>
            </a:r>
            <a:br>
              <a:rPr lang="en-US" altLang="ko-KR">
                <a:solidFill>
                  <a:srgbClr val="000000"/>
                </a:solidFill>
                <a:latin typeface="Times New Roman" pitchFamily="18" charset="0"/>
                <a:cs typeface="Times New Roman" pitchFamily="18" charset="0"/>
              </a:rPr>
            </a:br>
            <a:endParaRPr lang="en-US" altLang="ko-KR" sz="500">
              <a:solidFill>
                <a:srgbClr val="000000"/>
              </a:solidFill>
              <a:latin typeface="Times New Roman" pitchFamily="18" charset="0"/>
              <a:cs typeface="Times New Roman" pitchFamily="18" charset="0"/>
            </a:endParaRPr>
          </a:p>
          <a:p>
            <a:pPr eaLnBrk="1" hangingPunct="1"/>
            <a:r>
              <a:rPr lang="ko-KR" altLang="en-US">
                <a:solidFill>
                  <a:srgbClr val="000000"/>
                </a:solidFill>
                <a:latin typeface="Times New Roman" pitchFamily="18" charset="0"/>
                <a:cs typeface="Times New Roman" pitchFamily="18" charset="0"/>
              </a:rPr>
              <a:t>＊</a:t>
            </a:r>
            <a:r>
              <a:rPr lang="en-US" altLang="ko-KR" b="1">
                <a:latin typeface="Times New Roman" pitchFamily="18" charset="0"/>
                <a:cs typeface="Times New Roman" pitchFamily="18" charset="0"/>
              </a:rPr>
              <a:t>Hỗ cảm</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đặc tính nếu đặt một cuộn cảm có dòng điện chạy qua gần với một cuộn cảm khác, do có tác động điện cảm tương hỗ</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(Mutual Induction)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ở cuộn cảm còn lại sẽ phát sinh điện áp xoay chiều.</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Mức độ của tác động điện cảm tương hỗ này người ta gọi chung là hỗ cảm (với đơn vị là Henry:H).</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Tiêu chuẩn của [H]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khi dòng điện đổi theo tỷ lệ (1A/s) của 1A mỗi giây lên một cuộn cảm nào đó thì nó sẽ dẫn sức điện động 1V lên cuộn cảm còn lại và người ta đặt hỗ cảm giữa hai cuộn cảm này là 1 Henry(H).</a:t>
            </a:r>
            <a:br>
              <a:rPr lang="en-US" altLang="ko-KR">
                <a:latin typeface="Times New Roman" pitchFamily="18" charset="0"/>
                <a:cs typeface="Times New Roman" pitchFamily="18" charset="0"/>
              </a:rPr>
            </a:br>
            <a:endParaRPr lang="en-US" altLang="ko-KR" sz="5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a:t>
            </a:r>
            <a:r>
              <a:rPr lang="en-US" altLang="ko-KR" b="1">
                <a:latin typeface="Times New Roman" pitchFamily="18" charset="0"/>
                <a:cs typeface="Times New Roman" pitchFamily="18" charset="0"/>
              </a:rPr>
              <a:t>Tự cảm</a:t>
            </a:r>
            <a:r>
              <a:rPr lang="ko-KR" altLang="en-US">
                <a:latin typeface="Times New Roman" pitchFamily="18" charset="0"/>
                <a:cs typeface="Times New Roman" pitchFamily="18" charset="0"/>
              </a:rPr>
              <a:t>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Trong trường hợp chỉ có một cuộn cảm duy nhất, sự biến thiên của từ thông do nó tự phát sinh cũng gây ảnh hưởng lên bản thân nó và người ta gọi sự ảnh hưởng này là tác động tự cảm và gọi chung mức độ của tác động đó là Tự cảm(Self Inductance).</a:t>
            </a:r>
          </a:p>
          <a:p>
            <a:pPr eaLnBrk="1" hangingPunct="1"/>
            <a:r>
              <a:rPr lang="en-US" altLang="ko-KR">
                <a:latin typeface="Times New Roman" pitchFamily="18" charset="0"/>
                <a:cs typeface="Times New Roman" pitchFamily="18" charset="0"/>
              </a:rPr>
              <a:t>   Trong trường hợp này thì khi tỉ lệ biến đổi của dòng điện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1A/s</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Tự cảm là 1H do phát sinh sức điện động 1V. </a:t>
            </a:r>
          </a:p>
        </p:txBody>
      </p:sp>
      <p:pic>
        <p:nvPicPr>
          <p:cNvPr id="94216" name="Picture 7" descr="coli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652588"/>
            <a:ext cx="495300" cy="166687"/>
          </a:xfrm>
          <a:prstGeom prst="rect">
            <a:avLst/>
          </a:prstGeom>
          <a:noFill/>
          <a:ln>
            <a:noFill/>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9050">
                <a:solidFill>
                  <a:schemeClr val="tx1"/>
                </a:solidFill>
                <a:miter lim="800000"/>
                <a:headEnd/>
                <a:tailEnd/>
              </a14:hiddenLine>
            </a:ext>
          </a:extLst>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026E6C3-8146-4B52-BFB2-C457DD607540}" type="slidenum">
              <a:rPr lang="en-US" altLang="ko-KR" sz="1400" smtClean="0">
                <a:latin typeface="Times New Roman" pitchFamily="18" charset="0"/>
                <a:cs typeface="Times New Roman" pitchFamily="18" charset="0"/>
              </a:rPr>
              <a:pPr eaLnBrk="1" hangingPunct="1"/>
              <a:t>88</a:t>
            </a:fld>
            <a:endParaRPr lang="en-US" altLang="ko-KR" sz="1400" smtClean="0">
              <a:latin typeface="Times New Roman" pitchFamily="18" charset="0"/>
              <a:cs typeface="Times New Roman" pitchFamily="18" charset="0"/>
            </a:endParaRPr>
          </a:p>
        </p:txBody>
      </p:sp>
      <p:sp>
        <p:nvSpPr>
          <p:cNvPr id="95235"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5236" name="Text Box 5"/>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95237" name="Rectangle 6"/>
          <p:cNvSpPr>
            <a:spLocks noChangeArrowheads="1"/>
          </p:cNvSpPr>
          <p:nvPr/>
        </p:nvSpPr>
        <p:spPr bwMode="auto">
          <a:xfrm>
            <a:off x="827088" y="836613"/>
            <a:ext cx="79216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Cảm ứng điện từ</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Cảm ứng điện từ</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hiện tượng phát sinh lực điện động khi làm thay đổi(biến thiên) lượng từ thông xuyên qua cuộn cảm</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② </a:t>
            </a:r>
            <a:r>
              <a:rPr lang="en-US" altLang="ko-KR">
                <a:latin typeface="Times New Roman" pitchFamily="18" charset="0"/>
                <a:cs typeface="Times New Roman" pitchFamily="18" charset="0"/>
              </a:rPr>
              <a:t>Lực điện động cảm ứng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lực điện động phát sinh do cảm ứng điện từ</a:t>
            </a:r>
            <a:endParaRPr lang="ko-KR" altLang="en-US" sz="7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Hướng của lực điện động cảm ứng</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Định luật Lenz</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Sự biến thiên của từ thông quyết định phương hướng của lực điện động cảm ứng. Tức, lực điện động sinh ra theo hướng từ trường do nó sinh ra có tác dụng chống lại sự biến thiên từ thông là nguyên nhân đã sinh ra nó.</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② Hướng của lực điện động cảm ứng: Lực điện động cảm ứng được sinh ra theo hướng làm giảm từ thông khi lượng từ thông đi qua cuộn cảm tăng và sinh ra theo hướng là tăng lượng tự thông khi lượng từ thông đi qua cuộn cảm giảm.</a:t>
            </a:r>
          </a:p>
        </p:txBody>
      </p:sp>
      <p:pic>
        <p:nvPicPr>
          <p:cNvPr id="95238" name="Picture 8" descr="ele_fig1-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203325"/>
            <a:ext cx="6048375"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직사각형 1"/>
          <p:cNvSpPr>
            <a:spLocks noChangeArrowheads="1"/>
          </p:cNvSpPr>
          <p:nvPr/>
        </p:nvSpPr>
        <p:spPr bwMode="auto">
          <a:xfrm>
            <a:off x="3348038" y="4005263"/>
            <a:ext cx="2376487"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Thực nghiệm về cảm ứng điện từ</a:t>
            </a:r>
            <a:endParaRPr lang="ko-KR" altLang="en-US" b="1">
              <a:latin typeface="Times New Roman" pitchFamily="18" charset="0"/>
              <a:cs typeface="Times New Roman" pitchFamily="18" charset="0"/>
            </a:endParaRPr>
          </a:p>
        </p:txBody>
      </p:sp>
      <p:sp>
        <p:nvSpPr>
          <p:cNvPr id="95240" name="직사각형 7"/>
          <p:cNvSpPr>
            <a:spLocks noChangeArrowheads="1"/>
          </p:cNvSpPr>
          <p:nvPr/>
        </p:nvSpPr>
        <p:spPr bwMode="auto">
          <a:xfrm>
            <a:off x="1763713" y="3657600"/>
            <a:ext cx="1984375"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Nam châm và cuộn cảm</a:t>
            </a:r>
            <a:endParaRPr lang="ko-KR" altLang="en-US">
              <a:latin typeface="Times New Roman" pitchFamily="18" charset="0"/>
              <a:cs typeface="Times New Roman" pitchFamily="18" charset="0"/>
            </a:endParaRPr>
          </a:p>
        </p:txBody>
      </p:sp>
      <p:sp>
        <p:nvSpPr>
          <p:cNvPr id="95241" name="직사각형 8"/>
          <p:cNvSpPr>
            <a:spLocks noChangeArrowheads="1"/>
          </p:cNvSpPr>
          <p:nvPr/>
        </p:nvSpPr>
        <p:spPr bwMode="auto">
          <a:xfrm>
            <a:off x="5618163" y="3644900"/>
            <a:ext cx="1257300"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2 cuộn cảm</a:t>
            </a:r>
            <a:endParaRPr lang="ko-KR" altLang="en-US">
              <a:latin typeface="Times New Roman" pitchFamily="18" charset="0"/>
              <a:cs typeface="Times New Roman" pitchFamily="18" charset="0"/>
            </a:endParaRPr>
          </a:p>
        </p:txBody>
      </p:sp>
      <p:sp>
        <p:nvSpPr>
          <p:cNvPr id="95242" name="직사각형 9"/>
          <p:cNvSpPr>
            <a:spLocks noChangeArrowheads="1"/>
          </p:cNvSpPr>
          <p:nvPr/>
        </p:nvSpPr>
        <p:spPr bwMode="auto">
          <a:xfrm>
            <a:off x="1042988" y="2420938"/>
            <a:ext cx="496887" cy="5080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a:latin typeface="Times New Roman" pitchFamily="18" charset="0"/>
                <a:cs typeface="Times New Roman" pitchFamily="18" charset="0"/>
              </a:rPr>
              <a:t>Điện kế</a:t>
            </a:r>
            <a:endParaRPr lang="ko-KR" altLang="en-US">
              <a:latin typeface="Times New Roman" pitchFamily="18" charset="0"/>
              <a:cs typeface="Times New Roman" pitchFamily="18" charset="0"/>
            </a:endParaRPr>
          </a:p>
        </p:txBody>
      </p:sp>
      <p:sp>
        <p:nvSpPr>
          <p:cNvPr id="95243" name="직사각형 10"/>
          <p:cNvSpPr>
            <a:spLocks noChangeArrowheads="1"/>
          </p:cNvSpPr>
          <p:nvPr/>
        </p:nvSpPr>
        <p:spPr bwMode="auto">
          <a:xfrm>
            <a:off x="4572000" y="2420938"/>
            <a:ext cx="495300" cy="5762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a:latin typeface="Times New Roman" pitchFamily="18" charset="0"/>
                <a:cs typeface="Times New Roman" pitchFamily="18" charset="0"/>
              </a:rPr>
              <a:t>Điện kế</a:t>
            </a:r>
            <a:endParaRPr lang="ko-KR" altLang="en-US">
              <a:latin typeface="Times New Roman" pitchFamily="18" charset="0"/>
              <a:cs typeface="Times New Roman" pitchFamily="18" charset="0"/>
            </a:endParaRPr>
          </a:p>
        </p:txBody>
      </p:sp>
      <p:sp>
        <p:nvSpPr>
          <p:cNvPr id="95244" name="직사각형 11"/>
          <p:cNvSpPr>
            <a:spLocks noChangeArrowheads="1"/>
          </p:cNvSpPr>
          <p:nvPr/>
        </p:nvSpPr>
        <p:spPr bwMode="auto">
          <a:xfrm>
            <a:off x="6804025" y="2493963"/>
            <a:ext cx="1106488"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Cuộn cảm số 2</a:t>
            </a:r>
            <a:endParaRPr lang="ko-KR" altLang="en-US">
              <a:latin typeface="Times New Roman" pitchFamily="18" charset="0"/>
              <a:cs typeface="Times New Roman" pitchFamily="18" charset="0"/>
            </a:endParaRPr>
          </a:p>
        </p:txBody>
      </p:sp>
      <p:sp>
        <p:nvSpPr>
          <p:cNvPr id="95245" name="직사각형 12"/>
          <p:cNvSpPr>
            <a:spLocks noChangeArrowheads="1"/>
          </p:cNvSpPr>
          <p:nvPr/>
        </p:nvSpPr>
        <p:spPr bwMode="auto">
          <a:xfrm>
            <a:off x="5148263" y="1341438"/>
            <a:ext cx="1104900" cy="358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Cuộn cảm số 1</a:t>
            </a:r>
            <a:endParaRPr lang="ko-KR" altLang="en-US">
              <a:latin typeface="Times New Roman" pitchFamily="18" charset="0"/>
              <a:cs typeface="Times New Roman" pitchFamily="18" charset="0"/>
            </a:endParaRPr>
          </a:p>
        </p:txBody>
      </p:sp>
      <p:sp>
        <p:nvSpPr>
          <p:cNvPr id="95246" name="직사각형 13"/>
          <p:cNvSpPr>
            <a:spLocks noChangeArrowheads="1"/>
          </p:cNvSpPr>
          <p:nvPr/>
        </p:nvSpPr>
        <p:spPr bwMode="auto">
          <a:xfrm>
            <a:off x="4243388" y="3284538"/>
            <a:ext cx="1647825"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Biến thiên của từ thông</a:t>
            </a:r>
            <a:endParaRPr lang="ko-KR" altLang="en-US">
              <a:latin typeface="Times New Roman" pitchFamily="18" charset="0"/>
              <a:cs typeface="Times New Roman" pitchFamily="18" charset="0"/>
            </a:endParaRPr>
          </a:p>
        </p:txBody>
      </p:sp>
      <p:sp>
        <p:nvSpPr>
          <p:cNvPr id="95247" name="직사각형 14"/>
          <p:cNvSpPr>
            <a:spLocks noChangeArrowheads="1"/>
          </p:cNvSpPr>
          <p:nvPr/>
        </p:nvSpPr>
        <p:spPr bwMode="auto">
          <a:xfrm>
            <a:off x="3429000" y="2928938"/>
            <a:ext cx="1647825" cy="2936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Biến thiên của từ thông</a:t>
            </a:r>
            <a:endParaRPr lang="ko-KR" altLang="en-US">
              <a:latin typeface="Times New Roman" pitchFamily="18" charset="0"/>
              <a:cs typeface="Times New Roman" pitchFamily="18" charset="0"/>
            </a:endParaRPr>
          </a:p>
        </p:txBody>
      </p:sp>
      <p:sp>
        <p:nvSpPr>
          <p:cNvPr id="95248" name="직사각형 15"/>
          <p:cNvSpPr>
            <a:spLocks noChangeArrowheads="1"/>
          </p:cNvSpPr>
          <p:nvPr/>
        </p:nvSpPr>
        <p:spPr bwMode="auto">
          <a:xfrm>
            <a:off x="3387725" y="1412875"/>
            <a:ext cx="1760538" cy="2968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 chuyển của nam châm</a:t>
            </a:r>
            <a:endParaRPr lang="ko-KR" altLang="en-US">
              <a:latin typeface="Times New Roman" pitchFamily="18" charset="0"/>
              <a:cs typeface="Times New Roman" pitchFamily="18" charset="0"/>
            </a:endParaRPr>
          </a:p>
        </p:txBody>
      </p:sp>
      <p:sp>
        <p:nvSpPr>
          <p:cNvPr id="95249" name="직사각형 16"/>
          <p:cNvSpPr>
            <a:spLocks noChangeArrowheads="1"/>
          </p:cNvSpPr>
          <p:nvPr/>
        </p:nvSpPr>
        <p:spPr bwMode="auto">
          <a:xfrm>
            <a:off x="939800" y="1709738"/>
            <a:ext cx="1544638" cy="279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Hướng của dòng điện</a:t>
            </a:r>
            <a:endParaRPr lang="ko-KR" altLang="en-US">
              <a:latin typeface="Times New Roman" pitchFamily="18" charset="0"/>
              <a:cs typeface="Times New Roman" pitchFamily="18" charset="0"/>
            </a:endParaRPr>
          </a:p>
        </p:txBody>
      </p:sp>
      <p:sp>
        <p:nvSpPr>
          <p:cNvPr id="95250" name="직사각형 17"/>
          <p:cNvSpPr>
            <a:spLocks noChangeArrowheads="1"/>
          </p:cNvSpPr>
          <p:nvPr/>
        </p:nvSpPr>
        <p:spPr bwMode="auto">
          <a:xfrm>
            <a:off x="4572000" y="1700213"/>
            <a:ext cx="1544638" cy="2809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Hướng của dòng điện</a:t>
            </a:r>
            <a:endParaRPr lang="ko-KR" altLang="en-US">
              <a:latin typeface="Times New Roman" pitchFamily="18" charset="0"/>
              <a:cs typeface="Times New Roman" pitchFamily="18" charset="0"/>
            </a:endParaRPr>
          </a:p>
        </p:txBody>
      </p:sp>
      <p:sp>
        <p:nvSpPr>
          <p:cNvPr id="95251" name="직사각형 18"/>
          <p:cNvSpPr>
            <a:spLocks noChangeArrowheads="1"/>
          </p:cNvSpPr>
          <p:nvPr/>
        </p:nvSpPr>
        <p:spPr bwMode="auto">
          <a:xfrm>
            <a:off x="6875463" y="1773238"/>
            <a:ext cx="1035050" cy="5794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Đóng mở của </a:t>
            </a:r>
          </a:p>
          <a:p>
            <a:pPr eaLnBrk="1" hangingPunct="1"/>
            <a:r>
              <a:rPr lang="en-US" altLang="ko-KR">
                <a:latin typeface="Times New Roman" pitchFamily="18" charset="0"/>
                <a:cs typeface="Times New Roman" pitchFamily="18" charset="0"/>
              </a:rPr>
              <a:t>công tắc</a:t>
            </a:r>
            <a:endParaRPr lang="ko-KR" altLang="en-US">
              <a:latin typeface="Times New Roman" pitchFamily="18" charset="0"/>
              <a:cs typeface="Times New Roman" pitchFamily="18" charset="0"/>
            </a:endParaRPr>
          </a:p>
        </p:txBody>
      </p:sp>
      <p:sp>
        <p:nvSpPr>
          <p:cNvPr id="95252" name="직사각형 19"/>
          <p:cNvSpPr>
            <a:spLocks noChangeArrowheads="1"/>
          </p:cNvSpPr>
          <p:nvPr/>
        </p:nvSpPr>
        <p:spPr bwMode="auto">
          <a:xfrm>
            <a:off x="3355975" y="2349500"/>
            <a:ext cx="784225" cy="4953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Khe của dây cuộn</a:t>
            </a:r>
            <a:endParaRPr lang="ko-KR" altLang="en-US">
              <a:latin typeface="Times New Roman" pitchFamily="18" charset="0"/>
              <a:cs typeface="Times New Roman" pitchFamily="18" charset="0"/>
            </a:endParaRPr>
          </a:p>
        </p:txBody>
      </p:sp>
      <p:sp>
        <p:nvSpPr>
          <p:cNvPr id="95253" name="직사각형 20"/>
          <p:cNvSpPr>
            <a:spLocks noChangeArrowheads="1"/>
          </p:cNvSpPr>
          <p:nvPr/>
        </p:nvSpPr>
        <p:spPr bwMode="auto">
          <a:xfrm>
            <a:off x="2124075" y="1203325"/>
            <a:ext cx="550863" cy="4905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a:latin typeface="Times New Roman" pitchFamily="18" charset="0"/>
                <a:cs typeface="Times New Roman" pitchFamily="18" charset="0"/>
              </a:rPr>
              <a:t>Nam châm</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97A7B69-C803-40CA-B6D1-4ACA35314933}" type="slidenum">
              <a:rPr lang="en-US" altLang="ko-KR" sz="1400" smtClean="0">
                <a:latin typeface="Times New Roman" pitchFamily="18" charset="0"/>
                <a:cs typeface="Times New Roman" pitchFamily="18" charset="0"/>
              </a:rPr>
              <a:pPr eaLnBrk="1" hangingPunct="1"/>
              <a:t>89</a:t>
            </a:fld>
            <a:endParaRPr lang="en-US" altLang="ko-KR" sz="1400" smtClean="0">
              <a:latin typeface="Times New Roman" pitchFamily="18" charset="0"/>
              <a:cs typeface="Times New Roman" pitchFamily="18" charset="0"/>
            </a:endParaRPr>
          </a:p>
        </p:txBody>
      </p:sp>
      <p:sp>
        <p:nvSpPr>
          <p:cNvPr id="96259"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626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Tự cảm</a:t>
            </a:r>
            <a:r>
              <a:rPr lang="ko-KR" altLang="en-US">
                <a:latin typeface="Times New Roman" pitchFamily="18" charset="0"/>
                <a:cs typeface="Times New Roman" pitchFamily="18" charset="0"/>
              </a:rPr>
              <a:t>                </a:t>
            </a: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Tự cảm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hiện tượng nếu dòng điện chạy trên cuộn cảm thay đổi thì lượng từ thông trong cuộn cảm bị biến đổi(biến thiên) và tự cảm được lực điện động bên trong bản thân cuộn cảm.</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p:txBody>
      </p:sp>
      <p:sp>
        <p:nvSpPr>
          <p:cNvPr id="96261"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pic>
        <p:nvPicPr>
          <p:cNvPr id="96262" name="Picture 5" descr="ele_fig1-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916113"/>
            <a:ext cx="7429500" cy="424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3" name="직사각형 6"/>
          <p:cNvSpPr>
            <a:spLocks noChangeArrowheads="1"/>
          </p:cNvSpPr>
          <p:nvPr/>
        </p:nvSpPr>
        <p:spPr bwMode="auto">
          <a:xfrm>
            <a:off x="2843213" y="5805488"/>
            <a:ext cx="4032250"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Tự cảm suất và hướng của lực điện động cảm ứng</a:t>
            </a:r>
            <a:endParaRPr lang="ko-KR" altLang="en-US" sz="1400" b="1">
              <a:latin typeface="Times New Roman" pitchFamily="18" charset="0"/>
              <a:cs typeface="Times New Roman" pitchFamily="18" charset="0"/>
            </a:endParaRPr>
          </a:p>
        </p:txBody>
      </p:sp>
      <p:sp>
        <p:nvSpPr>
          <p:cNvPr id="96264" name="직사각형 7"/>
          <p:cNvSpPr>
            <a:spLocks noChangeArrowheads="1"/>
          </p:cNvSpPr>
          <p:nvPr/>
        </p:nvSpPr>
        <p:spPr bwMode="auto">
          <a:xfrm>
            <a:off x="1589088" y="5373688"/>
            <a:ext cx="6511925"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Lực điện động cảm ứng e phát sinh theo hướng chống lại sự biến đổi của dòng điện</a:t>
            </a:r>
            <a:endParaRPr lang="ko-KR" altLang="en-US" sz="1400" b="1">
              <a:latin typeface="Times New Roman" pitchFamily="18" charset="0"/>
              <a:cs typeface="Times New Roman" pitchFamily="18" charset="0"/>
            </a:endParaRPr>
          </a:p>
        </p:txBody>
      </p:sp>
      <p:sp>
        <p:nvSpPr>
          <p:cNvPr id="96265" name="직사각형 8"/>
          <p:cNvSpPr>
            <a:spLocks noChangeArrowheads="1"/>
          </p:cNvSpPr>
          <p:nvPr/>
        </p:nvSpPr>
        <p:spPr bwMode="auto">
          <a:xfrm>
            <a:off x="2195513" y="5084763"/>
            <a:ext cx="1287462" cy="3333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Tăng từ thông</a:t>
            </a:r>
            <a:endParaRPr lang="ko-KR" altLang="en-US" sz="1400" b="1">
              <a:latin typeface="Times New Roman" pitchFamily="18" charset="0"/>
              <a:cs typeface="Times New Roman" pitchFamily="18" charset="0"/>
            </a:endParaRPr>
          </a:p>
        </p:txBody>
      </p:sp>
      <p:sp>
        <p:nvSpPr>
          <p:cNvPr id="96266" name="직사각형 9"/>
          <p:cNvSpPr>
            <a:spLocks noChangeArrowheads="1"/>
          </p:cNvSpPr>
          <p:nvPr/>
        </p:nvSpPr>
        <p:spPr bwMode="auto">
          <a:xfrm>
            <a:off x="5724525" y="5013325"/>
            <a:ext cx="1358900" cy="3317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Giảm từ thông</a:t>
            </a:r>
            <a:endParaRPr lang="ko-KR" altLang="en-US" sz="1400" b="1">
              <a:latin typeface="Times New Roman" pitchFamily="18" charset="0"/>
              <a:cs typeface="Times New Roman" pitchFamily="18" charset="0"/>
            </a:endParaRPr>
          </a:p>
        </p:txBody>
      </p:sp>
      <p:sp>
        <p:nvSpPr>
          <p:cNvPr id="96267" name="직사각형 10"/>
          <p:cNvSpPr>
            <a:spLocks noChangeArrowheads="1"/>
          </p:cNvSpPr>
          <p:nvPr/>
        </p:nvSpPr>
        <p:spPr bwMode="auto">
          <a:xfrm>
            <a:off x="3635375" y="3644900"/>
            <a:ext cx="1296988" cy="720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Lực điện động</a:t>
            </a:r>
          </a:p>
          <a:p>
            <a:pPr eaLnBrk="1" hangingPunct="1"/>
            <a:r>
              <a:rPr lang="en-US" altLang="ko-KR" sz="1400" b="1">
                <a:latin typeface="Times New Roman" pitchFamily="18" charset="0"/>
                <a:cs typeface="Times New Roman" pitchFamily="18" charset="0"/>
              </a:rPr>
              <a:t> cảm ứng</a:t>
            </a:r>
            <a:endParaRPr lang="ko-KR" altLang="en-US" sz="1400" b="1">
              <a:latin typeface="Times New Roman" pitchFamily="18" charset="0"/>
              <a:cs typeface="Times New Roman" pitchFamily="18" charset="0"/>
            </a:endParaRPr>
          </a:p>
        </p:txBody>
      </p:sp>
      <p:sp>
        <p:nvSpPr>
          <p:cNvPr id="96268" name="직사각형 11"/>
          <p:cNvSpPr>
            <a:spLocks noChangeArrowheads="1"/>
          </p:cNvSpPr>
          <p:nvPr/>
        </p:nvSpPr>
        <p:spPr bwMode="auto">
          <a:xfrm>
            <a:off x="107950" y="3500438"/>
            <a:ext cx="2016125"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Lực điện động cảm ứng</a:t>
            </a:r>
            <a:endParaRPr lang="ko-KR" altLang="en-US" sz="1400" b="1">
              <a:latin typeface="Times New Roman" pitchFamily="18" charset="0"/>
              <a:cs typeface="Times New Roman" pitchFamily="18" charset="0"/>
            </a:endParaRPr>
          </a:p>
        </p:txBody>
      </p:sp>
      <p:sp>
        <p:nvSpPr>
          <p:cNvPr id="96269" name="직사각형 12"/>
          <p:cNvSpPr>
            <a:spLocks noChangeArrowheads="1"/>
          </p:cNvSpPr>
          <p:nvPr/>
        </p:nvSpPr>
        <p:spPr bwMode="auto">
          <a:xfrm>
            <a:off x="900113" y="3024188"/>
            <a:ext cx="1431925" cy="3333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Dòng điện tăng</a:t>
            </a:r>
            <a:endParaRPr lang="ko-KR" altLang="en-US" sz="1400" b="1">
              <a:latin typeface="Times New Roman" pitchFamily="18" charset="0"/>
              <a:cs typeface="Times New Roman" pitchFamily="18" charset="0"/>
            </a:endParaRPr>
          </a:p>
        </p:txBody>
      </p:sp>
      <p:sp>
        <p:nvSpPr>
          <p:cNvPr id="96270" name="직사각형 13"/>
          <p:cNvSpPr>
            <a:spLocks noChangeArrowheads="1"/>
          </p:cNvSpPr>
          <p:nvPr/>
        </p:nvSpPr>
        <p:spPr bwMode="auto">
          <a:xfrm>
            <a:off x="4427538" y="3028950"/>
            <a:ext cx="1431925" cy="3333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Dòng điện giảm</a:t>
            </a:r>
            <a:endParaRPr lang="ko-KR" altLang="en-US" sz="1400" b="1">
              <a:latin typeface="Times New Roman" pitchFamily="18" charset="0"/>
              <a:cs typeface="Times New Roman" pitchFamily="18" charset="0"/>
            </a:endParaRPr>
          </a:p>
        </p:txBody>
      </p:sp>
      <p:sp>
        <p:nvSpPr>
          <p:cNvPr id="96271" name="직사각형 14"/>
          <p:cNvSpPr>
            <a:spLocks noChangeArrowheads="1"/>
          </p:cNvSpPr>
          <p:nvPr/>
        </p:nvSpPr>
        <p:spPr bwMode="auto">
          <a:xfrm>
            <a:off x="1835150" y="1916113"/>
            <a:ext cx="2368550" cy="5762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Từ thông theo hướng chống lại sự tăng của từ thông</a:t>
            </a:r>
            <a:endParaRPr lang="ko-KR" altLang="en-US" sz="1400" b="1">
              <a:latin typeface="Times New Roman" pitchFamily="18" charset="0"/>
              <a:cs typeface="Times New Roman" pitchFamily="18" charset="0"/>
            </a:endParaRPr>
          </a:p>
        </p:txBody>
      </p:sp>
      <p:sp>
        <p:nvSpPr>
          <p:cNvPr id="96272" name="직사각형 15"/>
          <p:cNvSpPr>
            <a:spLocks noChangeArrowheads="1"/>
          </p:cNvSpPr>
          <p:nvPr/>
        </p:nvSpPr>
        <p:spPr bwMode="auto">
          <a:xfrm>
            <a:off x="6084888" y="1916113"/>
            <a:ext cx="2366962" cy="5778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Từ thông theo hướng chống lại sự giảm của từ thông</a:t>
            </a:r>
            <a:endParaRPr lang="ko-KR" altLang="en-US" sz="14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D8CB470-D036-47D2-8017-79CE1BAB8D2C}" type="slidenum">
              <a:rPr lang="en-US" altLang="ko-KR" sz="1400" smtClean="0">
                <a:latin typeface="Times New Roman" pitchFamily="18" charset="0"/>
                <a:cs typeface="Times New Roman" pitchFamily="18" charset="0"/>
              </a:rPr>
              <a:pPr eaLnBrk="1" hangingPunct="1"/>
              <a:t>90</a:t>
            </a:fld>
            <a:endParaRPr lang="en-US" altLang="ko-KR" sz="1400" smtClean="0">
              <a:latin typeface="Times New Roman" pitchFamily="18" charset="0"/>
              <a:cs typeface="Times New Roman" pitchFamily="18" charset="0"/>
            </a:endParaRPr>
          </a:p>
        </p:txBody>
      </p:sp>
      <p:sp>
        <p:nvSpPr>
          <p:cNvPr id="97283"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728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Điện cảm tương hỗ</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(hỗ cảm)</a:t>
            </a:r>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  </a:t>
            </a:r>
            <a:r>
              <a:rPr lang="ko-KR" altLang="en-US">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Hỗ cảm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Là hiện tượng khi dòng điện của 1 cuộn cảm thay đổi thì phát sinh lực điện động cảm ứng ở cuộn cảm còn lại.</a:t>
            </a:r>
          </a:p>
        </p:txBody>
      </p:sp>
      <p:sp>
        <p:nvSpPr>
          <p:cNvPr id="97285"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pic>
        <p:nvPicPr>
          <p:cNvPr id="97286" name="Picture 5" descr="ele_fig1-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989138"/>
            <a:ext cx="61912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7" name="직사각형 6"/>
          <p:cNvSpPr>
            <a:spLocks noChangeArrowheads="1"/>
          </p:cNvSpPr>
          <p:nvPr/>
        </p:nvSpPr>
        <p:spPr bwMode="auto">
          <a:xfrm>
            <a:off x="3419475" y="5300663"/>
            <a:ext cx="1728788" cy="419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Điện cảm tương hỗ</a:t>
            </a:r>
            <a:endParaRPr lang="ko-KR" altLang="en-US" sz="1400" b="1">
              <a:latin typeface="Times New Roman" pitchFamily="18" charset="0"/>
              <a:cs typeface="Times New Roman" pitchFamily="18" charset="0"/>
            </a:endParaRPr>
          </a:p>
        </p:txBody>
      </p:sp>
      <p:sp>
        <p:nvSpPr>
          <p:cNvPr id="97288" name="직사각형 7"/>
          <p:cNvSpPr>
            <a:spLocks noChangeArrowheads="1"/>
          </p:cNvSpPr>
          <p:nvPr/>
        </p:nvSpPr>
        <p:spPr bwMode="auto">
          <a:xfrm>
            <a:off x="3571875" y="4508500"/>
            <a:ext cx="865188"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Điện kế</a:t>
            </a:r>
            <a:endParaRPr lang="ko-KR" altLang="en-US" sz="1400" b="1">
              <a:latin typeface="Times New Roman" pitchFamily="18" charset="0"/>
              <a:cs typeface="Times New Roman" pitchFamily="18" charset="0"/>
            </a:endParaRPr>
          </a:p>
        </p:txBody>
      </p:sp>
      <p:sp>
        <p:nvSpPr>
          <p:cNvPr id="97289" name="직사각형 8"/>
          <p:cNvSpPr>
            <a:spLocks noChangeArrowheads="1"/>
          </p:cNvSpPr>
          <p:nvPr/>
        </p:nvSpPr>
        <p:spPr bwMode="auto">
          <a:xfrm>
            <a:off x="539750" y="4298950"/>
            <a:ext cx="2008188" cy="419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Lực điện động cảm ứng</a:t>
            </a:r>
            <a:endParaRPr lang="ko-KR" altLang="en-US" sz="1400" b="1">
              <a:latin typeface="Times New Roman" pitchFamily="18" charset="0"/>
              <a:cs typeface="Times New Roman" pitchFamily="18" charset="0"/>
            </a:endParaRPr>
          </a:p>
        </p:txBody>
      </p:sp>
      <p:sp>
        <p:nvSpPr>
          <p:cNvPr id="97290" name="직사각형 9"/>
          <p:cNvSpPr>
            <a:spLocks noChangeArrowheads="1"/>
          </p:cNvSpPr>
          <p:nvPr/>
        </p:nvSpPr>
        <p:spPr bwMode="auto">
          <a:xfrm>
            <a:off x="5661025" y="4508500"/>
            <a:ext cx="2151063" cy="419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Phần tăng của dòng điện</a:t>
            </a:r>
            <a:endParaRPr lang="ko-KR" altLang="en-US" sz="1400" b="1">
              <a:latin typeface="Times New Roman" pitchFamily="18" charset="0"/>
              <a:cs typeface="Times New Roman" pitchFamily="18" charset="0"/>
            </a:endParaRPr>
          </a:p>
        </p:txBody>
      </p:sp>
      <p:sp>
        <p:nvSpPr>
          <p:cNvPr id="97291" name="직사각형 10"/>
          <p:cNvSpPr>
            <a:spLocks noChangeArrowheads="1"/>
          </p:cNvSpPr>
          <p:nvPr/>
        </p:nvSpPr>
        <p:spPr bwMode="auto">
          <a:xfrm>
            <a:off x="1692275" y="4868863"/>
            <a:ext cx="5759450" cy="4191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Nếu làm tăng I1 thì lực điện động cảm ứng phát sinh ở cuộn cảm số 2</a:t>
            </a:r>
            <a:endParaRPr lang="ko-KR" altLang="en-US" sz="1400" b="1">
              <a:latin typeface="Times New Roman" pitchFamily="18" charset="0"/>
              <a:cs typeface="Times New Roman" pitchFamily="18" charset="0"/>
            </a:endParaRPr>
          </a:p>
        </p:txBody>
      </p:sp>
      <p:sp>
        <p:nvSpPr>
          <p:cNvPr id="97292" name="직사각형 11"/>
          <p:cNvSpPr>
            <a:spLocks noChangeArrowheads="1"/>
          </p:cNvSpPr>
          <p:nvPr/>
        </p:nvSpPr>
        <p:spPr bwMode="auto">
          <a:xfrm>
            <a:off x="1258888" y="3076575"/>
            <a:ext cx="1584325" cy="5683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Từ thông nối với cuộn cảm số 2</a:t>
            </a:r>
            <a:endParaRPr lang="ko-KR" altLang="en-US" sz="1400" b="1">
              <a:latin typeface="Times New Roman" pitchFamily="18" charset="0"/>
              <a:cs typeface="Times New Roman" pitchFamily="18" charset="0"/>
            </a:endParaRPr>
          </a:p>
        </p:txBody>
      </p:sp>
      <p:sp>
        <p:nvSpPr>
          <p:cNvPr id="97293" name="직사각형 12"/>
          <p:cNvSpPr>
            <a:spLocks noChangeArrowheads="1"/>
          </p:cNvSpPr>
          <p:nvPr/>
        </p:nvSpPr>
        <p:spPr bwMode="auto">
          <a:xfrm>
            <a:off x="2771775" y="2060575"/>
            <a:ext cx="1360488" cy="5048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Cuộn cảm số 2</a:t>
            </a:r>
            <a:endParaRPr lang="ko-KR" altLang="en-US" sz="1400" b="1">
              <a:latin typeface="Times New Roman" pitchFamily="18" charset="0"/>
              <a:cs typeface="Times New Roman" pitchFamily="18" charset="0"/>
            </a:endParaRPr>
          </a:p>
        </p:txBody>
      </p:sp>
      <p:sp>
        <p:nvSpPr>
          <p:cNvPr id="97294" name="직사각형 13"/>
          <p:cNvSpPr>
            <a:spLocks noChangeArrowheads="1"/>
          </p:cNvSpPr>
          <p:nvPr/>
        </p:nvSpPr>
        <p:spPr bwMode="auto">
          <a:xfrm>
            <a:off x="5372100" y="2060575"/>
            <a:ext cx="1360488" cy="5048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Cuộn cảm số 1</a:t>
            </a:r>
            <a:endParaRPr lang="ko-KR" altLang="en-US" sz="14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30008C6-90F4-4B4F-8E08-44BF50D6C726}" type="slidenum">
              <a:rPr lang="en-US" altLang="ko-KR" sz="1400" smtClean="0">
                <a:latin typeface="Times New Roman" pitchFamily="18" charset="0"/>
                <a:cs typeface="Times New Roman" pitchFamily="18" charset="0"/>
              </a:rPr>
              <a:pPr eaLnBrk="1" hangingPunct="1"/>
              <a:t>91</a:t>
            </a:fld>
            <a:endParaRPr lang="en-US" altLang="ko-KR" sz="1400" smtClean="0">
              <a:latin typeface="Times New Roman" pitchFamily="18" charset="0"/>
              <a:cs typeface="Times New Roman" pitchFamily="18" charset="0"/>
            </a:endParaRPr>
          </a:p>
        </p:txBody>
      </p:sp>
      <p:sp>
        <p:nvSpPr>
          <p:cNvPr id="98307"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830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Đặc tính duy trì ổn định sự biến đổi của dòng điện</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tính chất chặn dòng điện chạy qua khi dòng điện muốn chạy qua, và duy trì cho dòng điện chạy liên tục khi dòng điện giảm. Người ta gọi điều này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en-US" altLang="ko-KR" b="1">
                <a:latin typeface="Times New Roman" pitchFamily="18" charset="0"/>
                <a:cs typeface="Times New Roman" pitchFamily="18" charset="0"/>
              </a:rPr>
              <a:t>Định luật Lenz</a:t>
            </a:r>
            <a:r>
              <a:rPr lang="en-US" altLang="ko-KR">
                <a:latin typeface="Times New Roman" pitchFamily="18" charset="0"/>
                <a:cs typeface="Times New Roman" pitchFamily="18" charset="0"/>
              </a:rPr>
              <a:t>".(dòng điện cảm ứng phát sinh trong mạch điện do tác động cảm ứng điện từ luôn luôn chạy theo hướng chống lại sự biến thiên của từ thông đã sinh ra nó). Người ta sử dụng tính chất này để </a:t>
            </a:r>
            <a:r>
              <a:rPr lang="en-US" altLang="ko-KR" b="1">
                <a:latin typeface="Times New Roman" pitchFamily="18" charset="0"/>
                <a:cs typeface="Times New Roman" pitchFamily="18" charset="0"/>
              </a:rPr>
              <a:t>sử dụng trong mạch làm trơn </a:t>
            </a:r>
            <a:r>
              <a:rPr lang="en-US" altLang="ko-KR">
                <a:latin typeface="Times New Roman" pitchFamily="18" charset="0"/>
                <a:cs typeface="Times New Roman" pitchFamily="18" charset="0"/>
              </a:rPr>
              <a:t>của điện nguồn nơi làm biến đổi dòng điện xoay chiều thành dòng điện một chiều.</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Trong trường hợp biến đổi dòng điện xoay chiều thành dòng điện một chiều bằng bộ nắn điện, nếu cứ để nguyên thì gọi là dòng mạch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(dòng điện gợn sóng:Ripple), thành phần xoay chiều là nhiều dòng một chiều, nó sẽ trở thành trạng thái không phải là dòng điện một chiều hoàn toàn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(khi chỉnh dòng sang dòng 1 chiều dương thì chỉ có thành phần điện áp âm mất đi) nhưng nếu sử dụng mạch làm trơn có tổ hợp của tụ điện và cuộn cảm thì khi đó cuộn cảm sẽ có chức năng tác động nhằm ngăn chặn sự biến đổi của dòng điện, còn điện áp đầu vào của tụ điện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0V thì lúc đó</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sẽ phóng điện tích lũy nên tạo được dòng điện một chiều ổn định.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Ở mạch làm trơn đơn giản, người ta sử dụng điện trở thay cho cuộn cảm, và chỉ sử dụng chức năng làm trơn của tụ điện.  Phần lớn các bộ nắn nguồn điện tạo nguồn điện một chiều theo cách này. </a:t>
            </a:r>
          </a:p>
          <a:p>
            <a:pPr eaLnBrk="1" hangingPunct="1"/>
            <a:endParaRPr lang="en-US" altLang="ko-KR">
              <a:latin typeface="Times New Roman" pitchFamily="18" charset="0"/>
              <a:cs typeface="Times New Roman" pitchFamily="18" charset="0"/>
            </a:endParaRPr>
          </a:p>
        </p:txBody>
      </p:sp>
      <p:sp>
        <p:nvSpPr>
          <p:cNvPr id="98309"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98310" name="Text Box 5"/>
          <p:cNvSpPr txBox="1">
            <a:spLocks noChangeArrowheads="1"/>
          </p:cNvSpPr>
          <p:nvPr/>
        </p:nvSpPr>
        <p:spPr bwMode="auto">
          <a:xfrm>
            <a:off x="684213" y="892175"/>
            <a:ext cx="22574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3-2. Đặc tính của cuộn cảm</a:t>
            </a:r>
            <a:endParaRPr lang="ko-KR" altLang="en-US" sz="1400" b="1">
              <a:latin typeface="Times New Roman" pitchFamily="18" charset="0"/>
              <a:cs typeface="Times New Roman" pitchFamily="18" charset="0"/>
            </a:endParaRPr>
          </a:p>
        </p:txBody>
      </p:sp>
      <p:pic>
        <p:nvPicPr>
          <p:cNvPr id="98311" name="Picture 6" descr="coli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3992563"/>
            <a:ext cx="4984750" cy="23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8312" name="직사각형 1"/>
          <p:cNvSpPr>
            <a:spLocks noChangeArrowheads="1"/>
          </p:cNvSpPr>
          <p:nvPr/>
        </p:nvSpPr>
        <p:spPr bwMode="auto">
          <a:xfrm>
            <a:off x="4067175" y="5876925"/>
            <a:ext cx="1225550" cy="5762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Mạch làm trơn</a:t>
            </a:r>
          </a:p>
          <a:p>
            <a:pPr eaLnBrk="1" hangingPunct="1"/>
            <a:r>
              <a:rPr lang="en-US" altLang="ko-KR">
                <a:latin typeface="Times New Roman" pitchFamily="18" charset="0"/>
                <a:cs typeface="Times New Roman" pitchFamily="18" charset="0"/>
              </a:rPr>
              <a:t>Even Circuit</a:t>
            </a:r>
            <a:endParaRPr lang="ko-KR" altLang="en-US">
              <a:latin typeface="Times New Roman" pitchFamily="18" charset="0"/>
              <a:cs typeface="Times New Roman" pitchFamily="18" charset="0"/>
            </a:endParaRPr>
          </a:p>
        </p:txBody>
      </p:sp>
      <p:sp>
        <p:nvSpPr>
          <p:cNvPr id="98313" name="직사각형 8"/>
          <p:cNvSpPr>
            <a:spLocks noChangeArrowheads="1"/>
          </p:cNvSpPr>
          <p:nvPr/>
        </p:nvSpPr>
        <p:spPr bwMode="auto">
          <a:xfrm>
            <a:off x="1331913" y="5013325"/>
            <a:ext cx="1574800" cy="5762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AC</a:t>
            </a:r>
          </a:p>
          <a:p>
            <a:pPr algn="ctr" eaLnBrk="1" hangingPunct="1"/>
            <a:r>
              <a:rPr lang="en-US" altLang="ko-KR">
                <a:latin typeface="Times New Roman" pitchFamily="18" charset="0"/>
                <a:cs typeface="Times New Roman" pitchFamily="18" charset="0"/>
              </a:rPr>
              <a:t>(dòng điện xoay chiều)</a:t>
            </a:r>
            <a:endParaRPr lang="ko-KR" altLang="en-US">
              <a:latin typeface="Times New Roman" pitchFamily="18" charset="0"/>
              <a:cs typeface="Times New Roman" pitchFamily="18" charset="0"/>
            </a:endParaRPr>
          </a:p>
        </p:txBody>
      </p:sp>
      <p:sp>
        <p:nvSpPr>
          <p:cNvPr id="98314" name="직사각형 9"/>
          <p:cNvSpPr>
            <a:spLocks noChangeArrowheads="1"/>
          </p:cNvSpPr>
          <p:nvPr/>
        </p:nvSpPr>
        <p:spPr bwMode="auto">
          <a:xfrm>
            <a:off x="5724525" y="3789363"/>
            <a:ext cx="1574800" cy="5032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DC</a:t>
            </a:r>
          </a:p>
          <a:p>
            <a:pPr algn="ctr" eaLnBrk="1" hangingPunct="1"/>
            <a:r>
              <a:rPr lang="en-US" altLang="ko-KR">
                <a:latin typeface="Times New Roman" pitchFamily="18" charset="0"/>
                <a:cs typeface="Times New Roman" pitchFamily="18" charset="0"/>
              </a:rPr>
              <a:t>(dòng điện một chiều)</a:t>
            </a:r>
            <a:endParaRPr lang="ko-KR" altLang="en-US">
              <a:latin typeface="Times New Roman" pitchFamily="18" charset="0"/>
              <a:cs typeface="Times New Roman" pitchFamily="18" charset="0"/>
            </a:endParaRPr>
          </a:p>
        </p:txBody>
      </p:sp>
      <p:sp>
        <p:nvSpPr>
          <p:cNvPr id="98315" name="직사각형 10"/>
          <p:cNvSpPr>
            <a:spLocks noChangeArrowheads="1"/>
          </p:cNvSpPr>
          <p:nvPr/>
        </p:nvSpPr>
        <p:spPr bwMode="auto">
          <a:xfrm>
            <a:off x="2347913" y="4365625"/>
            <a:ext cx="1144587"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Máy biến áp</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350FAC6-EA64-49C9-AD94-2FFCB7AD3CFA}" type="slidenum">
              <a:rPr lang="en-US" altLang="ko-KR" sz="1400" smtClean="0">
                <a:latin typeface="Times New Roman" pitchFamily="18" charset="0"/>
                <a:cs typeface="Times New Roman" pitchFamily="18" charset="0"/>
              </a:rPr>
              <a:pPr eaLnBrk="1" hangingPunct="1"/>
              <a:t>92</a:t>
            </a:fld>
            <a:endParaRPr lang="en-US" altLang="ko-KR" sz="1400" smtClean="0">
              <a:latin typeface="Times New Roman" pitchFamily="18" charset="0"/>
              <a:cs typeface="Times New Roman" pitchFamily="18" charset="0"/>
            </a:endParaRPr>
          </a:p>
        </p:txBody>
      </p:sp>
      <p:sp>
        <p:nvSpPr>
          <p:cNvPr id="99331"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9933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Tác động hỗ cảm</a:t>
            </a:r>
            <a:endParaRPr lang="ko-KR" altLang="en-US" b="1">
              <a:latin typeface="Times New Roman" pitchFamily="18" charset="0"/>
              <a:cs typeface="Times New Roman" pitchFamily="18" charset="0"/>
            </a:endParaRPr>
          </a:p>
          <a:p>
            <a:pPr eaLnBrk="1" hangingPunct="1"/>
            <a:endParaRPr lang="ko-KR" altLang="en-US" b="1">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Nguyên lý được sử dụng ở máy biến áp</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(transformer)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 dùng </a:t>
            </a:r>
          </a:p>
          <a:p>
            <a:pPr eaLnBrk="1" hangingPunct="1"/>
            <a:r>
              <a:rPr lang="en-US" altLang="ko-KR">
                <a:solidFill>
                  <a:srgbClr val="000000"/>
                </a:solidFill>
                <a:latin typeface="Times New Roman" pitchFamily="18" charset="0"/>
                <a:cs typeface="Times New Roman" pitchFamily="18" charset="0"/>
              </a:rPr>
              <a:t>tác động cảm suất tương hỗ của cuộn cảm</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Tức khi để hai cuộn</a:t>
            </a:r>
          </a:p>
          <a:p>
            <a:pPr eaLnBrk="1" hangingPunct="1"/>
            <a:r>
              <a:rPr lang="en-US" altLang="ko-KR">
                <a:solidFill>
                  <a:srgbClr val="000000"/>
                </a:solidFill>
                <a:latin typeface="Times New Roman" pitchFamily="18" charset="0"/>
                <a:cs typeface="Times New Roman" pitchFamily="18" charset="0"/>
              </a:rPr>
              <a:t> cảm gần nhau nó sẽ truyền điện của một cuộn lên cuộn còn lại.</a:t>
            </a:r>
            <a:br>
              <a:rPr lang="en-US" altLang="ko-KR">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Thiết bị tiêu biểu có sử dụng đặc tính này</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 máy biến áp, cuộn cảm </a:t>
            </a:r>
          </a:p>
          <a:p>
            <a:pPr eaLnBrk="1" hangingPunct="1"/>
            <a:r>
              <a:rPr lang="en-US" altLang="ko-KR">
                <a:solidFill>
                  <a:srgbClr val="000000"/>
                </a:solidFill>
                <a:latin typeface="Times New Roman" pitchFamily="18" charset="0"/>
                <a:cs typeface="Times New Roman" pitchFamily="18" charset="0"/>
              </a:rPr>
              <a:t>để cung cấp điện(đầu vào) là số 1, còn cuộn cảm nhận nhận điện(đầu ra)</a:t>
            </a:r>
          </a:p>
          <a:p>
            <a:pPr eaLnBrk="1" hangingPunct="1"/>
            <a:r>
              <a:rPr lang="en-US" altLang="ko-KR">
                <a:solidFill>
                  <a:srgbClr val="000000"/>
                </a:solidFill>
                <a:latin typeface="Times New Roman" pitchFamily="18" charset="0"/>
                <a:cs typeface="Times New Roman" pitchFamily="18" charset="0"/>
              </a:rPr>
              <a:t>là số 2. Điện áp của số 2 thay đổi dựa theo tỉ lệ của số cuộn(vòng) của </a:t>
            </a:r>
          </a:p>
          <a:p>
            <a:pPr eaLnBrk="1" hangingPunct="1"/>
            <a:r>
              <a:rPr lang="en-US" altLang="ko-KR">
                <a:solidFill>
                  <a:srgbClr val="000000"/>
                </a:solidFill>
                <a:latin typeface="Times New Roman" pitchFamily="18" charset="0"/>
                <a:cs typeface="Times New Roman" pitchFamily="18" charset="0"/>
              </a:rPr>
              <a:t>số 1 và số 2. Việc lấy dây trong cuộn dây của số 2(gọi là Tap) để tạo nhiều </a:t>
            </a:r>
          </a:p>
          <a:p>
            <a:pPr eaLnBrk="1" hangingPunct="1"/>
            <a:r>
              <a:rPr lang="en-US" altLang="ko-KR">
                <a:solidFill>
                  <a:srgbClr val="000000"/>
                </a:solidFill>
                <a:latin typeface="Times New Roman" pitchFamily="18" charset="0"/>
                <a:cs typeface="Times New Roman" pitchFamily="18" charset="0"/>
              </a:rPr>
              <a:t>điện áp được sử dụng rất nhiều. </a:t>
            </a:r>
          </a:p>
          <a:p>
            <a:pPr eaLnBrk="1" hangingPunct="1"/>
            <a:endParaRPr lang="en-US" altLang="ko-KR">
              <a:solidFill>
                <a:srgbClr val="000000"/>
              </a:solidFill>
              <a:latin typeface="Times New Roman" pitchFamily="18" charset="0"/>
              <a:cs typeface="Times New Roman" pitchFamily="18" charset="0"/>
            </a:endParaRP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b="1">
                <a:solidFill>
                  <a:srgbClr val="000000"/>
                </a:solidFill>
                <a:latin typeface="Times New Roman" pitchFamily="18" charset="0"/>
                <a:cs typeface="Times New Roman" pitchFamily="18" charset="0"/>
              </a:rPr>
              <a:t>(3) Đặc tính của nam châm điện</a:t>
            </a:r>
            <a:endParaRPr lang="ko-KR" altLang="en-US" b="1">
              <a:solidFill>
                <a:srgbClr val="000000"/>
              </a:solidFill>
              <a:latin typeface="Times New Roman" pitchFamily="18" charset="0"/>
              <a:cs typeface="Times New Roman" pitchFamily="18" charset="0"/>
            </a:endParaRPr>
          </a:p>
          <a:p>
            <a:pPr eaLnBrk="1" hangingPunct="1"/>
            <a:endParaRPr lang="ko-KR" altLang="en-US">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Nếu dòng điện chạy trên cuộn cảm nó sẽ trở thành nam châm. </a:t>
            </a:r>
            <a:br>
              <a:rPr lang="en-US" altLang="ko-KR">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Nguyên lý hoạt động là khi dòng điện chạy qua rơ le</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(Relay)</a:t>
            </a:r>
          </a:p>
          <a:p>
            <a:pPr eaLnBrk="1" hangingPunct="1"/>
            <a:r>
              <a:rPr lang="en-US" altLang="ko-KR">
                <a:solidFill>
                  <a:srgbClr val="000000"/>
                </a:solidFill>
                <a:latin typeface="Times New Roman" pitchFamily="18" charset="0"/>
                <a:cs typeface="Times New Roman" pitchFamily="18" charset="0"/>
              </a:rPr>
              <a:t>nó sẽ kéo tấm thép sau đó đóng tiếp điểm công tắc được gắn lên tấm</a:t>
            </a:r>
          </a:p>
          <a:p>
            <a:pPr eaLnBrk="1" hangingPunct="1"/>
            <a:r>
              <a:rPr lang="en-US" altLang="ko-KR">
                <a:solidFill>
                  <a:srgbClr val="000000"/>
                </a:solidFill>
                <a:latin typeface="Times New Roman" pitchFamily="18" charset="0"/>
                <a:cs typeface="Times New Roman" pitchFamily="18" charset="0"/>
              </a:rPr>
              <a:t>thép đó, đặc tính nam châm điện này được sử dụng cho khóa tự động </a:t>
            </a:r>
          </a:p>
          <a:p>
            <a:pPr eaLnBrk="1" hangingPunct="1"/>
            <a:r>
              <a:rPr lang="en-US" altLang="ko-KR">
                <a:solidFill>
                  <a:srgbClr val="000000"/>
                </a:solidFill>
                <a:latin typeface="Times New Roman" pitchFamily="18" charset="0"/>
                <a:cs typeface="Times New Roman" pitchFamily="18" charset="0"/>
              </a:rPr>
              <a:t>(đóng mở) cửa lớn ra vào, chuông cửa trong gia đình. Nguyên lý của loa cũng</a:t>
            </a:r>
          </a:p>
          <a:p>
            <a:pPr eaLnBrk="1" hangingPunct="1"/>
            <a:r>
              <a:rPr lang="en-US" altLang="ko-KR">
                <a:solidFill>
                  <a:srgbClr val="000000"/>
                </a:solidFill>
                <a:latin typeface="Times New Roman" pitchFamily="18" charset="0"/>
                <a:cs typeface="Times New Roman" pitchFamily="18" charset="0"/>
              </a:rPr>
              <a:t>được áp dụng theo nguyên lý của nam châm điện này.</a:t>
            </a:r>
            <a:r>
              <a:rPr lang="en-US" altLang="ko-KR">
                <a:latin typeface="Times New Roman" pitchFamily="18" charset="0"/>
                <a:cs typeface="Times New Roman" pitchFamily="18" charset="0"/>
              </a:rPr>
              <a:t> </a:t>
            </a:r>
          </a:p>
        </p:txBody>
      </p:sp>
      <p:sp>
        <p:nvSpPr>
          <p:cNvPr id="99333"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pic>
        <p:nvPicPr>
          <p:cNvPr id="9933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1484313"/>
            <a:ext cx="14652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4271963"/>
            <a:ext cx="130492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6" name="직사각형 7"/>
          <p:cNvSpPr>
            <a:spLocks noChangeArrowheads="1"/>
          </p:cNvSpPr>
          <p:nvPr/>
        </p:nvSpPr>
        <p:spPr bwMode="auto">
          <a:xfrm>
            <a:off x="5956300" y="1484313"/>
            <a:ext cx="114458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Máy biến áp</a:t>
            </a:r>
            <a:endParaRPr lang="ko-KR" altLang="en-US">
              <a:latin typeface="Times New Roman" pitchFamily="18" charset="0"/>
              <a:cs typeface="Times New Roman" pitchFamily="18" charset="0"/>
            </a:endParaRPr>
          </a:p>
        </p:txBody>
      </p:sp>
      <p:sp>
        <p:nvSpPr>
          <p:cNvPr id="99337" name="직사각형 8"/>
          <p:cNvSpPr>
            <a:spLocks noChangeArrowheads="1"/>
          </p:cNvSpPr>
          <p:nvPr/>
        </p:nvSpPr>
        <p:spPr bwMode="auto">
          <a:xfrm>
            <a:off x="6948488" y="2141538"/>
            <a:ext cx="449262"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Tap</a:t>
            </a:r>
            <a:endParaRPr lang="ko-KR" altLang="en-US">
              <a:latin typeface="Times New Roman" pitchFamily="18" charset="0"/>
              <a:cs typeface="Times New Roman" pitchFamily="18" charset="0"/>
            </a:endParaRPr>
          </a:p>
        </p:txBody>
      </p:sp>
      <p:sp>
        <p:nvSpPr>
          <p:cNvPr id="99338" name="직사각형 9"/>
          <p:cNvSpPr>
            <a:spLocks noChangeArrowheads="1"/>
          </p:cNvSpPr>
          <p:nvPr/>
        </p:nvSpPr>
        <p:spPr bwMode="auto">
          <a:xfrm>
            <a:off x="5795963" y="2797175"/>
            <a:ext cx="54292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Số 1</a:t>
            </a:r>
            <a:endParaRPr lang="ko-KR" altLang="en-US">
              <a:latin typeface="Times New Roman" pitchFamily="18" charset="0"/>
              <a:cs typeface="Times New Roman" pitchFamily="18" charset="0"/>
            </a:endParaRPr>
          </a:p>
        </p:txBody>
      </p:sp>
      <p:sp>
        <p:nvSpPr>
          <p:cNvPr id="99339" name="직사각형 10"/>
          <p:cNvSpPr>
            <a:spLocks noChangeArrowheads="1"/>
          </p:cNvSpPr>
          <p:nvPr/>
        </p:nvSpPr>
        <p:spPr bwMode="auto">
          <a:xfrm>
            <a:off x="6477000" y="2805113"/>
            <a:ext cx="5429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Số 2</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4D210E8-50E8-4D5A-B25D-5280C434C6C4}" type="slidenum">
              <a:rPr lang="en-US" altLang="ko-KR" sz="1400" smtClean="0">
                <a:latin typeface="Times New Roman" pitchFamily="18" charset="0"/>
                <a:cs typeface="Times New Roman" pitchFamily="18" charset="0"/>
              </a:rPr>
              <a:pPr eaLnBrk="1" hangingPunct="1"/>
              <a:t>93</a:t>
            </a:fld>
            <a:endParaRPr lang="en-US" altLang="ko-KR" sz="1400" smtClean="0">
              <a:latin typeface="Times New Roman" pitchFamily="18" charset="0"/>
              <a:cs typeface="Times New Roman" pitchFamily="18" charset="0"/>
            </a:endParaRPr>
          </a:p>
        </p:txBody>
      </p:sp>
      <p:sp>
        <p:nvSpPr>
          <p:cNvPr id="100355"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035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Đặc tính gây cộng hưởng</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Nếu mạch được cấu tạo bởi cuộn cảm và tụ điện, thì sẽ làm cho dòng điện xoay chiều của tần số đặc biệt không chạy hoặc chạy một cách dễ dàng.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Để chỉ dẫn qua tần số đặc biệt nào đó</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mạch lọc được sử dụng sẽ sử dụng nguyên lý này để làm. Nút điều chỉnh lựa chọn kênh của đài cát-sét có sử dụng đặc tính này để chỉ lựa chọn tần số đặc biệt.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Ở mạch cộng hưởng có mạch cộng hưởng nối tiếp được cấu tạo bởi cuộn cảm và tụ điện mắc nối tiếp, và có mạch cộng hưởng song song được cấu tạo bởi cuộn cảm và tụ điện mắc song song.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(5) Chức năng chặn nhiễu nguồn điện</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Cuộn cảm có chức năng là sử dụng chức năng làm ổn định sự thay đổi của dòng điện để ngăn nhiễu từ bên ngoài vào(thành phần tạp âm, dòng điện xoay chiều của thành phần tần số không có quy tắc) một cách hiệu quả.</a:t>
            </a:r>
          </a:p>
        </p:txBody>
      </p:sp>
      <p:sp>
        <p:nvSpPr>
          <p:cNvPr id="100357"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pic>
        <p:nvPicPr>
          <p:cNvPr id="100358" name="Picture 7"/>
          <p:cNvPicPr>
            <a:picLocks noChangeAspect="1" noChangeArrowheads="1"/>
          </p:cNvPicPr>
          <p:nvPr/>
        </p:nvPicPr>
        <p:blipFill>
          <a:blip r:embed="rId3">
            <a:extLst>
              <a:ext uri="{28A0092B-C50C-407E-A947-70E740481C1C}">
                <a14:useLocalDpi xmlns:a14="http://schemas.microsoft.com/office/drawing/2010/main" val="0"/>
              </a:ext>
            </a:extLst>
          </a:blip>
          <a:srcRect l="1759" t="2377" r="2112" b="3964"/>
          <a:stretch>
            <a:fillRect/>
          </a:stretch>
        </p:blipFill>
        <p:spPr bwMode="auto">
          <a:xfrm>
            <a:off x="900113" y="2840038"/>
            <a:ext cx="3468687"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0359" name="Picture 8"/>
          <p:cNvPicPr>
            <a:picLocks noChangeAspect="1" noChangeArrowheads="1"/>
          </p:cNvPicPr>
          <p:nvPr/>
        </p:nvPicPr>
        <p:blipFill>
          <a:blip r:embed="rId4">
            <a:extLst>
              <a:ext uri="{28A0092B-C50C-407E-A947-70E740481C1C}">
                <a14:useLocalDpi xmlns:a14="http://schemas.microsoft.com/office/drawing/2010/main" val="0"/>
              </a:ext>
            </a:extLst>
          </a:blip>
          <a:srcRect l="1357" t="2766" r="1936" b="3162"/>
          <a:stretch>
            <a:fillRect/>
          </a:stretch>
        </p:blipFill>
        <p:spPr bwMode="auto">
          <a:xfrm>
            <a:off x="4903788" y="2825750"/>
            <a:ext cx="31702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0360" name="직사각형 1"/>
          <p:cNvSpPr>
            <a:spLocks noChangeArrowheads="1"/>
          </p:cNvSpPr>
          <p:nvPr/>
        </p:nvSpPr>
        <p:spPr bwMode="auto">
          <a:xfrm>
            <a:off x="4716463" y="4149725"/>
            <a:ext cx="1871662" cy="2428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Mạch cộng hưởng song song</a:t>
            </a:r>
            <a:endParaRPr lang="ko-KR" altLang="en-US" sz="1100">
              <a:latin typeface="Times New Roman" pitchFamily="18" charset="0"/>
              <a:cs typeface="Times New Roman" pitchFamily="18" charset="0"/>
            </a:endParaRPr>
          </a:p>
        </p:txBody>
      </p:sp>
      <p:sp>
        <p:nvSpPr>
          <p:cNvPr id="100361" name="직사각형 8"/>
          <p:cNvSpPr>
            <a:spLocks noChangeArrowheads="1"/>
          </p:cNvSpPr>
          <p:nvPr/>
        </p:nvSpPr>
        <p:spPr bwMode="auto">
          <a:xfrm>
            <a:off x="847725" y="4121150"/>
            <a:ext cx="1871663" cy="2444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Mạch cộng hưởng nối tiếp</a:t>
            </a:r>
            <a:endParaRPr lang="ko-KR" altLang="en-US" sz="1100">
              <a:latin typeface="Times New Roman" pitchFamily="18" charset="0"/>
              <a:cs typeface="Times New Roman" pitchFamily="18" charset="0"/>
            </a:endParaRPr>
          </a:p>
        </p:txBody>
      </p:sp>
      <p:sp>
        <p:nvSpPr>
          <p:cNvPr id="100362" name="직사각형 9"/>
          <p:cNvSpPr>
            <a:spLocks noChangeArrowheads="1"/>
          </p:cNvSpPr>
          <p:nvPr/>
        </p:nvSpPr>
        <p:spPr bwMode="auto">
          <a:xfrm>
            <a:off x="6875463" y="4121150"/>
            <a:ext cx="1289050" cy="2444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Tần số cộng hưởng</a:t>
            </a:r>
            <a:endParaRPr lang="ko-KR" altLang="en-US" sz="1100">
              <a:latin typeface="Times New Roman" pitchFamily="18" charset="0"/>
              <a:cs typeface="Times New Roman" pitchFamily="18" charset="0"/>
            </a:endParaRPr>
          </a:p>
        </p:txBody>
      </p:sp>
      <p:sp>
        <p:nvSpPr>
          <p:cNvPr id="100363" name="직사각형 10"/>
          <p:cNvSpPr>
            <a:spLocks noChangeArrowheads="1"/>
          </p:cNvSpPr>
          <p:nvPr/>
        </p:nvSpPr>
        <p:spPr bwMode="auto">
          <a:xfrm>
            <a:off x="3132138" y="4129088"/>
            <a:ext cx="1287462" cy="2444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100">
                <a:latin typeface="Times New Roman" pitchFamily="18" charset="0"/>
                <a:cs typeface="Times New Roman" pitchFamily="18" charset="0"/>
              </a:rPr>
              <a:t>Tần số cộng hưởng</a:t>
            </a:r>
            <a:endParaRPr lang="ko-KR" altLang="en-US" sz="1100">
              <a:latin typeface="Times New Roman" pitchFamily="18" charset="0"/>
              <a:cs typeface="Times New Roman" pitchFamily="18" charset="0"/>
            </a:endParaRPr>
          </a:p>
        </p:txBody>
      </p:sp>
      <p:sp>
        <p:nvSpPr>
          <p:cNvPr id="100364" name="직사각형 11"/>
          <p:cNvSpPr>
            <a:spLocks noChangeArrowheads="1"/>
          </p:cNvSpPr>
          <p:nvPr/>
        </p:nvSpPr>
        <p:spPr bwMode="auto">
          <a:xfrm>
            <a:off x="4643438" y="2833688"/>
            <a:ext cx="492125" cy="8826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Máy tạo dao động</a:t>
            </a:r>
            <a:endParaRPr lang="ko-KR" altLang="en-US" sz="1100">
              <a:latin typeface="Times New Roman" pitchFamily="18" charset="0"/>
              <a:cs typeface="Times New Roman" pitchFamily="18" charset="0"/>
            </a:endParaRPr>
          </a:p>
        </p:txBody>
      </p:sp>
      <p:sp>
        <p:nvSpPr>
          <p:cNvPr id="100365" name="직사각형 12"/>
          <p:cNvSpPr>
            <a:spLocks noChangeArrowheads="1"/>
          </p:cNvSpPr>
          <p:nvPr/>
        </p:nvSpPr>
        <p:spPr bwMode="auto">
          <a:xfrm>
            <a:off x="696913" y="2781300"/>
            <a:ext cx="490537" cy="8826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Máy tạo dao động</a:t>
            </a:r>
            <a:endParaRPr lang="ko-KR" altLang="en-US" sz="11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AA1536B-4854-426D-8852-565267CEBF4F}" type="slidenum">
              <a:rPr lang="en-US" altLang="ko-KR" sz="1400" smtClean="0">
                <a:latin typeface="Times New Roman" pitchFamily="18" charset="0"/>
                <a:cs typeface="Times New Roman" pitchFamily="18" charset="0"/>
              </a:rPr>
              <a:pPr eaLnBrk="1" hangingPunct="1"/>
              <a:t>94</a:t>
            </a:fld>
            <a:endParaRPr lang="en-US" altLang="ko-KR" sz="1400" smtClean="0">
              <a:latin typeface="Times New Roman" pitchFamily="18" charset="0"/>
              <a:cs typeface="Times New Roman" pitchFamily="18" charset="0"/>
            </a:endParaRPr>
          </a:p>
        </p:txBody>
      </p:sp>
      <p:sp>
        <p:nvSpPr>
          <p:cNvPr id="101379"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138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① Ký hiệu được sử dụng trên sơ đồ mạch điện được biểu thị như hình dưới nhưng cũng có một vài hình dạng khác.</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② Biểu thị công suất của cuộn cảm</a:t>
            </a:r>
            <a:endParaRPr lang="ko-KR" altLang="en-US">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p:txBody>
      </p:sp>
      <p:sp>
        <p:nvSpPr>
          <p:cNvPr id="101381"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101382" name="Text Box 5"/>
          <p:cNvSpPr txBox="1">
            <a:spLocks noChangeArrowheads="1"/>
          </p:cNvSpPr>
          <p:nvPr/>
        </p:nvSpPr>
        <p:spPr bwMode="auto">
          <a:xfrm>
            <a:off x="684213" y="892175"/>
            <a:ext cx="2959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3-3. Ký hiệu và đơn vị của cuộn cảm</a:t>
            </a:r>
            <a:endParaRPr lang="ko-KR" altLang="en-US" sz="1400" b="1">
              <a:latin typeface="Times New Roman" pitchFamily="18" charset="0"/>
              <a:cs typeface="Times New Roman" pitchFamily="18" charset="0"/>
            </a:endParaRPr>
          </a:p>
        </p:txBody>
      </p:sp>
      <p:sp>
        <p:nvSpPr>
          <p:cNvPr id="101383" name="Rectangle 6"/>
          <p:cNvSpPr>
            <a:spLocks noChangeArrowheads="1"/>
          </p:cNvSpPr>
          <p:nvPr/>
        </p:nvSpPr>
        <p:spPr bwMode="auto">
          <a:xfrm>
            <a:off x="1084263" y="1700213"/>
            <a:ext cx="19812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Ký hiệu sơ đồ mạch điện</a:t>
            </a:r>
            <a:endParaRPr lang="ko-KR" altLang="en-US">
              <a:latin typeface="Times New Roman" pitchFamily="18" charset="0"/>
              <a:cs typeface="Times New Roman" pitchFamily="18" charset="0"/>
            </a:endParaRPr>
          </a:p>
        </p:txBody>
      </p:sp>
      <p:sp>
        <p:nvSpPr>
          <p:cNvPr id="101384" name="Rectangle 7"/>
          <p:cNvSpPr>
            <a:spLocks noChangeArrowheads="1"/>
          </p:cNvSpPr>
          <p:nvPr/>
        </p:nvSpPr>
        <p:spPr bwMode="auto">
          <a:xfrm>
            <a:off x="2987675" y="1700213"/>
            <a:ext cx="1146175"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Ký hiệu viết tắt</a:t>
            </a:r>
            <a:endParaRPr lang="ko-KR" altLang="en-US">
              <a:latin typeface="Times New Roman" pitchFamily="18" charset="0"/>
              <a:cs typeface="Times New Roman" pitchFamily="18" charset="0"/>
            </a:endParaRPr>
          </a:p>
        </p:txBody>
      </p:sp>
      <p:sp>
        <p:nvSpPr>
          <p:cNvPr id="101385" name="Rectangle 8"/>
          <p:cNvSpPr>
            <a:spLocks noChangeArrowheads="1"/>
          </p:cNvSpPr>
          <p:nvPr/>
        </p:nvSpPr>
        <p:spPr bwMode="auto">
          <a:xfrm>
            <a:off x="5707063" y="1700213"/>
            <a:ext cx="239395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Chức năng</a:t>
            </a:r>
            <a:endParaRPr lang="ko-KR" altLang="en-US">
              <a:latin typeface="Times New Roman" pitchFamily="18" charset="0"/>
              <a:cs typeface="Times New Roman" pitchFamily="18" charset="0"/>
            </a:endParaRPr>
          </a:p>
        </p:txBody>
      </p:sp>
      <p:sp>
        <p:nvSpPr>
          <p:cNvPr id="101386" name="Rectangle 9"/>
          <p:cNvSpPr>
            <a:spLocks noChangeArrowheads="1"/>
          </p:cNvSpPr>
          <p:nvPr/>
        </p:nvSpPr>
        <p:spPr bwMode="auto">
          <a:xfrm>
            <a:off x="4056063" y="1700213"/>
            <a:ext cx="165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Tên gọi</a:t>
            </a:r>
            <a:endParaRPr lang="ko-KR" altLang="en-US">
              <a:latin typeface="Times New Roman" pitchFamily="18" charset="0"/>
              <a:cs typeface="Times New Roman" pitchFamily="18" charset="0"/>
            </a:endParaRPr>
          </a:p>
        </p:txBody>
      </p:sp>
      <p:sp>
        <p:nvSpPr>
          <p:cNvPr id="101387" name="Rectangle 10"/>
          <p:cNvSpPr>
            <a:spLocks noChangeArrowheads="1"/>
          </p:cNvSpPr>
          <p:nvPr/>
        </p:nvSpPr>
        <p:spPr bwMode="auto">
          <a:xfrm>
            <a:off x="1084263" y="2005013"/>
            <a:ext cx="19812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a:latin typeface="Times New Roman" pitchFamily="18" charset="0"/>
              <a:cs typeface="Times New Roman" pitchFamily="18" charset="0"/>
            </a:endParaRPr>
          </a:p>
        </p:txBody>
      </p:sp>
      <p:sp>
        <p:nvSpPr>
          <p:cNvPr id="101388" name="Rectangle 11"/>
          <p:cNvSpPr>
            <a:spLocks noChangeArrowheads="1"/>
          </p:cNvSpPr>
          <p:nvPr/>
        </p:nvSpPr>
        <p:spPr bwMode="auto">
          <a:xfrm>
            <a:off x="3065463" y="2005013"/>
            <a:ext cx="9906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RFC</a:t>
            </a:r>
          </a:p>
        </p:txBody>
      </p:sp>
      <p:sp>
        <p:nvSpPr>
          <p:cNvPr id="101389" name="Rectangle 12"/>
          <p:cNvSpPr>
            <a:spLocks noChangeArrowheads="1"/>
          </p:cNvSpPr>
          <p:nvPr/>
        </p:nvSpPr>
        <p:spPr bwMode="auto">
          <a:xfrm>
            <a:off x="5707063" y="2005013"/>
            <a:ext cx="239395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 chuyên ngăn cao tần</a:t>
            </a:r>
            <a:endParaRPr lang="ko-KR" altLang="en-US">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Cuộn cảm lọc</a:t>
            </a:r>
            <a:endParaRPr lang="ko-KR" altLang="en-US">
              <a:latin typeface="Times New Roman" pitchFamily="18" charset="0"/>
              <a:cs typeface="Times New Roman" pitchFamily="18" charset="0"/>
            </a:endParaRPr>
          </a:p>
        </p:txBody>
      </p:sp>
      <p:sp>
        <p:nvSpPr>
          <p:cNvPr id="101390" name="Rectangle 13"/>
          <p:cNvSpPr>
            <a:spLocks noChangeArrowheads="1"/>
          </p:cNvSpPr>
          <p:nvPr/>
        </p:nvSpPr>
        <p:spPr bwMode="auto">
          <a:xfrm>
            <a:off x="4056063" y="2005013"/>
            <a:ext cx="16510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 kháng</a:t>
            </a:r>
          </a:p>
          <a:p>
            <a:pPr algn="ctr" eaLnBrk="1" hangingPunct="1"/>
            <a:r>
              <a:rPr lang="en-US" altLang="ko-KR">
                <a:latin typeface="Times New Roman" pitchFamily="18" charset="0"/>
                <a:cs typeface="Times New Roman" pitchFamily="18" charset="0"/>
              </a:rPr>
              <a:t>(Choke coil)</a:t>
            </a:r>
            <a:endParaRPr lang="ko-KR" altLang="en-US">
              <a:latin typeface="Times New Roman" pitchFamily="18" charset="0"/>
              <a:cs typeface="Times New Roman" pitchFamily="18" charset="0"/>
            </a:endParaRPr>
          </a:p>
        </p:txBody>
      </p:sp>
      <p:sp>
        <p:nvSpPr>
          <p:cNvPr id="101391" name="Rectangle 15"/>
          <p:cNvSpPr>
            <a:spLocks noChangeArrowheads="1"/>
          </p:cNvSpPr>
          <p:nvPr/>
        </p:nvSpPr>
        <p:spPr bwMode="auto">
          <a:xfrm>
            <a:off x="1084263" y="2767013"/>
            <a:ext cx="19812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a:latin typeface="Times New Roman" pitchFamily="18" charset="0"/>
              <a:cs typeface="Times New Roman" pitchFamily="18" charset="0"/>
            </a:endParaRPr>
          </a:p>
        </p:txBody>
      </p:sp>
      <p:sp>
        <p:nvSpPr>
          <p:cNvPr id="101392" name="Rectangle 16"/>
          <p:cNvSpPr>
            <a:spLocks noChangeArrowheads="1"/>
          </p:cNvSpPr>
          <p:nvPr/>
        </p:nvSpPr>
        <p:spPr bwMode="auto">
          <a:xfrm>
            <a:off x="3065463" y="2767013"/>
            <a:ext cx="9906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L</a:t>
            </a:r>
          </a:p>
        </p:txBody>
      </p:sp>
      <p:sp>
        <p:nvSpPr>
          <p:cNvPr id="101393" name="Rectangle 17"/>
          <p:cNvSpPr>
            <a:spLocks noChangeArrowheads="1"/>
          </p:cNvSpPr>
          <p:nvPr/>
        </p:nvSpPr>
        <p:spPr bwMode="auto">
          <a:xfrm>
            <a:off x="5707063" y="2767013"/>
            <a:ext cx="239395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FCZ</a:t>
            </a:r>
          </a:p>
          <a:p>
            <a:pPr algn="ctr" eaLnBrk="1" hangingPunct="1"/>
            <a:r>
              <a:rPr lang="en-US" altLang="ko-KR">
                <a:latin typeface="Times New Roman" pitchFamily="18" charset="0"/>
                <a:cs typeface="Times New Roman" pitchFamily="18" charset="0"/>
              </a:rPr>
              <a:t>chuyên điều hưởng cao tần</a:t>
            </a:r>
            <a:endParaRPr lang="ko-KR" altLang="en-US">
              <a:latin typeface="Times New Roman" pitchFamily="18" charset="0"/>
              <a:cs typeface="Times New Roman" pitchFamily="18" charset="0"/>
            </a:endParaRPr>
          </a:p>
        </p:txBody>
      </p:sp>
      <p:sp>
        <p:nvSpPr>
          <p:cNvPr id="101394" name="Rectangle 18"/>
          <p:cNvSpPr>
            <a:spLocks noChangeArrowheads="1"/>
          </p:cNvSpPr>
          <p:nvPr/>
        </p:nvSpPr>
        <p:spPr bwMode="auto">
          <a:xfrm>
            <a:off x="4056063" y="2767013"/>
            <a:ext cx="16510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điều hưởng</a:t>
            </a:r>
          </a:p>
          <a:p>
            <a:pPr algn="ctr" eaLnBrk="1" hangingPunct="1"/>
            <a:r>
              <a:rPr lang="en-US" altLang="ko-KR">
                <a:latin typeface="Times New Roman" pitchFamily="18" charset="0"/>
                <a:cs typeface="Times New Roman" pitchFamily="18" charset="0"/>
              </a:rPr>
              <a:t>(Tuning coil)</a:t>
            </a:r>
            <a:endParaRPr lang="ko-KR" altLang="en-US">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IFT</a:t>
            </a:r>
          </a:p>
        </p:txBody>
      </p:sp>
      <p:sp>
        <p:nvSpPr>
          <p:cNvPr id="101395" name="Rectangle 20"/>
          <p:cNvSpPr>
            <a:spLocks noChangeArrowheads="1"/>
          </p:cNvSpPr>
          <p:nvPr/>
        </p:nvSpPr>
        <p:spPr bwMode="auto">
          <a:xfrm>
            <a:off x="1084263" y="3757613"/>
            <a:ext cx="19812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a:latin typeface="Times New Roman" pitchFamily="18" charset="0"/>
              <a:cs typeface="Times New Roman" pitchFamily="18" charset="0"/>
            </a:endParaRPr>
          </a:p>
        </p:txBody>
      </p:sp>
      <p:sp>
        <p:nvSpPr>
          <p:cNvPr id="101396" name="Rectangle 21"/>
          <p:cNvSpPr>
            <a:spLocks noChangeArrowheads="1"/>
          </p:cNvSpPr>
          <p:nvPr/>
        </p:nvSpPr>
        <p:spPr bwMode="auto">
          <a:xfrm>
            <a:off x="3065463" y="3757613"/>
            <a:ext cx="9906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TR</a:t>
            </a:r>
          </a:p>
        </p:txBody>
      </p:sp>
      <p:sp>
        <p:nvSpPr>
          <p:cNvPr id="101397" name="Rectangle 22"/>
          <p:cNvSpPr>
            <a:spLocks noChangeArrowheads="1"/>
          </p:cNvSpPr>
          <p:nvPr/>
        </p:nvSpPr>
        <p:spPr bwMode="auto">
          <a:xfrm>
            <a:off x="5707063" y="3757613"/>
            <a:ext cx="239395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dùng để biến đổi điện áp của nguồn điện</a:t>
            </a:r>
            <a:endParaRPr lang="ko-KR" altLang="en-US">
              <a:latin typeface="Times New Roman" pitchFamily="18" charset="0"/>
              <a:cs typeface="Times New Roman" pitchFamily="18" charset="0"/>
            </a:endParaRPr>
          </a:p>
        </p:txBody>
      </p:sp>
      <p:sp>
        <p:nvSpPr>
          <p:cNvPr id="101398" name="Rectangle 23"/>
          <p:cNvSpPr>
            <a:spLocks noChangeArrowheads="1"/>
          </p:cNvSpPr>
          <p:nvPr/>
        </p:nvSpPr>
        <p:spPr bwMode="auto">
          <a:xfrm>
            <a:off x="4056063" y="3757613"/>
            <a:ext cx="16510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Máy biến áp</a:t>
            </a:r>
            <a:endParaRPr lang="ko-KR" altLang="en-US">
              <a:latin typeface="Times New Roman" pitchFamily="18" charset="0"/>
              <a:cs typeface="Times New Roman" pitchFamily="18" charset="0"/>
            </a:endParaRPr>
          </a:p>
        </p:txBody>
      </p:sp>
      <p:grpSp>
        <p:nvGrpSpPr>
          <p:cNvPr id="101399" name="Group 25"/>
          <p:cNvGrpSpPr>
            <a:grpSpLocks/>
          </p:cNvGrpSpPr>
          <p:nvPr/>
        </p:nvGrpSpPr>
        <p:grpSpPr bwMode="auto">
          <a:xfrm>
            <a:off x="2074863" y="5510213"/>
            <a:ext cx="3962400" cy="609600"/>
            <a:chOff x="1440" y="3456"/>
            <a:chExt cx="2304" cy="384"/>
          </a:xfrm>
        </p:grpSpPr>
        <p:sp>
          <p:nvSpPr>
            <p:cNvPr id="101403" name="Rectangle 26"/>
            <p:cNvSpPr>
              <a:spLocks noChangeArrowheads="1"/>
            </p:cNvSpPr>
            <p:nvPr/>
          </p:nvSpPr>
          <p:spPr bwMode="auto">
            <a:xfrm>
              <a:off x="1440" y="3456"/>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Đơn vị hệ số</a:t>
              </a:r>
              <a:endParaRPr lang="ko-KR" altLang="en-US">
                <a:latin typeface="Times New Roman" pitchFamily="18" charset="0"/>
                <a:cs typeface="Times New Roman" pitchFamily="18" charset="0"/>
              </a:endParaRPr>
            </a:p>
          </p:txBody>
        </p:sp>
        <p:sp>
          <p:nvSpPr>
            <p:cNvPr id="101404" name="Rectangle 27"/>
            <p:cNvSpPr>
              <a:spLocks noChangeArrowheads="1"/>
            </p:cNvSpPr>
            <p:nvPr/>
          </p:nvSpPr>
          <p:spPr bwMode="auto">
            <a:xfrm>
              <a:off x="1440" y="36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cảm(H)</a:t>
              </a:r>
            </a:p>
          </p:txBody>
        </p:sp>
        <p:sp>
          <p:nvSpPr>
            <p:cNvPr id="101405" name="Rectangle 28"/>
            <p:cNvSpPr>
              <a:spLocks noChangeArrowheads="1"/>
            </p:cNvSpPr>
            <p:nvPr/>
          </p:nvSpPr>
          <p:spPr bwMode="auto">
            <a:xfrm>
              <a:off x="2016" y="3456"/>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rgbClr val="000000"/>
                  </a:solidFill>
                  <a:latin typeface="Times New Roman" pitchFamily="18" charset="0"/>
                  <a:cs typeface="Times New Roman" pitchFamily="18" charset="0"/>
                </a:rPr>
                <a:t>1(tiêu chuẩn)</a:t>
              </a:r>
            </a:p>
          </p:txBody>
        </p:sp>
        <p:sp>
          <p:nvSpPr>
            <p:cNvPr id="101406" name="Rectangle 29"/>
            <p:cNvSpPr>
              <a:spLocks noChangeArrowheads="1"/>
            </p:cNvSpPr>
            <p:nvPr/>
          </p:nvSpPr>
          <p:spPr bwMode="auto">
            <a:xfrm>
              <a:off x="2016" y="36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H</a:t>
              </a:r>
            </a:p>
          </p:txBody>
        </p:sp>
        <p:sp>
          <p:nvSpPr>
            <p:cNvPr id="101407" name="Rectangle 30"/>
            <p:cNvSpPr>
              <a:spLocks noChangeArrowheads="1"/>
            </p:cNvSpPr>
            <p:nvPr/>
          </p:nvSpPr>
          <p:spPr bwMode="auto">
            <a:xfrm>
              <a:off x="2592" y="3456"/>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rgbClr val="000000"/>
                  </a:solidFill>
                  <a:latin typeface="Times New Roman" pitchFamily="18" charset="0"/>
                  <a:cs typeface="Times New Roman" pitchFamily="18" charset="0"/>
                </a:rPr>
                <a:t>×10</a:t>
              </a:r>
              <a:r>
                <a:rPr lang="en-US" altLang="ko-KR" baseline="30000">
                  <a:solidFill>
                    <a:srgbClr val="000000"/>
                  </a:solidFill>
                  <a:latin typeface="Times New Roman" pitchFamily="18" charset="0"/>
                  <a:cs typeface="Times New Roman" pitchFamily="18" charset="0"/>
                </a:rPr>
                <a:t>-3</a:t>
              </a:r>
            </a:p>
          </p:txBody>
        </p:sp>
        <p:sp>
          <p:nvSpPr>
            <p:cNvPr id="101408" name="Rectangle 31"/>
            <p:cNvSpPr>
              <a:spLocks noChangeArrowheads="1"/>
            </p:cNvSpPr>
            <p:nvPr/>
          </p:nvSpPr>
          <p:spPr bwMode="auto">
            <a:xfrm>
              <a:off x="2592" y="36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rgbClr val="000000"/>
                  </a:solidFill>
                  <a:latin typeface="Times New Roman" pitchFamily="18" charset="0"/>
                  <a:cs typeface="Times New Roman" pitchFamily="18" charset="0"/>
                </a:rPr>
                <a:t>mH</a:t>
              </a:r>
            </a:p>
          </p:txBody>
        </p:sp>
        <p:sp>
          <p:nvSpPr>
            <p:cNvPr id="101409" name="Rectangle 32"/>
            <p:cNvSpPr>
              <a:spLocks noChangeArrowheads="1"/>
            </p:cNvSpPr>
            <p:nvPr/>
          </p:nvSpPr>
          <p:spPr bwMode="auto">
            <a:xfrm>
              <a:off x="3168" y="36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rgbClr val="000000"/>
                  </a:solidFill>
                  <a:latin typeface="Times New Roman" pitchFamily="18" charset="0"/>
                  <a:cs typeface="Times New Roman" pitchFamily="18" charset="0"/>
                </a:rPr>
                <a:t>μH</a:t>
              </a:r>
            </a:p>
          </p:txBody>
        </p:sp>
        <p:sp>
          <p:nvSpPr>
            <p:cNvPr id="101410" name="Rectangle 33"/>
            <p:cNvSpPr>
              <a:spLocks noChangeArrowheads="1"/>
            </p:cNvSpPr>
            <p:nvPr/>
          </p:nvSpPr>
          <p:spPr bwMode="auto">
            <a:xfrm>
              <a:off x="3168" y="3456"/>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rgbClr val="000000"/>
                  </a:solidFill>
                  <a:latin typeface="Times New Roman" pitchFamily="18" charset="0"/>
                  <a:cs typeface="Times New Roman" pitchFamily="18" charset="0"/>
                </a:rPr>
                <a:t>×10</a:t>
              </a:r>
              <a:r>
                <a:rPr lang="en-US" altLang="ko-KR" baseline="30000">
                  <a:solidFill>
                    <a:srgbClr val="000000"/>
                  </a:solidFill>
                  <a:latin typeface="Times New Roman" pitchFamily="18" charset="0"/>
                  <a:cs typeface="Times New Roman" pitchFamily="18" charset="0"/>
                </a:rPr>
                <a:t>-6</a:t>
              </a:r>
            </a:p>
          </p:txBody>
        </p:sp>
      </p:grpSp>
      <p:pic>
        <p:nvPicPr>
          <p:cNvPr id="10140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2036763"/>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401"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3725" y="2819400"/>
            <a:ext cx="11430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402"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813" y="3776663"/>
            <a:ext cx="8794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7DFA5EC-25B5-4B4B-950F-8DDE40E7BC64}" type="slidenum">
              <a:rPr lang="en-US" altLang="ko-KR" sz="1400" smtClean="0">
                <a:latin typeface="Times New Roman" pitchFamily="18" charset="0"/>
                <a:cs typeface="Times New Roman" pitchFamily="18" charset="0"/>
              </a:rPr>
              <a:pPr eaLnBrk="1" hangingPunct="1"/>
              <a:t>95</a:t>
            </a:fld>
            <a:endParaRPr lang="en-US" altLang="ko-KR" sz="1400" smtClean="0">
              <a:latin typeface="Times New Roman" pitchFamily="18" charset="0"/>
              <a:cs typeface="Times New Roman" pitchFamily="18" charset="0"/>
            </a:endParaRPr>
          </a:p>
        </p:txBody>
      </p:sp>
      <p:sp>
        <p:nvSpPr>
          <p:cNvPr id="102403"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240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p:txBody>
      </p:sp>
      <p:sp>
        <p:nvSpPr>
          <p:cNvPr id="102405" name="Text Box 4"/>
          <p:cNvSpPr txBox="1">
            <a:spLocks noChangeArrowheads="1"/>
          </p:cNvSpPr>
          <p:nvPr/>
        </p:nvSpPr>
        <p:spPr bwMode="auto">
          <a:xfrm>
            <a:off x="7126288" y="68263"/>
            <a:ext cx="18383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 (Coil)</a:t>
            </a:r>
            <a:endParaRPr lang="ko-KR" altLang="en-US" sz="1600" b="1">
              <a:latin typeface="Times New Roman" pitchFamily="18" charset="0"/>
              <a:cs typeface="Times New Roman" pitchFamily="18" charset="0"/>
            </a:endParaRPr>
          </a:p>
        </p:txBody>
      </p:sp>
      <p:sp>
        <p:nvSpPr>
          <p:cNvPr id="102406" name="Text Box 5"/>
          <p:cNvSpPr txBox="1">
            <a:spLocks noChangeArrowheads="1"/>
          </p:cNvSpPr>
          <p:nvPr/>
        </p:nvSpPr>
        <p:spPr bwMode="auto">
          <a:xfrm>
            <a:off x="684213" y="892175"/>
            <a:ext cx="40735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3-4. Chủng loại và mục đích sử dụng của cuộn cảm</a:t>
            </a:r>
            <a:endParaRPr lang="ko-KR" altLang="en-US" sz="1400" b="1">
              <a:latin typeface="Times New Roman" pitchFamily="18" charset="0"/>
              <a:cs typeface="Times New Roman" pitchFamily="18" charset="0"/>
            </a:endParaRPr>
          </a:p>
        </p:txBody>
      </p:sp>
      <p:sp>
        <p:nvSpPr>
          <p:cNvPr id="102407" name="Rectangle 6"/>
          <p:cNvSpPr>
            <a:spLocks noChangeArrowheads="1"/>
          </p:cNvSpPr>
          <p:nvPr/>
        </p:nvSpPr>
        <p:spPr bwMode="auto">
          <a:xfrm>
            <a:off x="971550" y="1371600"/>
            <a:ext cx="1238250" cy="304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Phân loại</a:t>
            </a:r>
            <a:endParaRPr lang="ko-KR" altLang="en-US">
              <a:latin typeface="Times New Roman" pitchFamily="18" charset="0"/>
              <a:cs typeface="Times New Roman" pitchFamily="18" charset="0"/>
            </a:endParaRPr>
          </a:p>
        </p:txBody>
      </p:sp>
      <p:sp>
        <p:nvSpPr>
          <p:cNvPr id="102408" name="Rectangle 7"/>
          <p:cNvSpPr>
            <a:spLocks noChangeArrowheads="1"/>
          </p:cNvSpPr>
          <p:nvPr/>
        </p:nvSpPr>
        <p:spPr bwMode="auto">
          <a:xfrm>
            <a:off x="2209800" y="1371600"/>
            <a:ext cx="1651000" cy="304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Tên gọi</a:t>
            </a:r>
            <a:endParaRPr lang="ko-KR" altLang="en-US">
              <a:latin typeface="Times New Roman" pitchFamily="18" charset="0"/>
              <a:cs typeface="Times New Roman" pitchFamily="18" charset="0"/>
            </a:endParaRPr>
          </a:p>
        </p:txBody>
      </p:sp>
      <p:sp>
        <p:nvSpPr>
          <p:cNvPr id="102409" name="Rectangle 8"/>
          <p:cNvSpPr>
            <a:spLocks noChangeArrowheads="1"/>
          </p:cNvSpPr>
          <p:nvPr/>
        </p:nvSpPr>
        <p:spPr bwMode="auto">
          <a:xfrm>
            <a:off x="3860800" y="1371600"/>
            <a:ext cx="4375150" cy="304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Chức năng và mục đích sử dụng</a:t>
            </a:r>
            <a:endParaRPr lang="ko-KR" altLang="en-US">
              <a:latin typeface="Times New Roman" pitchFamily="18" charset="0"/>
              <a:cs typeface="Times New Roman" pitchFamily="18" charset="0"/>
            </a:endParaRPr>
          </a:p>
        </p:txBody>
      </p:sp>
      <p:sp>
        <p:nvSpPr>
          <p:cNvPr id="102410" name="Rectangle 9"/>
          <p:cNvSpPr>
            <a:spLocks noChangeArrowheads="1"/>
          </p:cNvSpPr>
          <p:nvPr/>
        </p:nvSpPr>
        <p:spPr bwMode="auto">
          <a:xfrm>
            <a:off x="2209800" y="16764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 kháng</a:t>
            </a:r>
          </a:p>
          <a:p>
            <a:pPr algn="ctr" eaLnBrk="1" hangingPunct="1"/>
            <a:r>
              <a:rPr lang="en-US" altLang="ko-KR">
                <a:latin typeface="Times New Roman" pitchFamily="18" charset="0"/>
                <a:cs typeface="Times New Roman" pitchFamily="18" charset="0"/>
              </a:rPr>
              <a:t>(Choke coil)</a:t>
            </a:r>
            <a:endParaRPr lang="ko-KR" altLang="en-US">
              <a:latin typeface="Times New Roman" pitchFamily="18" charset="0"/>
              <a:cs typeface="Times New Roman" pitchFamily="18" charset="0"/>
            </a:endParaRPr>
          </a:p>
        </p:txBody>
      </p:sp>
      <p:sp>
        <p:nvSpPr>
          <p:cNvPr id="102411" name="Rectangle 10"/>
          <p:cNvSpPr>
            <a:spLocks noChangeArrowheads="1"/>
          </p:cNvSpPr>
          <p:nvPr/>
        </p:nvSpPr>
        <p:spPr bwMode="auto">
          <a:xfrm>
            <a:off x="3860800" y="16764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Dùng để tác động điện trở liên quan đến cao tần hoặc để làm giảm cao tần.</a:t>
            </a:r>
          </a:p>
          <a:p>
            <a:pPr eaLnBrk="1" hangingPunct="1"/>
            <a:r>
              <a:rPr lang="en-US" altLang="ko-KR">
                <a:latin typeface="Times New Roman" pitchFamily="18" charset="0"/>
                <a:cs typeface="Times New Roman" pitchFamily="18" charset="0"/>
              </a:rPr>
              <a:t>Mục đích sử dụng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Lọc cao tần</a:t>
            </a:r>
            <a:endParaRPr lang="ko-KR" altLang="en-US">
              <a:latin typeface="Times New Roman" pitchFamily="18" charset="0"/>
              <a:cs typeface="Times New Roman" pitchFamily="18" charset="0"/>
            </a:endParaRPr>
          </a:p>
        </p:txBody>
      </p:sp>
      <p:sp>
        <p:nvSpPr>
          <p:cNvPr id="102412" name="Rectangle 11"/>
          <p:cNvSpPr>
            <a:spLocks noChangeArrowheads="1"/>
          </p:cNvSpPr>
          <p:nvPr/>
        </p:nvSpPr>
        <p:spPr bwMode="auto">
          <a:xfrm>
            <a:off x="2209800" y="22860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điều hưởng </a:t>
            </a:r>
          </a:p>
          <a:p>
            <a:pPr algn="ctr" eaLnBrk="1" hangingPunct="1"/>
            <a:r>
              <a:rPr lang="en-US" altLang="ko-KR">
                <a:latin typeface="Times New Roman" pitchFamily="18" charset="0"/>
                <a:cs typeface="Times New Roman" pitchFamily="18" charset="0"/>
              </a:rPr>
              <a:t>cao tần</a:t>
            </a:r>
            <a:endParaRPr lang="ko-KR" altLang="en-US">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IFT</a:t>
            </a:r>
          </a:p>
        </p:txBody>
      </p:sp>
      <p:sp>
        <p:nvSpPr>
          <p:cNvPr id="102413" name="Rectangle 12"/>
          <p:cNvSpPr>
            <a:spLocks noChangeArrowheads="1"/>
          </p:cNvSpPr>
          <p:nvPr/>
        </p:nvSpPr>
        <p:spPr bwMode="auto">
          <a:xfrm>
            <a:off x="3860800" y="22860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Sử dụng bằng cách cho tiếp xúc song song cuộn cảm và tụ điện rồi điều hưởng đến tần số đặc biệt rồi lấy tín hiệu.</a:t>
            </a:r>
          </a:p>
          <a:p>
            <a:pPr eaLnBrk="1" hangingPunct="1"/>
            <a:r>
              <a:rPr lang="en-US" altLang="ko-KR">
                <a:latin typeface="Times New Roman" pitchFamily="18" charset="0"/>
                <a:cs typeface="Times New Roman" pitchFamily="18" charset="0"/>
              </a:rPr>
              <a:t>Mục đích sử dụng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Mạch điều hưởng củaTV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hoặc đài</a:t>
            </a:r>
            <a:endParaRPr lang="ko-KR" altLang="en-US">
              <a:latin typeface="Times New Roman" pitchFamily="18" charset="0"/>
              <a:cs typeface="Times New Roman" pitchFamily="18" charset="0"/>
            </a:endParaRPr>
          </a:p>
        </p:txBody>
      </p:sp>
      <p:sp>
        <p:nvSpPr>
          <p:cNvPr id="102414" name="Rectangle 13"/>
          <p:cNvSpPr>
            <a:spLocks noChangeArrowheads="1"/>
          </p:cNvSpPr>
          <p:nvPr/>
        </p:nvSpPr>
        <p:spPr bwMode="auto">
          <a:xfrm>
            <a:off x="2209800" y="28956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Bar antenna</a:t>
            </a:r>
            <a:endParaRPr lang="ko-KR" altLang="en-US">
              <a:latin typeface="Times New Roman" pitchFamily="18" charset="0"/>
              <a:cs typeface="Times New Roman" pitchFamily="18" charset="0"/>
            </a:endParaRPr>
          </a:p>
        </p:txBody>
      </p:sp>
      <p:sp>
        <p:nvSpPr>
          <p:cNvPr id="102415" name="Rectangle 14"/>
          <p:cNvSpPr>
            <a:spLocks noChangeArrowheads="1"/>
          </p:cNvSpPr>
          <p:nvPr/>
        </p:nvSpPr>
        <p:spPr bwMode="auto">
          <a:xfrm>
            <a:off x="3860800" y="28956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Chuyên để điều hưởng nhưng là cái cài lõi vào bên trong, đặc biệt để dài ra và làm cho nó mang đặc tính giống như ăng ten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được sử dụng như ăng ten của đài cát-sét cầm tay.</a:t>
            </a:r>
          </a:p>
        </p:txBody>
      </p:sp>
      <p:sp>
        <p:nvSpPr>
          <p:cNvPr id="102416" name="Rectangle 15"/>
          <p:cNvSpPr>
            <a:spLocks noChangeArrowheads="1"/>
          </p:cNvSpPr>
          <p:nvPr/>
        </p:nvSpPr>
        <p:spPr bwMode="auto">
          <a:xfrm>
            <a:off x="971550" y="1676400"/>
            <a:ext cx="1238250" cy="2438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Coil inductor</a:t>
            </a:r>
            <a:endParaRPr lang="ko-KR" altLang="en-US">
              <a:latin typeface="Times New Roman" pitchFamily="18" charset="0"/>
              <a:cs typeface="Times New Roman" pitchFamily="18" charset="0"/>
            </a:endParaRPr>
          </a:p>
        </p:txBody>
      </p:sp>
      <p:sp>
        <p:nvSpPr>
          <p:cNvPr id="102417" name="Rectangle 16"/>
          <p:cNvSpPr>
            <a:spLocks noChangeArrowheads="1"/>
          </p:cNvSpPr>
          <p:nvPr/>
        </p:nvSpPr>
        <p:spPr bwMode="auto">
          <a:xfrm>
            <a:off x="2209800" y="35052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Tiết lưu chuyên sử dụng cho nguồn điện</a:t>
            </a:r>
            <a:endParaRPr lang="ko-KR" altLang="en-US">
              <a:latin typeface="Times New Roman" pitchFamily="18" charset="0"/>
              <a:cs typeface="Times New Roman" pitchFamily="18" charset="0"/>
            </a:endParaRPr>
          </a:p>
        </p:txBody>
      </p:sp>
      <p:sp>
        <p:nvSpPr>
          <p:cNvPr id="102418" name="Rectangle 17"/>
          <p:cNvSpPr>
            <a:spLocks noChangeArrowheads="1"/>
          </p:cNvSpPr>
          <p:nvPr/>
        </p:nvSpPr>
        <p:spPr bwMode="auto">
          <a:xfrm>
            <a:off x="3860800" y="35052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Cho dù ở tần số thấp đặc biệt làm cho xuất hiện điện trở lớn rồi sử dụng cho bộ lọc nhiễu nguồn hoặc bộ lọc của mạch làm trơn.</a:t>
            </a:r>
          </a:p>
        </p:txBody>
      </p:sp>
      <p:sp>
        <p:nvSpPr>
          <p:cNvPr id="102419" name="Rectangle 18"/>
          <p:cNvSpPr>
            <a:spLocks noChangeArrowheads="1"/>
          </p:cNvSpPr>
          <p:nvPr/>
        </p:nvSpPr>
        <p:spPr bwMode="auto">
          <a:xfrm>
            <a:off x="971550" y="4114800"/>
            <a:ext cx="123825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Máy biến áp</a:t>
            </a:r>
            <a:endParaRPr lang="ko-KR" altLang="en-US">
              <a:latin typeface="Times New Roman" pitchFamily="18" charset="0"/>
              <a:cs typeface="Times New Roman" pitchFamily="18" charset="0"/>
            </a:endParaRPr>
          </a:p>
        </p:txBody>
      </p:sp>
      <p:sp>
        <p:nvSpPr>
          <p:cNvPr id="102420" name="Rectangle 19"/>
          <p:cNvSpPr>
            <a:spLocks noChangeArrowheads="1"/>
          </p:cNvSpPr>
          <p:nvPr/>
        </p:nvSpPr>
        <p:spPr bwMode="auto">
          <a:xfrm>
            <a:off x="2209800" y="41148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Biến áp nguồn</a:t>
            </a:r>
            <a:endParaRPr lang="ko-KR" altLang="en-US">
              <a:latin typeface="Times New Roman" pitchFamily="18" charset="0"/>
              <a:cs typeface="Times New Roman" pitchFamily="18" charset="0"/>
            </a:endParaRPr>
          </a:p>
        </p:txBody>
      </p:sp>
      <p:sp>
        <p:nvSpPr>
          <p:cNvPr id="102421" name="Rectangle 20"/>
          <p:cNvSpPr>
            <a:spLocks noChangeArrowheads="1"/>
          </p:cNvSpPr>
          <p:nvPr/>
        </p:nvSpPr>
        <p:spPr bwMode="auto">
          <a:xfrm>
            <a:off x="3860800" y="41148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cái cuốn nhiều loại cuộn cảm lên cùng một lõi thép nên nó có chức năng thay đổi điện áp. Người ta sử dụng chức năng này để tăng hoặc giảm điện áp.</a:t>
            </a:r>
          </a:p>
        </p:txBody>
      </p:sp>
      <p:sp>
        <p:nvSpPr>
          <p:cNvPr id="102422" name="Rectangle 21"/>
          <p:cNvSpPr>
            <a:spLocks noChangeArrowheads="1"/>
          </p:cNvSpPr>
          <p:nvPr/>
        </p:nvSpPr>
        <p:spPr bwMode="auto">
          <a:xfrm>
            <a:off x="2209800" y="4724400"/>
            <a:ext cx="165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Biến áp nguồn chuyên đóng ngắt</a:t>
            </a:r>
            <a:endParaRPr lang="ko-KR" altLang="en-US">
              <a:latin typeface="Times New Roman" pitchFamily="18" charset="0"/>
              <a:cs typeface="Times New Roman" pitchFamily="18" charset="0"/>
            </a:endParaRPr>
          </a:p>
        </p:txBody>
      </p:sp>
      <p:sp>
        <p:nvSpPr>
          <p:cNvPr id="102423" name="Rectangle 22"/>
          <p:cNvSpPr>
            <a:spLocks noChangeArrowheads="1"/>
          </p:cNvSpPr>
          <p:nvPr/>
        </p:nvSpPr>
        <p:spPr bwMode="auto">
          <a:xfrm>
            <a:off x="3860800" y="4724400"/>
            <a:ext cx="437515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Giống với máy biến áp chuyên sử dụng cho nguồn điện nhưng do có tần số cao nên đang sử dụng lõi nhỏ có hiệu suất tốt.</a:t>
            </a:r>
          </a:p>
        </p:txBody>
      </p:sp>
      <p:sp>
        <p:nvSpPr>
          <p:cNvPr id="102424" name="Rectangle 23"/>
          <p:cNvSpPr>
            <a:spLocks noChangeArrowheads="1"/>
          </p:cNvSpPr>
          <p:nvPr/>
        </p:nvSpPr>
        <p:spPr bwMode="auto">
          <a:xfrm>
            <a:off x="2209800" y="5334000"/>
            <a:ext cx="1651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Biến áp chuyên dụng cho audio</a:t>
            </a:r>
            <a:endParaRPr lang="ko-KR" altLang="en-US">
              <a:latin typeface="Times New Roman" pitchFamily="18" charset="0"/>
              <a:cs typeface="Times New Roman" pitchFamily="18" charset="0"/>
            </a:endParaRPr>
          </a:p>
        </p:txBody>
      </p:sp>
      <p:sp>
        <p:nvSpPr>
          <p:cNvPr id="102425" name="Rectangle 24"/>
          <p:cNvSpPr>
            <a:spLocks noChangeArrowheads="1"/>
          </p:cNvSpPr>
          <p:nvPr/>
        </p:nvSpPr>
        <p:spPr bwMode="auto">
          <a:xfrm>
            <a:off x="3860800" y="5334000"/>
            <a:ext cx="437515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biến áp chuyên sử dụng cho việc biến đổi trở kháng để giảm bớt sự tiêu hao của việc truyền tải trong trường hợp trở kháng khác nhiều do đèn mạch transistor nhưng hiện nay không được sử dụng nhiều do sự phát triển của mạch.</a:t>
            </a: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08AEBFC-47E2-4DCC-86AF-900C339B0C4F}" type="slidenum">
              <a:rPr lang="en-US" altLang="ko-KR" sz="1400" smtClean="0">
                <a:latin typeface="Times New Roman" pitchFamily="18" charset="0"/>
                <a:cs typeface="Times New Roman" pitchFamily="18" charset="0"/>
              </a:rPr>
              <a:pPr eaLnBrk="1" hangingPunct="1"/>
              <a:t>96</a:t>
            </a:fld>
            <a:endParaRPr lang="en-US" altLang="ko-KR" sz="1400" smtClean="0">
              <a:latin typeface="Times New Roman" pitchFamily="18" charset="0"/>
              <a:cs typeface="Times New Roman" pitchFamily="18" charset="0"/>
            </a:endParaRPr>
          </a:p>
        </p:txBody>
      </p:sp>
      <p:sp>
        <p:nvSpPr>
          <p:cNvPr id="103427"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342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Cuộn cảm kháng cao tần (RFC)</a:t>
            </a:r>
          </a:p>
          <a:p>
            <a:pPr eaLnBrk="1" hangingPunct="1"/>
            <a:endParaRPr lang="en-US" altLang="ko-KR"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cuộn cảm chuyên lọc cao tần đơn giản.</a:t>
            </a:r>
            <a:r>
              <a:rPr lang="ko-KR" altLang="en-US">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Chủng loại nó có các kiểu dáng của cuộn cảm này rất </a:t>
            </a:r>
          </a:p>
          <a:p>
            <a:pPr eaLnBrk="1" hangingPunct="1"/>
            <a:r>
              <a:rPr lang="en-US" altLang="ko-KR">
                <a:latin typeface="Times New Roman" pitchFamily="18" charset="0"/>
                <a:cs typeface="Times New Roman" pitchFamily="18" charset="0"/>
              </a:rPr>
              <a:t>đa dạng như trong ảnh nhưng vì là cuộn cảm đơn giản </a:t>
            </a:r>
          </a:p>
          <a:p>
            <a:pPr eaLnBrk="1" hangingPunct="1"/>
            <a:r>
              <a:rPr lang="en-US" altLang="ko-KR">
                <a:latin typeface="Times New Roman" pitchFamily="18" charset="0"/>
                <a:cs typeface="Times New Roman" pitchFamily="18" charset="0"/>
              </a:rPr>
              <a:t>nên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phạm vi công suất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từ số</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μH đến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số</a:t>
            </a:r>
            <a:r>
              <a:rPr lang="ko-KR" altLang="en-US">
                <a:latin typeface="Times New Roman" pitchFamily="18" charset="0"/>
                <a:cs typeface="Times New Roman" pitchFamily="18" charset="0"/>
              </a:rPr>
              <a:t>ｍ</a:t>
            </a:r>
            <a:r>
              <a:rPr lang="en-US" altLang="ko-KR">
                <a:latin typeface="Times New Roman" pitchFamily="18" charset="0"/>
                <a:cs typeface="Times New Roman" pitchFamily="18" charset="0"/>
              </a:rPr>
              <a:t>H.</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Cũng có loại lõi rỗng dưới số μH nhưng thông thường </a:t>
            </a:r>
          </a:p>
          <a:p>
            <a:pPr eaLnBrk="1" hangingPunct="1"/>
            <a:r>
              <a:rPr lang="en-US" altLang="ko-KR">
                <a:latin typeface="Times New Roman" pitchFamily="18" charset="0"/>
                <a:cs typeface="Times New Roman" pitchFamily="18" charset="0"/>
              </a:rPr>
              <a:t>lõi được sử dụng</a:t>
            </a:r>
            <a:r>
              <a:rPr lang="ko-KR" altLang="en-US">
                <a:latin typeface="Times New Roman" pitchFamily="18" charset="0"/>
                <a:cs typeface="Times New Roman" pitchFamily="18" charset="0"/>
              </a:rPr>
              <a:t>．</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Cuộn điều hưởng cao tần</a:t>
            </a:r>
            <a:r>
              <a:rPr lang="ko-KR" altLang="en-US">
                <a:latin typeface="Times New Roman" pitchFamily="18" charset="0"/>
                <a:cs typeface="Times New Roman" pitchFamily="18" charset="0"/>
              </a:rPr>
              <a:t> </a:t>
            </a: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loại cuộn cảm được sử dụng với mục đích tạo hiệu</a:t>
            </a:r>
          </a:p>
          <a:p>
            <a:pPr eaLnBrk="1" hangingPunct="1"/>
            <a:r>
              <a:rPr lang="en-US" altLang="ko-KR">
                <a:latin typeface="Times New Roman" pitchFamily="18" charset="0"/>
                <a:cs typeface="Times New Roman" pitchFamily="18" charset="0"/>
              </a:rPr>
              <a:t>suất tốt khi truyền bằng mạch cao tần</a:t>
            </a:r>
            <a:r>
              <a:rPr lang="ko-KR" altLang="en-US">
                <a:latin typeface="Times New Roman" pitchFamily="18" charset="0"/>
                <a:cs typeface="Times New Roman" pitchFamily="18" charset="0"/>
              </a:rPr>
              <a:t>．</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Loại được sử dụng chủ yếu gọi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FCZ Coil</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 </a:t>
            </a:r>
          </a:p>
          <a:p>
            <a:pPr eaLnBrk="1" hangingPunct="1"/>
            <a:r>
              <a:rPr lang="en-US" altLang="ko-KR">
                <a:latin typeface="Times New Roman" pitchFamily="18" charset="0"/>
                <a:cs typeface="Times New Roman" pitchFamily="18" charset="0"/>
              </a:rPr>
              <a:t>Và loại có vỏ bao ngoài như trong hình là cuộn cảm</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FCZ</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Phía bên trái ảnh là loại được làm chuyên </a:t>
            </a:r>
          </a:p>
          <a:p>
            <a:pPr eaLnBrk="1" hangingPunct="1"/>
            <a:r>
              <a:rPr lang="en-US" altLang="ko-KR">
                <a:latin typeface="Times New Roman" pitchFamily="18" charset="0"/>
                <a:cs typeface="Times New Roman" pitchFamily="18" charset="0"/>
              </a:rPr>
              <a:t>cho những dao động điện có tần số đặc biệt.</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Ở cuộn cảm FCZ, có hai loại là loại có chiều cao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10mm và loại có chiều cao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7mm, cũng có cả loại cao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5mm nhưng do khó tìm nên không dễ để sử dụng.</a:t>
            </a:r>
          </a:p>
        </p:txBody>
      </p:sp>
      <p:sp>
        <p:nvSpPr>
          <p:cNvPr id="103429" name="Text Box 4"/>
          <p:cNvSpPr txBox="1">
            <a:spLocks noChangeArrowheads="1"/>
          </p:cNvSpPr>
          <p:nvPr/>
        </p:nvSpPr>
        <p:spPr bwMode="auto">
          <a:xfrm>
            <a:off x="7177088" y="68263"/>
            <a:ext cx="17875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cảm(Coil)</a:t>
            </a:r>
            <a:endParaRPr lang="ko-KR" altLang="en-US" sz="1600" b="1">
              <a:latin typeface="Times New Roman" pitchFamily="18" charset="0"/>
              <a:cs typeface="Times New Roman" pitchFamily="18" charset="0"/>
            </a:endParaRPr>
          </a:p>
        </p:txBody>
      </p:sp>
      <p:pic>
        <p:nvPicPr>
          <p:cNvPr id="103430" name="Picture 5" descr="고주파초크코일"/>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268413"/>
            <a:ext cx="3054350" cy="14700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3431" name="Picture 6" descr="고주파동조용코일"/>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35388"/>
            <a:ext cx="3095625" cy="1141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A894A36-1E38-48F2-AEA6-09D60F58E382}" type="slidenum">
              <a:rPr lang="en-US" altLang="ko-KR" sz="1400" smtClean="0">
                <a:latin typeface="Times New Roman" pitchFamily="18" charset="0"/>
                <a:cs typeface="Times New Roman" pitchFamily="18" charset="0"/>
              </a:rPr>
              <a:pPr eaLnBrk="1" hangingPunct="1"/>
              <a:t>97</a:t>
            </a:fld>
            <a:endParaRPr lang="en-US" altLang="ko-KR" sz="1400" smtClean="0">
              <a:latin typeface="Times New Roman" pitchFamily="18" charset="0"/>
              <a:cs typeface="Times New Roman" pitchFamily="18" charset="0"/>
            </a:endParaRPr>
          </a:p>
        </p:txBody>
      </p:sp>
      <p:sp>
        <p:nvSpPr>
          <p:cNvPr id="104451"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445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Cuộn điều hưởng trung tần</a:t>
            </a:r>
            <a:r>
              <a:rPr lang="ko-KR" altLang="en-US" b="1">
                <a:latin typeface="Times New Roman" pitchFamily="18" charset="0"/>
                <a:cs typeface="Times New Roman" pitchFamily="18" charset="0"/>
              </a:rPr>
              <a:t>（</a:t>
            </a:r>
            <a:r>
              <a:rPr lang="en-US" altLang="ko-KR" b="1">
                <a:latin typeface="Times New Roman" pitchFamily="18" charset="0"/>
                <a:cs typeface="Times New Roman" pitchFamily="18" charset="0"/>
              </a:rPr>
              <a:t>IFT)</a:t>
            </a:r>
          </a:p>
          <a:p>
            <a:pPr eaLnBrk="1" hangingPunct="1"/>
            <a:endParaRPr lang="en-US" altLang="ko-KR" sz="700"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Là loại cuộn cảm được gọi là IFT, nó giống với cuộn cảm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FCZ </a:t>
            </a:r>
          </a:p>
          <a:p>
            <a:pPr eaLnBrk="1" hangingPunct="1"/>
            <a:r>
              <a:rPr lang="en-US" altLang="ko-KR">
                <a:latin typeface="Times New Roman" pitchFamily="18" charset="0"/>
                <a:cs typeface="Times New Roman" pitchFamily="18" charset="0"/>
              </a:rPr>
              <a:t>Ở chỗ có vỏ bọc bên ngoài</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Khác nhau là tụ điện được dùng cho trung tần</a:t>
            </a:r>
          </a:p>
          <a:p>
            <a:pPr eaLnBrk="1" hangingPunct="1"/>
            <a:r>
              <a:rPr lang="en-US" altLang="ko-KR">
                <a:latin typeface="Times New Roman" pitchFamily="18" charset="0"/>
                <a:cs typeface="Times New Roman" pitchFamily="18" charset="0"/>
              </a:rPr>
              <a:t> điều hưởng ở 455KHz hoặc 10.7MH được tiếp xúc song song trước đó.</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(4) Cuộn Bar Antenna</a:t>
            </a:r>
            <a:endParaRPr lang="ko-KR" altLang="en-US" b="1">
              <a:latin typeface="Times New Roman" pitchFamily="18" charset="0"/>
              <a:cs typeface="Times New Roman" pitchFamily="18" charset="0"/>
            </a:endParaRPr>
          </a:p>
          <a:p>
            <a:pPr eaLnBrk="1" hangingPunct="1"/>
            <a:endParaRPr lang="ko-KR" altLang="en-US" sz="700"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cuộn cảm điều hưởng của đài cát-sét cầm tay, có phần lõi </a:t>
            </a:r>
          </a:p>
          <a:p>
            <a:pPr eaLnBrk="1" hangingPunct="1"/>
            <a:r>
              <a:rPr lang="en-US" altLang="ko-KR">
                <a:latin typeface="Times New Roman" pitchFamily="18" charset="0"/>
                <a:cs typeface="Times New Roman" pitchFamily="18" charset="0"/>
              </a:rPr>
              <a:t>đặc biệt được làm to nên làm cho tín hiệu nhận tốt hơn</a:t>
            </a:r>
            <a:r>
              <a:rPr lang="ko-KR" altLang="en-US">
                <a:latin typeface="Times New Roman" pitchFamily="18" charset="0"/>
                <a:cs typeface="Times New Roman" pitchFamily="18" charset="0"/>
              </a:rPr>
              <a:t>．</a:t>
            </a: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Có nhiều loại theo kiểu dáng và kích cỡ nhưng thông thường </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nó tiếp xúc song song với Variable Condenser và được cấu tạo </a:t>
            </a:r>
          </a:p>
          <a:p>
            <a:pPr eaLnBrk="1" hangingPunct="1"/>
            <a:r>
              <a:rPr lang="en-US" altLang="ko-KR">
                <a:latin typeface="Times New Roman" pitchFamily="18" charset="0"/>
                <a:cs typeface="Times New Roman" pitchFamily="18" charset="0"/>
              </a:rPr>
              <a:t>làm thay đổi được tần số điều hưởng nên có thể chọn được sóng</a:t>
            </a:r>
          </a:p>
          <a:p>
            <a:pPr eaLnBrk="1" hangingPunct="1"/>
            <a:r>
              <a:rPr lang="en-US" altLang="ko-KR">
                <a:latin typeface="Times New Roman" pitchFamily="18" charset="0"/>
                <a:cs typeface="Times New Roman" pitchFamily="18" charset="0"/>
              </a:rPr>
              <a:t>điện phát trên đài.</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Trong ảnh là loại Bar antenna chuyên sử dụng cho đài AM.</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(5) Cuộn cảm kháng chuyên dùng cho nguồn điện</a:t>
            </a:r>
            <a:endParaRPr lang="ko-KR" altLang="en-US">
              <a:latin typeface="Times New Roman" pitchFamily="18" charset="0"/>
              <a:cs typeface="Times New Roman" pitchFamily="18" charset="0"/>
            </a:endParaRPr>
          </a:p>
          <a:p>
            <a:pPr eaLnBrk="1" hangingPunct="1"/>
            <a:endParaRPr lang="ko-KR" altLang="en-US"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loại cuộn cảm có tính tự cảm đủ trong dải tần số nguồn điện</a:t>
            </a:r>
          </a:p>
          <a:p>
            <a:pPr eaLnBrk="1" hangingPunct="1"/>
            <a:r>
              <a:rPr lang="en-US" altLang="ko-KR">
                <a:latin typeface="Times New Roman" pitchFamily="18" charset="0"/>
                <a:cs typeface="Times New Roman" pitchFamily="18" charset="0"/>
              </a:rPr>
              <a:t> và nó được làm bằng cách cuốn dây đồng quanh một lõi. Nó được sử dụng</a:t>
            </a:r>
          </a:p>
          <a:p>
            <a:pPr eaLnBrk="1" hangingPunct="1"/>
            <a:r>
              <a:rPr lang="en-US" altLang="ko-KR">
                <a:latin typeface="Times New Roman" pitchFamily="18" charset="0"/>
                <a:cs typeface="Times New Roman" pitchFamily="18" charset="0"/>
              </a:rPr>
              <a:t>như bộ lọc điện nguồn đầu vào hoặc bộ lọc đầu ra của nguồn điện ngắt mở</a:t>
            </a:r>
            <a:r>
              <a:rPr lang="ko-KR" altLang="en-US">
                <a:latin typeface="Times New Roman" pitchFamily="18" charset="0"/>
                <a:cs typeface="Times New Roman" pitchFamily="18" charset="0"/>
              </a:rPr>
              <a:t>．</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Hai cái ở bên trái là chuyên dùng để lọc nguồn điện, còn hai cái ở phía dưới</a:t>
            </a:r>
          </a:p>
          <a:p>
            <a:pPr eaLnBrk="1" hangingPunct="1"/>
            <a:r>
              <a:rPr lang="en-US" altLang="ko-KR">
                <a:latin typeface="Times New Roman" pitchFamily="18" charset="0"/>
                <a:cs typeface="Times New Roman" pitchFamily="18" charset="0"/>
              </a:rPr>
              <a:t>bên phải là cái tự chế tác chuyên dùng để điều hưởng cao tần nên gần đây </a:t>
            </a:r>
          </a:p>
          <a:p>
            <a:pPr eaLnBrk="1" hangingPunct="1"/>
            <a:r>
              <a:rPr lang="en-US" altLang="ko-KR">
                <a:latin typeface="Times New Roman" pitchFamily="18" charset="0"/>
                <a:cs typeface="Times New Roman" pitchFamily="18" charset="0"/>
              </a:rPr>
              <a:t>còn được sử dụng trong cao tần.</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p:txBody>
      </p:sp>
      <p:sp>
        <p:nvSpPr>
          <p:cNvPr id="104453" name="Text Box 4"/>
          <p:cNvSpPr txBox="1">
            <a:spLocks noChangeArrowheads="1"/>
          </p:cNvSpPr>
          <p:nvPr/>
        </p:nvSpPr>
        <p:spPr bwMode="auto">
          <a:xfrm>
            <a:off x="7177088" y="68263"/>
            <a:ext cx="17875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cảm(Coil)</a:t>
            </a:r>
            <a:endParaRPr lang="ko-KR" altLang="en-US" sz="1600" b="1">
              <a:latin typeface="Times New Roman" pitchFamily="18" charset="0"/>
              <a:cs typeface="Times New Roman" pitchFamily="18" charset="0"/>
            </a:endParaRPr>
          </a:p>
        </p:txBody>
      </p:sp>
      <p:pic>
        <p:nvPicPr>
          <p:cNvPr id="104454" name="Picture 5" descr="중간주파수동조코일"/>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0" y="893763"/>
            <a:ext cx="2311400" cy="12398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4455" name="Picture 6" descr="바안테나코일"/>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689225"/>
            <a:ext cx="2830513" cy="1676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4456" name="Picture 7" descr="전원용 초크코일"/>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4727575"/>
            <a:ext cx="2228850" cy="14017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B54927B-5ACA-4518-8497-16C34DF477BF}" type="slidenum">
              <a:rPr lang="en-US" altLang="ko-KR" sz="1400" smtClean="0">
                <a:latin typeface="Times New Roman" pitchFamily="18" charset="0"/>
                <a:cs typeface="Times New Roman" pitchFamily="18" charset="0"/>
              </a:rPr>
              <a:pPr eaLnBrk="1" hangingPunct="1"/>
              <a:t>98</a:t>
            </a:fld>
            <a:endParaRPr lang="en-US" altLang="ko-KR" sz="1400" smtClean="0">
              <a:latin typeface="Times New Roman" pitchFamily="18" charset="0"/>
              <a:cs typeface="Times New Roman" pitchFamily="18" charset="0"/>
            </a:endParaRPr>
          </a:p>
        </p:txBody>
      </p:sp>
      <p:sp>
        <p:nvSpPr>
          <p:cNvPr id="105475" name="Text Box 2"/>
          <p:cNvSpPr txBox="1">
            <a:spLocks noChangeArrowheads="1"/>
          </p:cNvSpPr>
          <p:nvPr/>
        </p:nvSpPr>
        <p:spPr bwMode="auto">
          <a:xfrm>
            <a:off x="22225" y="38100"/>
            <a:ext cx="31765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547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(6) Biến áp nguồn</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Là cuộn cảm có tần số thấp và có công suất dòng điện lớn</a:t>
            </a:r>
          </a:p>
          <a:p>
            <a:pPr eaLnBrk="1" hangingPunct="1"/>
            <a:r>
              <a:rPr lang="en-US" altLang="ko-KR">
                <a:latin typeface="Times New Roman" pitchFamily="18" charset="0"/>
                <a:cs typeface="Times New Roman" pitchFamily="18" charset="0"/>
              </a:rPr>
              <a:t>nên có nhiều loại theo điện áp đầu ra và công suất dòng điện</a:t>
            </a:r>
          </a:p>
          <a:p>
            <a:pPr eaLnBrk="1" hangingPunct="1"/>
            <a:r>
              <a:rPr lang="en-US" altLang="ko-KR">
                <a:latin typeface="Times New Roman" pitchFamily="18" charset="0"/>
                <a:cs typeface="Times New Roman" pitchFamily="18" charset="0"/>
              </a:rPr>
              <a:t>Khi tạo nguồn điện DC từ nguồn điện AC, phần lớn phụ tùng</a:t>
            </a:r>
          </a:p>
          <a:p>
            <a:pPr eaLnBrk="1" hangingPunct="1"/>
            <a:r>
              <a:rPr lang="en-US" altLang="ko-KR">
                <a:latin typeface="Times New Roman" pitchFamily="18" charset="0"/>
                <a:cs typeface="Times New Roman" pitchFamily="18" charset="0"/>
              </a:rPr>
              <a:t>cần thiết hoặc thiết bị điện nguồn được bán trên thị trường</a:t>
            </a:r>
          </a:p>
          <a:p>
            <a:pPr eaLnBrk="1" hangingPunct="1"/>
            <a:r>
              <a:rPr lang="en-US" altLang="ko-KR">
                <a:latin typeface="Times New Roman" pitchFamily="18" charset="0"/>
                <a:cs typeface="Times New Roman" pitchFamily="18" charset="0"/>
              </a:rPr>
              <a:t>gần đây là nguồn điện đóng mở và phương thức sử dụng biến</a:t>
            </a:r>
          </a:p>
          <a:p>
            <a:pPr eaLnBrk="1" hangingPunct="1"/>
            <a:r>
              <a:rPr lang="en-US" altLang="ko-KR">
                <a:latin typeface="Times New Roman" pitchFamily="18" charset="0"/>
                <a:cs typeface="Times New Roman" pitchFamily="18" charset="0"/>
              </a:rPr>
              <a:t>áp nguồn loại to và nặng có xu thế đang giảm dần.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(7) Biến áp chuyên dụng cho Audio</a:t>
            </a:r>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Mạch của bộ khuếch đại Audio gần đây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cải tiến nhiều và hầu</a:t>
            </a:r>
          </a:p>
          <a:p>
            <a:pPr eaLnBrk="1" hangingPunct="1"/>
            <a:r>
              <a:rPr lang="en-US" altLang="ko-KR">
                <a:latin typeface="Times New Roman" pitchFamily="18" charset="0"/>
                <a:cs typeface="Times New Roman" pitchFamily="18" charset="0"/>
              </a:rPr>
              <a:t>như không được sử dụng. Mục đích sử dụng là được sử dụng vào việc</a:t>
            </a:r>
          </a:p>
          <a:p>
            <a:pPr eaLnBrk="1" hangingPunct="1"/>
            <a:r>
              <a:rPr lang="en-US" altLang="ko-KR">
                <a:latin typeface="Times New Roman" pitchFamily="18" charset="0"/>
                <a:cs typeface="Times New Roman" pitchFamily="18" charset="0"/>
              </a:rPr>
              <a:t>điều chỉnh trở kháng đầu ra của bộ khuếch đại tranzito và trở kháng</a:t>
            </a:r>
          </a:p>
          <a:p>
            <a:pPr eaLnBrk="1" hangingPunct="1"/>
            <a:r>
              <a:rPr lang="en-US" altLang="ko-KR">
                <a:latin typeface="Times New Roman" pitchFamily="18" charset="0"/>
                <a:cs typeface="Times New Roman" pitchFamily="18" charset="0"/>
              </a:rPr>
              <a:t>của loa.</a:t>
            </a:r>
            <a:endParaRPr lang="ko-KR" altLang="en-US">
              <a:latin typeface="Times New Roman" pitchFamily="18" charset="0"/>
              <a:cs typeface="Times New Roman" pitchFamily="18" charset="0"/>
            </a:endParaRPr>
          </a:p>
        </p:txBody>
      </p:sp>
      <p:sp>
        <p:nvSpPr>
          <p:cNvPr id="105477" name="Text Box 4"/>
          <p:cNvSpPr txBox="1">
            <a:spLocks noChangeArrowheads="1"/>
          </p:cNvSpPr>
          <p:nvPr/>
        </p:nvSpPr>
        <p:spPr bwMode="auto">
          <a:xfrm>
            <a:off x="7177088" y="68263"/>
            <a:ext cx="17875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Cuộn cảm(Coil)</a:t>
            </a:r>
            <a:endParaRPr lang="ko-KR" altLang="en-US" sz="1600" b="1">
              <a:latin typeface="Times New Roman" pitchFamily="18" charset="0"/>
              <a:cs typeface="Times New Roman" pitchFamily="18" charset="0"/>
            </a:endParaRPr>
          </a:p>
        </p:txBody>
      </p:sp>
      <p:pic>
        <p:nvPicPr>
          <p:cNvPr id="105478" name="Picture 5" descr="트랜스"/>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0288" y="1082675"/>
            <a:ext cx="3260725" cy="18129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5479" name="Picture 6" descr="오디오용 트랜스"/>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688" y="3581400"/>
            <a:ext cx="2393950" cy="16002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53A75B7-0742-44EA-A589-26D6C35A8318}" type="slidenum">
              <a:rPr lang="en-US" altLang="ko-KR" sz="1400" smtClean="0">
                <a:latin typeface="Times New Roman" pitchFamily="18" charset="0"/>
                <a:cs typeface="Times New Roman" pitchFamily="18" charset="0"/>
              </a:rPr>
              <a:pPr eaLnBrk="1" hangingPunct="1"/>
              <a:t>99</a:t>
            </a:fld>
            <a:endParaRPr lang="en-US" altLang="ko-KR" sz="1400" smtClean="0">
              <a:latin typeface="Times New Roman" pitchFamily="18" charset="0"/>
              <a:cs typeface="Times New Roman" pitchFamily="18" charset="0"/>
            </a:endParaRPr>
          </a:p>
        </p:txBody>
      </p:sp>
      <p:sp>
        <p:nvSpPr>
          <p:cNvPr id="106499" name="Text Box 2"/>
          <p:cNvSpPr txBox="1">
            <a:spLocks noChangeArrowheads="1"/>
          </p:cNvSpPr>
          <p:nvPr/>
        </p:nvSpPr>
        <p:spPr bwMode="auto">
          <a:xfrm>
            <a:off x="684213" y="892175"/>
            <a:ext cx="2816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4-1. Điện trở chip (Chip Resistors)</a:t>
            </a:r>
          </a:p>
        </p:txBody>
      </p:sp>
      <p:sp>
        <p:nvSpPr>
          <p:cNvPr id="106500" name="Text Box 3"/>
          <p:cNvSpPr txBox="1">
            <a:spLocks noChangeArrowheads="1"/>
          </p:cNvSpPr>
          <p:nvPr/>
        </p:nvSpPr>
        <p:spPr bwMode="auto">
          <a:xfrm>
            <a:off x="352425" y="501650"/>
            <a:ext cx="16668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sp>
        <p:nvSpPr>
          <p:cNvPr id="106501"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6502" name="Text Box 5"/>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sp>
        <p:nvSpPr>
          <p:cNvPr id="106503"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Điện trở chip là gì?</a:t>
            </a:r>
          </a:p>
          <a:p>
            <a:pPr eaLnBrk="1" hangingPunct="1"/>
            <a:endParaRPr lang="en-US" altLang="ko-KR"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Điện trở chip là điện trở rất nhỏ có thành phần chủ yếu </a:t>
            </a:r>
          </a:p>
          <a:p>
            <a:pPr eaLnBrk="1" hangingPunct="1"/>
            <a:r>
              <a:rPr lang="en-US" altLang="ko-KR">
                <a:latin typeface="Times New Roman" pitchFamily="18" charset="0"/>
                <a:cs typeface="Times New Roman" pitchFamily="18" charset="0"/>
              </a:rPr>
              <a:t>là chip sứ (gốm). Do phải dán phụ tùng lên PCB</a:t>
            </a:r>
          </a:p>
          <a:p>
            <a:pPr eaLnBrk="1" hangingPunct="1"/>
            <a:r>
              <a:rPr lang="en-US" altLang="ko-KR">
                <a:latin typeface="Times New Roman" pitchFamily="18" charset="0"/>
                <a:cs typeface="Times New Roman" pitchFamily="18" charset="0"/>
              </a:rPr>
              <a:t>(PCB hai mặt) rất nhỏ như điện thoại di động, máy nhắn</a:t>
            </a:r>
          </a:p>
          <a:p>
            <a:pPr eaLnBrk="1" hangingPunct="1"/>
            <a:r>
              <a:rPr lang="en-US" altLang="ko-KR">
                <a:latin typeface="Times New Roman" pitchFamily="18" charset="0"/>
                <a:cs typeface="Times New Roman" pitchFamily="18" charset="0"/>
              </a:rPr>
              <a:t>tin số, máy Audio cầm tay… nên thông thường việc sử </a:t>
            </a:r>
          </a:p>
          <a:p>
            <a:pPr eaLnBrk="1" hangingPunct="1"/>
            <a:r>
              <a:rPr lang="en-US" altLang="ko-KR">
                <a:latin typeface="Times New Roman" pitchFamily="18" charset="0"/>
                <a:cs typeface="Times New Roman" pitchFamily="18" charset="0"/>
              </a:rPr>
              <a:t> dụng điện trở loại Lead Type(Insert Type) là rất khó.</a:t>
            </a:r>
          </a:p>
          <a:p>
            <a:pPr eaLnBrk="1" hangingPunct="1"/>
            <a:r>
              <a:rPr lang="en-US" altLang="ko-KR">
                <a:latin typeface="Times New Roman" pitchFamily="18" charset="0"/>
                <a:cs typeface="Times New Roman" pitchFamily="18" charset="0"/>
              </a:rPr>
              <a:t>Vì vậy gần đây người ta hay sử dụng điện trở chip loại</a:t>
            </a:r>
          </a:p>
          <a:p>
            <a:pPr eaLnBrk="1" hangingPunct="1"/>
            <a:r>
              <a:rPr lang="en-US" altLang="ko-KR">
                <a:latin typeface="Times New Roman" pitchFamily="18" charset="0"/>
                <a:cs typeface="Times New Roman" pitchFamily="18" charset="0"/>
              </a:rPr>
              <a:t> nhỏ.</a:t>
            </a:r>
          </a:p>
        </p:txBody>
      </p:sp>
      <p:pic>
        <p:nvPicPr>
          <p:cNvPr id="10650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188" y="728663"/>
            <a:ext cx="1981200" cy="11398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0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7463" y="4419600"/>
            <a:ext cx="2930525" cy="16859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0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0713" y="1665288"/>
            <a:ext cx="2228850" cy="1266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0650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8825" y="2744788"/>
            <a:ext cx="2405063" cy="13430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08" name="Text Box 18"/>
          <p:cNvSpPr txBox="1">
            <a:spLocks noChangeArrowheads="1"/>
          </p:cNvSpPr>
          <p:nvPr/>
        </p:nvSpPr>
        <p:spPr bwMode="auto">
          <a:xfrm>
            <a:off x="2047875" y="6080125"/>
            <a:ext cx="16859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Cấu tạo của điện trở chip</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sp>
        <p:nvSpPr>
          <p:cNvPr id="106509" name="Text Box 19"/>
          <p:cNvSpPr txBox="1">
            <a:spLocks noChangeArrowheads="1"/>
          </p:cNvSpPr>
          <p:nvPr/>
        </p:nvSpPr>
        <p:spPr bwMode="auto">
          <a:xfrm>
            <a:off x="5930900" y="6172200"/>
            <a:ext cx="11985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ARRAY TYPE &gt;</a:t>
            </a:r>
          </a:p>
        </p:txBody>
      </p:sp>
      <p:pic>
        <p:nvPicPr>
          <p:cNvPr id="106510"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625" y="3744913"/>
            <a:ext cx="3962400" cy="23479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7BF2DC5-7BD8-429F-96BF-DB5357A32587}" type="slidenum">
              <a:rPr lang="en-US" altLang="ko-KR" sz="1400" smtClean="0">
                <a:latin typeface="Times New Roman" pitchFamily="18" charset="0"/>
                <a:cs typeface="Times New Roman" pitchFamily="18" charset="0"/>
              </a:rPr>
              <a:pPr eaLnBrk="1" hangingPunct="1"/>
              <a:t>100</a:t>
            </a:fld>
            <a:endParaRPr lang="en-US" altLang="ko-KR" sz="1400" smtClean="0">
              <a:latin typeface="Times New Roman" pitchFamily="18" charset="0"/>
              <a:cs typeface="Times New Roman" pitchFamily="18" charset="0"/>
            </a:endParaRPr>
          </a:p>
        </p:txBody>
      </p:sp>
      <p:sp>
        <p:nvSpPr>
          <p:cNvPr id="107523"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752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Kích thước của điện trở chip</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Điện trở chip là loại điện trở có dạng thanh sứ hình chữ nhật có các loại kích cỡ</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3.2[mm]*1.6[mm], 1.6[mm]*0.8[mm], 1[mm]*0.5[mm].</a:t>
            </a:r>
          </a:p>
          <a:p>
            <a:pPr eaLnBrk="1" hangingPunct="1"/>
            <a:r>
              <a:rPr lang="en-US" altLang="ko-KR">
                <a:latin typeface="Times New Roman" pitchFamily="18" charset="0"/>
                <a:cs typeface="Times New Roman" pitchFamily="18" charset="0"/>
              </a:rPr>
              <a:t>  Và thường được gọi là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3216, 1680, 1005 .</a:t>
            </a:r>
          </a:p>
        </p:txBody>
      </p:sp>
      <p:sp>
        <p:nvSpPr>
          <p:cNvPr id="107525" name="Text Box 4"/>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sp>
        <p:nvSpPr>
          <p:cNvPr id="107526" name="Text Box 8"/>
          <p:cNvSpPr txBox="1">
            <a:spLocks noChangeArrowheads="1"/>
          </p:cNvSpPr>
          <p:nvPr/>
        </p:nvSpPr>
        <p:spPr bwMode="auto">
          <a:xfrm>
            <a:off x="1474788" y="3884613"/>
            <a:ext cx="186372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Kích thước của điện trở chíp</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pic>
        <p:nvPicPr>
          <p:cNvPr id="10752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189413"/>
            <a:ext cx="83693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7528" name="Group 10"/>
          <p:cNvGrpSpPr>
            <a:grpSpLocks/>
          </p:cNvGrpSpPr>
          <p:nvPr/>
        </p:nvGrpSpPr>
        <p:grpSpPr bwMode="auto">
          <a:xfrm>
            <a:off x="5040313" y="1674813"/>
            <a:ext cx="2687637" cy="2286000"/>
            <a:chOff x="3260" y="1200"/>
            <a:chExt cx="1562" cy="1440"/>
          </a:xfrm>
        </p:grpSpPr>
        <p:grpSp>
          <p:nvGrpSpPr>
            <p:cNvPr id="107531" name="Group 11"/>
            <p:cNvGrpSpPr>
              <a:grpSpLocks/>
            </p:cNvGrpSpPr>
            <p:nvPr/>
          </p:nvGrpSpPr>
          <p:grpSpPr bwMode="auto">
            <a:xfrm>
              <a:off x="3504" y="1440"/>
              <a:ext cx="912" cy="432"/>
              <a:chOff x="3504" y="1440"/>
              <a:chExt cx="912" cy="432"/>
            </a:xfrm>
          </p:grpSpPr>
          <p:sp>
            <p:nvSpPr>
              <p:cNvPr id="107547" name="Rectangle 12"/>
              <p:cNvSpPr>
                <a:spLocks noChangeArrowheads="1"/>
              </p:cNvSpPr>
              <p:nvPr/>
            </p:nvSpPr>
            <p:spPr bwMode="auto">
              <a:xfrm>
                <a:off x="3504" y="1440"/>
                <a:ext cx="91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1 2 3</a:t>
                </a:r>
              </a:p>
            </p:txBody>
          </p:sp>
          <p:sp>
            <p:nvSpPr>
              <p:cNvPr id="107548" name="Rectangle 13" descr="밝은 상향 대각선"/>
              <p:cNvSpPr>
                <a:spLocks noChangeArrowheads="1"/>
              </p:cNvSpPr>
              <p:nvPr/>
            </p:nvSpPr>
            <p:spPr bwMode="auto">
              <a:xfrm>
                <a:off x="3504" y="1440"/>
                <a:ext cx="96" cy="43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7549" name="Rectangle 14" descr="밝은 상향 대각선"/>
              <p:cNvSpPr>
                <a:spLocks noChangeArrowheads="1"/>
              </p:cNvSpPr>
              <p:nvPr/>
            </p:nvSpPr>
            <p:spPr bwMode="auto">
              <a:xfrm>
                <a:off x="4320" y="1440"/>
                <a:ext cx="96" cy="43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07532" name="Group 15"/>
            <p:cNvGrpSpPr>
              <a:grpSpLocks/>
            </p:cNvGrpSpPr>
            <p:nvPr/>
          </p:nvGrpSpPr>
          <p:grpSpPr bwMode="auto">
            <a:xfrm>
              <a:off x="3504" y="2496"/>
              <a:ext cx="912" cy="144"/>
              <a:chOff x="3504" y="2496"/>
              <a:chExt cx="912" cy="144"/>
            </a:xfrm>
          </p:grpSpPr>
          <p:sp>
            <p:nvSpPr>
              <p:cNvPr id="107544" name="Rectangle 16"/>
              <p:cNvSpPr>
                <a:spLocks noChangeArrowheads="1"/>
              </p:cNvSpPr>
              <p:nvPr/>
            </p:nvSpPr>
            <p:spPr bwMode="auto">
              <a:xfrm>
                <a:off x="3504" y="2496"/>
                <a:ext cx="91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107545" name="Rectangle 17" descr="밝은 상향 대각선"/>
              <p:cNvSpPr>
                <a:spLocks noChangeArrowheads="1"/>
              </p:cNvSpPr>
              <p:nvPr/>
            </p:nvSpPr>
            <p:spPr bwMode="auto">
              <a:xfrm>
                <a:off x="3504" y="2496"/>
                <a:ext cx="96" cy="144"/>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7546" name="Rectangle 18" descr="밝은 상향 대각선"/>
              <p:cNvSpPr>
                <a:spLocks noChangeArrowheads="1"/>
              </p:cNvSpPr>
              <p:nvPr/>
            </p:nvSpPr>
            <p:spPr bwMode="auto">
              <a:xfrm>
                <a:off x="4320" y="2496"/>
                <a:ext cx="96" cy="144"/>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07533" name="Text Box 19"/>
            <p:cNvSpPr txBox="1">
              <a:spLocks noChangeArrowheads="1"/>
            </p:cNvSpPr>
            <p:nvPr/>
          </p:nvSpPr>
          <p:spPr bwMode="auto">
            <a:xfrm>
              <a:off x="3260" y="2096"/>
              <a:ext cx="3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Phần hàn</a:t>
              </a:r>
              <a:endParaRPr lang="ko-KR" altLang="en-US" sz="1000">
                <a:latin typeface="Times New Roman" pitchFamily="18" charset="0"/>
                <a:cs typeface="Times New Roman" pitchFamily="18" charset="0"/>
              </a:endParaRPr>
            </a:p>
          </p:txBody>
        </p:sp>
        <p:sp>
          <p:nvSpPr>
            <p:cNvPr id="107534" name="Text Box 20"/>
            <p:cNvSpPr txBox="1">
              <a:spLocks noChangeArrowheads="1"/>
            </p:cNvSpPr>
            <p:nvPr/>
          </p:nvSpPr>
          <p:spPr bwMode="auto">
            <a:xfrm>
              <a:off x="3772" y="2096"/>
              <a:ext cx="386"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Thanh sứ</a:t>
              </a:r>
              <a:endParaRPr lang="ko-KR" altLang="en-US" sz="1000">
                <a:latin typeface="Times New Roman" pitchFamily="18" charset="0"/>
                <a:cs typeface="Times New Roman" pitchFamily="18" charset="0"/>
              </a:endParaRPr>
            </a:p>
          </p:txBody>
        </p:sp>
        <p:sp>
          <p:nvSpPr>
            <p:cNvPr id="107535" name="Text Box 21"/>
            <p:cNvSpPr txBox="1">
              <a:spLocks noChangeArrowheads="1"/>
            </p:cNvSpPr>
            <p:nvPr/>
          </p:nvSpPr>
          <p:spPr bwMode="auto">
            <a:xfrm>
              <a:off x="4307" y="2096"/>
              <a:ext cx="3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Phần hàn</a:t>
              </a:r>
              <a:endParaRPr lang="ko-KR" altLang="en-US" sz="1000">
                <a:latin typeface="Times New Roman" pitchFamily="18" charset="0"/>
                <a:cs typeface="Times New Roman" pitchFamily="18" charset="0"/>
              </a:endParaRPr>
            </a:p>
          </p:txBody>
        </p:sp>
        <p:sp>
          <p:nvSpPr>
            <p:cNvPr id="107536" name="Line 22"/>
            <p:cNvSpPr>
              <a:spLocks noChangeShapeType="1"/>
            </p:cNvSpPr>
            <p:nvPr/>
          </p:nvSpPr>
          <p:spPr bwMode="auto">
            <a:xfrm flipV="1">
              <a:off x="3408" y="1872"/>
              <a:ext cx="14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37" name="Line 23"/>
            <p:cNvSpPr>
              <a:spLocks noChangeShapeType="1"/>
            </p:cNvSpPr>
            <p:nvPr/>
          </p:nvSpPr>
          <p:spPr bwMode="auto">
            <a:xfrm flipH="1" flipV="1">
              <a:off x="4368" y="1872"/>
              <a:ext cx="9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38" name="Line 24"/>
            <p:cNvSpPr>
              <a:spLocks noChangeShapeType="1"/>
            </p:cNvSpPr>
            <p:nvPr/>
          </p:nvSpPr>
          <p:spPr bwMode="auto">
            <a:xfrm>
              <a:off x="3408" y="2256"/>
              <a:ext cx="14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39" name="Line 25"/>
            <p:cNvSpPr>
              <a:spLocks noChangeShapeType="1"/>
            </p:cNvSpPr>
            <p:nvPr/>
          </p:nvSpPr>
          <p:spPr bwMode="auto">
            <a:xfrm flipH="1">
              <a:off x="3936" y="2256"/>
              <a:ext cx="9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40" name="Line 26"/>
            <p:cNvSpPr>
              <a:spLocks noChangeShapeType="1"/>
            </p:cNvSpPr>
            <p:nvPr/>
          </p:nvSpPr>
          <p:spPr bwMode="auto">
            <a:xfrm flipV="1">
              <a:off x="3936" y="1872"/>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41" name="Line 27"/>
            <p:cNvSpPr>
              <a:spLocks noChangeShapeType="1"/>
            </p:cNvSpPr>
            <p:nvPr/>
          </p:nvSpPr>
          <p:spPr bwMode="auto">
            <a:xfrm flipH="1">
              <a:off x="4368" y="2256"/>
              <a:ext cx="9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42" name="Line 28"/>
            <p:cNvSpPr>
              <a:spLocks noChangeShapeType="1"/>
            </p:cNvSpPr>
            <p:nvPr/>
          </p:nvSpPr>
          <p:spPr bwMode="auto">
            <a:xfrm flipH="1">
              <a:off x="4128" y="1296"/>
              <a:ext cx="24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7543" name="Text Box 29"/>
            <p:cNvSpPr txBox="1">
              <a:spLocks noChangeArrowheads="1"/>
            </p:cNvSpPr>
            <p:nvPr/>
          </p:nvSpPr>
          <p:spPr bwMode="auto">
            <a:xfrm>
              <a:off x="4271" y="1200"/>
              <a:ext cx="551"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Giá trị điện trở</a:t>
              </a:r>
              <a:endParaRPr lang="ko-KR" altLang="en-US" sz="1000">
                <a:latin typeface="Times New Roman" pitchFamily="18" charset="0"/>
                <a:cs typeface="Times New Roman" pitchFamily="18" charset="0"/>
              </a:endParaRPr>
            </a:p>
          </p:txBody>
        </p:sp>
      </p:grpSp>
      <p:sp>
        <p:nvSpPr>
          <p:cNvPr id="107529" name="Text Box 30"/>
          <p:cNvSpPr txBox="1">
            <a:spLocks noChangeArrowheads="1"/>
          </p:cNvSpPr>
          <p:nvPr/>
        </p:nvSpPr>
        <p:spPr bwMode="auto">
          <a:xfrm>
            <a:off x="6980238" y="3808413"/>
            <a:ext cx="174942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Bề ngoài của điện trở chip</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pic>
        <p:nvPicPr>
          <p:cNvPr id="10753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138" y="2055813"/>
            <a:ext cx="30003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0A3A49C-EEC2-4614-A141-A1C598C695CC}" type="slidenum">
              <a:rPr lang="en-US" altLang="ko-KR" sz="1400" smtClean="0">
                <a:latin typeface="Times New Roman" pitchFamily="18" charset="0"/>
                <a:cs typeface="Times New Roman" pitchFamily="18" charset="0"/>
              </a:rPr>
              <a:pPr eaLnBrk="1" hangingPunct="1"/>
              <a:t>101</a:t>
            </a:fld>
            <a:endParaRPr lang="en-US" altLang="ko-KR" sz="1400" smtClean="0">
              <a:latin typeface="Times New Roman" pitchFamily="18" charset="0"/>
              <a:cs typeface="Times New Roman" pitchFamily="18" charset="0"/>
            </a:endParaRPr>
          </a:p>
        </p:txBody>
      </p:sp>
      <p:sp>
        <p:nvSpPr>
          <p:cNvPr id="108547" name="Text Box 2"/>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854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Giải mã điện trở chíp</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08549" name="Text Box 4"/>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grpSp>
        <p:nvGrpSpPr>
          <p:cNvPr id="108550" name="Group 29"/>
          <p:cNvGrpSpPr>
            <a:grpSpLocks/>
          </p:cNvGrpSpPr>
          <p:nvPr/>
        </p:nvGrpSpPr>
        <p:grpSpPr bwMode="auto">
          <a:xfrm>
            <a:off x="1116013" y="1524000"/>
            <a:ext cx="6934200" cy="4419600"/>
            <a:chOff x="816" y="816"/>
            <a:chExt cx="4032" cy="2784"/>
          </a:xfrm>
        </p:grpSpPr>
        <p:pic>
          <p:nvPicPr>
            <p:cNvPr id="108551"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 y="1296"/>
              <a:ext cx="954" cy="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8552"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4" y="1320"/>
              <a:ext cx="960"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53" name="Rectangle 32"/>
            <p:cNvSpPr>
              <a:spLocks noChangeArrowheads="1"/>
            </p:cNvSpPr>
            <p:nvPr/>
          </p:nvSpPr>
          <p:spPr bwMode="auto">
            <a:xfrm>
              <a:off x="1296" y="816"/>
              <a:ext cx="1776"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Biểu thị 3 số (E24, E12 series)</a:t>
              </a:r>
            </a:p>
          </p:txBody>
        </p:sp>
        <p:sp>
          <p:nvSpPr>
            <p:cNvPr id="108554" name="Rectangle 33"/>
            <p:cNvSpPr>
              <a:spLocks noChangeArrowheads="1"/>
            </p:cNvSpPr>
            <p:nvPr/>
          </p:nvSpPr>
          <p:spPr bwMode="auto">
            <a:xfrm>
              <a:off x="1296" y="1104"/>
              <a:ext cx="1776" cy="9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8555" name="Rectangle 34"/>
            <p:cNvSpPr>
              <a:spLocks noChangeArrowheads="1"/>
            </p:cNvSpPr>
            <p:nvPr/>
          </p:nvSpPr>
          <p:spPr bwMode="auto">
            <a:xfrm>
              <a:off x="3072" y="816"/>
              <a:ext cx="1776"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Biểu thị 4 số (E-48 series)</a:t>
              </a:r>
            </a:p>
          </p:txBody>
        </p:sp>
        <p:sp>
          <p:nvSpPr>
            <p:cNvPr id="108556" name="Rectangle 35"/>
            <p:cNvSpPr>
              <a:spLocks noChangeArrowheads="1"/>
            </p:cNvSpPr>
            <p:nvPr/>
          </p:nvSpPr>
          <p:spPr bwMode="auto">
            <a:xfrm>
              <a:off x="3072" y="1104"/>
              <a:ext cx="1776" cy="9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8557" name="Rectangle 36"/>
            <p:cNvSpPr>
              <a:spLocks noChangeArrowheads="1"/>
            </p:cNvSpPr>
            <p:nvPr/>
          </p:nvSpPr>
          <p:spPr bwMode="auto">
            <a:xfrm>
              <a:off x="816" y="816"/>
              <a:ext cx="480"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Số vị trí</a:t>
              </a:r>
              <a:endParaRPr lang="ko-KR" altLang="en-US">
                <a:latin typeface="Times New Roman" pitchFamily="18" charset="0"/>
                <a:cs typeface="Times New Roman" pitchFamily="18" charset="0"/>
              </a:endParaRPr>
            </a:p>
          </p:txBody>
        </p:sp>
        <p:sp>
          <p:nvSpPr>
            <p:cNvPr id="108558" name="Rectangle 37"/>
            <p:cNvSpPr>
              <a:spLocks noChangeArrowheads="1"/>
            </p:cNvSpPr>
            <p:nvPr/>
          </p:nvSpPr>
          <p:spPr bwMode="auto">
            <a:xfrm>
              <a:off x="816" y="1104"/>
              <a:ext cx="480" cy="9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Hình thức</a:t>
              </a:r>
              <a:endParaRPr lang="ko-KR" altLang="en-US">
                <a:latin typeface="Times New Roman" pitchFamily="18" charset="0"/>
                <a:cs typeface="Times New Roman" pitchFamily="18" charset="0"/>
              </a:endParaRPr>
            </a:p>
          </p:txBody>
        </p:sp>
        <p:sp>
          <p:nvSpPr>
            <p:cNvPr id="108559" name="Rectangle 38"/>
            <p:cNvSpPr>
              <a:spLocks noChangeArrowheads="1"/>
            </p:cNvSpPr>
            <p:nvPr/>
          </p:nvSpPr>
          <p:spPr bwMode="auto">
            <a:xfrm>
              <a:off x="816" y="2016"/>
              <a:ext cx="480"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Đọc giá trị</a:t>
              </a:r>
              <a:endParaRPr lang="ko-KR" altLang="en-US">
                <a:latin typeface="Times New Roman" pitchFamily="18" charset="0"/>
                <a:cs typeface="Times New Roman" pitchFamily="18" charset="0"/>
              </a:endParaRPr>
            </a:p>
          </p:txBody>
        </p:sp>
        <p:sp>
          <p:nvSpPr>
            <p:cNvPr id="108560" name="Rectangle 39"/>
            <p:cNvSpPr>
              <a:spLocks noChangeArrowheads="1"/>
            </p:cNvSpPr>
            <p:nvPr/>
          </p:nvSpPr>
          <p:spPr bwMode="auto">
            <a:xfrm>
              <a:off x="1296" y="2016"/>
              <a:ext cx="1776"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solidFill>
                    <a:srgbClr val="000000"/>
                  </a:solidFill>
                  <a:latin typeface="Times New Roman" pitchFamily="18" charset="0"/>
                  <a:cs typeface="Times New Roman" pitchFamily="18" charset="0"/>
                </a:rPr>
                <a:t>- Hai số bên trái là giá trị công suất</a:t>
              </a:r>
              <a:endParaRPr lang="ko-KR" altLang="en-US">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 Số cuối cùng là số mũ(số nhân)</a:t>
              </a:r>
              <a:endParaRPr lang="ko-KR" altLang="en-US">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 Example: </a:t>
              </a:r>
              <a:r>
                <a:rPr lang="en-US" altLang="ko-KR">
                  <a:solidFill>
                    <a:srgbClr val="3C2383"/>
                  </a:solidFill>
                  <a:latin typeface="Times New Roman" pitchFamily="18" charset="0"/>
                  <a:cs typeface="Times New Roman" pitchFamily="18" charset="0"/>
                </a:rPr>
                <a:t>10</a:t>
              </a:r>
              <a:r>
                <a:rPr lang="en-US" altLang="ko-KR">
                  <a:solidFill>
                    <a:srgbClr val="E00025"/>
                  </a:solidFill>
                  <a:latin typeface="Times New Roman" pitchFamily="18" charset="0"/>
                  <a:cs typeface="Times New Roman" pitchFamily="18" charset="0"/>
                </a:rPr>
                <a:t>3</a:t>
              </a:r>
            </a:p>
            <a:p>
              <a:pPr eaLnBrk="1" hangingPunct="1"/>
              <a:r>
                <a:rPr lang="en-US" altLang="ko-KR">
                  <a:solidFill>
                    <a:srgbClr val="000000"/>
                  </a:solidFill>
                  <a:latin typeface="Times New Roman" pitchFamily="18" charset="0"/>
                  <a:cs typeface="Times New Roman" pitchFamily="18" charset="0"/>
                </a:rPr>
                <a:t>    Left 2 digits: </a:t>
              </a:r>
              <a:r>
                <a:rPr lang="en-US" altLang="ko-KR">
                  <a:solidFill>
                    <a:srgbClr val="3C2383"/>
                  </a:solidFill>
                  <a:latin typeface="Times New Roman" pitchFamily="18" charset="0"/>
                  <a:cs typeface="Times New Roman" pitchFamily="18" charset="0"/>
                </a:rPr>
                <a:t>10</a:t>
              </a:r>
            </a:p>
            <a:p>
              <a:pPr eaLnBrk="1" hangingPunct="1"/>
              <a:r>
                <a:rPr lang="en-US" altLang="ko-KR">
                  <a:solidFill>
                    <a:srgbClr val="000000"/>
                  </a:solidFill>
                  <a:latin typeface="Times New Roman" pitchFamily="18" charset="0"/>
                  <a:cs typeface="Times New Roman" pitchFamily="18" charset="0"/>
                </a:rPr>
                <a:t>    Last 1 digit: </a:t>
              </a:r>
              <a:r>
                <a:rPr lang="en-US" altLang="ko-KR">
                  <a:solidFill>
                    <a:srgbClr val="E00025"/>
                  </a:solidFill>
                  <a:latin typeface="Times New Roman" pitchFamily="18" charset="0"/>
                  <a:cs typeface="Times New Roman" pitchFamily="18" charset="0"/>
                </a:rPr>
                <a:t>3</a:t>
              </a:r>
            </a:p>
            <a:p>
              <a:pPr eaLnBrk="1" hangingPunct="1"/>
              <a:r>
                <a:rPr lang="en-US" altLang="ko-KR">
                  <a:solidFill>
                    <a:srgbClr val="3C2383"/>
                  </a:solidFill>
                  <a:latin typeface="Times New Roman" pitchFamily="18" charset="0"/>
                  <a:cs typeface="Times New Roman" pitchFamily="18" charset="0"/>
                </a:rPr>
                <a:t>    10</a:t>
              </a:r>
              <a:r>
                <a:rPr lang="en-US" altLang="ko-KR">
                  <a:solidFill>
                    <a:srgbClr val="E00025"/>
                  </a:solidFill>
                  <a:latin typeface="Times New Roman" pitchFamily="18" charset="0"/>
                  <a:cs typeface="Times New Roman" pitchFamily="18" charset="0"/>
                </a:rPr>
                <a:t>3 </a:t>
              </a:r>
              <a:r>
                <a:rPr lang="en-US" altLang="ko-KR">
                  <a:solidFill>
                    <a:srgbClr val="000000"/>
                  </a:solidFill>
                  <a:latin typeface="Times New Roman" pitchFamily="18" charset="0"/>
                  <a:cs typeface="Times New Roman" pitchFamily="18" charset="0"/>
                </a:rPr>
                <a:t>= </a:t>
              </a:r>
              <a:r>
                <a:rPr lang="en-US" altLang="ko-KR">
                  <a:solidFill>
                    <a:srgbClr val="3C2383"/>
                  </a:solidFill>
                  <a:latin typeface="Times New Roman" pitchFamily="18" charset="0"/>
                  <a:cs typeface="Times New Roman" pitchFamily="18" charset="0"/>
                </a:rPr>
                <a:t>10</a:t>
              </a:r>
              <a:r>
                <a:rPr lang="en-US" altLang="ko-KR">
                  <a:solidFill>
                    <a:srgbClr val="000000"/>
                  </a:solidFill>
                  <a:latin typeface="Times New Roman" pitchFamily="18" charset="0"/>
                  <a:cs typeface="Times New Roman" pitchFamily="18" charset="0"/>
                </a:rPr>
                <a:t>×10</a:t>
              </a:r>
              <a:r>
                <a:rPr lang="en-US" altLang="ko-KR">
                  <a:solidFill>
                    <a:srgbClr val="E00025"/>
                  </a:solidFill>
                  <a:latin typeface="Times New Roman" pitchFamily="18" charset="0"/>
                  <a:cs typeface="Times New Roman" pitchFamily="18" charset="0"/>
                </a:rPr>
                <a:t>³</a:t>
              </a:r>
              <a:r>
                <a:rPr lang="en-US" altLang="ko-KR">
                  <a:solidFill>
                    <a:srgbClr val="000000"/>
                  </a:solidFill>
                  <a:latin typeface="Times New Roman" pitchFamily="18" charset="0"/>
                  <a:cs typeface="Times New Roman" pitchFamily="18" charset="0"/>
                </a:rPr>
                <a:t>Ω</a:t>
              </a:r>
            </a:p>
            <a:p>
              <a:pPr eaLnBrk="1" hangingPunct="1"/>
              <a:r>
                <a:rPr lang="en-US" altLang="ko-KR">
                  <a:solidFill>
                    <a:srgbClr val="000000"/>
                  </a:solidFill>
                  <a:latin typeface="Times New Roman" pitchFamily="18" charset="0"/>
                  <a:cs typeface="Times New Roman" pitchFamily="18" charset="0"/>
                </a:rPr>
                <a:t>    = </a:t>
              </a:r>
              <a:r>
                <a:rPr lang="en-US" altLang="ko-KR">
                  <a:solidFill>
                    <a:srgbClr val="3C2383"/>
                  </a:solidFill>
                  <a:latin typeface="Times New Roman" pitchFamily="18" charset="0"/>
                  <a:cs typeface="Times New Roman" pitchFamily="18" charset="0"/>
                </a:rPr>
                <a:t>10</a:t>
              </a:r>
              <a:r>
                <a:rPr lang="en-US" altLang="ko-KR">
                  <a:solidFill>
                    <a:srgbClr val="E00025"/>
                  </a:solidFill>
                  <a:latin typeface="Times New Roman" pitchFamily="18" charset="0"/>
                  <a:cs typeface="Times New Roman" pitchFamily="18" charset="0"/>
                </a:rPr>
                <a:t>000</a:t>
              </a:r>
              <a:r>
                <a:rPr lang="en-US" altLang="ko-KR">
                  <a:solidFill>
                    <a:srgbClr val="000000"/>
                  </a:solidFill>
                  <a:latin typeface="Times New Roman" pitchFamily="18" charset="0"/>
                  <a:cs typeface="Times New Roman" pitchFamily="18" charset="0"/>
                </a:rPr>
                <a:t>Ω=10kΩ</a:t>
              </a:r>
            </a:p>
          </p:txBody>
        </p:sp>
        <p:sp>
          <p:nvSpPr>
            <p:cNvPr id="109585" name="Rectangle 40"/>
            <p:cNvSpPr>
              <a:spLocks noChangeArrowheads="1"/>
            </p:cNvSpPr>
            <p:nvPr/>
          </p:nvSpPr>
          <p:spPr bwMode="auto">
            <a:xfrm>
              <a:off x="3072" y="2016"/>
              <a:ext cx="1776"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marL="171450" indent="-171450" eaLnBrk="1" hangingPunct="1">
                <a:buFontTx/>
                <a:buChar char="-"/>
                <a:defRPr/>
              </a:pPr>
              <a:r>
                <a:rPr lang="en-US" altLang="ko-KR" dirty="0" smtClean="0">
                  <a:solidFill>
                    <a:srgbClr val="000000"/>
                  </a:solidFill>
                  <a:latin typeface="Times New Roman" pitchFamily="18" charset="0"/>
                  <a:cs typeface="Times New Roman" pitchFamily="18" charset="0"/>
                </a:rPr>
                <a:t>Ba </a:t>
              </a:r>
              <a:r>
                <a:rPr lang="en-US" altLang="ko-KR" dirty="0" err="1" smtClean="0">
                  <a:solidFill>
                    <a:srgbClr val="000000"/>
                  </a:solidFill>
                  <a:latin typeface="Times New Roman" pitchFamily="18" charset="0"/>
                  <a:cs typeface="Times New Roman" pitchFamily="18" charset="0"/>
                </a:rPr>
                <a:t>số</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bên</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trái</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là</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giá</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trị</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công</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suất</a:t>
              </a:r>
              <a:r>
                <a:rPr lang="en-US" altLang="ko-KR" dirty="0" smtClean="0">
                  <a:solidFill>
                    <a:srgbClr val="000000"/>
                  </a:solidFill>
                  <a:latin typeface="Times New Roman" pitchFamily="18" charset="0"/>
                  <a:cs typeface="Times New Roman" pitchFamily="18" charset="0"/>
                </a:rPr>
                <a:t> </a:t>
              </a:r>
            </a:p>
            <a:p>
              <a:pPr marL="171450" indent="-171450" eaLnBrk="1" hangingPunct="1">
                <a:buFontTx/>
                <a:buChar char="-"/>
                <a:defRPr/>
              </a:pPr>
              <a:r>
                <a:rPr lang="en-US" altLang="ko-KR" dirty="0" err="1" smtClean="0">
                  <a:solidFill>
                    <a:srgbClr val="000000"/>
                  </a:solidFill>
                  <a:latin typeface="Times New Roman" pitchFamily="18" charset="0"/>
                  <a:cs typeface="Times New Roman" pitchFamily="18" charset="0"/>
                </a:rPr>
                <a:t>Số</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cuối</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cùng</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là</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số</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mũ</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số</a:t>
              </a:r>
              <a:r>
                <a:rPr lang="en-US" altLang="ko-KR" dirty="0" smtClean="0">
                  <a:solidFill>
                    <a:srgbClr val="000000"/>
                  </a:solidFill>
                  <a:latin typeface="Times New Roman" pitchFamily="18" charset="0"/>
                  <a:cs typeface="Times New Roman" pitchFamily="18" charset="0"/>
                </a:rPr>
                <a:t> </a:t>
              </a:r>
              <a:r>
                <a:rPr lang="en-US" altLang="ko-KR" dirty="0" err="1" smtClean="0">
                  <a:solidFill>
                    <a:srgbClr val="000000"/>
                  </a:solidFill>
                  <a:latin typeface="Times New Roman" pitchFamily="18" charset="0"/>
                  <a:cs typeface="Times New Roman" pitchFamily="18" charset="0"/>
                </a:rPr>
                <a:t>nhân</a:t>
              </a:r>
              <a:r>
                <a:rPr lang="en-US" altLang="ko-KR" dirty="0" smtClean="0">
                  <a:solidFill>
                    <a:srgbClr val="000000"/>
                  </a:solidFill>
                  <a:latin typeface="Times New Roman" pitchFamily="18" charset="0"/>
                  <a:cs typeface="Times New Roman" pitchFamily="18" charset="0"/>
                </a:rPr>
                <a:t>) </a:t>
              </a:r>
            </a:p>
            <a:p>
              <a:pPr eaLnBrk="1" hangingPunct="1">
                <a:defRPr/>
              </a:pPr>
              <a:r>
                <a:rPr lang="en-US" altLang="ko-KR" dirty="0" smtClean="0">
                  <a:solidFill>
                    <a:srgbClr val="000000"/>
                  </a:solidFill>
                  <a:latin typeface="Times New Roman" pitchFamily="18" charset="0"/>
                  <a:cs typeface="Times New Roman" pitchFamily="18" charset="0"/>
                </a:rPr>
                <a:t>- Example: </a:t>
              </a:r>
              <a:r>
                <a:rPr lang="en-US" altLang="ko-KR" dirty="0" smtClean="0">
                  <a:solidFill>
                    <a:srgbClr val="3C2383"/>
                  </a:solidFill>
                  <a:latin typeface="Times New Roman" pitchFamily="18" charset="0"/>
                  <a:cs typeface="Times New Roman" pitchFamily="18" charset="0"/>
                </a:rPr>
                <a:t>100</a:t>
              </a:r>
              <a:r>
                <a:rPr lang="en-US" altLang="ko-KR" dirty="0" smtClean="0">
                  <a:solidFill>
                    <a:srgbClr val="E00025"/>
                  </a:solidFill>
                  <a:latin typeface="Times New Roman" pitchFamily="18" charset="0"/>
                  <a:cs typeface="Times New Roman" pitchFamily="18" charset="0"/>
                </a:rPr>
                <a:t>2</a:t>
              </a:r>
            </a:p>
            <a:p>
              <a:pPr eaLnBrk="1" hangingPunct="1">
                <a:defRPr/>
              </a:pPr>
              <a:r>
                <a:rPr lang="en-US" altLang="ko-KR" dirty="0" smtClean="0">
                  <a:solidFill>
                    <a:srgbClr val="000000"/>
                  </a:solidFill>
                  <a:latin typeface="Times New Roman" pitchFamily="18" charset="0"/>
                  <a:cs typeface="Times New Roman" pitchFamily="18" charset="0"/>
                </a:rPr>
                <a:t>    Left 3 digits: </a:t>
              </a:r>
              <a:r>
                <a:rPr lang="en-US" altLang="ko-KR" dirty="0" smtClean="0">
                  <a:solidFill>
                    <a:srgbClr val="3C2383"/>
                  </a:solidFill>
                  <a:latin typeface="Times New Roman" pitchFamily="18" charset="0"/>
                  <a:cs typeface="Times New Roman" pitchFamily="18" charset="0"/>
                </a:rPr>
                <a:t>100</a:t>
              </a:r>
            </a:p>
            <a:p>
              <a:pPr eaLnBrk="1" hangingPunct="1">
                <a:defRPr/>
              </a:pPr>
              <a:r>
                <a:rPr lang="en-US" altLang="ko-KR" dirty="0" smtClean="0">
                  <a:solidFill>
                    <a:srgbClr val="000000"/>
                  </a:solidFill>
                  <a:latin typeface="Times New Roman" pitchFamily="18" charset="0"/>
                  <a:cs typeface="Times New Roman" pitchFamily="18" charset="0"/>
                </a:rPr>
                <a:t>    Last 1 digit: </a:t>
              </a:r>
              <a:r>
                <a:rPr lang="en-US" altLang="ko-KR" dirty="0" smtClean="0">
                  <a:solidFill>
                    <a:srgbClr val="E00025"/>
                  </a:solidFill>
                  <a:latin typeface="Times New Roman" pitchFamily="18" charset="0"/>
                  <a:cs typeface="Times New Roman" pitchFamily="18" charset="0"/>
                </a:rPr>
                <a:t>2</a:t>
              </a:r>
            </a:p>
            <a:p>
              <a:pPr eaLnBrk="1" hangingPunct="1">
                <a:defRPr/>
              </a:pPr>
              <a:r>
                <a:rPr lang="en-US" altLang="ko-KR" dirty="0" smtClean="0">
                  <a:solidFill>
                    <a:srgbClr val="3C2383"/>
                  </a:solidFill>
                  <a:latin typeface="Times New Roman" pitchFamily="18" charset="0"/>
                  <a:cs typeface="Times New Roman" pitchFamily="18" charset="0"/>
                </a:rPr>
                <a:t>    100</a:t>
              </a:r>
              <a:r>
                <a:rPr lang="en-US" altLang="ko-KR" dirty="0" smtClean="0">
                  <a:solidFill>
                    <a:srgbClr val="E00025"/>
                  </a:solidFill>
                  <a:latin typeface="Times New Roman" pitchFamily="18" charset="0"/>
                  <a:cs typeface="Times New Roman" pitchFamily="18" charset="0"/>
                </a:rPr>
                <a:t>2</a:t>
              </a:r>
              <a:r>
                <a:rPr lang="en-US" altLang="ko-KR" dirty="0" smtClean="0">
                  <a:solidFill>
                    <a:srgbClr val="000000"/>
                  </a:solidFill>
                  <a:latin typeface="Times New Roman" pitchFamily="18" charset="0"/>
                  <a:cs typeface="Times New Roman" pitchFamily="18" charset="0"/>
                </a:rPr>
                <a:t>= </a:t>
              </a:r>
              <a:r>
                <a:rPr lang="en-US" altLang="ko-KR" dirty="0" smtClean="0">
                  <a:solidFill>
                    <a:srgbClr val="3C2383"/>
                  </a:solidFill>
                  <a:latin typeface="Times New Roman" pitchFamily="18" charset="0"/>
                  <a:cs typeface="Times New Roman" pitchFamily="18" charset="0"/>
                </a:rPr>
                <a:t>100</a:t>
              </a:r>
              <a:r>
                <a:rPr lang="en-US" altLang="ko-KR" dirty="0" smtClean="0">
                  <a:solidFill>
                    <a:srgbClr val="000000"/>
                  </a:solidFill>
                  <a:latin typeface="Times New Roman" pitchFamily="18" charset="0"/>
                  <a:cs typeface="Times New Roman" pitchFamily="18" charset="0"/>
                </a:rPr>
                <a:t>×10</a:t>
              </a:r>
              <a:r>
                <a:rPr lang="en-US" altLang="ko-KR" dirty="0" smtClean="0">
                  <a:solidFill>
                    <a:srgbClr val="E00025"/>
                  </a:solidFill>
                  <a:latin typeface="Times New Roman" pitchFamily="18" charset="0"/>
                  <a:cs typeface="Times New Roman" pitchFamily="18" charset="0"/>
                </a:rPr>
                <a:t>²</a:t>
              </a:r>
              <a:r>
                <a:rPr lang="en-US" altLang="ko-KR" dirty="0" smtClean="0">
                  <a:solidFill>
                    <a:srgbClr val="000000"/>
                  </a:solidFill>
                  <a:latin typeface="Times New Roman" pitchFamily="18" charset="0"/>
                  <a:cs typeface="Times New Roman" pitchFamily="18" charset="0"/>
                </a:rPr>
                <a:t>Ω</a:t>
              </a:r>
            </a:p>
            <a:p>
              <a:pPr eaLnBrk="1" hangingPunct="1">
                <a:defRPr/>
              </a:pPr>
              <a:r>
                <a:rPr lang="en-US" altLang="ko-KR" dirty="0" smtClean="0">
                  <a:solidFill>
                    <a:srgbClr val="000000"/>
                  </a:solidFill>
                  <a:latin typeface="Times New Roman" pitchFamily="18" charset="0"/>
                  <a:cs typeface="Times New Roman" pitchFamily="18" charset="0"/>
                </a:rPr>
                <a:t>    = </a:t>
              </a:r>
              <a:r>
                <a:rPr lang="en-US" altLang="ko-KR" dirty="0" smtClean="0">
                  <a:solidFill>
                    <a:srgbClr val="3C2383"/>
                  </a:solidFill>
                  <a:latin typeface="Times New Roman" pitchFamily="18" charset="0"/>
                  <a:cs typeface="Times New Roman" pitchFamily="18" charset="0"/>
                </a:rPr>
                <a:t>100</a:t>
              </a:r>
              <a:r>
                <a:rPr lang="en-US" altLang="ko-KR" dirty="0" smtClean="0">
                  <a:solidFill>
                    <a:srgbClr val="E00025"/>
                  </a:solidFill>
                  <a:latin typeface="Times New Roman" pitchFamily="18" charset="0"/>
                  <a:cs typeface="Times New Roman" pitchFamily="18" charset="0"/>
                </a:rPr>
                <a:t>00</a:t>
              </a:r>
              <a:r>
                <a:rPr lang="en-US" altLang="ko-KR" dirty="0" smtClean="0">
                  <a:solidFill>
                    <a:srgbClr val="000000"/>
                  </a:solidFill>
                  <a:latin typeface="Times New Roman" pitchFamily="18" charset="0"/>
                  <a:cs typeface="Times New Roman" pitchFamily="18" charset="0"/>
                </a:rPr>
                <a:t>Ω=10kΩ</a:t>
              </a:r>
            </a:p>
          </p:txBody>
        </p:sp>
        <p:sp>
          <p:nvSpPr>
            <p:cNvPr id="108562" name="Rectangle 41"/>
            <p:cNvSpPr>
              <a:spLocks noChangeArrowheads="1"/>
            </p:cNvSpPr>
            <p:nvPr/>
          </p:nvSpPr>
          <p:spPr bwMode="auto">
            <a:xfrm>
              <a:off x="1296" y="3024"/>
              <a:ext cx="3552"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Khi biểu thị giá trị điện trở dưới 10Ω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sử dụng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a:t>
              </a:r>
            </a:p>
            <a:p>
              <a:pPr eaLnBrk="1" hangingPunct="1"/>
              <a:r>
                <a:rPr lang="en-US" altLang="ko-KR">
                  <a:latin typeface="Times New Roman" pitchFamily="18" charset="0"/>
                  <a:cs typeface="Times New Roman" pitchFamily="18" charset="0"/>
                </a:rPr>
                <a:t>   ex) 7R5 = 7.5Ω</a:t>
              </a:r>
            </a:p>
            <a:p>
              <a:pPr eaLnBrk="1" hangingPunct="1"/>
              <a:r>
                <a:rPr lang="en-US" altLang="ko-KR">
                  <a:latin typeface="Times New Roman" pitchFamily="18" charset="0"/>
                  <a:cs typeface="Times New Roman" pitchFamily="18" charset="0"/>
                </a:rPr>
                <a:t>- 0603, 1005 type: No marking.</a:t>
              </a:r>
            </a:p>
          </p:txBody>
        </p:sp>
        <p:sp>
          <p:nvSpPr>
            <p:cNvPr id="108563" name="Rectangle 42"/>
            <p:cNvSpPr>
              <a:spLocks noChangeArrowheads="1"/>
            </p:cNvSpPr>
            <p:nvPr/>
          </p:nvSpPr>
          <p:spPr bwMode="auto">
            <a:xfrm>
              <a:off x="816" y="3024"/>
              <a:ext cx="480" cy="5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Khác</a:t>
              </a:r>
              <a:endParaRPr lang="ko-KR" altLang="en-US">
                <a:latin typeface="Times New Roman" pitchFamily="18" charset="0"/>
                <a:cs typeface="Times New Roman" pitchFamily="18" charset="0"/>
              </a:endParaRPr>
            </a:p>
          </p:txBody>
        </p:sp>
      </p:gr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DA80184-2084-463F-81EA-50CE421733EB}" type="slidenum">
              <a:rPr lang="en-US" altLang="ko-KR" sz="1400" smtClean="0">
                <a:latin typeface="Times New Roman" pitchFamily="18" charset="0"/>
                <a:cs typeface="Times New Roman" pitchFamily="18" charset="0"/>
              </a:rPr>
              <a:pPr eaLnBrk="1" hangingPunct="1"/>
              <a:t>102</a:t>
            </a:fld>
            <a:endParaRPr lang="en-US" altLang="ko-KR" sz="1400" smtClean="0">
              <a:latin typeface="Times New Roman" pitchFamily="18" charset="0"/>
              <a:cs typeface="Times New Roman" pitchFamily="18" charset="0"/>
            </a:endParaRPr>
          </a:p>
        </p:txBody>
      </p:sp>
      <p:sp>
        <p:nvSpPr>
          <p:cNvPr id="109571" name="Text Box 2"/>
          <p:cNvSpPr txBox="1">
            <a:spLocks noChangeArrowheads="1"/>
          </p:cNvSpPr>
          <p:nvPr/>
        </p:nvSpPr>
        <p:spPr bwMode="auto">
          <a:xfrm>
            <a:off x="684213" y="892175"/>
            <a:ext cx="2457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4-2. Tụ chíp (Chip Capacitor)</a:t>
            </a:r>
          </a:p>
        </p:txBody>
      </p:sp>
      <p:sp>
        <p:nvSpPr>
          <p:cNvPr id="109572" name="Text Box 4"/>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09573" name="Text Box 5"/>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sp>
        <p:nvSpPr>
          <p:cNvPr id="110598"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ko-KR" b="1" dirty="0" smtClean="0">
                <a:latin typeface="Times New Roman" pitchFamily="18" charset="0"/>
                <a:cs typeface="Times New Roman" pitchFamily="18" charset="0"/>
              </a:rPr>
              <a:t>(1) </a:t>
            </a:r>
            <a:r>
              <a:rPr lang="en-US" altLang="ko-KR" b="1" dirty="0" err="1" smtClean="0">
                <a:latin typeface="Times New Roman" pitchFamily="18" charset="0"/>
                <a:cs typeface="Times New Roman" pitchFamily="18" charset="0"/>
              </a:rPr>
              <a:t>Tụ</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chíp</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sứ</a:t>
            </a:r>
            <a:r>
              <a:rPr lang="en-US" altLang="ko-KR" b="1" dirty="0" smtClean="0">
                <a:latin typeface="Times New Roman" pitchFamily="18" charset="0"/>
                <a:cs typeface="Times New Roman" pitchFamily="18" charset="0"/>
              </a:rPr>
              <a:t> (</a:t>
            </a:r>
            <a:r>
              <a:rPr lang="en-US" altLang="ko-KR" b="1" dirty="0" err="1" smtClean="0">
                <a:latin typeface="Times New Roman" pitchFamily="18" charset="0"/>
                <a:cs typeface="Times New Roman" pitchFamily="18" charset="0"/>
              </a:rPr>
              <a:t>gốm</a:t>
            </a:r>
            <a:r>
              <a:rPr lang="en-US" altLang="ko-KR" b="1" dirty="0" smtClean="0">
                <a:latin typeface="Times New Roman" pitchFamily="18" charset="0"/>
                <a:cs typeface="Times New Roman" pitchFamily="18" charset="0"/>
              </a:rPr>
              <a:t>)</a:t>
            </a:r>
            <a:endParaRPr lang="ko-KR" altLang="en-US" b="1" dirty="0" smtClean="0">
              <a:latin typeface="Times New Roman" pitchFamily="18" charset="0"/>
              <a:cs typeface="Times New Roman" pitchFamily="18" charset="0"/>
            </a:endParaRPr>
          </a:p>
          <a:p>
            <a:pPr eaLnBrk="1" hangingPunct="1">
              <a:defRPr/>
            </a:pPr>
            <a:endParaRPr lang="ko-KR" altLang="en-US" b="1" dirty="0" smtClean="0">
              <a:latin typeface="Times New Roman" pitchFamily="18" charset="0"/>
              <a:cs typeface="Times New Roman" pitchFamily="18" charset="0"/>
            </a:endParaRPr>
          </a:p>
          <a:p>
            <a:pPr marL="228600" indent="-228600" eaLnBrk="1" hangingPunct="1">
              <a:buFontTx/>
              <a:buAutoNum type="alphaLcPeriod"/>
              <a:defRPr/>
            </a:pPr>
            <a:r>
              <a:rPr lang="en-US" altLang="ko-KR" dirty="0" err="1" smtClean="0">
                <a:latin typeface="Times New Roman" pitchFamily="18" charset="0"/>
                <a:cs typeface="Times New Roman" pitchFamily="18" charset="0"/>
              </a:rPr>
              <a:t>Bề</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ngoài</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sứ</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hình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dáng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giống</a:t>
            </a:r>
            <a:r>
              <a:rPr lang="en-US" altLang="ko-KR" dirty="0" smtClean="0">
                <a:latin typeface="Times New Roman" pitchFamily="18" charset="0"/>
                <a:cs typeface="Times New Roman" pitchFamily="18" charset="0"/>
              </a:rPr>
              <a:t> </a:t>
            </a:r>
            <a:r>
              <a:rPr lang="en-US" altLang="ko-KR" dirty="0" err="1">
                <a:latin typeface="Times New Roman" pitchFamily="18" charset="0"/>
                <a:cs typeface="Times New Roman" pitchFamily="18" charset="0"/>
              </a:rPr>
              <a:t>v</a:t>
            </a:r>
            <a:r>
              <a:rPr lang="en-US" altLang="ko-KR" dirty="0" err="1" smtClean="0">
                <a:latin typeface="Times New Roman" pitchFamily="18" charset="0"/>
                <a:cs typeface="Times New Roman" pitchFamily="18" charset="0"/>
              </a:rPr>
              <a:t>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trở</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nhưng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dung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được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biểu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a:t>
            </a:r>
          </a:p>
          <a:p>
            <a:pPr eaLnBrk="1" hangingPunct="1">
              <a:defRPr/>
            </a:pP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b. </a:t>
            </a:r>
            <a:r>
              <a:rPr lang="en-US" altLang="ko-KR" dirty="0" err="1" smtClean="0">
                <a:latin typeface="Times New Roman" pitchFamily="18" charset="0"/>
                <a:cs typeface="Times New Roman" pitchFamily="18" charset="0"/>
              </a:rPr>
              <a:t>Công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suất</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sứ</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phạm</a:t>
            </a:r>
            <a:r>
              <a:rPr lang="en-US" altLang="ko-KR" dirty="0" smtClean="0">
                <a:latin typeface="Times New Roman" pitchFamily="18" charset="0"/>
                <a:cs typeface="Times New Roman" pitchFamily="18" charset="0"/>
              </a:rPr>
              <a:t> vi </a:t>
            </a: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rộng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giống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suất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loại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hình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đĩa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thường</a:t>
            </a:r>
            <a:r>
              <a:rPr lang="en-US" altLang="ko-KR" dirty="0" smtClean="0">
                <a:latin typeface="Times New Roman" pitchFamily="18" charset="0"/>
                <a:cs typeface="Times New Roman" pitchFamily="18" charset="0"/>
              </a:rPr>
              <a:t>.</a:t>
            </a: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Tuy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nhiên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nhìn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ngoài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suất</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được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biểu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mà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phân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theo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màu</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thân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sứ</a:t>
            </a:r>
            <a:r>
              <a:rPr lang="en-US" altLang="ko-KR" dirty="0" smtClean="0">
                <a:latin typeface="Times New Roman" pitchFamily="18" charset="0"/>
                <a:cs typeface="Times New Roman" pitchFamily="18" charset="0"/>
              </a:rPr>
              <a:t>. Theo </a:t>
            </a:r>
            <a:r>
              <a:rPr lang="en-US" altLang="ko-KR" dirty="0" err="1" smtClean="0">
                <a:latin typeface="Times New Roman" pitchFamily="18" charset="0"/>
                <a:cs typeface="Times New Roman" pitchFamily="18" charset="0"/>
              </a:rPr>
              <a:t>đó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hai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loại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sứ</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trở</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trộn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lẫn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nhau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thì</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việc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phân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biệt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lựa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chọn</a:t>
            </a: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rất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tùy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trường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hợp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trường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hợp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phải</a:t>
            </a:r>
            <a:r>
              <a:rPr lang="en-US" altLang="ko-KR" dirty="0" smtClean="0">
                <a:latin typeface="Times New Roman" pitchFamily="18" charset="0"/>
                <a:cs typeface="Times New Roman" pitchFamily="18" charset="0"/>
              </a:rPr>
              <a:t> </a:t>
            </a:r>
          </a:p>
          <a:p>
            <a:pPr eaLnBrk="1" hangingPunct="1">
              <a:defRPr/>
            </a:pP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từ</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bỏ</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hẳn</a:t>
            </a:r>
            <a:r>
              <a:rPr lang="en-US" altLang="ko-KR" dirty="0" smtClean="0">
                <a:latin typeface="Times New Roman" pitchFamily="18" charset="0"/>
                <a:cs typeface="Times New Roman" pitchFamily="18" charset="0"/>
              </a:rPr>
              <a:t> ý </a:t>
            </a:r>
            <a:r>
              <a:rPr lang="en-US" altLang="ko-KR" dirty="0" err="1" smtClean="0">
                <a:latin typeface="Times New Roman" pitchFamily="18" charset="0"/>
                <a:cs typeface="Times New Roman" pitchFamily="18" charset="0"/>
              </a:rPr>
              <a:t>định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sử</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dụng</a:t>
            </a:r>
            <a:r>
              <a:rPr lang="en-US" altLang="ko-KR" dirty="0" smtClean="0">
                <a:latin typeface="Times New Roman" pitchFamily="18" charset="0"/>
                <a:cs typeface="Times New Roman" pitchFamily="18" charset="0"/>
              </a:rPr>
              <a:t>.</a:t>
            </a:r>
          </a:p>
          <a:p>
            <a:pPr eaLnBrk="1" hangingPunct="1">
              <a:defRPr/>
            </a:pPr>
            <a:endParaRPr lang="en-US" altLang="ko-KR" dirty="0" smtClean="0">
              <a:latin typeface="Times New Roman" pitchFamily="18" charset="0"/>
              <a:cs typeface="Times New Roman" pitchFamily="18" charset="0"/>
            </a:endParaRPr>
          </a:p>
          <a:p>
            <a:pPr eaLnBrk="1" hangingPunct="1">
              <a:defRPr/>
            </a:pPr>
            <a:r>
              <a:rPr lang="en-US" altLang="ko-KR" dirty="0" smtClean="0">
                <a:latin typeface="Times New Roman" pitchFamily="18" charset="0"/>
                <a:cs typeface="Times New Roman" pitchFamily="18" charset="0"/>
              </a:rPr>
              <a:t>c. </a:t>
            </a:r>
            <a:r>
              <a:rPr lang="en-US" altLang="ko-KR" dirty="0" err="1" smtClean="0">
                <a:latin typeface="Times New Roman" pitchFamily="18" charset="0"/>
                <a:cs typeface="Times New Roman" pitchFamily="18" charset="0"/>
              </a:rPr>
              <a:t>Chú</a:t>
            </a:r>
            <a:r>
              <a:rPr lang="en-US" altLang="ko-KR" dirty="0" smtClean="0">
                <a:latin typeface="Times New Roman" pitchFamily="18" charset="0"/>
                <a:cs typeface="Times New Roman" pitchFamily="18" charset="0"/>
              </a:rPr>
              <a:t> ý</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Khác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trở</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đặc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điểm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dễ</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gãy</a:t>
            </a:r>
            <a:r>
              <a:rPr lang="en-US" altLang="ko-KR" dirty="0" smtClean="0">
                <a:latin typeface="Times New Roman" pitchFamily="18" charset="0"/>
                <a:cs typeface="Times New Roman" pitchFamily="18" charset="0"/>
              </a:rPr>
              <a:t> ở </a:t>
            </a:r>
            <a:r>
              <a:rPr lang="en-US" altLang="ko-KR" dirty="0" err="1" smtClean="0">
                <a:latin typeface="Times New Roman" pitchFamily="18" charset="0"/>
                <a:cs typeface="Times New Roman" pitchFamily="18" charset="0"/>
              </a:rPr>
              <a:t>phần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xoắn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yếu</a:t>
            </a:r>
            <a:r>
              <a:rPr lang="en-US" altLang="ko-KR" dirty="0" smtClean="0">
                <a:latin typeface="Times New Roman" pitchFamily="18" charset="0"/>
                <a:cs typeface="Times New Roman" pitchFamily="18" charset="0"/>
              </a:rPr>
              <a:t>. Theo </a:t>
            </a:r>
            <a:r>
              <a:rPr lang="en-US" altLang="ko-KR" dirty="0" err="1" smtClean="0">
                <a:latin typeface="Times New Roman" pitchFamily="18" charset="0"/>
                <a:cs typeface="Times New Roman" pitchFamily="18" charset="0"/>
              </a:rPr>
              <a:t>đó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biến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dạng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en-US" altLang="ko-KR" dirty="0" smtClean="0">
                <a:latin typeface="Times New Roman" pitchFamily="18" charset="0"/>
                <a:cs typeface="Times New Roman" pitchFamily="18" charset="0"/>
              </a:rPr>
              <a:t> PCB </a:t>
            </a:r>
            <a:r>
              <a:rPr lang="en-US" altLang="ko-KR" dirty="0" err="1" smtClean="0">
                <a:latin typeface="Times New Roman" pitchFamily="18" charset="0"/>
                <a:cs typeface="Times New Roman" pitchFamily="18" charset="0"/>
              </a:rPr>
              <a:t>thì</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thanh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sứ</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tụ</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chíp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sẽ</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nứt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hoặc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gãy</a:t>
            </a:r>
            <a:r>
              <a:rPr lang="en-US" altLang="ko-KR" dirty="0" smtClean="0">
                <a:latin typeface="Times New Roman" pitchFamily="18" charset="0"/>
                <a:cs typeface="Times New Roman" pitchFamily="18" charset="0"/>
              </a:rPr>
              <a:t> do </a:t>
            </a:r>
            <a:r>
              <a:rPr lang="en-US" altLang="ko-KR" dirty="0" err="1" smtClean="0">
                <a:latin typeface="Times New Roman" pitchFamily="18" charset="0"/>
                <a:cs typeface="Times New Roman" pitchFamily="18" charset="0"/>
              </a:rPr>
              <a:t>đó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sẽ</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gây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lỗi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mạch</a:t>
            </a:r>
            <a:r>
              <a:rPr lang="en-US" altLang="ko-KR" dirty="0" smtClean="0">
                <a:latin typeface="Times New Roman" pitchFamily="18" charset="0"/>
                <a:cs typeface="Times New Roman" pitchFamily="18" charset="0"/>
              </a:rPr>
              <a:t>.</a:t>
            </a:r>
          </a:p>
          <a:p>
            <a:pPr eaLnBrk="1" hangingPunct="1">
              <a:defRPr/>
            </a:pPr>
            <a:endParaRPr lang="en-US" altLang="ko-KR" dirty="0" smtClean="0">
              <a:latin typeface="Times New Roman" pitchFamily="18" charset="0"/>
              <a:cs typeface="Times New Roman" pitchFamily="18" charset="0"/>
            </a:endParaRPr>
          </a:p>
        </p:txBody>
      </p:sp>
      <p:sp>
        <p:nvSpPr>
          <p:cNvPr id="109575" name="Text Box 14"/>
          <p:cNvSpPr txBox="1">
            <a:spLocks noChangeArrowheads="1"/>
          </p:cNvSpPr>
          <p:nvPr/>
        </p:nvSpPr>
        <p:spPr bwMode="auto">
          <a:xfrm>
            <a:off x="5400675" y="3976688"/>
            <a:ext cx="1598613"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Bề ngoài của tụ chíp sứ</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grpSp>
        <p:nvGrpSpPr>
          <p:cNvPr id="109576" name="Group 15"/>
          <p:cNvGrpSpPr>
            <a:grpSpLocks/>
          </p:cNvGrpSpPr>
          <p:nvPr/>
        </p:nvGrpSpPr>
        <p:grpSpPr bwMode="auto">
          <a:xfrm>
            <a:off x="5110163" y="2071688"/>
            <a:ext cx="2112962" cy="1676400"/>
            <a:chOff x="3222" y="1344"/>
            <a:chExt cx="1229" cy="1056"/>
          </a:xfrm>
        </p:grpSpPr>
        <p:grpSp>
          <p:nvGrpSpPr>
            <p:cNvPr id="109577" name="Group 16"/>
            <p:cNvGrpSpPr>
              <a:grpSpLocks/>
            </p:cNvGrpSpPr>
            <p:nvPr/>
          </p:nvGrpSpPr>
          <p:grpSpPr bwMode="auto">
            <a:xfrm>
              <a:off x="3377" y="1344"/>
              <a:ext cx="912" cy="432"/>
              <a:chOff x="3504" y="1440"/>
              <a:chExt cx="912" cy="432"/>
            </a:xfrm>
          </p:grpSpPr>
          <p:sp>
            <p:nvSpPr>
              <p:cNvPr id="109591" name="Rectangle 17"/>
              <p:cNvSpPr>
                <a:spLocks noChangeArrowheads="1"/>
              </p:cNvSpPr>
              <p:nvPr/>
            </p:nvSpPr>
            <p:spPr bwMode="auto">
              <a:xfrm>
                <a:off x="3504" y="1440"/>
                <a:ext cx="91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109592" name="Rectangle 18" descr="밝은 상향 대각선"/>
              <p:cNvSpPr>
                <a:spLocks noChangeArrowheads="1"/>
              </p:cNvSpPr>
              <p:nvPr/>
            </p:nvSpPr>
            <p:spPr bwMode="auto">
              <a:xfrm>
                <a:off x="3504" y="1440"/>
                <a:ext cx="96" cy="43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9593" name="Rectangle 19" descr="밝은 상향 대각선"/>
              <p:cNvSpPr>
                <a:spLocks noChangeArrowheads="1"/>
              </p:cNvSpPr>
              <p:nvPr/>
            </p:nvSpPr>
            <p:spPr bwMode="auto">
              <a:xfrm>
                <a:off x="4320" y="1440"/>
                <a:ext cx="96" cy="43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09578" name="Group 20"/>
            <p:cNvGrpSpPr>
              <a:grpSpLocks/>
            </p:cNvGrpSpPr>
            <p:nvPr/>
          </p:nvGrpSpPr>
          <p:grpSpPr bwMode="auto">
            <a:xfrm>
              <a:off x="3377" y="2256"/>
              <a:ext cx="912" cy="144"/>
              <a:chOff x="3504" y="2496"/>
              <a:chExt cx="912" cy="144"/>
            </a:xfrm>
          </p:grpSpPr>
          <p:sp>
            <p:nvSpPr>
              <p:cNvPr id="109588" name="Rectangle 21"/>
              <p:cNvSpPr>
                <a:spLocks noChangeArrowheads="1"/>
              </p:cNvSpPr>
              <p:nvPr/>
            </p:nvSpPr>
            <p:spPr bwMode="auto">
              <a:xfrm>
                <a:off x="3504" y="2496"/>
                <a:ext cx="91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109589" name="Rectangle 22" descr="밝은 상향 대각선"/>
              <p:cNvSpPr>
                <a:spLocks noChangeArrowheads="1"/>
              </p:cNvSpPr>
              <p:nvPr/>
            </p:nvSpPr>
            <p:spPr bwMode="auto">
              <a:xfrm>
                <a:off x="3504" y="2496"/>
                <a:ext cx="96" cy="144"/>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09590" name="Rectangle 23" descr="밝은 상향 대각선"/>
              <p:cNvSpPr>
                <a:spLocks noChangeArrowheads="1"/>
              </p:cNvSpPr>
              <p:nvPr/>
            </p:nvSpPr>
            <p:spPr bwMode="auto">
              <a:xfrm>
                <a:off x="4320" y="2496"/>
                <a:ext cx="96" cy="144"/>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09579" name="Text Box 24"/>
            <p:cNvSpPr txBox="1">
              <a:spLocks noChangeArrowheads="1"/>
            </p:cNvSpPr>
            <p:nvPr/>
          </p:nvSpPr>
          <p:spPr bwMode="auto">
            <a:xfrm>
              <a:off x="3222" y="1920"/>
              <a:ext cx="3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Phần hàn</a:t>
              </a:r>
              <a:endParaRPr lang="ko-KR" altLang="en-US" sz="1000">
                <a:latin typeface="Times New Roman" pitchFamily="18" charset="0"/>
                <a:cs typeface="Times New Roman" pitchFamily="18" charset="0"/>
              </a:endParaRPr>
            </a:p>
          </p:txBody>
        </p:sp>
        <p:sp>
          <p:nvSpPr>
            <p:cNvPr id="109580" name="Text Box 25"/>
            <p:cNvSpPr txBox="1">
              <a:spLocks noChangeArrowheads="1"/>
            </p:cNvSpPr>
            <p:nvPr/>
          </p:nvSpPr>
          <p:spPr bwMode="auto">
            <a:xfrm>
              <a:off x="3643" y="1920"/>
              <a:ext cx="386"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Thanh sứ</a:t>
              </a:r>
              <a:endParaRPr lang="ko-KR" altLang="en-US" sz="1000">
                <a:latin typeface="Times New Roman" pitchFamily="18" charset="0"/>
                <a:cs typeface="Times New Roman" pitchFamily="18" charset="0"/>
              </a:endParaRPr>
            </a:p>
          </p:txBody>
        </p:sp>
        <p:sp>
          <p:nvSpPr>
            <p:cNvPr id="109581" name="Text Box 26"/>
            <p:cNvSpPr txBox="1">
              <a:spLocks noChangeArrowheads="1"/>
            </p:cNvSpPr>
            <p:nvPr/>
          </p:nvSpPr>
          <p:spPr bwMode="auto">
            <a:xfrm>
              <a:off x="4068" y="1920"/>
              <a:ext cx="3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Phần hàn</a:t>
              </a:r>
              <a:endParaRPr lang="ko-KR" altLang="en-US" sz="1000">
                <a:latin typeface="Times New Roman" pitchFamily="18" charset="0"/>
                <a:cs typeface="Times New Roman" pitchFamily="18" charset="0"/>
              </a:endParaRPr>
            </a:p>
          </p:txBody>
        </p:sp>
        <p:sp>
          <p:nvSpPr>
            <p:cNvPr id="109582" name="Line 27"/>
            <p:cNvSpPr>
              <a:spLocks noChangeShapeType="1"/>
            </p:cNvSpPr>
            <p:nvPr/>
          </p:nvSpPr>
          <p:spPr bwMode="auto">
            <a:xfrm flipV="1">
              <a:off x="3840" y="177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9583" name="Line 28"/>
            <p:cNvSpPr>
              <a:spLocks noChangeShapeType="1"/>
            </p:cNvSpPr>
            <p:nvPr/>
          </p:nvSpPr>
          <p:spPr bwMode="auto">
            <a:xfrm>
              <a:off x="3840" y="2064"/>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9584" name="Line 29"/>
            <p:cNvSpPr>
              <a:spLocks noChangeShapeType="1"/>
            </p:cNvSpPr>
            <p:nvPr/>
          </p:nvSpPr>
          <p:spPr bwMode="auto">
            <a:xfrm flipV="1">
              <a:off x="4224" y="177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9585" name="Line 30"/>
            <p:cNvSpPr>
              <a:spLocks noChangeShapeType="1"/>
            </p:cNvSpPr>
            <p:nvPr/>
          </p:nvSpPr>
          <p:spPr bwMode="auto">
            <a:xfrm>
              <a:off x="4224" y="2064"/>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9586" name="Line 31"/>
            <p:cNvSpPr>
              <a:spLocks noChangeShapeType="1"/>
            </p:cNvSpPr>
            <p:nvPr/>
          </p:nvSpPr>
          <p:spPr bwMode="auto">
            <a:xfrm flipV="1">
              <a:off x="3408" y="177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9587" name="Line 32"/>
            <p:cNvSpPr>
              <a:spLocks noChangeShapeType="1"/>
            </p:cNvSpPr>
            <p:nvPr/>
          </p:nvSpPr>
          <p:spPr bwMode="auto">
            <a:xfrm>
              <a:off x="3408" y="2064"/>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33719C3-7A15-436A-898A-A971C6198798}" type="slidenum">
              <a:rPr lang="en-US" altLang="ko-KR" sz="1400" smtClean="0">
                <a:latin typeface="Times New Roman" pitchFamily="18" charset="0"/>
                <a:cs typeface="Times New Roman" pitchFamily="18" charset="0"/>
              </a:rPr>
              <a:pPr eaLnBrk="1" hangingPunct="1"/>
              <a:t>103</a:t>
            </a:fld>
            <a:endParaRPr lang="en-US" altLang="ko-KR" sz="1400" smtClean="0">
              <a:latin typeface="Times New Roman" pitchFamily="18" charset="0"/>
              <a:cs typeface="Times New Roman" pitchFamily="18" charset="0"/>
            </a:endParaRPr>
          </a:p>
        </p:txBody>
      </p:sp>
      <p:sp>
        <p:nvSpPr>
          <p:cNvPr id="110595" name="Text Box 2"/>
          <p:cNvSpPr txBox="1">
            <a:spLocks noChangeArrowheads="1"/>
          </p:cNvSpPr>
          <p:nvPr/>
        </p:nvSpPr>
        <p:spPr bwMode="auto">
          <a:xfrm>
            <a:off x="22225" y="38100"/>
            <a:ext cx="32337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1059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Tụ chíp tantan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a. Đặc tính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Tụ tan tan là loại được làm dưới hình dạng con chíp, nó giống với tụ hóa có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không dễ bị biến                       	đổi hình dạng. </a:t>
            </a:r>
          </a:p>
          <a:p>
            <a:pPr eaLnBrk="1" hangingPunct="1"/>
            <a:r>
              <a:rPr lang="en-US" altLang="ko-KR">
                <a:latin typeface="Times New Roman" pitchFamily="18" charset="0"/>
                <a:cs typeface="Times New Roman" pitchFamily="18" charset="0"/>
              </a:rPr>
              <a:t>b. Bề ngoài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Chủ yếu là màu đen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được biểu thị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                     Loại này kiểu dáng của phụ tùng là dưới dạng cọn chíp</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nhưng kích cỡ sẽ thay đổi theo công 	suất(dung lượng). Tức công suất càng lớn thì kích cỡ của tụ chíp tantan càng lớn.</a:t>
            </a:r>
          </a:p>
          <a:p>
            <a:pPr eaLnBrk="1" hangingPunct="1"/>
            <a:r>
              <a:rPr lang="en-US" altLang="ko-KR">
                <a:latin typeface="Times New Roman" pitchFamily="18" charset="0"/>
                <a:cs typeface="Times New Roman" pitchFamily="18" charset="0"/>
              </a:rPr>
              <a:t>c. Công suất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Giống với công suất của tụ hóa và tụ tantan, cách biểu thị cũng giống nhưng trong đó cũng làm tụ có 	công cuất thấp.</a:t>
            </a:r>
          </a:p>
        </p:txBody>
      </p:sp>
      <p:sp>
        <p:nvSpPr>
          <p:cNvPr id="110597" name="Text Box 4"/>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pic>
        <p:nvPicPr>
          <p:cNvPr id="110598" name="Picture 6" descr="tan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038" y="3429000"/>
            <a:ext cx="3698875"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9" name="Text Box 8"/>
          <p:cNvSpPr txBox="1">
            <a:spLocks noChangeArrowheads="1"/>
          </p:cNvSpPr>
          <p:nvPr/>
        </p:nvSpPr>
        <p:spPr bwMode="auto">
          <a:xfrm>
            <a:off x="5441950" y="5646738"/>
            <a:ext cx="207327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Cấu tạo của tụ chip tantan[NEC] &gt;</a:t>
            </a:r>
          </a:p>
        </p:txBody>
      </p:sp>
      <p:grpSp>
        <p:nvGrpSpPr>
          <p:cNvPr id="110600" name="Group 9"/>
          <p:cNvGrpSpPr>
            <a:grpSpLocks/>
          </p:cNvGrpSpPr>
          <p:nvPr/>
        </p:nvGrpSpPr>
        <p:grpSpPr bwMode="auto">
          <a:xfrm>
            <a:off x="955675" y="3284538"/>
            <a:ext cx="3317875" cy="1981200"/>
            <a:chOff x="3188" y="576"/>
            <a:chExt cx="1929" cy="1248"/>
          </a:xfrm>
        </p:grpSpPr>
        <p:sp>
          <p:nvSpPr>
            <p:cNvPr id="110602" name="Rectangle 10"/>
            <p:cNvSpPr>
              <a:spLocks noChangeArrowheads="1"/>
            </p:cNvSpPr>
            <p:nvPr/>
          </p:nvSpPr>
          <p:spPr bwMode="auto">
            <a:xfrm>
              <a:off x="3744" y="816"/>
              <a:ext cx="912"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110603" name="Rectangle 11" descr="밝은 상향 대각선"/>
            <p:cNvSpPr>
              <a:spLocks noChangeArrowheads="1"/>
            </p:cNvSpPr>
            <p:nvPr/>
          </p:nvSpPr>
          <p:spPr bwMode="auto">
            <a:xfrm>
              <a:off x="3936" y="816"/>
              <a:ext cx="48" cy="336"/>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04" name="Text Box 12"/>
            <p:cNvSpPr txBox="1">
              <a:spLocks noChangeArrowheads="1"/>
            </p:cNvSpPr>
            <p:nvPr/>
          </p:nvSpPr>
          <p:spPr bwMode="auto">
            <a:xfrm>
              <a:off x="3188" y="1296"/>
              <a:ext cx="392"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Chân hàn</a:t>
              </a:r>
              <a:endParaRPr lang="ko-KR" altLang="en-US" sz="1000">
                <a:latin typeface="Times New Roman" pitchFamily="18" charset="0"/>
                <a:cs typeface="Times New Roman" pitchFamily="18" charset="0"/>
              </a:endParaRPr>
            </a:p>
          </p:txBody>
        </p:sp>
        <p:sp>
          <p:nvSpPr>
            <p:cNvPr id="110605" name="Text Box 13"/>
            <p:cNvSpPr txBox="1">
              <a:spLocks noChangeArrowheads="1"/>
            </p:cNvSpPr>
            <p:nvPr/>
          </p:nvSpPr>
          <p:spPr bwMode="auto">
            <a:xfrm>
              <a:off x="4085" y="1248"/>
              <a:ext cx="565"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Biểu thị cưc (-)</a:t>
              </a:r>
              <a:endParaRPr lang="ko-KR" altLang="en-US" sz="1000">
                <a:latin typeface="Times New Roman" pitchFamily="18" charset="0"/>
                <a:cs typeface="Times New Roman" pitchFamily="18" charset="0"/>
              </a:endParaRPr>
            </a:p>
          </p:txBody>
        </p:sp>
        <p:sp>
          <p:nvSpPr>
            <p:cNvPr id="110606" name="Text Box 14"/>
            <p:cNvSpPr txBox="1">
              <a:spLocks noChangeArrowheads="1"/>
            </p:cNvSpPr>
            <p:nvPr/>
          </p:nvSpPr>
          <p:spPr bwMode="auto">
            <a:xfrm>
              <a:off x="4261" y="576"/>
              <a:ext cx="648"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Biểu thị công suất</a:t>
              </a:r>
              <a:endParaRPr lang="ko-KR" altLang="en-US" sz="1000">
                <a:latin typeface="Times New Roman" pitchFamily="18" charset="0"/>
                <a:cs typeface="Times New Roman" pitchFamily="18" charset="0"/>
              </a:endParaRPr>
            </a:p>
          </p:txBody>
        </p:sp>
        <p:sp>
          <p:nvSpPr>
            <p:cNvPr id="110607" name="Line 15"/>
            <p:cNvSpPr>
              <a:spLocks noChangeShapeType="1"/>
            </p:cNvSpPr>
            <p:nvPr/>
          </p:nvSpPr>
          <p:spPr bwMode="auto">
            <a:xfrm flipH="1">
              <a:off x="4800" y="1488"/>
              <a:ext cx="14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08" name="Line 16"/>
            <p:cNvSpPr>
              <a:spLocks noChangeShapeType="1"/>
            </p:cNvSpPr>
            <p:nvPr/>
          </p:nvSpPr>
          <p:spPr bwMode="auto">
            <a:xfrm>
              <a:off x="3456" y="1488"/>
              <a:ext cx="19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09" name="Rectangle 17" descr="밝은 상향 대각선"/>
            <p:cNvSpPr>
              <a:spLocks noChangeArrowheads="1"/>
            </p:cNvSpPr>
            <p:nvPr/>
          </p:nvSpPr>
          <p:spPr bwMode="auto">
            <a:xfrm>
              <a:off x="3696" y="864"/>
              <a:ext cx="48" cy="240"/>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10" name="Rectangle 18" descr="밝은 상향 대각선"/>
            <p:cNvSpPr>
              <a:spLocks noChangeArrowheads="1"/>
            </p:cNvSpPr>
            <p:nvPr/>
          </p:nvSpPr>
          <p:spPr bwMode="auto">
            <a:xfrm>
              <a:off x="4656" y="864"/>
              <a:ext cx="48" cy="240"/>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11" name="Rectangle 19" descr="밝은 상향 대각선"/>
            <p:cNvSpPr>
              <a:spLocks noChangeArrowheads="1"/>
            </p:cNvSpPr>
            <p:nvPr/>
          </p:nvSpPr>
          <p:spPr bwMode="auto">
            <a:xfrm>
              <a:off x="3696" y="1632"/>
              <a:ext cx="144" cy="19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12" name="Rectangle 20" descr="밝은 상향 대각선"/>
            <p:cNvSpPr>
              <a:spLocks noChangeArrowheads="1"/>
            </p:cNvSpPr>
            <p:nvPr/>
          </p:nvSpPr>
          <p:spPr bwMode="auto">
            <a:xfrm>
              <a:off x="4560" y="1632"/>
              <a:ext cx="144" cy="192"/>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13" name="Rectangle 21"/>
            <p:cNvSpPr>
              <a:spLocks noChangeArrowheads="1"/>
            </p:cNvSpPr>
            <p:nvPr/>
          </p:nvSpPr>
          <p:spPr bwMode="auto">
            <a:xfrm>
              <a:off x="3744" y="1536"/>
              <a:ext cx="912"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ko-KR" altLang="ko-KR" sz="1400">
                <a:latin typeface="Times New Roman" pitchFamily="18" charset="0"/>
                <a:cs typeface="Times New Roman" pitchFamily="18" charset="0"/>
              </a:endParaRPr>
            </a:p>
          </p:txBody>
        </p:sp>
        <p:sp>
          <p:nvSpPr>
            <p:cNvPr id="110614" name="Rectangle 22" descr="밝은 상향 대각선"/>
            <p:cNvSpPr>
              <a:spLocks noChangeArrowheads="1"/>
            </p:cNvSpPr>
            <p:nvPr/>
          </p:nvSpPr>
          <p:spPr bwMode="auto">
            <a:xfrm>
              <a:off x="3936" y="1536"/>
              <a:ext cx="48" cy="240"/>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0615" name="Line 23"/>
            <p:cNvSpPr>
              <a:spLocks noChangeShapeType="1"/>
            </p:cNvSpPr>
            <p:nvPr/>
          </p:nvSpPr>
          <p:spPr bwMode="auto">
            <a:xfrm flipH="1" flipV="1">
              <a:off x="3984" y="1152"/>
              <a:ext cx="4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16" name="Line 24"/>
            <p:cNvSpPr>
              <a:spLocks noChangeShapeType="1"/>
            </p:cNvSpPr>
            <p:nvPr/>
          </p:nvSpPr>
          <p:spPr bwMode="auto">
            <a:xfrm flipH="1">
              <a:off x="3984" y="1392"/>
              <a:ext cx="4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17" name="Line 25"/>
            <p:cNvSpPr>
              <a:spLocks noChangeShapeType="1"/>
            </p:cNvSpPr>
            <p:nvPr/>
          </p:nvSpPr>
          <p:spPr bwMode="auto">
            <a:xfrm flipV="1">
              <a:off x="3456" y="1056"/>
              <a:ext cx="19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18" name="Text Box 26"/>
            <p:cNvSpPr txBox="1">
              <a:spLocks noChangeArrowheads="1"/>
            </p:cNvSpPr>
            <p:nvPr/>
          </p:nvSpPr>
          <p:spPr bwMode="auto">
            <a:xfrm>
              <a:off x="4725" y="1296"/>
              <a:ext cx="392"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Chân hàn</a:t>
              </a:r>
              <a:endParaRPr lang="ko-KR" altLang="en-US" sz="1000">
                <a:latin typeface="Times New Roman" pitchFamily="18" charset="0"/>
                <a:cs typeface="Times New Roman" pitchFamily="18" charset="0"/>
              </a:endParaRPr>
            </a:p>
          </p:txBody>
        </p:sp>
        <p:sp>
          <p:nvSpPr>
            <p:cNvPr id="110619" name="Line 27"/>
            <p:cNvSpPr>
              <a:spLocks noChangeShapeType="1"/>
            </p:cNvSpPr>
            <p:nvPr/>
          </p:nvSpPr>
          <p:spPr bwMode="auto">
            <a:xfrm flipH="1" flipV="1">
              <a:off x="4752" y="1104"/>
              <a:ext cx="192"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0620" name="Text Box 28"/>
            <p:cNvSpPr txBox="1">
              <a:spLocks noChangeArrowheads="1"/>
            </p:cNvSpPr>
            <p:nvPr/>
          </p:nvSpPr>
          <p:spPr bwMode="auto">
            <a:xfrm>
              <a:off x="4121" y="864"/>
              <a:ext cx="3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0.33[μF]</a:t>
              </a:r>
            </a:p>
            <a:p>
              <a:pPr algn="ctr" eaLnBrk="1" hangingPunct="1"/>
              <a:r>
                <a:rPr lang="en-US" altLang="ko-KR" sz="1000">
                  <a:latin typeface="Times New Roman" pitchFamily="18" charset="0"/>
                  <a:cs typeface="Times New Roman" pitchFamily="18" charset="0"/>
                </a:rPr>
                <a:t>10[V]</a:t>
              </a:r>
            </a:p>
          </p:txBody>
        </p:sp>
        <p:sp>
          <p:nvSpPr>
            <p:cNvPr id="110621" name="Line 29"/>
            <p:cNvSpPr>
              <a:spLocks noChangeShapeType="1"/>
            </p:cNvSpPr>
            <p:nvPr/>
          </p:nvSpPr>
          <p:spPr bwMode="auto">
            <a:xfrm flipH="1">
              <a:off x="4368" y="720"/>
              <a:ext cx="4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0601" name="Text Box 30"/>
          <p:cNvSpPr txBox="1">
            <a:spLocks noChangeArrowheads="1"/>
          </p:cNvSpPr>
          <p:nvPr/>
        </p:nvSpPr>
        <p:spPr bwMode="auto">
          <a:xfrm>
            <a:off x="1935163" y="5646738"/>
            <a:ext cx="1795462"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Bề ngoài của tụ chíp tantan</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FA116AB-5F49-445E-8500-F27F809F0E50}" type="slidenum">
              <a:rPr lang="en-US" altLang="ko-KR" sz="1400" smtClean="0">
                <a:latin typeface="Times New Roman" pitchFamily="18" charset="0"/>
                <a:cs typeface="Times New Roman" pitchFamily="18" charset="0"/>
              </a:rPr>
              <a:pPr eaLnBrk="1" hangingPunct="1"/>
              <a:t>104</a:t>
            </a:fld>
            <a:endParaRPr lang="en-US" altLang="ko-KR" sz="1400" smtClean="0">
              <a:latin typeface="Times New Roman" pitchFamily="18" charset="0"/>
              <a:cs typeface="Times New Roman" pitchFamily="18" charset="0"/>
            </a:endParaRPr>
          </a:p>
        </p:txBody>
      </p:sp>
      <p:sp>
        <p:nvSpPr>
          <p:cNvPr id="111619" name="Text Box 2"/>
          <p:cNvSpPr txBox="1">
            <a:spLocks noChangeArrowheads="1"/>
          </p:cNvSpPr>
          <p:nvPr/>
        </p:nvSpPr>
        <p:spPr bwMode="auto">
          <a:xfrm>
            <a:off x="684213" y="892175"/>
            <a:ext cx="28733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4-3. Cảm điện chíp (Chip Inductor)</a:t>
            </a:r>
          </a:p>
        </p:txBody>
      </p:sp>
      <p:sp>
        <p:nvSpPr>
          <p:cNvPr id="111620" name="Text Box 3"/>
          <p:cNvSpPr txBox="1">
            <a:spLocks noChangeArrowheads="1"/>
          </p:cNvSpPr>
          <p:nvPr/>
        </p:nvSpPr>
        <p:spPr bwMode="auto">
          <a:xfrm>
            <a:off x="22225" y="38100"/>
            <a:ext cx="31178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2. Linh kiện điện tử thụ động</a:t>
            </a:r>
            <a:endParaRPr lang="ko-KR" altLang="en-US" sz="1800" b="1">
              <a:latin typeface="Times New Roman" pitchFamily="18" charset="0"/>
              <a:cs typeface="Times New Roman" pitchFamily="18" charset="0"/>
            </a:endParaRPr>
          </a:p>
        </p:txBody>
      </p:sp>
      <p:sp>
        <p:nvSpPr>
          <p:cNvPr id="111621" name="Text Box 4"/>
          <p:cNvSpPr txBox="1">
            <a:spLocks noChangeArrowheads="1"/>
          </p:cNvSpPr>
          <p:nvPr/>
        </p:nvSpPr>
        <p:spPr bwMode="auto">
          <a:xfrm>
            <a:off x="7297738" y="68263"/>
            <a:ext cx="16668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4. Linh kiện chip</a:t>
            </a:r>
            <a:endParaRPr lang="ko-KR" altLang="en-US" sz="1600" b="1">
              <a:latin typeface="Times New Roman" pitchFamily="18" charset="0"/>
              <a:cs typeface="Times New Roman" pitchFamily="18" charset="0"/>
            </a:endParaRPr>
          </a:p>
        </p:txBody>
      </p:sp>
      <p:sp>
        <p:nvSpPr>
          <p:cNvPr id="111622" name="Rectangle 5"/>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Chuyên sử dụng để loại bỏ nhiễu sóng điện từ của các thiết bị kỹ thuật số và để thích nghi trở kháng(thích nghi liên hợp- Impedance Matching) cho thiết bị thông tin di động nhờ có phụ tùng loại dán bề mặt được làm bằng cách cán mỏng hoặc in chất từ, chất điện môi và điện cực bên trong.</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Mục đích sử dụng chính</a:t>
            </a: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Sử dụng để hạn chế nhiễu cao tần</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Mạch cộng hưởng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&amp; Impedance Matching</a:t>
            </a:r>
          </a:p>
          <a:p>
            <a:pPr eaLnBrk="1" hangingPunct="1"/>
            <a:r>
              <a:rPr lang="en-US" altLang="ko-KR">
                <a:latin typeface="Times New Roman" pitchFamily="18" charset="0"/>
                <a:cs typeface="Times New Roman" pitchFamily="18" charset="0"/>
              </a:rPr>
              <a:t>- Máy thông tin di động</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PC và các máy móc xung quanh, hhp, pager, clp, dbs. ..</a:t>
            </a:r>
            <a:endParaRPr lang="ko-KR" altLang="en-US">
              <a:latin typeface="Times New Roman" pitchFamily="18" charset="0"/>
              <a:cs typeface="Times New Roman" pitchFamily="18" charset="0"/>
            </a:endParaRPr>
          </a:p>
        </p:txBody>
      </p:sp>
      <p:sp>
        <p:nvSpPr>
          <p:cNvPr id="111623" name="Text Box 25"/>
          <p:cNvSpPr txBox="1">
            <a:spLocks noChangeArrowheads="1"/>
          </p:cNvSpPr>
          <p:nvPr/>
        </p:nvSpPr>
        <p:spPr bwMode="auto">
          <a:xfrm>
            <a:off x="3503613" y="5287963"/>
            <a:ext cx="2095500"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&lt; Bề ngoài của cảm điện(coil) chíp</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&gt;</a:t>
            </a:r>
          </a:p>
        </p:txBody>
      </p:sp>
      <p:grpSp>
        <p:nvGrpSpPr>
          <p:cNvPr id="111624" name="Group 26"/>
          <p:cNvGrpSpPr>
            <a:grpSpLocks/>
          </p:cNvGrpSpPr>
          <p:nvPr/>
        </p:nvGrpSpPr>
        <p:grpSpPr bwMode="auto">
          <a:xfrm>
            <a:off x="2543175" y="4221163"/>
            <a:ext cx="4044950" cy="990600"/>
            <a:chOff x="1632" y="2736"/>
            <a:chExt cx="2352" cy="624"/>
          </a:xfrm>
        </p:grpSpPr>
        <p:pic>
          <p:nvPicPr>
            <p:cNvPr id="111625" name="Picture 27" descr="inductorINDU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2832"/>
              <a:ext cx="213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6" name="Rectangle 28"/>
            <p:cNvSpPr>
              <a:spLocks noChangeArrowheads="1"/>
            </p:cNvSpPr>
            <p:nvPr/>
          </p:nvSpPr>
          <p:spPr bwMode="auto">
            <a:xfrm>
              <a:off x="1632" y="2736"/>
              <a:ext cx="2352" cy="6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838DD2E-8269-4A5B-A02D-D9FFE9A92699}" type="slidenum">
              <a:rPr lang="en-US" altLang="ko-KR" sz="1400" smtClean="0">
                <a:latin typeface="Times New Roman" pitchFamily="18" charset="0"/>
                <a:cs typeface="Times New Roman" pitchFamily="18" charset="0"/>
              </a:rPr>
              <a:pPr eaLnBrk="1" hangingPunct="1"/>
              <a:t>105</a:t>
            </a:fld>
            <a:endParaRPr lang="en-US" altLang="ko-KR" sz="1400" smtClean="0">
              <a:latin typeface="Times New Roman" pitchFamily="18" charset="0"/>
              <a:cs typeface="Times New Roman" pitchFamily="18" charset="0"/>
            </a:endParaRPr>
          </a:p>
        </p:txBody>
      </p:sp>
      <p:pic>
        <p:nvPicPr>
          <p:cNvPr id="112643" name="Picture 10" descr="MCj04293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588" y="2565400"/>
            <a:ext cx="2138362"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2"/>
          <p:cNvSpPr>
            <a:spLocks noChangeArrowheads="1"/>
          </p:cNvSpPr>
          <p:nvPr/>
        </p:nvSpPr>
        <p:spPr bwMode="auto">
          <a:xfrm>
            <a:off x="2484438" y="1219200"/>
            <a:ext cx="4175125" cy="914400"/>
          </a:xfrm>
          <a:prstGeom prst="rect">
            <a:avLst/>
          </a:prstGeom>
          <a:solidFill>
            <a:schemeClr val="bg1"/>
          </a:solidFill>
          <a:ln w="19050">
            <a:solidFill>
              <a:schemeClr val="tx1"/>
            </a:solidFill>
            <a:miter lim="800000"/>
            <a:headEnd/>
            <a:tailEnd/>
          </a:ln>
          <a:effectLst>
            <a:outerShdw dist="107763" dir="2700000" algn="ctr" rotWithShape="0">
              <a:schemeClr val="bg2"/>
            </a:outerShdw>
          </a:effec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2400" b="1">
                <a:latin typeface="Times New Roman" pitchFamily="18" charset="0"/>
                <a:cs typeface="Times New Roman" pitchFamily="18" charset="0"/>
              </a:rPr>
              <a:t>3. Linh kiện điện tử chủ động</a:t>
            </a:r>
            <a:endParaRPr lang="ko-KR" altLang="en-US" sz="2400" b="1">
              <a:latin typeface="Times New Roman" pitchFamily="18" charset="0"/>
              <a:cs typeface="Times New Roman" pitchFamily="18" charset="0"/>
            </a:endParaRPr>
          </a:p>
        </p:txBody>
      </p:sp>
      <p:sp>
        <p:nvSpPr>
          <p:cNvPr id="112645" name="Text Box 3"/>
          <p:cNvSpPr txBox="1">
            <a:spLocks noChangeArrowheads="1"/>
          </p:cNvSpPr>
          <p:nvPr/>
        </p:nvSpPr>
        <p:spPr bwMode="auto">
          <a:xfrm>
            <a:off x="2339975" y="3103563"/>
            <a:ext cx="2779713"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 Linh kiện bán dẫn</a:t>
            </a:r>
            <a:endParaRPr lang="ko-KR" altLang="en-US" sz="1400"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1-1. Diode</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1-2. Zerner diode</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1-3. NPN Transistor</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1-4. PNP Transistor</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endParaRPr lang="ko-KR" altLang="en-US" sz="900">
              <a:latin typeface="Times New Roman" pitchFamily="18" charset="0"/>
              <a:cs typeface="Times New Roman" pitchFamily="18" charset="0"/>
            </a:endParaRPr>
          </a:p>
          <a:p>
            <a:pPr eaLnBrk="1" hangingPunct="1"/>
            <a:r>
              <a:rPr lang="en-US" altLang="ko-KR" sz="1400" b="1">
                <a:latin typeface="Times New Roman" pitchFamily="18" charset="0"/>
                <a:cs typeface="Times New Roman" pitchFamily="18" charset="0"/>
              </a:rPr>
              <a:t>2. Linh kiện kiểm soát nguồn điện</a:t>
            </a:r>
            <a:endParaRPr lang="ko-KR" altLang="en-US" sz="1400"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2-1. SCR</a:t>
            </a:r>
          </a:p>
          <a:p>
            <a:pPr eaLnBrk="1" hangingPunct="1"/>
            <a:r>
              <a:rPr lang="en-US" altLang="ko-KR">
                <a:latin typeface="Times New Roman" pitchFamily="18" charset="0"/>
                <a:cs typeface="Times New Roman" pitchFamily="18" charset="0"/>
              </a:rPr>
              <a:t>   2-2. TRIAC</a:t>
            </a:r>
          </a:p>
          <a:p>
            <a:pPr eaLnBrk="1" hangingPunct="1"/>
            <a:r>
              <a:rPr lang="en-US" altLang="ko-KR">
                <a:latin typeface="Times New Roman" pitchFamily="18" charset="0"/>
                <a:cs typeface="Times New Roman" pitchFamily="18" charset="0"/>
              </a:rPr>
              <a:t>   2-3. SSR</a:t>
            </a:r>
          </a:p>
        </p:txBody>
      </p:sp>
      <p:pic>
        <p:nvPicPr>
          <p:cNvPr id="11264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60752">
            <a:off x="900113" y="4149725"/>
            <a:ext cx="703262"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47" name="Text Box 4"/>
          <p:cNvSpPr txBox="1">
            <a:spLocks noChangeArrowheads="1"/>
          </p:cNvSpPr>
          <p:nvPr/>
        </p:nvSpPr>
        <p:spPr bwMode="auto">
          <a:xfrm>
            <a:off x="5041900" y="3103563"/>
            <a:ext cx="3316288"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 Máy dò</a:t>
            </a:r>
            <a:endParaRPr lang="ko-KR" altLang="en-US" sz="1400"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3-1. LED</a:t>
            </a:r>
          </a:p>
          <a:p>
            <a:pPr eaLnBrk="1" hangingPunct="1"/>
            <a:r>
              <a:rPr lang="en-US" altLang="ko-KR">
                <a:latin typeface="Times New Roman" pitchFamily="18" charset="0"/>
                <a:cs typeface="Times New Roman" pitchFamily="18" charset="0"/>
              </a:rPr>
              <a:t>   3-2. Photo Diode</a:t>
            </a:r>
          </a:p>
          <a:p>
            <a:pPr eaLnBrk="1" hangingPunct="1"/>
            <a:r>
              <a:rPr lang="en-US" altLang="ko-KR">
                <a:latin typeface="Times New Roman" pitchFamily="18" charset="0"/>
                <a:cs typeface="Times New Roman" pitchFamily="18" charset="0"/>
              </a:rPr>
              <a:t>   3-3. Photo Transistor</a:t>
            </a:r>
          </a:p>
          <a:p>
            <a:pPr eaLnBrk="1" hangingPunct="1"/>
            <a:r>
              <a:rPr lang="en-US" altLang="ko-KR">
                <a:latin typeface="Times New Roman" pitchFamily="18" charset="0"/>
                <a:cs typeface="Times New Roman" pitchFamily="18" charset="0"/>
              </a:rPr>
              <a:t>   3-4. Thermistor</a:t>
            </a:r>
          </a:p>
          <a:p>
            <a:pPr eaLnBrk="1" hangingPunct="1"/>
            <a:r>
              <a:rPr lang="en-US" altLang="ko-KR">
                <a:latin typeface="Times New Roman" pitchFamily="18" charset="0"/>
                <a:cs typeface="Times New Roman" pitchFamily="18" charset="0"/>
              </a:rPr>
              <a:t>   3-5. Cặp nhiệt điện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3-6. Sensor</a:t>
            </a:r>
          </a:p>
          <a:p>
            <a:pPr eaLnBrk="1" hangingPunct="1"/>
            <a:r>
              <a:rPr lang="en-US" altLang="ko-KR">
                <a:latin typeface="Times New Roman" pitchFamily="18" charset="0"/>
                <a:cs typeface="Times New Roman" pitchFamily="18" charset="0"/>
              </a:rPr>
              <a:t>   3-7. Các hạng mục cần chú ý khi sử dụng Sensor</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3-8 Thực hành với Fiber Sensor</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816742E-DC64-468F-920C-10DF2FA9F975}" type="slidenum">
              <a:rPr lang="en-US" altLang="ko-KR" sz="1400" smtClean="0">
                <a:latin typeface="Times New Roman" pitchFamily="18" charset="0"/>
                <a:cs typeface="Times New Roman" pitchFamily="18" charset="0"/>
              </a:rPr>
              <a:pPr eaLnBrk="1" hangingPunct="1"/>
              <a:t>106</a:t>
            </a:fld>
            <a:endParaRPr lang="en-US" altLang="ko-KR" sz="1400" smtClean="0">
              <a:latin typeface="Times New Roman" pitchFamily="18" charset="0"/>
              <a:cs typeface="Times New Roman" pitchFamily="18" charset="0"/>
            </a:endParaRPr>
          </a:p>
        </p:txBody>
      </p:sp>
      <p:sp>
        <p:nvSpPr>
          <p:cNvPr id="113667" name="Text Box 2"/>
          <p:cNvSpPr txBox="1">
            <a:spLocks noChangeArrowheads="1"/>
          </p:cNvSpPr>
          <p:nvPr/>
        </p:nvSpPr>
        <p:spPr bwMode="auto">
          <a:xfrm>
            <a:off x="684213" y="892175"/>
            <a:ext cx="27178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1-1. Diode</a:t>
            </a:r>
            <a:r>
              <a:rPr lang="ko-KR" altLang="en-US" sz="1400" b="1">
                <a:latin typeface="Times New Roman" pitchFamily="18" charset="0"/>
                <a:cs typeface="Times New Roman" pitchFamily="18" charset="0"/>
              </a:rPr>
              <a:t> </a:t>
            </a:r>
            <a:r>
              <a:rPr lang="en-US" altLang="ko-KR" sz="1400" b="1">
                <a:latin typeface="Times New Roman" pitchFamily="18" charset="0"/>
                <a:cs typeface="Times New Roman" pitchFamily="18" charset="0"/>
              </a:rPr>
              <a:t>(Diode Characteristic)</a:t>
            </a:r>
          </a:p>
        </p:txBody>
      </p:sp>
      <p:sp>
        <p:nvSpPr>
          <p:cNvPr id="113668" name="Text Box 3"/>
          <p:cNvSpPr txBox="1">
            <a:spLocks noChangeArrowheads="1"/>
          </p:cNvSpPr>
          <p:nvPr/>
        </p:nvSpPr>
        <p:spPr bwMode="auto">
          <a:xfrm>
            <a:off x="352425" y="501650"/>
            <a:ext cx="20018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13669"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Đặc tính của Diode</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Diode bán dẫn là loại diode cho dòng điện đi qua theo một hướng tốt nhưng hầu như lại không thể cho dòng điện đi qua theo hướng ngược lại. Điều này là bởi vì điện trở theo chiều xuôi thấp, ngược lại điện trở theo chiều ngược lại vô cùng cao. Hầu như tất cả các diode bán dẫn đều có đặc tính một chiều. </a:t>
            </a:r>
          </a:p>
          <a:p>
            <a:pPr eaLnBrk="1" hangingPunct="1"/>
            <a:r>
              <a:rPr lang="en-US" altLang="ko-KR">
                <a:solidFill>
                  <a:srgbClr val="000000"/>
                </a:solidFill>
                <a:latin typeface="Times New Roman" pitchFamily="18" charset="0"/>
                <a:cs typeface="Times New Roman" pitchFamily="18" charset="0"/>
              </a:rPr>
              <a:t> </a:t>
            </a:r>
          </a:p>
          <a:p>
            <a:pPr eaLnBrk="1" hangingPunct="1"/>
            <a:r>
              <a:rPr lang="en-US" altLang="ko-KR" b="1" u="sng">
                <a:solidFill>
                  <a:srgbClr val="000000"/>
                </a:solidFill>
                <a:latin typeface="Times New Roman" pitchFamily="18" charset="0"/>
                <a:cs typeface="Times New Roman" pitchFamily="18" charset="0"/>
              </a:rPr>
              <a:t>Dòng xuôi(dòng điện thuận)</a:t>
            </a:r>
            <a:endParaRPr lang="ko-KR" altLang="en-US">
              <a:solidFill>
                <a:srgbClr val="000000"/>
              </a:solidFill>
              <a:latin typeface="Times New Roman" pitchFamily="18" charset="0"/>
              <a:cs typeface="Times New Roman" pitchFamily="18" charset="0"/>
            </a:endParaRPr>
          </a:p>
          <a:p>
            <a:pPr eaLnBrk="1" hangingPunct="1"/>
            <a:r>
              <a:rPr lang="ko-KR" altLang="en-US">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Khi kết nối cực – với n và nối cực + với p của bộ chỉnh lưu chuyển tiếp pn giống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5-1(a) thì điện áp thuận (forward voltage) hoặc Bias thuận được kết nối. Lúc này, dòng điện lớn tức dòng điện thuận(forward current) sẽ chạy thông qua Diode. Và do lỗ trống(hole) của p sẽ chạy qua n, điện tử của n sẽ chạy qua p một cách linh hoạt làm cho dòng điện lớn I chạy từ p sang n.</a:t>
            </a:r>
            <a:endParaRPr lang="en-US" altLang="ko-KR">
              <a:latin typeface="Times New Roman" pitchFamily="18" charset="0"/>
              <a:cs typeface="Times New Roman" pitchFamily="18" charset="0"/>
            </a:endParaRPr>
          </a:p>
        </p:txBody>
      </p:sp>
      <p:sp>
        <p:nvSpPr>
          <p:cNvPr id="113670" name="Text Box 1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13671" name="Text Box 1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13672"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628775"/>
            <a:ext cx="514985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73" name="직사각형 1"/>
          <p:cNvSpPr>
            <a:spLocks noChangeArrowheads="1"/>
          </p:cNvSpPr>
          <p:nvPr/>
        </p:nvSpPr>
        <p:spPr bwMode="auto">
          <a:xfrm>
            <a:off x="2005013" y="3644900"/>
            <a:ext cx="45370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5-1 Bộ chỉnh lưu chuyển tiếp đặt điện áp thuận và điện áp ngược</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0051D2D-2EC6-4522-9688-5D99E4D58188}" type="slidenum">
              <a:rPr lang="en-US" altLang="ko-KR" sz="1400" smtClean="0">
                <a:latin typeface="Times New Roman" pitchFamily="18" charset="0"/>
                <a:cs typeface="Times New Roman" pitchFamily="18" charset="0"/>
              </a:rPr>
              <a:pPr eaLnBrk="1" hangingPunct="1"/>
              <a:t>107</a:t>
            </a:fld>
            <a:endParaRPr lang="en-US" altLang="ko-KR" sz="1400" smtClean="0">
              <a:latin typeface="Times New Roman" pitchFamily="18" charset="0"/>
              <a:cs typeface="Times New Roman" pitchFamily="18" charset="0"/>
            </a:endParaRPr>
          </a:p>
        </p:txBody>
      </p:sp>
      <p:sp>
        <p:nvSpPr>
          <p:cNvPr id="114691"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1469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u="sng">
                <a:solidFill>
                  <a:srgbClr val="000000"/>
                </a:solidFill>
                <a:latin typeface="Times New Roman" pitchFamily="18" charset="0"/>
                <a:cs typeface="Times New Roman" pitchFamily="18" charset="0"/>
              </a:rPr>
              <a:t>Dòng ngược(dòng điện ngược)</a:t>
            </a:r>
            <a:endParaRPr lang="ko-KR" altLang="en-US">
              <a:solidFill>
                <a:srgbClr val="000000"/>
              </a:solidFill>
              <a:latin typeface="Times New Roman" pitchFamily="18" charset="0"/>
              <a:cs typeface="Times New Roman" pitchFamily="18" charset="0"/>
            </a:endParaRPr>
          </a:p>
          <a:p>
            <a:pPr eaLnBrk="1" hangingPunct="1"/>
            <a:r>
              <a:rPr lang="ko-KR" altLang="en-US">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Khi để điện áp bên ngoài lên bộ chỉnh lưu chuyển tiếp pn và cực + lên n, cực – lên p</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giống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5-1(b) thì điện áp ngược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(reverse voltage) hoặc Bias ngược được kết nối. Lúc này dòng điện rất nhỏ tức dòng điện bão hòa ngược (reverse saturation current) chạy từ n sang p thông qua diode. Dòng điện này dễ đạt được giá trị cao nhất ở điện áp ngược thấp và dù tăng điện áp ngược thì dòng điện này cũng không thay đổi nên gọi nó là dòng điện bão hòa ngược (Is). </a:t>
            </a: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b="1" u="sng">
                <a:solidFill>
                  <a:srgbClr val="000000"/>
                </a:solidFill>
                <a:latin typeface="Times New Roman" pitchFamily="18" charset="0"/>
                <a:cs typeface="Times New Roman" pitchFamily="18" charset="0"/>
              </a:rPr>
              <a:t>Công thức dòng điện của Diode</a:t>
            </a:r>
            <a:endParaRPr lang="ko-KR" altLang="en-US" b="1" u="sng">
              <a:solidFill>
                <a:srgbClr val="000000"/>
              </a:solidFill>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Ở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5-2(b) ta có thể thấy dòng điện ở diode</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Si khoảng trên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0.7V, diode Ge khoảng trên 0.2 V tăng một cách nhanh chóng. Điện áp này người ta gọi là điện áp</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cutin của diode hay điện áp ngưỡng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(threshold voltage).</a:t>
            </a:r>
          </a:p>
        </p:txBody>
      </p:sp>
      <p:sp>
        <p:nvSpPr>
          <p:cNvPr id="114693"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1469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338" y="2852738"/>
            <a:ext cx="5005387"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5" name="직사각형 6"/>
          <p:cNvSpPr>
            <a:spLocks noChangeArrowheads="1"/>
          </p:cNvSpPr>
          <p:nvPr/>
        </p:nvSpPr>
        <p:spPr bwMode="auto">
          <a:xfrm>
            <a:off x="3492500" y="5229225"/>
            <a:ext cx="453548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5-2 Đặc tính v-i thuận chiều của bộ chỉnh lưu chuyển tiếp thường</a:t>
            </a:r>
            <a:endParaRPr lang="ko-KR" altLang="en-US">
              <a:latin typeface="Times New Roman" pitchFamily="18" charset="0"/>
              <a:cs typeface="Times New Roman" pitchFamily="18" charset="0"/>
            </a:endParaRPr>
          </a:p>
        </p:txBody>
      </p:sp>
      <p:sp>
        <p:nvSpPr>
          <p:cNvPr id="114696" name="직사각형 7"/>
          <p:cNvSpPr>
            <a:spLocks noChangeArrowheads="1"/>
          </p:cNvSpPr>
          <p:nvPr/>
        </p:nvSpPr>
        <p:spPr bwMode="auto">
          <a:xfrm>
            <a:off x="4140200" y="3379788"/>
            <a:ext cx="838200" cy="5048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 xuôi chiều</a:t>
            </a:r>
            <a:endParaRPr lang="ko-KR" altLang="en-US">
              <a:latin typeface="Times New Roman" pitchFamily="18" charset="0"/>
              <a:cs typeface="Times New Roman" pitchFamily="18" charset="0"/>
            </a:endParaRPr>
          </a:p>
        </p:txBody>
      </p:sp>
      <p:sp>
        <p:nvSpPr>
          <p:cNvPr id="114697" name="직사각형 8"/>
          <p:cNvSpPr>
            <a:spLocks noChangeArrowheads="1"/>
          </p:cNvSpPr>
          <p:nvPr/>
        </p:nvSpPr>
        <p:spPr bwMode="auto">
          <a:xfrm>
            <a:off x="2843213" y="4508500"/>
            <a:ext cx="576262" cy="720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 ngược chiều</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89FBBA1-D89C-47BD-B158-67005396BC10}" type="slidenum">
              <a:rPr lang="en-US" altLang="ko-KR" sz="1400" smtClean="0">
                <a:latin typeface="Times New Roman" pitchFamily="18" charset="0"/>
                <a:cs typeface="Times New Roman" pitchFamily="18" charset="0"/>
              </a:rPr>
              <a:pPr eaLnBrk="1" hangingPunct="1"/>
              <a:t>108</a:t>
            </a:fld>
            <a:endParaRPr lang="en-US" altLang="ko-KR" sz="1400" smtClean="0">
              <a:latin typeface="Times New Roman" pitchFamily="18" charset="0"/>
              <a:cs typeface="Times New Roman" pitchFamily="18" charset="0"/>
            </a:endParaRPr>
          </a:p>
        </p:txBody>
      </p:sp>
      <p:sp>
        <p:nvSpPr>
          <p:cNvPr id="11571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15716"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15717" name="Text Box 5"/>
          <p:cNvSpPr txBox="1">
            <a:spLocks noChangeArrowheads="1"/>
          </p:cNvSpPr>
          <p:nvPr/>
        </p:nvSpPr>
        <p:spPr bwMode="auto">
          <a:xfrm>
            <a:off x="304800" y="609600"/>
            <a:ext cx="57165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 Thực nghiệm CIRCUIT- 1 của KIT thực hành</a:t>
            </a:r>
            <a:r>
              <a:rPr lang="ko-KR" altLang="en-US" sz="1400" b="1">
                <a:latin typeface="Times New Roman" pitchFamily="18" charset="0"/>
                <a:cs typeface="Times New Roman" pitchFamily="18" charset="0"/>
              </a:rPr>
              <a:t> </a:t>
            </a:r>
            <a:r>
              <a:rPr lang="en-US" altLang="ko-KR" sz="1400" b="1">
                <a:latin typeface="Times New Roman" pitchFamily="18" charset="0"/>
                <a:cs typeface="Times New Roman" pitchFamily="18" charset="0"/>
              </a:rPr>
              <a:t>M-5 mạch dòng 1 chiều]</a:t>
            </a:r>
          </a:p>
        </p:txBody>
      </p:sp>
      <p:sp>
        <p:nvSpPr>
          <p:cNvPr id="115718" name="Text Box 6"/>
          <p:cNvSpPr txBox="1">
            <a:spLocks noChangeArrowheads="1"/>
          </p:cNvSpPr>
          <p:nvPr/>
        </p:nvSpPr>
        <p:spPr bwMode="auto">
          <a:xfrm>
            <a:off x="3352800" y="2895600"/>
            <a:ext cx="54102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Nếu ở hai phía của diode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(Si ) điện áp được kết nối theo chiều thuận từ</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0.6[V]  ~ 0.7[V]  trở lên thì diode dẫn điện và dòng điện sẽ được chạy qua.</a:t>
            </a:r>
          </a:p>
          <a:p>
            <a:pPr eaLnBrk="1" hangingPunct="1"/>
            <a:r>
              <a:rPr lang="en-US" altLang="ko-KR">
                <a:latin typeface="Times New Roman" pitchFamily="18" charset="0"/>
                <a:cs typeface="Times New Roman" pitchFamily="18" charset="0"/>
              </a:rPr>
              <a:t>Lúc này dù liên tục tăng điện áp đầu vào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điện áp ở hai phía của diode vẫn được cố định và tất cả điện áp của phần tăng lên sẽ bị chặn ở điện trở.   </a:t>
            </a:r>
          </a:p>
          <a:p>
            <a:pPr eaLnBrk="1" hangingPunct="1"/>
            <a:endParaRPr lang="en-US" altLang="ko-KR">
              <a:latin typeface="Times New Roman" pitchFamily="18" charset="0"/>
              <a:cs typeface="Times New Roman" pitchFamily="18" charset="0"/>
            </a:endParaRPr>
          </a:p>
        </p:txBody>
      </p:sp>
      <p:sp>
        <p:nvSpPr>
          <p:cNvPr id="115719" name="Rectangle 7"/>
          <p:cNvSpPr>
            <a:spLocks noChangeArrowheads="1"/>
          </p:cNvSpPr>
          <p:nvPr/>
        </p:nvSpPr>
        <p:spPr bwMode="auto">
          <a:xfrm>
            <a:off x="381000" y="990600"/>
            <a:ext cx="8382000" cy="5257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5720" name="Line 8"/>
          <p:cNvSpPr>
            <a:spLocks noChangeShapeType="1"/>
          </p:cNvSpPr>
          <p:nvPr/>
        </p:nvSpPr>
        <p:spPr bwMode="auto">
          <a:xfrm>
            <a:off x="381000" y="2743200"/>
            <a:ext cx="83820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1" name="Line 9"/>
          <p:cNvSpPr>
            <a:spLocks noChangeShapeType="1"/>
          </p:cNvSpPr>
          <p:nvPr/>
        </p:nvSpPr>
        <p:spPr bwMode="auto">
          <a:xfrm>
            <a:off x="381000" y="4495800"/>
            <a:ext cx="83820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2" name="Line 10"/>
          <p:cNvSpPr>
            <a:spLocks noChangeShapeType="1"/>
          </p:cNvSpPr>
          <p:nvPr/>
        </p:nvSpPr>
        <p:spPr bwMode="auto">
          <a:xfrm>
            <a:off x="1123950" y="1162050"/>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3" name="Line 11"/>
          <p:cNvSpPr>
            <a:spLocks noChangeShapeType="1"/>
          </p:cNvSpPr>
          <p:nvPr/>
        </p:nvSpPr>
        <p:spPr bwMode="auto">
          <a:xfrm>
            <a:off x="1114425" y="116205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4" name="Line 12"/>
          <p:cNvSpPr>
            <a:spLocks noChangeShapeType="1"/>
          </p:cNvSpPr>
          <p:nvPr/>
        </p:nvSpPr>
        <p:spPr bwMode="auto">
          <a:xfrm>
            <a:off x="2039938" y="1162050"/>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5725" name="Group 13"/>
          <p:cNvGrpSpPr>
            <a:grpSpLocks/>
          </p:cNvGrpSpPr>
          <p:nvPr/>
        </p:nvGrpSpPr>
        <p:grpSpPr bwMode="auto">
          <a:xfrm>
            <a:off x="1947863" y="1365250"/>
            <a:ext cx="184150" cy="254000"/>
            <a:chOff x="1488" y="1152"/>
            <a:chExt cx="192" cy="336"/>
          </a:xfrm>
        </p:grpSpPr>
        <p:sp>
          <p:nvSpPr>
            <p:cNvPr id="115798" name="Line 14"/>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9" name="Line 15"/>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800" name="Line 16"/>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801" name="Line 17"/>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802" name="Line 18"/>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803" name="Line 19"/>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804" name="Line 20"/>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5726" name="Line 21"/>
          <p:cNvSpPr>
            <a:spLocks noChangeShapeType="1"/>
          </p:cNvSpPr>
          <p:nvPr/>
        </p:nvSpPr>
        <p:spPr bwMode="auto">
          <a:xfrm>
            <a:off x="2039938" y="1619250"/>
            <a:ext cx="0" cy="4762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7" name="AutoShape 22"/>
          <p:cNvSpPr>
            <a:spLocks noChangeArrowheads="1"/>
          </p:cNvSpPr>
          <p:nvPr/>
        </p:nvSpPr>
        <p:spPr bwMode="auto">
          <a:xfrm flipV="1">
            <a:off x="1917700" y="2082800"/>
            <a:ext cx="244475" cy="1016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5728" name="Line 23"/>
          <p:cNvSpPr>
            <a:spLocks noChangeShapeType="1"/>
          </p:cNvSpPr>
          <p:nvPr/>
        </p:nvSpPr>
        <p:spPr bwMode="auto">
          <a:xfrm flipV="1">
            <a:off x="1917700" y="2184400"/>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29" name="Line 24"/>
          <p:cNvSpPr>
            <a:spLocks noChangeShapeType="1"/>
          </p:cNvSpPr>
          <p:nvPr/>
        </p:nvSpPr>
        <p:spPr bwMode="auto">
          <a:xfrm>
            <a:off x="1123950" y="253365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30" name="Line 25"/>
          <p:cNvSpPr>
            <a:spLocks noChangeShapeType="1"/>
          </p:cNvSpPr>
          <p:nvPr/>
        </p:nvSpPr>
        <p:spPr bwMode="auto">
          <a:xfrm>
            <a:off x="2039938" y="2178050"/>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31" name="Text Box 26"/>
          <p:cNvSpPr txBox="1">
            <a:spLocks noChangeArrowheads="1"/>
          </p:cNvSpPr>
          <p:nvPr/>
        </p:nvSpPr>
        <p:spPr bwMode="auto">
          <a:xfrm>
            <a:off x="1681163" y="1357313"/>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15732" name="Text Box 27"/>
          <p:cNvSpPr txBox="1">
            <a:spLocks noChangeArrowheads="1"/>
          </p:cNvSpPr>
          <p:nvPr/>
        </p:nvSpPr>
        <p:spPr bwMode="auto">
          <a:xfrm>
            <a:off x="1582738" y="1924050"/>
            <a:ext cx="4524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D2</a:t>
            </a:r>
          </a:p>
          <a:p>
            <a:pPr eaLnBrk="1" hangingPunct="1"/>
            <a:r>
              <a:rPr lang="en-US" altLang="ko-KR" sz="1400">
                <a:latin typeface="Times New Roman" pitchFamily="18" charset="0"/>
                <a:cs typeface="Times New Roman" pitchFamily="18" charset="0"/>
              </a:rPr>
              <a:t>(Si)</a:t>
            </a:r>
          </a:p>
        </p:txBody>
      </p:sp>
      <p:sp>
        <p:nvSpPr>
          <p:cNvPr id="115733" name="Line 28"/>
          <p:cNvSpPr>
            <a:spLocks noChangeShapeType="1"/>
          </p:cNvSpPr>
          <p:nvPr/>
        </p:nvSpPr>
        <p:spPr bwMode="auto">
          <a:xfrm flipV="1">
            <a:off x="1123950" y="1857375"/>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34" name="Line 29"/>
          <p:cNvSpPr>
            <a:spLocks noChangeShapeType="1"/>
          </p:cNvSpPr>
          <p:nvPr/>
        </p:nvSpPr>
        <p:spPr bwMode="auto">
          <a:xfrm>
            <a:off x="1009650" y="1819275"/>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35" name="Line 30"/>
          <p:cNvSpPr>
            <a:spLocks noChangeShapeType="1"/>
          </p:cNvSpPr>
          <p:nvPr/>
        </p:nvSpPr>
        <p:spPr bwMode="auto">
          <a:xfrm>
            <a:off x="1047750" y="1866900"/>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36" name="Text Box 31"/>
          <p:cNvSpPr txBox="1">
            <a:spLocks noChangeArrowheads="1"/>
          </p:cNvSpPr>
          <p:nvPr/>
        </p:nvSpPr>
        <p:spPr bwMode="auto">
          <a:xfrm>
            <a:off x="914400" y="1581150"/>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15737" name="Text Box 32"/>
          <p:cNvSpPr txBox="1">
            <a:spLocks noChangeArrowheads="1"/>
          </p:cNvSpPr>
          <p:nvPr/>
        </p:nvSpPr>
        <p:spPr bwMode="auto">
          <a:xfrm>
            <a:off x="3338513" y="1493838"/>
            <a:ext cx="5424487"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Khi điện áp đầu vào của mạch thấp và điện áp ở hai phía diode dưới 0.5 [V] theo chiều thuận thì diode không dẫn điện do đó dòng điện hầu như không chạy qua. </a:t>
            </a:r>
          </a:p>
        </p:txBody>
      </p:sp>
      <p:sp>
        <p:nvSpPr>
          <p:cNvPr id="115738" name="Text Box 33"/>
          <p:cNvSpPr txBox="1">
            <a:spLocks noChangeArrowheads="1"/>
          </p:cNvSpPr>
          <p:nvPr/>
        </p:nvSpPr>
        <p:spPr bwMode="auto">
          <a:xfrm>
            <a:off x="2193925" y="2017713"/>
            <a:ext cx="1023938"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Dưới 0.5 [V] </a:t>
            </a:r>
            <a:endParaRPr lang="ko-KR" altLang="en-US">
              <a:latin typeface="Times New Roman" pitchFamily="18" charset="0"/>
              <a:cs typeface="Times New Roman" pitchFamily="18" charset="0"/>
            </a:endParaRPr>
          </a:p>
        </p:txBody>
      </p:sp>
      <p:sp>
        <p:nvSpPr>
          <p:cNvPr id="115739" name="Line 34"/>
          <p:cNvSpPr>
            <a:spLocks noChangeShapeType="1"/>
          </p:cNvSpPr>
          <p:nvPr/>
        </p:nvSpPr>
        <p:spPr bwMode="auto">
          <a:xfrm flipH="1" flipV="1">
            <a:off x="2133600" y="1827213"/>
            <a:ext cx="230188" cy="2301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0" name="Line 35"/>
          <p:cNvSpPr>
            <a:spLocks noChangeShapeType="1"/>
          </p:cNvSpPr>
          <p:nvPr/>
        </p:nvSpPr>
        <p:spPr bwMode="auto">
          <a:xfrm flipH="1">
            <a:off x="2133600" y="228600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1" name="Line 36"/>
          <p:cNvSpPr>
            <a:spLocks noChangeShapeType="1"/>
          </p:cNvSpPr>
          <p:nvPr/>
        </p:nvSpPr>
        <p:spPr bwMode="auto">
          <a:xfrm>
            <a:off x="1123950" y="2971800"/>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2" name="Line 37"/>
          <p:cNvSpPr>
            <a:spLocks noChangeShapeType="1"/>
          </p:cNvSpPr>
          <p:nvPr/>
        </p:nvSpPr>
        <p:spPr bwMode="auto">
          <a:xfrm>
            <a:off x="1114425" y="297180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3" name="Line 38"/>
          <p:cNvSpPr>
            <a:spLocks noChangeShapeType="1"/>
          </p:cNvSpPr>
          <p:nvPr/>
        </p:nvSpPr>
        <p:spPr bwMode="auto">
          <a:xfrm>
            <a:off x="2039938" y="2971800"/>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5744" name="Group 39"/>
          <p:cNvGrpSpPr>
            <a:grpSpLocks/>
          </p:cNvGrpSpPr>
          <p:nvPr/>
        </p:nvGrpSpPr>
        <p:grpSpPr bwMode="auto">
          <a:xfrm>
            <a:off x="1947863" y="3175000"/>
            <a:ext cx="184150" cy="254000"/>
            <a:chOff x="1488" y="1152"/>
            <a:chExt cx="192" cy="336"/>
          </a:xfrm>
        </p:grpSpPr>
        <p:sp>
          <p:nvSpPr>
            <p:cNvPr id="115791" name="Line 40"/>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2" name="Line 41"/>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3" name="Line 42"/>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4" name="Line 43"/>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5" name="Line 44"/>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6" name="Line 45"/>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7" name="Line 46"/>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5745" name="Line 47"/>
          <p:cNvSpPr>
            <a:spLocks noChangeShapeType="1"/>
          </p:cNvSpPr>
          <p:nvPr/>
        </p:nvSpPr>
        <p:spPr bwMode="auto">
          <a:xfrm>
            <a:off x="2039938" y="3429000"/>
            <a:ext cx="0" cy="4762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6" name="AutoShape 48"/>
          <p:cNvSpPr>
            <a:spLocks noChangeArrowheads="1"/>
          </p:cNvSpPr>
          <p:nvPr/>
        </p:nvSpPr>
        <p:spPr bwMode="auto">
          <a:xfrm flipV="1">
            <a:off x="1917700" y="3892550"/>
            <a:ext cx="244475" cy="1016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5747" name="Line 49"/>
          <p:cNvSpPr>
            <a:spLocks noChangeShapeType="1"/>
          </p:cNvSpPr>
          <p:nvPr/>
        </p:nvSpPr>
        <p:spPr bwMode="auto">
          <a:xfrm flipV="1">
            <a:off x="1917700" y="3994150"/>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8" name="Line 50"/>
          <p:cNvSpPr>
            <a:spLocks noChangeShapeType="1"/>
          </p:cNvSpPr>
          <p:nvPr/>
        </p:nvSpPr>
        <p:spPr bwMode="auto">
          <a:xfrm>
            <a:off x="1123950" y="434340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49" name="Line 51"/>
          <p:cNvSpPr>
            <a:spLocks noChangeShapeType="1"/>
          </p:cNvSpPr>
          <p:nvPr/>
        </p:nvSpPr>
        <p:spPr bwMode="auto">
          <a:xfrm>
            <a:off x="2039938" y="3987800"/>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0" name="Text Box 52"/>
          <p:cNvSpPr txBox="1">
            <a:spLocks noChangeArrowheads="1"/>
          </p:cNvSpPr>
          <p:nvPr/>
        </p:nvSpPr>
        <p:spPr bwMode="auto">
          <a:xfrm>
            <a:off x="1681163" y="3167063"/>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15751" name="Text Box 53"/>
          <p:cNvSpPr txBox="1">
            <a:spLocks noChangeArrowheads="1"/>
          </p:cNvSpPr>
          <p:nvPr/>
        </p:nvSpPr>
        <p:spPr bwMode="auto">
          <a:xfrm>
            <a:off x="1582738" y="3733800"/>
            <a:ext cx="4524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D2</a:t>
            </a:r>
          </a:p>
          <a:p>
            <a:pPr eaLnBrk="1" hangingPunct="1"/>
            <a:r>
              <a:rPr lang="en-US" altLang="ko-KR" sz="1400">
                <a:latin typeface="Times New Roman" pitchFamily="18" charset="0"/>
                <a:cs typeface="Times New Roman" pitchFamily="18" charset="0"/>
              </a:rPr>
              <a:t>(Si)</a:t>
            </a:r>
          </a:p>
        </p:txBody>
      </p:sp>
      <p:sp>
        <p:nvSpPr>
          <p:cNvPr id="115752" name="Line 54"/>
          <p:cNvSpPr>
            <a:spLocks noChangeShapeType="1"/>
          </p:cNvSpPr>
          <p:nvPr/>
        </p:nvSpPr>
        <p:spPr bwMode="auto">
          <a:xfrm flipV="1">
            <a:off x="1123950" y="3667125"/>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3" name="Line 55"/>
          <p:cNvSpPr>
            <a:spLocks noChangeShapeType="1"/>
          </p:cNvSpPr>
          <p:nvPr/>
        </p:nvSpPr>
        <p:spPr bwMode="auto">
          <a:xfrm>
            <a:off x="1009650" y="3629025"/>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4" name="Line 56"/>
          <p:cNvSpPr>
            <a:spLocks noChangeShapeType="1"/>
          </p:cNvSpPr>
          <p:nvPr/>
        </p:nvSpPr>
        <p:spPr bwMode="auto">
          <a:xfrm>
            <a:off x="1047750" y="3676650"/>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5" name="Text Box 57"/>
          <p:cNvSpPr txBox="1">
            <a:spLocks noChangeArrowheads="1"/>
          </p:cNvSpPr>
          <p:nvPr/>
        </p:nvSpPr>
        <p:spPr bwMode="auto">
          <a:xfrm>
            <a:off x="914400" y="3390900"/>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15756" name="Text Box 58"/>
          <p:cNvSpPr txBox="1">
            <a:spLocks noChangeArrowheads="1"/>
          </p:cNvSpPr>
          <p:nvPr/>
        </p:nvSpPr>
        <p:spPr bwMode="auto">
          <a:xfrm>
            <a:off x="2193925" y="3857625"/>
            <a:ext cx="6238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0.7 [V]</a:t>
            </a:r>
          </a:p>
        </p:txBody>
      </p:sp>
      <p:sp>
        <p:nvSpPr>
          <p:cNvPr id="115757" name="Line 59"/>
          <p:cNvSpPr>
            <a:spLocks noChangeShapeType="1"/>
          </p:cNvSpPr>
          <p:nvPr/>
        </p:nvSpPr>
        <p:spPr bwMode="auto">
          <a:xfrm flipH="1" flipV="1">
            <a:off x="2133600" y="3636963"/>
            <a:ext cx="230188" cy="2301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8" name="Line 60"/>
          <p:cNvSpPr>
            <a:spLocks noChangeShapeType="1"/>
          </p:cNvSpPr>
          <p:nvPr/>
        </p:nvSpPr>
        <p:spPr bwMode="auto">
          <a:xfrm flipH="1">
            <a:off x="2133600" y="411480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59" name="Text Box 61"/>
          <p:cNvSpPr txBox="1">
            <a:spLocks noChangeArrowheads="1"/>
          </p:cNvSpPr>
          <p:nvPr/>
        </p:nvSpPr>
        <p:spPr bwMode="auto">
          <a:xfrm>
            <a:off x="533400" y="3505200"/>
            <a:ext cx="4714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5[V]</a:t>
            </a:r>
          </a:p>
        </p:txBody>
      </p:sp>
      <p:sp>
        <p:nvSpPr>
          <p:cNvPr id="115760" name="Line 62"/>
          <p:cNvSpPr>
            <a:spLocks noChangeShapeType="1"/>
          </p:cNvSpPr>
          <p:nvPr/>
        </p:nvSpPr>
        <p:spPr bwMode="auto">
          <a:xfrm>
            <a:off x="1123950" y="4676775"/>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1" name="Line 63"/>
          <p:cNvSpPr>
            <a:spLocks noChangeShapeType="1"/>
          </p:cNvSpPr>
          <p:nvPr/>
        </p:nvSpPr>
        <p:spPr bwMode="auto">
          <a:xfrm>
            <a:off x="1114425" y="4676775"/>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2" name="Line 64"/>
          <p:cNvSpPr>
            <a:spLocks noChangeShapeType="1"/>
          </p:cNvSpPr>
          <p:nvPr/>
        </p:nvSpPr>
        <p:spPr bwMode="auto">
          <a:xfrm>
            <a:off x="2039938" y="4676775"/>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5763" name="Group 65"/>
          <p:cNvGrpSpPr>
            <a:grpSpLocks/>
          </p:cNvGrpSpPr>
          <p:nvPr/>
        </p:nvGrpSpPr>
        <p:grpSpPr bwMode="auto">
          <a:xfrm>
            <a:off x="1947863" y="4879975"/>
            <a:ext cx="184150" cy="254000"/>
            <a:chOff x="1488" y="1152"/>
            <a:chExt cx="192" cy="336"/>
          </a:xfrm>
        </p:grpSpPr>
        <p:sp>
          <p:nvSpPr>
            <p:cNvPr id="115784" name="Line 66"/>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5" name="Line 67"/>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6" name="Line 68"/>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7" name="Line 69"/>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8" name="Line 70"/>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9" name="Line 71"/>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90" name="Line 72"/>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5764" name="Line 73"/>
          <p:cNvSpPr>
            <a:spLocks noChangeShapeType="1"/>
          </p:cNvSpPr>
          <p:nvPr/>
        </p:nvSpPr>
        <p:spPr bwMode="auto">
          <a:xfrm>
            <a:off x="2039938" y="5133975"/>
            <a:ext cx="0" cy="4762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5" name="AutoShape 74"/>
          <p:cNvSpPr>
            <a:spLocks noChangeArrowheads="1"/>
          </p:cNvSpPr>
          <p:nvPr/>
        </p:nvSpPr>
        <p:spPr bwMode="auto">
          <a:xfrm flipV="1">
            <a:off x="1917700" y="5597525"/>
            <a:ext cx="244475" cy="1016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5766" name="Line 75"/>
          <p:cNvSpPr>
            <a:spLocks noChangeShapeType="1"/>
          </p:cNvSpPr>
          <p:nvPr/>
        </p:nvSpPr>
        <p:spPr bwMode="auto">
          <a:xfrm flipV="1">
            <a:off x="1917700" y="5699125"/>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7" name="Line 76"/>
          <p:cNvSpPr>
            <a:spLocks noChangeShapeType="1"/>
          </p:cNvSpPr>
          <p:nvPr/>
        </p:nvSpPr>
        <p:spPr bwMode="auto">
          <a:xfrm>
            <a:off x="1123950" y="6048375"/>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8" name="Line 77"/>
          <p:cNvSpPr>
            <a:spLocks noChangeShapeType="1"/>
          </p:cNvSpPr>
          <p:nvPr/>
        </p:nvSpPr>
        <p:spPr bwMode="auto">
          <a:xfrm>
            <a:off x="2039938" y="5692775"/>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69" name="Text Box 78"/>
          <p:cNvSpPr txBox="1">
            <a:spLocks noChangeArrowheads="1"/>
          </p:cNvSpPr>
          <p:nvPr/>
        </p:nvSpPr>
        <p:spPr bwMode="auto">
          <a:xfrm>
            <a:off x="1681163" y="4872038"/>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15770" name="Text Box 79"/>
          <p:cNvSpPr txBox="1">
            <a:spLocks noChangeArrowheads="1"/>
          </p:cNvSpPr>
          <p:nvPr/>
        </p:nvSpPr>
        <p:spPr bwMode="auto">
          <a:xfrm>
            <a:off x="1582738" y="5438775"/>
            <a:ext cx="4524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D2</a:t>
            </a:r>
          </a:p>
          <a:p>
            <a:pPr eaLnBrk="1" hangingPunct="1"/>
            <a:r>
              <a:rPr lang="en-US" altLang="ko-KR" sz="1400">
                <a:latin typeface="Times New Roman" pitchFamily="18" charset="0"/>
                <a:cs typeface="Times New Roman" pitchFamily="18" charset="0"/>
              </a:rPr>
              <a:t>(Si)</a:t>
            </a:r>
          </a:p>
        </p:txBody>
      </p:sp>
      <p:sp>
        <p:nvSpPr>
          <p:cNvPr id="115771" name="Line 80"/>
          <p:cNvSpPr>
            <a:spLocks noChangeShapeType="1"/>
          </p:cNvSpPr>
          <p:nvPr/>
        </p:nvSpPr>
        <p:spPr bwMode="auto">
          <a:xfrm flipV="1">
            <a:off x="1123950" y="5372100"/>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5772" name="Group 81"/>
          <p:cNvGrpSpPr>
            <a:grpSpLocks/>
          </p:cNvGrpSpPr>
          <p:nvPr/>
        </p:nvGrpSpPr>
        <p:grpSpPr bwMode="auto">
          <a:xfrm flipV="1">
            <a:off x="1009650" y="5334000"/>
            <a:ext cx="238125" cy="47625"/>
            <a:chOff x="636" y="3360"/>
            <a:chExt cx="150" cy="30"/>
          </a:xfrm>
        </p:grpSpPr>
        <p:sp>
          <p:nvSpPr>
            <p:cNvPr id="115782" name="Line 82"/>
            <p:cNvSpPr>
              <a:spLocks noChangeShapeType="1"/>
            </p:cNvSpPr>
            <p:nvPr/>
          </p:nvSpPr>
          <p:spPr bwMode="auto">
            <a:xfrm>
              <a:off x="636" y="3360"/>
              <a:ext cx="1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3" name="Line 83"/>
            <p:cNvSpPr>
              <a:spLocks noChangeShapeType="1"/>
            </p:cNvSpPr>
            <p:nvPr/>
          </p:nvSpPr>
          <p:spPr bwMode="auto">
            <a:xfrm>
              <a:off x="660" y="3390"/>
              <a:ext cx="9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5773" name="Text Box 84"/>
          <p:cNvSpPr txBox="1">
            <a:spLocks noChangeArrowheads="1"/>
          </p:cNvSpPr>
          <p:nvPr/>
        </p:nvSpPr>
        <p:spPr bwMode="auto">
          <a:xfrm>
            <a:off x="923925" y="5314950"/>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15774" name="Text Box 85"/>
          <p:cNvSpPr txBox="1">
            <a:spLocks noChangeArrowheads="1"/>
          </p:cNvSpPr>
          <p:nvPr/>
        </p:nvSpPr>
        <p:spPr bwMode="auto">
          <a:xfrm>
            <a:off x="533400" y="5210175"/>
            <a:ext cx="4714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5[V]</a:t>
            </a:r>
          </a:p>
        </p:txBody>
      </p:sp>
      <p:sp>
        <p:nvSpPr>
          <p:cNvPr id="115775" name="Line 86"/>
          <p:cNvSpPr>
            <a:spLocks noChangeShapeType="1"/>
          </p:cNvSpPr>
          <p:nvPr/>
        </p:nvSpPr>
        <p:spPr bwMode="auto">
          <a:xfrm flipH="1" flipV="1">
            <a:off x="2209800" y="4722813"/>
            <a:ext cx="228600" cy="4587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76" name="Line 87"/>
          <p:cNvSpPr>
            <a:spLocks noChangeShapeType="1"/>
          </p:cNvSpPr>
          <p:nvPr/>
        </p:nvSpPr>
        <p:spPr bwMode="auto">
          <a:xfrm flipH="1">
            <a:off x="2209800" y="5562600"/>
            <a:ext cx="228600" cy="4572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77" name="Text Box 88"/>
          <p:cNvSpPr txBox="1">
            <a:spLocks noChangeArrowheads="1"/>
          </p:cNvSpPr>
          <p:nvPr/>
        </p:nvSpPr>
        <p:spPr bwMode="auto">
          <a:xfrm>
            <a:off x="2309813" y="5211763"/>
            <a:ext cx="509587"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5 [V]</a:t>
            </a:r>
          </a:p>
        </p:txBody>
      </p:sp>
      <p:sp>
        <p:nvSpPr>
          <p:cNvPr id="115778" name="Text Box 89"/>
          <p:cNvSpPr txBox="1">
            <a:spLocks noChangeArrowheads="1"/>
          </p:cNvSpPr>
          <p:nvPr/>
        </p:nvSpPr>
        <p:spPr bwMode="auto">
          <a:xfrm>
            <a:off x="3352800" y="4695825"/>
            <a:ext cx="5410200" cy="83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Nếu điện áp ở hai phía của diode được đặt theo chiều ngược thì diode không dẫn điện và dòng điện không chạy qua.  </a:t>
            </a:r>
          </a:p>
          <a:p>
            <a:pPr eaLnBrk="1" hangingPunct="1"/>
            <a:r>
              <a:rPr lang="en-US" altLang="ko-KR">
                <a:latin typeface="Times New Roman" pitchFamily="18" charset="0"/>
                <a:cs typeface="Times New Roman" pitchFamily="18" charset="0"/>
              </a:rPr>
              <a:t>Thế nhưng nếu diode đạt đến điện áp trên sức chịu đựng thì dòng điện sẽ chạy theo chiều ngược và diode bị mất đi chức năng vốn có của nó.</a:t>
            </a:r>
          </a:p>
        </p:txBody>
      </p:sp>
      <p:sp>
        <p:nvSpPr>
          <p:cNvPr id="115779" name="Line 90"/>
          <p:cNvSpPr>
            <a:spLocks noChangeShapeType="1"/>
          </p:cNvSpPr>
          <p:nvPr/>
        </p:nvSpPr>
        <p:spPr bwMode="auto">
          <a:xfrm flipH="1" flipV="1">
            <a:off x="2133600" y="2970213"/>
            <a:ext cx="230188" cy="2301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0" name="Line 91"/>
          <p:cNvSpPr>
            <a:spLocks noChangeShapeType="1"/>
          </p:cNvSpPr>
          <p:nvPr/>
        </p:nvSpPr>
        <p:spPr bwMode="auto">
          <a:xfrm flipH="1">
            <a:off x="2133600" y="342900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5781" name="Text Box 92"/>
          <p:cNvSpPr txBox="1">
            <a:spLocks noChangeArrowheads="1"/>
          </p:cNvSpPr>
          <p:nvPr/>
        </p:nvSpPr>
        <p:spPr bwMode="auto">
          <a:xfrm>
            <a:off x="2209800" y="3162300"/>
            <a:ext cx="6238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4.3 [V]</a:t>
            </a: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EE90F14-B7E6-4D09-9A17-57388CCCA700}" type="slidenum">
              <a:rPr lang="en-US" altLang="ko-KR" sz="1400" smtClean="0">
                <a:latin typeface="Times New Roman" pitchFamily="18" charset="0"/>
                <a:cs typeface="Times New Roman" pitchFamily="18" charset="0"/>
              </a:rPr>
              <a:pPr eaLnBrk="1" hangingPunct="1"/>
              <a:t>109</a:t>
            </a:fld>
            <a:endParaRPr lang="en-US" altLang="ko-KR" sz="1400" smtClean="0">
              <a:latin typeface="Times New Roman" pitchFamily="18" charset="0"/>
              <a:cs typeface="Times New Roman" pitchFamily="18" charset="0"/>
            </a:endParaRPr>
          </a:p>
        </p:txBody>
      </p:sp>
      <p:sp>
        <p:nvSpPr>
          <p:cNvPr id="116739"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1674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Đo diode</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16741"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1674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25" y="1295400"/>
            <a:ext cx="5257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3" name="Text Box 6"/>
          <p:cNvSpPr txBox="1">
            <a:spLocks noChangeArrowheads="1"/>
          </p:cNvSpPr>
          <p:nvPr/>
        </p:nvSpPr>
        <p:spPr bwMode="auto">
          <a:xfrm>
            <a:off x="833438" y="5132388"/>
            <a:ext cx="85137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buFontTx/>
              <a:buChar char="-"/>
            </a:pPr>
            <a:r>
              <a:rPr lang="en-US" altLang="ko-KR">
                <a:latin typeface="Times New Roman" pitchFamily="18" charset="0"/>
                <a:cs typeface="Times New Roman" pitchFamily="18" charset="0"/>
              </a:rPr>
              <a:t> Thứ tự giống với test dẫn điện.</a:t>
            </a:r>
          </a:p>
          <a:p>
            <a:pPr eaLnBrk="1" hangingPunct="1">
              <a:buFontTx/>
              <a:buChar char="-"/>
            </a:pPr>
            <a:r>
              <a:rPr lang="en-US" altLang="ko-KR">
                <a:latin typeface="Times New Roman" pitchFamily="18" charset="0"/>
                <a:cs typeface="Times New Roman" pitchFamily="18" charset="0"/>
              </a:rPr>
              <a:t> Khi đo Diode theo chiều thuận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điện áp sẽ được biểu thị khoảng 0.6[v]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có âm thanh phát ra.(ảnh A)</a:t>
            </a:r>
          </a:p>
          <a:p>
            <a:pPr eaLnBrk="1" hangingPunct="1"/>
            <a:r>
              <a:rPr lang="en-US" altLang="ko-KR">
                <a:latin typeface="Times New Roman" pitchFamily="18" charset="0"/>
                <a:cs typeface="Times New Roman" pitchFamily="18" charset="0"/>
              </a:rPr>
              <a:t>   Khi đo Diode theo chiều ngược thì không có âm thanh phát ra giống như cái bị mở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màn hình máy đo cũng không thay đổi.(ảnh B)</a:t>
            </a:r>
          </a:p>
          <a:p>
            <a:pPr eaLnBrk="1" hangingPunct="1">
              <a:buFontTx/>
              <a:buChar char="-"/>
            </a:pPr>
            <a:r>
              <a:rPr lang="en-US" altLang="ko-KR">
                <a:latin typeface="Times New Roman" pitchFamily="18" charset="0"/>
                <a:cs typeface="Times New Roman" pitchFamily="18" charset="0"/>
              </a:rPr>
              <a:t> Nếu không đo Diode thì giống với test dẫn điện thường.(ảnh C)</a:t>
            </a:r>
          </a:p>
          <a:p>
            <a:pPr eaLnBrk="1" hangingPunct="1"/>
            <a:endParaRPr lang="en-US" altLang="ko-KR">
              <a:latin typeface="Times New Roman" pitchFamily="18" charset="0"/>
              <a:cs typeface="Times New Roman" pitchFamily="18" charset="0"/>
            </a:endParaRPr>
          </a:p>
        </p:txBody>
      </p:sp>
      <p:grpSp>
        <p:nvGrpSpPr>
          <p:cNvPr id="116744" name="Group 7"/>
          <p:cNvGrpSpPr>
            <a:grpSpLocks/>
          </p:cNvGrpSpPr>
          <p:nvPr/>
        </p:nvGrpSpPr>
        <p:grpSpPr bwMode="auto">
          <a:xfrm>
            <a:off x="990600" y="6096000"/>
            <a:ext cx="3216275" cy="322263"/>
            <a:chOff x="2928" y="2496"/>
            <a:chExt cx="2026" cy="203"/>
          </a:xfrm>
        </p:grpSpPr>
        <p:pic>
          <p:nvPicPr>
            <p:cNvPr id="11674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2496"/>
              <a:ext cx="336"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7" name="Text Box 9"/>
            <p:cNvSpPr txBox="1">
              <a:spLocks noChangeArrowheads="1"/>
            </p:cNvSpPr>
            <p:nvPr/>
          </p:nvSpPr>
          <p:spPr bwMode="auto">
            <a:xfrm>
              <a:off x="3254" y="2513"/>
              <a:ext cx="170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Nhấn vào nút và có thể mở/tắt âm thanh.</a:t>
              </a:r>
            </a:p>
          </p:txBody>
        </p:sp>
      </p:grpSp>
      <p:sp>
        <p:nvSpPr>
          <p:cNvPr id="116745" name="Text Box 10"/>
          <p:cNvSpPr txBox="1">
            <a:spLocks noChangeArrowheads="1"/>
          </p:cNvSpPr>
          <p:nvPr/>
        </p:nvSpPr>
        <p:spPr bwMode="auto">
          <a:xfrm>
            <a:off x="6064250" y="1423988"/>
            <a:ext cx="29718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※Ứng dụng Diode Test để phán đoán</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LED và</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TR ở tình trạng tốt/không tốt, và có thể kiểm tra cực.</a:t>
            </a: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FD63390-85F8-416F-975A-918317E49537}" type="slidenum">
              <a:rPr lang="en-US" altLang="ko-KR" sz="1400" smtClean="0">
                <a:latin typeface="Times New Roman" pitchFamily="18" charset="0"/>
                <a:cs typeface="Times New Roman" pitchFamily="18" charset="0"/>
              </a:rPr>
              <a:pPr eaLnBrk="1" hangingPunct="1"/>
              <a:t>110</a:t>
            </a:fld>
            <a:endParaRPr lang="en-US" altLang="ko-KR" sz="1400" smtClean="0">
              <a:latin typeface="Times New Roman" pitchFamily="18" charset="0"/>
              <a:cs typeface="Times New Roman" pitchFamily="18" charset="0"/>
            </a:endParaRPr>
          </a:p>
        </p:txBody>
      </p:sp>
      <p:sp>
        <p:nvSpPr>
          <p:cNvPr id="117763"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17764"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1776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513" y="1484313"/>
            <a:ext cx="2400300" cy="1798637"/>
          </a:xfrm>
          <a:prstGeom prst="rect">
            <a:avLst/>
          </a:prstGeom>
          <a:noFill/>
          <a:ln w="38100">
            <a:solidFill>
              <a:schemeClr val="fo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118790" name="Text Box 13"/>
          <p:cNvSpPr txBox="1">
            <a:spLocks noChangeArrowheads="1"/>
          </p:cNvSpPr>
          <p:nvPr/>
        </p:nvSpPr>
        <p:spPr bwMode="auto">
          <a:xfrm>
            <a:off x="808038" y="1349375"/>
            <a:ext cx="520382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30000"/>
              </a:lnSpc>
              <a:buFont typeface="Wingdings" pitchFamily="2" charset="2"/>
              <a:buAutoNum type="circleNumDbPlain"/>
              <a:defRPr/>
            </a:pPr>
            <a:r>
              <a:rPr lang="en-US" altLang="ko-KR" dirty="0" err="1" smtClean="0">
                <a:latin typeface="Times New Roman" pitchFamily="18" charset="0"/>
                <a:cs typeface="Times New Roman" pitchFamily="18" charset="0"/>
              </a:rPr>
              <a:t>Đặt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đen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–COM ,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đỏ</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V,Ω,A .</a:t>
            </a:r>
          </a:p>
          <a:p>
            <a:pPr eaLnBrk="1" hangingPunct="1">
              <a:lnSpc>
                <a:spcPct val="130000"/>
              </a:lnSpc>
              <a:buFont typeface="Wingdings" pitchFamily="2" charset="2"/>
              <a:buAutoNum type="circleNumDbPlain"/>
              <a:defRPr/>
            </a:pPr>
            <a:r>
              <a:rPr lang="en-US" altLang="ko-KR" dirty="0" err="1" smtClean="0">
                <a:latin typeface="Times New Roman" pitchFamily="18" charset="0"/>
                <a:cs typeface="Times New Roman" pitchFamily="18" charset="0"/>
              </a:rPr>
              <a:t>Để</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tắc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chọn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dãy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X1K(0~150㎂) </a:t>
            </a:r>
            <a:r>
              <a:rPr lang="en-US" altLang="ko-KR" dirty="0" err="1" smtClean="0">
                <a:latin typeface="Times New Roman" pitchFamily="18" charset="0"/>
                <a:cs typeface="Times New Roman" pitchFamily="18" charset="0"/>
              </a:rPr>
              <a:t>hoặc</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X10(0~15㎃)</a:t>
            </a: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dãy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ôm</a:t>
            </a:r>
            <a:r>
              <a:rPr lang="en-US" altLang="ko-KR" dirty="0" smtClean="0">
                <a:latin typeface="Times New Roman" pitchFamily="18" charset="0"/>
                <a:cs typeface="Times New Roman" pitchFamily="18" charset="0"/>
              </a:rPr>
              <a:t>.</a:t>
            </a:r>
          </a:p>
          <a:p>
            <a:pPr eaLnBrk="1" hangingPunct="1">
              <a:lnSpc>
                <a:spcPct val="130000"/>
              </a:lnSpc>
              <a:buFont typeface="Wingdings" pitchFamily="2" charset="2"/>
              <a:buAutoNum type="circleNumDbPlain"/>
              <a:defRPr/>
            </a:pPr>
            <a:r>
              <a:rPr lang="en-US" altLang="ko-KR" dirty="0" smtClean="0">
                <a:latin typeface="Times New Roman" pitchFamily="18" charset="0"/>
                <a:cs typeface="Times New Roman" pitchFamily="18" charset="0"/>
              </a:rPr>
              <a:t>Cho </a:t>
            </a:r>
            <a:r>
              <a:rPr lang="en-US" altLang="ko-KR" dirty="0" err="1" smtClean="0">
                <a:latin typeface="Times New Roman" pitchFamily="18" charset="0"/>
                <a:cs typeface="Times New Roman" pitchFamily="18" charset="0"/>
              </a:rPr>
              <a:t>tiếp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xúc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kim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đen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cực</a:t>
            </a:r>
            <a:r>
              <a:rPr lang="en-US" altLang="ko-KR" dirty="0" smtClean="0">
                <a:latin typeface="Times New Roman" pitchFamily="18" charset="0"/>
                <a:cs typeface="Times New Roman" pitchFamily="18" charset="0"/>
              </a:rPr>
              <a:t> +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 </a:t>
            </a:r>
            <a:r>
              <a:rPr lang="en-US" altLang="ko-KR" dirty="0" err="1" smtClean="0">
                <a:latin typeface="Times New Roman" pitchFamily="18" charset="0"/>
                <a:cs typeface="Times New Roman" pitchFamily="18" charset="0"/>
              </a:rPr>
              <a:t>kim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đỏ</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cực</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a:t>
            </a: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a:t>
            </a: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đọc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thuận</a:t>
            </a:r>
            <a:r>
              <a:rPr lang="en-US" altLang="ko-KR" dirty="0" smtClean="0">
                <a:latin typeface="Times New Roman" pitchFamily="18" charset="0"/>
                <a:cs typeface="Times New Roman" pitchFamily="18" charset="0"/>
              </a:rPr>
              <a:t>(I</a:t>
            </a:r>
            <a:r>
              <a:rPr lang="en-US" altLang="ko-KR" sz="800" dirty="0" smtClean="0">
                <a:latin typeface="Times New Roman" pitchFamily="18" charset="0"/>
                <a:cs typeface="Times New Roman" pitchFamily="18" charset="0"/>
              </a:rPr>
              <a:t>F</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 ở </a:t>
            </a:r>
            <a:r>
              <a:rPr lang="en-US" altLang="ko-KR" dirty="0" err="1" smtClean="0">
                <a:latin typeface="Times New Roman" pitchFamily="18" charset="0"/>
                <a:cs typeface="Times New Roman" pitchFamily="18" charset="0"/>
              </a:rPr>
              <a:t>bẳng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vạch</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I</a:t>
            </a:r>
            <a:r>
              <a:rPr lang="en-US" altLang="ko-KR" sz="800" dirty="0" smtClean="0">
                <a:latin typeface="Times New Roman" pitchFamily="18" charset="0"/>
                <a:cs typeface="Times New Roman" pitchFamily="18" charset="0"/>
              </a:rPr>
              <a:t>F,</a:t>
            </a:r>
            <a:r>
              <a:rPr lang="en-US" altLang="ko-KR" dirty="0" smtClean="0">
                <a:latin typeface="Times New Roman" pitchFamily="18" charset="0"/>
                <a:cs typeface="Times New Roman" pitchFamily="18" charset="0"/>
              </a:rPr>
              <a:t> I</a:t>
            </a:r>
            <a:r>
              <a:rPr lang="en-US" altLang="ko-KR" sz="800" dirty="0" smtClean="0">
                <a:latin typeface="Times New Roman" pitchFamily="18" charset="0"/>
                <a:cs typeface="Times New Roman" pitchFamily="18" charset="0"/>
              </a:rPr>
              <a:t>R</a:t>
            </a:r>
            <a:r>
              <a:rPr lang="en-US" altLang="ko-KR" dirty="0" smtClean="0">
                <a:latin typeface="Times New Roman" pitchFamily="18" charset="0"/>
                <a:cs typeface="Times New Roman" pitchFamily="18" charset="0"/>
              </a:rPr>
              <a:t>.                                                             </a:t>
            </a:r>
          </a:p>
          <a:p>
            <a:pPr marL="0" indent="0" eaLnBrk="1" hangingPunct="1">
              <a:lnSpc>
                <a:spcPct val="130000"/>
              </a:lnSpc>
              <a:defRPr/>
            </a:pP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         </a:t>
            </a:r>
            <a:r>
              <a:rPr lang="ko-KR" altLang="en-US" dirty="0" smtClean="0">
                <a:latin typeface="Times New Roman" pitchFamily="18" charset="0"/>
                <a:cs typeface="Times New Roman" pitchFamily="18" charset="0"/>
              </a:rPr>
              <a:t>＊</a:t>
            </a:r>
            <a:r>
              <a:rPr lang="en-US" altLang="ko-KR" dirty="0" err="1" smtClean="0">
                <a:latin typeface="Times New Roman" pitchFamily="18" charset="0"/>
                <a:cs typeface="Times New Roman" pitchFamily="18" charset="0"/>
              </a:rPr>
              <a:t>Tham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khảo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chỉ</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gần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chỉ</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thị</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cao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nhất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thì</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hàng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đạt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tiêu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chuẩn</a:t>
            </a:r>
            <a:r>
              <a:rPr lang="en-US" altLang="ko-KR" dirty="0" smtClean="0">
                <a:latin typeface="Times New Roman" pitchFamily="18" charset="0"/>
                <a:cs typeface="Times New Roman" pitchFamily="18" charset="0"/>
              </a:rPr>
              <a:t>.</a:t>
            </a:r>
          </a:p>
          <a:p>
            <a:pPr eaLnBrk="1" hangingPunct="1">
              <a:lnSpc>
                <a:spcPct val="130000"/>
              </a:lnSpc>
              <a:buFont typeface="+mj-ea"/>
              <a:buAutoNum type="circleNumDbPlain" startAt="4"/>
              <a:defRPr/>
            </a:pPr>
            <a:r>
              <a:rPr lang="en-US" altLang="ko-KR" dirty="0" smtClean="0">
                <a:latin typeface="Times New Roman" pitchFamily="18" charset="0"/>
                <a:cs typeface="Times New Roman" pitchFamily="18" charset="0"/>
              </a:rPr>
              <a:t>Cho </a:t>
            </a:r>
            <a:r>
              <a:rPr lang="en-US" altLang="ko-KR" dirty="0" err="1" smtClean="0">
                <a:latin typeface="Times New Roman" pitchFamily="18" charset="0"/>
                <a:cs typeface="Times New Roman" pitchFamily="18" charset="0"/>
              </a:rPr>
              <a:t>tiếp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xúc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kim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đỏ</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cực</a:t>
            </a:r>
            <a:r>
              <a:rPr lang="en-US" altLang="ko-KR" dirty="0" smtClean="0">
                <a:latin typeface="Times New Roman" pitchFamily="18" charset="0"/>
                <a:cs typeface="Times New Roman" pitchFamily="18" charset="0"/>
              </a:rPr>
              <a:t> +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 </a:t>
            </a:r>
            <a:r>
              <a:rPr lang="en-US" altLang="ko-KR" dirty="0" err="1" smtClean="0">
                <a:latin typeface="Times New Roman" pitchFamily="18" charset="0"/>
                <a:cs typeface="Times New Roman" pitchFamily="18" charset="0"/>
              </a:rPr>
              <a:t>kim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dây</a:t>
            </a:r>
            <a:r>
              <a:rPr lang="en-US" altLang="ko-KR" dirty="0" smtClean="0">
                <a:latin typeface="Times New Roman" pitchFamily="18" charset="0"/>
                <a:cs typeface="Times New Roman" pitchFamily="18" charset="0"/>
              </a:rPr>
              <a:t> test </a:t>
            </a:r>
            <a:r>
              <a:rPr lang="en-US" altLang="ko-KR" dirty="0" err="1" smtClean="0">
                <a:latin typeface="Times New Roman" pitchFamily="18" charset="0"/>
                <a:cs typeface="Times New Roman" pitchFamily="18" charset="0"/>
              </a:rPr>
              <a:t>màu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đen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cực</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a:t>
            </a: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a:t>
            </a: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đọc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thuận</a:t>
            </a:r>
            <a:r>
              <a:rPr lang="en-US" altLang="ko-KR" dirty="0" smtClean="0">
                <a:latin typeface="Times New Roman" pitchFamily="18" charset="0"/>
                <a:cs typeface="Times New Roman" pitchFamily="18" charset="0"/>
              </a:rPr>
              <a:t> (I</a:t>
            </a:r>
            <a:r>
              <a:rPr lang="en-US" altLang="ko-KR" sz="800" dirty="0" smtClean="0">
                <a:latin typeface="Times New Roman" pitchFamily="18" charset="0"/>
                <a:cs typeface="Times New Roman" pitchFamily="18" charset="0"/>
              </a:rPr>
              <a:t>F</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 ở </a:t>
            </a:r>
            <a:r>
              <a:rPr lang="en-US" altLang="ko-KR" dirty="0" err="1" smtClean="0">
                <a:latin typeface="Times New Roman" pitchFamily="18" charset="0"/>
                <a:cs typeface="Times New Roman" pitchFamily="18" charset="0"/>
              </a:rPr>
              <a:t>bẳng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vạch</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I</a:t>
            </a:r>
            <a:r>
              <a:rPr lang="en-US" altLang="ko-KR" sz="800" dirty="0" smtClean="0">
                <a:latin typeface="Times New Roman" pitchFamily="18" charset="0"/>
                <a:cs typeface="Times New Roman" pitchFamily="18" charset="0"/>
              </a:rPr>
              <a:t>F,</a:t>
            </a:r>
            <a:r>
              <a:rPr lang="en-US" altLang="ko-KR" dirty="0" smtClean="0">
                <a:latin typeface="Times New Roman" pitchFamily="18" charset="0"/>
                <a:cs typeface="Times New Roman" pitchFamily="18" charset="0"/>
              </a:rPr>
              <a:t> I</a:t>
            </a:r>
            <a:r>
              <a:rPr lang="en-US" altLang="ko-KR" sz="800" dirty="0" smtClean="0">
                <a:latin typeface="Times New Roman" pitchFamily="18" charset="0"/>
                <a:cs typeface="Times New Roman" pitchFamily="18" charset="0"/>
              </a:rPr>
              <a:t>R</a:t>
            </a:r>
            <a:r>
              <a:rPr lang="en-US" altLang="ko-KR" dirty="0" smtClean="0">
                <a:latin typeface="Times New Roman" pitchFamily="18" charset="0"/>
                <a:cs typeface="Times New Roman" pitchFamily="18" charset="0"/>
              </a:rPr>
              <a:t>.                                                     </a:t>
            </a:r>
          </a:p>
          <a:p>
            <a:pPr marL="0" indent="0" eaLnBrk="1" hangingPunct="1">
              <a:lnSpc>
                <a:spcPct val="130000"/>
              </a:lnSpc>
              <a:defRPr/>
            </a:pPr>
            <a:r>
              <a:rPr lang="ko-KR" altLang="en-US"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Tham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khảo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kim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đồng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hồ</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gần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với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vạch</a:t>
            </a:r>
            <a:r>
              <a:rPr lang="en-US" altLang="ko-KR" dirty="0" smtClean="0">
                <a:latin typeface="Times New Roman" pitchFamily="18" charset="0"/>
                <a:cs typeface="Times New Roman" pitchFamily="18" charset="0"/>
              </a:rPr>
              <a:t> 0 ở </a:t>
            </a:r>
            <a:r>
              <a:rPr lang="en-US" altLang="ko-KR" dirty="0" err="1" smtClean="0">
                <a:latin typeface="Times New Roman" pitchFamily="18" charset="0"/>
                <a:cs typeface="Times New Roman" pitchFamily="18" charset="0"/>
              </a:rPr>
              <a:t>bên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trái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thì</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hàng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đạt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tiêu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chuẩn</a:t>
            </a:r>
            <a:r>
              <a:rPr lang="en-US" altLang="ko-KR" dirty="0" smtClean="0">
                <a:latin typeface="Times New Roman" pitchFamily="18" charset="0"/>
                <a:cs typeface="Times New Roman" pitchFamily="18" charset="0"/>
              </a:rPr>
              <a:t>.</a:t>
            </a:r>
          </a:p>
          <a:p>
            <a:pPr eaLnBrk="1" hangingPunct="1">
              <a:lnSpc>
                <a:spcPct val="130000"/>
              </a:lnSpc>
              <a:buFont typeface="+mj-ea"/>
              <a:buAutoNum type="circleNumDbPlain" startAt="5"/>
              <a:defRPr/>
            </a:pPr>
            <a:r>
              <a:rPr lang="en-US" altLang="ko-KR" dirty="0" err="1" smtClean="0">
                <a:latin typeface="Times New Roman" pitchFamily="18" charset="0"/>
                <a:cs typeface="Times New Roman" pitchFamily="18" charset="0"/>
              </a:rPr>
              <a:t>Khi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giải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mã</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xuôi</a:t>
            </a:r>
            <a:r>
              <a:rPr lang="en-US" altLang="ko-KR" dirty="0" smtClean="0">
                <a:latin typeface="Times New Roman" pitchFamily="18" charset="0"/>
                <a:cs typeface="Times New Roman" pitchFamily="18" charset="0"/>
              </a:rPr>
              <a:t>(</a:t>
            </a:r>
            <a:r>
              <a:rPr lang="en-US" altLang="ko-KR" dirty="0" err="1" smtClean="0">
                <a:latin typeface="Times New Roman" pitchFamily="18" charset="0"/>
                <a:cs typeface="Times New Roman" pitchFamily="18" charset="0"/>
              </a:rPr>
              <a:t>dòng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thuận</a:t>
            </a:r>
            <a:r>
              <a:rPr lang="en-US" altLang="ko-KR" dirty="0" smtClean="0">
                <a:latin typeface="Times New Roman" pitchFamily="18" charset="0"/>
                <a:cs typeface="Times New Roman" pitchFamily="18" charset="0"/>
              </a:rPr>
              <a:t>)(I</a:t>
            </a:r>
            <a:r>
              <a:rPr lang="en-US" altLang="ko-KR" sz="800" dirty="0" smtClean="0">
                <a:latin typeface="Times New Roman" pitchFamily="18" charset="0"/>
                <a:cs typeface="Times New Roman" pitchFamily="18" charset="0"/>
              </a:rPr>
              <a:t>F</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nếu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đọc</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đồng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thời</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giá</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trị</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V</a:t>
            </a:r>
            <a:r>
              <a:rPr lang="en-US" altLang="ko-KR" sz="800" dirty="0" smtClean="0">
                <a:latin typeface="Times New Roman" pitchFamily="18" charset="0"/>
                <a:cs typeface="Times New Roman" pitchFamily="18" charset="0"/>
              </a:rPr>
              <a:t>F </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bảng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vạch</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có</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thể</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biết</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ngay</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điện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áp</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chiều</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thuận</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của</a:t>
            </a:r>
            <a:r>
              <a:rPr lang="en-US" altLang="ko-KR" dirty="0" smtClean="0">
                <a:latin typeface="Times New Roman" pitchFamily="18" charset="0"/>
                <a:cs typeface="Times New Roman" pitchFamily="18" charset="0"/>
              </a:rPr>
              <a:t> Diode </a:t>
            </a:r>
            <a:r>
              <a:rPr lang="en-US" altLang="ko-KR" dirty="0" err="1" smtClean="0">
                <a:latin typeface="Times New Roman" pitchFamily="18" charset="0"/>
                <a:cs typeface="Times New Roman" pitchFamily="18" charset="0"/>
              </a:rPr>
              <a:t>thí</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nghiệm</a:t>
            </a:r>
            <a:r>
              <a:rPr lang="en-US" altLang="ko-KR" dirty="0" smtClean="0">
                <a:latin typeface="Times New Roman" pitchFamily="18" charset="0"/>
                <a:cs typeface="Times New Roman" pitchFamily="18" charset="0"/>
              </a:rPr>
              <a:t>.                                                       </a:t>
            </a:r>
            <a:r>
              <a:rPr lang="ko-KR" altLang="en-US" dirty="0" smtClean="0">
                <a:latin typeface="Times New Roman" pitchFamily="18" charset="0"/>
                <a:cs typeface="Times New Roman" pitchFamily="18" charset="0"/>
              </a:rPr>
              <a:t>＊</a:t>
            </a:r>
            <a:r>
              <a:rPr lang="en-US" altLang="ko-KR" dirty="0" err="1" smtClean="0">
                <a:latin typeface="Times New Roman" pitchFamily="18" charset="0"/>
                <a:cs typeface="Times New Roman" pitchFamily="18" charset="0"/>
              </a:rPr>
              <a:t>Tham</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khảo</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Thông</a:t>
            </a:r>
            <a:r>
              <a:rPr lang="en-US" altLang="ko-KR" dirty="0" smtClean="0">
                <a:latin typeface="Times New Roman" pitchFamily="18" charset="0"/>
                <a:cs typeface="Times New Roman" pitchFamily="18" charset="0"/>
              </a:rPr>
              <a:t> </a:t>
            </a:r>
            <a:r>
              <a:rPr lang="en-US" altLang="ko-KR" dirty="0" err="1" smtClean="0">
                <a:latin typeface="Times New Roman" pitchFamily="18" charset="0"/>
                <a:cs typeface="Times New Roman" pitchFamily="18" charset="0"/>
              </a:rPr>
              <a:t>thường</a:t>
            </a:r>
            <a:r>
              <a:rPr lang="en-US" altLang="ko-KR" dirty="0" smtClean="0">
                <a:latin typeface="Times New Roman" pitchFamily="18" charset="0"/>
                <a:cs typeface="Times New Roman" pitchFamily="18" charset="0"/>
              </a:rPr>
              <a:t> diode</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Ge </a:t>
            </a:r>
            <a:r>
              <a:rPr lang="en-US" altLang="ko-KR" dirty="0" err="1" smtClean="0">
                <a:latin typeface="Times New Roman" pitchFamily="18" charset="0"/>
                <a:cs typeface="Times New Roman" pitchFamily="18" charset="0"/>
              </a:rPr>
              <a:t>là</a:t>
            </a:r>
            <a:r>
              <a:rPr lang="ko-KR" altLang="en-US" dirty="0" smtClean="0">
                <a:latin typeface="Times New Roman" pitchFamily="18" charset="0"/>
                <a:cs typeface="Times New Roman" pitchFamily="18" charset="0"/>
              </a:rPr>
              <a:t> </a:t>
            </a:r>
            <a:r>
              <a:rPr lang="en-US" altLang="ko-KR" dirty="0" smtClean="0">
                <a:latin typeface="Times New Roman" pitchFamily="18" charset="0"/>
                <a:cs typeface="Times New Roman" pitchFamily="18" charset="0"/>
              </a:rPr>
              <a:t>0.1~0.2[V], </a:t>
            </a:r>
            <a:r>
              <a:rPr lang="en-US" altLang="ko-KR" dirty="0" err="1" smtClean="0">
                <a:latin typeface="Times New Roman" pitchFamily="18" charset="0"/>
                <a:cs typeface="Times New Roman" pitchFamily="18" charset="0"/>
              </a:rPr>
              <a:t>và</a:t>
            </a:r>
            <a:r>
              <a:rPr lang="en-US" altLang="ko-KR" dirty="0" smtClean="0">
                <a:latin typeface="Times New Roman" pitchFamily="18" charset="0"/>
                <a:cs typeface="Times New Roman" pitchFamily="18" charset="0"/>
              </a:rPr>
              <a:t> diode Si </a:t>
            </a:r>
            <a:r>
              <a:rPr lang="en-US" altLang="ko-KR" dirty="0" err="1" smtClean="0">
                <a:latin typeface="Times New Roman" pitchFamily="18" charset="0"/>
                <a:cs typeface="Times New Roman" pitchFamily="18" charset="0"/>
              </a:rPr>
              <a:t>là</a:t>
            </a:r>
            <a:r>
              <a:rPr lang="en-US" altLang="ko-KR" dirty="0" smtClean="0">
                <a:latin typeface="Times New Roman" pitchFamily="18" charset="0"/>
                <a:cs typeface="Times New Roman" pitchFamily="18" charset="0"/>
              </a:rPr>
              <a:t> 0.5~0.8[V]</a:t>
            </a:r>
            <a:endParaRPr lang="en-US" altLang="ko-KR" sz="800" dirty="0" smtClean="0">
              <a:latin typeface="Times New Roman" pitchFamily="18" charset="0"/>
              <a:cs typeface="Times New Roman" pitchFamily="18" charset="0"/>
            </a:endParaRPr>
          </a:p>
        </p:txBody>
      </p:sp>
      <p:sp>
        <p:nvSpPr>
          <p:cNvPr id="117767" name="Text Box 14"/>
          <p:cNvSpPr txBox="1">
            <a:spLocks noChangeArrowheads="1"/>
          </p:cNvSpPr>
          <p:nvPr/>
        </p:nvSpPr>
        <p:spPr bwMode="auto">
          <a:xfrm>
            <a:off x="755650" y="954088"/>
            <a:ext cx="17018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 Đo Diode và LED</a:t>
            </a:r>
            <a:endParaRPr lang="ko-KR" altLang="en-US" sz="1400">
              <a:latin typeface="Times New Roman" pitchFamily="18" charset="0"/>
              <a:cs typeface="Times New Roman" pitchFamily="18" charset="0"/>
            </a:endParaRPr>
          </a:p>
        </p:txBody>
      </p:sp>
      <p:pic>
        <p:nvPicPr>
          <p:cNvPr id="117768" name="Picture 17"/>
          <p:cNvPicPr>
            <a:picLocks noChangeAspect="1" noChangeArrowheads="1"/>
          </p:cNvPicPr>
          <p:nvPr/>
        </p:nvPicPr>
        <p:blipFill>
          <a:blip r:embed="rId4">
            <a:extLst>
              <a:ext uri="{28A0092B-C50C-407E-A947-70E740481C1C}">
                <a14:useLocalDpi xmlns:a14="http://schemas.microsoft.com/office/drawing/2010/main" val="0"/>
              </a:ext>
            </a:extLst>
          </a:blip>
          <a:srcRect r="-316"/>
          <a:stretch>
            <a:fillRect/>
          </a:stretch>
        </p:blipFill>
        <p:spPr bwMode="auto">
          <a:xfrm>
            <a:off x="6137275" y="3429000"/>
            <a:ext cx="2406650" cy="1422400"/>
          </a:xfrm>
          <a:prstGeom prst="rect">
            <a:avLst/>
          </a:prstGeom>
          <a:noFill/>
          <a:ln w="38100">
            <a:solidFill>
              <a:schemeClr val="fo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117769" name="Text Box 18"/>
          <p:cNvSpPr txBox="1">
            <a:spLocks noChangeArrowheads="1"/>
          </p:cNvSpPr>
          <p:nvPr/>
        </p:nvSpPr>
        <p:spPr bwMode="auto">
          <a:xfrm>
            <a:off x="1255713" y="5589588"/>
            <a:ext cx="66135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Học thuộc sự khác nhau của màu cây kim phân cực của DVM</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và </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Analog Tester.</a:t>
            </a:r>
          </a:p>
          <a:p>
            <a:pPr eaLnBrk="1" hangingPunct="1"/>
            <a:r>
              <a:rPr lang="en-US" altLang="ko-KR" b="1">
                <a:latin typeface="Times New Roman" pitchFamily="18" charset="0"/>
                <a:cs typeface="Times New Roman" pitchFamily="18" charset="0"/>
              </a:rPr>
              <a:t>※ Ứng dụng Diode Test</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để phát hiện</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LED và</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TR đạt tiêu chuẩn hay không, và hãy thử check cực!</a:t>
            </a:r>
          </a:p>
        </p:txBody>
      </p:sp>
      <p:pic>
        <p:nvPicPr>
          <p:cNvPr id="117770" name="Picture 19" descr="MCj02378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8675" y="5651500"/>
            <a:ext cx="5032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DBBC8DE-178B-41D4-AE1D-B2E0524991B4}" type="slidenum">
              <a:rPr lang="en-US" altLang="ko-KR" sz="1400" smtClean="0">
                <a:latin typeface="Times New Roman" pitchFamily="18" charset="0"/>
                <a:cs typeface="Times New Roman" pitchFamily="18" charset="0"/>
              </a:rPr>
              <a:pPr eaLnBrk="1" hangingPunct="1"/>
              <a:t>111</a:t>
            </a:fld>
            <a:endParaRPr lang="en-US" altLang="ko-KR" sz="1400" smtClean="0">
              <a:latin typeface="Times New Roman" pitchFamily="18" charset="0"/>
              <a:cs typeface="Times New Roman" pitchFamily="18" charset="0"/>
            </a:endParaRPr>
          </a:p>
        </p:txBody>
      </p:sp>
      <p:sp>
        <p:nvSpPr>
          <p:cNvPr id="118787"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18788"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18789" name="Text Box 5"/>
          <p:cNvSpPr txBox="1">
            <a:spLocks noChangeArrowheads="1"/>
          </p:cNvSpPr>
          <p:nvPr/>
        </p:nvSpPr>
        <p:spPr bwMode="auto">
          <a:xfrm>
            <a:off x="1204913" y="908050"/>
            <a:ext cx="50530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[Thực hành đổi từ AC </a:t>
            </a:r>
            <a:r>
              <a:rPr lang="ko-KR" altLang="en-US" sz="1400" b="1">
                <a:latin typeface="Times New Roman" pitchFamily="18" charset="0"/>
                <a:cs typeface="Times New Roman" pitchFamily="18" charset="0"/>
              </a:rPr>
              <a:t>→ </a:t>
            </a:r>
            <a:r>
              <a:rPr lang="en-US" altLang="ko-KR" sz="1400" b="1">
                <a:latin typeface="Times New Roman" pitchFamily="18" charset="0"/>
                <a:cs typeface="Times New Roman" pitchFamily="18" charset="0"/>
              </a:rPr>
              <a:t>DC  có sử dụng diode, condenser, coil]</a:t>
            </a:r>
          </a:p>
        </p:txBody>
      </p:sp>
      <p:sp>
        <p:nvSpPr>
          <p:cNvPr id="116742" name="Text Box 18"/>
          <p:cNvSpPr txBox="1">
            <a:spLocks noChangeArrowheads="1"/>
          </p:cNvSpPr>
          <p:nvPr/>
        </p:nvSpPr>
        <p:spPr bwMode="auto">
          <a:xfrm>
            <a:off x="1187450" y="4471988"/>
            <a:ext cx="7488238" cy="164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ko-KR" b="1" dirty="0" err="1" smtClean="0">
                <a:latin typeface="Times New Roman" panose="02020603050405020304" pitchFamily="18" charset="0"/>
                <a:cs typeface="Times New Roman" panose="02020603050405020304" pitchFamily="18" charset="0"/>
              </a:rPr>
              <a:t>Thứ</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tự</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làm</a:t>
            </a:r>
            <a:r>
              <a:rPr lang="ko-KR" altLang="en-US" b="1" dirty="0" smtClean="0">
                <a:latin typeface="Times New Roman" panose="02020603050405020304" pitchFamily="18" charset="0"/>
                <a:cs typeface="Times New Roman" panose="02020603050405020304" pitchFamily="18" charset="0"/>
              </a:rPr>
              <a:t> </a:t>
            </a:r>
            <a:endParaRPr lang="en-US" altLang="ko-KR" b="1" dirty="0" smtClean="0">
              <a:latin typeface="Times New Roman" panose="02020603050405020304" pitchFamily="18" charset="0"/>
              <a:cs typeface="Times New Roman" panose="02020603050405020304" pitchFamily="18" charset="0"/>
            </a:endParaRPr>
          </a:p>
          <a:p>
            <a:pPr marL="228600" indent="-228600" eaLnBrk="1" hangingPunct="1">
              <a:buFontTx/>
              <a:buAutoNum type="arabicPeriod"/>
              <a:defRPr/>
            </a:pPr>
            <a:r>
              <a:rPr lang="en-US" altLang="ko-KR" b="1" dirty="0" err="1" smtClean="0">
                <a:latin typeface="Times New Roman" panose="02020603050405020304" pitchFamily="18" charset="0"/>
                <a:cs typeface="Times New Roman" panose="02020603050405020304" pitchFamily="18" charset="0"/>
              </a:rPr>
              <a:t>Sử</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dụng</a:t>
            </a:r>
            <a:r>
              <a:rPr lang="en-US" altLang="ko-KR" b="1" dirty="0" smtClean="0">
                <a:latin typeface="Times New Roman" panose="02020603050405020304" pitchFamily="18" charset="0"/>
                <a:cs typeface="Times New Roman" panose="02020603050405020304" pitchFamily="18" charset="0"/>
              </a:rPr>
              <a:t> 1 </a:t>
            </a:r>
            <a:r>
              <a:rPr lang="en-US" altLang="ko-KR" b="1" dirty="0" err="1" smtClean="0">
                <a:latin typeface="Times New Roman" panose="02020603050405020304" pitchFamily="18" charset="0"/>
                <a:cs typeface="Times New Roman" panose="02020603050405020304" pitchFamily="18" charset="0"/>
              </a:rPr>
              <a:t>cái</a:t>
            </a:r>
            <a:r>
              <a:rPr lang="en-US" altLang="ko-KR" b="1" dirty="0" smtClean="0">
                <a:latin typeface="Times New Roman" panose="02020603050405020304" pitchFamily="18" charset="0"/>
                <a:cs typeface="Times New Roman" panose="02020603050405020304" pitchFamily="18" charset="0"/>
              </a:rPr>
              <a:t> diode ở </a:t>
            </a:r>
            <a:r>
              <a:rPr lang="en-US" altLang="ko-KR" b="1" dirty="0" err="1" smtClean="0">
                <a:latin typeface="Times New Roman" panose="02020603050405020304" pitchFamily="18" charset="0"/>
                <a:cs typeface="Times New Roman" panose="02020603050405020304" pitchFamily="18" charset="0"/>
              </a:rPr>
              <a:t>nguồn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điện</a:t>
            </a:r>
            <a:r>
              <a:rPr lang="en-US" altLang="ko-KR" b="1" dirty="0" smtClean="0">
                <a:latin typeface="Times New Roman" panose="02020603050405020304" pitchFamily="18" charset="0"/>
                <a:cs typeface="Times New Roman" panose="02020603050405020304" pitchFamily="18" charset="0"/>
              </a:rPr>
              <a:t> AC12</a:t>
            </a:r>
            <a:r>
              <a:rPr lang="ko-KR" altLang="en-US"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và</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thử</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pha</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bằng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máy</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hiện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cấu</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thành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mạch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chỉnh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lưu</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1)</a:t>
            </a:r>
          </a:p>
          <a:p>
            <a:pPr eaLnBrk="1" hangingPunct="1">
              <a:defRPr/>
            </a:pPr>
            <a:r>
              <a:rPr lang="ko-KR" altLang="en-US" b="1" dirty="0" smtClean="0">
                <a:latin typeface="Times New Roman" panose="02020603050405020304" pitchFamily="18" charset="0"/>
                <a:cs typeface="Times New Roman" panose="02020603050405020304" pitchFamily="18" charset="0"/>
              </a:rPr>
              <a:t>   → </a:t>
            </a:r>
            <a:r>
              <a:rPr lang="en-US" altLang="ko-KR" b="1" dirty="0" err="1" smtClean="0">
                <a:latin typeface="Times New Roman" panose="02020603050405020304" pitchFamily="18" charset="0"/>
                <a:cs typeface="Times New Roman" panose="02020603050405020304" pitchFamily="18" charset="0"/>
              </a:rPr>
              <a:t>Để</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mạch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chỉnh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lưu</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nửa</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ngắt</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dây</a:t>
            </a:r>
            <a:r>
              <a:rPr lang="en-US" altLang="ko-KR" b="1" dirty="0" smtClean="0">
                <a:latin typeface="Times New Roman" panose="02020603050405020304" pitchFamily="18" charset="0"/>
                <a:cs typeface="Times New Roman" panose="02020603050405020304" pitchFamily="18" charset="0"/>
              </a:rPr>
              <a:t>(</a:t>
            </a:r>
            <a:r>
              <a:rPr lang="en-US" altLang="ko-KR" b="1" dirty="0" err="1" smtClean="0">
                <a:latin typeface="Times New Roman" panose="02020603050405020304" pitchFamily="18" charset="0"/>
                <a:cs typeface="Times New Roman" panose="02020603050405020304" pitchFamily="18" charset="0"/>
              </a:rPr>
              <a:t>điểm</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1) </a:t>
            </a:r>
            <a:r>
              <a:rPr lang="en-US" altLang="ko-KR" b="1" dirty="0" err="1" smtClean="0">
                <a:latin typeface="Times New Roman" panose="02020603050405020304" pitchFamily="18" charset="0"/>
                <a:cs typeface="Times New Roman" panose="02020603050405020304" pitchFamily="18" charset="0"/>
              </a:rPr>
              <a:t>mạch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làm</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trơn</a:t>
            </a:r>
            <a:r>
              <a:rPr lang="en-US" altLang="ko-KR" b="1" dirty="0" smtClean="0">
                <a:latin typeface="Times New Roman" panose="02020603050405020304" pitchFamily="18" charset="0"/>
                <a:cs typeface="Times New Roman" panose="02020603050405020304" pitchFamily="18" charset="0"/>
              </a:rPr>
              <a:t> LC</a:t>
            </a:r>
            <a:r>
              <a:rPr lang="ko-KR" altLang="en-US" b="1" dirty="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và</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thử</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bằng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máy</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hiện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endParaRPr lang="en-US" altLang="ko-KR" b="1" dirty="0" smtClean="0">
              <a:latin typeface="Times New Roman" panose="02020603050405020304" pitchFamily="18" charset="0"/>
              <a:cs typeface="Times New Roman" panose="02020603050405020304" pitchFamily="18" charset="0"/>
            </a:endParaRPr>
          </a:p>
          <a:p>
            <a:pPr eaLnBrk="1" hangingPunct="1">
              <a:defRPr/>
            </a:pPr>
            <a:r>
              <a:rPr lang="en-US" altLang="ko-KR" b="1" dirty="0" smtClean="0">
                <a:latin typeface="Times New Roman" panose="02020603050405020304" pitchFamily="18" charset="0"/>
                <a:cs typeface="Times New Roman" panose="02020603050405020304" pitchFamily="18" charset="0"/>
              </a:rPr>
              <a:t>2. </a:t>
            </a:r>
            <a:r>
              <a:rPr lang="en-US" altLang="ko-KR" b="1" dirty="0" err="1" smtClean="0">
                <a:latin typeface="Times New Roman" panose="02020603050405020304" pitchFamily="18" charset="0"/>
                <a:cs typeface="Times New Roman" panose="02020603050405020304" pitchFamily="18" charset="0"/>
              </a:rPr>
              <a:t>Tạo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mạch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làm</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trơn</a:t>
            </a:r>
            <a:r>
              <a:rPr lang="en-US" altLang="ko-KR" b="1" dirty="0" smtClean="0">
                <a:latin typeface="Times New Roman" panose="02020603050405020304" pitchFamily="18" charset="0"/>
                <a:cs typeface="Times New Roman" panose="02020603050405020304" pitchFamily="18" charset="0"/>
              </a:rPr>
              <a:t> LC </a:t>
            </a:r>
            <a:r>
              <a:rPr lang="en-US" altLang="ko-KR" b="1" dirty="0" err="1" smtClean="0">
                <a:latin typeface="Times New Roman" panose="02020603050405020304" pitchFamily="18" charset="0"/>
                <a:cs typeface="Times New Roman" panose="02020603050405020304" pitchFamily="18" charset="0"/>
              </a:rPr>
              <a:t>và</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bằng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máy</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hiện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xem</a:t>
            </a:r>
            <a:r>
              <a:rPr lang="en-US" altLang="ko-KR" b="1" dirty="0" smtClean="0">
                <a:latin typeface="Times New Roman" panose="02020603050405020304" pitchFamily="18" charset="0"/>
                <a:cs typeface="Times New Roman" panose="02020603050405020304" pitchFamily="18" charset="0"/>
              </a:rPr>
              <a:t> DC </a:t>
            </a:r>
            <a:r>
              <a:rPr lang="en-US" altLang="ko-KR" b="1" dirty="0" err="1" smtClean="0">
                <a:latin typeface="Times New Roman" panose="02020603050405020304" pitchFamily="18" charset="0"/>
                <a:cs typeface="Times New Roman" panose="02020603050405020304" pitchFamily="18" charset="0"/>
              </a:rPr>
              <a:t>có</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xuất</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hiện</a:t>
            </a:r>
            <a:r>
              <a:rPr lang="en-US" altLang="ko-KR" b="1" dirty="0" smtClean="0">
                <a:latin typeface="Times New Roman" panose="02020603050405020304" pitchFamily="18" charset="0"/>
                <a:cs typeface="Times New Roman" panose="02020603050405020304" pitchFamily="18" charset="0"/>
              </a:rPr>
              <a:t> hay </a:t>
            </a:r>
            <a:r>
              <a:rPr lang="en-US" altLang="ko-KR" b="1" dirty="0" err="1" smtClean="0">
                <a:latin typeface="Times New Roman" panose="02020603050405020304" pitchFamily="18" charset="0"/>
                <a:cs typeface="Times New Roman" panose="02020603050405020304" pitchFamily="18" charset="0"/>
              </a:rPr>
              <a:t>không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2)</a:t>
            </a:r>
          </a:p>
          <a:p>
            <a:pPr eaLnBrk="1" hangingPunct="1">
              <a:defRPr/>
            </a:pPr>
            <a:r>
              <a:rPr lang="en-US" altLang="ko-KR" b="1" dirty="0" smtClean="0">
                <a:latin typeface="Times New Roman" panose="02020603050405020304" pitchFamily="18" charset="0"/>
                <a:cs typeface="Times New Roman" panose="02020603050405020304" pitchFamily="18" charset="0"/>
              </a:rPr>
              <a:t>   </a:t>
            </a:r>
            <a:r>
              <a:rPr lang="ko-KR" altLang="en-US" b="1" dirty="0" smtClean="0">
                <a:latin typeface="Times New Roman" panose="02020603050405020304" pitchFamily="18" charset="0"/>
                <a:cs typeface="Times New Roman" panose="02020603050405020304" pitchFamily="18" charset="0"/>
              </a:rPr>
              <a:t>→</a:t>
            </a:r>
            <a:r>
              <a:rPr lang="en-US" altLang="ko-KR" b="1" dirty="0" err="1" smtClean="0">
                <a:latin typeface="Times New Roman" panose="02020603050405020304" pitchFamily="18" charset="0"/>
                <a:cs typeface="Times New Roman" panose="02020603050405020304" pitchFamily="18" charset="0"/>
              </a:rPr>
              <a:t>Khi</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tạo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mạch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làm</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trơn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sau</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khi</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chỉ</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kết</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nối</a:t>
            </a:r>
            <a:r>
              <a:rPr lang="en-US" altLang="ko-KR" b="1" dirty="0" smtClean="0">
                <a:latin typeface="Times New Roman" panose="02020603050405020304" pitchFamily="18" charset="0"/>
                <a:cs typeface="Times New Roman" panose="02020603050405020304" pitchFamily="18" charset="0"/>
              </a:rPr>
              <a:t> 1 condenser</a:t>
            </a:r>
            <a:r>
              <a:rPr lang="en-US" altLang="ko-KR" b="1" dirty="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thì</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bằng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máy</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hiện</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sóng</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đo</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và</a:t>
            </a:r>
            <a:r>
              <a:rPr lang="en-US" altLang="ko-KR" b="1" dirty="0" smtClean="0">
                <a:latin typeface="Times New Roman" panose="02020603050405020304" pitchFamily="18" charset="0"/>
                <a:cs typeface="Times New Roman" panose="02020603050405020304" pitchFamily="18" charset="0"/>
              </a:rPr>
              <a:t> so </a:t>
            </a:r>
            <a:r>
              <a:rPr lang="en-US" altLang="ko-KR" b="1" dirty="0" err="1" smtClean="0">
                <a:latin typeface="Times New Roman" panose="02020603050405020304" pitchFamily="18" charset="0"/>
                <a:cs typeface="Times New Roman" panose="02020603050405020304" pitchFamily="18" charset="0"/>
              </a:rPr>
              <a:t>sánh</a:t>
            </a:r>
            <a:r>
              <a:rPr lang="en-US" altLang="ko-KR" b="1" dirty="0" smtClean="0">
                <a:latin typeface="Times New Roman" panose="02020603050405020304" pitchFamily="18" charset="0"/>
                <a:cs typeface="Times New Roman" panose="02020603050405020304" pitchFamily="18" charset="0"/>
              </a:rPr>
              <a:t> 2 condenser.</a:t>
            </a:r>
          </a:p>
        </p:txBody>
      </p:sp>
      <p:grpSp>
        <p:nvGrpSpPr>
          <p:cNvPr id="118791" name="그룹 148"/>
          <p:cNvGrpSpPr>
            <a:grpSpLocks/>
          </p:cNvGrpSpPr>
          <p:nvPr/>
        </p:nvGrpSpPr>
        <p:grpSpPr bwMode="auto">
          <a:xfrm>
            <a:off x="1179513" y="1773238"/>
            <a:ext cx="5861050" cy="2087562"/>
            <a:chOff x="1179154" y="1988840"/>
            <a:chExt cx="5861185" cy="2088232"/>
          </a:xfrm>
        </p:grpSpPr>
        <p:sp>
          <p:nvSpPr>
            <p:cNvPr id="118796" name="Line 16"/>
            <p:cNvSpPr>
              <a:spLocks noChangeShapeType="1"/>
            </p:cNvSpPr>
            <p:nvPr/>
          </p:nvSpPr>
          <p:spPr bwMode="auto">
            <a:xfrm flipH="1">
              <a:off x="2132405" y="2440708"/>
              <a:ext cx="108962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797" name="Line 17"/>
            <p:cNvSpPr>
              <a:spLocks noChangeShapeType="1"/>
            </p:cNvSpPr>
            <p:nvPr/>
          </p:nvSpPr>
          <p:spPr bwMode="auto">
            <a:xfrm flipH="1">
              <a:off x="2132406" y="2440707"/>
              <a:ext cx="0" cy="6289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798" name="Line 19"/>
            <p:cNvSpPr>
              <a:spLocks noChangeShapeType="1"/>
            </p:cNvSpPr>
            <p:nvPr/>
          </p:nvSpPr>
          <p:spPr bwMode="auto">
            <a:xfrm flipH="1">
              <a:off x="2132406" y="3356992"/>
              <a:ext cx="0" cy="7200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799" name="Line 20"/>
            <p:cNvSpPr>
              <a:spLocks noChangeShapeType="1"/>
            </p:cNvSpPr>
            <p:nvPr/>
          </p:nvSpPr>
          <p:spPr bwMode="auto">
            <a:xfrm flipH="1">
              <a:off x="2132404" y="4077072"/>
              <a:ext cx="4815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8800" name="Group 34"/>
            <p:cNvGrpSpPr>
              <a:grpSpLocks/>
            </p:cNvGrpSpPr>
            <p:nvPr/>
          </p:nvGrpSpPr>
          <p:grpSpPr bwMode="auto">
            <a:xfrm rot="5400000">
              <a:off x="3194349" y="2365447"/>
              <a:ext cx="259858" cy="204497"/>
              <a:chOff x="1728" y="1968"/>
              <a:chExt cx="160" cy="96"/>
            </a:xfrm>
          </p:grpSpPr>
          <p:sp>
            <p:nvSpPr>
              <p:cNvPr id="118849" name="AutoShape 35"/>
              <p:cNvSpPr>
                <a:spLocks noChangeArrowheads="1"/>
              </p:cNvSpPr>
              <p:nvPr/>
            </p:nvSpPr>
            <p:spPr bwMode="auto">
              <a:xfrm>
                <a:off x="1728" y="1968"/>
                <a:ext cx="144" cy="96"/>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8850" name="Line 36"/>
              <p:cNvSpPr>
                <a:spLocks noChangeShapeType="1"/>
              </p:cNvSpPr>
              <p:nvPr/>
            </p:nvSpPr>
            <p:spPr bwMode="auto">
              <a:xfrm>
                <a:off x="1728" y="1968"/>
                <a:ext cx="1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01" name="Line 40"/>
            <p:cNvSpPr>
              <a:spLocks noChangeShapeType="1"/>
            </p:cNvSpPr>
            <p:nvPr/>
          </p:nvSpPr>
          <p:spPr bwMode="auto">
            <a:xfrm>
              <a:off x="3426527" y="2463090"/>
              <a:ext cx="14432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8802" name="Group 41"/>
            <p:cNvGrpSpPr>
              <a:grpSpLocks/>
            </p:cNvGrpSpPr>
            <p:nvPr/>
          </p:nvGrpSpPr>
          <p:grpSpPr bwMode="auto">
            <a:xfrm>
              <a:off x="4420913" y="2466972"/>
              <a:ext cx="415509" cy="1609719"/>
              <a:chOff x="2380" y="1468"/>
              <a:chExt cx="240" cy="1034"/>
            </a:xfrm>
          </p:grpSpPr>
          <p:sp>
            <p:nvSpPr>
              <p:cNvPr id="118842" name="Line 42"/>
              <p:cNvSpPr>
                <a:spLocks noChangeShapeType="1"/>
              </p:cNvSpPr>
              <p:nvPr/>
            </p:nvSpPr>
            <p:spPr bwMode="auto">
              <a:xfrm>
                <a:off x="2496" y="1468"/>
                <a:ext cx="0" cy="5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3" name="Line 43"/>
              <p:cNvSpPr>
                <a:spLocks noChangeShapeType="1"/>
              </p:cNvSpPr>
              <p:nvPr/>
            </p:nvSpPr>
            <p:spPr bwMode="auto">
              <a:xfrm>
                <a:off x="2380" y="201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4" name="Line 44"/>
              <p:cNvSpPr>
                <a:spLocks noChangeShapeType="1"/>
              </p:cNvSpPr>
              <p:nvPr/>
            </p:nvSpPr>
            <p:spPr bwMode="auto">
              <a:xfrm>
                <a:off x="2380" y="211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5" name="Line 45"/>
              <p:cNvSpPr>
                <a:spLocks noChangeShapeType="1"/>
              </p:cNvSpPr>
              <p:nvPr/>
            </p:nvSpPr>
            <p:spPr bwMode="auto">
              <a:xfrm>
                <a:off x="2496" y="2112"/>
                <a:ext cx="0" cy="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6" name="Line 46"/>
              <p:cNvSpPr>
                <a:spLocks noChangeShapeType="1"/>
              </p:cNvSpPr>
              <p:nvPr/>
            </p:nvSpPr>
            <p:spPr bwMode="auto">
              <a:xfrm flipH="1">
                <a:off x="2448"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7" name="Line 47"/>
              <p:cNvSpPr>
                <a:spLocks noChangeShapeType="1"/>
              </p:cNvSpPr>
              <p:nvPr/>
            </p:nvSpPr>
            <p:spPr bwMode="auto">
              <a:xfrm flipH="1">
                <a:off x="2496"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8" name="Line 48"/>
              <p:cNvSpPr>
                <a:spLocks noChangeShapeType="1"/>
              </p:cNvSpPr>
              <p:nvPr/>
            </p:nvSpPr>
            <p:spPr bwMode="auto">
              <a:xfrm flipH="1">
                <a:off x="2400"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03" name="Line 53"/>
            <p:cNvSpPr>
              <a:spLocks noChangeShapeType="1"/>
            </p:cNvSpPr>
            <p:nvPr/>
          </p:nvSpPr>
          <p:spPr bwMode="auto">
            <a:xfrm>
              <a:off x="5292109" y="2451978"/>
              <a:ext cx="16561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8804" name="Group 54"/>
            <p:cNvGrpSpPr>
              <a:grpSpLocks/>
            </p:cNvGrpSpPr>
            <p:nvPr/>
          </p:nvGrpSpPr>
          <p:grpSpPr bwMode="auto">
            <a:xfrm>
              <a:off x="5457725" y="2442064"/>
              <a:ext cx="415509" cy="1634628"/>
              <a:chOff x="2380" y="1452"/>
              <a:chExt cx="240" cy="1050"/>
            </a:xfrm>
          </p:grpSpPr>
          <p:sp>
            <p:nvSpPr>
              <p:cNvPr id="118835" name="Line 55"/>
              <p:cNvSpPr>
                <a:spLocks noChangeShapeType="1"/>
              </p:cNvSpPr>
              <p:nvPr/>
            </p:nvSpPr>
            <p:spPr bwMode="auto">
              <a:xfrm>
                <a:off x="2496" y="1452"/>
                <a:ext cx="0" cy="5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6" name="Line 56"/>
              <p:cNvSpPr>
                <a:spLocks noChangeShapeType="1"/>
              </p:cNvSpPr>
              <p:nvPr/>
            </p:nvSpPr>
            <p:spPr bwMode="auto">
              <a:xfrm>
                <a:off x="2380" y="201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7" name="Line 57"/>
              <p:cNvSpPr>
                <a:spLocks noChangeShapeType="1"/>
              </p:cNvSpPr>
              <p:nvPr/>
            </p:nvSpPr>
            <p:spPr bwMode="auto">
              <a:xfrm>
                <a:off x="2380" y="211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8" name="Line 58"/>
              <p:cNvSpPr>
                <a:spLocks noChangeShapeType="1"/>
              </p:cNvSpPr>
              <p:nvPr/>
            </p:nvSpPr>
            <p:spPr bwMode="auto">
              <a:xfrm>
                <a:off x="2496" y="2112"/>
                <a:ext cx="0" cy="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9" name="Line 59"/>
              <p:cNvSpPr>
                <a:spLocks noChangeShapeType="1"/>
              </p:cNvSpPr>
              <p:nvPr/>
            </p:nvSpPr>
            <p:spPr bwMode="auto">
              <a:xfrm flipH="1">
                <a:off x="2448"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0" name="Line 60"/>
              <p:cNvSpPr>
                <a:spLocks noChangeShapeType="1"/>
              </p:cNvSpPr>
              <p:nvPr/>
            </p:nvSpPr>
            <p:spPr bwMode="auto">
              <a:xfrm flipH="1">
                <a:off x="2496"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41" name="Line 61"/>
              <p:cNvSpPr>
                <a:spLocks noChangeShapeType="1"/>
              </p:cNvSpPr>
              <p:nvPr/>
            </p:nvSpPr>
            <p:spPr bwMode="auto">
              <a:xfrm flipH="1">
                <a:off x="2400" y="201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05" name="Text Box 98"/>
            <p:cNvSpPr txBox="1">
              <a:spLocks noChangeArrowheads="1"/>
            </p:cNvSpPr>
            <p:nvPr/>
          </p:nvSpPr>
          <p:spPr bwMode="auto">
            <a:xfrm>
              <a:off x="4980272" y="2540122"/>
              <a:ext cx="255204" cy="230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L</a:t>
              </a:r>
            </a:p>
          </p:txBody>
        </p:sp>
        <p:grpSp>
          <p:nvGrpSpPr>
            <p:cNvPr id="118806" name="Group 101"/>
            <p:cNvGrpSpPr>
              <a:grpSpLocks/>
            </p:cNvGrpSpPr>
            <p:nvPr/>
          </p:nvGrpSpPr>
          <p:grpSpPr bwMode="auto">
            <a:xfrm>
              <a:off x="4883460" y="2369428"/>
              <a:ext cx="388070" cy="184150"/>
              <a:chOff x="2682" y="1481"/>
              <a:chExt cx="198" cy="85"/>
            </a:xfrm>
          </p:grpSpPr>
          <p:sp>
            <p:nvSpPr>
              <p:cNvPr id="118828" name="Arc 102"/>
              <p:cNvSpPr>
                <a:spLocks/>
              </p:cNvSpPr>
              <p:nvPr/>
            </p:nvSpPr>
            <p:spPr bwMode="auto">
              <a:xfrm>
                <a:off x="2707" y="1481"/>
                <a:ext cx="44" cy="84"/>
              </a:xfrm>
              <a:custGeom>
                <a:avLst/>
                <a:gdLst>
                  <a:gd name="T0" fmla="*/ 0 w 43200"/>
                  <a:gd name="T1" fmla="*/ 0 h 38977"/>
                  <a:gd name="T2" fmla="*/ 0 w 43200"/>
                  <a:gd name="T3" fmla="*/ 0 h 38977"/>
                  <a:gd name="T4" fmla="*/ 0 w 43200"/>
                  <a:gd name="T5" fmla="*/ 0 h 38977"/>
                  <a:gd name="T6" fmla="*/ 0 60000 65536"/>
                  <a:gd name="T7" fmla="*/ 0 60000 65536"/>
                  <a:gd name="T8" fmla="*/ 0 60000 65536"/>
                </a:gdLst>
                <a:ahLst/>
                <a:cxnLst>
                  <a:cxn ang="T6">
                    <a:pos x="T0" y="T1"/>
                  </a:cxn>
                  <a:cxn ang="T7">
                    <a:pos x="T2" y="T3"/>
                  </a:cxn>
                  <a:cxn ang="T8">
                    <a:pos x="T4" y="T5"/>
                  </a:cxn>
                </a:cxnLst>
                <a:rect l="0" t="0" r="r" b="b"/>
                <a:pathLst>
                  <a:path w="43200" h="38977" fill="none"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path>
                  <a:path w="43200" h="38977" stroke="0"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9" name="Arc 103"/>
              <p:cNvSpPr>
                <a:spLocks/>
              </p:cNvSpPr>
              <p:nvPr/>
            </p:nvSpPr>
            <p:spPr bwMode="auto">
              <a:xfrm>
                <a:off x="2734" y="1481"/>
                <a:ext cx="44" cy="84"/>
              </a:xfrm>
              <a:custGeom>
                <a:avLst/>
                <a:gdLst>
                  <a:gd name="T0" fmla="*/ 0 w 43200"/>
                  <a:gd name="T1" fmla="*/ 0 h 38977"/>
                  <a:gd name="T2" fmla="*/ 0 w 43200"/>
                  <a:gd name="T3" fmla="*/ 0 h 38977"/>
                  <a:gd name="T4" fmla="*/ 0 w 43200"/>
                  <a:gd name="T5" fmla="*/ 0 h 38977"/>
                  <a:gd name="T6" fmla="*/ 0 60000 65536"/>
                  <a:gd name="T7" fmla="*/ 0 60000 65536"/>
                  <a:gd name="T8" fmla="*/ 0 60000 65536"/>
                </a:gdLst>
                <a:ahLst/>
                <a:cxnLst>
                  <a:cxn ang="T6">
                    <a:pos x="T0" y="T1"/>
                  </a:cxn>
                  <a:cxn ang="T7">
                    <a:pos x="T2" y="T3"/>
                  </a:cxn>
                  <a:cxn ang="T8">
                    <a:pos x="T4" y="T5"/>
                  </a:cxn>
                </a:cxnLst>
                <a:rect l="0" t="0" r="r" b="b"/>
                <a:pathLst>
                  <a:path w="43200" h="38977" fill="none"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path>
                  <a:path w="43200" h="38977" stroke="0"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0" name="Arc 104"/>
              <p:cNvSpPr>
                <a:spLocks/>
              </p:cNvSpPr>
              <p:nvPr/>
            </p:nvSpPr>
            <p:spPr bwMode="auto">
              <a:xfrm>
                <a:off x="2759" y="1481"/>
                <a:ext cx="44" cy="84"/>
              </a:xfrm>
              <a:custGeom>
                <a:avLst/>
                <a:gdLst>
                  <a:gd name="T0" fmla="*/ 0 w 43200"/>
                  <a:gd name="T1" fmla="*/ 0 h 38977"/>
                  <a:gd name="T2" fmla="*/ 0 w 43200"/>
                  <a:gd name="T3" fmla="*/ 0 h 38977"/>
                  <a:gd name="T4" fmla="*/ 0 w 43200"/>
                  <a:gd name="T5" fmla="*/ 0 h 38977"/>
                  <a:gd name="T6" fmla="*/ 0 60000 65536"/>
                  <a:gd name="T7" fmla="*/ 0 60000 65536"/>
                  <a:gd name="T8" fmla="*/ 0 60000 65536"/>
                </a:gdLst>
                <a:ahLst/>
                <a:cxnLst>
                  <a:cxn ang="T6">
                    <a:pos x="T0" y="T1"/>
                  </a:cxn>
                  <a:cxn ang="T7">
                    <a:pos x="T2" y="T3"/>
                  </a:cxn>
                  <a:cxn ang="T8">
                    <a:pos x="T4" y="T5"/>
                  </a:cxn>
                </a:cxnLst>
                <a:rect l="0" t="0" r="r" b="b"/>
                <a:pathLst>
                  <a:path w="43200" h="38977" fill="none"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path>
                  <a:path w="43200" h="38977" stroke="0"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1" name="Arc 105"/>
              <p:cNvSpPr>
                <a:spLocks/>
              </p:cNvSpPr>
              <p:nvPr/>
            </p:nvSpPr>
            <p:spPr bwMode="auto">
              <a:xfrm>
                <a:off x="2682" y="1482"/>
                <a:ext cx="44" cy="84"/>
              </a:xfrm>
              <a:custGeom>
                <a:avLst/>
                <a:gdLst>
                  <a:gd name="T0" fmla="*/ 0 w 43063"/>
                  <a:gd name="T1" fmla="*/ 0 h 38873"/>
                  <a:gd name="T2" fmla="*/ 0 w 43063"/>
                  <a:gd name="T3" fmla="*/ 0 h 38873"/>
                  <a:gd name="T4" fmla="*/ 0 w 43063"/>
                  <a:gd name="T5" fmla="*/ 0 h 38873"/>
                  <a:gd name="T6" fmla="*/ 0 60000 65536"/>
                  <a:gd name="T7" fmla="*/ 0 60000 65536"/>
                  <a:gd name="T8" fmla="*/ 0 60000 65536"/>
                </a:gdLst>
                <a:ahLst/>
                <a:cxnLst>
                  <a:cxn ang="T6">
                    <a:pos x="T0" y="T1"/>
                  </a:cxn>
                  <a:cxn ang="T7">
                    <a:pos x="T2" y="T3"/>
                  </a:cxn>
                  <a:cxn ang="T8">
                    <a:pos x="T4" y="T5"/>
                  </a:cxn>
                </a:cxnLst>
                <a:rect l="0" t="0" r="r" b="b"/>
                <a:pathLst>
                  <a:path w="43063" h="38873" fill="none" extrusionOk="0">
                    <a:moveTo>
                      <a:pt x="0" y="19171"/>
                    </a:moveTo>
                    <a:cubicBezTo>
                      <a:pt x="1235" y="8251"/>
                      <a:pt x="10473" y="-1"/>
                      <a:pt x="21463" y="0"/>
                    </a:cubicBezTo>
                    <a:cubicBezTo>
                      <a:pt x="33392" y="0"/>
                      <a:pt x="43063" y="9670"/>
                      <a:pt x="43063" y="21600"/>
                    </a:cubicBezTo>
                    <a:cubicBezTo>
                      <a:pt x="43063" y="28394"/>
                      <a:pt x="39866" y="34792"/>
                      <a:pt x="34432" y="38872"/>
                    </a:cubicBezTo>
                  </a:path>
                  <a:path w="43063" h="38873" stroke="0" extrusionOk="0">
                    <a:moveTo>
                      <a:pt x="0" y="19171"/>
                    </a:moveTo>
                    <a:cubicBezTo>
                      <a:pt x="1235" y="8251"/>
                      <a:pt x="10473" y="-1"/>
                      <a:pt x="21463" y="0"/>
                    </a:cubicBezTo>
                    <a:cubicBezTo>
                      <a:pt x="33392" y="0"/>
                      <a:pt x="43063" y="9670"/>
                      <a:pt x="43063" y="21600"/>
                    </a:cubicBezTo>
                    <a:cubicBezTo>
                      <a:pt x="43063" y="28394"/>
                      <a:pt x="39866" y="34792"/>
                      <a:pt x="34432" y="38872"/>
                    </a:cubicBezTo>
                    <a:lnTo>
                      <a:pt x="21463" y="21600"/>
                    </a:lnTo>
                    <a:lnTo>
                      <a:pt x="0" y="1917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2" name="Arc 106"/>
              <p:cNvSpPr>
                <a:spLocks/>
              </p:cNvSpPr>
              <p:nvPr/>
            </p:nvSpPr>
            <p:spPr bwMode="auto">
              <a:xfrm>
                <a:off x="2785" y="1481"/>
                <a:ext cx="44" cy="84"/>
              </a:xfrm>
              <a:custGeom>
                <a:avLst/>
                <a:gdLst>
                  <a:gd name="T0" fmla="*/ 0 w 43200"/>
                  <a:gd name="T1" fmla="*/ 0 h 38977"/>
                  <a:gd name="T2" fmla="*/ 0 w 43200"/>
                  <a:gd name="T3" fmla="*/ 0 h 38977"/>
                  <a:gd name="T4" fmla="*/ 0 w 43200"/>
                  <a:gd name="T5" fmla="*/ 0 h 38977"/>
                  <a:gd name="T6" fmla="*/ 0 60000 65536"/>
                  <a:gd name="T7" fmla="*/ 0 60000 65536"/>
                  <a:gd name="T8" fmla="*/ 0 60000 65536"/>
                </a:gdLst>
                <a:ahLst/>
                <a:cxnLst>
                  <a:cxn ang="T6">
                    <a:pos x="T0" y="T1"/>
                  </a:cxn>
                  <a:cxn ang="T7">
                    <a:pos x="T2" y="T3"/>
                  </a:cxn>
                  <a:cxn ang="T8">
                    <a:pos x="T4" y="T5"/>
                  </a:cxn>
                </a:cxnLst>
                <a:rect l="0" t="0" r="r" b="b"/>
                <a:pathLst>
                  <a:path w="43200" h="38977" fill="none"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path>
                  <a:path w="43200" h="38977" stroke="0"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3" name="Arc 107"/>
              <p:cNvSpPr>
                <a:spLocks/>
              </p:cNvSpPr>
              <p:nvPr/>
            </p:nvSpPr>
            <p:spPr bwMode="auto">
              <a:xfrm>
                <a:off x="2812" y="1481"/>
                <a:ext cx="44" cy="84"/>
              </a:xfrm>
              <a:custGeom>
                <a:avLst/>
                <a:gdLst>
                  <a:gd name="T0" fmla="*/ 0 w 43200"/>
                  <a:gd name="T1" fmla="*/ 0 h 38977"/>
                  <a:gd name="T2" fmla="*/ 0 w 43200"/>
                  <a:gd name="T3" fmla="*/ 0 h 38977"/>
                  <a:gd name="T4" fmla="*/ 0 w 43200"/>
                  <a:gd name="T5" fmla="*/ 0 h 38977"/>
                  <a:gd name="T6" fmla="*/ 0 60000 65536"/>
                  <a:gd name="T7" fmla="*/ 0 60000 65536"/>
                  <a:gd name="T8" fmla="*/ 0 60000 65536"/>
                </a:gdLst>
                <a:ahLst/>
                <a:cxnLst>
                  <a:cxn ang="T6">
                    <a:pos x="T0" y="T1"/>
                  </a:cxn>
                  <a:cxn ang="T7">
                    <a:pos x="T2" y="T3"/>
                  </a:cxn>
                  <a:cxn ang="T8">
                    <a:pos x="T4" y="T5"/>
                  </a:cxn>
                </a:cxnLst>
                <a:rect l="0" t="0" r="r" b="b"/>
                <a:pathLst>
                  <a:path w="43200" h="38977" fill="none"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path>
                  <a:path w="43200" h="38977" stroke="0" extrusionOk="0">
                    <a:moveTo>
                      <a:pt x="8770" y="38976"/>
                    </a:moveTo>
                    <a:cubicBezTo>
                      <a:pt x="3254" y="34904"/>
                      <a:pt x="0" y="28455"/>
                      <a:pt x="0" y="21600"/>
                    </a:cubicBezTo>
                    <a:cubicBezTo>
                      <a:pt x="0" y="9670"/>
                      <a:pt x="9670" y="0"/>
                      <a:pt x="21600" y="0"/>
                    </a:cubicBezTo>
                    <a:cubicBezTo>
                      <a:pt x="33529" y="0"/>
                      <a:pt x="43200" y="9670"/>
                      <a:pt x="43200" y="21600"/>
                    </a:cubicBezTo>
                    <a:cubicBezTo>
                      <a:pt x="43200" y="28394"/>
                      <a:pt x="40003" y="34792"/>
                      <a:pt x="34569" y="38872"/>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34" name="Arc 108"/>
              <p:cNvSpPr>
                <a:spLocks/>
              </p:cNvSpPr>
              <p:nvPr/>
            </p:nvSpPr>
            <p:spPr bwMode="auto">
              <a:xfrm>
                <a:off x="2836" y="1482"/>
                <a:ext cx="44" cy="84"/>
              </a:xfrm>
              <a:custGeom>
                <a:avLst/>
                <a:gdLst>
                  <a:gd name="T0" fmla="*/ 0 w 43029"/>
                  <a:gd name="T1" fmla="*/ 0 h 38977"/>
                  <a:gd name="T2" fmla="*/ 0 w 43029"/>
                  <a:gd name="T3" fmla="*/ 0 h 38977"/>
                  <a:gd name="T4" fmla="*/ 0 w 43029"/>
                  <a:gd name="T5" fmla="*/ 0 h 38977"/>
                  <a:gd name="T6" fmla="*/ 0 60000 65536"/>
                  <a:gd name="T7" fmla="*/ 0 60000 65536"/>
                  <a:gd name="T8" fmla="*/ 0 60000 65536"/>
                </a:gdLst>
                <a:ahLst/>
                <a:cxnLst>
                  <a:cxn ang="T6">
                    <a:pos x="T0" y="T1"/>
                  </a:cxn>
                  <a:cxn ang="T7">
                    <a:pos x="T2" y="T3"/>
                  </a:cxn>
                  <a:cxn ang="T8">
                    <a:pos x="T4" y="T5"/>
                  </a:cxn>
                </a:cxnLst>
                <a:rect l="0" t="0" r="r" b="b"/>
                <a:pathLst>
                  <a:path w="43029" h="38977" fill="none" extrusionOk="0">
                    <a:moveTo>
                      <a:pt x="8770" y="38976"/>
                    </a:moveTo>
                    <a:cubicBezTo>
                      <a:pt x="3254" y="34904"/>
                      <a:pt x="0" y="28455"/>
                      <a:pt x="0" y="21600"/>
                    </a:cubicBezTo>
                    <a:cubicBezTo>
                      <a:pt x="0" y="9670"/>
                      <a:pt x="9670" y="0"/>
                      <a:pt x="21600" y="0"/>
                    </a:cubicBezTo>
                    <a:cubicBezTo>
                      <a:pt x="32481" y="-1"/>
                      <a:pt x="41664" y="8094"/>
                      <a:pt x="43029" y="18889"/>
                    </a:cubicBezTo>
                  </a:path>
                  <a:path w="43029" h="38977" stroke="0" extrusionOk="0">
                    <a:moveTo>
                      <a:pt x="8770" y="38976"/>
                    </a:moveTo>
                    <a:cubicBezTo>
                      <a:pt x="3254" y="34904"/>
                      <a:pt x="0" y="28455"/>
                      <a:pt x="0" y="21600"/>
                    </a:cubicBezTo>
                    <a:cubicBezTo>
                      <a:pt x="0" y="9670"/>
                      <a:pt x="9670" y="0"/>
                      <a:pt x="21600" y="0"/>
                    </a:cubicBezTo>
                    <a:cubicBezTo>
                      <a:pt x="32481" y="-1"/>
                      <a:pt x="41664" y="8094"/>
                      <a:pt x="43029" y="18889"/>
                    </a:cubicBezTo>
                    <a:lnTo>
                      <a:pt x="21600" y="21600"/>
                    </a:lnTo>
                    <a:lnTo>
                      <a:pt x="8770" y="3897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07" name="Text Box 109"/>
            <p:cNvSpPr txBox="1">
              <a:spLocks noChangeArrowheads="1"/>
            </p:cNvSpPr>
            <p:nvPr/>
          </p:nvSpPr>
          <p:spPr bwMode="auto">
            <a:xfrm>
              <a:off x="4375834" y="3116213"/>
              <a:ext cx="27635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18808" name="Text Box 110"/>
            <p:cNvSpPr txBox="1">
              <a:spLocks noChangeArrowheads="1"/>
            </p:cNvSpPr>
            <p:nvPr/>
          </p:nvSpPr>
          <p:spPr bwMode="auto">
            <a:xfrm>
              <a:off x="5420486" y="3113038"/>
              <a:ext cx="27635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18809" name="Text Box 117"/>
            <p:cNvSpPr txBox="1">
              <a:spLocks noChangeArrowheads="1"/>
            </p:cNvSpPr>
            <p:nvPr/>
          </p:nvSpPr>
          <p:spPr bwMode="auto">
            <a:xfrm>
              <a:off x="1179154" y="3068960"/>
              <a:ext cx="70083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AC12[V]</a:t>
              </a:r>
            </a:p>
          </p:txBody>
        </p:sp>
        <p:sp>
          <p:nvSpPr>
            <p:cNvPr id="118810" name="Text Box 119"/>
            <p:cNvSpPr txBox="1">
              <a:spLocks noChangeArrowheads="1"/>
            </p:cNvSpPr>
            <p:nvPr/>
          </p:nvSpPr>
          <p:spPr bwMode="auto">
            <a:xfrm>
              <a:off x="3112935" y="1988840"/>
              <a:ext cx="598255" cy="2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1N4001</a:t>
              </a:r>
            </a:p>
          </p:txBody>
        </p:sp>
        <p:sp>
          <p:nvSpPr>
            <p:cNvPr id="118811" name="Text Box 120"/>
            <p:cNvSpPr txBox="1">
              <a:spLocks noChangeArrowheads="1"/>
            </p:cNvSpPr>
            <p:nvPr/>
          </p:nvSpPr>
          <p:spPr bwMode="auto">
            <a:xfrm>
              <a:off x="3674157" y="3454351"/>
              <a:ext cx="846727" cy="2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100㎌/25[V]</a:t>
              </a:r>
            </a:p>
          </p:txBody>
        </p:sp>
        <p:sp>
          <p:nvSpPr>
            <p:cNvPr id="118812" name="Text Box 121"/>
            <p:cNvSpPr txBox="1">
              <a:spLocks noChangeArrowheads="1"/>
            </p:cNvSpPr>
            <p:nvPr/>
          </p:nvSpPr>
          <p:spPr bwMode="auto">
            <a:xfrm>
              <a:off x="4765848" y="3454351"/>
              <a:ext cx="846727" cy="2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100㎌/25[V]</a:t>
              </a:r>
            </a:p>
          </p:txBody>
        </p:sp>
        <p:sp>
          <p:nvSpPr>
            <p:cNvPr id="118813" name="Oval 122"/>
            <p:cNvSpPr>
              <a:spLocks noChangeArrowheads="1"/>
            </p:cNvSpPr>
            <p:nvPr/>
          </p:nvSpPr>
          <p:spPr bwMode="auto">
            <a:xfrm>
              <a:off x="4587508" y="2429753"/>
              <a:ext cx="78398" cy="698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8814" name="Oval 126"/>
            <p:cNvSpPr>
              <a:spLocks noChangeArrowheads="1"/>
            </p:cNvSpPr>
            <p:nvPr/>
          </p:nvSpPr>
          <p:spPr bwMode="auto">
            <a:xfrm>
              <a:off x="5628240" y="2418640"/>
              <a:ext cx="78398" cy="698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18815" name="Group 112"/>
            <p:cNvGrpSpPr>
              <a:grpSpLocks/>
            </p:cNvGrpSpPr>
            <p:nvPr/>
          </p:nvGrpSpPr>
          <p:grpSpPr bwMode="auto">
            <a:xfrm>
              <a:off x="1971242" y="3069655"/>
              <a:ext cx="329271" cy="287337"/>
              <a:chOff x="730" y="1356"/>
              <a:chExt cx="168" cy="181"/>
            </a:xfrm>
          </p:grpSpPr>
          <p:sp>
            <p:nvSpPr>
              <p:cNvPr id="118826" name="Oval 113"/>
              <p:cNvSpPr>
                <a:spLocks noChangeArrowheads="1"/>
              </p:cNvSpPr>
              <p:nvPr/>
            </p:nvSpPr>
            <p:spPr bwMode="auto">
              <a:xfrm>
                <a:off x="730" y="1356"/>
                <a:ext cx="168" cy="18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18827" name="Freeform 114"/>
              <p:cNvSpPr>
                <a:spLocks/>
              </p:cNvSpPr>
              <p:nvPr/>
            </p:nvSpPr>
            <p:spPr bwMode="auto">
              <a:xfrm>
                <a:off x="750" y="1401"/>
                <a:ext cx="126" cy="98"/>
              </a:xfrm>
              <a:custGeom>
                <a:avLst/>
                <a:gdLst>
                  <a:gd name="T0" fmla="*/ 0 w 136"/>
                  <a:gd name="T1" fmla="*/ 1 h 158"/>
                  <a:gd name="T2" fmla="*/ 6 w 136"/>
                  <a:gd name="T3" fmla="*/ 1 h 158"/>
                  <a:gd name="T4" fmla="*/ 8 w 136"/>
                  <a:gd name="T5" fmla="*/ 1 h 158"/>
                  <a:gd name="T6" fmla="*/ 14 w 136"/>
                  <a:gd name="T7" fmla="*/ 1 h 15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158">
                    <a:moveTo>
                      <a:pt x="0" y="98"/>
                    </a:moveTo>
                    <a:cubicBezTo>
                      <a:pt x="15" y="49"/>
                      <a:pt x="30" y="0"/>
                      <a:pt x="45" y="7"/>
                    </a:cubicBezTo>
                    <a:cubicBezTo>
                      <a:pt x="60" y="14"/>
                      <a:pt x="75" y="128"/>
                      <a:pt x="90" y="143"/>
                    </a:cubicBezTo>
                    <a:cubicBezTo>
                      <a:pt x="105" y="158"/>
                      <a:pt x="120" y="128"/>
                      <a:pt x="136" y="98"/>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16" name="Line 53"/>
            <p:cNvSpPr>
              <a:spLocks noChangeShapeType="1"/>
            </p:cNvSpPr>
            <p:nvPr/>
          </p:nvSpPr>
          <p:spPr bwMode="auto">
            <a:xfrm>
              <a:off x="6948264" y="2454702"/>
              <a:ext cx="0" cy="6482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18817" name="Group 39"/>
            <p:cNvGrpSpPr>
              <a:grpSpLocks/>
            </p:cNvGrpSpPr>
            <p:nvPr/>
          </p:nvGrpSpPr>
          <p:grpSpPr bwMode="auto">
            <a:xfrm>
              <a:off x="6856189" y="3102992"/>
              <a:ext cx="184150" cy="254000"/>
              <a:chOff x="1488" y="1152"/>
              <a:chExt cx="192" cy="336"/>
            </a:xfrm>
          </p:grpSpPr>
          <p:sp>
            <p:nvSpPr>
              <p:cNvPr id="118819" name="Line 40"/>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0" name="Line 41"/>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1" name="Line 42"/>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2" name="Line 43"/>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3" name="Line 44"/>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4" name="Line 45"/>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18825" name="Line 46"/>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18818" name="Line 53"/>
            <p:cNvSpPr>
              <a:spLocks noChangeShapeType="1"/>
            </p:cNvSpPr>
            <p:nvPr/>
          </p:nvSpPr>
          <p:spPr bwMode="auto">
            <a:xfrm>
              <a:off x="6948263" y="3356992"/>
              <a:ext cx="0" cy="7200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18792" name="직선 화살표 연결선 150"/>
          <p:cNvCxnSpPr>
            <a:cxnSpLocks noChangeShapeType="1"/>
          </p:cNvCxnSpPr>
          <p:nvPr/>
        </p:nvCxnSpPr>
        <p:spPr bwMode="auto">
          <a:xfrm flipH="1">
            <a:off x="4156075" y="1773238"/>
            <a:ext cx="357188" cy="454025"/>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793" name="직선 화살표 연결선 152"/>
          <p:cNvCxnSpPr>
            <a:cxnSpLocks noChangeShapeType="1"/>
          </p:cNvCxnSpPr>
          <p:nvPr/>
        </p:nvCxnSpPr>
        <p:spPr bwMode="auto">
          <a:xfrm flipH="1">
            <a:off x="6443663" y="1736725"/>
            <a:ext cx="358775" cy="454025"/>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794" name="TextBox 153"/>
          <p:cNvSpPr txBox="1">
            <a:spLocks noChangeArrowheads="1"/>
          </p:cNvSpPr>
          <p:nvPr/>
        </p:nvSpPr>
        <p:spPr bwMode="auto">
          <a:xfrm>
            <a:off x="4264025" y="1495425"/>
            <a:ext cx="665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Đo 1</a:t>
            </a:r>
            <a:endParaRPr lang="ko-KR" altLang="en-US">
              <a:latin typeface="Times New Roman" pitchFamily="18" charset="0"/>
              <a:cs typeface="Times New Roman" pitchFamily="18" charset="0"/>
            </a:endParaRPr>
          </a:p>
        </p:txBody>
      </p:sp>
      <p:sp>
        <p:nvSpPr>
          <p:cNvPr id="118795" name="TextBox 154"/>
          <p:cNvSpPr txBox="1">
            <a:spLocks noChangeArrowheads="1"/>
          </p:cNvSpPr>
          <p:nvPr/>
        </p:nvSpPr>
        <p:spPr bwMode="auto">
          <a:xfrm>
            <a:off x="6570663" y="1484313"/>
            <a:ext cx="665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Đo 2</a:t>
            </a:r>
            <a:endParaRPr lang="ko-KR" altLang="en-US">
              <a:latin typeface="Times New Roman" pitchFamily="18" charset="0"/>
              <a:cs typeface="Times New Roman"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67F12A4-7C94-44B9-AE44-F510A9C90F41}" type="slidenum">
              <a:rPr lang="en-US" altLang="ko-KR" sz="1400" smtClean="0">
                <a:latin typeface="Times New Roman" pitchFamily="18" charset="0"/>
                <a:cs typeface="Times New Roman" pitchFamily="18" charset="0"/>
              </a:rPr>
              <a:pPr eaLnBrk="1" hangingPunct="1"/>
              <a:t>112</a:t>
            </a:fld>
            <a:endParaRPr lang="en-US" altLang="ko-KR" sz="1400" smtClean="0">
              <a:latin typeface="Times New Roman" pitchFamily="18" charset="0"/>
              <a:cs typeface="Times New Roman" pitchFamily="18" charset="0"/>
            </a:endParaRPr>
          </a:p>
        </p:txBody>
      </p:sp>
      <p:sp>
        <p:nvSpPr>
          <p:cNvPr id="119811" name="Text Box 2"/>
          <p:cNvSpPr txBox="1">
            <a:spLocks noChangeArrowheads="1"/>
          </p:cNvSpPr>
          <p:nvPr/>
        </p:nvSpPr>
        <p:spPr bwMode="auto">
          <a:xfrm>
            <a:off x="684213" y="892175"/>
            <a:ext cx="14668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1-2. Diode Zener</a:t>
            </a:r>
            <a:endParaRPr lang="ko-KR" altLang="en-US" sz="1400" b="1">
              <a:latin typeface="Times New Roman" pitchFamily="18" charset="0"/>
              <a:cs typeface="Times New Roman" pitchFamily="18" charset="0"/>
            </a:endParaRPr>
          </a:p>
        </p:txBody>
      </p:sp>
      <p:sp>
        <p:nvSpPr>
          <p:cNvPr id="119812"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Đặc tính của diode zener</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algn="just" eaLnBrk="1" hangingPunct="1"/>
            <a:r>
              <a:rPr lang="en-US" altLang="ko-KR">
                <a:solidFill>
                  <a:srgbClr val="000000"/>
                </a:solidFill>
                <a:latin typeface="Times New Roman" pitchFamily="18" charset="0"/>
                <a:cs typeface="Times New Roman" pitchFamily="18" charset="0"/>
              </a:rPr>
              <a:t>Diode zener ngoài việc sử dụng giới hạn chảy quy ước(điện áp) ngược chiều thì nó tương tự với các diode thông thường. Theo đó trong quá trình chế tạo, giới hạn chảy quy ước ngược chiều này được điều chỉnh rất cẩn thận, và điện áp zener kiểu này có thể nhận được giá trị nào đó trong khoảng từ</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2~3V</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đến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200V.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5-4(a) thể hiện đặc tuyến của diode zener về dòng điện và điện áp thích hợp.  I</a:t>
            </a:r>
            <a:r>
              <a:rPr lang="en-US" altLang="ko-KR" baseline="-25000">
                <a:solidFill>
                  <a:srgbClr val="000000"/>
                </a:solidFill>
                <a:latin typeface="Times New Roman" pitchFamily="18" charset="0"/>
                <a:cs typeface="Times New Roman" pitchFamily="18" charset="0"/>
              </a:rPr>
              <a:t>ZK</a:t>
            </a:r>
            <a:r>
              <a:rPr lang="en-US" altLang="ko-KR">
                <a:solidFill>
                  <a:srgbClr val="000000"/>
                </a:solidFill>
                <a:latin typeface="Times New Roman" pitchFamily="18" charset="0"/>
                <a:cs typeface="Times New Roman" pitchFamily="18" charset="0"/>
              </a:rPr>
              <a:t> là dòng điện ngược chiều nhỏ nhất khi diode hoạt động trong miền đánh thủng, còn I</a:t>
            </a:r>
            <a:r>
              <a:rPr lang="en-US" altLang="ko-KR" baseline="-25000">
                <a:solidFill>
                  <a:srgbClr val="000000"/>
                </a:solidFill>
                <a:latin typeface="Times New Roman" pitchFamily="18" charset="0"/>
                <a:cs typeface="Times New Roman" pitchFamily="18" charset="0"/>
              </a:rPr>
              <a:t>ZM</a:t>
            </a:r>
            <a:r>
              <a:rPr lang="en-US" altLang="ko-KR">
                <a:solidFill>
                  <a:srgbClr val="000000"/>
                </a:solidFill>
                <a:latin typeface="Times New Roman" pitchFamily="18" charset="0"/>
                <a:cs typeface="Times New Roman" pitchFamily="18" charset="0"/>
              </a:rPr>
              <a:t> là dòng điện ngược chiều lớn nhất mà diode không vượt quá và có thể chịu đựng được định mức điện. Ở giữa I</a:t>
            </a:r>
            <a:r>
              <a:rPr lang="en-US" altLang="ko-KR" baseline="-25000">
                <a:solidFill>
                  <a:srgbClr val="000000"/>
                </a:solidFill>
                <a:latin typeface="Times New Roman" pitchFamily="18" charset="0"/>
                <a:cs typeface="Times New Roman" pitchFamily="18" charset="0"/>
              </a:rPr>
              <a:t>ZK</a:t>
            </a:r>
            <a:r>
              <a:rPr lang="en-US" altLang="ko-KR">
                <a:solidFill>
                  <a:srgbClr val="000000"/>
                </a:solidFill>
                <a:latin typeface="Times New Roman" pitchFamily="18" charset="0"/>
                <a:cs typeface="Times New Roman" pitchFamily="18" charset="0"/>
              </a:rPr>
              <a:t> và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I</a:t>
            </a:r>
            <a:r>
              <a:rPr lang="en-US" altLang="ko-KR" baseline="-25000">
                <a:solidFill>
                  <a:srgbClr val="000000"/>
                </a:solidFill>
                <a:latin typeface="Times New Roman" pitchFamily="18" charset="0"/>
                <a:cs typeface="Times New Roman" pitchFamily="18" charset="0"/>
              </a:rPr>
              <a:t>ZM</a:t>
            </a:r>
            <a:r>
              <a:rPr lang="en-US" altLang="ko-KR">
                <a:solidFill>
                  <a:srgbClr val="000000"/>
                </a:solidFill>
                <a:latin typeface="Times New Roman" pitchFamily="18" charset="0"/>
                <a:cs typeface="Times New Roman" pitchFamily="18" charset="0"/>
              </a:rPr>
              <a:t>, độ dốc của đặc tuyến được biết đến là Z</a:t>
            </a:r>
            <a:r>
              <a:rPr lang="en-US" altLang="ko-KR" baseline="-25000">
                <a:solidFill>
                  <a:srgbClr val="000000"/>
                </a:solidFill>
                <a:latin typeface="Times New Roman" pitchFamily="18" charset="0"/>
                <a:cs typeface="Times New Roman" pitchFamily="18" charset="0"/>
              </a:rPr>
              <a:t>Z </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trở kháng zener. Có thể tìm độ dốc của đặc tuyến bằng cách chia lượng biến đổi theo trục ngang và lượng biến đổi theo trục vuông góc. Sự thay đổi của điện áp, dòng điện hoặc các biến số khác được thể hiện bằng ký tự</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hy lạp</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Δ (delta). Do đó độ dốc của đặc tuyến thể hiện trên ảnh là ΔV / Δ I . </a:t>
            </a:r>
            <a:endParaRPr lang="en-US" altLang="ko-KR">
              <a:latin typeface="Times New Roman" pitchFamily="18" charset="0"/>
              <a:cs typeface="Times New Roman" pitchFamily="18" charset="0"/>
            </a:endParaRPr>
          </a:p>
        </p:txBody>
      </p:sp>
      <p:sp>
        <p:nvSpPr>
          <p:cNvPr id="119813" name="Text Box 5"/>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19814" name="Text Box 6"/>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pic>
        <p:nvPicPr>
          <p:cNvPr id="1198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652588"/>
            <a:ext cx="48768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6" name="직사각형 7"/>
          <p:cNvSpPr>
            <a:spLocks noChangeArrowheads="1"/>
          </p:cNvSpPr>
          <p:nvPr/>
        </p:nvSpPr>
        <p:spPr bwMode="auto">
          <a:xfrm>
            <a:off x="2771775" y="4005263"/>
            <a:ext cx="1851025"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Đặc tuyến của diode zener</a:t>
            </a:r>
            <a:endParaRPr lang="ko-KR" altLang="en-US">
              <a:latin typeface="Times New Roman" pitchFamily="18" charset="0"/>
              <a:cs typeface="Times New Roman" pitchFamily="18" charset="0"/>
            </a:endParaRPr>
          </a:p>
        </p:txBody>
      </p:sp>
      <p:sp>
        <p:nvSpPr>
          <p:cNvPr id="119817" name="직사각형 8"/>
          <p:cNvSpPr>
            <a:spLocks noChangeArrowheads="1"/>
          </p:cNvSpPr>
          <p:nvPr/>
        </p:nvSpPr>
        <p:spPr bwMode="auto">
          <a:xfrm>
            <a:off x="5076825" y="3933825"/>
            <a:ext cx="2374900"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Mạch có sử dụng đặc tuyến zener</a:t>
            </a:r>
            <a:endParaRPr lang="ko-KR" altLang="en-US">
              <a:latin typeface="Times New Roman" pitchFamily="18" charset="0"/>
              <a:cs typeface="Times New Roman" pitchFamily="18" charset="0"/>
            </a:endParaRPr>
          </a:p>
        </p:txBody>
      </p:sp>
      <p:sp>
        <p:nvSpPr>
          <p:cNvPr id="119818" name="직사각형 9"/>
          <p:cNvSpPr>
            <a:spLocks noChangeArrowheads="1"/>
          </p:cNvSpPr>
          <p:nvPr/>
        </p:nvSpPr>
        <p:spPr bwMode="auto">
          <a:xfrm>
            <a:off x="3375025" y="4292600"/>
            <a:ext cx="23749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5-4 Đặc tuyến của diode zener</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93FABE0-6912-44EC-996B-F7B0DA6C1B16}" type="slidenum">
              <a:rPr lang="en-US" altLang="ko-KR" sz="1400" smtClean="0">
                <a:latin typeface="Times New Roman" pitchFamily="18" charset="0"/>
                <a:cs typeface="Times New Roman" pitchFamily="18" charset="0"/>
              </a:rPr>
              <a:pPr eaLnBrk="1" hangingPunct="1"/>
              <a:t>113</a:t>
            </a:fld>
            <a:endParaRPr lang="en-US" altLang="ko-KR" sz="1400" smtClean="0">
              <a:latin typeface="Times New Roman" pitchFamily="18" charset="0"/>
              <a:cs typeface="Times New Roman" pitchFamily="18" charset="0"/>
            </a:endParaRPr>
          </a:p>
        </p:txBody>
      </p:sp>
      <p:sp>
        <p:nvSpPr>
          <p:cNvPr id="12083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083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1. Sau khi điều chỉnh điện áp đầu vào sang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6V, thay đổi trở kháng tải giống như bảng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5-3 rồi đo điện áp được mắc vào điện trở có giá trị</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1K và ghi chép lại. </a:t>
            </a:r>
          </a:p>
          <a:p>
            <a:pPr eaLnBrk="1" hangingPunct="1"/>
            <a:r>
              <a:rPr lang="en-US" altLang="ko-KR">
                <a:solidFill>
                  <a:srgbClr val="000000"/>
                </a:solidFill>
                <a:latin typeface="Times New Roman" pitchFamily="18" charset="0"/>
                <a:cs typeface="Times New Roman" pitchFamily="18" charset="0"/>
              </a:rPr>
              <a:t>2. Tạo mạch điện giống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5-5 (b).</a:t>
            </a:r>
          </a:p>
          <a:p>
            <a:pPr eaLnBrk="1" hangingPunct="1"/>
            <a:r>
              <a:rPr lang="en-US" altLang="ko-KR">
                <a:solidFill>
                  <a:srgbClr val="000000"/>
                </a:solidFill>
                <a:latin typeface="Times New Roman" pitchFamily="18" charset="0"/>
                <a:cs typeface="Times New Roman" pitchFamily="18" charset="0"/>
              </a:rPr>
              <a:t>3. Để nguyên điện áp đầu vào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6V, thay đổi trở kháng tải theo như bảng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5-3</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 đo điện áp được mắc vào điện trở có giá trị</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1K</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rồi ghi chép lại. </a:t>
            </a:r>
          </a:p>
          <a:p>
            <a:pPr eaLnBrk="1" hangingPunct="1"/>
            <a:r>
              <a:rPr lang="en-US" altLang="ko-KR">
                <a:solidFill>
                  <a:srgbClr val="000000"/>
                </a:solidFill>
                <a:latin typeface="Times New Roman" pitchFamily="18" charset="0"/>
                <a:cs typeface="Times New Roman" pitchFamily="18" charset="0"/>
              </a:rPr>
              <a:t>4. Điều chỉnh điện áp đầu vào sang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8V,</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10V, 12V, 14V, 16V</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 thực hiện việc thực hành còn lại.</a:t>
            </a:r>
          </a:p>
          <a:p>
            <a:pPr eaLnBrk="1" hangingPunct="1"/>
            <a:endParaRPr lang="en-US" altLang="ko-KR" b="1">
              <a:latin typeface="Times New Roman" pitchFamily="18" charset="0"/>
              <a:cs typeface="Times New Roman" pitchFamily="18" charset="0"/>
            </a:endParaRPr>
          </a:p>
        </p:txBody>
      </p:sp>
      <p:sp>
        <p:nvSpPr>
          <p:cNvPr id="120837"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2083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093788"/>
            <a:ext cx="3455987"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9" name="Text Box 7"/>
          <p:cNvSpPr txBox="1">
            <a:spLocks noChangeArrowheads="1"/>
          </p:cNvSpPr>
          <p:nvPr/>
        </p:nvSpPr>
        <p:spPr bwMode="auto">
          <a:xfrm>
            <a:off x="4189413" y="1052513"/>
            <a:ext cx="8016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&lt; Bảng</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5-3 &gt;</a:t>
            </a:r>
          </a:p>
        </p:txBody>
      </p:sp>
      <p:graphicFrame>
        <p:nvGraphicFramePr>
          <p:cNvPr id="2713801" name="Group 201"/>
          <p:cNvGraphicFramePr>
            <a:graphicFrameLocks noGrp="1"/>
          </p:cNvGraphicFramePr>
          <p:nvPr/>
        </p:nvGraphicFramePr>
        <p:xfrm>
          <a:off x="4427538" y="1341438"/>
          <a:ext cx="3524250" cy="1892304"/>
        </p:xfrm>
        <a:graphic>
          <a:graphicData uri="http://schemas.openxmlformats.org/drawingml/2006/table">
            <a:tbl>
              <a:tblPr/>
              <a:tblGrid>
                <a:gridCol w="792162"/>
                <a:gridCol w="682625"/>
                <a:gridCol w="682625"/>
                <a:gridCol w="684213"/>
                <a:gridCol w="682625"/>
              </a:tblGrid>
              <a:tr h="236538">
                <a:tc row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Tải</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1kΩ</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Tải</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220Ω</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r>
              <a:tr h="236538">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D1</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D2</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D1</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D2</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6V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8V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10V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12V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14V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16V</a:t>
                      </a: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90000" marR="90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0894" name="직사각형 8"/>
          <p:cNvSpPr>
            <a:spLocks noChangeArrowheads="1"/>
          </p:cNvSpPr>
          <p:nvPr/>
        </p:nvSpPr>
        <p:spPr bwMode="auto">
          <a:xfrm>
            <a:off x="2195513" y="2906713"/>
            <a:ext cx="720725"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5-5</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71705F1-E68B-4A34-8CF1-43D9DE221A12}" type="slidenum">
              <a:rPr lang="en-US" altLang="ko-KR" sz="1400" smtClean="0">
                <a:latin typeface="Times New Roman" pitchFamily="18" charset="0"/>
                <a:cs typeface="Times New Roman" pitchFamily="18" charset="0"/>
              </a:rPr>
              <a:pPr eaLnBrk="1" hangingPunct="1"/>
              <a:t>114</a:t>
            </a:fld>
            <a:endParaRPr lang="en-US" altLang="ko-KR" sz="1400" smtClean="0">
              <a:latin typeface="Times New Roman" pitchFamily="18" charset="0"/>
              <a:cs typeface="Times New Roman" pitchFamily="18" charset="0"/>
            </a:endParaRPr>
          </a:p>
        </p:txBody>
      </p:sp>
      <p:sp>
        <p:nvSpPr>
          <p:cNvPr id="121859"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21860"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21861" name="Text Box 5"/>
          <p:cNvSpPr txBox="1">
            <a:spLocks noChangeArrowheads="1"/>
          </p:cNvSpPr>
          <p:nvPr/>
        </p:nvSpPr>
        <p:spPr bwMode="auto">
          <a:xfrm>
            <a:off x="304800" y="609600"/>
            <a:ext cx="68738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 Giải thích bổ sung thực hành CIRCUIT- 2 của KIT  thực tập M-5 mạch dòng 1 chiều ]</a:t>
            </a:r>
          </a:p>
        </p:txBody>
      </p:sp>
      <p:sp>
        <p:nvSpPr>
          <p:cNvPr id="121862" name="Text Box 6"/>
          <p:cNvSpPr txBox="1">
            <a:spLocks noChangeArrowheads="1"/>
          </p:cNvSpPr>
          <p:nvPr/>
        </p:nvSpPr>
        <p:spPr bwMode="auto">
          <a:xfrm>
            <a:off x="3352800" y="3033713"/>
            <a:ext cx="5410200"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Khi cho tiếp xúc diode zener với điện áp nguồn điện lên mạch theo chiều thuận thì diode zener không thực hiện được chức năng vốn có của nó mà lúc này nó lại có vai trò giống với các loại diode thường khác. Tức ở hai đầu của diode zener sẽ có điện áp</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0.6[V]  ~  0.7[V].</a:t>
            </a:r>
          </a:p>
        </p:txBody>
      </p:sp>
      <p:sp>
        <p:nvSpPr>
          <p:cNvPr id="121863" name="Rectangle 7"/>
          <p:cNvSpPr>
            <a:spLocks noChangeArrowheads="1"/>
          </p:cNvSpPr>
          <p:nvPr/>
        </p:nvSpPr>
        <p:spPr bwMode="auto">
          <a:xfrm>
            <a:off x="381000" y="990600"/>
            <a:ext cx="8382000" cy="5257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1864" name="Line 8"/>
          <p:cNvSpPr>
            <a:spLocks noChangeShapeType="1"/>
          </p:cNvSpPr>
          <p:nvPr/>
        </p:nvSpPr>
        <p:spPr bwMode="auto">
          <a:xfrm>
            <a:off x="381000" y="2743200"/>
            <a:ext cx="83820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65" name="Line 9"/>
          <p:cNvSpPr>
            <a:spLocks noChangeShapeType="1"/>
          </p:cNvSpPr>
          <p:nvPr/>
        </p:nvSpPr>
        <p:spPr bwMode="auto">
          <a:xfrm>
            <a:off x="381000" y="4495800"/>
            <a:ext cx="83820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66" name="Line 10"/>
          <p:cNvSpPr>
            <a:spLocks noChangeShapeType="1"/>
          </p:cNvSpPr>
          <p:nvPr/>
        </p:nvSpPr>
        <p:spPr bwMode="auto">
          <a:xfrm>
            <a:off x="1123950" y="1162050"/>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67" name="Line 11"/>
          <p:cNvSpPr>
            <a:spLocks noChangeShapeType="1"/>
          </p:cNvSpPr>
          <p:nvPr/>
        </p:nvSpPr>
        <p:spPr bwMode="auto">
          <a:xfrm>
            <a:off x="1114425" y="116205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68" name="Line 12"/>
          <p:cNvSpPr>
            <a:spLocks noChangeShapeType="1"/>
          </p:cNvSpPr>
          <p:nvPr/>
        </p:nvSpPr>
        <p:spPr bwMode="auto">
          <a:xfrm>
            <a:off x="2039938" y="1162050"/>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1869" name="Group 13"/>
          <p:cNvGrpSpPr>
            <a:grpSpLocks/>
          </p:cNvGrpSpPr>
          <p:nvPr/>
        </p:nvGrpSpPr>
        <p:grpSpPr bwMode="auto">
          <a:xfrm>
            <a:off x="1947863" y="1365250"/>
            <a:ext cx="184150" cy="254000"/>
            <a:chOff x="1488" y="1152"/>
            <a:chExt cx="192" cy="336"/>
          </a:xfrm>
        </p:grpSpPr>
        <p:sp>
          <p:nvSpPr>
            <p:cNvPr id="121957" name="Line 14"/>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8" name="Line 15"/>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9" name="Line 16"/>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60" name="Line 17"/>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61" name="Line 18"/>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62" name="Line 19"/>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63" name="Line 20"/>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1870" name="Line 21"/>
          <p:cNvSpPr>
            <a:spLocks noChangeShapeType="1"/>
          </p:cNvSpPr>
          <p:nvPr/>
        </p:nvSpPr>
        <p:spPr bwMode="auto">
          <a:xfrm>
            <a:off x="2039938" y="1619250"/>
            <a:ext cx="0" cy="4381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1" name="AutoShape 22"/>
          <p:cNvSpPr>
            <a:spLocks noChangeArrowheads="1"/>
          </p:cNvSpPr>
          <p:nvPr/>
        </p:nvSpPr>
        <p:spPr bwMode="auto">
          <a:xfrm>
            <a:off x="1917700" y="2057400"/>
            <a:ext cx="244475" cy="1270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1872" name="Line 23"/>
          <p:cNvSpPr>
            <a:spLocks noChangeShapeType="1"/>
          </p:cNvSpPr>
          <p:nvPr/>
        </p:nvSpPr>
        <p:spPr bwMode="auto">
          <a:xfrm>
            <a:off x="1917700" y="2184400"/>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3" name="Line 24"/>
          <p:cNvSpPr>
            <a:spLocks noChangeShapeType="1"/>
          </p:cNvSpPr>
          <p:nvPr/>
        </p:nvSpPr>
        <p:spPr bwMode="auto">
          <a:xfrm>
            <a:off x="1123950" y="2533650"/>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4" name="Line 25"/>
          <p:cNvSpPr>
            <a:spLocks noChangeShapeType="1"/>
          </p:cNvSpPr>
          <p:nvPr/>
        </p:nvSpPr>
        <p:spPr bwMode="auto">
          <a:xfrm>
            <a:off x="2039938" y="2178050"/>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5" name="Text Box 26"/>
          <p:cNvSpPr txBox="1">
            <a:spLocks noChangeArrowheads="1"/>
          </p:cNvSpPr>
          <p:nvPr/>
        </p:nvSpPr>
        <p:spPr bwMode="auto">
          <a:xfrm>
            <a:off x="1681163" y="1357313"/>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21876" name="Line 27"/>
          <p:cNvSpPr>
            <a:spLocks noChangeShapeType="1"/>
          </p:cNvSpPr>
          <p:nvPr/>
        </p:nvSpPr>
        <p:spPr bwMode="auto">
          <a:xfrm flipV="1">
            <a:off x="1123950" y="1857375"/>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7" name="Line 28"/>
          <p:cNvSpPr>
            <a:spLocks noChangeShapeType="1"/>
          </p:cNvSpPr>
          <p:nvPr/>
        </p:nvSpPr>
        <p:spPr bwMode="auto">
          <a:xfrm>
            <a:off x="1009650" y="1819275"/>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8" name="Line 29"/>
          <p:cNvSpPr>
            <a:spLocks noChangeShapeType="1"/>
          </p:cNvSpPr>
          <p:nvPr/>
        </p:nvSpPr>
        <p:spPr bwMode="auto">
          <a:xfrm>
            <a:off x="1047750" y="1866900"/>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79" name="Text Box 30"/>
          <p:cNvSpPr txBox="1">
            <a:spLocks noChangeArrowheads="1"/>
          </p:cNvSpPr>
          <p:nvPr/>
        </p:nvSpPr>
        <p:spPr bwMode="auto">
          <a:xfrm>
            <a:off x="914400" y="1581150"/>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21880" name="Line 31"/>
          <p:cNvSpPr>
            <a:spLocks noChangeShapeType="1"/>
          </p:cNvSpPr>
          <p:nvPr/>
        </p:nvSpPr>
        <p:spPr bwMode="auto">
          <a:xfrm>
            <a:off x="1914525" y="2057400"/>
            <a:ext cx="2476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1" name="Line 32"/>
          <p:cNvSpPr>
            <a:spLocks noChangeShapeType="1"/>
          </p:cNvSpPr>
          <p:nvPr/>
        </p:nvSpPr>
        <p:spPr bwMode="auto">
          <a:xfrm>
            <a:off x="2162175" y="205740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2" name="Line 33"/>
          <p:cNvSpPr>
            <a:spLocks noChangeShapeType="1"/>
          </p:cNvSpPr>
          <p:nvPr/>
        </p:nvSpPr>
        <p:spPr bwMode="auto">
          <a:xfrm flipH="1" flipV="1">
            <a:off x="1828800" y="198120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3" name="Text Box 34"/>
          <p:cNvSpPr txBox="1">
            <a:spLocks noChangeArrowheads="1"/>
          </p:cNvSpPr>
          <p:nvPr/>
        </p:nvSpPr>
        <p:spPr bwMode="auto">
          <a:xfrm>
            <a:off x="1352550" y="1885950"/>
            <a:ext cx="5857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ZD</a:t>
            </a:r>
          </a:p>
          <a:p>
            <a:pPr eaLnBrk="1" hangingPunct="1"/>
            <a:r>
              <a:rPr lang="en-US" altLang="ko-KR">
                <a:latin typeface="Times New Roman" pitchFamily="18" charset="0"/>
                <a:cs typeface="Times New Roman" pitchFamily="18" charset="0"/>
              </a:rPr>
              <a:t>(6.2V)</a:t>
            </a:r>
          </a:p>
        </p:txBody>
      </p:sp>
      <p:sp>
        <p:nvSpPr>
          <p:cNvPr id="121884" name="Text Box 35"/>
          <p:cNvSpPr txBox="1">
            <a:spLocks noChangeArrowheads="1"/>
          </p:cNvSpPr>
          <p:nvPr/>
        </p:nvSpPr>
        <p:spPr bwMode="auto">
          <a:xfrm>
            <a:off x="519113" y="1676400"/>
            <a:ext cx="547687"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12[V]</a:t>
            </a:r>
          </a:p>
        </p:txBody>
      </p:sp>
      <p:sp>
        <p:nvSpPr>
          <p:cNvPr id="121885" name="Line 36"/>
          <p:cNvSpPr>
            <a:spLocks noChangeShapeType="1"/>
          </p:cNvSpPr>
          <p:nvPr/>
        </p:nvSpPr>
        <p:spPr bwMode="auto">
          <a:xfrm flipH="1" flipV="1">
            <a:off x="2133600" y="1143000"/>
            <a:ext cx="230188"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6" name="Line 37"/>
          <p:cNvSpPr>
            <a:spLocks noChangeShapeType="1"/>
          </p:cNvSpPr>
          <p:nvPr/>
        </p:nvSpPr>
        <p:spPr bwMode="auto">
          <a:xfrm flipH="1">
            <a:off x="2133600" y="167640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7" name="Text Box 38"/>
          <p:cNvSpPr txBox="1">
            <a:spLocks noChangeArrowheads="1"/>
          </p:cNvSpPr>
          <p:nvPr/>
        </p:nvSpPr>
        <p:spPr bwMode="auto">
          <a:xfrm>
            <a:off x="2286000" y="1371600"/>
            <a:ext cx="6238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5.8 [V]</a:t>
            </a:r>
          </a:p>
        </p:txBody>
      </p:sp>
      <p:sp>
        <p:nvSpPr>
          <p:cNvPr id="121888" name="Line 39"/>
          <p:cNvSpPr>
            <a:spLocks noChangeShapeType="1"/>
          </p:cNvSpPr>
          <p:nvPr/>
        </p:nvSpPr>
        <p:spPr bwMode="auto">
          <a:xfrm flipH="1" flipV="1">
            <a:off x="2143125" y="1838325"/>
            <a:ext cx="230188"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89" name="Line 40"/>
          <p:cNvSpPr>
            <a:spLocks noChangeShapeType="1"/>
          </p:cNvSpPr>
          <p:nvPr/>
        </p:nvSpPr>
        <p:spPr bwMode="auto">
          <a:xfrm flipH="1">
            <a:off x="2133600" y="236220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90" name="Text Box 41"/>
          <p:cNvSpPr txBox="1">
            <a:spLocks noChangeArrowheads="1"/>
          </p:cNvSpPr>
          <p:nvPr/>
        </p:nvSpPr>
        <p:spPr bwMode="auto">
          <a:xfrm>
            <a:off x="2286000" y="2087563"/>
            <a:ext cx="623888"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6.2 [V]</a:t>
            </a:r>
          </a:p>
        </p:txBody>
      </p:sp>
      <p:sp>
        <p:nvSpPr>
          <p:cNvPr id="121891" name="Text Box 42"/>
          <p:cNvSpPr txBox="1">
            <a:spLocks noChangeArrowheads="1"/>
          </p:cNvSpPr>
          <p:nvPr/>
        </p:nvSpPr>
        <p:spPr bwMode="auto">
          <a:xfrm>
            <a:off x="3489325" y="1179513"/>
            <a:ext cx="5273675"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Zener Diode ( Diode ổn áp</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   Để tiếp xúc diode zener theo hướng ngược chiều của mạch điện và cho nguồn điện đi qua thì điện áp nhất định được mắc vào hai đầu của diode zener. Lấy điện ở hai đầu của diode zener để cung cấp điện nguồn cho mạch điện khác.</a:t>
            </a:r>
          </a:p>
        </p:txBody>
      </p:sp>
      <p:sp>
        <p:nvSpPr>
          <p:cNvPr id="121892" name="Line 43"/>
          <p:cNvSpPr>
            <a:spLocks noChangeShapeType="1"/>
          </p:cNvSpPr>
          <p:nvPr/>
        </p:nvSpPr>
        <p:spPr bwMode="auto">
          <a:xfrm>
            <a:off x="1128713" y="2924175"/>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93" name="Line 44"/>
          <p:cNvSpPr>
            <a:spLocks noChangeShapeType="1"/>
          </p:cNvSpPr>
          <p:nvPr/>
        </p:nvSpPr>
        <p:spPr bwMode="auto">
          <a:xfrm>
            <a:off x="1119188" y="2924175"/>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94" name="Line 45"/>
          <p:cNvSpPr>
            <a:spLocks noChangeShapeType="1"/>
          </p:cNvSpPr>
          <p:nvPr/>
        </p:nvSpPr>
        <p:spPr bwMode="auto">
          <a:xfrm>
            <a:off x="2044700" y="2924175"/>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1895" name="Group 46"/>
          <p:cNvGrpSpPr>
            <a:grpSpLocks/>
          </p:cNvGrpSpPr>
          <p:nvPr/>
        </p:nvGrpSpPr>
        <p:grpSpPr bwMode="auto">
          <a:xfrm>
            <a:off x="1952625" y="3127375"/>
            <a:ext cx="184150" cy="254000"/>
            <a:chOff x="1488" y="1152"/>
            <a:chExt cx="192" cy="336"/>
          </a:xfrm>
        </p:grpSpPr>
        <p:sp>
          <p:nvSpPr>
            <p:cNvPr id="121950" name="Line 47"/>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1" name="Line 48"/>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2" name="Line 49"/>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3" name="Line 50"/>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4" name="Line 51"/>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5" name="Line 52"/>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56" name="Line 53"/>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1896" name="Line 54"/>
          <p:cNvSpPr>
            <a:spLocks noChangeShapeType="1"/>
          </p:cNvSpPr>
          <p:nvPr/>
        </p:nvSpPr>
        <p:spPr bwMode="auto">
          <a:xfrm>
            <a:off x="2044700" y="3381375"/>
            <a:ext cx="0" cy="4381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97" name="AutoShape 55"/>
          <p:cNvSpPr>
            <a:spLocks noChangeArrowheads="1"/>
          </p:cNvSpPr>
          <p:nvPr/>
        </p:nvSpPr>
        <p:spPr bwMode="auto">
          <a:xfrm flipV="1">
            <a:off x="1922463" y="3819525"/>
            <a:ext cx="244475" cy="1270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1898" name="Line 56"/>
          <p:cNvSpPr>
            <a:spLocks noChangeShapeType="1"/>
          </p:cNvSpPr>
          <p:nvPr/>
        </p:nvSpPr>
        <p:spPr bwMode="auto">
          <a:xfrm flipV="1">
            <a:off x="1922463" y="3946525"/>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899" name="Line 57"/>
          <p:cNvSpPr>
            <a:spLocks noChangeShapeType="1"/>
          </p:cNvSpPr>
          <p:nvPr/>
        </p:nvSpPr>
        <p:spPr bwMode="auto">
          <a:xfrm>
            <a:off x="1128713" y="4295775"/>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0" name="Line 58"/>
          <p:cNvSpPr>
            <a:spLocks noChangeShapeType="1"/>
          </p:cNvSpPr>
          <p:nvPr/>
        </p:nvSpPr>
        <p:spPr bwMode="auto">
          <a:xfrm>
            <a:off x="2044700" y="3940175"/>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1" name="Text Box 59"/>
          <p:cNvSpPr txBox="1">
            <a:spLocks noChangeArrowheads="1"/>
          </p:cNvSpPr>
          <p:nvPr/>
        </p:nvSpPr>
        <p:spPr bwMode="auto">
          <a:xfrm>
            <a:off x="1685925" y="3119438"/>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21902" name="Line 60"/>
          <p:cNvSpPr>
            <a:spLocks noChangeShapeType="1"/>
          </p:cNvSpPr>
          <p:nvPr/>
        </p:nvSpPr>
        <p:spPr bwMode="auto">
          <a:xfrm flipV="1">
            <a:off x="1128713" y="3619500"/>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3" name="Line 61"/>
          <p:cNvSpPr>
            <a:spLocks noChangeShapeType="1"/>
          </p:cNvSpPr>
          <p:nvPr/>
        </p:nvSpPr>
        <p:spPr bwMode="auto">
          <a:xfrm>
            <a:off x="1014413" y="3581400"/>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4" name="Line 62"/>
          <p:cNvSpPr>
            <a:spLocks noChangeShapeType="1"/>
          </p:cNvSpPr>
          <p:nvPr/>
        </p:nvSpPr>
        <p:spPr bwMode="auto">
          <a:xfrm>
            <a:off x="1052513" y="3629025"/>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5" name="Text Box 63"/>
          <p:cNvSpPr txBox="1">
            <a:spLocks noChangeArrowheads="1"/>
          </p:cNvSpPr>
          <p:nvPr/>
        </p:nvSpPr>
        <p:spPr bwMode="auto">
          <a:xfrm>
            <a:off x="919163" y="3343275"/>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21906" name="Line 64"/>
          <p:cNvSpPr>
            <a:spLocks noChangeShapeType="1"/>
          </p:cNvSpPr>
          <p:nvPr/>
        </p:nvSpPr>
        <p:spPr bwMode="auto">
          <a:xfrm flipV="1">
            <a:off x="1919288" y="3819525"/>
            <a:ext cx="2476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7" name="Line 65"/>
          <p:cNvSpPr>
            <a:spLocks noChangeShapeType="1"/>
          </p:cNvSpPr>
          <p:nvPr/>
        </p:nvSpPr>
        <p:spPr bwMode="auto">
          <a:xfrm flipV="1">
            <a:off x="1866900" y="392430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8" name="Line 66"/>
          <p:cNvSpPr>
            <a:spLocks noChangeShapeType="1"/>
          </p:cNvSpPr>
          <p:nvPr/>
        </p:nvSpPr>
        <p:spPr bwMode="auto">
          <a:xfrm flipH="1">
            <a:off x="2152650" y="386715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09" name="Text Box 67"/>
          <p:cNvSpPr txBox="1">
            <a:spLocks noChangeArrowheads="1"/>
          </p:cNvSpPr>
          <p:nvPr/>
        </p:nvSpPr>
        <p:spPr bwMode="auto">
          <a:xfrm>
            <a:off x="1357313" y="3648075"/>
            <a:ext cx="585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ZD</a:t>
            </a:r>
          </a:p>
          <a:p>
            <a:pPr eaLnBrk="1" hangingPunct="1"/>
            <a:r>
              <a:rPr lang="en-US" altLang="ko-KR">
                <a:latin typeface="Times New Roman" pitchFamily="18" charset="0"/>
                <a:cs typeface="Times New Roman" pitchFamily="18" charset="0"/>
              </a:rPr>
              <a:t>(6.2V)</a:t>
            </a:r>
          </a:p>
        </p:txBody>
      </p:sp>
      <p:sp>
        <p:nvSpPr>
          <p:cNvPr id="121910" name="Text Box 68"/>
          <p:cNvSpPr txBox="1">
            <a:spLocks noChangeArrowheads="1"/>
          </p:cNvSpPr>
          <p:nvPr/>
        </p:nvSpPr>
        <p:spPr bwMode="auto">
          <a:xfrm>
            <a:off x="523875" y="3438525"/>
            <a:ext cx="5476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12[V]</a:t>
            </a:r>
          </a:p>
        </p:txBody>
      </p:sp>
      <p:sp>
        <p:nvSpPr>
          <p:cNvPr id="121911" name="Line 69"/>
          <p:cNvSpPr>
            <a:spLocks noChangeShapeType="1"/>
          </p:cNvSpPr>
          <p:nvPr/>
        </p:nvSpPr>
        <p:spPr bwMode="auto">
          <a:xfrm flipH="1" flipV="1">
            <a:off x="2138363" y="2905125"/>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2" name="Line 70"/>
          <p:cNvSpPr>
            <a:spLocks noChangeShapeType="1"/>
          </p:cNvSpPr>
          <p:nvPr/>
        </p:nvSpPr>
        <p:spPr bwMode="auto">
          <a:xfrm flipH="1">
            <a:off x="2138363" y="3438525"/>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3" name="Text Box 71"/>
          <p:cNvSpPr txBox="1">
            <a:spLocks noChangeArrowheads="1"/>
          </p:cNvSpPr>
          <p:nvPr/>
        </p:nvSpPr>
        <p:spPr bwMode="auto">
          <a:xfrm>
            <a:off x="2114550" y="3154363"/>
            <a:ext cx="700088"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11.3 [V]</a:t>
            </a:r>
          </a:p>
        </p:txBody>
      </p:sp>
      <p:sp>
        <p:nvSpPr>
          <p:cNvPr id="121914" name="Line 72"/>
          <p:cNvSpPr>
            <a:spLocks noChangeShapeType="1"/>
          </p:cNvSpPr>
          <p:nvPr/>
        </p:nvSpPr>
        <p:spPr bwMode="auto">
          <a:xfrm flipH="1" flipV="1">
            <a:off x="2147888" y="3600450"/>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5" name="Line 73"/>
          <p:cNvSpPr>
            <a:spLocks noChangeShapeType="1"/>
          </p:cNvSpPr>
          <p:nvPr/>
        </p:nvSpPr>
        <p:spPr bwMode="auto">
          <a:xfrm flipH="1">
            <a:off x="2138363" y="4124325"/>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6" name="Text Box 74"/>
          <p:cNvSpPr txBox="1">
            <a:spLocks noChangeArrowheads="1"/>
          </p:cNvSpPr>
          <p:nvPr/>
        </p:nvSpPr>
        <p:spPr bwMode="auto">
          <a:xfrm>
            <a:off x="2209800" y="3848100"/>
            <a:ext cx="6238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0.7 [V]</a:t>
            </a:r>
          </a:p>
        </p:txBody>
      </p:sp>
      <p:sp>
        <p:nvSpPr>
          <p:cNvPr id="121917" name="Line 75"/>
          <p:cNvSpPr>
            <a:spLocks noChangeShapeType="1"/>
          </p:cNvSpPr>
          <p:nvPr/>
        </p:nvSpPr>
        <p:spPr bwMode="auto">
          <a:xfrm>
            <a:off x="1128713" y="4724400"/>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8" name="Line 76"/>
          <p:cNvSpPr>
            <a:spLocks noChangeShapeType="1"/>
          </p:cNvSpPr>
          <p:nvPr/>
        </p:nvSpPr>
        <p:spPr bwMode="auto">
          <a:xfrm>
            <a:off x="1119188" y="4724400"/>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19" name="Line 77"/>
          <p:cNvSpPr>
            <a:spLocks noChangeShapeType="1"/>
          </p:cNvSpPr>
          <p:nvPr/>
        </p:nvSpPr>
        <p:spPr bwMode="auto">
          <a:xfrm>
            <a:off x="2044700" y="4724400"/>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1920" name="Group 78"/>
          <p:cNvGrpSpPr>
            <a:grpSpLocks/>
          </p:cNvGrpSpPr>
          <p:nvPr/>
        </p:nvGrpSpPr>
        <p:grpSpPr bwMode="auto">
          <a:xfrm>
            <a:off x="1952625" y="4927600"/>
            <a:ext cx="184150" cy="254000"/>
            <a:chOff x="1488" y="1152"/>
            <a:chExt cx="192" cy="336"/>
          </a:xfrm>
        </p:grpSpPr>
        <p:sp>
          <p:nvSpPr>
            <p:cNvPr id="121943" name="Line 7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4" name="Line 8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5" name="Line 8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6" name="Line 8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7" name="Line 8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8" name="Line 8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9" name="Line 8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1921" name="Line 86"/>
          <p:cNvSpPr>
            <a:spLocks noChangeShapeType="1"/>
          </p:cNvSpPr>
          <p:nvPr/>
        </p:nvSpPr>
        <p:spPr bwMode="auto">
          <a:xfrm>
            <a:off x="2044700" y="5181600"/>
            <a:ext cx="0" cy="4381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2" name="AutoShape 87"/>
          <p:cNvSpPr>
            <a:spLocks noChangeArrowheads="1"/>
          </p:cNvSpPr>
          <p:nvPr/>
        </p:nvSpPr>
        <p:spPr bwMode="auto">
          <a:xfrm>
            <a:off x="1922463" y="5619750"/>
            <a:ext cx="244475" cy="1270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1923" name="Line 88"/>
          <p:cNvSpPr>
            <a:spLocks noChangeShapeType="1"/>
          </p:cNvSpPr>
          <p:nvPr/>
        </p:nvSpPr>
        <p:spPr bwMode="auto">
          <a:xfrm>
            <a:off x="1922463" y="5746750"/>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4" name="Line 89"/>
          <p:cNvSpPr>
            <a:spLocks noChangeShapeType="1"/>
          </p:cNvSpPr>
          <p:nvPr/>
        </p:nvSpPr>
        <p:spPr bwMode="auto">
          <a:xfrm>
            <a:off x="1128713" y="6096000"/>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5" name="Line 90"/>
          <p:cNvSpPr>
            <a:spLocks noChangeShapeType="1"/>
          </p:cNvSpPr>
          <p:nvPr/>
        </p:nvSpPr>
        <p:spPr bwMode="auto">
          <a:xfrm>
            <a:off x="2044700" y="5740400"/>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6" name="Text Box 91"/>
          <p:cNvSpPr txBox="1">
            <a:spLocks noChangeArrowheads="1"/>
          </p:cNvSpPr>
          <p:nvPr/>
        </p:nvSpPr>
        <p:spPr bwMode="auto">
          <a:xfrm>
            <a:off x="1685925" y="4919663"/>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R</a:t>
            </a:r>
          </a:p>
        </p:txBody>
      </p:sp>
      <p:sp>
        <p:nvSpPr>
          <p:cNvPr id="121927" name="Line 92"/>
          <p:cNvSpPr>
            <a:spLocks noChangeShapeType="1"/>
          </p:cNvSpPr>
          <p:nvPr/>
        </p:nvSpPr>
        <p:spPr bwMode="auto">
          <a:xfrm flipV="1">
            <a:off x="1128713" y="5419725"/>
            <a:ext cx="0" cy="65722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8" name="Line 93"/>
          <p:cNvSpPr>
            <a:spLocks noChangeShapeType="1"/>
          </p:cNvSpPr>
          <p:nvPr/>
        </p:nvSpPr>
        <p:spPr bwMode="auto">
          <a:xfrm>
            <a:off x="1014413" y="5381625"/>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29" name="Line 94"/>
          <p:cNvSpPr>
            <a:spLocks noChangeShapeType="1"/>
          </p:cNvSpPr>
          <p:nvPr/>
        </p:nvSpPr>
        <p:spPr bwMode="auto">
          <a:xfrm>
            <a:off x="1052513" y="5429250"/>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0" name="Text Box 95"/>
          <p:cNvSpPr txBox="1">
            <a:spLocks noChangeArrowheads="1"/>
          </p:cNvSpPr>
          <p:nvPr/>
        </p:nvSpPr>
        <p:spPr bwMode="auto">
          <a:xfrm>
            <a:off x="919163" y="5143500"/>
            <a:ext cx="2698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t>
            </a:r>
          </a:p>
        </p:txBody>
      </p:sp>
      <p:sp>
        <p:nvSpPr>
          <p:cNvPr id="121931" name="Line 96"/>
          <p:cNvSpPr>
            <a:spLocks noChangeShapeType="1"/>
          </p:cNvSpPr>
          <p:nvPr/>
        </p:nvSpPr>
        <p:spPr bwMode="auto">
          <a:xfrm>
            <a:off x="1919288" y="5619750"/>
            <a:ext cx="2476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2" name="Line 97"/>
          <p:cNvSpPr>
            <a:spLocks noChangeShapeType="1"/>
          </p:cNvSpPr>
          <p:nvPr/>
        </p:nvSpPr>
        <p:spPr bwMode="auto">
          <a:xfrm>
            <a:off x="2166938" y="561975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3" name="Line 98"/>
          <p:cNvSpPr>
            <a:spLocks noChangeShapeType="1"/>
          </p:cNvSpPr>
          <p:nvPr/>
        </p:nvSpPr>
        <p:spPr bwMode="auto">
          <a:xfrm flipH="1" flipV="1">
            <a:off x="1833563" y="5543550"/>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4" name="Text Box 99"/>
          <p:cNvSpPr txBox="1">
            <a:spLocks noChangeArrowheads="1"/>
          </p:cNvSpPr>
          <p:nvPr/>
        </p:nvSpPr>
        <p:spPr bwMode="auto">
          <a:xfrm>
            <a:off x="1357313" y="5448300"/>
            <a:ext cx="585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ZD</a:t>
            </a:r>
          </a:p>
          <a:p>
            <a:pPr eaLnBrk="1" hangingPunct="1"/>
            <a:r>
              <a:rPr lang="en-US" altLang="ko-KR">
                <a:latin typeface="Times New Roman" pitchFamily="18" charset="0"/>
                <a:cs typeface="Times New Roman" pitchFamily="18" charset="0"/>
              </a:rPr>
              <a:t>(9.1V)</a:t>
            </a:r>
          </a:p>
        </p:txBody>
      </p:sp>
      <p:sp>
        <p:nvSpPr>
          <p:cNvPr id="121935" name="Text Box 100"/>
          <p:cNvSpPr txBox="1">
            <a:spLocks noChangeArrowheads="1"/>
          </p:cNvSpPr>
          <p:nvPr/>
        </p:nvSpPr>
        <p:spPr bwMode="auto">
          <a:xfrm>
            <a:off x="523875" y="5238750"/>
            <a:ext cx="5476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12[V]</a:t>
            </a:r>
          </a:p>
        </p:txBody>
      </p:sp>
      <p:sp>
        <p:nvSpPr>
          <p:cNvPr id="121936" name="Line 101"/>
          <p:cNvSpPr>
            <a:spLocks noChangeShapeType="1"/>
          </p:cNvSpPr>
          <p:nvPr/>
        </p:nvSpPr>
        <p:spPr bwMode="auto">
          <a:xfrm flipH="1" flipV="1">
            <a:off x="2138363" y="4705350"/>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7" name="Line 102"/>
          <p:cNvSpPr>
            <a:spLocks noChangeShapeType="1"/>
          </p:cNvSpPr>
          <p:nvPr/>
        </p:nvSpPr>
        <p:spPr bwMode="auto">
          <a:xfrm flipH="1">
            <a:off x="2138363" y="523875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38" name="Text Box 103"/>
          <p:cNvSpPr txBox="1">
            <a:spLocks noChangeArrowheads="1"/>
          </p:cNvSpPr>
          <p:nvPr/>
        </p:nvSpPr>
        <p:spPr bwMode="auto">
          <a:xfrm>
            <a:off x="2290763" y="4943475"/>
            <a:ext cx="623887"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2.9 [V]</a:t>
            </a:r>
          </a:p>
        </p:txBody>
      </p:sp>
      <p:sp>
        <p:nvSpPr>
          <p:cNvPr id="121939" name="Line 104"/>
          <p:cNvSpPr>
            <a:spLocks noChangeShapeType="1"/>
          </p:cNvSpPr>
          <p:nvPr/>
        </p:nvSpPr>
        <p:spPr bwMode="auto">
          <a:xfrm flipH="1" flipV="1">
            <a:off x="2147888" y="5400675"/>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0" name="Line 105"/>
          <p:cNvSpPr>
            <a:spLocks noChangeShapeType="1"/>
          </p:cNvSpPr>
          <p:nvPr/>
        </p:nvSpPr>
        <p:spPr bwMode="auto">
          <a:xfrm flipH="1">
            <a:off x="2138363" y="5924550"/>
            <a:ext cx="304800"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1941" name="Text Box 106"/>
          <p:cNvSpPr txBox="1">
            <a:spLocks noChangeArrowheads="1"/>
          </p:cNvSpPr>
          <p:nvPr/>
        </p:nvSpPr>
        <p:spPr bwMode="auto">
          <a:xfrm>
            <a:off x="2290763" y="5649913"/>
            <a:ext cx="623887"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9.1 [V]</a:t>
            </a:r>
          </a:p>
        </p:txBody>
      </p:sp>
      <p:sp>
        <p:nvSpPr>
          <p:cNvPr id="121942" name="Text Box 107"/>
          <p:cNvSpPr txBox="1">
            <a:spLocks noChangeArrowheads="1"/>
          </p:cNvSpPr>
          <p:nvPr/>
        </p:nvSpPr>
        <p:spPr bwMode="auto">
          <a:xfrm>
            <a:off x="3429000" y="5211763"/>
            <a:ext cx="53340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Kích cỡ điện áp không đổi của diode zener rất đa dạng từ2[V] ~  trên 200[V].</a:t>
            </a: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05F638C-9064-4D20-BE0C-F442D92A4C66}" type="slidenum">
              <a:rPr lang="en-US" altLang="ko-KR" sz="1400" smtClean="0">
                <a:latin typeface="Times New Roman" pitchFamily="18" charset="0"/>
                <a:cs typeface="Times New Roman" pitchFamily="18" charset="0"/>
              </a:rPr>
              <a:pPr eaLnBrk="1" hangingPunct="1"/>
              <a:t>115</a:t>
            </a:fld>
            <a:endParaRPr lang="en-US" altLang="ko-KR" sz="1400" smtClean="0">
              <a:latin typeface="Times New Roman" pitchFamily="18" charset="0"/>
              <a:cs typeface="Times New Roman" pitchFamily="18" charset="0"/>
            </a:endParaRPr>
          </a:p>
        </p:txBody>
      </p:sp>
      <p:sp>
        <p:nvSpPr>
          <p:cNvPr id="122883"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2884" name="Rectangle 3"/>
          <p:cNvSpPr>
            <a:spLocks noChangeArrowheads="1"/>
          </p:cNvSpPr>
          <p:nvPr/>
        </p:nvSpPr>
        <p:spPr bwMode="auto">
          <a:xfrm>
            <a:off x="827088" y="1268413"/>
            <a:ext cx="784860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Ký hiệu Diode</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Diode có rất nhiều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phương pháp biểu hiện trên sơ đồ mạch điện cũng được biểu hiện khác nhau tùy theo chủng loại.</a:t>
            </a:r>
          </a:p>
        </p:txBody>
      </p:sp>
      <p:sp>
        <p:nvSpPr>
          <p:cNvPr id="122885"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22886" name="Text Box 5"/>
          <p:cNvSpPr txBox="1">
            <a:spLocks noChangeArrowheads="1"/>
          </p:cNvSpPr>
          <p:nvPr/>
        </p:nvSpPr>
        <p:spPr bwMode="auto">
          <a:xfrm>
            <a:off x="684213" y="892175"/>
            <a:ext cx="49720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1-3. Ký hiệu, tên gọi và chức năng theo chủng loại của Diode</a:t>
            </a:r>
            <a:endParaRPr lang="ko-KR" altLang="en-US" sz="1400" b="1">
              <a:latin typeface="Times New Roman" pitchFamily="18" charset="0"/>
              <a:cs typeface="Times New Roman" pitchFamily="18" charset="0"/>
            </a:endParaRPr>
          </a:p>
        </p:txBody>
      </p:sp>
      <p:grpSp>
        <p:nvGrpSpPr>
          <p:cNvPr id="122887" name="Group 99"/>
          <p:cNvGrpSpPr>
            <a:grpSpLocks/>
          </p:cNvGrpSpPr>
          <p:nvPr/>
        </p:nvGrpSpPr>
        <p:grpSpPr bwMode="auto">
          <a:xfrm>
            <a:off x="865188" y="1846263"/>
            <a:ext cx="7667625" cy="4354512"/>
            <a:chOff x="545" y="1163"/>
            <a:chExt cx="4830" cy="2743"/>
          </a:xfrm>
        </p:grpSpPr>
        <p:grpSp>
          <p:nvGrpSpPr>
            <p:cNvPr id="122888" name="Group 8"/>
            <p:cNvGrpSpPr>
              <a:grpSpLocks/>
            </p:cNvGrpSpPr>
            <p:nvPr/>
          </p:nvGrpSpPr>
          <p:grpSpPr bwMode="auto">
            <a:xfrm>
              <a:off x="545" y="1164"/>
              <a:ext cx="1065" cy="320"/>
              <a:chOff x="0" y="7560"/>
              <a:chExt cx="1284" cy="394"/>
            </a:xfrm>
          </p:grpSpPr>
          <p:sp>
            <p:nvSpPr>
              <p:cNvPr id="122975" name="Rectangle 9"/>
              <p:cNvSpPr>
                <a:spLocks noChangeArrowheads="1"/>
              </p:cNvSpPr>
              <p:nvPr/>
            </p:nvSpPr>
            <p:spPr bwMode="auto">
              <a:xfrm>
                <a:off x="0" y="7560"/>
                <a:ext cx="1284" cy="3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Ký hiệu mạch điện</a:t>
                </a:r>
                <a:r>
                  <a:rPr lang="ko-KR" altLang="en-US">
                    <a:latin typeface="Times New Roman" pitchFamily="18" charset="0"/>
                    <a:cs typeface="Times New Roman" pitchFamily="18" charset="0"/>
                  </a:rPr>
                  <a:t> </a:t>
                </a:r>
              </a:p>
              <a:p>
                <a:pPr algn="ctr"/>
                <a:endParaRPr lang="en-US" altLang="ko-KR">
                  <a:latin typeface="Times New Roman" pitchFamily="18" charset="0"/>
                  <a:cs typeface="Times New Roman" pitchFamily="18" charset="0"/>
                </a:endParaRPr>
              </a:p>
            </p:txBody>
          </p:sp>
          <p:sp>
            <p:nvSpPr>
              <p:cNvPr id="122976" name="Rectangle 10"/>
              <p:cNvSpPr>
                <a:spLocks noChangeArrowheads="1"/>
              </p:cNvSpPr>
              <p:nvPr/>
            </p:nvSpPr>
            <p:spPr bwMode="auto">
              <a:xfrm>
                <a:off x="0" y="7560"/>
                <a:ext cx="1284"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89" name="Group 11"/>
            <p:cNvGrpSpPr>
              <a:grpSpLocks/>
            </p:cNvGrpSpPr>
            <p:nvPr/>
          </p:nvGrpSpPr>
          <p:grpSpPr bwMode="auto">
            <a:xfrm>
              <a:off x="1610" y="1164"/>
              <a:ext cx="672" cy="320"/>
              <a:chOff x="1284" y="7560"/>
              <a:chExt cx="810" cy="394"/>
            </a:xfrm>
          </p:grpSpPr>
          <p:sp>
            <p:nvSpPr>
              <p:cNvPr id="122973" name="Rectangle 12"/>
              <p:cNvSpPr>
                <a:spLocks noChangeArrowheads="1"/>
              </p:cNvSpPr>
              <p:nvPr/>
            </p:nvSpPr>
            <p:spPr bwMode="auto">
              <a:xfrm>
                <a:off x="1284" y="7560"/>
                <a:ext cx="810" cy="3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Ký hiệu</a:t>
                </a:r>
              </a:p>
              <a:p>
                <a:pPr algn="ctr" eaLnBrk="1" hangingPunct="1"/>
                <a:r>
                  <a:rPr lang="en-US" altLang="ko-KR">
                    <a:latin typeface="Times New Roman" pitchFamily="18" charset="0"/>
                    <a:cs typeface="Times New Roman" pitchFamily="18" charset="0"/>
                  </a:rPr>
                  <a:t> viết tắt</a:t>
                </a:r>
                <a:r>
                  <a:rPr lang="ko-KR" altLang="en-US">
                    <a:latin typeface="Times New Roman" pitchFamily="18" charset="0"/>
                    <a:cs typeface="Times New Roman" pitchFamily="18" charset="0"/>
                  </a:rPr>
                  <a:t> </a:t>
                </a:r>
              </a:p>
            </p:txBody>
          </p:sp>
          <p:sp>
            <p:nvSpPr>
              <p:cNvPr id="122974" name="Rectangle 13"/>
              <p:cNvSpPr>
                <a:spLocks noChangeArrowheads="1"/>
              </p:cNvSpPr>
              <p:nvPr/>
            </p:nvSpPr>
            <p:spPr bwMode="auto">
              <a:xfrm>
                <a:off x="1284" y="7560"/>
                <a:ext cx="810"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0" name="Group 14"/>
            <p:cNvGrpSpPr>
              <a:grpSpLocks/>
            </p:cNvGrpSpPr>
            <p:nvPr/>
          </p:nvGrpSpPr>
          <p:grpSpPr bwMode="auto">
            <a:xfrm>
              <a:off x="2282" y="1164"/>
              <a:ext cx="1278" cy="320"/>
              <a:chOff x="2094" y="7560"/>
              <a:chExt cx="1801" cy="394"/>
            </a:xfrm>
          </p:grpSpPr>
          <p:sp>
            <p:nvSpPr>
              <p:cNvPr id="122971" name="Rectangle 15"/>
              <p:cNvSpPr>
                <a:spLocks noChangeArrowheads="1"/>
              </p:cNvSpPr>
              <p:nvPr/>
            </p:nvSpPr>
            <p:spPr bwMode="auto">
              <a:xfrm>
                <a:off x="2094" y="7560"/>
                <a:ext cx="1801" cy="3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Tên gọi</a:t>
                </a:r>
                <a:endParaRPr lang="ko-KR" altLang="en-US">
                  <a:latin typeface="Times New Roman" pitchFamily="18" charset="0"/>
                  <a:cs typeface="Times New Roman" pitchFamily="18" charset="0"/>
                </a:endParaRPr>
              </a:p>
            </p:txBody>
          </p:sp>
          <p:sp>
            <p:nvSpPr>
              <p:cNvPr id="122972" name="Rectangle 16"/>
              <p:cNvSpPr>
                <a:spLocks noChangeArrowheads="1"/>
              </p:cNvSpPr>
              <p:nvPr/>
            </p:nvSpPr>
            <p:spPr bwMode="auto">
              <a:xfrm>
                <a:off x="2094" y="7560"/>
                <a:ext cx="1801"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2891" name="Rectangle 18"/>
            <p:cNvSpPr>
              <a:spLocks noChangeArrowheads="1"/>
            </p:cNvSpPr>
            <p:nvPr/>
          </p:nvSpPr>
          <p:spPr bwMode="auto">
            <a:xfrm>
              <a:off x="3560" y="1163"/>
              <a:ext cx="1815" cy="3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Chức năng</a:t>
              </a:r>
              <a:endParaRPr lang="ko-KR" altLang="en-US">
                <a:latin typeface="Times New Roman" pitchFamily="18" charset="0"/>
                <a:cs typeface="Times New Roman" pitchFamily="18" charset="0"/>
              </a:endParaRPr>
            </a:p>
          </p:txBody>
        </p:sp>
        <p:sp>
          <p:nvSpPr>
            <p:cNvPr id="122892" name="Rectangle 19"/>
            <p:cNvSpPr>
              <a:spLocks noChangeArrowheads="1"/>
            </p:cNvSpPr>
            <p:nvPr/>
          </p:nvSpPr>
          <p:spPr bwMode="auto">
            <a:xfrm>
              <a:off x="3560" y="1163"/>
              <a:ext cx="1815" cy="32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22893" name="Group 20"/>
            <p:cNvGrpSpPr>
              <a:grpSpLocks/>
            </p:cNvGrpSpPr>
            <p:nvPr/>
          </p:nvGrpSpPr>
          <p:grpSpPr bwMode="auto">
            <a:xfrm>
              <a:off x="545" y="1484"/>
              <a:ext cx="1065" cy="406"/>
              <a:chOff x="0" y="7954"/>
              <a:chExt cx="1284" cy="500"/>
            </a:xfrm>
          </p:grpSpPr>
          <p:sp>
            <p:nvSpPr>
              <p:cNvPr id="122969" name="Rectangle 21"/>
              <p:cNvSpPr>
                <a:spLocks noChangeArrowheads="1"/>
              </p:cNvSpPr>
              <p:nvPr/>
            </p:nvSpPr>
            <p:spPr bwMode="auto">
              <a:xfrm>
                <a:off x="0" y="7954"/>
                <a:ext cx="1284" cy="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29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70" name="Rectangle 22"/>
              <p:cNvSpPr>
                <a:spLocks noChangeArrowheads="1"/>
              </p:cNvSpPr>
              <p:nvPr/>
            </p:nvSpPr>
            <p:spPr bwMode="auto">
              <a:xfrm>
                <a:off x="0" y="7954"/>
                <a:ext cx="1284" cy="50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4" name="Group 23"/>
            <p:cNvGrpSpPr>
              <a:grpSpLocks/>
            </p:cNvGrpSpPr>
            <p:nvPr/>
          </p:nvGrpSpPr>
          <p:grpSpPr bwMode="auto">
            <a:xfrm>
              <a:off x="1610" y="1484"/>
              <a:ext cx="672" cy="406"/>
              <a:chOff x="1284" y="7954"/>
              <a:chExt cx="810" cy="500"/>
            </a:xfrm>
          </p:grpSpPr>
          <p:sp>
            <p:nvSpPr>
              <p:cNvPr id="122967" name="Rectangle 24"/>
              <p:cNvSpPr>
                <a:spLocks noChangeArrowheads="1"/>
              </p:cNvSpPr>
              <p:nvPr/>
            </p:nvSpPr>
            <p:spPr bwMode="auto">
              <a:xfrm>
                <a:off x="1284" y="7954"/>
                <a:ext cx="810" cy="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Ｄ</a:t>
                </a:r>
                <a:r>
                  <a:rPr lang="ko-KR" altLang="en-US" sz="1100">
                    <a:latin typeface="Times New Roman" pitchFamily="18" charset="0"/>
                    <a:cs typeface="Times New Roman" pitchFamily="18" charset="0"/>
                  </a:rPr>
                  <a:t> </a:t>
                </a:r>
              </a:p>
              <a:p>
                <a:pPr algn="ctr"/>
                <a:endParaRPr lang="en-US" altLang="ko-KR" sz="2400">
                  <a:latin typeface="Times New Roman" pitchFamily="18" charset="0"/>
                  <a:cs typeface="Times New Roman" pitchFamily="18" charset="0"/>
                </a:endParaRPr>
              </a:p>
            </p:txBody>
          </p:sp>
          <p:sp>
            <p:nvSpPr>
              <p:cNvPr id="122968" name="Rectangle 25"/>
              <p:cNvSpPr>
                <a:spLocks noChangeArrowheads="1"/>
              </p:cNvSpPr>
              <p:nvPr/>
            </p:nvSpPr>
            <p:spPr bwMode="auto">
              <a:xfrm>
                <a:off x="1284" y="7954"/>
                <a:ext cx="810" cy="50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5" name="Group 26"/>
            <p:cNvGrpSpPr>
              <a:grpSpLocks/>
            </p:cNvGrpSpPr>
            <p:nvPr/>
          </p:nvGrpSpPr>
          <p:grpSpPr bwMode="auto">
            <a:xfrm>
              <a:off x="2282" y="1484"/>
              <a:ext cx="1278" cy="406"/>
              <a:chOff x="2094" y="7954"/>
              <a:chExt cx="1801" cy="500"/>
            </a:xfrm>
          </p:grpSpPr>
          <p:sp>
            <p:nvSpPr>
              <p:cNvPr id="122965" name="Rectangle 27"/>
              <p:cNvSpPr>
                <a:spLocks noChangeArrowheads="1"/>
              </p:cNvSpPr>
              <p:nvPr/>
            </p:nvSpPr>
            <p:spPr bwMode="auto">
              <a:xfrm>
                <a:off x="2094" y="7954"/>
                <a:ext cx="1801" cy="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Diode thông dụng</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Diode PIN</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p:txBody>
          </p:sp>
          <p:sp>
            <p:nvSpPr>
              <p:cNvPr id="122966" name="Rectangle 28"/>
              <p:cNvSpPr>
                <a:spLocks noChangeArrowheads="1"/>
              </p:cNvSpPr>
              <p:nvPr/>
            </p:nvSpPr>
            <p:spPr bwMode="auto">
              <a:xfrm>
                <a:off x="2094" y="7954"/>
                <a:ext cx="1801" cy="50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6" name="Group 29"/>
            <p:cNvGrpSpPr>
              <a:grpSpLocks/>
            </p:cNvGrpSpPr>
            <p:nvPr/>
          </p:nvGrpSpPr>
          <p:grpSpPr bwMode="auto">
            <a:xfrm>
              <a:off x="3560" y="1484"/>
              <a:ext cx="1815" cy="406"/>
              <a:chOff x="3895" y="7954"/>
              <a:chExt cx="2580" cy="500"/>
            </a:xfrm>
          </p:grpSpPr>
          <p:sp>
            <p:nvSpPr>
              <p:cNvPr id="122963" name="Rectangle 30"/>
              <p:cNvSpPr>
                <a:spLocks noChangeArrowheads="1"/>
              </p:cNvSpPr>
              <p:nvPr/>
            </p:nvSpPr>
            <p:spPr bwMode="auto">
              <a:xfrm>
                <a:off x="3895" y="7954"/>
                <a:ext cx="2580" cy="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dùng chỉnh lưu, đóng ngắt, dò sóng</a:t>
                </a:r>
                <a:endParaRPr lang="ko-KR" altLang="en-US">
                  <a:latin typeface="Times New Roman" pitchFamily="18" charset="0"/>
                  <a:cs typeface="Times New Roman" pitchFamily="18" charset="0"/>
                </a:endParaRPr>
              </a:p>
            </p:txBody>
          </p:sp>
          <p:sp>
            <p:nvSpPr>
              <p:cNvPr id="122964" name="Rectangle 31"/>
              <p:cNvSpPr>
                <a:spLocks noChangeArrowheads="1"/>
              </p:cNvSpPr>
              <p:nvPr/>
            </p:nvSpPr>
            <p:spPr bwMode="auto">
              <a:xfrm>
                <a:off x="3895" y="7954"/>
                <a:ext cx="2580" cy="50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7" name="Group 32"/>
            <p:cNvGrpSpPr>
              <a:grpSpLocks/>
            </p:cNvGrpSpPr>
            <p:nvPr/>
          </p:nvGrpSpPr>
          <p:grpSpPr bwMode="auto">
            <a:xfrm>
              <a:off x="545" y="1890"/>
              <a:ext cx="1065" cy="391"/>
              <a:chOff x="0" y="8454"/>
              <a:chExt cx="1284" cy="481"/>
            </a:xfrm>
          </p:grpSpPr>
          <p:sp>
            <p:nvSpPr>
              <p:cNvPr id="122961" name="Rectangle 33"/>
              <p:cNvSpPr>
                <a:spLocks noChangeArrowheads="1"/>
              </p:cNvSpPr>
              <p:nvPr/>
            </p:nvSpPr>
            <p:spPr bwMode="auto">
              <a:xfrm>
                <a:off x="0" y="8454"/>
                <a:ext cx="1284" cy="4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33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62" name="Rectangle 34"/>
              <p:cNvSpPr>
                <a:spLocks noChangeArrowheads="1"/>
              </p:cNvSpPr>
              <p:nvPr/>
            </p:nvSpPr>
            <p:spPr bwMode="auto">
              <a:xfrm>
                <a:off x="0" y="8454"/>
                <a:ext cx="1284"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8" name="Group 35"/>
            <p:cNvGrpSpPr>
              <a:grpSpLocks/>
            </p:cNvGrpSpPr>
            <p:nvPr/>
          </p:nvGrpSpPr>
          <p:grpSpPr bwMode="auto">
            <a:xfrm>
              <a:off x="1610" y="1890"/>
              <a:ext cx="672" cy="391"/>
              <a:chOff x="1284" y="8454"/>
              <a:chExt cx="810" cy="481"/>
            </a:xfrm>
          </p:grpSpPr>
          <p:sp>
            <p:nvSpPr>
              <p:cNvPr id="122959" name="Rectangle 36"/>
              <p:cNvSpPr>
                <a:spLocks noChangeArrowheads="1"/>
              </p:cNvSpPr>
              <p:nvPr/>
            </p:nvSpPr>
            <p:spPr bwMode="auto">
              <a:xfrm>
                <a:off x="1284" y="8454"/>
                <a:ext cx="810" cy="4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ＺＤ </a:t>
                </a:r>
              </a:p>
              <a:p>
                <a:pPr algn="ctr"/>
                <a:endParaRPr lang="en-US" altLang="ko-KR" sz="2400">
                  <a:latin typeface="Times New Roman" pitchFamily="18" charset="0"/>
                  <a:cs typeface="Times New Roman" pitchFamily="18" charset="0"/>
                </a:endParaRPr>
              </a:p>
            </p:txBody>
          </p:sp>
          <p:sp>
            <p:nvSpPr>
              <p:cNvPr id="122960" name="Rectangle 37"/>
              <p:cNvSpPr>
                <a:spLocks noChangeArrowheads="1"/>
              </p:cNvSpPr>
              <p:nvPr/>
            </p:nvSpPr>
            <p:spPr bwMode="auto">
              <a:xfrm>
                <a:off x="1284" y="8454"/>
                <a:ext cx="81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899" name="Group 38"/>
            <p:cNvGrpSpPr>
              <a:grpSpLocks/>
            </p:cNvGrpSpPr>
            <p:nvPr/>
          </p:nvGrpSpPr>
          <p:grpSpPr bwMode="auto">
            <a:xfrm>
              <a:off x="2282" y="1890"/>
              <a:ext cx="1278" cy="391"/>
              <a:chOff x="2094" y="8454"/>
              <a:chExt cx="1801" cy="481"/>
            </a:xfrm>
          </p:grpSpPr>
          <p:sp>
            <p:nvSpPr>
              <p:cNvPr id="122957" name="Rectangle 39"/>
              <p:cNvSpPr>
                <a:spLocks noChangeArrowheads="1"/>
              </p:cNvSpPr>
              <p:nvPr/>
            </p:nvSpPr>
            <p:spPr bwMode="auto">
              <a:xfrm>
                <a:off x="2094" y="8454"/>
                <a:ext cx="1801" cy="4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Diode Zener</a:t>
                </a:r>
                <a:endParaRPr lang="ko-KR" altLang="en-US">
                  <a:latin typeface="Times New Roman" pitchFamily="18" charset="0"/>
                  <a:cs typeface="Times New Roman" pitchFamily="18" charset="0"/>
                </a:endParaRPr>
              </a:p>
            </p:txBody>
          </p:sp>
          <p:sp>
            <p:nvSpPr>
              <p:cNvPr id="122958" name="Rectangle 40"/>
              <p:cNvSpPr>
                <a:spLocks noChangeArrowheads="1"/>
              </p:cNvSpPr>
              <p:nvPr/>
            </p:nvSpPr>
            <p:spPr bwMode="auto">
              <a:xfrm>
                <a:off x="2094" y="8454"/>
                <a:ext cx="1801"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0" name="Group 41"/>
            <p:cNvGrpSpPr>
              <a:grpSpLocks/>
            </p:cNvGrpSpPr>
            <p:nvPr/>
          </p:nvGrpSpPr>
          <p:grpSpPr bwMode="auto">
            <a:xfrm>
              <a:off x="3560" y="1890"/>
              <a:ext cx="1815" cy="391"/>
              <a:chOff x="3895" y="8454"/>
              <a:chExt cx="2580" cy="481"/>
            </a:xfrm>
          </p:grpSpPr>
          <p:sp>
            <p:nvSpPr>
              <p:cNvPr id="122955" name="Rectangle 42"/>
              <p:cNvSpPr>
                <a:spLocks noChangeArrowheads="1"/>
              </p:cNvSpPr>
              <p:nvPr/>
            </p:nvSpPr>
            <p:spPr bwMode="auto">
              <a:xfrm>
                <a:off x="3895" y="8454"/>
                <a:ext cx="2580" cy="4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Diode dùng cho điện áp không đổi</a:t>
                </a:r>
                <a:endParaRPr lang="ko-KR" altLang="en-US">
                  <a:latin typeface="Times New Roman" pitchFamily="18" charset="0"/>
                  <a:cs typeface="Times New Roman" pitchFamily="18" charset="0"/>
                </a:endParaRPr>
              </a:p>
            </p:txBody>
          </p:sp>
          <p:sp>
            <p:nvSpPr>
              <p:cNvPr id="122956" name="Rectangle 43"/>
              <p:cNvSpPr>
                <a:spLocks noChangeArrowheads="1"/>
              </p:cNvSpPr>
              <p:nvPr/>
            </p:nvSpPr>
            <p:spPr bwMode="auto">
              <a:xfrm>
                <a:off x="3895" y="8454"/>
                <a:ext cx="258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1" name="Group 44"/>
            <p:cNvGrpSpPr>
              <a:grpSpLocks/>
            </p:cNvGrpSpPr>
            <p:nvPr/>
          </p:nvGrpSpPr>
          <p:grpSpPr bwMode="auto">
            <a:xfrm>
              <a:off x="545" y="2281"/>
              <a:ext cx="1065" cy="383"/>
              <a:chOff x="0" y="8935"/>
              <a:chExt cx="1284" cy="471"/>
            </a:xfrm>
          </p:grpSpPr>
          <p:sp>
            <p:nvSpPr>
              <p:cNvPr id="122953" name="Rectangle 45"/>
              <p:cNvSpPr>
                <a:spLocks noChangeArrowheads="1"/>
              </p:cNvSpPr>
              <p:nvPr/>
            </p:nvSpPr>
            <p:spPr bwMode="auto">
              <a:xfrm>
                <a:off x="0" y="8935"/>
                <a:ext cx="1284"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32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54" name="Rectangle 46"/>
              <p:cNvSpPr>
                <a:spLocks noChangeArrowheads="1"/>
              </p:cNvSpPr>
              <p:nvPr/>
            </p:nvSpPr>
            <p:spPr bwMode="auto">
              <a:xfrm>
                <a:off x="0" y="8935"/>
                <a:ext cx="1284"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2" name="Group 47"/>
            <p:cNvGrpSpPr>
              <a:grpSpLocks/>
            </p:cNvGrpSpPr>
            <p:nvPr/>
          </p:nvGrpSpPr>
          <p:grpSpPr bwMode="auto">
            <a:xfrm>
              <a:off x="1610" y="2281"/>
              <a:ext cx="672" cy="383"/>
              <a:chOff x="1284" y="8935"/>
              <a:chExt cx="810" cy="471"/>
            </a:xfrm>
          </p:grpSpPr>
          <p:sp>
            <p:nvSpPr>
              <p:cNvPr id="122951" name="Rectangle 48"/>
              <p:cNvSpPr>
                <a:spLocks noChangeArrowheads="1"/>
              </p:cNvSpPr>
              <p:nvPr/>
            </p:nvSpPr>
            <p:spPr bwMode="auto">
              <a:xfrm>
                <a:off x="1284" y="8935"/>
                <a:ext cx="810"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ＳＤ </a:t>
                </a:r>
              </a:p>
              <a:p>
                <a:pPr algn="ctr"/>
                <a:endParaRPr lang="en-US" altLang="ko-KR" sz="2400">
                  <a:latin typeface="Times New Roman" pitchFamily="18" charset="0"/>
                  <a:cs typeface="Times New Roman" pitchFamily="18" charset="0"/>
                </a:endParaRPr>
              </a:p>
            </p:txBody>
          </p:sp>
          <p:sp>
            <p:nvSpPr>
              <p:cNvPr id="122952" name="Rectangle 49"/>
              <p:cNvSpPr>
                <a:spLocks noChangeArrowheads="1"/>
              </p:cNvSpPr>
              <p:nvPr/>
            </p:nvSpPr>
            <p:spPr bwMode="auto">
              <a:xfrm>
                <a:off x="1284" y="8935"/>
                <a:ext cx="810"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3" name="Group 50"/>
            <p:cNvGrpSpPr>
              <a:grpSpLocks/>
            </p:cNvGrpSpPr>
            <p:nvPr/>
          </p:nvGrpSpPr>
          <p:grpSpPr bwMode="auto">
            <a:xfrm>
              <a:off x="2282" y="2281"/>
              <a:ext cx="1278" cy="383"/>
              <a:chOff x="2094" y="8935"/>
              <a:chExt cx="1801" cy="471"/>
            </a:xfrm>
          </p:grpSpPr>
          <p:sp>
            <p:nvSpPr>
              <p:cNvPr id="122949" name="Rectangle 51"/>
              <p:cNvSpPr>
                <a:spLocks noChangeArrowheads="1"/>
              </p:cNvSpPr>
              <p:nvPr/>
            </p:nvSpPr>
            <p:spPr bwMode="auto">
              <a:xfrm>
                <a:off x="2094" y="8935"/>
                <a:ext cx="1801"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Schottky Diode </a:t>
                </a:r>
                <a:endParaRPr lang="ko-KR" altLang="en-US">
                  <a:latin typeface="Times New Roman" pitchFamily="18" charset="0"/>
                  <a:cs typeface="Times New Roman" pitchFamily="18" charset="0"/>
                </a:endParaRPr>
              </a:p>
            </p:txBody>
          </p:sp>
          <p:sp>
            <p:nvSpPr>
              <p:cNvPr id="122950" name="Rectangle 52"/>
              <p:cNvSpPr>
                <a:spLocks noChangeArrowheads="1"/>
              </p:cNvSpPr>
              <p:nvPr/>
            </p:nvSpPr>
            <p:spPr bwMode="auto">
              <a:xfrm>
                <a:off x="2094" y="8935"/>
                <a:ext cx="1801"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4" name="Group 53"/>
            <p:cNvGrpSpPr>
              <a:grpSpLocks/>
            </p:cNvGrpSpPr>
            <p:nvPr/>
          </p:nvGrpSpPr>
          <p:grpSpPr bwMode="auto">
            <a:xfrm>
              <a:off x="3560" y="2281"/>
              <a:ext cx="1815" cy="383"/>
              <a:chOff x="3895" y="8935"/>
              <a:chExt cx="2580" cy="471"/>
            </a:xfrm>
          </p:grpSpPr>
          <p:sp>
            <p:nvSpPr>
              <p:cNvPr id="122947" name="Rectangle 54"/>
              <p:cNvSpPr>
                <a:spLocks noChangeArrowheads="1"/>
              </p:cNvSpPr>
              <p:nvPr/>
            </p:nvSpPr>
            <p:spPr bwMode="auto">
              <a:xfrm>
                <a:off x="3895" y="8935"/>
                <a:ext cx="2580"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dùng để đóng ngắt cao tần</a:t>
                </a:r>
                <a:endParaRPr lang="ko-KR" altLang="en-US">
                  <a:latin typeface="Times New Roman" pitchFamily="18" charset="0"/>
                  <a:cs typeface="Times New Roman" pitchFamily="18" charset="0"/>
                </a:endParaRPr>
              </a:p>
            </p:txBody>
          </p:sp>
          <p:sp>
            <p:nvSpPr>
              <p:cNvPr id="122948" name="Rectangle 55"/>
              <p:cNvSpPr>
                <a:spLocks noChangeArrowheads="1"/>
              </p:cNvSpPr>
              <p:nvPr/>
            </p:nvSpPr>
            <p:spPr bwMode="auto">
              <a:xfrm>
                <a:off x="3895" y="8935"/>
                <a:ext cx="2580"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5" name="Group 56"/>
            <p:cNvGrpSpPr>
              <a:grpSpLocks/>
            </p:cNvGrpSpPr>
            <p:nvPr/>
          </p:nvGrpSpPr>
          <p:grpSpPr bwMode="auto">
            <a:xfrm>
              <a:off x="545" y="2664"/>
              <a:ext cx="1065" cy="375"/>
              <a:chOff x="0" y="9406"/>
              <a:chExt cx="1284" cy="462"/>
            </a:xfrm>
          </p:grpSpPr>
          <p:sp>
            <p:nvSpPr>
              <p:cNvPr id="122945" name="Rectangle 57"/>
              <p:cNvSpPr>
                <a:spLocks noChangeArrowheads="1"/>
              </p:cNvSpPr>
              <p:nvPr/>
            </p:nvSpPr>
            <p:spPr bwMode="auto">
              <a:xfrm>
                <a:off x="0" y="9406"/>
                <a:ext cx="1284" cy="4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31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46" name="Rectangle 58"/>
              <p:cNvSpPr>
                <a:spLocks noChangeArrowheads="1"/>
              </p:cNvSpPr>
              <p:nvPr/>
            </p:nvSpPr>
            <p:spPr bwMode="auto">
              <a:xfrm>
                <a:off x="0" y="9406"/>
                <a:ext cx="1284" cy="46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6" name="Group 59"/>
            <p:cNvGrpSpPr>
              <a:grpSpLocks/>
            </p:cNvGrpSpPr>
            <p:nvPr/>
          </p:nvGrpSpPr>
          <p:grpSpPr bwMode="auto">
            <a:xfrm>
              <a:off x="1610" y="2664"/>
              <a:ext cx="672" cy="375"/>
              <a:chOff x="1284" y="9406"/>
              <a:chExt cx="810" cy="462"/>
            </a:xfrm>
          </p:grpSpPr>
          <p:sp>
            <p:nvSpPr>
              <p:cNvPr id="122943" name="Rectangle 60"/>
              <p:cNvSpPr>
                <a:spLocks noChangeArrowheads="1"/>
              </p:cNvSpPr>
              <p:nvPr/>
            </p:nvSpPr>
            <p:spPr bwMode="auto">
              <a:xfrm>
                <a:off x="1284" y="9406"/>
                <a:ext cx="810" cy="4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ＶＤ</a:t>
                </a:r>
                <a:r>
                  <a:rPr lang="ko-KR" altLang="en-US" sz="1100">
                    <a:latin typeface="Times New Roman" pitchFamily="18" charset="0"/>
                    <a:cs typeface="Times New Roman" pitchFamily="18" charset="0"/>
                  </a:rPr>
                  <a:t> </a:t>
                </a:r>
              </a:p>
              <a:p>
                <a:pPr algn="ctr"/>
                <a:endParaRPr lang="en-US" altLang="ko-KR" sz="2400">
                  <a:latin typeface="Times New Roman" pitchFamily="18" charset="0"/>
                  <a:cs typeface="Times New Roman" pitchFamily="18" charset="0"/>
                </a:endParaRPr>
              </a:p>
            </p:txBody>
          </p:sp>
          <p:sp>
            <p:nvSpPr>
              <p:cNvPr id="122944" name="Rectangle 61"/>
              <p:cNvSpPr>
                <a:spLocks noChangeArrowheads="1"/>
              </p:cNvSpPr>
              <p:nvPr/>
            </p:nvSpPr>
            <p:spPr bwMode="auto">
              <a:xfrm>
                <a:off x="1284" y="9406"/>
                <a:ext cx="810" cy="46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7" name="Group 62"/>
            <p:cNvGrpSpPr>
              <a:grpSpLocks/>
            </p:cNvGrpSpPr>
            <p:nvPr/>
          </p:nvGrpSpPr>
          <p:grpSpPr bwMode="auto">
            <a:xfrm>
              <a:off x="2282" y="2664"/>
              <a:ext cx="1278" cy="375"/>
              <a:chOff x="2094" y="9406"/>
              <a:chExt cx="1801" cy="462"/>
            </a:xfrm>
          </p:grpSpPr>
          <p:sp>
            <p:nvSpPr>
              <p:cNvPr id="122941" name="Rectangle 63"/>
              <p:cNvSpPr>
                <a:spLocks noChangeArrowheads="1"/>
              </p:cNvSpPr>
              <p:nvPr/>
            </p:nvSpPr>
            <p:spPr bwMode="auto">
              <a:xfrm>
                <a:off x="2094" y="9406"/>
                <a:ext cx="1801" cy="4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VARICAP</a:t>
                </a:r>
                <a:endParaRPr lang="ko-KR" altLang="en-US">
                  <a:latin typeface="Times New Roman" pitchFamily="18" charset="0"/>
                  <a:cs typeface="Times New Roman" pitchFamily="18" charset="0"/>
                </a:endParaRPr>
              </a:p>
            </p:txBody>
          </p:sp>
          <p:sp>
            <p:nvSpPr>
              <p:cNvPr id="122942" name="Rectangle 64"/>
              <p:cNvSpPr>
                <a:spLocks noChangeArrowheads="1"/>
              </p:cNvSpPr>
              <p:nvPr/>
            </p:nvSpPr>
            <p:spPr bwMode="auto">
              <a:xfrm>
                <a:off x="2094" y="9406"/>
                <a:ext cx="1801" cy="46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8" name="Group 65"/>
            <p:cNvGrpSpPr>
              <a:grpSpLocks/>
            </p:cNvGrpSpPr>
            <p:nvPr/>
          </p:nvGrpSpPr>
          <p:grpSpPr bwMode="auto">
            <a:xfrm>
              <a:off x="3560" y="2664"/>
              <a:ext cx="1815" cy="375"/>
              <a:chOff x="3895" y="9406"/>
              <a:chExt cx="2580" cy="462"/>
            </a:xfrm>
          </p:grpSpPr>
          <p:sp>
            <p:nvSpPr>
              <p:cNvPr id="122939" name="Rectangle 66"/>
              <p:cNvSpPr>
                <a:spLocks noChangeArrowheads="1"/>
              </p:cNvSpPr>
              <p:nvPr/>
            </p:nvSpPr>
            <p:spPr bwMode="auto">
              <a:xfrm>
                <a:off x="3895" y="9406"/>
                <a:ext cx="2580" cy="4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Diode công suất khả biến</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r>
                  <a:rPr lang="en-US" altLang="ko-KR">
                    <a:latin typeface="Times New Roman" pitchFamily="18" charset="0"/>
                    <a:cs typeface="Times New Roman" pitchFamily="18" charset="0"/>
                  </a:rPr>
                  <a:t>Chuyên dùng để điều hưởng cao tần</a:t>
                </a:r>
                <a:endParaRPr lang="ko-KR" altLang="en-US">
                  <a:latin typeface="Times New Roman" pitchFamily="18" charset="0"/>
                  <a:cs typeface="Times New Roman" pitchFamily="18" charset="0"/>
                </a:endParaRPr>
              </a:p>
            </p:txBody>
          </p:sp>
          <p:sp>
            <p:nvSpPr>
              <p:cNvPr id="122940" name="Rectangle 67"/>
              <p:cNvSpPr>
                <a:spLocks noChangeArrowheads="1"/>
              </p:cNvSpPr>
              <p:nvPr/>
            </p:nvSpPr>
            <p:spPr bwMode="auto">
              <a:xfrm>
                <a:off x="3895" y="9406"/>
                <a:ext cx="2580" cy="46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09" name="Group 68"/>
            <p:cNvGrpSpPr>
              <a:grpSpLocks/>
            </p:cNvGrpSpPr>
            <p:nvPr/>
          </p:nvGrpSpPr>
          <p:grpSpPr bwMode="auto">
            <a:xfrm>
              <a:off x="545" y="3039"/>
              <a:ext cx="1065" cy="484"/>
              <a:chOff x="0" y="9868"/>
              <a:chExt cx="1284" cy="596"/>
            </a:xfrm>
          </p:grpSpPr>
          <p:sp>
            <p:nvSpPr>
              <p:cNvPr id="122937" name="Rectangle 69"/>
              <p:cNvSpPr>
                <a:spLocks noChangeArrowheads="1"/>
              </p:cNvSpPr>
              <p:nvPr/>
            </p:nvSpPr>
            <p:spPr bwMode="auto">
              <a:xfrm>
                <a:off x="0" y="9868"/>
                <a:ext cx="1284" cy="59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45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38" name="Rectangle 70"/>
              <p:cNvSpPr>
                <a:spLocks noChangeArrowheads="1"/>
              </p:cNvSpPr>
              <p:nvPr/>
            </p:nvSpPr>
            <p:spPr bwMode="auto">
              <a:xfrm>
                <a:off x="0" y="9868"/>
                <a:ext cx="1284"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0" name="Group 71"/>
            <p:cNvGrpSpPr>
              <a:grpSpLocks/>
            </p:cNvGrpSpPr>
            <p:nvPr/>
          </p:nvGrpSpPr>
          <p:grpSpPr bwMode="auto">
            <a:xfrm>
              <a:off x="1610" y="3039"/>
              <a:ext cx="672" cy="484"/>
              <a:chOff x="1284" y="9868"/>
              <a:chExt cx="810" cy="596"/>
            </a:xfrm>
          </p:grpSpPr>
          <p:sp>
            <p:nvSpPr>
              <p:cNvPr id="122935" name="Rectangle 72"/>
              <p:cNvSpPr>
                <a:spLocks noChangeArrowheads="1"/>
              </p:cNvSpPr>
              <p:nvPr/>
            </p:nvSpPr>
            <p:spPr bwMode="auto">
              <a:xfrm>
                <a:off x="1284" y="9868"/>
                <a:ext cx="810" cy="59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ＤＢ</a:t>
                </a:r>
                <a:r>
                  <a:rPr lang="ko-KR" altLang="en-US" sz="1100">
                    <a:latin typeface="Times New Roman" pitchFamily="18" charset="0"/>
                    <a:cs typeface="Times New Roman" pitchFamily="18" charset="0"/>
                  </a:rPr>
                  <a:t> </a:t>
                </a:r>
              </a:p>
              <a:p>
                <a:pPr algn="ctr"/>
                <a:endParaRPr lang="en-US" altLang="ko-KR" sz="2400">
                  <a:latin typeface="Times New Roman" pitchFamily="18" charset="0"/>
                  <a:cs typeface="Times New Roman" pitchFamily="18" charset="0"/>
                </a:endParaRPr>
              </a:p>
            </p:txBody>
          </p:sp>
          <p:sp>
            <p:nvSpPr>
              <p:cNvPr id="122936" name="Rectangle 73"/>
              <p:cNvSpPr>
                <a:spLocks noChangeArrowheads="1"/>
              </p:cNvSpPr>
              <p:nvPr/>
            </p:nvSpPr>
            <p:spPr bwMode="auto">
              <a:xfrm>
                <a:off x="1284" y="9868"/>
                <a:ext cx="810"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1" name="Group 74"/>
            <p:cNvGrpSpPr>
              <a:grpSpLocks/>
            </p:cNvGrpSpPr>
            <p:nvPr/>
          </p:nvGrpSpPr>
          <p:grpSpPr bwMode="auto">
            <a:xfrm>
              <a:off x="2282" y="3039"/>
              <a:ext cx="1278" cy="484"/>
              <a:chOff x="2094" y="9868"/>
              <a:chExt cx="1801" cy="596"/>
            </a:xfrm>
          </p:grpSpPr>
          <p:sp>
            <p:nvSpPr>
              <p:cNvPr id="122933" name="Rectangle 75"/>
              <p:cNvSpPr>
                <a:spLocks noChangeArrowheads="1"/>
              </p:cNvSpPr>
              <p:nvPr/>
            </p:nvSpPr>
            <p:spPr bwMode="auto">
              <a:xfrm>
                <a:off x="2094" y="9868"/>
                <a:ext cx="1801" cy="59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a:latin typeface="Times New Roman" pitchFamily="18" charset="0"/>
                  <a:cs typeface="Times New Roman" pitchFamily="18" charset="0"/>
                </a:endParaRPr>
              </a:p>
              <a:p>
                <a:pPr algn="ctr" eaLnBrk="1" hangingPunct="1"/>
                <a:r>
                  <a:rPr lang="en-US" altLang="ko-KR">
                    <a:latin typeface="Times New Roman" pitchFamily="18" charset="0"/>
                    <a:cs typeface="Times New Roman" pitchFamily="18" charset="0"/>
                  </a:rPr>
                  <a:t>Bridge Diode </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p:txBody>
          </p:sp>
          <p:sp>
            <p:nvSpPr>
              <p:cNvPr id="122934" name="Rectangle 76"/>
              <p:cNvSpPr>
                <a:spLocks noChangeArrowheads="1"/>
              </p:cNvSpPr>
              <p:nvPr/>
            </p:nvSpPr>
            <p:spPr bwMode="auto">
              <a:xfrm>
                <a:off x="2094" y="9868"/>
                <a:ext cx="1801"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2" name="Group 77"/>
            <p:cNvGrpSpPr>
              <a:grpSpLocks/>
            </p:cNvGrpSpPr>
            <p:nvPr/>
          </p:nvGrpSpPr>
          <p:grpSpPr bwMode="auto">
            <a:xfrm>
              <a:off x="3560" y="3039"/>
              <a:ext cx="1815" cy="484"/>
              <a:chOff x="3895" y="9868"/>
              <a:chExt cx="2580" cy="596"/>
            </a:xfrm>
          </p:grpSpPr>
          <p:sp>
            <p:nvSpPr>
              <p:cNvPr id="122931" name="Rectangle 78"/>
              <p:cNvSpPr>
                <a:spLocks noChangeArrowheads="1"/>
              </p:cNvSpPr>
              <p:nvPr/>
            </p:nvSpPr>
            <p:spPr bwMode="auto">
              <a:xfrm>
                <a:off x="3895" y="9868"/>
                <a:ext cx="2580" cy="59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Chuyên dùng cho dòng điện nguồn</a:t>
                </a:r>
                <a:endParaRPr lang="ko-KR" altLang="en-US">
                  <a:latin typeface="Times New Roman" pitchFamily="18" charset="0"/>
                  <a:cs typeface="Times New Roman" pitchFamily="18" charset="0"/>
                </a:endParaRPr>
              </a:p>
            </p:txBody>
          </p:sp>
          <p:sp>
            <p:nvSpPr>
              <p:cNvPr id="122932" name="Rectangle 79"/>
              <p:cNvSpPr>
                <a:spLocks noChangeArrowheads="1"/>
              </p:cNvSpPr>
              <p:nvPr/>
            </p:nvSpPr>
            <p:spPr bwMode="auto">
              <a:xfrm>
                <a:off x="3895" y="9868"/>
                <a:ext cx="2580"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3" name="Group 80"/>
            <p:cNvGrpSpPr>
              <a:grpSpLocks/>
            </p:cNvGrpSpPr>
            <p:nvPr/>
          </p:nvGrpSpPr>
          <p:grpSpPr bwMode="auto">
            <a:xfrm>
              <a:off x="545" y="3523"/>
              <a:ext cx="1065" cy="383"/>
              <a:chOff x="0" y="10464"/>
              <a:chExt cx="1284" cy="471"/>
            </a:xfrm>
          </p:grpSpPr>
          <p:sp>
            <p:nvSpPr>
              <p:cNvPr id="122929" name="Rectangle 81"/>
              <p:cNvSpPr>
                <a:spLocks noChangeArrowheads="1"/>
              </p:cNvSpPr>
              <p:nvPr/>
            </p:nvSpPr>
            <p:spPr bwMode="auto">
              <a:xfrm>
                <a:off x="0" y="10464"/>
                <a:ext cx="1284"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100">
                    <a:latin typeface="Times New Roman" pitchFamily="18" charset="0"/>
                    <a:cs typeface="Times New Roman" pitchFamily="18" charset="0"/>
                  </a:rPr>
                  <a:t>  </a:t>
                </a:r>
                <a:r>
                  <a:rPr lang="en-US" altLang="ko-KR" sz="3200">
                    <a:latin typeface="Times New Roman" pitchFamily="18" charset="0"/>
                    <a:cs typeface="Times New Roman" pitchFamily="18" charset="0"/>
                  </a:rPr>
                  <a:t> </a:t>
                </a:r>
                <a:r>
                  <a:rPr lang="en-US" altLang="ko-KR" sz="1100">
                    <a:latin typeface="Times New Roman" pitchFamily="18" charset="0"/>
                    <a:cs typeface="Times New Roman" pitchFamily="18" charset="0"/>
                  </a:rPr>
                  <a:t>             </a:t>
                </a:r>
              </a:p>
              <a:p>
                <a:pPr algn="ctr"/>
                <a:endParaRPr lang="en-US" altLang="ko-KR" sz="1100">
                  <a:latin typeface="Times New Roman" pitchFamily="18" charset="0"/>
                  <a:cs typeface="Times New Roman" pitchFamily="18" charset="0"/>
                </a:endParaRPr>
              </a:p>
            </p:txBody>
          </p:sp>
          <p:sp>
            <p:nvSpPr>
              <p:cNvPr id="122930" name="Rectangle 82"/>
              <p:cNvSpPr>
                <a:spLocks noChangeArrowheads="1"/>
              </p:cNvSpPr>
              <p:nvPr/>
            </p:nvSpPr>
            <p:spPr bwMode="auto">
              <a:xfrm>
                <a:off x="0" y="10464"/>
                <a:ext cx="1284"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4" name="Group 83"/>
            <p:cNvGrpSpPr>
              <a:grpSpLocks/>
            </p:cNvGrpSpPr>
            <p:nvPr/>
          </p:nvGrpSpPr>
          <p:grpSpPr bwMode="auto">
            <a:xfrm>
              <a:off x="1610" y="3523"/>
              <a:ext cx="672" cy="383"/>
              <a:chOff x="1284" y="10464"/>
              <a:chExt cx="810" cy="471"/>
            </a:xfrm>
          </p:grpSpPr>
          <p:sp>
            <p:nvSpPr>
              <p:cNvPr id="122927" name="Rectangle 84"/>
              <p:cNvSpPr>
                <a:spLocks noChangeArrowheads="1"/>
              </p:cNvSpPr>
              <p:nvPr/>
            </p:nvSpPr>
            <p:spPr bwMode="auto">
              <a:xfrm>
                <a:off x="1284" y="10464"/>
                <a:ext cx="810"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1400">
                  <a:latin typeface="Times New Roman" pitchFamily="18" charset="0"/>
                  <a:cs typeface="Times New Roman" pitchFamily="18" charset="0"/>
                </a:endParaRPr>
              </a:p>
              <a:p>
                <a:pPr algn="ctr" eaLnBrk="1" hangingPunct="1"/>
                <a:r>
                  <a:rPr lang="ko-KR" altLang="en-US" sz="1400">
                    <a:latin typeface="Times New Roman" pitchFamily="18" charset="0"/>
                    <a:cs typeface="Times New Roman" pitchFamily="18" charset="0"/>
                  </a:rPr>
                  <a:t>ＬＥＤ</a:t>
                </a:r>
                <a:r>
                  <a:rPr lang="ko-KR" altLang="en-US" sz="1100">
                    <a:latin typeface="Times New Roman" pitchFamily="18" charset="0"/>
                    <a:cs typeface="Times New Roman" pitchFamily="18" charset="0"/>
                  </a:rPr>
                  <a:t> </a:t>
                </a:r>
              </a:p>
              <a:p>
                <a:pPr algn="ctr"/>
                <a:endParaRPr lang="en-US" altLang="ko-KR" sz="2400">
                  <a:latin typeface="Times New Roman" pitchFamily="18" charset="0"/>
                  <a:cs typeface="Times New Roman" pitchFamily="18" charset="0"/>
                </a:endParaRPr>
              </a:p>
            </p:txBody>
          </p:sp>
          <p:sp>
            <p:nvSpPr>
              <p:cNvPr id="122928" name="Rectangle 85"/>
              <p:cNvSpPr>
                <a:spLocks noChangeArrowheads="1"/>
              </p:cNvSpPr>
              <p:nvPr/>
            </p:nvSpPr>
            <p:spPr bwMode="auto">
              <a:xfrm>
                <a:off x="1284" y="10464"/>
                <a:ext cx="810"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5" name="Group 86"/>
            <p:cNvGrpSpPr>
              <a:grpSpLocks/>
            </p:cNvGrpSpPr>
            <p:nvPr/>
          </p:nvGrpSpPr>
          <p:grpSpPr bwMode="auto">
            <a:xfrm>
              <a:off x="2282" y="3523"/>
              <a:ext cx="1278" cy="383"/>
              <a:chOff x="2094" y="10464"/>
              <a:chExt cx="1801" cy="471"/>
            </a:xfrm>
          </p:grpSpPr>
          <p:sp>
            <p:nvSpPr>
              <p:cNvPr id="122925" name="Rectangle 87"/>
              <p:cNvSpPr>
                <a:spLocks noChangeArrowheads="1"/>
              </p:cNvSpPr>
              <p:nvPr/>
            </p:nvSpPr>
            <p:spPr bwMode="auto">
              <a:xfrm>
                <a:off x="2094" y="10464"/>
                <a:ext cx="1801"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Diode phát quang</a:t>
                </a:r>
                <a:endParaRPr lang="ko-KR" altLang="en-US">
                  <a:latin typeface="Times New Roman" pitchFamily="18" charset="0"/>
                  <a:cs typeface="Times New Roman" pitchFamily="18" charset="0"/>
                </a:endParaRPr>
              </a:p>
            </p:txBody>
          </p:sp>
          <p:sp>
            <p:nvSpPr>
              <p:cNvPr id="122926" name="Rectangle 88"/>
              <p:cNvSpPr>
                <a:spLocks noChangeArrowheads="1"/>
              </p:cNvSpPr>
              <p:nvPr/>
            </p:nvSpPr>
            <p:spPr bwMode="auto">
              <a:xfrm>
                <a:off x="2094" y="10464"/>
                <a:ext cx="1801"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2916" name="Group 89"/>
            <p:cNvGrpSpPr>
              <a:grpSpLocks/>
            </p:cNvGrpSpPr>
            <p:nvPr/>
          </p:nvGrpSpPr>
          <p:grpSpPr bwMode="auto">
            <a:xfrm>
              <a:off x="3560" y="3523"/>
              <a:ext cx="1815" cy="383"/>
              <a:chOff x="3895" y="10464"/>
              <a:chExt cx="2580" cy="471"/>
            </a:xfrm>
          </p:grpSpPr>
          <p:sp>
            <p:nvSpPr>
              <p:cNvPr id="122923" name="Rectangle 90"/>
              <p:cNvSpPr>
                <a:spLocks noChangeArrowheads="1"/>
              </p:cNvSpPr>
              <p:nvPr/>
            </p:nvSpPr>
            <p:spPr bwMode="auto">
              <a:xfrm>
                <a:off x="3895" y="10464"/>
                <a:ext cx="2580" cy="4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Diode dùng để biểu thị</a:t>
                </a:r>
                <a:endParaRPr lang="ko-KR" altLang="en-US">
                  <a:latin typeface="Times New Roman" pitchFamily="18" charset="0"/>
                  <a:cs typeface="Times New Roman" pitchFamily="18" charset="0"/>
                </a:endParaRPr>
              </a:p>
            </p:txBody>
          </p:sp>
          <p:sp>
            <p:nvSpPr>
              <p:cNvPr id="122924" name="Rectangle 91"/>
              <p:cNvSpPr>
                <a:spLocks noChangeArrowheads="1"/>
              </p:cNvSpPr>
              <p:nvPr/>
            </p:nvSpPr>
            <p:spPr bwMode="auto">
              <a:xfrm>
                <a:off x="3895" y="10464"/>
                <a:ext cx="2580" cy="47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pic>
          <p:nvPicPr>
            <p:cNvPr id="122917" name="Picture 93" descr="dio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 y="1546"/>
              <a:ext cx="396"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8" name="Picture 94" descr="ze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 y="1930"/>
              <a:ext cx="20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9" name="Picture 95" descr="shottok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9" y="2314"/>
              <a:ext cx="23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0" name="Picture 96" descr="varica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 y="2722"/>
              <a:ext cx="4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1" name="Picture 97" descr="bridg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 y="3082"/>
              <a:ext cx="384"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2" name="Picture 98" descr="l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7" y="3562"/>
              <a:ext cx="38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D9D9DAA-7BCD-4092-A23D-0B37675C24AA}" type="slidenum">
              <a:rPr lang="en-US" altLang="ko-KR" sz="1400" smtClean="0">
                <a:latin typeface="Times New Roman" pitchFamily="18" charset="0"/>
                <a:cs typeface="Times New Roman" pitchFamily="18" charset="0"/>
              </a:rPr>
              <a:pPr eaLnBrk="1" hangingPunct="1"/>
              <a:t>116</a:t>
            </a:fld>
            <a:endParaRPr lang="en-US" altLang="ko-KR" sz="1400" smtClean="0">
              <a:latin typeface="Times New Roman" pitchFamily="18" charset="0"/>
              <a:cs typeface="Times New Roman" pitchFamily="18" charset="0"/>
            </a:endParaRPr>
          </a:p>
        </p:txBody>
      </p:sp>
      <p:sp>
        <p:nvSpPr>
          <p:cNvPr id="123907"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390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Các loại Diode</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Diode sử dụng cho tín hiệu nhỏ</a:t>
            </a:r>
            <a:r>
              <a:rPr lang="ko-KR" altLang="en-US" b="1">
                <a:latin typeface="Times New Roman" pitchFamily="18" charset="0"/>
                <a:cs typeface="Times New Roman" pitchFamily="18" charset="0"/>
              </a:rPr>
              <a:t> </a:t>
            </a: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1)</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Diode thông thường</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diode cơ bản nhất, được phân loại thành diode gecmani và diode silicon theo linh kiện.</a:t>
            </a:r>
          </a:p>
          <a:p>
            <a:pPr eaLnBrk="1" hangingPunct="1"/>
            <a:r>
              <a:rPr lang="en-US" altLang="ko-KR">
                <a:latin typeface="Times New Roman" pitchFamily="18" charset="0"/>
                <a:cs typeface="Times New Roman" pitchFamily="18" charset="0"/>
              </a:rPr>
              <a:t>   Mục đích sử dụng chủ yếu là dò sóng, chỉnh lưu, đóng mở… thông thường sụt áp (sự giảm điện thế) chiều thuận từ</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0.6 V – 0.7 V.</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2) Diode Schottky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Barrier</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Tốc độ đóng mở cực lớn, nên được sử dụng cho đóng mở tốc độ cao hoặc máy trộn có sóng cực ngắn. Có đặc điểm là sụt áp chiều thuận thấp khoảng 0.2 V .</a:t>
            </a:r>
          </a:p>
        </p:txBody>
      </p:sp>
      <p:sp>
        <p:nvSpPr>
          <p:cNvPr id="123909"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23910" name="Picture 5" descr="diod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628775"/>
            <a:ext cx="2438400" cy="2238375"/>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23911" name="Line 6"/>
          <p:cNvSpPr>
            <a:spLocks noChangeShapeType="1"/>
          </p:cNvSpPr>
          <p:nvPr/>
        </p:nvSpPr>
        <p:spPr bwMode="auto">
          <a:xfrm flipH="1">
            <a:off x="3706813" y="185737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12" name="Text Box 7"/>
          <p:cNvSpPr txBox="1">
            <a:spLocks noChangeArrowheads="1"/>
          </p:cNvSpPr>
          <p:nvPr/>
        </p:nvSpPr>
        <p:spPr bwMode="auto">
          <a:xfrm>
            <a:off x="4217988" y="1722438"/>
            <a:ext cx="1860550"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gecmani thông dụng</a:t>
            </a:r>
            <a:endParaRPr lang="ko-KR" altLang="en-US">
              <a:latin typeface="Times New Roman" pitchFamily="18" charset="0"/>
              <a:cs typeface="Times New Roman" pitchFamily="18" charset="0"/>
            </a:endParaRPr>
          </a:p>
        </p:txBody>
      </p:sp>
      <p:sp>
        <p:nvSpPr>
          <p:cNvPr id="123913" name="Line 8"/>
          <p:cNvSpPr>
            <a:spLocks noChangeShapeType="1"/>
          </p:cNvSpPr>
          <p:nvPr/>
        </p:nvSpPr>
        <p:spPr bwMode="auto">
          <a:xfrm flipH="1">
            <a:off x="3706813" y="21717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14" name="Text Box 9"/>
          <p:cNvSpPr txBox="1">
            <a:spLocks noChangeArrowheads="1"/>
          </p:cNvSpPr>
          <p:nvPr/>
        </p:nvSpPr>
        <p:spPr bwMode="auto">
          <a:xfrm>
            <a:off x="4211638" y="2036763"/>
            <a:ext cx="1860550"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gecmani thông dụng</a:t>
            </a:r>
            <a:endParaRPr lang="ko-KR" altLang="en-US">
              <a:latin typeface="Times New Roman" pitchFamily="18" charset="0"/>
              <a:cs typeface="Times New Roman" pitchFamily="18" charset="0"/>
            </a:endParaRPr>
          </a:p>
        </p:txBody>
      </p:sp>
      <p:sp>
        <p:nvSpPr>
          <p:cNvPr id="123915" name="Line 10"/>
          <p:cNvSpPr>
            <a:spLocks noChangeShapeType="1"/>
          </p:cNvSpPr>
          <p:nvPr/>
        </p:nvSpPr>
        <p:spPr bwMode="auto">
          <a:xfrm flipH="1">
            <a:off x="3706813" y="246697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16" name="Text Box 11"/>
          <p:cNvSpPr txBox="1">
            <a:spLocks noChangeArrowheads="1"/>
          </p:cNvSpPr>
          <p:nvPr/>
        </p:nvSpPr>
        <p:spPr bwMode="auto">
          <a:xfrm>
            <a:off x="4217988" y="2341563"/>
            <a:ext cx="1747837"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silicon thông dụng</a:t>
            </a:r>
            <a:endParaRPr lang="ko-KR" altLang="en-US">
              <a:latin typeface="Times New Roman" pitchFamily="18" charset="0"/>
              <a:cs typeface="Times New Roman" pitchFamily="18" charset="0"/>
            </a:endParaRPr>
          </a:p>
        </p:txBody>
      </p:sp>
      <p:sp>
        <p:nvSpPr>
          <p:cNvPr id="123917" name="Line 12"/>
          <p:cNvSpPr>
            <a:spLocks noChangeShapeType="1"/>
          </p:cNvSpPr>
          <p:nvPr/>
        </p:nvSpPr>
        <p:spPr bwMode="auto">
          <a:xfrm flipH="1">
            <a:off x="3706813" y="28003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18" name="Text Box 13"/>
          <p:cNvSpPr txBox="1">
            <a:spLocks noChangeArrowheads="1"/>
          </p:cNvSpPr>
          <p:nvPr/>
        </p:nvSpPr>
        <p:spPr bwMode="auto">
          <a:xfrm>
            <a:off x="4221163" y="2665413"/>
            <a:ext cx="1624012"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Schottky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Barrier</a:t>
            </a:r>
            <a:endParaRPr lang="ko-KR" altLang="en-US">
              <a:latin typeface="Times New Roman" pitchFamily="18" charset="0"/>
              <a:cs typeface="Times New Roman" pitchFamily="18" charset="0"/>
            </a:endParaRPr>
          </a:p>
        </p:txBody>
      </p:sp>
      <p:sp>
        <p:nvSpPr>
          <p:cNvPr id="123919" name="Line 14"/>
          <p:cNvSpPr>
            <a:spLocks noChangeShapeType="1"/>
          </p:cNvSpPr>
          <p:nvPr/>
        </p:nvSpPr>
        <p:spPr bwMode="auto">
          <a:xfrm flipH="1">
            <a:off x="3706813" y="322897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20" name="Text Box 15"/>
          <p:cNvSpPr txBox="1">
            <a:spLocks noChangeArrowheads="1"/>
          </p:cNvSpPr>
          <p:nvPr/>
        </p:nvSpPr>
        <p:spPr bwMode="auto">
          <a:xfrm>
            <a:off x="4224338" y="3103563"/>
            <a:ext cx="960437"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Zener</a:t>
            </a:r>
            <a:endParaRPr lang="ko-KR" altLang="en-US">
              <a:latin typeface="Times New Roman" pitchFamily="18" charset="0"/>
              <a:cs typeface="Times New Roman" pitchFamily="18" charset="0"/>
            </a:endParaRPr>
          </a:p>
        </p:txBody>
      </p:sp>
      <p:sp>
        <p:nvSpPr>
          <p:cNvPr id="123921" name="Line 16"/>
          <p:cNvSpPr>
            <a:spLocks noChangeShapeType="1"/>
          </p:cNvSpPr>
          <p:nvPr/>
        </p:nvSpPr>
        <p:spPr bwMode="auto">
          <a:xfrm flipH="1">
            <a:off x="3706813" y="360997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3922" name="Text Box 17"/>
          <p:cNvSpPr txBox="1">
            <a:spLocks noChangeArrowheads="1"/>
          </p:cNvSpPr>
          <p:nvPr/>
        </p:nvSpPr>
        <p:spPr bwMode="auto">
          <a:xfrm>
            <a:off x="4227513" y="3465513"/>
            <a:ext cx="960437" cy="2762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Zener</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BCE5C41-5AC4-427F-BAEE-A2886397B8C8}" type="slidenum">
              <a:rPr lang="en-US" altLang="ko-KR" sz="1400" smtClean="0">
                <a:latin typeface="Times New Roman" pitchFamily="18" charset="0"/>
                <a:cs typeface="Times New Roman" pitchFamily="18" charset="0"/>
              </a:rPr>
              <a:pPr eaLnBrk="1" hangingPunct="1"/>
              <a:t>117</a:t>
            </a:fld>
            <a:endParaRPr lang="en-US" altLang="ko-KR" sz="1400" smtClean="0">
              <a:latin typeface="Times New Roman" pitchFamily="18" charset="0"/>
              <a:cs typeface="Times New Roman" pitchFamily="18" charset="0"/>
            </a:endParaRPr>
          </a:p>
        </p:txBody>
      </p:sp>
      <p:sp>
        <p:nvSpPr>
          <p:cNvPr id="124931"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493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3) Diode PIN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Diode có cấu tạo tiếp nối PN đặc biệt, đặc biệt nó thể hiện được đặc tính đóng mở tốc độ cao nên nó được sử dụng trong đóng mở mạch cao tần..</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2) Diode zener</a:t>
            </a:r>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Những Diode thông thường không có dòng điện chạy qua theo chiều ngược nhưng diode zener có đặc tính là nếu có một điện áp nhất định nào đó trở lên thì nó sẽ có dòng điện ngược chiều chạy rất nhanh.</a:t>
            </a:r>
          </a:p>
          <a:p>
            <a:pPr eaLnBrk="1" hangingPunct="1"/>
            <a:r>
              <a:rPr lang="en-US" altLang="ko-KR">
                <a:latin typeface="Times New Roman" pitchFamily="18" charset="0"/>
                <a:cs typeface="Times New Roman" pitchFamily="18" charset="0"/>
              </a:rPr>
              <a:t>     Được sử dụng trong mạch điện áp không đổi hoặc điện áp tiêu chuẩn.</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Diode chuyên chỉnh lưu nguồn điện</a:t>
            </a:r>
            <a:endParaRPr lang="ko-KR" altLang="en-US" b="1">
              <a:latin typeface="Times New Roman" pitchFamily="18" charset="0"/>
              <a:cs typeface="Times New Roman" pitchFamily="18" charset="0"/>
            </a:endParaRPr>
          </a:p>
        </p:txBody>
      </p:sp>
      <p:sp>
        <p:nvSpPr>
          <p:cNvPr id="124933"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24934" name="Picture 5" descr="brid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3649663"/>
            <a:ext cx="2362200" cy="1792287"/>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24935" name="Rectangle 6"/>
          <p:cNvSpPr>
            <a:spLocks noChangeArrowheads="1"/>
          </p:cNvSpPr>
          <p:nvPr/>
        </p:nvSpPr>
        <p:spPr bwMode="auto">
          <a:xfrm>
            <a:off x="3783013" y="3573463"/>
            <a:ext cx="424497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Sử dụng đặc tính làm cho dòng điện chạy theo một hướng nhất định để đổi từ dòng điện xoay chiều sang dòng điện một chiều.</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người ta gọi cái này là tác dụng chỉnh lưu</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Do kích cỡ của phần tiếp nối lớn hơn theo kích cỡ của dòng điện cho phép nên đối với dòng điện lớn thì dùng loại to, và với loại để chỉnh lưu theo phương thức Bridge thì cho tiếp xúc Bridge 4 cái diode rồi nhất thể hóa và sử dụng. Đối với loại cho dòng điện lớn nó bị tỏa nhiệt nên cần sử dụng thiết bị chống tỏa nhiệt. </a:t>
            </a: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9CE1914-AB20-42FD-B852-B41DDB3EB999}" type="slidenum">
              <a:rPr lang="en-US" altLang="ko-KR" sz="1400" smtClean="0">
                <a:latin typeface="Times New Roman" pitchFamily="18" charset="0"/>
                <a:cs typeface="Times New Roman" pitchFamily="18" charset="0"/>
              </a:rPr>
              <a:pPr eaLnBrk="1" hangingPunct="1"/>
              <a:t>118</a:t>
            </a:fld>
            <a:endParaRPr lang="en-US" altLang="ko-KR" sz="1400" smtClean="0">
              <a:latin typeface="Times New Roman" pitchFamily="18" charset="0"/>
              <a:cs typeface="Times New Roman" pitchFamily="18" charset="0"/>
            </a:endParaRPr>
          </a:p>
        </p:txBody>
      </p:sp>
      <p:sp>
        <p:nvSpPr>
          <p:cNvPr id="125955" name="Text Box 2"/>
          <p:cNvSpPr txBox="1">
            <a:spLocks noChangeArrowheads="1"/>
          </p:cNvSpPr>
          <p:nvPr/>
        </p:nvSpPr>
        <p:spPr bwMode="auto">
          <a:xfrm>
            <a:off x="684213" y="892175"/>
            <a:ext cx="17160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1-5. Transistor </a:t>
            </a:r>
            <a:r>
              <a:rPr lang="en-US" altLang="en-US" sz="1400" b="1">
                <a:latin typeface="Times New Roman" pitchFamily="18" charset="0"/>
                <a:cs typeface="Times New Roman" pitchFamily="18" charset="0"/>
              </a:rPr>
              <a:t>NPN</a:t>
            </a:r>
            <a:endParaRPr lang="en-US" altLang="ko-KR" sz="1400" b="1">
              <a:latin typeface="Times New Roman" pitchFamily="18" charset="0"/>
              <a:cs typeface="Times New Roman" pitchFamily="18" charset="0"/>
            </a:endParaRPr>
          </a:p>
        </p:txBody>
      </p:sp>
      <p:sp>
        <p:nvSpPr>
          <p:cNvPr id="125956"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Đặc tính của Transistor NPN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Transistor được làm bằng cách tạo hai phần tiếp nối bán dẫn kề nhau. Transistor npn được cấu tạo bằng lớp n và lớp p giống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5-6(a). Người ta gọi một cực của lớp n là cực thu hay cực góp(collector), và cực n khác là cực phát</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(emitter), lớp p ở giữa gọi là cực gốc (base). Mũi tên ở ảnh 5-6 (b) của cực phát đổi hướng tùy theo việc transistor là loại kết nối npn hay pnp. Cũng giống như ở Diode phần phía trước của mũi tên thể hiện hướng của dòng điện giữa cực phát và cực gốc.</a:t>
            </a:r>
          </a:p>
          <a:p>
            <a:pPr eaLnBrk="1" hangingPunct="1"/>
            <a:r>
              <a:rPr lang="en-US" altLang="ko-KR">
                <a:solidFill>
                  <a:srgbClr val="000000"/>
                </a:solidFill>
                <a:latin typeface="Times New Roman" pitchFamily="18" charset="0"/>
                <a:cs typeface="Times New Roman" pitchFamily="18" charset="0"/>
              </a:rPr>
              <a:t>Khi cực phát của transistor trở thành cực chung giữa đầu vào và đầu ra thì gọi là cấu tạo emitter chung (common emitter ; CE), cực thu thành cực đầu ra  còn cực gốc thành cực đầu vào. Độ lợi dòng điện xuôi chiều CE là đặc tính transistor quan trọng nhất,  biểu thị bằng β hoặc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h</a:t>
            </a:r>
            <a:r>
              <a:rPr lang="en-US" altLang="ko-KR" baseline="-25000">
                <a:solidFill>
                  <a:srgbClr val="000000"/>
                </a:solidFill>
                <a:latin typeface="Times New Roman" pitchFamily="18" charset="0"/>
                <a:cs typeface="Times New Roman" pitchFamily="18" charset="0"/>
              </a:rPr>
              <a:t>FE</a:t>
            </a:r>
            <a:r>
              <a:rPr lang="en-US" altLang="ko-KR">
                <a:solidFill>
                  <a:srgbClr val="000000"/>
                </a:solidFill>
                <a:latin typeface="Times New Roman" pitchFamily="18" charset="0"/>
                <a:cs typeface="Times New Roman" pitchFamily="18" charset="0"/>
              </a:rPr>
              <a:t> . Ở đây độ lợi dòng điện xuôi chiều CE 1 chiều biểu thị bằng h</a:t>
            </a:r>
            <a:r>
              <a:rPr lang="en-US" altLang="ko-KR" baseline="-25000">
                <a:solidFill>
                  <a:srgbClr val="000000"/>
                </a:solidFill>
                <a:latin typeface="Times New Roman" pitchFamily="18" charset="0"/>
                <a:cs typeface="Times New Roman" pitchFamily="18" charset="0"/>
              </a:rPr>
              <a:t>FE</a:t>
            </a:r>
            <a:r>
              <a:rPr lang="en-US" altLang="ko-KR">
                <a:solidFill>
                  <a:srgbClr val="000000"/>
                </a:solidFill>
                <a:latin typeface="Times New Roman" pitchFamily="18" charset="0"/>
                <a:cs typeface="Times New Roman" pitchFamily="18" charset="0"/>
              </a:rPr>
              <a:t> và được định nghĩa như sau.</a:t>
            </a:r>
          </a:p>
          <a:p>
            <a:pPr eaLnBrk="1" hangingPunct="1"/>
            <a:endParaRPr lang="en-US" altLang="ko-KR">
              <a:latin typeface="Times New Roman" pitchFamily="18" charset="0"/>
              <a:cs typeface="Times New Roman" pitchFamily="18" charset="0"/>
            </a:endParaRPr>
          </a:p>
        </p:txBody>
      </p:sp>
      <p:sp>
        <p:nvSpPr>
          <p:cNvPr id="125957" name="Text Box 5"/>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25958" name="Text Box 6"/>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2595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1757363"/>
            <a:ext cx="35433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8400" y="5589588"/>
            <a:ext cx="11684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5961" name="직사각형 1"/>
          <p:cNvSpPr>
            <a:spLocks noChangeArrowheads="1"/>
          </p:cNvSpPr>
          <p:nvPr/>
        </p:nvSpPr>
        <p:spPr bwMode="auto">
          <a:xfrm>
            <a:off x="2760663" y="3141663"/>
            <a:ext cx="3035300"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5-6 Cấu tạo và ký hiệu của transistor npn</a:t>
            </a:r>
            <a:endParaRPr lang="ko-KR" altLang="en-US">
              <a:latin typeface="Times New Roman" pitchFamily="18" charset="0"/>
              <a:cs typeface="Times New Roman" pitchFamily="18" charset="0"/>
            </a:endParaRPr>
          </a:p>
        </p:txBody>
      </p:sp>
      <p:sp>
        <p:nvSpPr>
          <p:cNvPr id="125962" name="직사각형 9"/>
          <p:cNvSpPr>
            <a:spLocks noChangeArrowheads="1"/>
          </p:cNvSpPr>
          <p:nvPr/>
        </p:nvSpPr>
        <p:spPr bwMode="auto">
          <a:xfrm>
            <a:off x="2776538" y="2349500"/>
            <a:ext cx="1147762"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gốc(base)</a:t>
            </a:r>
            <a:endParaRPr lang="ko-KR" altLang="en-US">
              <a:latin typeface="Times New Roman" pitchFamily="18" charset="0"/>
              <a:cs typeface="Times New Roman" pitchFamily="18" charset="0"/>
            </a:endParaRPr>
          </a:p>
        </p:txBody>
      </p:sp>
      <p:sp>
        <p:nvSpPr>
          <p:cNvPr id="125963" name="직사각형 10"/>
          <p:cNvSpPr>
            <a:spLocks noChangeArrowheads="1"/>
          </p:cNvSpPr>
          <p:nvPr/>
        </p:nvSpPr>
        <p:spPr bwMode="auto">
          <a:xfrm>
            <a:off x="4689475" y="2570163"/>
            <a:ext cx="1147763"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gốc(base)</a:t>
            </a:r>
            <a:endParaRPr lang="ko-KR" altLang="en-US">
              <a:latin typeface="Times New Roman" pitchFamily="18" charset="0"/>
              <a:cs typeface="Times New Roman" pitchFamily="18" charset="0"/>
            </a:endParaRPr>
          </a:p>
        </p:txBody>
      </p:sp>
      <p:sp>
        <p:nvSpPr>
          <p:cNvPr id="125964" name="직사각형 11"/>
          <p:cNvSpPr>
            <a:spLocks noChangeArrowheads="1"/>
          </p:cNvSpPr>
          <p:nvPr/>
        </p:nvSpPr>
        <p:spPr bwMode="auto">
          <a:xfrm>
            <a:off x="1570038" y="1954213"/>
            <a:ext cx="12541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phát(emitter)</a:t>
            </a:r>
            <a:endParaRPr lang="ko-KR" altLang="en-US">
              <a:latin typeface="Times New Roman" pitchFamily="18" charset="0"/>
              <a:cs typeface="Times New Roman" pitchFamily="18" charset="0"/>
            </a:endParaRPr>
          </a:p>
        </p:txBody>
      </p:sp>
      <p:sp>
        <p:nvSpPr>
          <p:cNvPr id="125965" name="직사각형 12"/>
          <p:cNvSpPr>
            <a:spLocks noChangeArrowheads="1"/>
          </p:cNvSpPr>
          <p:nvPr/>
        </p:nvSpPr>
        <p:spPr bwMode="auto">
          <a:xfrm>
            <a:off x="5454650" y="1954213"/>
            <a:ext cx="13493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thu(collector)</a:t>
            </a:r>
            <a:endParaRPr lang="ko-KR" altLang="en-US">
              <a:latin typeface="Times New Roman" pitchFamily="18" charset="0"/>
              <a:cs typeface="Times New Roman" pitchFamily="18" charset="0"/>
            </a:endParaRPr>
          </a:p>
        </p:txBody>
      </p:sp>
      <p:sp>
        <p:nvSpPr>
          <p:cNvPr id="125966" name="직사각형 13"/>
          <p:cNvSpPr>
            <a:spLocks noChangeArrowheads="1"/>
          </p:cNvSpPr>
          <p:nvPr/>
        </p:nvSpPr>
        <p:spPr bwMode="auto">
          <a:xfrm>
            <a:off x="4284663" y="1916113"/>
            <a:ext cx="719137" cy="7159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Cực phát (emitter)</a:t>
            </a:r>
            <a:endParaRPr lang="ko-KR" altLang="en-US">
              <a:latin typeface="Times New Roman" pitchFamily="18" charset="0"/>
              <a:cs typeface="Times New Roman" pitchFamily="18" charset="0"/>
            </a:endParaRPr>
          </a:p>
        </p:txBody>
      </p:sp>
      <p:sp>
        <p:nvSpPr>
          <p:cNvPr id="125967" name="직사각형 15"/>
          <p:cNvSpPr>
            <a:spLocks noChangeArrowheads="1"/>
          </p:cNvSpPr>
          <p:nvPr/>
        </p:nvSpPr>
        <p:spPr bwMode="auto">
          <a:xfrm>
            <a:off x="3590925" y="1955800"/>
            <a:ext cx="836613" cy="4651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thu (collector)</a:t>
            </a:r>
            <a:endParaRPr lang="ko-KR" altLang="en-US">
              <a:latin typeface="Times New Roman" pitchFamily="18" charset="0"/>
              <a:cs typeface="Times New Roman" pitchFamily="18" charset="0"/>
            </a:endParaRPr>
          </a:p>
        </p:txBody>
      </p:sp>
      <p:sp>
        <p:nvSpPr>
          <p:cNvPr id="125968" name="직사각형 16"/>
          <p:cNvSpPr>
            <a:spLocks noChangeArrowheads="1"/>
          </p:cNvSpPr>
          <p:nvPr/>
        </p:nvSpPr>
        <p:spPr bwMode="auto">
          <a:xfrm>
            <a:off x="2727325" y="2833688"/>
            <a:ext cx="11969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cấu tạo npn</a:t>
            </a:r>
            <a:endParaRPr lang="ko-KR" altLang="en-US">
              <a:latin typeface="Times New Roman" pitchFamily="18" charset="0"/>
              <a:cs typeface="Times New Roman" pitchFamily="18" charset="0"/>
            </a:endParaRPr>
          </a:p>
        </p:txBody>
      </p:sp>
      <p:sp>
        <p:nvSpPr>
          <p:cNvPr id="125969" name="직사각형 17"/>
          <p:cNvSpPr>
            <a:spLocks noChangeArrowheads="1"/>
          </p:cNvSpPr>
          <p:nvPr/>
        </p:nvSpPr>
        <p:spPr bwMode="auto">
          <a:xfrm>
            <a:off x="4716463" y="2852738"/>
            <a:ext cx="11969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Ký hiệu npn</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7896806-6BA7-454B-9197-88A1D4B76D04}" type="slidenum">
              <a:rPr lang="en-US" altLang="ko-KR" sz="1400" smtClean="0">
                <a:latin typeface="Times New Roman" pitchFamily="18" charset="0"/>
                <a:cs typeface="Times New Roman" pitchFamily="18" charset="0"/>
              </a:rPr>
              <a:pPr eaLnBrk="1" hangingPunct="1"/>
              <a:t>119</a:t>
            </a:fld>
            <a:endParaRPr lang="en-US" altLang="ko-KR" sz="1400" smtClean="0">
              <a:latin typeface="Times New Roman" pitchFamily="18" charset="0"/>
              <a:cs typeface="Times New Roman" pitchFamily="18" charset="0"/>
            </a:endParaRPr>
          </a:p>
        </p:txBody>
      </p:sp>
      <p:sp>
        <p:nvSpPr>
          <p:cNvPr id="126979"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698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Sự hoạt động của Transistor NPN</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Thông thường linh kiện điện tử chủ động có sử dụng tác động dẫn điện ở tiếp giáp PN của chất bán dẫn  để tạo tác động khuếch đại gọi là Transistor.</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Nếu cho điện áp VEB xuôi chiều lên phần giữa của cực B(base) và cực E(emitter) ở ảnh dưới, và cho điện áp VCB lên phần giữa của cực B và cực C thì do điện thế của cực B về cực E cao nên các điện tử ở cực E vượt qua mặt tiếp giáp giữa cực E và cực B để chạy sang phía cực B.  Trong trường hợp này, lỗ trống của cực B di chuyển sang cực E nhưng với nồng độ thấp nên do đó không thể tạo thành dòng điện. </a:t>
            </a:r>
          </a:p>
          <a:p>
            <a:pPr eaLnBrk="1" hangingPunct="1"/>
            <a:endParaRPr lang="en-US" altLang="ko-KR" b="1">
              <a:latin typeface="Times New Roman" pitchFamily="18" charset="0"/>
              <a:cs typeface="Times New Roman" pitchFamily="18" charset="0"/>
            </a:endParaRPr>
          </a:p>
        </p:txBody>
      </p:sp>
      <p:sp>
        <p:nvSpPr>
          <p:cNvPr id="126981"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grpSp>
        <p:nvGrpSpPr>
          <p:cNvPr id="126982" name="Group 25"/>
          <p:cNvGrpSpPr>
            <a:grpSpLocks/>
          </p:cNvGrpSpPr>
          <p:nvPr/>
        </p:nvGrpSpPr>
        <p:grpSpPr bwMode="auto">
          <a:xfrm>
            <a:off x="1187450" y="1865313"/>
            <a:ext cx="6992938" cy="1636712"/>
            <a:chOff x="768" y="2282"/>
            <a:chExt cx="4066" cy="1031"/>
          </a:xfrm>
        </p:grpSpPr>
        <p:grpSp>
          <p:nvGrpSpPr>
            <p:cNvPr id="127089" name="Group 26"/>
            <p:cNvGrpSpPr>
              <a:grpSpLocks/>
            </p:cNvGrpSpPr>
            <p:nvPr/>
          </p:nvGrpSpPr>
          <p:grpSpPr bwMode="auto">
            <a:xfrm>
              <a:off x="898" y="2282"/>
              <a:ext cx="1206" cy="709"/>
              <a:chOff x="666" y="2501"/>
              <a:chExt cx="1206" cy="709"/>
            </a:xfrm>
          </p:grpSpPr>
          <p:grpSp>
            <p:nvGrpSpPr>
              <p:cNvPr id="127129" name="Group 27"/>
              <p:cNvGrpSpPr>
                <a:grpSpLocks/>
              </p:cNvGrpSpPr>
              <p:nvPr/>
            </p:nvGrpSpPr>
            <p:grpSpPr bwMode="auto">
              <a:xfrm>
                <a:off x="912" y="2640"/>
                <a:ext cx="720" cy="336"/>
                <a:chOff x="576" y="2544"/>
                <a:chExt cx="720" cy="336"/>
              </a:xfrm>
            </p:grpSpPr>
            <p:sp>
              <p:nvSpPr>
                <p:cNvPr id="127139" name="Rectangle 28"/>
                <p:cNvSpPr>
                  <a:spLocks noChangeArrowheads="1"/>
                </p:cNvSpPr>
                <p:nvPr/>
              </p:nvSpPr>
              <p:spPr bwMode="auto">
                <a:xfrm>
                  <a:off x="576" y="2544"/>
                  <a:ext cx="72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40" name="Rectangle 29"/>
                <p:cNvSpPr>
                  <a:spLocks noChangeArrowheads="1"/>
                </p:cNvSpPr>
                <p:nvPr/>
              </p:nvSpPr>
              <p:spPr bwMode="auto">
                <a:xfrm>
                  <a:off x="864" y="2544"/>
                  <a:ext cx="144"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27141" name="Group 30"/>
                <p:cNvGrpSpPr>
                  <a:grpSpLocks/>
                </p:cNvGrpSpPr>
                <p:nvPr/>
              </p:nvGrpSpPr>
              <p:grpSpPr bwMode="auto">
                <a:xfrm>
                  <a:off x="648" y="2592"/>
                  <a:ext cx="144" cy="48"/>
                  <a:chOff x="624" y="2592"/>
                  <a:chExt cx="144" cy="48"/>
                </a:xfrm>
              </p:grpSpPr>
              <p:sp>
                <p:nvSpPr>
                  <p:cNvPr id="127159" name="Oval 31"/>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60" name="Oval 32"/>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142" name="Group 33"/>
                <p:cNvGrpSpPr>
                  <a:grpSpLocks/>
                </p:cNvGrpSpPr>
                <p:nvPr/>
              </p:nvGrpSpPr>
              <p:grpSpPr bwMode="auto">
                <a:xfrm>
                  <a:off x="654" y="2688"/>
                  <a:ext cx="144" cy="48"/>
                  <a:chOff x="624" y="2592"/>
                  <a:chExt cx="144" cy="48"/>
                </a:xfrm>
              </p:grpSpPr>
              <p:sp>
                <p:nvSpPr>
                  <p:cNvPr id="127157" name="Oval 34"/>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58" name="Oval 35"/>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143" name="Group 36"/>
                <p:cNvGrpSpPr>
                  <a:grpSpLocks/>
                </p:cNvGrpSpPr>
                <p:nvPr/>
              </p:nvGrpSpPr>
              <p:grpSpPr bwMode="auto">
                <a:xfrm>
                  <a:off x="654" y="2784"/>
                  <a:ext cx="144" cy="48"/>
                  <a:chOff x="624" y="2592"/>
                  <a:chExt cx="144" cy="48"/>
                </a:xfrm>
              </p:grpSpPr>
              <p:sp>
                <p:nvSpPr>
                  <p:cNvPr id="127155" name="Oval 37"/>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56" name="Oval 38"/>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144" name="Oval 39"/>
                <p:cNvSpPr>
                  <a:spLocks noChangeArrowheads="1"/>
                </p:cNvSpPr>
                <p:nvPr/>
              </p:nvSpPr>
              <p:spPr bwMode="auto">
                <a:xfrm>
                  <a:off x="107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45" name="Oval 40"/>
                <p:cNvSpPr>
                  <a:spLocks noChangeArrowheads="1"/>
                </p:cNvSpPr>
                <p:nvPr/>
              </p:nvSpPr>
              <p:spPr bwMode="auto">
                <a:xfrm>
                  <a:off x="117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27146" name="Group 41"/>
                <p:cNvGrpSpPr>
                  <a:grpSpLocks/>
                </p:cNvGrpSpPr>
                <p:nvPr/>
              </p:nvGrpSpPr>
              <p:grpSpPr bwMode="auto">
                <a:xfrm>
                  <a:off x="1080" y="2688"/>
                  <a:ext cx="144" cy="48"/>
                  <a:chOff x="624" y="2592"/>
                  <a:chExt cx="144" cy="48"/>
                </a:xfrm>
              </p:grpSpPr>
              <p:sp>
                <p:nvSpPr>
                  <p:cNvPr id="127153" name="Oval 42"/>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54" name="Oval 43"/>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147" name="Group 44"/>
                <p:cNvGrpSpPr>
                  <a:grpSpLocks/>
                </p:cNvGrpSpPr>
                <p:nvPr/>
              </p:nvGrpSpPr>
              <p:grpSpPr bwMode="auto">
                <a:xfrm>
                  <a:off x="1080" y="2784"/>
                  <a:ext cx="144" cy="48"/>
                  <a:chOff x="624" y="2592"/>
                  <a:chExt cx="144" cy="48"/>
                </a:xfrm>
              </p:grpSpPr>
              <p:sp>
                <p:nvSpPr>
                  <p:cNvPr id="127151" name="Oval 45"/>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52" name="Oval 46"/>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148" name="Oval 47"/>
                <p:cNvSpPr>
                  <a:spLocks noChangeArrowheads="1"/>
                </p:cNvSpPr>
                <p:nvPr/>
              </p:nvSpPr>
              <p:spPr bwMode="auto">
                <a:xfrm>
                  <a:off x="912" y="2592"/>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49" name="Oval 48"/>
                <p:cNvSpPr>
                  <a:spLocks noChangeArrowheads="1"/>
                </p:cNvSpPr>
                <p:nvPr/>
              </p:nvSpPr>
              <p:spPr bwMode="auto">
                <a:xfrm>
                  <a:off x="912" y="2688"/>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50" name="Oval 49"/>
                <p:cNvSpPr>
                  <a:spLocks noChangeArrowheads="1"/>
                </p:cNvSpPr>
                <p:nvPr/>
              </p:nvSpPr>
              <p:spPr bwMode="auto">
                <a:xfrm>
                  <a:off x="912" y="2784"/>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130" name="Text Box 50"/>
              <p:cNvSpPr txBox="1">
                <a:spLocks noChangeArrowheads="1"/>
              </p:cNvSpPr>
              <p:nvPr/>
            </p:nvSpPr>
            <p:spPr bwMode="auto">
              <a:xfrm>
                <a:off x="974" y="2501"/>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a:t>
                </a:r>
              </a:p>
            </p:txBody>
          </p:sp>
          <p:sp>
            <p:nvSpPr>
              <p:cNvPr id="127131" name="Text Box 51"/>
              <p:cNvSpPr txBox="1">
                <a:spLocks noChangeArrowheads="1"/>
              </p:cNvSpPr>
              <p:nvPr/>
            </p:nvSpPr>
            <p:spPr bwMode="auto">
              <a:xfrm>
                <a:off x="1404" y="2502"/>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a:t>
                </a:r>
              </a:p>
            </p:txBody>
          </p:sp>
          <p:sp>
            <p:nvSpPr>
              <p:cNvPr id="127132" name="Text Box 52"/>
              <p:cNvSpPr txBox="1">
                <a:spLocks noChangeArrowheads="1"/>
              </p:cNvSpPr>
              <p:nvPr/>
            </p:nvSpPr>
            <p:spPr bwMode="auto">
              <a:xfrm>
                <a:off x="1191" y="2503"/>
                <a:ext cx="15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P</a:t>
                </a:r>
              </a:p>
            </p:txBody>
          </p:sp>
          <p:sp>
            <p:nvSpPr>
              <p:cNvPr id="127133" name="Line 53"/>
              <p:cNvSpPr>
                <a:spLocks noChangeShapeType="1"/>
              </p:cNvSpPr>
              <p:nvPr/>
            </p:nvSpPr>
            <p:spPr bwMode="auto">
              <a:xfrm>
                <a:off x="1632" y="281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34" name="Line 54"/>
              <p:cNvSpPr>
                <a:spLocks noChangeShapeType="1"/>
              </p:cNvSpPr>
              <p:nvPr/>
            </p:nvSpPr>
            <p:spPr bwMode="auto">
              <a:xfrm>
                <a:off x="720" y="281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35" name="Line 55"/>
              <p:cNvSpPr>
                <a:spLocks noChangeShapeType="1"/>
              </p:cNvSpPr>
              <p:nvPr/>
            </p:nvSpPr>
            <p:spPr bwMode="auto">
              <a:xfrm>
                <a:off x="1272"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36" name="Oval 56"/>
              <p:cNvSpPr>
                <a:spLocks noChangeArrowheads="1"/>
              </p:cNvSpPr>
              <p:nvPr/>
            </p:nvSpPr>
            <p:spPr bwMode="auto">
              <a:xfrm>
                <a:off x="1824" y="2790"/>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37" name="Oval 57"/>
              <p:cNvSpPr>
                <a:spLocks noChangeArrowheads="1"/>
              </p:cNvSpPr>
              <p:nvPr/>
            </p:nvSpPr>
            <p:spPr bwMode="auto">
              <a:xfrm>
                <a:off x="1248" y="3162"/>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38" name="Oval 58"/>
              <p:cNvSpPr>
                <a:spLocks noChangeArrowheads="1"/>
              </p:cNvSpPr>
              <p:nvPr/>
            </p:nvSpPr>
            <p:spPr bwMode="auto">
              <a:xfrm>
                <a:off x="666" y="2784"/>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090" name="Text Box 59"/>
            <p:cNvSpPr txBox="1">
              <a:spLocks noChangeArrowheads="1"/>
            </p:cNvSpPr>
            <p:nvPr/>
          </p:nvSpPr>
          <p:spPr bwMode="auto">
            <a:xfrm>
              <a:off x="768" y="2497"/>
              <a:ext cx="16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E</a:t>
              </a:r>
            </a:p>
          </p:txBody>
        </p:sp>
        <p:sp>
          <p:nvSpPr>
            <p:cNvPr id="127091" name="Text Box 60"/>
            <p:cNvSpPr txBox="1">
              <a:spLocks noChangeArrowheads="1"/>
            </p:cNvSpPr>
            <p:nvPr/>
          </p:nvSpPr>
          <p:spPr bwMode="auto">
            <a:xfrm>
              <a:off x="1424" y="2971"/>
              <a:ext cx="16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a:t>
              </a:r>
            </a:p>
          </p:txBody>
        </p:sp>
        <p:sp>
          <p:nvSpPr>
            <p:cNvPr id="127092" name="Text Box 61"/>
            <p:cNvSpPr txBox="1">
              <a:spLocks noChangeArrowheads="1"/>
            </p:cNvSpPr>
            <p:nvPr/>
          </p:nvSpPr>
          <p:spPr bwMode="auto">
            <a:xfrm>
              <a:off x="2073" y="2498"/>
              <a:ext cx="17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a:t>
              </a:r>
            </a:p>
          </p:txBody>
        </p:sp>
        <p:sp>
          <p:nvSpPr>
            <p:cNvPr id="127093" name="Text Box 62"/>
            <p:cNvSpPr txBox="1">
              <a:spLocks noChangeArrowheads="1"/>
            </p:cNvSpPr>
            <p:nvPr/>
          </p:nvSpPr>
          <p:spPr bwMode="auto">
            <a:xfrm>
              <a:off x="1236" y="3139"/>
              <a:ext cx="43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NPN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p:txBody>
        </p:sp>
        <p:sp>
          <p:nvSpPr>
            <p:cNvPr id="127094" name="Rectangle 63"/>
            <p:cNvSpPr>
              <a:spLocks noChangeArrowheads="1"/>
            </p:cNvSpPr>
            <p:nvPr/>
          </p:nvSpPr>
          <p:spPr bwMode="auto">
            <a:xfrm>
              <a:off x="3734" y="2421"/>
              <a:ext cx="72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95" name="Rectangle 64"/>
            <p:cNvSpPr>
              <a:spLocks noChangeArrowheads="1"/>
            </p:cNvSpPr>
            <p:nvPr/>
          </p:nvSpPr>
          <p:spPr bwMode="auto">
            <a:xfrm>
              <a:off x="4022" y="2421"/>
              <a:ext cx="144"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96" name="Oval 65"/>
            <p:cNvSpPr>
              <a:spLocks noChangeArrowheads="1"/>
            </p:cNvSpPr>
            <p:nvPr/>
          </p:nvSpPr>
          <p:spPr bwMode="auto">
            <a:xfrm>
              <a:off x="3806" y="2469"/>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97" name="Oval 66"/>
            <p:cNvSpPr>
              <a:spLocks noChangeArrowheads="1"/>
            </p:cNvSpPr>
            <p:nvPr/>
          </p:nvSpPr>
          <p:spPr bwMode="auto">
            <a:xfrm>
              <a:off x="3902" y="2469"/>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98" name="Oval 67"/>
            <p:cNvSpPr>
              <a:spLocks noChangeArrowheads="1"/>
            </p:cNvSpPr>
            <p:nvPr/>
          </p:nvSpPr>
          <p:spPr bwMode="auto">
            <a:xfrm>
              <a:off x="3812" y="2565"/>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99" name="Oval 68"/>
            <p:cNvSpPr>
              <a:spLocks noChangeArrowheads="1"/>
            </p:cNvSpPr>
            <p:nvPr/>
          </p:nvSpPr>
          <p:spPr bwMode="auto">
            <a:xfrm>
              <a:off x="3908" y="2565"/>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0" name="Oval 69"/>
            <p:cNvSpPr>
              <a:spLocks noChangeArrowheads="1"/>
            </p:cNvSpPr>
            <p:nvPr/>
          </p:nvSpPr>
          <p:spPr bwMode="auto">
            <a:xfrm>
              <a:off x="3812" y="2661"/>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1" name="Oval 70"/>
            <p:cNvSpPr>
              <a:spLocks noChangeArrowheads="1"/>
            </p:cNvSpPr>
            <p:nvPr/>
          </p:nvSpPr>
          <p:spPr bwMode="auto">
            <a:xfrm>
              <a:off x="3908" y="2661"/>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2" name="Oval 71"/>
            <p:cNvSpPr>
              <a:spLocks noChangeArrowheads="1"/>
            </p:cNvSpPr>
            <p:nvPr/>
          </p:nvSpPr>
          <p:spPr bwMode="auto">
            <a:xfrm>
              <a:off x="4232" y="2469"/>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3" name="Oval 72"/>
            <p:cNvSpPr>
              <a:spLocks noChangeArrowheads="1"/>
            </p:cNvSpPr>
            <p:nvPr/>
          </p:nvSpPr>
          <p:spPr bwMode="auto">
            <a:xfrm>
              <a:off x="4328" y="2469"/>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4" name="Oval 73"/>
            <p:cNvSpPr>
              <a:spLocks noChangeArrowheads="1"/>
            </p:cNvSpPr>
            <p:nvPr/>
          </p:nvSpPr>
          <p:spPr bwMode="auto">
            <a:xfrm>
              <a:off x="4238" y="2565"/>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5" name="Oval 74"/>
            <p:cNvSpPr>
              <a:spLocks noChangeArrowheads="1"/>
            </p:cNvSpPr>
            <p:nvPr/>
          </p:nvSpPr>
          <p:spPr bwMode="auto">
            <a:xfrm>
              <a:off x="4334" y="2565"/>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6" name="Oval 75"/>
            <p:cNvSpPr>
              <a:spLocks noChangeArrowheads="1"/>
            </p:cNvSpPr>
            <p:nvPr/>
          </p:nvSpPr>
          <p:spPr bwMode="auto">
            <a:xfrm>
              <a:off x="4238" y="2661"/>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7" name="Oval 76"/>
            <p:cNvSpPr>
              <a:spLocks noChangeArrowheads="1"/>
            </p:cNvSpPr>
            <p:nvPr/>
          </p:nvSpPr>
          <p:spPr bwMode="auto">
            <a:xfrm>
              <a:off x="4334" y="2661"/>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8" name="Oval 77"/>
            <p:cNvSpPr>
              <a:spLocks noChangeArrowheads="1"/>
            </p:cNvSpPr>
            <p:nvPr/>
          </p:nvSpPr>
          <p:spPr bwMode="auto">
            <a:xfrm>
              <a:off x="4070" y="2469"/>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09" name="Oval 78"/>
            <p:cNvSpPr>
              <a:spLocks noChangeArrowheads="1"/>
            </p:cNvSpPr>
            <p:nvPr/>
          </p:nvSpPr>
          <p:spPr bwMode="auto">
            <a:xfrm>
              <a:off x="4070" y="2565"/>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10" name="Oval 79"/>
            <p:cNvSpPr>
              <a:spLocks noChangeArrowheads="1"/>
            </p:cNvSpPr>
            <p:nvPr/>
          </p:nvSpPr>
          <p:spPr bwMode="auto">
            <a:xfrm>
              <a:off x="4070" y="2661"/>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11" name="Text Box 80"/>
            <p:cNvSpPr txBox="1">
              <a:spLocks noChangeArrowheads="1"/>
            </p:cNvSpPr>
            <p:nvPr/>
          </p:nvSpPr>
          <p:spPr bwMode="auto">
            <a:xfrm>
              <a:off x="3796" y="2282"/>
              <a:ext cx="1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P</a:t>
              </a:r>
            </a:p>
          </p:txBody>
        </p:sp>
        <p:sp>
          <p:nvSpPr>
            <p:cNvPr id="127112" name="Text Box 81"/>
            <p:cNvSpPr txBox="1">
              <a:spLocks noChangeArrowheads="1"/>
            </p:cNvSpPr>
            <p:nvPr/>
          </p:nvSpPr>
          <p:spPr bwMode="auto">
            <a:xfrm>
              <a:off x="4226" y="2283"/>
              <a:ext cx="1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P</a:t>
              </a:r>
            </a:p>
          </p:txBody>
        </p:sp>
        <p:sp>
          <p:nvSpPr>
            <p:cNvPr id="127113" name="Text Box 82"/>
            <p:cNvSpPr txBox="1">
              <a:spLocks noChangeArrowheads="1"/>
            </p:cNvSpPr>
            <p:nvPr/>
          </p:nvSpPr>
          <p:spPr bwMode="auto">
            <a:xfrm>
              <a:off x="4013" y="2284"/>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a:t>
              </a:r>
            </a:p>
          </p:txBody>
        </p:sp>
        <p:sp>
          <p:nvSpPr>
            <p:cNvPr id="127114" name="Line 83"/>
            <p:cNvSpPr>
              <a:spLocks noChangeShapeType="1"/>
            </p:cNvSpPr>
            <p:nvPr/>
          </p:nvSpPr>
          <p:spPr bwMode="auto">
            <a:xfrm>
              <a:off x="4454" y="2595"/>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15" name="Line 84"/>
            <p:cNvSpPr>
              <a:spLocks noChangeShapeType="1"/>
            </p:cNvSpPr>
            <p:nvPr/>
          </p:nvSpPr>
          <p:spPr bwMode="auto">
            <a:xfrm>
              <a:off x="3542" y="2595"/>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16" name="Line 85"/>
            <p:cNvSpPr>
              <a:spLocks noChangeShapeType="1"/>
            </p:cNvSpPr>
            <p:nvPr/>
          </p:nvSpPr>
          <p:spPr bwMode="auto">
            <a:xfrm>
              <a:off x="4094" y="2757"/>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117" name="Oval 86"/>
            <p:cNvSpPr>
              <a:spLocks noChangeArrowheads="1"/>
            </p:cNvSpPr>
            <p:nvPr/>
          </p:nvSpPr>
          <p:spPr bwMode="auto">
            <a:xfrm>
              <a:off x="4646" y="2571"/>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18" name="Oval 87"/>
            <p:cNvSpPr>
              <a:spLocks noChangeArrowheads="1"/>
            </p:cNvSpPr>
            <p:nvPr/>
          </p:nvSpPr>
          <p:spPr bwMode="auto">
            <a:xfrm>
              <a:off x="4070" y="2943"/>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19" name="Oval 88"/>
            <p:cNvSpPr>
              <a:spLocks noChangeArrowheads="1"/>
            </p:cNvSpPr>
            <p:nvPr/>
          </p:nvSpPr>
          <p:spPr bwMode="auto">
            <a:xfrm>
              <a:off x="3488" y="2565"/>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20" name="Text Box 89"/>
            <p:cNvSpPr txBox="1">
              <a:spLocks noChangeArrowheads="1"/>
            </p:cNvSpPr>
            <p:nvPr/>
          </p:nvSpPr>
          <p:spPr bwMode="auto">
            <a:xfrm>
              <a:off x="3358" y="2497"/>
              <a:ext cx="1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E</a:t>
              </a:r>
            </a:p>
          </p:txBody>
        </p:sp>
        <p:sp>
          <p:nvSpPr>
            <p:cNvPr id="127121" name="Text Box 90"/>
            <p:cNvSpPr txBox="1">
              <a:spLocks noChangeArrowheads="1"/>
            </p:cNvSpPr>
            <p:nvPr/>
          </p:nvSpPr>
          <p:spPr bwMode="auto">
            <a:xfrm>
              <a:off x="4014" y="2971"/>
              <a:ext cx="16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a:t>
              </a:r>
            </a:p>
          </p:txBody>
        </p:sp>
        <p:sp>
          <p:nvSpPr>
            <p:cNvPr id="127122" name="Text Box 91"/>
            <p:cNvSpPr txBox="1">
              <a:spLocks noChangeArrowheads="1"/>
            </p:cNvSpPr>
            <p:nvPr/>
          </p:nvSpPr>
          <p:spPr bwMode="auto">
            <a:xfrm>
              <a:off x="4663" y="2498"/>
              <a:ext cx="17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a:t>
              </a:r>
            </a:p>
          </p:txBody>
        </p:sp>
        <p:sp>
          <p:nvSpPr>
            <p:cNvPr id="127123" name="Text Box 92"/>
            <p:cNvSpPr txBox="1">
              <a:spLocks noChangeArrowheads="1"/>
            </p:cNvSpPr>
            <p:nvPr/>
          </p:nvSpPr>
          <p:spPr bwMode="auto">
            <a:xfrm>
              <a:off x="3826" y="3139"/>
              <a:ext cx="41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PNP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p:txBody>
        </p:sp>
        <p:grpSp>
          <p:nvGrpSpPr>
            <p:cNvPr id="127124" name="Group 93"/>
            <p:cNvGrpSpPr>
              <a:grpSpLocks/>
            </p:cNvGrpSpPr>
            <p:nvPr/>
          </p:nvGrpSpPr>
          <p:grpSpPr bwMode="auto">
            <a:xfrm>
              <a:off x="2571" y="2646"/>
              <a:ext cx="489" cy="331"/>
              <a:chOff x="2681" y="2819"/>
              <a:chExt cx="489" cy="331"/>
            </a:xfrm>
          </p:grpSpPr>
          <p:sp>
            <p:nvSpPr>
              <p:cNvPr id="127125" name="Oval 94"/>
              <p:cNvSpPr>
                <a:spLocks noChangeArrowheads="1"/>
              </p:cNvSpPr>
              <p:nvPr/>
            </p:nvSpPr>
            <p:spPr bwMode="auto">
              <a:xfrm>
                <a:off x="2688" y="2880"/>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26" name="Text Box 95"/>
              <p:cNvSpPr txBox="1">
                <a:spLocks noChangeArrowheads="1"/>
              </p:cNvSpPr>
              <p:nvPr/>
            </p:nvSpPr>
            <p:spPr bwMode="auto">
              <a:xfrm>
                <a:off x="2681" y="2819"/>
                <a:ext cx="489"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  Lỗ trống</a:t>
                </a:r>
                <a:endParaRPr lang="ko-KR" altLang="en-US">
                  <a:latin typeface="Times New Roman" pitchFamily="18" charset="0"/>
                  <a:cs typeface="Times New Roman" pitchFamily="18" charset="0"/>
                </a:endParaRPr>
              </a:p>
            </p:txBody>
          </p:sp>
          <p:sp>
            <p:nvSpPr>
              <p:cNvPr id="127127" name="Oval 96"/>
              <p:cNvSpPr>
                <a:spLocks noChangeArrowheads="1"/>
              </p:cNvSpPr>
              <p:nvPr/>
            </p:nvSpPr>
            <p:spPr bwMode="auto">
              <a:xfrm>
                <a:off x="2694" y="304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128" name="Text Box 97"/>
              <p:cNvSpPr txBox="1">
                <a:spLocks noChangeArrowheads="1"/>
              </p:cNvSpPr>
              <p:nvPr/>
            </p:nvSpPr>
            <p:spPr bwMode="auto">
              <a:xfrm>
                <a:off x="2707" y="2976"/>
                <a:ext cx="448"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  Điện tử</a:t>
                </a:r>
                <a:endParaRPr lang="ko-KR" altLang="en-US">
                  <a:latin typeface="Times New Roman" pitchFamily="18" charset="0"/>
                  <a:cs typeface="Times New Roman" pitchFamily="18" charset="0"/>
                </a:endParaRPr>
              </a:p>
            </p:txBody>
          </p:sp>
        </p:grpSp>
      </p:grpSp>
      <p:sp>
        <p:nvSpPr>
          <p:cNvPr id="126983" name="Text Box 99"/>
          <p:cNvSpPr txBox="1">
            <a:spLocks noChangeArrowheads="1"/>
          </p:cNvSpPr>
          <p:nvPr/>
        </p:nvSpPr>
        <p:spPr bwMode="auto">
          <a:xfrm>
            <a:off x="1725613" y="4510088"/>
            <a:ext cx="415925" cy="2746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E</a:t>
            </a:r>
            <a:r>
              <a:rPr lang="en-US" altLang="ko-KR" sz="800">
                <a:latin typeface="Times New Roman" pitchFamily="18" charset="0"/>
                <a:cs typeface="Times New Roman" pitchFamily="18" charset="0"/>
              </a:rPr>
              <a:t>BB</a:t>
            </a:r>
            <a:endParaRPr lang="en-US" altLang="ko-KR">
              <a:latin typeface="Times New Roman" pitchFamily="18" charset="0"/>
              <a:cs typeface="Times New Roman" pitchFamily="18" charset="0"/>
            </a:endParaRPr>
          </a:p>
        </p:txBody>
      </p:sp>
      <p:sp>
        <p:nvSpPr>
          <p:cNvPr id="126984" name="Text Box 100"/>
          <p:cNvSpPr txBox="1">
            <a:spLocks noChangeArrowheads="1"/>
          </p:cNvSpPr>
          <p:nvPr/>
        </p:nvSpPr>
        <p:spPr bwMode="auto">
          <a:xfrm>
            <a:off x="3211513" y="4508500"/>
            <a:ext cx="425450" cy="274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E</a:t>
            </a:r>
            <a:r>
              <a:rPr lang="en-US" altLang="ko-KR" sz="800">
                <a:latin typeface="Times New Roman" pitchFamily="18" charset="0"/>
                <a:cs typeface="Times New Roman" pitchFamily="18" charset="0"/>
              </a:rPr>
              <a:t>CC</a:t>
            </a:r>
            <a:endParaRPr lang="en-US" altLang="ko-KR">
              <a:latin typeface="Times New Roman" pitchFamily="18" charset="0"/>
              <a:cs typeface="Times New Roman" pitchFamily="18" charset="0"/>
            </a:endParaRPr>
          </a:p>
        </p:txBody>
      </p:sp>
      <p:grpSp>
        <p:nvGrpSpPr>
          <p:cNvPr id="126985" name="Group 101"/>
          <p:cNvGrpSpPr>
            <a:grpSpLocks/>
          </p:cNvGrpSpPr>
          <p:nvPr/>
        </p:nvGrpSpPr>
        <p:grpSpPr bwMode="auto">
          <a:xfrm>
            <a:off x="1255713" y="4632325"/>
            <a:ext cx="2811462" cy="1447800"/>
            <a:chOff x="948" y="672"/>
            <a:chExt cx="1635" cy="816"/>
          </a:xfrm>
        </p:grpSpPr>
        <p:grpSp>
          <p:nvGrpSpPr>
            <p:cNvPr id="127036" name="Group 102"/>
            <p:cNvGrpSpPr>
              <a:grpSpLocks/>
            </p:cNvGrpSpPr>
            <p:nvPr/>
          </p:nvGrpSpPr>
          <p:grpSpPr bwMode="auto">
            <a:xfrm>
              <a:off x="948" y="672"/>
              <a:ext cx="1635" cy="816"/>
              <a:chOff x="948" y="792"/>
              <a:chExt cx="1108" cy="696"/>
            </a:xfrm>
          </p:grpSpPr>
          <p:grpSp>
            <p:nvGrpSpPr>
              <p:cNvPr id="127049" name="Group 103"/>
              <p:cNvGrpSpPr>
                <a:grpSpLocks/>
              </p:cNvGrpSpPr>
              <p:nvPr/>
            </p:nvGrpSpPr>
            <p:grpSpPr bwMode="auto">
              <a:xfrm>
                <a:off x="1144" y="1152"/>
                <a:ext cx="720" cy="336"/>
                <a:chOff x="576" y="2544"/>
                <a:chExt cx="720" cy="336"/>
              </a:xfrm>
            </p:grpSpPr>
            <p:sp>
              <p:nvSpPr>
                <p:cNvPr id="127067" name="Rectangle 104"/>
                <p:cNvSpPr>
                  <a:spLocks noChangeArrowheads="1"/>
                </p:cNvSpPr>
                <p:nvPr/>
              </p:nvSpPr>
              <p:spPr bwMode="auto">
                <a:xfrm>
                  <a:off x="576" y="2544"/>
                  <a:ext cx="720"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68" name="Rectangle 105"/>
                <p:cNvSpPr>
                  <a:spLocks noChangeArrowheads="1"/>
                </p:cNvSpPr>
                <p:nvPr/>
              </p:nvSpPr>
              <p:spPr bwMode="auto">
                <a:xfrm>
                  <a:off x="864" y="2544"/>
                  <a:ext cx="144"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27069" name="Group 106"/>
                <p:cNvGrpSpPr>
                  <a:grpSpLocks/>
                </p:cNvGrpSpPr>
                <p:nvPr/>
              </p:nvGrpSpPr>
              <p:grpSpPr bwMode="auto">
                <a:xfrm>
                  <a:off x="648" y="2592"/>
                  <a:ext cx="144" cy="48"/>
                  <a:chOff x="624" y="2592"/>
                  <a:chExt cx="144" cy="48"/>
                </a:xfrm>
              </p:grpSpPr>
              <p:sp>
                <p:nvSpPr>
                  <p:cNvPr id="127087" name="Oval 107"/>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88" name="Oval 108"/>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070" name="Group 109"/>
                <p:cNvGrpSpPr>
                  <a:grpSpLocks/>
                </p:cNvGrpSpPr>
                <p:nvPr/>
              </p:nvGrpSpPr>
              <p:grpSpPr bwMode="auto">
                <a:xfrm>
                  <a:off x="654" y="2688"/>
                  <a:ext cx="144" cy="48"/>
                  <a:chOff x="624" y="2592"/>
                  <a:chExt cx="144" cy="48"/>
                </a:xfrm>
              </p:grpSpPr>
              <p:sp>
                <p:nvSpPr>
                  <p:cNvPr id="127085" name="Oval 110"/>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86" name="Oval 111"/>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071" name="Group 112"/>
                <p:cNvGrpSpPr>
                  <a:grpSpLocks/>
                </p:cNvGrpSpPr>
                <p:nvPr/>
              </p:nvGrpSpPr>
              <p:grpSpPr bwMode="auto">
                <a:xfrm>
                  <a:off x="654" y="2784"/>
                  <a:ext cx="144" cy="48"/>
                  <a:chOff x="624" y="2592"/>
                  <a:chExt cx="144" cy="48"/>
                </a:xfrm>
              </p:grpSpPr>
              <p:sp>
                <p:nvSpPr>
                  <p:cNvPr id="127083" name="Oval 113"/>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84" name="Oval 114"/>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072" name="Oval 115"/>
                <p:cNvSpPr>
                  <a:spLocks noChangeArrowheads="1"/>
                </p:cNvSpPr>
                <p:nvPr/>
              </p:nvSpPr>
              <p:spPr bwMode="auto">
                <a:xfrm>
                  <a:off x="107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73" name="Oval 116"/>
                <p:cNvSpPr>
                  <a:spLocks noChangeArrowheads="1"/>
                </p:cNvSpPr>
                <p:nvPr/>
              </p:nvSpPr>
              <p:spPr bwMode="auto">
                <a:xfrm>
                  <a:off x="117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27074" name="Group 117"/>
                <p:cNvGrpSpPr>
                  <a:grpSpLocks/>
                </p:cNvGrpSpPr>
                <p:nvPr/>
              </p:nvGrpSpPr>
              <p:grpSpPr bwMode="auto">
                <a:xfrm>
                  <a:off x="1080" y="2688"/>
                  <a:ext cx="144" cy="48"/>
                  <a:chOff x="624" y="2592"/>
                  <a:chExt cx="144" cy="48"/>
                </a:xfrm>
              </p:grpSpPr>
              <p:sp>
                <p:nvSpPr>
                  <p:cNvPr id="127081" name="Oval 118"/>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82" name="Oval 119"/>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075" name="Group 120"/>
                <p:cNvGrpSpPr>
                  <a:grpSpLocks/>
                </p:cNvGrpSpPr>
                <p:nvPr/>
              </p:nvGrpSpPr>
              <p:grpSpPr bwMode="auto">
                <a:xfrm>
                  <a:off x="1080" y="2784"/>
                  <a:ext cx="144" cy="48"/>
                  <a:chOff x="624" y="2592"/>
                  <a:chExt cx="144" cy="48"/>
                </a:xfrm>
              </p:grpSpPr>
              <p:sp>
                <p:nvSpPr>
                  <p:cNvPr id="127079" name="Oval 121"/>
                  <p:cNvSpPr>
                    <a:spLocks noChangeArrowheads="1"/>
                  </p:cNvSpPr>
                  <p:nvPr/>
                </p:nvSpPr>
                <p:spPr bwMode="auto">
                  <a:xfrm>
                    <a:off x="62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80" name="Oval 122"/>
                  <p:cNvSpPr>
                    <a:spLocks noChangeArrowheads="1"/>
                  </p:cNvSpPr>
                  <p:nvPr/>
                </p:nvSpPr>
                <p:spPr bwMode="auto">
                  <a:xfrm>
                    <a:off x="720"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076" name="Oval 123"/>
                <p:cNvSpPr>
                  <a:spLocks noChangeArrowheads="1"/>
                </p:cNvSpPr>
                <p:nvPr/>
              </p:nvSpPr>
              <p:spPr bwMode="auto">
                <a:xfrm>
                  <a:off x="912" y="2592"/>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77" name="Oval 124"/>
                <p:cNvSpPr>
                  <a:spLocks noChangeArrowheads="1"/>
                </p:cNvSpPr>
                <p:nvPr/>
              </p:nvSpPr>
              <p:spPr bwMode="auto">
                <a:xfrm>
                  <a:off x="912" y="2688"/>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78" name="Oval 125"/>
                <p:cNvSpPr>
                  <a:spLocks noChangeArrowheads="1"/>
                </p:cNvSpPr>
                <p:nvPr/>
              </p:nvSpPr>
              <p:spPr bwMode="auto">
                <a:xfrm>
                  <a:off x="912" y="2784"/>
                  <a:ext cx="48" cy="4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050" name="Line 126"/>
              <p:cNvSpPr>
                <a:spLocks noChangeShapeType="1"/>
              </p:cNvSpPr>
              <p:nvPr/>
            </p:nvSpPr>
            <p:spPr bwMode="auto">
              <a:xfrm>
                <a:off x="1864" y="132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051" name="Line 127"/>
              <p:cNvSpPr>
                <a:spLocks noChangeShapeType="1"/>
              </p:cNvSpPr>
              <p:nvPr/>
            </p:nvSpPr>
            <p:spPr bwMode="auto">
              <a:xfrm>
                <a:off x="952" y="132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7052" name="Line 128"/>
              <p:cNvSpPr>
                <a:spLocks noChangeShapeType="1"/>
              </p:cNvSpPr>
              <p:nvPr/>
            </p:nvSpPr>
            <p:spPr bwMode="auto">
              <a:xfrm>
                <a:off x="948" y="942"/>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7053" name="Group 129"/>
              <p:cNvGrpSpPr>
                <a:grpSpLocks/>
              </p:cNvGrpSpPr>
              <p:nvPr/>
            </p:nvGrpSpPr>
            <p:grpSpPr bwMode="auto">
              <a:xfrm>
                <a:off x="1188" y="870"/>
                <a:ext cx="36" cy="144"/>
                <a:chOff x="1044" y="840"/>
                <a:chExt cx="36" cy="144"/>
              </a:xfrm>
            </p:grpSpPr>
            <p:sp>
              <p:nvSpPr>
                <p:cNvPr id="127065" name="Line 130"/>
                <p:cNvSpPr>
                  <a:spLocks noChangeShapeType="1"/>
                </p:cNvSpPr>
                <p:nvPr/>
              </p:nvSpPr>
              <p:spPr bwMode="auto">
                <a:xfrm>
                  <a:off x="1044" y="876"/>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66" name="Line 131"/>
                <p:cNvSpPr>
                  <a:spLocks noChangeShapeType="1"/>
                </p:cNvSpPr>
                <p:nvPr/>
              </p:nvSpPr>
              <p:spPr bwMode="auto">
                <a:xfrm>
                  <a:off x="1080" y="840"/>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7054" name="Line 132"/>
              <p:cNvSpPr>
                <a:spLocks noChangeShapeType="1"/>
              </p:cNvSpPr>
              <p:nvPr/>
            </p:nvSpPr>
            <p:spPr bwMode="auto">
              <a:xfrm>
                <a:off x="948" y="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55" name="Line 133"/>
              <p:cNvSpPr>
                <a:spLocks noChangeShapeType="1"/>
              </p:cNvSpPr>
              <p:nvPr/>
            </p:nvSpPr>
            <p:spPr bwMode="auto">
              <a:xfrm flipV="1">
                <a:off x="1224" y="934"/>
                <a:ext cx="552" cy="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56" name="Line 134"/>
              <p:cNvSpPr>
                <a:spLocks noChangeShapeType="1"/>
              </p:cNvSpPr>
              <p:nvPr/>
            </p:nvSpPr>
            <p:spPr bwMode="auto">
              <a:xfrm flipV="1">
                <a:off x="1488" y="928"/>
                <a:ext cx="0"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7057" name="Group 135"/>
              <p:cNvGrpSpPr>
                <a:grpSpLocks/>
              </p:cNvGrpSpPr>
              <p:nvPr/>
            </p:nvGrpSpPr>
            <p:grpSpPr bwMode="auto">
              <a:xfrm>
                <a:off x="1776" y="876"/>
                <a:ext cx="36" cy="144"/>
                <a:chOff x="1044" y="840"/>
                <a:chExt cx="36" cy="144"/>
              </a:xfrm>
            </p:grpSpPr>
            <p:sp>
              <p:nvSpPr>
                <p:cNvPr id="127063" name="Line 136"/>
                <p:cNvSpPr>
                  <a:spLocks noChangeShapeType="1"/>
                </p:cNvSpPr>
                <p:nvPr/>
              </p:nvSpPr>
              <p:spPr bwMode="auto">
                <a:xfrm>
                  <a:off x="1044" y="876"/>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64" name="Line 137"/>
                <p:cNvSpPr>
                  <a:spLocks noChangeShapeType="1"/>
                </p:cNvSpPr>
                <p:nvPr/>
              </p:nvSpPr>
              <p:spPr bwMode="auto">
                <a:xfrm>
                  <a:off x="1080" y="840"/>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7058" name="Line 138"/>
              <p:cNvSpPr>
                <a:spLocks noChangeShapeType="1"/>
              </p:cNvSpPr>
              <p:nvPr/>
            </p:nvSpPr>
            <p:spPr bwMode="auto">
              <a:xfrm>
                <a:off x="1812" y="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59" name="Line 139"/>
              <p:cNvSpPr>
                <a:spLocks noChangeShapeType="1"/>
              </p:cNvSpPr>
              <p:nvPr/>
            </p:nvSpPr>
            <p:spPr bwMode="auto">
              <a:xfrm>
                <a:off x="2052" y="936"/>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60" name="Text Box 140"/>
              <p:cNvSpPr txBox="1">
                <a:spLocks noChangeArrowheads="1"/>
              </p:cNvSpPr>
              <p:nvPr/>
            </p:nvSpPr>
            <p:spPr bwMode="auto">
              <a:xfrm>
                <a:off x="1047" y="1187"/>
                <a:ext cx="111" cy="1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E</a:t>
                </a:r>
              </a:p>
            </p:txBody>
          </p:sp>
          <p:sp>
            <p:nvSpPr>
              <p:cNvPr id="127061" name="Text Box 141"/>
              <p:cNvSpPr txBox="1">
                <a:spLocks noChangeArrowheads="1"/>
              </p:cNvSpPr>
              <p:nvPr/>
            </p:nvSpPr>
            <p:spPr bwMode="auto">
              <a:xfrm>
                <a:off x="1858" y="1188"/>
                <a:ext cx="115" cy="1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a:t>
                </a:r>
              </a:p>
            </p:txBody>
          </p:sp>
          <p:sp>
            <p:nvSpPr>
              <p:cNvPr id="127062" name="Text Box 142"/>
              <p:cNvSpPr txBox="1">
                <a:spLocks noChangeArrowheads="1"/>
              </p:cNvSpPr>
              <p:nvPr/>
            </p:nvSpPr>
            <p:spPr bwMode="auto">
              <a:xfrm>
                <a:off x="1440" y="792"/>
                <a:ext cx="113" cy="1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B</a:t>
                </a:r>
              </a:p>
            </p:txBody>
          </p:sp>
        </p:grpSp>
        <p:sp>
          <p:nvSpPr>
            <p:cNvPr id="127037" name="Line 143"/>
            <p:cNvSpPr>
              <a:spLocks noChangeShapeType="1"/>
            </p:cNvSpPr>
            <p:nvPr/>
          </p:nvSpPr>
          <p:spPr bwMode="auto">
            <a:xfrm>
              <a:off x="1745" y="84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38" name="Text Box 144"/>
            <p:cNvSpPr txBox="1">
              <a:spLocks noChangeArrowheads="1"/>
            </p:cNvSpPr>
            <p:nvPr/>
          </p:nvSpPr>
          <p:spPr bwMode="auto">
            <a:xfrm>
              <a:off x="1775" y="845"/>
              <a:ext cx="177" cy="1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I</a:t>
              </a:r>
              <a:r>
                <a:rPr lang="en-US" altLang="ko-KR" sz="800">
                  <a:latin typeface="Times New Roman" pitchFamily="18" charset="0"/>
                  <a:cs typeface="Times New Roman" pitchFamily="18" charset="0"/>
                </a:rPr>
                <a:t>B</a:t>
              </a:r>
              <a:endParaRPr lang="en-US" altLang="ko-KR">
                <a:latin typeface="Times New Roman" pitchFamily="18" charset="0"/>
                <a:cs typeface="Times New Roman" pitchFamily="18" charset="0"/>
              </a:endParaRPr>
            </a:p>
          </p:txBody>
        </p:sp>
        <p:sp>
          <p:nvSpPr>
            <p:cNvPr id="127039" name="Line 145"/>
            <p:cNvSpPr>
              <a:spLocks noChangeShapeType="1"/>
            </p:cNvSpPr>
            <p:nvPr/>
          </p:nvSpPr>
          <p:spPr bwMode="auto">
            <a:xfrm flipH="1">
              <a:off x="962" y="1296"/>
              <a:ext cx="1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40" name="Text Box 146"/>
            <p:cNvSpPr txBox="1">
              <a:spLocks noChangeArrowheads="1"/>
            </p:cNvSpPr>
            <p:nvPr/>
          </p:nvSpPr>
          <p:spPr bwMode="auto">
            <a:xfrm>
              <a:off x="1022" y="1277"/>
              <a:ext cx="174" cy="1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I</a:t>
              </a:r>
              <a:r>
                <a:rPr lang="en-US" altLang="ko-KR" sz="800">
                  <a:latin typeface="Times New Roman" pitchFamily="18" charset="0"/>
                  <a:cs typeface="Times New Roman" pitchFamily="18" charset="0"/>
                </a:rPr>
                <a:t>E</a:t>
              </a:r>
              <a:endParaRPr lang="en-US" altLang="ko-KR">
                <a:latin typeface="Times New Roman" pitchFamily="18" charset="0"/>
                <a:cs typeface="Times New Roman" pitchFamily="18" charset="0"/>
              </a:endParaRPr>
            </a:p>
          </p:txBody>
        </p:sp>
        <p:sp>
          <p:nvSpPr>
            <p:cNvPr id="127041" name="Line 147"/>
            <p:cNvSpPr>
              <a:spLocks noChangeShapeType="1"/>
            </p:cNvSpPr>
            <p:nvPr/>
          </p:nvSpPr>
          <p:spPr bwMode="auto">
            <a:xfrm flipH="1">
              <a:off x="2394" y="1296"/>
              <a:ext cx="1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42" name="Text Box 148"/>
            <p:cNvSpPr txBox="1">
              <a:spLocks noChangeArrowheads="1"/>
            </p:cNvSpPr>
            <p:nvPr/>
          </p:nvSpPr>
          <p:spPr bwMode="auto">
            <a:xfrm>
              <a:off x="2395" y="1278"/>
              <a:ext cx="177" cy="1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I</a:t>
              </a:r>
              <a:r>
                <a:rPr lang="en-US" altLang="ko-KR" sz="800">
                  <a:latin typeface="Times New Roman" pitchFamily="18" charset="0"/>
                  <a:cs typeface="Times New Roman" pitchFamily="18" charset="0"/>
                </a:rPr>
                <a:t>C</a:t>
              </a:r>
              <a:endParaRPr lang="en-US" altLang="ko-KR">
                <a:latin typeface="Times New Roman" pitchFamily="18" charset="0"/>
                <a:cs typeface="Times New Roman" pitchFamily="18" charset="0"/>
              </a:endParaRPr>
            </a:p>
          </p:txBody>
        </p:sp>
        <p:sp>
          <p:nvSpPr>
            <p:cNvPr id="127043" name="Text Box 149"/>
            <p:cNvSpPr txBox="1">
              <a:spLocks noChangeArrowheads="1"/>
            </p:cNvSpPr>
            <p:nvPr/>
          </p:nvSpPr>
          <p:spPr bwMode="auto">
            <a:xfrm>
              <a:off x="1123" y="912"/>
              <a:ext cx="466" cy="1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a:t>
              </a:r>
              <a:r>
                <a:rPr lang="en-US" altLang="ko-KR" sz="800">
                  <a:latin typeface="Times New Roman" pitchFamily="18" charset="0"/>
                  <a:cs typeface="Times New Roman" pitchFamily="18" charset="0"/>
                </a:rPr>
                <a:t>EB = -</a:t>
              </a:r>
              <a:r>
                <a:rPr lang="en-US" altLang="ko-KR">
                  <a:latin typeface="Times New Roman" pitchFamily="18" charset="0"/>
                  <a:cs typeface="Times New Roman" pitchFamily="18" charset="0"/>
                </a:rPr>
                <a:t>E</a:t>
              </a:r>
              <a:r>
                <a:rPr lang="en-US" altLang="ko-KR" sz="800">
                  <a:latin typeface="Times New Roman" pitchFamily="18" charset="0"/>
                  <a:cs typeface="Times New Roman" pitchFamily="18" charset="0"/>
                </a:rPr>
                <a:t>BB</a:t>
              </a:r>
              <a:endParaRPr lang="en-US" altLang="ko-KR">
                <a:latin typeface="Times New Roman" pitchFamily="18" charset="0"/>
                <a:cs typeface="Times New Roman" pitchFamily="18" charset="0"/>
              </a:endParaRPr>
            </a:p>
          </p:txBody>
        </p:sp>
        <p:sp>
          <p:nvSpPr>
            <p:cNvPr id="127044" name="Line 150"/>
            <p:cNvSpPr>
              <a:spLocks noChangeShapeType="1"/>
            </p:cNvSpPr>
            <p:nvPr/>
          </p:nvSpPr>
          <p:spPr bwMode="auto">
            <a:xfrm flipH="1">
              <a:off x="962" y="1008"/>
              <a:ext cx="14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45" name="Line 151"/>
            <p:cNvSpPr>
              <a:spLocks noChangeShapeType="1"/>
            </p:cNvSpPr>
            <p:nvPr/>
          </p:nvSpPr>
          <p:spPr bwMode="auto">
            <a:xfrm>
              <a:off x="1584" y="1008"/>
              <a:ext cx="16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46" name="Line 152"/>
            <p:cNvSpPr>
              <a:spLocks noChangeShapeType="1"/>
            </p:cNvSpPr>
            <p:nvPr/>
          </p:nvSpPr>
          <p:spPr bwMode="auto">
            <a:xfrm flipH="1">
              <a:off x="1745" y="1008"/>
              <a:ext cx="27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47" name="Text Box 153"/>
            <p:cNvSpPr txBox="1">
              <a:spLocks noChangeArrowheads="1"/>
            </p:cNvSpPr>
            <p:nvPr/>
          </p:nvSpPr>
          <p:spPr bwMode="auto">
            <a:xfrm>
              <a:off x="2021" y="912"/>
              <a:ext cx="252" cy="1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a:t>
              </a:r>
              <a:r>
                <a:rPr lang="en-US" altLang="ko-KR" sz="800">
                  <a:latin typeface="Times New Roman" pitchFamily="18" charset="0"/>
                  <a:cs typeface="Times New Roman" pitchFamily="18" charset="0"/>
                </a:rPr>
                <a:t>CB</a:t>
              </a:r>
              <a:endParaRPr lang="en-US" altLang="ko-KR">
                <a:latin typeface="Times New Roman" pitchFamily="18" charset="0"/>
                <a:cs typeface="Times New Roman" pitchFamily="18" charset="0"/>
              </a:endParaRPr>
            </a:p>
          </p:txBody>
        </p:sp>
        <p:sp>
          <p:nvSpPr>
            <p:cNvPr id="127048" name="Line 154"/>
            <p:cNvSpPr>
              <a:spLocks noChangeShapeType="1"/>
            </p:cNvSpPr>
            <p:nvPr/>
          </p:nvSpPr>
          <p:spPr bwMode="auto">
            <a:xfrm>
              <a:off x="2248" y="1008"/>
              <a:ext cx="33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26986" name="Group 155"/>
          <p:cNvGrpSpPr>
            <a:grpSpLocks/>
          </p:cNvGrpSpPr>
          <p:nvPr/>
        </p:nvGrpSpPr>
        <p:grpSpPr bwMode="auto">
          <a:xfrm>
            <a:off x="4643438" y="4803775"/>
            <a:ext cx="3960812" cy="1201738"/>
            <a:chOff x="3120" y="834"/>
            <a:chExt cx="2568" cy="757"/>
          </a:xfrm>
        </p:grpSpPr>
        <p:sp>
          <p:nvSpPr>
            <p:cNvPr id="126992" name="Line 156"/>
            <p:cNvSpPr>
              <a:spLocks noChangeShapeType="1"/>
            </p:cNvSpPr>
            <p:nvPr/>
          </p:nvSpPr>
          <p:spPr bwMode="auto">
            <a:xfrm>
              <a:off x="3120" y="1104"/>
              <a:ext cx="57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3" name="Line 157"/>
            <p:cNvSpPr>
              <a:spLocks noChangeShapeType="1"/>
            </p:cNvSpPr>
            <p:nvPr/>
          </p:nvSpPr>
          <p:spPr bwMode="auto">
            <a:xfrm flipV="1">
              <a:off x="3696" y="960"/>
              <a:ext cx="48" cy="14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4" name="Line 158"/>
            <p:cNvSpPr>
              <a:spLocks noChangeShapeType="1"/>
            </p:cNvSpPr>
            <p:nvPr/>
          </p:nvSpPr>
          <p:spPr bwMode="auto">
            <a:xfrm>
              <a:off x="3744" y="960"/>
              <a:ext cx="144"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5" name="Line 159"/>
            <p:cNvSpPr>
              <a:spLocks noChangeShapeType="1"/>
            </p:cNvSpPr>
            <p:nvPr/>
          </p:nvSpPr>
          <p:spPr bwMode="auto">
            <a:xfrm>
              <a:off x="3888" y="960"/>
              <a:ext cx="144" cy="48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6" name="Line 160"/>
            <p:cNvSpPr>
              <a:spLocks noChangeShapeType="1"/>
            </p:cNvSpPr>
            <p:nvPr/>
          </p:nvSpPr>
          <p:spPr bwMode="auto">
            <a:xfrm>
              <a:off x="4032" y="1440"/>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7" name="Line 161"/>
            <p:cNvSpPr>
              <a:spLocks noChangeShapeType="1"/>
            </p:cNvSpPr>
            <p:nvPr/>
          </p:nvSpPr>
          <p:spPr bwMode="auto">
            <a:xfrm>
              <a:off x="3744" y="1104"/>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8" name="Line 162"/>
            <p:cNvSpPr>
              <a:spLocks noChangeShapeType="1"/>
            </p:cNvSpPr>
            <p:nvPr/>
          </p:nvSpPr>
          <p:spPr bwMode="auto">
            <a:xfrm>
              <a:off x="3936" y="96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9" name="Line 163"/>
            <p:cNvSpPr>
              <a:spLocks noChangeShapeType="1"/>
            </p:cNvSpPr>
            <p:nvPr/>
          </p:nvSpPr>
          <p:spPr bwMode="auto">
            <a:xfrm>
              <a:off x="3744" y="89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00" name="Line 164"/>
            <p:cNvSpPr>
              <a:spLocks noChangeShapeType="1"/>
            </p:cNvSpPr>
            <p:nvPr/>
          </p:nvSpPr>
          <p:spPr bwMode="auto">
            <a:xfrm>
              <a:off x="3936" y="894"/>
              <a:ext cx="144" cy="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01" name="Freeform 165"/>
            <p:cNvSpPr>
              <a:spLocks/>
            </p:cNvSpPr>
            <p:nvPr/>
          </p:nvSpPr>
          <p:spPr bwMode="auto">
            <a:xfrm>
              <a:off x="4080" y="1344"/>
              <a:ext cx="192" cy="1"/>
            </a:xfrm>
            <a:custGeom>
              <a:avLst/>
              <a:gdLst>
                <a:gd name="T0" fmla="*/ 0 w 192"/>
                <a:gd name="T1" fmla="*/ 0 h 1"/>
                <a:gd name="T2" fmla="*/ 192 w 192"/>
                <a:gd name="T3" fmla="*/ 0 h 1"/>
                <a:gd name="T4" fmla="*/ 0 60000 65536"/>
                <a:gd name="T5" fmla="*/ 0 60000 65536"/>
              </a:gdLst>
              <a:ahLst/>
              <a:cxnLst>
                <a:cxn ang="T4">
                  <a:pos x="T0" y="T1"/>
                </a:cxn>
                <a:cxn ang="T5">
                  <a:pos x="T2" y="T3"/>
                </a:cxn>
              </a:cxnLst>
              <a:rect l="0" t="0" r="r" b="b"/>
              <a:pathLst>
                <a:path w="192" h="1">
                  <a:moveTo>
                    <a:pt x="0" y="0"/>
                  </a:moveTo>
                  <a:cubicBezTo>
                    <a:pt x="80" y="0"/>
                    <a:pt x="160" y="0"/>
                    <a:pt x="192" y="0"/>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02" name="Line 166"/>
            <p:cNvSpPr>
              <a:spLocks noChangeShapeType="1"/>
            </p:cNvSpPr>
            <p:nvPr/>
          </p:nvSpPr>
          <p:spPr bwMode="auto">
            <a:xfrm>
              <a:off x="3792" y="894"/>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03" name="Line 167"/>
            <p:cNvSpPr>
              <a:spLocks noChangeShapeType="1"/>
            </p:cNvSpPr>
            <p:nvPr/>
          </p:nvSpPr>
          <p:spPr bwMode="auto">
            <a:xfrm>
              <a:off x="4020" y="1158"/>
              <a:ext cx="4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04" name="Line 168"/>
            <p:cNvSpPr>
              <a:spLocks noChangeShapeType="1"/>
            </p:cNvSpPr>
            <p:nvPr/>
          </p:nvSpPr>
          <p:spPr bwMode="auto">
            <a:xfrm>
              <a:off x="4128" y="1344"/>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7005" name="Group 169"/>
            <p:cNvGrpSpPr>
              <a:grpSpLocks/>
            </p:cNvGrpSpPr>
            <p:nvPr/>
          </p:nvGrpSpPr>
          <p:grpSpPr bwMode="auto">
            <a:xfrm>
              <a:off x="3636" y="852"/>
              <a:ext cx="48" cy="234"/>
              <a:chOff x="3606" y="852"/>
              <a:chExt cx="48" cy="234"/>
            </a:xfrm>
          </p:grpSpPr>
          <p:sp>
            <p:nvSpPr>
              <p:cNvPr id="127032" name="Oval 170"/>
              <p:cNvSpPr>
                <a:spLocks noChangeArrowheads="1"/>
              </p:cNvSpPr>
              <p:nvPr/>
            </p:nvSpPr>
            <p:spPr bwMode="auto">
              <a:xfrm>
                <a:off x="3606" y="8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33" name="Oval 171"/>
              <p:cNvSpPr>
                <a:spLocks noChangeArrowheads="1"/>
              </p:cNvSpPr>
              <p:nvPr/>
            </p:nvSpPr>
            <p:spPr bwMode="auto">
              <a:xfrm>
                <a:off x="3606" y="91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34" name="Oval 172"/>
              <p:cNvSpPr>
                <a:spLocks noChangeArrowheads="1"/>
              </p:cNvSpPr>
              <p:nvPr/>
            </p:nvSpPr>
            <p:spPr bwMode="auto">
              <a:xfrm>
                <a:off x="3606" y="97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35" name="Oval 173"/>
              <p:cNvSpPr>
                <a:spLocks noChangeArrowheads="1"/>
              </p:cNvSpPr>
              <p:nvPr/>
            </p:nvSpPr>
            <p:spPr bwMode="auto">
              <a:xfrm>
                <a:off x="3606" y="103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006" name="Group 174"/>
            <p:cNvGrpSpPr>
              <a:grpSpLocks/>
            </p:cNvGrpSpPr>
            <p:nvPr/>
          </p:nvGrpSpPr>
          <p:grpSpPr bwMode="auto">
            <a:xfrm>
              <a:off x="3558" y="852"/>
              <a:ext cx="48" cy="234"/>
              <a:chOff x="3606" y="852"/>
              <a:chExt cx="48" cy="234"/>
            </a:xfrm>
          </p:grpSpPr>
          <p:sp>
            <p:nvSpPr>
              <p:cNvPr id="127028" name="Oval 175"/>
              <p:cNvSpPr>
                <a:spLocks noChangeArrowheads="1"/>
              </p:cNvSpPr>
              <p:nvPr/>
            </p:nvSpPr>
            <p:spPr bwMode="auto">
              <a:xfrm>
                <a:off x="3606" y="8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29" name="Oval 176"/>
              <p:cNvSpPr>
                <a:spLocks noChangeArrowheads="1"/>
              </p:cNvSpPr>
              <p:nvPr/>
            </p:nvSpPr>
            <p:spPr bwMode="auto">
              <a:xfrm>
                <a:off x="3606" y="91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30" name="Oval 177"/>
              <p:cNvSpPr>
                <a:spLocks noChangeArrowheads="1"/>
              </p:cNvSpPr>
              <p:nvPr/>
            </p:nvSpPr>
            <p:spPr bwMode="auto">
              <a:xfrm>
                <a:off x="3606" y="97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31" name="Oval 178"/>
              <p:cNvSpPr>
                <a:spLocks noChangeArrowheads="1"/>
              </p:cNvSpPr>
              <p:nvPr/>
            </p:nvSpPr>
            <p:spPr bwMode="auto">
              <a:xfrm>
                <a:off x="3606" y="103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grpSp>
          <p:nvGrpSpPr>
            <p:cNvPr id="127007" name="Group 179"/>
            <p:cNvGrpSpPr>
              <a:grpSpLocks/>
            </p:cNvGrpSpPr>
            <p:nvPr/>
          </p:nvGrpSpPr>
          <p:grpSpPr bwMode="auto">
            <a:xfrm>
              <a:off x="3480" y="852"/>
              <a:ext cx="48" cy="234"/>
              <a:chOff x="3606" y="852"/>
              <a:chExt cx="48" cy="234"/>
            </a:xfrm>
          </p:grpSpPr>
          <p:sp>
            <p:nvSpPr>
              <p:cNvPr id="127024" name="Oval 180"/>
              <p:cNvSpPr>
                <a:spLocks noChangeArrowheads="1"/>
              </p:cNvSpPr>
              <p:nvPr/>
            </p:nvSpPr>
            <p:spPr bwMode="auto">
              <a:xfrm>
                <a:off x="3606" y="8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25" name="Oval 181"/>
              <p:cNvSpPr>
                <a:spLocks noChangeArrowheads="1"/>
              </p:cNvSpPr>
              <p:nvPr/>
            </p:nvSpPr>
            <p:spPr bwMode="auto">
              <a:xfrm>
                <a:off x="3606" y="91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26" name="Oval 182"/>
              <p:cNvSpPr>
                <a:spLocks noChangeArrowheads="1"/>
              </p:cNvSpPr>
              <p:nvPr/>
            </p:nvSpPr>
            <p:spPr bwMode="auto">
              <a:xfrm>
                <a:off x="3606" y="97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27" name="Oval 183"/>
              <p:cNvSpPr>
                <a:spLocks noChangeArrowheads="1"/>
              </p:cNvSpPr>
              <p:nvPr/>
            </p:nvSpPr>
            <p:spPr bwMode="auto">
              <a:xfrm>
                <a:off x="3606" y="103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27008" name="Oval 184"/>
            <p:cNvSpPr>
              <a:spLocks noChangeArrowheads="1"/>
            </p:cNvSpPr>
            <p:nvPr/>
          </p:nvSpPr>
          <p:spPr bwMode="auto">
            <a:xfrm>
              <a:off x="3330" y="103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09" name="Oval 185"/>
            <p:cNvSpPr>
              <a:spLocks noChangeArrowheads="1"/>
            </p:cNvSpPr>
            <p:nvPr/>
          </p:nvSpPr>
          <p:spPr bwMode="auto">
            <a:xfrm>
              <a:off x="3330" y="97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10" name="Oval 186"/>
            <p:cNvSpPr>
              <a:spLocks noChangeArrowheads="1"/>
            </p:cNvSpPr>
            <p:nvPr/>
          </p:nvSpPr>
          <p:spPr bwMode="auto">
            <a:xfrm>
              <a:off x="3402" y="97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11" name="Oval 187"/>
            <p:cNvSpPr>
              <a:spLocks noChangeArrowheads="1"/>
            </p:cNvSpPr>
            <p:nvPr/>
          </p:nvSpPr>
          <p:spPr bwMode="auto">
            <a:xfrm>
              <a:off x="3402" y="103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12" name="Oval 188"/>
            <p:cNvSpPr>
              <a:spLocks noChangeArrowheads="1"/>
            </p:cNvSpPr>
            <p:nvPr/>
          </p:nvSpPr>
          <p:spPr bwMode="auto">
            <a:xfrm>
              <a:off x="3402" y="91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7013" name="Text Box 189"/>
            <p:cNvSpPr txBox="1">
              <a:spLocks noChangeArrowheads="1"/>
            </p:cNvSpPr>
            <p:nvPr/>
          </p:nvSpPr>
          <p:spPr bwMode="auto">
            <a:xfrm>
              <a:off x="3361" y="1121"/>
              <a:ext cx="191"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N</a:t>
              </a:r>
            </a:p>
          </p:txBody>
        </p:sp>
        <p:sp>
          <p:nvSpPr>
            <p:cNvPr id="127014" name="Text Box 190"/>
            <p:cNvSpPr txBox="1">
              <a:spLocks noChangeArrowheads="1"/>
            </p:cNvSpPr>
            <p:nvPr/>
          </p:nvSpPr>
          <p:spPr bwMode="auto">
            <a:xfrm>
              <a:off x="3733" y="1116"/>
              <a:ext cx="175"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P</a:t>
              </a:r>
            </a:p>
          </p:txBody>
        </p:sp>
        <p:sp>
          <p:nvSpPr>
            <p:cNvPr id="127015" name="Text Box 191"/>
            <p:cNvSpPr txBox="1">
              <a:spLocks noChangeArrowheads="1"/>
            </p:cNvSpPr>
            <p:nvPr/>
          </p:nvSpPr>
          <p:spPr bwMode="auto">
            <a:xfrm>
              <a:off x="4094" y="1417"/>
              <a:ext cx="191"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N</a:t>
              </a:r>
            </a:p>
          </p:txBody>
        </p:sp>
        <p:sp>
          <p:nvSpPr>
            <p:cNvPr id="127016" name="Text Box 192"/>
            <p:cNvSpPr txBox="1">
              <a:spLocks noChangeArrowheads="1"/>
            </p:cNvSpPr>
            <p:nvPr/>
          </p:nvSpPr>
          <p:spPr bwMode="auto">
            <a:xfrm>
              <a:off x="4693" y="1338"/>
              <a:ext cx="492" cy="1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400">
                  <a:latin typeface="Times New Roman" pitchFamily="18" charset="0"/>
                  <a:cs typeface="Times New Roman" pitchFamily="18" charset="0"/>
                </a:rPr>
                <a:t>  </a:t>
              </a:r>
              <a:r>
                <a:rPr lang="en-US" altLang="ko-KR">
                  <a:latin typeface="Times New Roman" pitchFamily="18" charset="0"/>
                  <a:cs typeface="Times New Roman" pitchFamily="18" charset="0"/>
                </a:rPr>
                <a:t>Dải dẫn</a:t>
              </a:r>
              <a:endParaRPr lang="ko-KR" altLang="en-US">
                <a:latin typeface="Times New Roman" pitchFamily="18" charset="0"/>
                <a:cs typeface="Times New Roman" pitchFamily="18" charset="0"/>
              </a:endParaRPr>
            </a:p>
          </p:txBody>
        </p:sp>
        <p:sp>
          <p:nvSpPr>
            <p:cNvPr id="127017" name="Line 193"/>
            <p:cNvSpPr>
              <a:spLocks noChangeShapeType="1"/>
            </p:cNvSpPr>
            <p:nvPr/>
          </p:nvSpPr>
          <p:spPr bwMode="auto">
            <a:xfrm>
              <a:off x="4032" y="888"/>
              <a:ext cx="8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18" name="Line 194"/>
            <p:cNvSpPr>
              <a:spLocks noChangeShapeType="1"/>
            </p:cNvSpPr>
            <p:nvPr/>
          </p:nvSpPr>
          <p:spPr bwMode="auto">
            <a:xfrm flipV="1">
              <a:off x="4704" y="895"/>
              <a:ext cx="5" cy="20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19" name="Text Box 195"/>
            <p:cNvSpPr txBox="1">
              <a:spLocks noChangeArrowheads="1"/>
            </p:cNvSpPr>
            <p:nvPr/>
          </p:nvSpPr>
          <p:spPr bwMode="auto">
            <a:xfrm>
              <a:off x="4289" y="912"/>
              <a:ext cx="1399"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                 V</a:t>
              </a:r>
              <a:r>
                <a:rPr lang="en-US" altLang="ko-KR" sz="800">
                  <a:latin typeface="Times New Roman" pitchFamily="18" charset="0"/>
                  <a:cs typeface="Times New Roman" pitchFamily="18" charset="0"/>
                </a:rPr>
                <a:t>O : </a:t>
              </a:r>
              <a:r>
                <a:rPr lang="en-US" altLang="ko-KR">
                  <a:latin typeface="Times New Roman" pitchFamily="18" charset="0"/>
                  <a:cs typeface="Times New Roman" pitchFamily="18" charset="0"/>
                </a:rPr>
                <a:t>Điện áp hàng rào</a:t>
              </a:r>
              <a:endParaRPr lang="ko-KR" altLang="en-US">
                <a:latin typeface="Times New Roman" pitchFamily="18" charset="0"/>
                <a:cs typeface="Times New Roman" pitchFamily="18" charset="0"/>
              </a:endParaRPr>
            </a:p>
          </p:txBody>
        </p:sp>
        <p:sp>
          <p:nvSpPr>
            <p:cNvPr id="127020" name="Line 196"/>
            <p:cNvSpPr>
              <a:spLocks noChangeShapeType="1"/>
            </p:cNvSpPr>
            <p:nvPr/>
          </p:nvSpPr>
          <p:spPr bwMode="auto">
            <a:xfrm>
              <a:off x="4128" y="83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21" name="Line 197"/>
            <p:cNvSpPr>
              <a:spLocks noChangeShapeType="1"/>
            </p:cNvSpPr>
            <p:nvPr/>
          </p:nvSpPr>
          <p:spPr bwMode="auto">
            <a:xfrm>
              <a:off x="4128" y="840"/>
              <a:ext cx="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22" name="Line 198"/>
            <p:cNvSpPr>
              <a:spLocks noChangeShapeType="1"/>
            </p:cNvSpPr>
            <p:nvPr/>
          </p:nvSpPr>
          <p:spPr bwMode="auto">
            <a:xfrm flipV="1">
              <a:off x="4128" y="960"/>
              <a:ext cx="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7023" name="Text Box 199"/>
            <p:cNvSpPr txBox="1">
              <a:spLocks noChangeArrowheads="1"/>
            </p:cNvSpPr>
            <p:nvPr/>
          </p:nvSpPr>
          <p:spPr bwMode="auto">
            <a:xfrm>
              <a:off x="4136" y="845"/>
              <a:ext cx="304"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-E</a:t>
              </a:r>
              <a:r>
                <a:rPr lang="en-US" altLang="ko-KR" sz="800">
                  <a:latin typeface="Times New Roman" pitchFamily="18" charset="0"/>
                  <a:cs typeface="Times New Roman" pitchFamily="18" charset="0"/>
                </a:rPr>
                <a:t>BB</a:t>
              </a:r>
              <a:endParaRPr lang="en-US" altLang="ko-KR">
                <a:latin typeface="Times New Roman" pitchFamily="18" charset="0"/>
                <a:cs typeface="Times New Roman" pitchFamily="18" charset="0"/>
              </a:endParaRPr>
            </a:p>
          </p:txBody>
        </p:sp>
      </p:grpSp>
      <p:sp>
        <p:nvSpPr>
          <p:cNvPr id="126987" name="Line 201"/>
          <p:cNvSpPr>
            <a:spLocks noChangeShapeType="1"/>
          </p:cNvSpPr>
          <p:nvPr/>
        </p:nvSpPr>
        <p:spPr bwMode="auto">
          <a:xfrm>
            <a:off x="2365375" y="5537200"/>
            <a:ext cx="2476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88" name="Line 202"/>
          <p:cNvSpPr>
            <a:spLocks noChangeShapeType="1"/>
          </p:cNvSpPr>
          <p:nvPr/>
        </p:nvSpPr>
        <p:spPr bwMode="auto">
          <a:xfrm>
            <a:off x="2365375" y="5727700"/>
            <a:ext cx="2476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89" name="Line 203"/>
          <p:cNvSpPr>
            <a:spLocks noChangeShapeType="1"/>
          </p:cNvSpPr>
          <p:nvPr/>
        </p:nvSpPr>
        <p:spPr bwMode="auto">
          <a:xfrm>
            <a:off x="2365375" y="5927725"/>
            <a:ext cx="2476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0" name="Line 204"/>
          <p:cNvSpPr>
            <a:spLocks noChangeShapeType="1"/>
          </p:cNvSpPr>
          <p:nvPr/>
        </p:nvSpPr>
        <p:spPr bwMode="auto">
          <a:xfrm>
            <a:off x="3406775" y="5546725"/>
            <a:ext cx="1651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6991" name="Line 205"/>
          <p:cNvSpPr>
            <a:spLocks noChangeShapeType="1"/>
          </p:cNvSpPr>
          <p:nvPr/>
        </p:nvSpPr>
        <p:spPr bwMode="auto">
          <a:xfrm flipV="1">
            <a:off x="3406775" y="5775325"/>
            <a:ext cx="1651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59168FC-AC99-425D-A412-15B3AF6D9DE1}" type="slidenum">
              <a:rPr lang="en-US" altLang="ko-KR" sz="1400" smtClean="0">
                <a:latin typeface="Times New Roman" pitchFamily="18" charset="0"/>
                <a:cs typeface="Times New Roman" pitchFamily="18" charset="0"/>
              </a:rPr>
              <a:pPr eaLnBrk="1" hangingPunct="1"/>
              <a:t>120</a:t>
            </a:fld>
            <a:endParaRPr lang="en-US" altLang="ko-KR" sz="1400" smtClean="0">
              <a:latin typeface="Times New Roman" pitchFamily="18" charset="0"/>
              <a:cs typeface="Times New Roman" pitchFamily="18" charset="0"/>
            </a:endParaRPr>
          </a:p>
        </p:txBody>
      </p:sp>
      <p:sp>
        <p:nvSpPr>
          <p:cNvPr id="128003"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800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Những điện tử chạy sang cực B kết hợp với các lỗ trống rồi cũng có những cái biến mất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khoảng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0.5 – 5 %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nhưng lớp bán dẫn ở cực B cực kì mỏng nên phần lớn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khoảng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95 – 99.5 % ) di chuyển sang cực C dựa vào sự khuếch tán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Diffusion ) , và đạt được gia tốc đi đến cực C tùy theo tác động Drift dưới tác dụng của VCB sau đó có tạo thành dòng điện IC ở cực C.</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Số điện tử nhỏ</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khoảng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0.5 – 5 % như đã nói ở trên được trung hòa với lỗ trống ở trong cực B nhưng cũng bằng số điện tử đó được bổ sung ở EBB nên dòng điện chạy qua và nó tạo thành dòng IB của cực B.  Theo đó dòng điện ở cực 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IE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tính như sau.</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a:t>
            </a:r>
            <a:r>
              <a:rPr lang="en-US" altLang="ko-KR" b="1">
                <a:latin typeface="Times New Roman" pitchFamily="18" charset="0"/>
                <a:cs typeface="Times New Roman" pitchFamily="18" charset="0"/>
              </a:rPr>
              <a:t>I</a:t>
            </a:r>
            <a:r>
              <a:rPr lang="en-US" altLang="ko-KR" b="1" baseline="-25000">
                <a:latin typeface="Times New Roman" pitchFamily="18" charset="0"/>
                <a:cs typeface="Times New Roman" pitchFamily="18" charset="0"/>
              </a:rPr>
              <a:t>E</a:t>
            </a:r>
            <a:r>
              <a:rPr lang="en-US" altLang="ko-KR" b="1">
                <a:latin typeface="Times New Roman" pitchFamily="18" charset="0"/>
                <a:cs typeface="Times New Roman" pitchFamily="18" charset="0"/>
              </a:rPr>
              <a:t>  =  I</a:t>
            </a:r>
            <a:r>
              <a:rPr lang="en-US" altLang="ko-KR" b="1" baseline="-25000">
                <a:latin typeface="Times New Roman" pitchFamily="18" charset="0"/>
                <a:cs typeface="Times New Roman" pitchFamily="18" charset="0"/>
              </a:rPr>
              <a:t>C</a:t>
            </a:r>
            <a:r>
              <a:rPr lang="en-US" altLang="ko-KR" b="1">
                <a:latin typeface="Times New Roman" pitchFamily="18" charset="0"/>
                <a:cs typeface="Times New Roman" pitchFamily="18" charset="0"/>
              </a:rPr>
              <a:t> + I</a:t>
            </a:r>
            <a:r>
              <a:rPr lang="en-US" altLang="ko-KR" b="1" baseline="-25000">
                <a:latin typeface="Times New Roman" pitchFamily="18" charset="0"/>
                <a:cs typeface="Times New Roman" pitchFamily="18" charset="0"/>
              </a:rPr>
              <a:t>B</a:t>
            </a:r>
            <a:r>
              <a:rPr lang="en-US" altLang="ko-KR" b="1">
                <a:latin typeface="Times New Roman" pitchFamily="18" charset="0"/>
                <a:cs typeface="Times New Roman" pitchFamily="18" charset="0"/>
              </a:rPr>
              <a:t> (A)</a:t>
            </a:r>
            <a:r>
              <a:rPr lang="en-US" altLang="ko-KR">
                <a:latin typeface="Times New Roman" pitchFamily="18" charset="0"/>
                <a:cs typeface="Times New Roman" pitchFamily="18" charset="0"/>
              </a:rPr>
              <a:t> </a:t>
            </a:r>
          </a:p>
        </p:txBody>
      </p:sp>
      <p:sp>
        <p:nvSpPr>
          <p:cNvPr id="128005"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grpSp>
        <p:nvGrpSpPr>
          <p:cNvPr id="128006" name="Group 16"/>
          <p:cNvGrpSpPr>
            <a:grpSpLocks/>
          </p:cNvGrpSpPr>
          <p:nvPr/>
        </p:nvGrpSpPr>
        <p:grpSpPr bwMode="auto">
          <a:xfrm>
            <a:off x="2249488" y="3890963"/>
            <a:ext cx="419100" cy="428625"/>
            <a:chOff x="1425" y="2164"/>
            <a:chExt cx="264" cy="270"/>
          </a:xfrm>
        </p:grpSpPr>
        <p:sp>
          <p:nvSpPr>
            <p:cNvPr id="128061" name="Oval 12"/>
            <p:cNvSpPr>
              <a:spLocks noChangeArrowheads="1"/>
            </p:cNvSpPr>
            <p:nvPr/>
          </p:nvSpPr>
          <p:spPr bwMode="auto">
            <a:xfrm>
              <a:off x="1425" y="2164"/>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62" name="Line 13"/>
            <p:cNvSpPr>
              <a:spLocks noChangeShapeType="1"/>
            </p:cNvSpPr>
            <p:nvPr/>
          </p:nvSpPr>
          <p:spPr bwMode="auto">
            <a:xfrm>
              <a:off x="1489" y="2208"/>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63" name="Line 14"/>
            <p:cNvSpPr>
              <a:spLocks noChangeShapeType="1"/>
            </p:cNvSpPr>
            <p:nvPr/>
          </p:nvSpPr>
          <p:spPr bwMode="auto">
            <a:xfrm flipH="1">
              <a:off x="1489" y="2190"/>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64" name="Line 15"/>
            <p:cNvSpPr>
              <a:spLocks noChangeShapeType="1"/>
            </p:cNvSpPr>
            <p:nvPr/>
          </p:nvSpPr>
          <p:spPr bwMode="auto">
            <a:xfrm>
              <a:off x="1489" y="2310"/>
              <a:ext cx="144" cy="96"/>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8007" name="Line 17"/>
          <p:cNvSpPr>
            <a:spLocks noChangeShapeType="1"/>
          </p:cNvSpPr>
          <p:nvPr/>
        </p:nvSpPr>
        <p:spPr bwMode="auto">
          <a:xfrm>
            <a:off x="1679575" y="4100513"/>
            <a:ext cx="6477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08" name="Line 18"/>
          <p:cNvSpPr>
            <a:spLocks noChangeShapeType="1"/>
          </p:cNvSpPr>
          <p:nvPr/>
        </p:nvSpPr>
        <p:spPr bwMode="auto">
          <a:xfrm flipV="1">
            <a:off x="2574925" y="4292600"/>
            <a:ext cx="0" cy="79216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09" name="Line 19"/>
          <p:cNvSpPr>
            <a:spLocks noChangeShapeType="1"/>
          </p:cNvSpPr>
          <p:nvPr/>
        </p:nvSpPr>
        <p:spPr bwMode="auto">
          <a:xfrm flipV="1">
            <a:off x="2574925" y="3140075"/>
            <a:ext cx="0" cy="79216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10" name="Rectangle 21"/>
          <p:cNvSpPr>
            <a:spLocks noChangeArrowheads="1"/>
          </p:cNvSpPr>
          <p:nvPr/>
        </p:nvSpPr>
        <p:spPr bwMode="auto">
          <a:xfrm>
            <a:off x="2627313" y="4437063"/>
            <a:ext cx="9810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I</a:t>
            </a:r>
            <a:r>
              <a:rPr lang="en-US" altLang="ko-KR" b="1" baseline="-25000">
                <a:latin typeface="Times New Roman" pitchFamily="18" charset="0"/>
                <a:cs typeface="Times New Roman" pitchFamily="18" charset="0"/>
              </a:rPr>
              <a:t>E</a:t>
            </a:r>
            <a:r>
              <a:rPr lang="en-US" altLang="ko-KR" b="1">
                <a:latin typeface="Times New Roman" pitchFamily="18" charset="0"/>
                <a:cs typeface="Times New Roman" pitchFamily="18" charset="0"/>
              </a:rPr>
              <a:t>  =  I</a:t>
            </a:r>
            <a:r>
              <a:rPr lang="en-US" altLang="ko-KR" b="1" baseline="-25000">
                <a:latin typeface="Times New Roman" pitchFamily="18" charset="0"/>
                <a:cs typeface="Times New Roman" pitchFamily="18" charset="0"/>
              </a:rPr>
              <a:t>C</a:t>
            </a:r>
            <a:r>
              <a:rPr lang="en-US" altLang="ko-KR" b="1">
                <a:latin typeface="Times New Roman" pitchFamily="18" charset="0"/>
                <a:cs typeface="Times New Roman" pitchFamily="18" charset="0"/>
              </a:rPr>
              <a:t> + I</a:t>
            </a:r>
            <a:r>
              <a:rPr lang="en-US" altLang="ko-KR" b="1" baseline="-25000">
                <a:latin typeface="Times New Roman" pitchFamily="18" charset="0"/>
                <a:cs typeface="Times New Roman" pitchFamily="18" charset="0"/>
              </a:rPr>
              <a:t>B</a:t>
            </a:r>
          </a:p>
        </p:txBody>
      </p:sp>
      <p:sp>
        <p:nvSpPr>
          <p:cNvPr id="128011" name="Line 22"/>
          <p:cNvSpPr>
            <a:spLocks noChangeShapeType="1"/>
          </p:cNvSpPr>
          <p:nvPr/>
        </p:nvSpPr>
        <p:spPr bwMode="auto">
          <a:xfrm>
            <a:off x="1373188" y="393382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12" name="Line 23"/>
          <p:cNvSpPr>
            <a:spLocks noChangeShapeType="1"/>
          </p:cNvSpPr>
          <p:nvPr/>
        </p:nvSpPr>
        <p:spPr bwMode="auto">
          <a:xfrm>
            <a:off x="2627313" y="4508500"/>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13" name="Line 24"/>
          <p:cNvSpPr>
            <a:spLocks noChangeShapeType="1"/>
          </p:cNvSpPr>
          <p:nvPr/>
        </p:nvSpPr>
        <p:spPr bwMode="auto">
          <a:xfrm>
            <a:off x="2452688" y="3357563"/>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14" name="Rectangle 26"/>
          <p:cNvSpPr>
            <a:spLocks noChangeArrowheads="1"/>
          </p:cNvSpPr>
          <p:nvPr/>
        </p:nvSpPr>
        <p:spPr bwMode="auto">
          <a:xfrm>
            <a:off x="1373188" y="3581400"/>
            <a:ext cx="312737"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I</a:t>
            </a:r>
            <a:r>
              <a:rPr lang="en-US" altLang="ko-KR" b="1" baseline="-25000">
                <a:latin typeface="Times New Roman" pitchFamily="18" charset="0"/>
                <a:cs typeface="Times New Roman" pitchFamily="18" charset="0"/>
              </a:rPr>
              <a:t>B</a:t>
            </a:r>
          </a:p>
        </p:txBody>
      </p:sp>
      <p:sp>
        <p:nvSpPr>
          <p:cNvPr id="128015" name="Rectangle 27"/>
          <p:cNvSpPr>
            <a:spLocks noChangeArrowheads="1"/>
          </p:cNvSpPr>
          <p:nvPr/>
        </p:nvSpPr>
        <p:spPr bwMode="auto">
          <a:xfrm>
            <a:off x="2092325" y="3284538"/>
            <a:ext cx="31750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I</a:t>
            </a:r>
            <a:r>
              <a:rPr lang="en-US" altLang="ko-KR" b="1" baseline="-25000">
                <a:latin typeface="Times New Roman" pitchFamily="18" charset="0"/>
                <a:cs typeface="Times New Roman" pitchFamily="18" charset="0"/>
              </a:rPr>
              <a:t>C</a:t>
            </a:r>
          </a:p>
        </p:txBody>
      </p:sp>
      <p:sp>
        <p:nvSpPr>
          <p:cNvPr id="128016" name="Arc 29"/>
          <p:cNvSpPr>
            <a:spLocks/>
          </p:cNvSpPr>
          <p:nvPr/>
        </p:nvSpPr>
        <p:spPr bwMode="auto">
          <a:xfrm rot="10800000">
            <a:off x="1731963" y="4149725"/>
            <a:ext cx="792162" cy="79216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prstDash val="sysDot"/>
            <a:round/>
            <a:headEnd type="stealth"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17" name="Rectangle 28"/>
          <p:cNvSpPr>
            <a:spLocks noChangeArrowheads="1"/>
          </p:cNvSpPr>
          <p:nvPr/>
        </p:nvSpPr>
        <p:spPr bwMode="auto">
          <a:xfrm>
            <a:off x="973138" y="4394200"/>
            <a:ext cx="1276350" cy="46196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V</a:t>
            </a:r>
            <a:r>
              <a:rPr lang="en-US" altLang="ko-KR" sz="1000" b="1" baseline="-25000">
                <a:latin typeface="Times New Roman" pitchFamily="18" charset="0"/>
                <a:cs typeface="Times New Roman" pitchFamily="18" charset="0"/>
              </a:rPr>
              <a:t>B</a:t>
            </a:r>
            <a:r>
              <a:rPr lang="en-US" altLang="ko-KR" sz="1000" b="1">
                <a:latin typeface="Times New Roman" pitchFamily="18" charset="0"/>
                <a:cs typeface="Times New Roman" pitchFamily="18" charset="0"/>
              </a:rPr>
              <a:t> phải cao hơn</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V</a:t>
            </a:r>
            <a:r>
              <a:rPr lang="en-US" altLang="ko-KR" sz="1000" b="1" baseline="-25000">
                <a:latin typeface="Times New Roman" pitchFamily="18" charset="0"/>
                <a:cs typeface="Times New Roman" pitchFamily="18" charset="0"/>
              </a:rPr>
              <a:t>E</a:t>
            </a:r>
            <a:endParaRPr lang="ko-KR" altLang="en-US" sz="1000" b="1">
              <a:latin typeface="Times New Roman" pitchFamily="18" charset="0"/>
              <a:cs typeface="Times New Roman" pitchFamily="18" charset="0"/>
            </a:endParaRPr>
          </a:p>
          <a:p>
            <a:pPr algn="ctr" eaLnBrk="1" hangingPunct="1"/>
            <a:r>
              <a:rPr lang="en-US" altLang="ko-KR" sz="1000" b="1">
                <a:latin typeface="Times New Roman" pitchFamily="18" charset="0"/>
                <a:cs typeface="Times New Roman" pitchFamily="18" charset="0"/>
              </a:rPr>
              <a:t>khoảng</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trên 0.7[V]</a:t>
            </a:r>
            <a:endParaRPr lang="ko-KR" altLang="en-US" sz="1000" b="1" baseline="-25000">
              <a:latin typeface="Times New Roman" pitchFamily="18" charset="0"/>
              <a:cs typeface="Times New Roman" pitchFamily="18" charset="0"/>
            </a:endParaRPr>
          </a:p>
        </p:txBody>
      </p:sp>
      <p:grpSp>
        <p:nvGrpSpPr>
          <p:cNvPr id="128018" name="Group 40"/>
          <p:cNvGrpSpPr>
            <a:grpSpLocks/>
          </p:cNvGrpSpPr>
          <p:nvPr/>
        </p:nvGrpSpPr>
        <p:grpSpPr bwMode="auto">
          <a:xfrm>
            <a:off x="5651500" y="3716338"/>
            <a:ext cx="419100" cy="428625"/>
            <a:chOff x="1425" y="2164"/>
            <a:chExt cx="264" cy="270"/>
          </a:xfrm>
        </p:grpSpPr>
        <p:sp>
          <p:nvSpPr>
            <p:cNvPr id="128057" name="Oval 41"/>
            <p:cNvSpPr>
              <a:spLocks noChangeArrowheads="1"/>
            </p:cNvSpPr>
            <p:nvPr/>
          </p:nvSpPr>
          <p:spPr bwMode="auto">
            <a:xfrm>
              <a:off x="1425" y="2164"/>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58" name="Line 42"/>
            <p:cNvSpPr>
              <a:spLocks noChangeShapeType="1"/>
            </p:cNvSpPr>
            <p:nvPr/>
          </p:nvSpPr>
          <p:spPr bwMode="auto">
            <a:xfrm>
              <a:off x="1489" y="2208"/>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59" name="Line 43"/>
            <p:cNvSpPr>
              <a:spLocks noChangeShapeType="1"/>
            </p:cNvSpPr>
            <p:nvPr/>
          </p:nvSpPr>
          <p:spPr bwMode="auto">
            <a:xfrm flipH="1">
              <a:off x="1489" y="2190"/>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60" name="Line 44"/>
            <p:cNvSpPr>
              <a:spLocks noChangeShapeType="1"/>
            </p:cNvSpPr>
            <p:nvPr/>
          </p:nvSpPr>
          <p:spPr bwMode="auto">
            <a:xfrm>
              <a:off x="1489" y="2310"/>
              <a:ext cx="144" cy="96"/>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8019" name="Line 45"/>
          <p:cNvSpPr>
            <a:spLocks noChangeShapeType="1"/>
          </p:cNvSpPr>
          <p:nvPr/>
        </p:nvSpPr>
        <p:spPr bwMode="auto">
          <a:xfrm>
            <a:off x="5081588" y="3925888"/>
            <a:ext cx="6477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8020" name="Group 54"/>
          <p:cNvGrpSpPr>
            <a:grpSpLocks/>
          </p:cNvGrpSpPr>
          <p:nvPr/>
        </p:nvGrpSpPr>
        <p:grpSpPr bwMode="auto">
          <a:xfrm>
            <a:off x="5651500" y="4872038"/>
            <a:ext cx="419100" cy="428625"/>
            <a:chOff x="1425" y="2164"/>
            <a:chExt cx="264" cy="270"/>
          </a:xfrm>
        </p:grpSpPr>
        <p:sp>
          <p:nvSpPr>
            <p:cNvPr id="128053" name="Oval 55"/>
            <p:cNvSpPr>
              <a:spLocks noChangeArrowheads="1"/>
            </p:cNvSpPr>
            <p:nvPr/>
          </p:nvSpPr>
          <p:spPr bwMode="auto">
            <a:xfrm>
              <a:off x="1425" y="2164"/>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54" name="Line 56"/>
            <p:cNvSpPr>
              <a:spLocks noChangeShapeType="1"/>
            </p:cNvSpPr>
            <p:nvPr/>
          </p:nvSpPr>
          <p:spPr bwMode="auto">
            <a:xfrm>
              <a:off x="1489" y="2208"/>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55" name="Line 57"/>
            <p:cNvSpPr>
              <a:spLocks noChangeShapeType="1"/>
            </p:cNvSpPr>
            <p:nvPr/>
          </p:nvSpPr>
          <p:spPr bwMode="auto">
            <a:xfrm flipH="1">
              <a:off x="1489" y="2190"/>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56" name="Line 58"/>
            <p:cNvSpPr>
              <a:spLocks noChangeShapeType="1"/>
            </p:cNvSpPr>
            <p:nvPr/>
          </p:nvSpPr>
          <p:spPr bwMode="auto">
            <a:xfrm>
              <a:off x="1489" y="2310"/>
              <a:ext cx="144" cy="96"/>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8021" name="Line 59"/>
          <p:cNvSpPr>
            <a:spLocks noChangeShapeType="1"/>
          </p:cNvSpPr>
          <p:nvPr/>
        </p:nvSpPr>
        <p:spPr bwMode="auto">
          <a:xfrm>
            <a:off x="5081588" y="5081588"/>
            <a:ext cx="6477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8022" name="Group 66"/>
          <p:cNvGrpSpPr>
            <a:grpSpLocks/>
          </p:cNvGrpSpPr>
          <p:nvPr/>
        </p:nvGrpSpPr>
        <p:grpSpPr bwMode="auto">
          <a:xfrm>
            <a:off x="5819775" y="5613400"/>
            <a:ext cx="287338" cy="71438"/>
            <a:chOff x="3969" y="3793"/>
            <a:chExt cx="181" cy="91"/>
          </a:xfrm>
        </p:grpSpPr>
        <p:sp>
          <p:nvSpPr>
            <p:cNvPr id="128049" name="Line 62"/>
            <p:cNvSpPr>
              <a:spLocks noChangeShapeType="1"/>
            </p:cNvSpPr>
            <p:nvPr/>
          </p:nvSpPr>
          <p:spPr bwMode="auto">
            <a:xfrm>
              <a:off x="3969" y="3793"/>
              <a:ext cx="18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50" name="Line 63"/>
            <p:cNvSpPr>
              <a:spLocks noChangeShapeType="1"/>
            </p:cNvSpPr>
            <p:nvPr/>
          </p:nvSpPr>
          <p:spPr bwMode="auto">
            <a:xfrm flipH="1">
              <a:off x="4014"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51" name="Line 64"/>
            <p:cNvSpPr>
              <a:spLocks noChangeShapeType="1"/>
            </p:cNvSpPr>
            <p:nvPr/>
          </p:nvSpPr>
          <p:spPr bwMode="auto">
            <a:xfrm flipH="1">
              <a:off x="396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52" name="Line 65"/>
            <p:cNvSpPr>
              <a:spLocks noChangeShapeType="1"/>
            </p:cNvSpPr>
            <p:nvPr/>
          </p:nvSpPr>
          <p:spPr bwMode="auto">
            <a:xfrm flipH="1">
              <a:off x="405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grpSp>
        <p:nvGrpSpPr>
          <p:cNvPr id="128023" name="Group 70"/>
          <p:cNvGrpSpPr>
            <a:grpSpLocks/>
          </p:cNvGrpSpPr>
          <p:nvPr/>
        </p:nvGrpSpPr>
        <p:grpSpPr bwMode="auto">
          <a:xfrm>
            <a:off x="6369050" y="2886075"/>
            <a:ext cx="144463" cy="622300"/>
            <a:chOff x="912" y="816"/>
            <a:chExt cx="96" cy="720"/>
          </a:xfrm>
        </p:grpSpPr>
        <p:sp>
          <p:nvSpPr>
            <p:cNvPr id="128039" name="Line 71"/>
            <p:cNvSpPr>
              <a:spLocks noChangeShapeType="1"/>
            </p:cNvSpPr>
            <p:nvPr/>
          </p:nvSpPr>
          <p:spPr bwMode="auto">
            <a:xfrm>
              <a:off x="958" y="816"/>
              <a:ext cx="0" cy="240"/>
            </a:xfrm>
            <a:prstGeom prst="line">
              <a:avLst/>
            </a:prstGeom>
            <a:noFill/>
            <a:ln w="190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28040" name="Group 72"/>
            <p:cNvGrpSpPr>
              <a:grpSpLocks/>
            </p:cNvGrpSpPr>
            <p:nvPr/>
          </p:nvGrpSpPr>
          <p:grpSpPr bwMode="auto">
            <a:xfrm>
              <a:off x="912" y="1056"/>
              <a:ext cx="96" cy="240"/>
              <a:chOff x="912" y="1056"/>
              <a:chExt cx="96" cy="336"/>
            </a:xfrm>
          </p:grpSpPr>
          <p:sp>
            <p:nvSpPr>
              <p:cNvPr id="128042" name="Line 73"/>
              <p:cNvSpPr>
                <a:spLocks noChangeShapeType="1"/>
              </p:cNvSpPr>
              <p:nvPr/>
            </p:nvSpPr>
            <p:spPr bwMode="auto">
              <a:xfrm>
                <a:off x="960" y="1056"/>
                <a:ext cx="48"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3" name="Line 74"/>
              <p:cNvSpPr>
                <a:spLocks noChangeShapeType="1"/>
              </p:cNvSpPr>
              <p:nvPr/>
            </p:nvSpPr>
            <p:spPr bwMode="auto">
              <a:xfrm flipH="1">
                <a:off x="912" y="1104"/>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4" name="Line 75"/>
              <p:cNvSpPr>
                <a:spLocks noChangeShapeType="1"/>
              </p:cNvSpPr>
              <p:nvPr/>
            </p:nvSpPr>
            <p:spPr bwMode="auto">
              <a:xfrm>
                <a:off x="912" y="1152"/>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5" name="Line 76"/>
              <p:cNvSpPr>
                <a:spLocks noChangeShapeType="1"/>
              </p:cNvSpPr>
              <p:nvPr/>
            </p:nvSpPr>
            <p:spPr bwMode="auto">
              <a:xfrm flipH="1">
                <a:off x="912" y="1200"/>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6" name="Line 77"/>
              <p:cNvSpPr>
                <a:spLocks noChangeShapeType="1"/>
              </p:cNvSpPr>
              <p:nvPr/>
            </p:nvSpPr>
            <p:spPr bwMode="auto">
              <a:xfrm>
                <a:off x="912" y="1248"/>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7" name="Line 78"/>
              <p:cNvSpPr>
                <a:spLocks noChangeShapeType="1"/>
              </p:cNvSpPr>
              <p:nvPr/>
            </p:nvSpPr>
            <p:spPr bwMode="auto">
              <a:xfrm flipH="1">
                <a:off x="912" y="1296"/>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48" name="Line 79"/>
              <p:cNvSpPr>
                <a:spLocks noChangeShapeType="1"/>
              </p:cNvSpPr>
              <p:nvPr/>
            </p:nvSpPr>
            <p:spPr bwMode="auto">
              <a:xfrm>
                <a:off x="912" y="1344"/>
                <a:ext cx="48"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8041" name="Line 80"/>
            <p:cNvSpPr>
              <a:spLocks noChangeShapeType="1"/>
            </p:cNvSpPr>
            <p:nvPr/>
          </p:nvSpPr>
          <p:spPr bwMode="auto">
            <a:xfrm>
              <a:off x="960" y="1296"/>
              <a:ext cx="0" cy="24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28024" name="Freeform 93"/>
          <p:cNvSpPr>
            <a:spLocks/>
          </p:cNvSpPr>
          <p:nvPr/>
        </p:nvSpPr>
        <p:spPr bwMode="auto">
          <a:xfrm>
            <a:off x="5980113" y="3500438"/>
            <a:ext cx="463550" cy="247650"/>
          </a:xfrm>
          <a:custGeom>
            <a:avLst/>
            <a:gdLst>
              <a:gd name="T0" fmla="*/ 0 w 227"/>
              <a:gd name="T1" fmla="*/ 2147483647 h 317"/>
              <a:gd name="T2" fmla="*/ 2147483647 w 227"/>
              <a:gd name="T3" fmla="*/ 2147483647 h 317"/>
              <a:gd name="T4" fmla="*/ 2147483647 w 227"/>
              <a:gd name="T5" fmla="*/ 0 h 317"/>
              <a:gd name="T6" fmla="*/ 0 60000 65536"/>
              <a:gd name="T7" fmla="*/ 0 60000 65536"/>
              <a:gd name="T8" fmla="*/ 0 60000 65536"/>
            </a:gdLst>
            <a:ahLst/>
            <a:cxnLst>
              <a:cxn ang="T6">
                <a:pos x="T0" y="T1"/>
              </a:cxn>
              <a:cxn ang="T7">
                <a:pos x="T2" y="T3"/>
              </a:cxn>
              <a:cxn ang="T8">
                <a:pos x="T4" y="T5"/>
              </a:cxn>
            </a:cxnLst>
            <a:rect l="0" t="0" r="r" b="b"/>
            <a:pathLst>
              <a:path w="227" h="317">
                <a:moveTo>
                  <a:pt x="0" y="317"/>
                </a:moveTo>
                <a:lnTo>
                  <a:pt x="227" y="317"/>
                </a:lnTo>
                <a:lnTo>
                  <a:pt x="22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25" name="Freeform 94"/>
          <p:cNvSpPr>
            <a:spLocks/>
          </p:cNvSpPr>
          <p:nvPr/>
        </p:nvSpPr>
        <p:spPr bwMode="auto">
          <a:xfrm>
            <a:off x="5980113" y="3716338"/>
            <a:ext cx="463550" cy="1184275"/>
          </a:xfrm>
          <a:custGeom>
            <a:avLst/>
            <a:gdLst>
              <a:gd name="T0" fmla="*/ 0 w 227"/>
              <a:gd name="T1" fmla="*/ 2147483647 h 317"/>
              <a:gd name="T2" fmla="*/ 2147483647 w 227"/>
              <a:gd name="T3" fmla="*/ 2147483647 h 317"/>
              <a:gd name="T4" fmla="*/ 2147483647 w 227"/>
              <a:gd name="T5" fmla="*/ 0 h 317"/>
              <a:gd name="T6" fmla="*/ 0 60000 65536"/>
              <a:gd name="T7" fmla="*/ 0 60000 65536"/>
              <a:gd name="T8" fmla="*/ 0 60000 65536"/>
            </a:gdLst>
            <a:ahLst/>
            <a:cxnLst>
              <a:cxn ang="T6">
                <a:pos x="T0" y="T1"/>
              </a:cxn>
              <a:cxn ang="T7">
                <a:pos x="T2" y="T3"/>
              </a:cxn>
              <a:cxn ang="T8">
                <a:pos x="T4" y="T5"/>
              </a:cxn>
            </a:cxnLst>
            <a:rect l="0" t="0" r="r" b="b"/>
            <a:pathLst>
              <a:path w="227" h="317">
                <a:moveTo>
                  <a:pt x="0" y="317"/>
                </a:moveTo>
                <a:lnTo>
                  <a:pt x="227" y="317"/>
                </a:lnTo>
                <a:lnTo>
                  <a:pt x="22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8026" name="Oval 95"/>
          <p:cNvSpPr>
            <a:spLocks noChangeArrowheads="1"/>
          </p:cNvSpPr>
          <p:nvPr/>
        </p:nvSpPr>
        <p:spPr bwMode="auto">
          <a:xfrm>
            <a:off x="6411913" y="3716338"/>
            <a:ext cx="73025" cy="73025"/>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27" name="Line 96"/>
          <p:cNvSpPr>
            <a:spLocks noChangeShapeType="1"/>
          </p:cNvSpPr>
          <p:nvPr/>
        </p:nvSpPr>
        <p:spPr bwMode="auto">
          <a:xfrm>
            <a:off x="5964238" y="5260975"/>
            <a:ext cx="0" cy="3603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nvGrpSpPr>
          <p:cNvPr id="128028" name="Group 97"/>
          <p:cNvGrpSpPr>
            <a:grpSpLocks/>
          </p:cNvGrpSpPr>
          <p:nvPr/>
        </p:nvGrpSpPr>
        <p:grpSpPr bwMode="auto">
          <a:xfrm>
            <a:off x="5819775" y="4452938"/>
            <a:ext cx="287338" cy="71437"/>
            <a:chOff x="3969" y="3793"/>
            <a:chExt cx="181" cy="91"/>
          </a:xfrm>
        </p:grpSpPr>
        <p:sp>
          <p:nvSpPr>
            <p:cNvPr id="128035" name="Line 98"/>
            <p:cNvSpPr>
              <a:spLocks noChangeShapeType="1"/>
            </p:cNvSpPr>
            <p:nvPr/>
          </p:nvSpPr>
          <p:spPr bwMode="auto">
            <a:xfrm>
              <a:off x="3969" y="3793"/>
              <a:ext cx="18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36" name="Line 99"/>
            <p:cNvSpPr>
              <a:spLocks noChangeShapeType="1"/>
            </p:cNvSpPr>
            <p:nvPr/>
          </p:nvSpPr>
          <p:spPr bwMode="auto">
            <a:xfrm flipH="1">
              <a:off x="4014"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37" name="Line 100"/>
            <p:cNvSpPr>
              <a:spLocks noChangeShapeType="1"/>
            </p:cNvSpPr>
            <p:nvPr/>
          </p:nvSpPr>
          <p:spPr bwMode="auto">
            <a:xfrm flipH="1">
              <a:off x="396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38" name="Line 101"/>
            <p:cNvSpPr>
              <a:spLocks noChangeShapeType="1"/>
            </p:cNvSpPr>
            <p:nvPr/>
          </p:nvSpPr>
          <p:spPr bwMode="auto">
            <a:xfrm flipH="1">
              <a:off x="405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28029" name="Line 102"/>
          <p:cNvSpPr>
            <a:spLocks noChangeShapeType="1"/>
          </p:cNvSpPr>
          <p:nvPr/>
        </p:nvSpPr>
        <p:spPr bwMode="auto">
          <a:xfrm>
            <a:off x="5964238" y="4100513"/>
            <a:ext cx="0" cy="3603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30" name="Line 103"/>
          <p:cNvSpPr>
            <a:spLocks noChangeShapeType="1"/>
          </p:cNvSpPr>
          <p:nvPr/>
        </p:nvSpPr>
        <p:spPr bwMode="auto">
          <a:xfrm>
            <a:off x="6443663" y="3748088"/>
            <a:ext cx="8651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8031" name="Oval 104"/>
          <p:cNvSpPr>
            <a:spLocks noChangeArrowheads="1"/>
          </p:cNvSpPr>
          <p:nvPr/>
        </p:nvSpPr>
        <p:spPr bwMode="auto">
          <a:xfrm>
            <a:off x="5005388" y="3884613"/>
            <a:ext cx="71437"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32" name="Oval 105"/>
          <p:cNvSpPr>
            <a:spLocks noChangeArrowheads="1"/>
          </p:cNvSpPr>
          <p:nvPr/>
        </p:nvSpPr>
        <p:spPr bwMode="auto">
          <a:xfrm>
            <a:off x="5005388" y="5045075"/>
            <a:ext cx="71437"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33" name="Oval 106"/>
          <p:cNvSpPr>
            <a:spLocks noChangeArrowheads="1"/>
          </p:cNvSpPr>
          <p:nvPr/>
        </p:nvSpPr>
        <p:spPr bwMode="auto">
          <a:xfrm>
            <a:off x="7308850" y="3708400"/>
            <a:ext cx="71438"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8034" name="Text Box 107"/>
          <p:cNvSpPr txBox="1">
            <a:spLocks noChangeArrowheads="1"/>
          </p:cNvSpPr>
          <p:nvPr/>
        </p:nvSpPr>
        <p:spPr bwMode="auto">
          <a:xfrm>
            <a:off x="5292725" y="5745163"/>
            <a:ext cx="21272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&lt; Chức năng đóng mở của transistor&gt;</a:t>
            </a: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D1BB2D4-3CFF-4686-B436-19EE3519FBC0}" type="slidenum">
              <a:rPr lang="en-US" altLang="ko-KR" sz="1400" smtClean="0">
                <a:latin typeface="Times New Roman" pitchFamily="18" charset="0"/>
                <a:cs typeface="Times New Roman" pitchFamily="18" charset="0"/>
              </a:rPr>
              <a:pPr eaLnBrk="1" hangingPunct="1"/>
              <a:t>121</a:t>
            </a:fld>
            <a:endParaRPr lang="en-US" altLang="ko-KR" sz="1400" smtClean="0">
              <a:latin typeface="Times New Roman" pitchFamily="18" charset="0"/>
              <a:cs typeface="Times New Roman" pitchFamily="18" charset="0"/>
            </a:endParaRPr>
          </a:p>
        </p:txBody>
      </p:sp>
      <p:sp>
        <p:nvSpPr>
          <p:cNvPr id="129027"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2902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Đo Transistor NPN</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Nắm bắt các chủng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a:t>
            </a:r>
          </a:p>
          <a:p>
            <a:pPr eaLnBrk="1" hangingPunct="1"/>
            <a:r>
              <a:rPr lang="en-US" altLang="ko-KR">
                <a:latin typeface="Times New Roman" pitchFamily="18" charset="0"/>
                <a:cs typeface="Times New Roman" pitchFamily="18" charset="0"/>
              </a:rPr>
              <a:t>   Loại 2SA×××        PNP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chuyên cho cao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2SB×××        PNP chuyên cho hạ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2SC×××        NPN chuyên cho cao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2SD×××        NPN chuyên cho hạ tần</a:t>
            </a: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② </a:t>
            </a:r>
            <a:r>
              <a:rPr lang="en-US" altLang="ko-KR">
                <a:latin typeface="Times New Roman" pitchFamily="18" charset="0"/>
                <a:cs typeface="Times New Roman" pitchFamily="18" charset="0"/>
              </a:rPr>
              <a:t>Đặt thanh Test màu đen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lên cực E, và tìm cực B bằng</a:t>
            </a:r>
          </a:p>
          <a:p>
            <a:pPr eaLnBrk="1" hangingPunct="1"/>
            <a:r>
              <a:rPr lang="en-US" altLang="ko-KR">
                <a:latin typeface="Times New Roman" pitchFamily="18" charset="0"/>
                <a:cs typeface="Times New Roman" pitchFamily="18" charset="0"/>
              </a:rPr>
              <a:t>thanh Test màu đỏ</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③ Nếu điện áp đặc biệt Diode giữa E-B</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biểu thị trên DVM </a:t>
            </a:r>
          </a:p>
          <a:p>
            <a:pPr eaLnBrk="1" hangingPunct="1"/>
            <a:r>
              <a:rPr lang="en-US" altLang="ko-KR">
                <a:latin typeface="Times New Roman" pitchFamily="18" charset="0"/>
                <a:cs typeface="Times New Roman" pitchFamily="18" charset="0"/>
              </a:rPr>
              <a:t>vào khoảng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0.5 ~ 0.7[V] thì xem như TR đạt tiêu chuẩn.</a:t>
            </a:r>
          </a:p>
        </p:txBody>
      </p:sp>
      <p:sp>
        <p:nvSpPr>
          <p:cNvPr id="129029"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29030" name="Picture 15" descr="2sc18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4508500"/>
            <a:ext cx="15636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129031" name="Group 35"/>
          <p:cNvGrpSpPr>
            <a:grpSpLocks/>
          </p:cNvGrpSpPr>
          <p:nvPr/>
        </p:nvGrpSpPr>
        <p:grpSpPr bwMode="auto">
          <a:xfrm>
            <a:off x="1249363" y="4267200"/>
            <a:ext cx="1181100" cy="773113"/>
            <a:chOff x="1196" y="1079"/>
            <a:chExt cx="744" cy="487"/>
          </a:xfrm>
        </p:grpSpPr>
        <p:sp>
          <p:nvSpPr>
            <p:cNvPr id="129052" name="Line 17"/>
            <p:cNvSpPr>
              <a:spLocks noChangeShapeType="1"/>
            </p:cNvSpPr>
            <p:nvPr/>
          </p:nvSpPr>
          <p:spPr bwMode="auto">
            <a:xfrm flipV="1">
              <a:off x="1347" y="1303"/>
              <a:ext cx="1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53" name="Line 18"/>
            <p:cNvSpPr>
              <a:spLocks noChangeShapeType="1"/>
            </p:cNvSpPr>
            <p:nvPr/>
          </p:nvSpPr>
          <p:spPr bwMode="auto">
            <a:xfrm flipV="1">
              <a:off x="1539" y="1135"/>
              <a:ext cx="0" cy="3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54" name="Text Box 19"/>
            <p:cNvSpPr txBox="1">
              <a:spLocks noChangeArrowheads="1"/>
            </p:cNvSpPr>
            <p:nvPr/>
          </p:nvSpPr>
          <p:spPr bwMode="auto">
            <a:xfrm>
              <a:off x="1748" y="1372"/>
              <a:ext cx="19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solidFill>
                    <a:srgbClr val="000000"/>
                  </a:solidFill>
                  <a:latin typeface="Times New Roman" pitchFamily="18" charset="0"/>
                  <a:cs typeface="Times New Roman" pitchFamily="18" charset="0"/>
                </a:rPr>
                <a:t>E</a:t>
              </a:r>
            </a:p>
          </p:txBody>
        </p:sp>
        <p:sp>
          <p:nvSpPr>
            <p:cNvPr id="129055" name="Text Box 20"/>
            <p:cNvSpPr txBox="1">
              <a:spLocks noChangeArrowheads="1"/>
            </p:cNvSpPr>
            <p:nvPr/>
          </p:nvSpPr>
          <p:spPr bwMode="auto">
            <a:xfrm>
              <a:off x="1742" y="1079"/>
              <a:ext cx="18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solidFill>
                    <a:srgbClr val="000000"/>
                  </a:solidFill>
                  <a:latin typeface="Times New Roman" pitchFamily="18" charset="0"/>
                  <a:cs typeface="Times New Roman" pitchFamily="18" charset="0"/>
                </a:rPr>
                <a:t>C</a:t>
              </a:r>
            </a:p>
          </p:txBody>
        </p:sp>
        <p:sp>
          <p:nvSpPr>
            <p:cNvPr id="129056" name="Text Box 21"/>
            <p:cNvSpPr txBox="1">
              <a:spLocks noChangeArrowheads="1"/>
            </p:cNvSpPr>
            <p:nvPr/>
          </p:nvSpPr>
          <p:spPr bwMode="auto">
            <a:xfrm>
              <a:off x="1196" y="1190"/>
              <a:ext cx="19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solidFill>
                    <a:srgbClr val="000000"/>
                  </a:solidFill>
                  <a:latin typeface="Times New Roman" pitchFamily="18" charset="0"/>
                  <a:cs typeface="Times New Roman" pitchFamily="18" charset="0"/>
                </a:rPr>
                <a:t>B</a:t>
              </a:r>
            </a:p>
          </p:txBody>
        </p:sp>
        <p:sp>
          <p:nvSpPr>
            <p:cNvPr id="129057" name="Line 22"/>
            <p:cNvSpPr>
              <a:spLocks noChangeShapeType="1"/>
            </p:cNvSpPr>
            <p:nvPr/>
          </p:nvSpPr>
          <p:spPr bwMode="auto">
            <a:xfrm flipV="1">
              <a:off x="1542" y="1164"/>
              <a:ext cx="224" cy="7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58" name="Line 23"/>
            <p:cNvSpPr>
              <a:spLocks noChangeShapeType="1"/>
            </p:cNvSpPr>
            <p:nvPr/>
          </p:nvSpPr>
          <p:spPr bwMode="auto">
            <a:xfrm>
              <a:off x="1542" y="1364"/>
              <a:ext cx="224" cy="8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29032" name="Text Box 24"/>
          <p:cNvSpPr txBox="1">
            <a:spLocks noChangeArrowheads="1"/>
          </p:cNvSpPr>
          <p:nvPr/>
        </p:nvSpPr>
        <p:spPr bwMode="auto">
          <a:xfrm>
            <a:off x="663575" y="5911850"/>
            <a:ext cx="2438400"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solidFill>
                  <a:srgbClr val="000000"/>
                </a:solidFill>
                <a:latin typeface="Times New Roman" pitchFamily="18" charset="0"/>
                <a:cs typeface="Times New Roman" pitchFamily="18" charset="0"/>
              </a:rPr>
              <a:t>Ký hiệu mạch điện của Transistor loại NPN</a:t>
            </a:r>
            <a:endParaRPr lang="ko-KR" altLang="en-US" sz="1000">
              <a:solidFill>
                <a:srgbClr val="000000"/>
              </a:solidFill>
              <a:latin typeface="Times New Roman" pitchFamily="18" charset="0"/>
              <a:cs typeface="Times New Roman" pitchFamily="18" charset="0"/>
            </a:endParaRPr>
          </a:p>
        </p:txBody>
      </p:sp>
      <p:grpSp>
        <p:nvGrpSpPr>
          <p:cNvPr id="129033" name="Group 34"/>
          <p:cNvGrpSpPr>
            <a:grpSpLocks/>
          </p:cNvGrpSpPr>
          <p:nvPr/>
        </p:nvGrpSpPr>
        <p:grpSpPr bwMode="auto">
          <a:xfrm>
            <a:off x="3635375" y="4111625"/>
            <a:ext cx="288925" cy="1446213"/>
            <a:chOff x="2517" y="1933"/>
            <a:chExt cx="182" cy="911"/>
          </a:xfrm>
        </p:grpSpPr>
        <p:grpSp>
          <p:nvGrpSpPr>
            <p:cNvPr id="129043" name="Group 27"/>
            <p:cNvGrpSpPr>
              <a:grpSpLocks/>
            </p:cNvGrpSpPr>
            <p:nvPr/>
          </p:nvGrpSpPr>
          <p:grpSpPr bwMode="auto">
            <a:xfrm>
              <a:off x="2517" y="2114"/>
              <a:ext cx="182" cy="182"/>
              <a:chOff x="2517" y="2114"/>
              <a:chExt cx="182" cy="182"/>
            </a:xfrm>
          </p:grpSpPr>
          <p:sp>
            <p:nvSpPr>
              <p:cNvPr id="129050" name="AutoShape 25"/>
              <p:cNvSpPr>
                <a:spLocks noChangeArrowheads="1"/>
              </p:cNvSpPr>
              <p:nvPr/>
            </p:nvSpPr>
            <p:spPr bwMode="auto">
              <a:xfrm>
                <a:off x="2517" y="2115"/>
                <a:ext cx="182" cy="181"/>
              </a:xfrm>
              <a:prstGeom prst="triangle">
                <a:avLst>
                  <a:gd name="adj" fmla="val 50000"/>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9051" name="Line 26"/>
              <p:cNvSpPr>
                <a:spLocks noChangeShapeType="1"/>
              </p:cNvSpPr>
              <p:nvPr/>
            </p:nvSpPr>
            <p:spPr bwMode="auto">
              <a:xfrm>
                <a:off x="2517" y="2114"/>
                <a:ext cx="18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grpSp>
          <p:nvGrpSpPr>
            <p:cNvPr id="129044" name="Group 28"/>
            <p:cNvGrpSpPr>
              <a:grpSpLocks/>
            </p:cNvGrpSpPr>
            <p:nvPr/>
          </p:nvGrpSpPr>
          <p:grpSpPr bwMode="auto">
            <a:xfrm rot="10800000">
              <a:off x="2517" y="2478"/>
              <a:ext cx="182" cy="182"/>
              <a:chOff x="2517" y="2114"/>
              <a:chExt cx="182" cy="182"/>
            </a:xfrm>
          </p:grpSpPr>
          <p:sp>
            <p:nvSpPr>
              <p:cNvPr id="129048" name="AutoShape 29"/>
              <p:cNvSpPr>
                <a:spLocks noChangeArrowheads="1"/>
              </p:cNvSpPr>
              <p:nvPr/>
            </p:nvSpPr>
            <p:spPr bwMode="auto">
              <a:xfrm>
                <a:off x="2517" y="2115"/>
                <a:ext cx="182" cy="181"/>
              </a:xfrm>
              <a:prstGeom prst="triangle">
                <a:avLst>
                  <a:gd name="adj" fmla="val 50000"/>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29049" name="Line 30"/>
              <p:cNvSpPr>
                <a:spLocks noChangeShapeType="1"/>
              </p:cNvSpPr>
              <p:nvPr/>
            </p:nvSpPr>
            <p:spPr bwMode="auto">
              <a:xfrm>
                <a:off x="2517" y="2114"/>
                <a:ext cx="18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29045" name="Line 31"/>
            <p:cNvSpPr>
              <a:spLocks noChangeShapeType="1"/>
            </p:cNvSpPr>
            <p:nvPr/>
          </p:nvSpPr>
          <p:spPr bwMode="auto">
            <a:xfrm>
              <a:off x="2608" y="2296"/>
              <a:ext cx="0" cy="1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46" name="Line 32"/>
            <p:cNvSpPr>
              <a:spLocks noChangeShapeType="1"/>
            </p:cNvSpPr>
            <p:nvPr/>
          </p:nvSpPr>
          <p:spPr bwMode="auto">
            <a:xfrm>
              <a:off x="2608" y="2662"/>
              <a:ext cx="0" cy="1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47" name="Line 33"/>
            <p:cNvSpPr>
              <a:spLocks noChangeShapeType="1"/>
            </p:cNvSpPr>
            <p:nvPr/>
          </p:nvSpPr>
          <p:spPr bwMode="auto">
            <a:xfrm>
              <a:off x="2608" y="1933"/>
              <a:ext cx="0" cy="1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29034" name="Line 36"/>
          <p:cNvSpPr>
            <a:spLocks noChangeShapeType="1"/>
          </p:cNvSpPr>
          <p:nvPr/>
        </p:nvSpPr>
        <p:spPr bwMode="auto">
          <a:xfrm>
            <a:off x="3417888" y="4830763"/>
            <a:ext cx="3603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29035" name="Text Box 37"/>
          <p:cNvSpPr txBox="1">
            <a:spLocks noChangeArrowheads="1"/>
          </p:cNvSpPr>
          <p:nvPr/>
        </p:nvSpPr>
        <p:spPr bwMode="auto">
          <a:xfrm>
            <a:off x="3149600" y="4651375"/>
            <a:ext cx="287338"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B</a:t>
            </a:r>
          </a:p>
        </p:txBody>
      </p:sp>
      <p:sp>
        <p:nvSpPr>
          <p:cNvPr id="129036" name="Text Box 38"/>
          <p:cNvSpPr txBox="1">
            <a:spLocks noChangeArrowheads="1"/>
          </p:cNvSpPr>
          <p:nvPr/>
        </p:nvSpPr>
        <p:spPr bwMode="auto">
          <a:xfrm>
            <a:off x="3635375" y="5551488"/>
            <a:ext cx="2873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E</a:t>
            </a:r>
          </a:p>
        </p:txBody>
      </p:sp>
      <p:sp>
        <p:nvSpPr>
          <p:cNvPr id="129037" name="Text Box 39"/>
          <p:cNvSpPr txBox="1">
            <a:spLocks noChangeArrowheads="1"/>
          </p:cNvSpPr>
          <p:nvPr/>
        </p:nvSpPr>
        <p:spPr bwMode="auto">
          <a:xfrm>
            <a:off x="3635375" y="3822700"/>
            <a:ext cx="2952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C</a:t>
            </a:r>
          </a:p>
        </p:txBody>
      </p:sp>
      <p:sp>
        <p:nvSpPr>
          <p:cNvPr id="129038" name="Text Box 40"/>
          <p:cNvSpPr txBox="1">
            <a:spLocks noChangeArrowheads="1"/>
          </p:cNvSpPr>
          <p:nvPr/>
        </p:nvSpPr>
        <p:spPr bwMode="auto">
          <a:xfrm>
            <a:off x="3043238" y="5911850"/>
            <a:ext cx="1517650"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solidFill>
                  <a:srgbClr val="000000"/>
                </a:solidFill>
                <a:latin typeface="Times New Roman" pitchFamily="18" charset="0"/>
                <a:cs typeface="Times New Roman" pitchFamily="18" charset="0"/>
              </a:rPr>
              <a:t>So sánh với kết nối Diode</a:t>
            </a:r>
            <a:endParaRPr lang="ko-KR" altLang="en-US" sz="1000">
              <a:solidFill>
                <a:srgbClr val="000000"/>
              </a:solidFill>
              <a:latin typeface="Times New Roman" pitchFamily="18" charset="0"/>
              <a:cs typeface="Times New Roman" pitchFamily="18" charset="0"/>
            </a:endParaRPr>
          </a:p>
        </p:txBody>
      </p:sp>
      <p:pic>
        <p:nvPicPr>
          <p:cNvPr id="129039" name="Picture 4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51500" y="1341438"/>
            <a:ext cx="1228725" cy="329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040" name="Arc 43"/>
          <p:cNvSpPr>
            <a:spLocks/>
          </p:cNvSpPr>
          <p:nvPr/>
        </p:nvSpPr>
        <p:spPr bwMode="auto">
          <a:xfrm>
            <a:off x="6381750" y="4546600"/>
            <a:ext cx="784225" cy="903288"/>
          </a:xfrm>
          <a:custGeom>
            <a:avLst/>
            <a:gdLst>
              <a:gd name="T0" fmla="*/ 2147483647 w 27266"/>
              <a:gd name="T1" fmla="*/ 0 h 41523"/>
              <a:gd name="T2" fmla="*/ 0 w 27266"/>
              <a:gd name="T3" fmla="*/ 2147483647 h 41523"/>
              <a:gd name="T4" fmla="*/ 2147483647 w 27266"/>
              <a:gd name="T5" fmla="*/ 2147483647 h 41523"/>
              <a:gd name="T6" fmla="*/ 0 60000 65536"/>
              <a:gd name="T7" fmla="*/ 0 60000 65536"/>
              <a:gd name="T8" fmla="*/ 0 60000 65536"/>
            </a:gdLst>
            <a:ahLst/>
            <a:cxnLst>
              <a:cxn ang="T6">
                <a:pos x="T0" y="T1"/>
              </a:cxn>
              <a:cxn ang="T7">
                <a:pos x="T2" y="T3"/>
              </a:cxn>
              <a:cxn ang="T8">
                <a:pos x="T4" y="T5"/>
              </a:cxn>
            </a:cxnLst>
            <a:rect l="0" t="0" r="r" b="b"/>
            <a:pathLst>
              <a:path w="27266" h="41523" fill="none" extrusionOk="0">
                <a:moveTo>
                  <a:pt x="14010" y="-1"/>
                </a:moveTo>
                <a:cubicBezTo>
                  <a:pt x="22039" y="3362"/>
                  <a:pt x="27266" y="11217"/>
                  <a:pt x="27266" y="19923"/>
                </a:cubicBezTo>
                <a:cubicBezTo>
                  <a:pt x="27266" y="31852"/>
                  <a:pt x="17595" y="41523"/>
                  <a:pt x="5666" y="41523"/>
                </a:cubicBezTo>
                <a:cubicBezTo>
                  <a:pt x="3752" y="41523"/>
                  <a:pt x="1846" y="41268"/>
                  <a:pt x="0" y="40766"/>
                </a:cubicBezTo>
              </a:path>
              <a:path w="27266" h="41523" stroke="0" extrusionOk="0">
                <a:moveTo>
                  <a:pt x="14010" y="-1"/>
                </a:moveTo>
                <a:cubicBezTo>
                  <a:pt x="22039" y="3362"/>
                  <a:pt x="27266" y="11217"/>
                  <a:pt x="27266" y="19923"/>
                </a:cubicBezTo>
                <a:cubicBezTo>
                  <a:pt x="27266" y="31852"/>
                  <a:pt x="17595" y="41523"/>
                  <a:pt x="5666" y="41523"/>
                </a:cubicBezTo>
                <a:cubicBezTo>
                  <a:pt x="3752" y="41523"/>
                  <a:pt x="1846" y="41268"/>
                  <a:pt x="0" y="40766"/>
                </a:cubicBezTo>
                <a:lnTo>
                  <a:pt x="5666" y="19923"/>
                </a:lnTo>
                <a:lnTo>
                  <a:pt x="14010" y="-1"/>
                </a:lnTo>
                <a:close/>
              </a:path>
            </a:pathLst>
          </a:custGeom>
          <a:noFill/>
          <a:ln w="19050">
            <a:solidFill>
              <a:schemeClr val="tx1"/>
            </a:solidFill>
            <a:prstDash val="sysDot"/>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9041" name="Arc 44"/>
          <p:cNvSpPr>
            <a:spLocks/>
          </p:cNvSpPr>
          <p:nvPr/>
        </p:nvSpPr>
        <p:spPr bwMode="auto">
          <a:xfrm flipH="1">
            <a:off x="5435600" y="4546600"/>
            <a:ext cx="687388" cy="903288"/>
          </a:xfrm>
          <a:custGeom>
            <a:avLst/>
            <a:gdLst>
              <a:gd name="T0" fmla="*/ 2147483647 w 27266"/>
              <a:gd name="T1" fmla="*/ 0 h 41523"/>
              <a:gd name="T2" fmla="*/ 0 w 27266"/>
              <a:gd name="T3" fmla="*/ 2147483647 h 41523"/>
              <a:gd name="T4" fmla="*/ 2147483647 w 27266"/>
              <a:gd name="T5" fmla="*/ 2147483647 h 41523"/>
              <a:gd name="T6" fmla="*/ 0 60000 65536"/>
              <a:gd name="T7" fmla="*/ 0 60000 65536"/>
              <a:gd name="T8" fmla="*/ 0 60000 65536"/>
            </a:gdLst>
            <a:ahLst/>
            <a:cxnLst>
              <a:cxn ang="T6">
                <a:pos x="T0" y="T1"/>
              </a:cxn>
              <a:cxn ang="T7">
                <a:pos x="T2" y="T3"/>
              </a:cxn>
              <a:cxn ang="T8">
                <a:pos x="T4" y="T5"/>
              </a:cxn>
            </a:cxnLst>
            <a:rect l="0" t="0" r="r" b="b"/>
            <a:pathLst>
              <a:path w="27266" h="41523" fill="none" extrusionOk="0">
                <a:moveTo>
                  <a:pt x="14010" y="-1"/>
                </a:moveTo>
                <a:cubicBezTo>
                  <a:pt x="22039" y="3362"/>
                  <a:pt x="27266" y="11217"/>
                  <a:pt x="27266" y="19923"/>
                </a:cubicBezTo>
                <a:cubicBezTo>
                  <a:pt x="27266" y="31852"/>
                  <a:pt x="17595" y="41523"/>
                  <a:pt x="5666" y="41523"/>
                </a:cubicBezTo>
                <a:cubicBezTo>
                  <a:pt x="3752" y="41523"/>
                  <a:pt x="1846" y="41268"/>
                  <a:pt x="0" y="40766"/>
                </a:cubicBezTo>
              </a:path>
              <a:path w="27266" h="41523" stroke="0" extrusionOk="0">
                <a:moveTo>
                  <a:pt x="14010" y="-1"/>
                </a:moveTo>
                <a:cubicBezTo>
                  <a:pt x="22039" y="3362"/>
                  <a:pt x="27266" y="11217"/>
                  <a:pt x="27266" y="19923"/>
                </a:cubicBezTo>
                <a:cubicBezTo>
                  <a:pt x="27266" y="31852"/>
                  <a:pt x="17595" y="41523"/>
                  <a:pt x="5666" y="41523"/>
                </a:cubicBezTo>
                <a:cubicBezTo>
                  <a:pt x="3752" y="41523"/>
                  <a:pt x="1846" y="41268"/>
                  <a:pt x="0" y="40766"/>
                </a:cubicBezTo>
                <a:lnTo>
                  <a:pt x="5666" y="19923"/>
                </a:lnTo>
                <a:lnTo>
                  <a:pt x="14010" y="-1"/>
                </a:lnTo>
                <a:close/>
              </a:path>
            </a:pathLst>
          </a:custGeom>
          <a:noFill/>
          <a:ln w="19050">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29042" name="Arc 45"/>
          <p:cNvSpPr>
            <a:spLocks/>
          </p:cNvSpPr>
          <p:nvPr/>
        </p:nvSpPr>
        <p:spPr bwMode="auto">
          <a:xfrm>
            <a:off x="6256338" y="4552950"/>
            <a:ext cx="911225" cy="1081088"/>
          </a:xfrm>
          <a:custGeom>
            <a:avLst/>
            <a:gdLst>
              <a:gd name="T0" fmla="*/ 2147483647 w 31686"/>
              <a:gd name="T1" fmla="*/ 0 h 41523"/>
              <a:gd name="T2" fmla="*/ 0 w 31686"/>
              <a:gd name="T3" fmla="*/ 2147483647 h 41523"/>
              <a:gd name="T4" fmla="*/ 2147483647 w 31686"/>
              <a:gd name="T5" fmla="*/ 2147483647 h 41523"/>
              <a:gd name="T6" fmla="*/ 0 60000 65536"/>
              <a:gd name="T7" fmla="*/ 0 60000 65536"/>
              <a:gd name="T8" fmla="*/ 0 60000 65536"/>
            </a:gdLst>
            <a:ahLst/>
            <a:cxnLst>
              <a:cxn ang="T6">
                <a:pos x="T0" y="T1"/>
              </a:cxn>
              <a:cxn ang="T7">
                <a:pos x="T2" y="T3"/>
              </a:cxn>
              <a:cxn ang="T8">
                <a:pos x="T4" y="T5"/>
              </a:cxn>
            </a:cxnLst>
            <a:rect l="0" t="0" r="r" b="b"/>
            <a:pathLst>
              <a:path w="31686" h="41523" fill="none" extrusionOk="0">
                <a:moveTo>
                  <a:pt x="18430" y="-1"/>
                </a:moveTo>
                <a:cubicBezTo>
                  <a:pt x="26459" y="3362"/>
                  <a:pt x="31686" y="11217"/>
                  <a:pt x="31686" y="19923"/>
                </a:cubicBezTo>
                <a:cubicBezTo>
                  <a:pt x="31686" y="31852"/>
                  <a:pt x="22015" y="41523"/>
                  <a:pt x="10086" y="41523"/>
                </a:cubicBezTo>
                <a:cubicBezTo>
                  <a:pt x="6570" y="41523"/>
                  <a:pt x="3108" y="40665"/>
                  <a:pt x="0" y="39023"/>
                </a:cubicBezTo>
              </a:path>
              <a:path w="31686" h="41523" stroke="0" extrusionOk="0">
                <a:moveTo>
                  <a:pt x="18430" y="-1"/>
                </a:moveTo>
                <a:cubicBezTo>
                  <a:pt x="26459" y="3362"/>
                  <a:pt x="31686" y="11217"/>
                  <a:pt x="31686" y="19923"/>
                </a:cubicBezTo>
                <a:cubicBezTo>
                  <a:pt x="31686" y="31852"/>
                  <a:pt x="22015" y="41523"/>
                  <a:pt x="10086" y="41523"/>
                </a:cubicBezTo>
                <a:cubicBezTo>
                  <a:pt x="6570" y="41523"/>
                  <a:pt x="3108" y="40665"/>
                  <a:pt x="0" y="39023"/>
                </a:cubicBezTo>
                <a:lnTo>
                  <a:pt x="10086" y="19923"/>
                </a:lnTo>
                <a:lnTo>
                  <a:pt x="18430" y="-1"/>
                </a:lnTo>
                <a:close/>
              </a:path>
            </a:pathLst>
          </a:custGeom>
          <a:noFill/>
          <a:ln w="19050">
            <a:solidFill>
              <a:schemeClr val="tx1"/>
            </a:solidFill>
            <a:prstDash val="sysDot"/>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FF4C07B-8119-4F37-BBF0-767754E53632}" type="slidenum">
              <a:rPr lang="en-US" altLang="ko-KR" sz="1400" smtClean="0">
                <a:latin typeface="Times New Roman" pitchFamily="18" charset="0"/>
                <a:cs typeface="Times New Roman" pitchFamily="18" charset="0"/>
              </a:rPr>
              <a:pPr eaLnBrk="1" hangingPunct="1"/>
              <a:t>122</a:t>
            </a:fld>
            <a:endParaRPr lang="en-US" altLang="ko-KR" sz="1400" smtClean="0">
              <a:latin typeface="Times New Roman" pitchFamily="18" charset="0"/>
              <a:cs typeface="Times New Roman" pitchFamily="18" charset="0"/>
            </a:endParaRPr>
          </a:p>
        </p:txBody>
      </p:sp>
      <p:pic>
        <p:nvPicPr>
          <p:cNvPr id="130051"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5163" y="4697413"/>
            <a:ext cx="3995737"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05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Thực hành tạo Sensor NPN TR </a:t>
            </a:r>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1. Thực hành kỹ năng đóng mở (tạo 0V) của NPN TR thông qua mạch điện sau.</a:t>
            </a:r>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p:txBody>
      </p:sp>
      <p:grpSp>
        <p:nvGrpSpPr>
          <p:cNvPr id="130053" name="그룹 149"/>
          <p:cNvGrpSpPr>
            <a:grpSpLocks/>
          </p:cNvGrpSpPr>
          <p:nvPr/>
        </p:nvGrpSpPr>
        <p:grpSpPr bwMode="auto">
          <a:xfrm>
            <a:off x="2195513" y="1576388"/>
            <a:ext cx="5535612" cy="2573337"/>
            <a:chOff x="611560" y="2132856"/>
            <a:chExt cx="5535091" cy="2573240"/>
          </a:xfrm>
        </p:grpSpPr>
        <p:sp>
          <p:nvSpPr>
            <p:cNvPr id="130057" name="Line 52"/>
            <p:cNvSpPr>
              <a:spLocks noChangeShapeType="1"/>
            </p:cNvSpPr>
            <p:nvPr/>
          </p:nvSpPr>
          <p:spPr bwMode="auto">
            <a:xfrm>
              <a:off x="2186584" y="3131443"/>
              <a:ext cx="3252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0058" name="Group 41"/>
            <p:cNvGrpSpPr>
              <a:grpSpLocks/>
            </p:cNvGrpSpPr>
            <p:nvPr/>
          </p:nvGrpSpPr>
          <p:grpSpPr bwMode="auto">
            <a:xfrm>
              <a:off x="1055689" y="3911039"/>
              <a:ext cx="350252" cy="45461"/>
              <a:chOff x="1292" y="2568"/>
              <a:chExt cx="182" cy="34"/>
            </a:xfrm>
          </p:grpSpPr>
          <p:sp>
            <p:nvSpPr>
              <p:cNvPr id="130091" name="Line 42"/>
              <p:cNvSpPr>
                <a:spLocks noChangeShapeType="1"/>
              </p:cNvSpPr>
              <p:nvPr/>
            </p:nvSpPr>
            <p:spPr bwMode="auto">
              <a:xfrm>
                <a:off x="1292" y="2568"/>
                <a:ext cx="18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0092" name="Line 43"/>
              <p:cNvSpPr>
                <a:spLocks noChangeShapeType="1"/>
              </p:cNvSpPr>
              <p:nvPr/>
            </p:nvSpPr>
            <p:spPr bwMode="auto">
              <a:xfrm>
                <a:off x="1334" y="2602"/>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0059" name="Text Box 57"/>
            <p:cNvSpPr txBox="1">
              <a:spLocks noChangeArrowheads="1"/>
            </p:cNvSpPr>
            <p:nvPr/>
          </p:nvSpPr>
          <p:spPr bwMode="auto">
            <a:xfrm>
              <a:off x="611560" y="3796744"/>
              <a:ext cx="565150" cy="294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5V</a:t>
              </a:r>
            </a:p>
          </p:txBody>
        </p:sp>
        <p:sp>
          <p:nvSpPr>
            <p:cNvPr id="130060" name="Text Box 59"/>
            <p:cNvSpPr txBox="1">
              <a:spLocks noChangeArrowheads="1"/>
            </p:cNvSpPr>
            <p:nvPr/>
          </p:nvSpPr>
          <p:spPr bwMode="auto">
            <a:xfrm>
              <a:off x="2335560" y="2780928"/>
              <a:ext cx="1109663" cy="294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R=180</a:t>
              </a:r>
            </a:p>
          </p:txBody>
        </p:sp>
        <p:grpSp>
          <p:nvGrpSpPr>
            <p:cNvPr id="130061" name="Group 16"/>
            <p:cNvGrpSpPr>
              <a:grpSpLocks/>
            </p:cNvGrpSpPr>
            <p:nvPr/>
          </p:nvGrpSpPr>
          <p:grpSpPr bwMode="auto">
            <a:xfrm>
              <a:off x="3072780" y="2883758"/>
              <a:ext cx="419100" cy="428625"/>
              <a:chOff x="1425" y="2164"/>
              <a:chExt cx="264" cy="270"/>
            </a:xfrm>
          </p:grpSpPr>
          <p:sp>
            <p:nvSpPr>
              <p:cNvPr id="130087" name="Oval 12"/>
              <p:cNvSpPr>
                <a:spLocks noChangeArrowheads="1"/>
              </p:cNvSpPr>
              <p:nvPr/>
            </p:nvSpPr>
            <p:spPr bwMode="auto">
              <a:xfrm>
                <a:off x="1425" y="2164"/>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0088" name="Line 13"/>
              <p:cNvSpPr>
                <a:spLocks noChangeShapeType="1"/>
              </p:cNvSpPr>
              <p:nvPr/>
            </p:nvSpPr>
            <p:spPr bwMode="auto">
              <a:xfrm>
                <a:off x="1489" y="2208"/>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0089" name="Line 14"/>
              <p:cNvSpPr>
                <a:spLocks noChangeShapeType="1"/>
              </p:cNvSpPr>
              <p:nvPr/>
            </p:nvSpPr>
            <p:spPr bwMode="auto">
              <a:xfrm flipH="1">
                <a:off x="1489" y="2190"/>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0090" name="Line 15"/>
              <p:cNvSpPr>
                <a:spLocks noChangeShapeType="1"/>
              </p:cNvSpPr>
              <p:nvPr/>
            </p:nvSpPr>
            <p:spPr bwMode="auto">
              <a:xfrm>
                <a:off x="1489" y="2310"/>
                <a:ext cx="144" cy="96"/>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0062" name="Freeform 23"/>
            <p:cNvSpPr>
              <a:spLocks/>
            </p:cNvSpPr>
            <p:nvPr/>
          </p:nvSpPr>
          <p:spPr bwMode="auto">
            <a:xfrm>
              <a:off x="2514590" y="3040307"/>
              <a:ext cx="289699" cy="177562"/>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0063" name="그룹 129"/>
            <p:cNvGrpSpPr>
              <a:grpSpLocks/>
            </p:cNvGrpSpPr>
            <p:nvPr/>
          </p:nvGrpSpPr>
          <p:grpSpPr bwMode="auto">
            <a:xfrm rot="5400000">
              <a:off x="3871520" y="2512496"/>
              <a:ext cx="507060" cy="173819"/>
              <a:chOff x="8953695" y="2770644"/>
              <a:chExt cx="507060" cy="173819"/>
            </a:xfrm>
          </p:grpSpPr>
          <p:grpSp>
            <p:nvGrpSpPr>
              <p:cNvPr id="130083" name="Group 25"/>
              <p:cNvGrpSpPr>
                <a:grpSpLocks/>
              </p:cNvGrpSpPr>
              <p:nvPr/>
            </p:nvGrpSpPr>
            <p:grpSpPr bwMode="auto">
              <a:xfrm rot="5400000">
                <a:off x="9030479" y="2699689"/>
                <a:ext cx="148471" cy="302039"/>
                <a:chOff x="2835" y="1389"/>
                <a:chExt cx="117" cy="155"/>
              </a:xfrm>
            </p:grpSpPr>
            <p:sp>
              <p:nvSpPr>
                <p:cNvPr id="130085" name="AutoShape 26"/>
                <p:cNvSpPr>
                  <a:spLocks noChangeArrowheads="1"/>
                </p:cNvSpPr>
                <p:nvPr/>
              </p:nvSpPr>
              <p:spPr bwMode="auto">
                <a:xfrm rot="5400000">
                  <a:off x="2815" y="1409"/>
                  <a:ext cx="155" cy="11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0086" name="Line 27"/>
                <p:cNvSpPr>
                  <a:spLocks noChangeShapeType="1"/>
                </p:cNvSpPr>
                <p:nvPr/>
              </p:nvSpPr>
              <p:spPr bwMode="auto">
                <a:xfrm>
                  <a:off x="2951" y="1389"/>
                  <a:ext cx="1" cy="1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0084" name="Freeform 28"/>
              <p:cNvSpPr>
                <a:spLocks/>
              </p:cNvSpPr>
              <p:nvPr/>
            </p:nvSpPr>
            <p:spPr bwMode="auto">
              <a:xfrm rot="3463461">
                <a:off x="9328997" y="2812706"/>
                <a:ext cx="173819" cy="89696"/>
              </a:xfrm>
              <a:custGeom>
                <a:avLst/>
                <a:gdLst>
                  <a:gd name="T0" fmla="*/ 0 w 182"/>
                  <a:gd name="T1" fmla="*/ 2147483647 h 46"/>
                  <a:gd name="T2" fmla="*/ 2147483647 w 182"/>
                  <a:gd name="T3" fmla="*/ 0 h 46"/>
                  <a:gd name="T4" fmla="*/ 2147483647 w 182"/>
                  <a:gd name="T5" fmla="*/ 2147483647 h 46"/>
                  <a:gd name="T6" fmla="*/ 2147483647 w 182"/>
                  <a:gd name="T7" fmla="*/ 0 h 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 h="46">
                    <a:moveTo>
                      <a:pt x="0" y="46"/>
                    </a:moveTo>
                    <a:lnTo>
                      <a:pt x="91" y="0"/>
                    </a:lnTo>
                    <a:lnTo>
                      <a:pt x="91" y="46"/>
                    </a:lnTo>
                    <a:lnTo>
                      <a:pt x="182" y="0"/>
                    </a:lnTo>
                  </a:path>
                </a:pathLst>
              </a:custGeom>
              <a:noFill/>
              <a:ln w="9525" cap="flat" cmpd="sng">
                <a:solidFill>
                  <a:schemeClr val="tx1"/>
                </a:solidFill>
                <a:prstDash val="solid"/>
                <a:round/>
                <a:headEn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30064" name="AutoShape 36"/>
            <p:cNvCxnSpPr>
              <a:cxnSpLocks noChangeShapeType="1"/>
            </p:cNvCxnSpPr>
            <p:nvPr/>
          </p:nvCxnSpPr>
          <p:spPr bwMode="auto">
            <a:xfrm flipV="1">
              <a:off x="3378737" y="2495921"/>
              <a:ext cx="678922" cy="43155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065" name="AutoShape 50"/>
            <p:cNvCxnSpPr>
              <a:cxnSpLocks noChangeShapeType="1"/>
              <a:endCxn id="130078" idx="2"/>
            </p:cNvCxnSpPr>
            <p:nvPr/>
          </p:nvCxnSpPr>
          <p:spPr bwMode="auto">
            <a:xfrm rot="5400000" flipH="1" flipV="1">
              <a:off x="1122027" y="3236167"/>
              <a:ext cx="781608" cy="5640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0066" name="그룹 117"/>
            <p:cNvGrpSpPr>
              <a:grpSpLocks/>
            </p:cNvGrpSpPr>
            <p:nvPr/>
          </p:nvGrpSpPr>
          <p:grpSpPr bwMode="auto">
            <a:xfrm>
              <a:off x="1758237" y="2755296"/>
              <a:ext cx="437499" cy="414632"/>
              <a:chOff x="1758237" y="2724474"/>
              <a:chExt cx="437499" cy="414632"/>
            </a:xfrm>
          </p:grpSpPr>
          <p:sp>
            <p:nvSpPr>
              <p:cNvPr id="130078" name="Oval 39"/>
              <p:cNvSpPr>
                <a:spLocks noChangeArrowheads="1"/>
              </p:cNvSpPr>
              <p:nvPr/>
            </p:nvSpPr>
            <p:spPr bwMode="auto">
              <a:xfrm>
                <a:off x="1794848" y="3054007"/>
                <a:ext cx="13362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0079" name="Oval 40"/>
              <p:cNvSpPr>
                <a:spLocks noChangeArrowheads="1"/>
              </p:cNvSpPr>
              <p:nvPr/>
            </p:nvSpPr>
            <p:spPr bwMode="auto">
              <a:xfrm>
                <a:off x="2063937" y="3054007"/>
                <a:ext cx="13179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0080" name="Line 42"/>
              <p:cNvSpPr>
                <a:spLocks noChangeShapeType="1"/>
              </p:cNvSpPr>
              <p:nvPr/>
            </p:nvSpPr>
            <p:spPr bwMode="auto">
              <a:xfrm>
                <a:off x="1822306" y="3001499"/>
                <a:ext cx="3642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0081" name="Line 43"/>
              <p:cNvSpPr>
                <a:spLocks noChangeShapeType="1"/>
              </p:cNvSpPr>
              <p:nvPr/>
            </p:nvSpPr>
            <p:spPr bwMode="auto">
              <a:xfrm>
                <a:off x="2001699" y="2945369"/>
                <a:ext cx="0" cy="561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0082" name="Text Box 62"/>
              <p:cNvSpPr txBox="1">
                <a:spLocks noChangeArrowheads="1"/>
              </p:cNvSpPr>
              <p:nvPr/>
            </p:nvSpPr>
            <p:spPr bwMode="auto">
              <a:xfrm>
                <a:off x="1758237" y="2724474"/>
                <a:ext cx="419194" cy="24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PB2</a:t>
                </a:r>
              </a:p>
            </p:txBody>
          </p:sp>
        </p:grpSp>
        <p:sp>
          <p:nvSpPr>
            <p:cNvPr id="130067" name="Line 52"/>
            <p:cNvSpPr>
              <a:spLocks noChangeShapeType="1"/>
            </p:cNvSpPr>
            <p:nvPr/>
          </p:nvSpPr>
          <p:spPr bwMode="auto">
            <a:xfrm>
              <a:off x="2804288" y="3129089"/>
              <a:ext cx="2684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cxnSp>
          <p:nvCxnSpPr>
            <p:cNvPr id="130068" name="AutoShape 50"/>
            <p:cNvCxnSpPr>
              <a:cxnSpLocks noChangeShapeType="1"/>
            </p:cNvCxnSpPr>
            <p:nvPr/>
          </p:nvCxnSpPr>
          <p:spPr bwMode="auto">
            <a:xfrm rot="5400000" flipH="1" flipV="1">
              <a:off x="1937044" y="2553151"/>
              <a:ext cx="706889" cy="2118862"/>
            </a:xfrm>
            <a:prstGeom prst="bentConnector3">
              <a:avLst>
                <a:gd name="adj1" fmla="val -104958"/>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0069" name="Group 41"/>
            <p:cNvGrpSpPr>
              <a:grpSpLocks/>
            </p:cNvGrpSpPr>
            <p:nvPr/>
          </p:nvGrpSpPr>
          <p:grpSpPr bwMode="auto">
            <a:xfrm>
              <a:off x="5081652" y="3831327"/>
              <a:ext cx="350252" cy="45461"/>
              <a:chOff x="1292" y="2568"/>
              <a:chExt cx="182" cy="34"/>
            </a:xfrm>
          </p:grpSpPr>
          <p:sp>
            <p:nvSpPr>
              <p:cNvPr id="130076" name="Line 42"/>
              <p:cNvSpPr>
                <a:spLocks noChangeShapeType="1"/>
              </p:cNvSpPr>
              <p:nvPr/>
            </p:nvSpPr>
            <p:spPr bwMode="auto">
              <a:xfrm>
                <a:off x="1292" y="2568"/>
                <a:ext cx="18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0077" name="Line 43"/>
              <p:cNvSpPr>
                <a:spLocks noChangeShapeType="1"/>
              </p:cNvSpPr>
              <p:nvPr/>
            </p:nvSpPr>
            <p:spPr bwMode="auto">
              <a:xfrm>
                <a:off x="1334" y="2602"/>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0070" name="Text Box 57"/>
            <p:cNvSpPr txBox="1">
              <a:spLocks noChangeArrowheads="1"/>
            </p:cNvSpPr>
            <p:nvPr/>
          </p:nvSpPr>
          <p:spPr bwMode="auto">
            <a:xfrm>
              <a:off x="5581501" y="3688457"/>
              <a:ext cx="565150" cy="294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10V</a:t>
              </a:r>
            </a:p>
          </p:txBody>
        </p:sp>
        <p:cxnSp>
          <p:nvCxnSpPr>
            <p:cNvPr id="130071" name="AutoShape 50"/>
            <p:cNvCxnSpPr>
              <a:cxnSpLocks noChangeShapeType="1"/>
            </p:cNvCxnSpPr>
            <p:nvPr/>
          </p:nvCxnSpPr>
          <p:spPr bwMode="auto">
            <a:xfrm flipV="1">
              <a:off x="3278177" y="3876788"/>
              <a:ext cx="1960502" cy="82930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072" name="Text Box 59"/>
            <p:cNvSpPr txBox="1">
              <a:spLocks noChangeArrowheads="1"/>
            </p:cNvSpPr>
            <p:nvPr/>
          </p:nvSpPr>
          <p:spPr bwMode="auto">
            <a:xfrm>
              <a:off x="4398441" y="2132856"/>
              <a:ext cx="1109663" cy="294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R=330</a:t>
              </a:r>
            </a:p>
          </p:txBody>
        </p:sp>
        <p:sp>
          <p:nvSpPr>
            <p:cNvPr id="130073" name="Freeform 23"/>
            <p:cNvSpPr>
              <a:spLocks/>
            </p:cNvSpPr>
            <p:nvPr/>
          </p:nvSpPr>
          <p:spPr bwMode="auto">
            <a:xfrm>
              <a:off x="4566141" y="2420888"/>
              <a:ext cx="289699" cy="177562"/>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solidFill>
              <a:schemeClr val="bg1"/>
            </a:solidFill>
            <a:ln w="9525" cap="flat" cmpd="sng">
              <a:solidFill>
                <a:schemeClr val="tx1"/>
              </a:solidFill>
              <a:prstDash val="solid"/>
              <a:round/>
              <a:headEnd/>
              <a:tailEnd/>
            </a:ln>
          </p:spPr>
          <p:txBody>
            <a:bodyPr wrap="none" anchor="ctr"/>
            <a:lstStyle/>
            <a:p>
              <a:endParaRPr lang="ko-KR" altLang="en-US"/>
            </a:p>
          </p:txBody>
        </p:sp>
        <p:cxnSp>
          <p:nvCxnSpPr>
            <p:cNvPr id="130074" name="AutoShape 50"/>
            <p:cNvCxnSpPr>
              <a:cxnSpLocks noChangeShapeType="1"/>
            </p:cNvCxnSpPr>
            <p:nvPr/>
          </p:nvCxnSpPr>
          <p:spPr bwMode="auto">
            <a:xfrm rot="16200000" flipV="1">
              <a:off x="4393006" y="2958757"/>
              <a:ext cx="1300824" cy="394201"/>
            </a:xfrm>
            <a:prstGeom prst="bentConnector3">
              <a:avLst>
                <a:gd name="adj1" fmla="val 9906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075" name="Line 52"/>
            <p:cNvSpPr>
              <a:spLocks noChangeShapeType="1"/>
            </p:cNvSpPr>
            <p:nvPr/>
          </p:nvSpPr>
          <p:spPr bwMode="auto">
            <a:xfrm>
              <a:off x="4206766" y="2505445"/>
              <a:ext cx="3652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0054" name="Text Box 36"/>
          <p:cNvSpPr txBox="1">
            <a:spLocks noChangeArrowheads="1"/>
          </p:cNvSpPr>
          <p:nvPr/>
        </p:nvSpPr>
        <p:spPr bwMode="auto">
          <a:xfrm>
            <a:off x="1189038" y="5013325"/>
            <a:ext cx="3173412"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Sensor loại NPN</a:t>
            </a:r>
          </a:p>
          <a:p>
            <a:pPr eaLnBrk="1" hangingPunct="1"/>
            <a:r>
              <a:rPr lang="en-US" altLang="ko-KR">
                <a:latin typeface="Times New Roman" pitchFamily="18" charset="0"/>
                <a:cs typeface="Times New Roman" pitchFamily="18" charset="0"/>
              </a:rPr>
              <a:t>    - Tải đặt lên màu nâu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màu đen(OUT).</a:t>
            </a:r>
          </a:p>
          <a:p>
            <a:pPr eaLnBrk="1" hangingPunct="1"/>
            <a:r>
              <a:rPr lang="en-US" altLang="ko-KR">
                <a:latin typeface="Times New Roman" pitchFamily="18" charset="0"/>
                <a:cs typeface="Times New Roman" pitchFamily="18" charset="0"/>
              </a:rPr>
              <a:t>    - Khi Sensor ở trạng thái On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0V được tạo</a:t>
            </a:r>
            <a:endParaRPr lang="ko-KR" altLang="en-US">
              <a:latin typeface="Times New Roman" pitchFamily="18" charset="0"/>
              <a:cs typeface="Times New Roman" pitchFamily="18" charset="0"/>
            </a:endParaRPr>
          </a:p>
        </p:txBody>
      </p:sp>
      <p:sp>
        <p:nvSpPr>
          <p:cNvPr id="130055"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30056"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3BC7ABB-73E7-4A7E-8186-3DD5B350109C}" type="slidenum">
              <a:rPr lang="en-US" altLang="ko-KR" sz="1400" smtClean="0">
                <a:latin typeface="Times New Roman" pitchFamily="18" charset="0"/>
                <a:cs typeface="Times New Roman" pitchFamily="18" charset="0"/>
              </a:rPr>
              <a:pPr eaLnBrk="1" hangingPunct="1"/>
              <a:t>123</a:t>
            </a:fld>
            <a:endParaRPr lang="en-US" altLang="ko-KR" sz="1400" smtClean="0">
              <a:latin typeface="Times New Roman" pitchFamily="18" charset="0"/>
              <a:cs typeface="Times New Roman" pitchFamily="18" charset="0"/>
            </a:endParaRPr>
          </a:p>
        </p:txBody>
      </p:sp>
      <p:sp>
        <p:nvSpPr>
          <p:cNvPr id="131075" name="Text Box 2"/>
          <p:cNvSpPr txBox="1">
            <a:spLocks noChangeArrowheads="1"/>
          </p:cNvSpPr>
          <p:nvPr/>
        </p:nvSpPr>
        <p:spPr bwMode="auto">
          <a:xfrm>
            <a:off x="684213" y="892175"/>
            <a:ext cx="17303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1-5. Transistor </a:t>
            </a:r>
            <a:r>
              <a:rPr lang="en-US" altLang="en-US" sz="1400" b="1">
                <a:latin typeface="Times New Roman" pitchFamily="18" charset="0"/>
                <a:cs typeface="Times New Roman" pitchFamily="18" charset="0"/>
              </a:rPr>
              <a:t>PNP </a:t>
            </a:r>
            <a:endParaRPr lang="en-US" altLang="ko-KR" sz="1400" b="1">
              <a:latin typeface="Times New Roman" pitchFamily="18" charset="0"/>
              <a:cs typeface="Times New Roman" pitchFamily="18" charset="0"/>
            </a:endParaRPr>
          </a:p>
        </p:txBody>
      </p:sp>
      <p:sp>
        <p:nvSpPr>
          <p:cNvPr id="131076" name="Rectangle 3"/>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Đặc tính của PNP</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Transistor pnp được cấu tạo bởi hai lớp p và n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5-10(a). Người ta gọi một cực của lớp p là cực thu hay cực góp</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(collector), cực khác của lớp p là cực phát (emitter), và cực của lớp n ở giữa là cực gốc (base).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5-10(b)</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thể hiện ký hiệu đó</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a:t>
            </a:r>
          </a:p>
        </p:txBody>
      </p:sp>
      <p:sp>
        <p:nvSpPr>
          <p:cNvPr id="131077"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31078" name="Text Box 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3107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700213"/>
            <a:ext cx="4116387"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8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5" y="4376738"/>
            <a:ext cx="442595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8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1500" y="5013325"/>
            <a:ext cx="11557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1082" name="Text Box 11"/>
          <p:cNvSpPr txBox="1">
            <a:spLocks noChangeArrowheads="1"/>
          </p:cNvSpPr>
          <p:nvPr/>
        </p:nvSpPr>
        <p:spPr bwMode="auto">
          <a:xfrm>
            <a:off x="5235575" y="4491038"/>
            <a:ext cx="24193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Độ lợi dòng điện của cực gốc chung</a:t>
            </a:r>
            <a:endParaRPr lang="ko-KR" altLang="en-US">
              <a:latin typeface="Times New Roman" pitchFamily="18" charset="0"/>
              <a:cs typeface="Times New Roman" pitchFamily="18" charset="0"/>
            </a:endParaRPr>
          </a:p>
        </p:txBody>
      </p:sp>
      <p:sp>
        <p:nvSpPr>
          <p:cNvPr id="131083" name="직사각형 10"/>
          <p:cNvSpPr>
            <a:spLocks noChangeArrowheads="1"/>
          </p:cNvSpPr>
          <p:nvPr/>
        </p:nvSpPr>
        <p:spPr bwMode="auto">
          <a:xfrm>
            <a:off x="2843213" y="3284538"/>
            <a:ext cx="331311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5-10 Cấu tạo và ký hiệu của transistor pnp</a:t>
            </a:r>
            <a:endParaRPr lang="ko-KR" altLang="en-US">
              <a:latin typeface="Times New Roman" pitchFamily="18" charset="0"/>
              <a:cs typeface="Times New Roman" pitchFamily="18" charset="0"/>
            </a:endParaRPr>
          </a:p>
        </p:txBody>
      </p:sp>
      <p:sp>
        <p:nvSpPr>
          <p:cNvPr id="131084" name="직사각형 11"/>
          <p:cNvSpPr>
            <a:spLocks noChangeArrowheads="1"/>
          </p:cNvSpPr>
          <p:nvPr/>
        </p:nvSpPr>
        <p:spPr bwMode="auto">
          <a:xfrm>
            <a:off x="2727325" y="2833688"/>
            <a:ext cx="11969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Cấu tạo pnp</a:t>
            </a:r>
            <a:endParaRPr lang="ko-KR" altLang="en-US">
              <a:latin typeface="Times New Roman" pitchFamily="18" charset="0"/>
              <a:cs typeface="Times New Roman" pitchFamily="18" charset="0"/>
            </a:endParaRPr>
          </a:p>
        </p:txBody>
      </p:sp>
      <p:sp>
        <p:nvSpPr>
          <p:cNvPr id="131085" name="직사각형 12"/>
          <p:cNvSpPr>
            <a:spLocks noChangeArrowheads="1"/>
          </p:cNvSpPr>
          <p:nvPr/>
        </p:nvSpPr>
        <p:spPr bwMode="auto">
          <a:xfrm>
            <a:off x="4814888" y="2852738"/>
            <a:ext cx="11969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Ký hiệu pnp</a:t>
            </a:r>
            <a:endParaRPr lang="ko-KR" altLang="en-US">
              <a:latin typeface="Times New Roman" pitchFamily="18" charset="0"/>
              <a:cs typeface="Times New Roman" pitchFamily="18" charset="0"/>
            </a:endParaRPr>
          </a:p>
        </p:txBody>
      </p:sp>
      <p:sp>
        <p:nvSpPr>
          <p:cNvPr id="131086" name="직사각형 13"/>
          <p:cNvSpPr>
            <a:spLocks noChangeArrowheads="1"/>
          </p:cNvSpPr>
          <p:nvPr/>
        </p:nvSpPr>
        <p:spPr bwMode="auto">
          <a:xfrm>
            <a:off x="1570038" y="1916113"/>
            <a:ext cx="12541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phát(emitter)</a:t>
            </a:r>
            <a:endParaRPr lang="ko-KR" altLang="en-US">
              <a:latin typeface="Times New Roman" pitchFamily="18" charset="0"/>
              <a:cs typeface="Times New Roman" pitchFamily="18" charset="0"/>
            </a:endParaRPr>
          </a:p>
        </p:txBody>
      </p:sp>
      <p:sp>
        <p:nvSpPr>
          <p:cNvPr id="131087" name="직사각형 14"/>
          <p:cNvSpPr>
            <a:spLocks noChangeArrowheads="1"/>
          </p:cNvSpPr>
          <p:nvPr/>
        </p:nvSpPr>
        <p:spPr bwMode="auto">
          <a:xfrm>
            <a:off x="2776538" y="2420938"/>
            <a:ext cx="1147762"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gốc(base)</a:t>
            </a:r>
            <a:endParaRPr lang="ko-KR" altLang="en-US">
              <a:latin typeface="Times New Roman" pitchFamily="18" charset="0"/>
              <a:cs typeface="Times New Roman" pitchFamily="18" charset="0"/>
            </a:endParaRPr>
          </a:p>
        </p:txBody>
      </p:sp>
      <p:sp>
        <p:nvSpPr>
          <p:cNvPr id="131088" name="직사각형 15"/>
          <p:cNvSpPr>
            <a:spLocks noChangeArrowheads="1"/>
          </p:cNvSpPr>
          <p:nvPr/>
        </p:nvSpPr>
        <p:spPr bwMode="auto">
          <a:xfrm>
            <a:off x="4937125" y="2636838"/>
            <a:ext cx="1147763"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gốc(base)</a:t>
            </a:r>
            <a:endParaRPr lang="ko-KR" altLang="en-US">
              <a:latin typeface="Times New Roman" pitchFamily="18" charset="0"/>
              <a:cs typeface="Times New Roman" pitchFamily="18" charset="0"/>
            </a:endParaRPr>
          </a:p>
        </p:txBody>
      </p:sp>
      <p:sp>
        <p:nvSpPr>
          <p:cNvPr id="131089" name="직사각형 16"/>
          <p:cNvSpPr>
            <a:spLocks noChangeArrowheads="1"/>
          </p:cNvSpPr>
          <p:nvPr/>
        </p:nvSpPr>
        <p:spPr bwMode="auto">
          <a:xfrm>
            <a:off x="3779838" y="1955800"/>
            <a:ext cx="808037" cy="4651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thu (collector)</a:t>
            </a:r>
            <a:endParaRPr lang="ko-KR" altLang="en-US">
              <a:latin typeface="Times New Roman" pitchFamily="18" charset="0"/>
              <a:cs typeface="Times New Roman" pitchFamily="18" charset="0"/>
            </a:endParaRPr>
          </a:p>
        </p:txBody>
      </p:sp>
      <p:sp>
        <p:nvSpPr>
          <p:cNvPr id="131090" name="직사각형 17"/>
          <p:cNvSpPr>
            <a:spLocks noChangeArrowheads="1"/>
          </p:cNvSpPr>
          <p:nvPr/>
        </p:nvSpPr>
        <p:spPr bwMode="auto">
          <a:xfrm>
            <a:off x="4587875" y="1920875"/>
            <a:ext cx="704850" cy="7159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Cực phát (emitter)</a:t>
            </a:r>
            <a:endParaRPr lang="ko-KR" altLang="en-US">
              <a:latin typeface="Times New Roman" pitchFamily="18" charset="0"/>
              <a:cs typeface="Times New Roman" pitchFamily="18" charset="0"/>
            </a:endParaRPr>
          </a:p>
        </p:txBody>
      </p:sp>
      <p:sp>
        <p:nvSpPr>
          <p:cNvPr id="131091" name="직사각형 18"/>
          <p:cNvSpPr>
            <a:spLocks noChangeArrowheads="1"/>
          </p:cNvSpPr>
          <p:nvPr/>
        </p:nvSpPr>
        <p:spPr bwMode="auto">
          <a:xfrm>
            <a:off x="5934075" y="1916113"/>
            <a:ext cx="808038" cy="4651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Cực thu (collector)</a:t>
            </a:r>
            <a:endParaRPr lang="ko-KR" altLang="en-US">
              <a:latin typeface="Times New Roman" pitchFamily="18" charset="0"/>
              <a:cs typeface="Times New Roman" pitchFamily="18" charset="0"/>
            </a:endParaRPr>
          </a:p>
        </p:txBody>
      </p:sp>
      <p:sp>
        <p:nvSpPr>
          <p:cNvPr id="131092" name="직사각형 19"/>
          <p:cNvSpPr>
            <a:spLocks noChangeArrowheads="1"/>
          </p:cNvSpPr>
          <p:nvPr/>
        </p:nvSpPr>
        <p:spPr bwMode="auto">
          <a:xfrm>
            <a:off x="1042988" y="6165850"/>
            <a:ext cx="4240212"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5-11 Kết nối dây Transistor cực gốc chung (common base)</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4F10A9D5-3550-4B30-A5F3-72AFBAFA7F33}" type="slidenum">
              <a:rPr lang="en-US" altLang="ko-KR" sz="1400" smtClean="0">
                <a:latin typeface="Times New Roman" pitchFamily="18" charset="0"/>
                <a:cs typeface="Times New Roman" pitchFamily="18" charset="0"/>
              </a:rPr>
              <a:pPr eaLnBrk="1" hangingPunct="1"/>
              <a:t>124</a:t>
            </a:fld>
            <a:endParaRPr lang="en-US" altLang="ko-KR" sz="1400" smtClean="0">
              <a:latin typeface="Times New Roman" pitchFamily="18" charset="0"/>
              <a:cs typeface="Times New Roman" pitchFamily="18" charset="0"/>
            </a:endParaRPr>
          </a:p>
        </p:txBody>
      </p:sp>
      <p:sp>
        <p:nvSpPr>
          <p:cNvPr id="132099"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32100" name="Rectangle 3"/>
          <p:cNvSpPr>
            <a:spLocks noChangeArrowheads="1"/>
          </p:cNvSpPr>
          <p:nvPr/>
        </p:nvSpPr>
        <p:spPr bwMode="auto">
          <a:xfrm>
            <a:off x="971550" y="981075"/>
            <a:ext cx="7489825" cy="532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Sự hoạt động của Transistor PNP</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32101"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grpSp>
        <p:nvGrpSpPr>
          <p:cNvPr id="132102" name="Group 12"/>
          <p:cNvGrpSpPr>
            <a:grpSpLocks/>
          </p:cNvGrpSpPr>
          <p:nvPr/>
        </p:nvGrpSpPr>
        <p:grpSpPr bwMode="auto">
          <a:xfrm>
            <a:off x="2339975" y="2781300"/>
            <a:ext cx="419100" cy="428625"/>
            <a:chOff x="1474" y="1752"/>
            <a:chExt cx="264" cy="270"/>
          </a:xfrm>
        </p:grpSpPr>
        <p:sp>
          <p:nvSpPr>
            <p:cNvPr id="132149" name="Oval 5"/>
            <p:cNvSpPr>
              <a:spLocks noChangeArrowheads="1"/>
            </p:cNvSpPr>
            <p:nvPr/>
          </p:nvSpPr>
          <p:spPr bwMode="auto">
            <a:xfrm flipV="1">
              <a:off x="1474" y="1752"/>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50" name="Line 6"/>
            <p:cNvSpPr>
              <a:spLocks noChangeShapeType="1"/>
            </p:cNvSpPr>
            <p:nvPr/>
          </p:nvSpPr>
          <p:spPr bwMode="auto">
            <a:xfrm flipV="1">
              <a:off x="1534" y="1800"/>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51" name="Line 7"/>
            <p:cNvSpPr>
              <a:spLocks noChangeShapeType="1"/>
            </p:cNvSpPr>
            <p:nvPr/>
          </p:nvSpPr>
          <p:spPr bwMode="auto">
            <a:xfrm flipH="1" flipV="1">
              <a:off x="1534" y="1921"/>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52" name="Line 8"/>
            <p:cNvSpPr>
              <a:spLocks noChangeShapeType="1"/>
            </p:cNvSpPr>
            <p:nvPr/>
          </p:nvSpPr>
          <p:spPr bwMode="auto">
            <a:xfrm rot="10800000" flipV="1">
              <a:off x="1532" y="1775"/>
              <a:ext cx="121" cy="91"/>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2103" name="Line 10"/>
          <p:cNvSpPr>
            <a:spLocks noChangeShapeType="1"/>
          </p:cNvSpPr>
          <p:nvPr/>
        </p:nvSpPr>
        <p:spPr bwMode="auto">
          <a:xfrm>
            <a:off x="2627313" y="3173413"/>
            <a:ext cx="0" cy="863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04" name="Line 11"/>
          <p:cNvSpPr>
            <a:spLocks noChangeShapeType="1"/>
          </p:cNvSpPr>
          <p:nvPr/>
        </p:nvSpPr>
        <p:spPr bwMode="auto">
          <a:xfrm>
            <a:off x="2627313" y="1957388"/>
            <a:ext cx="0" cy="863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05" name="Line 13"/>
          <p:cNvSpPr>
            <a:spLocks noChangeShapeType="1"/>
          </p:cNvSpPr>
          <p:nvPr/>
        </p:nvSpPr>
        <p:spPr bwMode="auto">
          <a:xfrm flipH="1">
            <a:off x="1274763" y="2997200"/>
            <a:ext cx="11525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06" name="Arc 14"/>
          <p:cNvSpPr>
            <a:spLocks/>
          </p:cNvSpPr>
          <p:nvPr/>
        </p:nvSpPr>
        <p:spPr bwMode="auto">
          <a:xfrm rot="5400000" flipH="1" flipV="1">
            <a:off x="1763713" y="2132013"/>
            <a:ext cx="792162" cy="79216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prstDash val="sysDot"/>
            <a:round/>
            <a:headEnd type="stealth"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07" name="Rectangle 15"/>
          <p:cNvSpPr>
            <a:spLocks noChangeArrowheads="1"/>
          </p:cNvSpPr>
          <p:nvPr/>
        </p:nvSpPr>
        <p:spPr bwMode="auto">
          <a:xfrm>
            <a:off x="925513" y="2205038"/>
            <a:ext cx="1355725" cy="46196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V</a:t>
            </a:r>
            <a:r>
              <a:rPr lang="en-US" altLang="ko-KR" sz="1000" b="1" baseline="-25000">
                <a:latin typeface="Times New Roman" pitchFamily="18" charset="0"/>
                <a:cs typeface="Times New Roman" pitchFamily="18" charset="0"/>
              </a:rPr>
              <a:t>B</a:t>
            </a:r>
            <a:r>
              <a:rPr lang="en-US" altLang="ko-KR" sz="1000" b="1">
                <a:latin typeface="Times New Roman" pitchFamily="18" charset="0"/>
                <a:cs typeface="Times New Roman" pitchFamily="18" charset="0"/>
              </a:rPr>
              <a:t> phải thấp hơn</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V</a:t>
            </a:r>
            <a:r>
              <a:rPr lang="en-US" altLang="ko-KR" sz="1000" b="1" baseline="-25000">
                <a:latin typeface="Times New Roman" pitchFamily="18" charset="0"/>
                <a:cs typeface="Times New Roman" pitchFamily="18" charset="0"/>
              </a:rPr>
              <a:t>E </a:t>
            </a:r>
            <a:endParaRPr lang="ko-KR" altLang="en-US" sz="1000" b="1">
              <a:latin typeface="Times New Roman" pitchFamily="18" charset="0"/>
              <a:cs typeface="Times New Roman" pitchFamily="18" charset="0"/>
            </a:endParaRPr>
          </a:p>
          <a:p>
            <a:pPr algn="ctr" eaLnBrk="1" hangingPunct="1"/>
            <a:r>
              <a:rPr lang="en-US" altLang="ko-KR" sz="1000" b="1">
                <a:latin typeface="Times New Roman" pitchFamily="18" charset="0"/>
                <a:cs typeface="Times New Roman" pitchFamily="18" charset="0"/>
              </a:rPr>
              <a:t>khoảng trên</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0.7[V]</a:t>
            </a:r>
            <a:endParaRPr lang="ko-KR" altLang="en-US" sz="1000" b="1" baseline="-25000">
              <a:latin typeface="Times New Roman" pitchFamily="18" charset="0"/>
              <a:cs typeface="Times New Roman" pitchFamily="18" charset="0"/>
            </a:endParaRPr>
          </a:p>
        </p:txBody>
      </p:sp>
      <p:sp>
        <p:nvSpPr>
          <p:cNvPr id="132108" name="Text Box 16"/>
          <p:cNvSpPr txBox="1">
            <a:spLocks noChangeArrowheads="1"/>
          </p:cNvSpPr>
          <p:nvPr/>
        </p:nvSpPr>
        <p:spPr bwMode="auto">
          <a:xfrm>
            <a:off x="2700338" y="2060575"/>
            <a:ext cx="287337"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E</a:t>
            </a:r>
          </a:p>
        </p:txBody>
      </p:sp>
      <p:sp>
        <p:nvSpPr>
          <p:cNvPr id="132109" name="Text Box 17"/>
          <p:cNvSpPr txBox="1">
            <a:spLocks noChangeArrowheads="1"/>
          </p:cNvSpPr>
          <p:nvPr/>
        </p:nvSpPr>
        <p:spPr bwMode="auto">
          <a:xfrm>
            <a:off x="2700338" y="3429000"/>
            <a:ext cx="2952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C</a:t>
            </a:r>
          </a:p>
        </p:txBody>
      </p:sp>
      <p:sp>
        <p:nvSpPr>
          <p:cNvPr id="132110" name="Text Box 18"/>
          <p:cNvSpPr txBox="1">
            <a:spLocks noChangeArrowheads="1"/>
          </p:cNvSpPr>
          <p:nvPr/>
        </p:nvSpPr>
        <p:spPr bwMode="auto">
          <a:xfrm>
            <a:off x="1908175" y="3068638"/>
            <a:ext cx="287338"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B</a:t>
            </a:r>
          </a:p>
        </p:txBody>
      </p:sp>
      <p:sp>
        <p:nvSpPr>
          <p:cNvPr id="132111" name="Line 24"/>
          <p:cNvSpPr>
            <a:spLocks noChangeShapeType="1"/>
          </p:cNvSpPr>
          <p:nvPr/>
        </p:nvSpPr>
        <p:spPr bwMode="auto">
          <a:xfrm>
            <a:off x="4578350" y="2486025"/>
            <a:ext cx="6477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12" name="Line 30"/>
          <p:cNvSpPr>
            <a:spLocks noChangeShapeType="1"/>
          </p:cNvSpPr>
          <p:nvPr/>
        </p:nvSpPr>
        <p:spPr bwMode="auto">
          <a:xfrm>
            <a:off x="4578350" y="3641725"/>
            <a:ext cx="6477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2113" name="Group 36"/>
          <p:cNvGrpSpPr>
            <a:grpSpLocks/>
          </p:cNvGrpSpPr>
          <p:nvPr/>
        </p:nvGrpSpPr>
        <p:grpSpPr bwMode="auto">
          <a:xfrm>
            <a:off x="5867400" y="3860800"/>
            <a:ext cx="144463" cy="622300"/>
            <a:chOff x="912" y="816"/>
            <a:chExt cx="96" cy="720"/>
          </a:xfrm>
        </p:grpSpPr>
        <p:sp>
          <p:nvSpPr>
            <p:cNvPr id="132139" name="Line 37"/>
            <p:cNvSpPr>
              <a:spLocks noChangeShapeType="1"/>
            </p:cNvSpPr>
            <p:nvPr/>
          </p:nvSpPr>
          <p:spPr bwMode="auto">
            <a:xfrm>
              <a:off x="958" y="816"/>
              <a:ext cx="0" cy="24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2140" name="Group 38"/>
            <p:cNvGrpSpPr>
              <a:grpSpLocks/>
            </p:cNvGrpSpPr>
            <p:nvPr/>
          </p:nvGrpSpPr>
          <p:grpSpPr bwMode="auto">
            <a:xfrm>
              <a:off x="912" y="1056"/>
              <a:ext cx="96" cy="240"/>
              <a:chOff x="912" y="1056"/>
              <a:chExt cx="96" cy="336"/>
            </a:xfrm>
          </p:grpSpPr>
          <p:sp>
            <p:nvSpPr>
              <p:cNvPr id="132142" name="Line 39"/>
              <p:cNvSpPr>
                <a:spLocks noChangeShapeType="1"/>
              </p:cNvSpPr>
              <p:nvPr/>
            </p:nvSpPr>
            <p:spPr bwMode="auto">
              <a:xfrm>
                <a:off x="960" y="1056"/>
                <a:ext cx="48"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3" name="Line 40"/>
              <p:cNvSpPr>
                <a:spLocks noChangeShapeType="1"/>
              </p:cNvSpPr>
              <p:nvPr/>
            </p:nvSpPr>
            <p:spPr bwMode="auto">
              <a:xfrm flipH="1">
                <a:off x="912" y="1104"/>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4" name="Line 41"/>
              <p:cNvSpPr>
                <a:spLocks noChangeShapeType="1"/>
              </p:cNvSpPr>
              <p:nvPr/>
            </p:nvSpPr>
            <p:spPr bwMode="auto">
              <a:xfrm>
                <a:off x="912" y="1152"/>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5" name="Line 42"/>
              <p:cNvSpPr>
                <a:spLocks noChangeShapeType="1"/>
              </p:cNvSpPr>
              <p:nvPr/>
            </p:nvSpPr>
            <p:spPr bwMode="auto">
              <a:xfrm flipH="1">
                <a:off x="912" y="1200"/>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6" name="Line 43"/>
              <p:cNvSpPr>
                <a:spLocks noChangeShapeType="1"/>
              </p:cNvSpPr>
              <p:nvPr/>
            </p:nvSpPr>
            <p:spPr bwMode="auto">
              <a:xfrm>
                <a:off x="912" y="1248"/>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7" name="Line 44"/>
              <p:cNvSpPr>
                <a:spLocks noChangeShapeType="1"/>
              </p:cNvSpPr>
              <p:nvPr/>
            </p:nvSpPr>
            <p:spPr bwMode="auto">
              <a:xfrm flipH="1">
                <a:off x="912" y="1296"/>
                <a:ext cx="96"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48" name="Line 45"/>
              <p:cNvSpPr>
                <a:spLocks noChangeShapeType="1"/>
              </p:cNvSpPr>
              <p:nvPr/>
            </p:nvSpPr>
            <p:spPr bwMode="auto">
              <a:xfrm>
                <a:off x="912" y="1344"/>
                <a:ext cx="48" cy="4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2141" name="Line 46"/>
            <p:cNvSpPr>
              <a:spLocks noChangeShapeType="1"/>
            </p:cNvSpPr>
            <p:nvPr/>
          </p:nvSpPr>
          <p:spPr bwMode="auto">
            <a:xfrm>
              <a:off x="960" y="1296"/>
              <a:ext cx="0" cy="24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2114" name="Freeform 48"/>
          <p:cNvSpPr>
            <a:spLocks/>
          </p:cNvSpPr>
          <p:nvPr/>
        </p:nvSpPr>
        <p:spPr bwMode="auto">
          <a:xfrm flipV="1">
            <a:off x="5476875" y="2676525"/>
            <a:ext cx="463550" cy="1184275"/>
          </a:xfrm>
          <a:custGeom>
            <a:avLst/>
            <a:gdLst>
              <a:gd name="T0" fmla="*/ 0 w 227"/>
              <a:gd name="T1" fmla="*/ 2147483647 h 317"/>
              <a:gd name="T2" fmla="*/ 2147483647 w 227"/>
              <a:gd name="T3" fmla="*/ 2147483647 h 317"/>
              <a:gd name="T4" fmla="*/ 2147483647 w 227"/>
              <a:gd name="T5" fmla="*/ 0 h 317"/>
              <a:gd name="T6" fmla="*/ 0 60000 65536"/>
              <a:gd name="T7" fmla="*/ 0 60000 65536"/>
              <a:gd name="T8" fmla="*/ 0 60000 65536"/>
            </a:gdLst>
            <a:ahLst/>
            <a:cxnLst>
              <a:cxn ang="T6">
                <a:pos x="T0" y="T1"/>
              </a:cxn>
              <a:cxn ang="T7">
                <a:pos x="T2" y="T3"/>
              </a:cxn>
              <a:cxn ang="T8">
                <a:pos x="T4" y="T5"/>
              </a:cxn>
            </a:cxnLst>
            <a:rect l="0" t="0" r="r" b="b"/>
            <a:pathLst>
              <a:path w="227" h="317">
                <a:moveTo>
                  <a:pt x="0" y="317"/>
                </a:moveTo>
                <a:lnTo>
                  <a:pt x="227" y="317"/>
                </a:lnTo>
                <a:lnTo>
                  <a:pt x="227"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15" name="Oval 49"/>
          <p:cNvSpPr>
            <a:spLocks noChangeArrowheads="1"/>
          </p:cNvSpPr>
          <p:nvPr/>
        </p:nvSpPr>
        <p:spPr bwMode="auto">
          <a:xfrm>
            <a:off x="5908675" y="3795713"/>
            <a:ext cx="73025" cy="73025"/>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32116" name="Group 51"/>
          <p:cNvGrpSpPr>
            <a:grpSpLocks/>
          </p:cNvGrpSpPr>
          <p:nvPr/>
        </p:nvGrpSpPr>
        <p:grpSpPr bwMode="auto">
          <a:xfrm>
            <a:off x="5795963" y="4500563"/>
            <a:ext cx="287337" cy="71437"/>
            <a:chOff x="3969" y="3793"/>
            <a:chExt cx="181" cy="91"/>
          </a:xfrm>
        </p:grpSpPr>
        <p:sp>
          <p:nvSpPr>
            <p:cNvPr id="132135" name="Line 52"/>
            <p:cNvSpPr>
              <a:spLocks noChangeShapeType="1"/>
            </p:cNvSpPr>
            <p:nvPr/>
          </p:nvSpPr>
          <p:spPr bwMode="auto">
            <a:xfrm>
              <a:off x="3969" y="3793"/>
              <a:ext cx="18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2136" name="Line 53"/>
            <p:cNvSpPr>
              <a:spLocks noChangeShapeType="1"/>
            </p:cNvSpPr>
            <p:nvPr/>
          </p:nvSpPr>
          <p:spPr bwMode="auto">
            <a:xfrm flipH="1">
              <a:off x="4014"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2137" name="Line 54"/>
            <p:cNvSpPr>
              <a:spLocks noChangeShapeType="1"/>
            </p:cNvSpPr>
            <p:nvPr/>
          </p:nvSpPr>
          <p:spPr bwMode="auto">
            <a:xfrm flipH="1">
              <a:off x="396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2138" name="Line 55"/>
            <p:cNvSpPr>
              <a:spLocks noChangeShapeType="1"/>
            </p:cNvSpPr>
            <p:nvPr/>
          </p:nvSpPr>
          <p:spPr bwMode="auto">
            <a:xfrm flipH="1">
              <a:off x="4059" y="3793"/>
              <a:ext cx="45"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2117" name="Line 57"/>
          <p:cNvSpPr>
            <a:spLocks noChangeShapeType="1"/>
          </p:cNvSpPr>
          <p:nvPr/>
        </p:nvSpPr>
        <p:spPr bwMode="auto">
          <a:xfrm>
            <a:off x="5940425" y="3827463"/>
            <a:ext cx="8651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2118" name="Oval 58"/>
          <p:cNvSpPr>
            <a:spLocks noChangeArrowheads="1"/>
          </p:cNvSpPr>
          <p:nvPr/>
        </p:nvSpPr>
        <p:spPr bwMode="auto">
          <a:xfrm>
            <a:off x="4502150" y="2444750"/>
            <a:ext cx="71438"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19" name="Oval 59"/>
          <p:cNvSpPr>
            <a:spLocks noChangeArrowheads="1"/>
          </p:cNvSpPr>
          <p:nvPr/>
        </p:nvSpPr>
        <p:spPr bwMode="auto">
          <a:xfrm>
            <a:off x="4502150" y="3605213"/>
            <a:ext cx="71438"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20" name="Oval 60"/>
          <p:cNvSpPr>
            <a:spLocks noChangeArrowheads="1"/>
          </p:cNvSpPr>
          <p:nvPr/>
        </p:nvSpPr>
        <p:spPr bwMode="auto">
          <a:xfrm>
            <a:off x="6805613" y="3787775"/>
            <a:ext cx="71437" cy="73025"/>
          </a:xfrm>
          <a:prstGeom prst="ellipse">
            <a:avLst/>
          </a:prstGeom>
          <a:solidFill>
            <a:schemeClr val="bg1"/>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21" name="Text Box 61"/>
          <p:cNvSpPr txBox="1">
            <a:spLocks noChangeArrowheads="1"/>
          </p:cNvSpPr>
          <p:nvPr/>
        </p:nvSpPr>
        <p:spPr bwMode="auto">
          <a:xfrm>
            <a:off x="4572000" y="4797425"/>
            <a:ext cx="21701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cs typeface="Times New Roman" pitchFamily="18" charset="0"/>
              </a:rPr>
              <a:t>&lt; Chức năng đóng mở của Transistor&gt;</a:t>
            </a:r>
          </a:p>
        </p:txBody>
      </p:sp>
      <p:grpSp>
        <p:nvGrpSpPr>
          <p:cNvPr id="132122" name="Group 62"/>
          <p:cNvGrpSpPr>
            <a:grpSpLocks/>
          </p:cNvGrpSpPr>
          <p:nvPr/>
        </p:nvGrpSpPr>
        <p:grpSpPr bwMode="auto">
          <a:xfrm>
            <a:off x="5164138" y="2268538"/>
            <a:ext cx="419100" cy="428625"/>
            <a:chOff x="1474" y="1752"/>
            <a:chExt cx="264" cy="270"/>
          </a:xfrm>
        </p:grpSpPr>
        <p:sp>
          <p:nvSpPr>
            <p:cNvPr id="132131" name="Oval 63"/>
            <p:cNvSpPr>
              <a:spLocks noChangeArrowheads="1"/>
            </p:cNvSpPr>
            <p:nvPr/>
          </p:nvSpPr>
          <p:spPr bwMode="auto">
            <a:xfrm flipV="1">
              <a:off x="1474" y="1752"/>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32" name="Line 64"/>
            <p:cNvSpPr>
              <a:spLocks noChangeShapeType="1"/>
            </p:cNvSpPr>
            <p:nvPr/>
          </p:nvSpPr>
          <p:spPr bwMode="auto">
            <a:xfrm flipV="1">
              <a:off x="1534" y="1800"/>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33" name="Line 65"/>
            <p:cNvSpPr>
              <a:spLocks noChangeShapeType="1"/>
            </p:cNvSpPr>
            <p:nvPr/>
          </p:nvSpPr>
          <p:spPr bwMode="auto">
            <a:xfrm flipH="1" flipV="1">
              <a:off x="1534" y="1921"/>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34" name="Line 66"/>
            <p:cNvSpPr>
              <a:spLocks noChangeShapeType="1"/>
            </p:cNvSpPr>
            <p:nvPr/>
          </p:nvSpPr>
          <p:spPr bwMode="auto">
            <a:xfrm rot="10800000" flipV="1">
              <a:off x="1532" y="1775"/>
              <a:ext cx="121" cy="91"/>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32123" name="Group 67"/>
          <p:cNvGrpSpPr>
            <a:grpSpLocks/>
          </p:cNvGrpSpPr>
          <p:nvPr/>
        </p:nvGrpSpPr>
        <p:grpSpPr bwMode="auto">
          <a:xfrm>
            <a:off x="5148263" y="3429000"/>
            <a:ext cx="419100" cy="428625"/>
            <a:chOff x="1474" y="1752"/>
            <a:chExt cx="264" cy="270"/>
          </a:xfrm>
        </p:grpSpPr>
        <p:sp>
          <p:nvSpPr>
            <p:cNvPr id="132127" name="Oval 68"/>
            <p:cNvSpPr>
              <a:spLocks noChangeArrowheads="1"/>
            </p:cNvSpPr>
            <p:nvPr/>
          </p:nvSpPr>
          <p:spPr bwMode="auto">
            <a:xfrm flipV="1">
              <a:off x="1474" y="1752"/>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2128" name="Line 69"/>
            <p:cNvSpPr>
              <a:spLocks noChangeShapeType="1"/>
            </p:cNvSpPr>
            <p:nvPr/>
          </p:nvSpPr>
          <p:spPr bwMode="auto">
            <a:xfrm flipV="1">
              <a:off x="1534" y="1800"/>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29" name="Line 70"/>
            <p:cNvSpPr>
              <a:spLocks noChangeShapeType="1"/>
            </p:cNvSpPr>
            <p:nvPr/>
          </p:nvSpPr>
          <p:spPr bwMode="auto">
            <a:xfrm flipH="1" flipV="1">
              <a:off x="1534" y="1921"/>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30" name="Line 71"/>
            <p:cNvSpPr>
              <a:spLocks noChangeShapeType="1"/>
            </p:cNvSpPr>
            <p:nvPr/>
          </p:nvSpPr>
          <p:spPr bwMode="auto">
            <a:xfrm rot="10800000" flipV="1">
              <a:off x="1532" y="1775"/>
              <a:ext cx="121" cy="91"/>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2124" name="Line 72"/>
          <p:cNvSpPr>
            <a:spLocks noChangeShapeType="1"/>
          </p:cNvSpPr>
          <p:nvPr/>
        </p:nvSpPr>
        <p:spPr bwMode="auto">
          <a:xfrm flipV="1">
            <a:off x="5435600" y="1844675"/>
            <a:ext cx="0" cy="4318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25" name="Line 73"/>
          <p:cNvSpPr>
            <a:spLocks noChangeShapeType="1"/>
          </p:cNvSpPr>
          <p:nvPr/>
        </p:nvSpPr>
        <p:spPr bwMode="auto">
          <a:xfrm flipV="1">
            <a:off x="5435600" y="2997200"/>
            <a:ext cx="0" cy="4318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2126" name="Line 74"/>
          <p:cNvSpPr>
            <a:spLocks noChangeShapeType="1"/>
          </p:cNvSpPr>
          <p:nvPr/>
        </p:nvSpPr>
        <p:spPr bwMode="auto">
          <a:xfrm>
            <a:off x="5443538" y="3829050"/>
            <a:ext cx="5048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B705B7B-0FCA-45CA-B314-ED9F61B63A54}" type="slidenum">
              <a:rPr lang="en-US" altLang="ko-KR" sz="1400" smtClean="0">
                <a:latin typeface="Times New Roman" pitchFamily="18" charset="0"/>
                <a:cs typeface="Times New Roman" pitchFamily="18" charset="0"/>
              </a:rPr>
              <a:pPr eaLnBrk="1" hangingPunct="1"/>
              <a:t>125</a:t>
            </a:fld>
            <a:endParaRPr lang="en-US" altLang="ko-KR" sz="1400" smtClean="0">
              <a:latin typeface="Times New Roman" pitchFamily="18" charset="0"/>
              <a:cs typeface="Times New Roman" pitchFamily="18" charset="0"/>
            </a:endParaRPr>
          </a:p>
        </p:txBody>
      </p:sp>
      <p:sp>
        <p:nvSpPr>
          <p:cNvPr id="133123"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Thực hành tạo Sensor PNP TR</a:t>
            </a:r>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1. Thực hành kỹ năng đóng mở (tạo +5V) của PNP TR thông qua việc thực hành sau.</a:t>
            </a:r>
            <a:r>
              <a:rPr lang="ko-KR" altLang="en-US">
                <a:latin typeface="Times New Roman" pitchFamily="18" charset="0"/>
                <a:cs typeface="Times New Roman" pitchFamily="18" charset="0"/>
              </a:rPr>
              <a:t>  </a:t>
            </a:r>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p:txBody>
      </p:sp>
      <p:sp>
        <p:nvSpPr>
          <p:cNvPr id="133124" name="Line 52"/>
          <p:cNvSpPr>
            <a:spLocks noChangeShapeType="1"/>
          </p:cNvSpPr>
          <p:nvPr/>
        </p:nvSpPr>
        <p:spPr bwMode="auto">
          <a:xfrm>
            <a:off x="2843213" y="3429000"/>
            <a:ext cx="3349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3125" name="Group 41"/>
          <p:cNvGrpSpPr>
            <a:grpSpLocks/>
          </p:cNvGrpSpPr>
          <p:nvPr/>
        </p:nvGrpSpPr>
        <p:grpSpPr bwMode="auto">
          <a:xfrm>
            <a:off x="1797050" y="2989263"/>
            <a:ext cx="358775" cy="49212"/>
            <a:chOff x="1292" y="2568"/>
            <a:chExt cx="182" cy="34"/>
          </a:xfrm>
        </p:grpSpPr>
        <p:sp>
          <p:nvSpPr>
            <p:cNvPr id="133167" name="Line 42"/>
            <p:cNvSpPr>
              <a:spLocks noChangeShapeType="1"/>
            </p:cNvSpPr>
            <p:nvPr/>
          </p:nvSpPr>
          <p:spPr bwMode="auto">
            <a:xfrm>
              <a:off x="1292" y="2568"/>
              <a:ext cx="18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3168" name="Line 43"/>
            <p:cNvSpPr>
              <a:spLocks noChangeShapeType="1"/>
            </p:cNvSpPr>
            <p:nvPr/>
          </p:nvSpPr>
          <p:spPr bwMode="auto">
            <a:xfrm>
              <a:off x="1334" y="2602"/>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3126" name="Text Box 57"/>
          <p:cNvSpPr txBox="1">
            <a:spLocks noChangeArrowheads="1"/>
          </p:cNvSpPr>
          <p:nvPr/>
        </p:nvSpPr>
        <p:spPr bwMode="auto">
          <a:xfrm>
            <a:off x="1425575" y="2860675"/>
            <a:ext cx="5794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5V</a:t>
            </a:r>
          </a:p>
        </p:txBody>
      </p:sp>
      <p:sp>
        <p:nvSpPr>
          <p:cNvPr id="133127" name="Freeform 23"/>
          <p:cNvSpPr>
            <a:spLocks/>
          </p:cNvSpPr>
          <p:nvPr/>
        </p:nvSpPr>
        <p:spPr bwMode="auto">
          <a:xfrm>
            <a:off x="3179763" y="3332163"/>
            <a:ext cx="298450" cy="188912"/>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3128" name="그룹 129"/>
          <p:cNvGrpSpPr>
            <a:grpSpLocks/>
          </p:cNvGrpSpPr>
          <p:nvPr/>
        </p:nvGrpSpPr>
        <p:grpSpPr bwMode="auto">
          <a:xfrm rot="-5567204">
            <a:off x="6697663" y="3479800"/>
            <a:ext cx="541338" cy="179387"/>
            <a:chOff x="8953695" y="2770644"/>
            <a:chExt cx="507060" cy="173819"/>
          </a:xfrm>
        </p:grpSpPr>
        <p:grpSp>
          <p:nvGrpSpPr>
            <p:cNvPr id="133163" name="Group 25"/>
            <p:cNvGrpSpPr>
              <a:grpSpLocks/>
            </p:cNvGrpSpPr>
            <p:nvPr/>
          </p:nvGrpSpPr>
          <p:grpSpPr bwMode="auto">
            <a:xfrm rot="5400000">
              <a:off x="9030479" y="2699689"/>
              <a:ext cx="148471" cy="302039"/>
              <a:chOff x="2835" y="1389"/>
              <a:chExt cx="117" cy="155"/>
            </a:xfrm>
          </p:grpSpPr>
          <p:sp>
            <p:nvSpPr>
              <p:cNvPr id="133165" name="AutoShape 26"/>
              <p:cNvSpPr>
                <a:spLocks noChangeArrowheads="1"/>
              </p:cNvSpPr>
              <p:nvPr/>
            </p:nvSpPr>
            <p:spPr bwMode="auto">
              <a:xfrm rot="5400000">
                <a:off x="2815" y="1409"/>
                <a:ext cx="155" cy="11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3166" name="Line 27"/>
              <p:cNvSpPr>
                <a:spLocks noChangeShapeType="1"/>
              </p:cNvSpPr>
              <p:nvPr/>
            </p:nvSpPr>
            <p:spPr bwMode="auto">
              <a:xfrm>
                <a:off x="2951" y="1389"/>
                <a:ext cx="1" cy="1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3164" name="Freeform 28"/>
            <p:cNvSpPr>
              <a:spLocks/>
            </p:cNvSpPr>
            <p:nvPr/>
          </p:nvSpPr>
          <p:spPr bwMode="auto">
            <a:xfrm rot="3463461">
              <a:off x="9328997" y="2812706"/>
              <a:ext cx="173819" cy="89696"/>
            </a:xfrm>
            <a:custGeom>
              <a:avLst/>
              <a:gdLst>
                <a:gd name="T0" fmla="*/ 0 w 182"/>
                <a:gd name="T1" fmla="*/ 2147483647 h 46"/>
                <a:gd name="T2" fmla="*/ 2147483647 w 182"/>
                <a:gd name="T3" fmla="*/ 0 h 46"/>
                <a:gd name="T4" fmla="*/ 2147483647 w 182"/>
                <a:gd name="T5" fmla="*/ 2147483647 h 46"/>
                <a:gd name="T6" fmla="*/ 2147483647 w 182"/>
                <a:gd name="T7" fmla="*/ 0 h 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 h="46">
                  <a:moveTo>
                    <a:pt x="0" y="46"/>
                  </a:moveTo>
                  <a:lnTo>
                    <a:pt x="91" y="0"/>
                  </a:lnTo>
                  <a:lnTo>
                    <a:pt x="91" y="46"/>
                  </a:lnTo>
                  <a:lnTo>
                    <a:pt x="182" y="0"/>
                  </a:lnTo>
                </a:path>
              </a:pathLst>
            </a:custGeom>
            <a:noFill/>
            <a:ln w="9525" cap="flat" cmpd="sng">
              <a:solidFill>
                <a:schemeClr val="tx1"/>
              </a:solidFill>
              <a:prstDash val="solid"/>
              <a:round/>
              <a:headEn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33129" name="AutoShape 50"/>
          <p:cNvCxnSpPr>
            <a:cxnSpLocks noChangeShapeType="1"/>
          </p:cNvCxnSpPr>
          <p:nvPr/>
        </p:nvCxnSpPr>
        <p:spPr bwMode="auto">
          <a:xfrm>
            <a:off x="1976438" y="1700213"/>
            <a:ext cx="2962275" cy="153670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3130" name="그룹 117"/>
          <p:cNvGrpSpPr>
            <a:grpSpLocks/>
          </p:cNvGrpSpPr>
          <p:nvPr/>
        </p:nvGrpSpPr>
        <p:grpSpPr bwMode="auto">
          <a:xfrm>
            <a:off x="2390775" y="3043238"/>
            <a:ext cx="449263" cy="442912"/>
            <a:chOff x="1758237" y="2724474"/>
            <a:chExt cx="437499" cy="414632"/>
          </a:xfrm>
        </p:grpSpPr>
        <p:sp>
          <p:nvSpPr>
            <p:cNvPr id="133158" name="Oval 39"/>
            <p:cNvSpPr>
              <a:spLocks noChangeArrowheads="1"/>
            </p:cNvSpPr>
            <p:nvPr/>
          </p:nvSpPr>
          <p:spPr bwMode="auto">
            <a:xfrm>
              <a:off x="1794848" y="3054007"/>
              <a:ext cx="13362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3159" name="Oval 40"/>
            <p:cNvSpPr>
              <a:spLocks noChangeArrowheads="1"/>
            </p:cNvSpPr>
            <p:nvPr/>
          </p:nvSpPr>
          <p:spPr bwMode="auto">
            <a:xfrm>
              <a:off x="2063937" y="3054007"/>
              <a:ext cx="13179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3160" name="Line 42"/>
            <p:cNvSpPr>
              <a:spLocks noChangeShapeType="1"/>
            </p:cNvSpPr>
            <p:nvPr/>
          </p:nvSpPr>
          <p:spPr bwMode="auto">
            <a:xfrm>
              <a:off x="1822306" y="3001499"/>
              <a:ext cx="3642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61" name="Line 43"/>
            <p:cNvSpPr>
              <a:spLocks noChangeShapeType="1"/>
            </p:cNvSpPr>
            <p:nvPr/>
          </p:nvSpPr>
          <p:spPr bwMode="auto">
            <a:xfrm>
              <a:off x="2001699" y="2945369"/>
              <a:ext cx="0" cy="561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62" name="Text Box 62"/>
            <p:cNvSpPr txBox="1">
              <a:spLocks noChangeArrowheads="1"/>
            </p:cNvSpPr>
            <p:nvPr/>
          </p:nvSpPr>
          <p:spPr bwMode="auto">
            <a:xfrm>
              <a:off x="1758237" y="2724474"/>
              <a:ext cx="401496" cy="23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PB2</a:t>
              </a:r>
            </a:p>
          </p:txBody>
        </p:sp>
      </p:grpSp>
      <p:sp>
        <p:nvSpPr>
          <p:cNvPr id="133131" name="Line 52"/>
          <p:cNvSpPr>
            <a:spLocks noChangeShapeType="1"/>
          </p:cNvSpPr>
          <p:nvPr/>
        </p:nvSpPr>
        <p:spPr bwMode="auto">
          <a:xfrm>
            <a:off x="3478213" y="3425825"/>
            <a:ext cx="1250950" cy="3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cxnSp>
        <p:nvCxnSpPr>
          <p:cNvPr id="133132" name="AutoShape 50"/>
          <p:cNvCxnSpPr>
            <a:cxnSpLocks noChangeShapeType="1"/>
          </p:cNvCxnSpPr>
          <p:nvPr/>
        </p:nvCxnSpPr>
        <p:spPr bwMode="auto">
          <a:xfrm rot="16200000" flipH="1">
            <a:off x="2034382" y="2990056"/>
            <a:ext cx="376238" cy="498475"/>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133" name="Line 52"/>
          <p:cNvSpPr>
            <a:spLocks noChangeShapeType="1"/>
          </p:cNvSpPr>
          <p:nvPr/>
        </p:nvSpPr>
        <p:spPr bwMode="auto">
          <a:xfrm>
            <a:off x="4953000" y="3603625"/>
            <a:ext cx="1055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pic>
        <p:nvPicPr>
          <p:cNvPr id="133134"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9463" y="4929188"/>
            <a:ext cx="3887787"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35" name="Freeform 23"/>
          <p:cNvSpPr>
            <a:spLocks/>
          </p:cNvSpPr>
          <p:nvPr/>
        </p:nvSpPr>
        <p:spPr bwMode="auto">
          <a:xfrm>
            <a:off x="6008688" y="3529013"/>
            <a:ext cx="298450" cy="190500"/>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36" name="Line 52"/>
          <p:cNvSpPr>
            <a:spLocks noChangeShapeType="1"/>
          </p:cNvSpPr>
          <p:nvPr/>
        </p:nvSpPr>
        <p:spPr bwMode="auto">
          <a:xfrm flipV="1">
            <a:off x="6307138" y="3665538"/>
            <a:ext cx="576262"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37" name="Text Box 59"/>
          <p:cNvSpPr txBox="1">
            <a:spLocks noChangeArrowheads="1"/>
          </p:cNvSpPr>
          <p:nvPr/>
        </p:nvSpPr>
        <p:spPr bwMode="auto">
          <a:xfrm>
            <a:off x="5949950" y="3068638"/>
            <a:ext cx="582613"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a:latin typeface="Times New Roman" pitchFamily="18" charset="0"/>
                <a:cs typeface="Times New Roman" pitchFamily="18" charset="0"/>
              </a:rPr>
              <a:t>R3 330</a:t>
            </a:r>
          </a:p>
        </p:txBody>
      </p:sp>
      <p:sp>
        <p:nvSpPr>
          <p:cNvPr id="133138" name="TextBox 110"/>
          <p:cNvSpPr txBox="1">
            <a:spLocks noChangeArrowheads="1"/>
          </p:cNvSpPr>
          <p:nvPr/>
        </p:nvSpPr>
        <p:spPr bwMode="auto">
          <a:xfrm>
            <a:off x="3101975" y="2832100"/>
            <a:ext cx="5810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R1 1K</a:t>
            </a:r>
            <a:endParaRPr lang="ko-KR" altLang="en-US">
              <a:latin typeface="Times New Roman" pitchFamily="18" charset="0"/>
              <a:cs typeface="Times New Roman" pitchFamily="18" charset="0"/>
            </a:endParaRPr>
          </a:p>
        </p:txBody>
      </p:sp>
      <p:sp>
        <p:nvSpPr>
          <p:cNvPr id="133139" name="TextBox 145"/>
          <p:cNvSpPr txBox="1">
            <a:spLocks noChangeArrowheads="1"/>
          </p:cNvSpPr>
          <p:nvPr/>
        </p:nvSpPr>
        <p:spPr bwMode="auto">
          <a:xfrm>
            <a:off x="4125913" y="1833563"/>
            <a:ext cx="5810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R2 </a:t>
            </a:r>
          </a:p>
          <a:p>
            <a:pPr eaLnBrk="1" hangingPunct="1"/>
            <a:r>
              <a:rPr lang="en-US" altLang="ko-KR">
                <a:latin typeface="Times New Roman" pitchFamily="18" charset="0"/>
                <a:cs typeface="Times New Roman" pitchFamily="18" charset="0"/>
              </a:rPr>
              <a:t>180</a:t>
            </a:r>
            <a:endParaRPr lang="ko-KR" altLang="en-US">
              <a:latin typeface="Times New Roman" pitchFamily="18" charset="0"/>
              <a:cs typeface="Times New Roman" pitchFamily="18" charset="0"/>
            </a:endParaRPr>
          </a:p>
        </p:txBody>
      </p:sp>
      <p:sp>
        <p:nvSpPr>
          <p:cNvPr id="133140" name="Freeform 23"/>
          <p:cNvSpPr>
            <a:spLocks/>
          </p:cNvSpPr>
          <p:nvPr/>
        </p:nvSpPr>
        <p:spPr bwMode="auto">
          <a:xfrm>
            <a:off x="4244975" y="2303463"/>
            <a:ext cx="296863" cy="188912"/>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1" name="Line 52"/>
          <p:cNvSpPr>
            <a:spLocks noChangeShapeType="1"/>
          </p:cNvSpPr>
          <p:nvPr/>
        </p:nvSpPr>
        <p:spPr bwMode="auto">
          <a:xfrm flipH="1" flipV="1">
            <a:off x="4516438" y="2409825"/>
            <a:ext cx="415925" cy="4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2" name="Line 52"/>
          <p:cNvSpPr>
            <a:spLocks noChangeShapeType="1"/>
          </p:cNvSpPr>
          <p:nvPr/>
        </p:nvSpPr>
        <p:spPr bwMode="auto">
          <a:xfrm>
            <a:off x="3821113" y="2393950"/>
            <a:ext cx="0" cy="1031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3" name="Line 52"/>
          <p:cNvSpPr>
            <a:spLocks noChangeShapeType="1"/>
          </p:cNvSpPr>
          <p:nvPr/>
        </p:nvSpPr>
        <p:spPr bwMode="auto">
          <a:xfrm flipH="1" flipV="1">
            <a:off x="3827463" y="2389188"/>
            <a:ext cx="415925" cy="4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4" name="Line 52"/>
          <p:cNvSpPr>
            <a:spLocks noChangeShapeType="1"/>
          </p:cNvSpPr>
          <p:nvPr/>
        </p:nvSpPr>
        <p:spPr bwMode="auto">
          <a:xfrm>
            <a:off x="1970088" y="1700213"/>
            <a:ext cx="3175" cy="1289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5" name="Line 52"/>
          <p:cNvSpPr>
            <a:spLocks noChangeShapeType="1"/>
          </p:cNvSpPr>
          <p:nvPr/>
        </p:nvSpPr>
        <p:spPr bwMode="auto">
          <a:xfrm flipV="1">
            <a:off x="7034213" y="3663950"/>
            <a:ext cx="576262"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6" name="Line 52"/>
          <p:cNvSpPr>
            <a:spLocks noChangeShapeType="1"/>
          </p:cNvSpPr>
          <p:nvPr/>
        </p:nvSpPr>
        <p:spPr bwMode="auto">
          <a:xfrm>
            <a:off x="7607300" y="3663950"/>
            <a:ext cx="0" cy="690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7" name="Line 52"/>
          <p:cNvSpPr>
            <a:spLocks noChangeShapeType="1"/>
          </p:cNvSpPr>
          <p:nvPr/>
        </p:nvSpPr>
        <p:spPr bwMode="auto">
          <a:xfrm>
            <a:off x="1976438" y="4354513"/>
            <a:ext cx="56340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48" name="Line 52"/>
          <p:cNvSpPr>
            <a:spLocks noChangeShapeType="1"/>
          </p:cNvSpPr>
          <p:nvPr/>
        </p:nvSpPr>
        <p:spPr bwMode="auto">
          <a:xfrm>
            <a:off x="1976438" y="3394075"/>
            <a:ext cx="0" cy="960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3149" name="Group 12"/>
          <p:cNvGrpSpPr>
            <a:grpSpLocks/>
          </p:cNvGrpSpPr>
          <p:nvPr/>
        </p:nvGrpSpPr>
        <p:grpSpPr bwMode="auto">
          <a:xfrm>
            <a:off x="4648200" y="3195638"/>
            <a:ext cx="419100" cy="428625"/>
            <a:chOff x="1474" y="1752"/>
            <a:chExt cx="264" cy="270"/>
          </a:xfrm>
        </p:grpSpPr>
        <p:sp>
          <p:nvSpPr>
            <p:cNvPr id="133154" name="Oval 5"/>
            <p:cNvSpPr>
              <a:spLocks noChangeArrowheads="1"/>
            </p:cNvSpPr>
            <p:nvPr/>
          </p:nvSpPr>
          <p:spPr bwMode="auto">
            <a:xfrm flipV="1">
              <a:off x="1474" y="1752"/>
              <a:ext cx="264" cy="270"/>
            </a:xfrm>
            <a:prstGeom prst="ellipse">
              <a:avLst/>
            </a:prstGeom>
            <a:noFill/>
            <a:ln w="158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3155" name="Line 6"/>
            <p:cNvSpPr>
              <a:spLocks noChangeShapeType="1"/>
            </p:cNvSpPr>
            <p:nvPr/>
          </p:nvSpPr>
          <p:spPr bwMode="auto">
            <a:xfrm flipV="1">
              <a:off x="1534" y="1800"/>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56" name="Line 7"/>
            <p:cNvSpPr>
              <a:spLocks noChangeShapeType="1"/>
            </p:cNvSpPr>
            <p:nvPr/>
          </p:nvSpPr>
          <p:spPr bwMode="auto">
            <a:xfrm flipH="1" flipV="1">
              <a:off x="1534" y="1921"/>
              <a:ext cx="132" cy="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3157" name="Line 8"/>
            <p:cNvSpPr>
              <a:spLocks noChangeShapeType="1"/>
            </p:cNvSpPr>
            <p:nvPr/>
          </p:nvSpPr>
          <p:spPr bwMode="auto">
            <a:xfrm rot="10800000" flipV="1">
              <a:off x="1532" y="1775"/>
              <a:ext cx="121" cy="91"/>
            </a:xfrm>
            <a:prstGeom prst="line">
              <a:avLst/>
            </a:prstGeom>
            <a:noFill/>
            <a:ln w="158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3150" name="Text Box 37"/>
          <p:cNvSpPr txBox="1">
            <a:spLocks noChangeArrowheads="1"/>
          </p:cNvSpPr>
          <p:nvPr/>
        </p:nvSpPr>
        <p:spPr bwMode="auto">
          <a:xfrm>
            <a:off x="1127125" y="5294313"/>
            <a:ext cx="3595688"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Sensor loại PNP</a:t>
            </a:r>
          </a:p>
          <a:p>
            <a:pPr eaLnBrk="1" hangingPunct="1"/>
            <a:r>
              <a:rPr lang="en-US" altLang="ko-KR">
                <a:latin typeface="Times New Roman" pitchFamily="18" charset="0"/>
                <a:cs typeface="Times New Roman" pitchFamily="18" charset="0"/>
              </a:rPr>
              <a:t>    - Phụ tải để lên màu đen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(OUT)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màu xanh(GND).</a:t>
            </a:r>
          </a:p>
          <a:p>
            <a:pPr eaLnBrk="1" hangingPunct="1"/>
            <a:r>
              <a:rPr lang="en-US" altLang="ko-KR">
                <a:latin typeface="Times New Roman" pitchFamily="18" charset="0"/>
                <a:cs typeface="Times New Roman" pitchFamily="18" charset="0"/>
              </a:rPr>
              <a:t>    - Khi Sensor On tạo được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a:t>
            </a:r>
            <a:endParaRPr lang="ko-KR" altLang="en-US">
              <a:latin typeface="Times New Roman" pitchFamily="18" charset="0"/>
              <a:cs typeface="Times New Roman" pitchFamily="18" charset="0"/>
            </a:endParaRPr>
          </a:p>
        </p:txBody>
      </p:sp>
      <p:sp>
        <p:nvSpPr>
          <p:cNvPr id="133151" name="TextBox 181"/>
          <p:cNvSpPr txBox="1">
            <a:spLocks noChangeArrowheads="1"/>
          </p:cNvSpPr>
          <p:nvPr/>
        </p:nvSpPr>
        <p:spPr bwMode="auto">
          <a:xfrm>
            <a:off x="4284663" y="2930525"/>
            <a:ext cx="76517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A1266</a:t>
            </a:r>
            <a:endParaRPr lang="ko-KR" altLang="en-US">
              <a:latin typeface="Times New Roman" pitchFamily="18" charset="0"/>
              <a:cs typeface="Times New Roman" pitchFamily="18" charset="0"/>
            </a:endParaRPr>
          </a:p>
        </p:txBody>
      </p:sp>
      <p:sp>
        <p:nvSpPr>
          <p:cNvPr id="133152"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33153"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558B463-918C-438C-BEAC-4C522D32A11A}" type="slidenum">
              <a:rPr lang="en-US" altLang="ko-KR" sz="1400" smtClean="0">
                <a:latin typeface="Times New Roman" pitchFamily="18" charset="0"/>
                <a:cs typeface="Times New Roman" pitchFamily="18" charset="0"/>
              </a:rPr>
              <a:pPr eaLnBrk="1" hangingPunct="1"/>
              <a:t>126</a:t>
            </a:fld>
            <a:endParaRPr lang="en-US" altLang="ko-KR" sz="1400" smtClean="0">
              <a:latin typeface="Times New Roman" pitchFamily="18" charset="0"/>
              <a:cs typeface="Times New Roman" pitchFamily="18" charset="0"/>
            </a:endParaRPr>
          </a:p>
        </p:txBody>
      </p:sp>
      <p:pic>
        <p:nvPicPr>
          <p:cNvPr id="134147" name="Picture 3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4403725"/>
            <a:ext cx="163353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34148"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34149"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Đo Transistor PNP</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① </a:t>
            </a:r>
            <a:r>
              <a:rPr lang="en-US" altLang="ko-KR">
                <a:latin typeface="Times New Roman" pitchFamily="18" charset="0"/>
                <a:cs typeface="Times New Roman" pitchFamily="18" charset="0"/>
              </a:rPr>
              <a:t>Nắm bắt chủng loại TR.</a:t>
            </a:r>
          </a:p>
          <a:p>
            <a:pPr eaLnBrk="1" hangingPunct="1"/>
            <a:r>
              <a:rPr lang="en-US" altLang="ko-KR">
                <a:latin typeface="Times New Roman" pitchFamily="18" charset="0"/>
                <a:cs typeface="Times New Roman" pitchFamily="18" charset="0"/>
              </a:rPr>
              <a:t>    Loại 2SA×××        PNP chuyên cho cao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2SB×××        PNP chuyên cho hạ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2SC×××        NPN chuyên cho cao tần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2SD×××        NPN chuyên cho hạ tần</a:t>
            </a:r>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② </a:t>
            </a:r>
            <a:r>
              <a:rPr lang="en-US" altLang="ko-KR">
                <a:latin typeface="Times New Roman" pitchFamily="18" charset="0"/>
                <a:cs typeface="Times New Roman" pitchFamily="18" charset="0"/>
              </a:rPr>
              <a:t>Đặt thanh Test màu đỏ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lên cực E, tìm cực B bằng</a:t>
            </a:r>
          </a:p>
          <a:p>
            <a:pPr eaLnBrk="1" hangingPunct="1"/>
            <a:r>
              <a:rPr lang="en-US" altLang="ko-KR">
                <a:latin typeface="Times New Roman" pitchFamily="18" charset="0"/>
                <a:cs typeface="Times New Roman" pitchFamily="18" charset="0"/>
              </a:rPr>
              <a:t>thanh test màu đen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br>
              <a:rPr lang="en-US" altLang="ko-KR">
                <a:latin typeface="Times New Roman" pitchFamily="18" charset="0"/>
                <a:cs typeface="Times New Roman" pitchFamily="18" charset="0"/>
              </a:rPr>
            </a:br>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③ Nếu điện áp đặc biệt Diode giữa E-B 0.5 ~ 0.7[V] được </a:t>
            </a:r>
          </a:p>
          <a:p>
            <a:pPr eaLnBrk="1" hangingPunct="1"/>
            <a:r>
              <a:rPr lang="en-US" altLang="ko-KR">
                <a:latin typeface="Times New Roman" pitchFamily="18" charset="0"/>
                <a:cs typeface="Times New Roman" pitchFamily="18" charset="0"/>
              </a:rPr>
              <a:t>biểu thị trên DVM thì TR đạt tiêu chuẩn.</a:t>
            </a:r>
          </a:p>
          <a:p>
            <a:pPr eaLnBrk="1" hangingPunct="1"/>
            <a:endParaRPr lang="en-US" altLang="ko-KR">
              <a:latin typeface="Times New Roman" pitchFamily="18" charset="0"/>
              <a:cs typeface="Times New Roman" pitchFamily="18" charset="0"/>
            </a:endParaRPr>
          </a:p>
        </p:txBody>
      </p:sp>
      <p:sp>
        <p:nvSpPr>
          <p:cNvPr id="134150"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pic>
        <p:nvPicPr>
          <p:cNvPr id="134151" name="Picture 6"/>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51500" y="1341438"/>
            <a:ext cx="1228725" cy="329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4152" name="Arc 7"/>
          <p:cNvSpPr>
            <a:spLocks/>
          </p:cNvSpPr>
          <p:nvPr/>
        </p:nvSpPr>
        <p:spPr bwMode="auto">
          <a:xfrm flipH="1">
            <a:off x="5461000" y="4508500"/>
            <a:ext cx="690563" cy="936625"/>
          </a:xfrm>
          <a:custGeom>
            <a:avLst/>
            <a:gdLst>
              <a:gd name="T0" fmla="*/ 2147483647 w 24032"/>
              <a:gd name="T1" fmla="*/ 0 h 41523"/>
              <a:gd name="T2" fmla="*/ 0 w 24032"/>
              <a:gd name="T3" fmla="*/ 2147483647 h 41523"/>
              <a:gd name="T4" fmla="*/ 2147483647 w 24032"/>
              <a:gd name="T5" fmla="*/ 2147483647 h 41523"/>
              <a:gd name="T6" fmla="*/ 0 60000 65536"/>
              <a:gd name="T7" fmla="*/ 0 60000 65536"/>
              <a:gd name="T8" fmla="*/ 0 60000 65536"/>
            </a:gdLst>
            <a:ahLst/>
            <a:cxnLst>
              <a:cxn ang="T6">
                <a:pos x="T0" y="T1"/>
              </a:cxn>
              <a:cxn ang="T7">
                <a:pos x="T2" y="T3"/>
              </a:cxn>
              <a:cxn ang="T8">
                <a:pos x="T4" y="T5"/>
              </a:cxn>
            </a:cxnLst>
            <a:rect l="0" t="0" r="r" b="b"/>
            <a:pathLst>
              <a:path w="24032" h="41523" fill="none" extrusionOk="0">
                <a:moveTo>
                  <a:pt x="10776" y="-1"/>
                </a:moveTo>
                <a:cubicBezTo>
                  <a:pt x="18805" y="3362"/>
                  <a:pt x="24032" y="11217"/>
                  <a:pt x="24032" y="19923"/>
                </a:cubicBezTo>
                <a:cubicBezTo>
                  <a:pt x="24032" y="31852"/>
                  <a:pt x="14361" y="41523"/>
                  <a:pt x="2432" y="41523"/>
                </a:cubicBezTo>
                <a:cubicBezTo>
                  <a:pt x="1619" y="41523"/>
                  <a:pt x="807" y="41477"/>
                  <a:pt x="0" y="41385"/>
                </a:cubicBezTo>
              </a:path>
              <a:path w="24032" h="41523" stroke="0" extrusionOk="0">
                <a:moveTo>
                  <a:pt x="10776" y="-1"/>
                </a:moveTo>
                <a:cubicBezTo>
                  <a:pt x="18805" y="3362"/>
                  <a:pt x="24032" y="11217"/>
                  <a:pt x="24032" y="19923"/>
                </a:cubicBezTo>
                <a:cubicBezTo>
                  <a:pt x="24032" y="31852"/>
                  <a:pt x="14361" y="41523"/>
                  <a:pt x="2432" y="41523"/>
                </a:cubicBezTo>
                <a:cubicBezTo>
                  <a:pt x="1619" y="41523"/>
                  <a:pt x="807" y="41477"/>
                  <a:pt x="0" y="41385"/>
                </a:cubicBezTo>
                <a:lnTo>
                  <a:pt x="2432" y="19923"/>
                </a:lnTo>
                <a:lnTo>
                  <a:pt x="10776" y="-1"/>
                </a:lnTo>
                <a:close/>
              </a:path>
            </a:pathLst>
          </a:custGeom>
          <a:noFill/>
          <a:ln w="19050">
            <a:solidFill>
              <a:schemeClr val="tx1"/>
            </a:solidFill>
            <a:prstDash val="sysDot"/>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4153" name="Arc 8"/>
          <p:cNvSpPr>
            <a:spLocks/>
          </p:cNvSpPr>
          <p:nvPr/>
        </p:nvSpPr>
        <p:spPr bwMode="auto">
          <a:xfrm>
            <a:off x="6473825" y="4546600"/>
            <a:ext cx="546100" cy="903288"/>
          </a:xfrm>
          <a:custGeom>
            <a:avLst/>
            <a:gdLst>
              <a:gd name="T0" fmla="*/ 2147483647 w 21664"/>
              <a:gd name="T1" fmla="*/ 0 h 41523"/>
              <a:gd name="T2" fmla="*/ 0 w 21664"/>
              <a:gd name="T3" fmla="*/ 2147483647 h 41523"/>
              <a:gd name="T4" fmla="*/ 2147483647 w 21664"/>
              <a:gd name="T5" fmla="*/ 2147483647 h 41523"/>
              <a:gd name="T6" fmla="*/ 0 60000 65536"/>
              <a:gd name="T7" fmla="*/ 0 60000 65536"/>
              <a:gd name="T8" fmla="*/ 0 60000 65536"/>
            </a:gdLst>
            <a:ahLst/>
            <a:cxnLst>
              <a:cxn ang="T6">
                <a:pos x="T0" y="T1"/>
              </a:cxn>
              <a:cxn ang="T7">
                <a:pos x="T2" y="T3"/>
              </a:cxn>
              <a:cxn ang="T8">
                <a:pos x="T4" y="T5"/>
              </a:cxn>
            </a:cxnLst>
            <a:rect l="0" t="0" r="r" b="b"/>
            <a:pathLst>
              <a:path w="21664" h="41523" fill="none" extrusionOk="0">
                <a:moveTo>
                  <a:pt x="8408" y="-1"/>
                </a:moveTo>
                <a:cubicBezTo>
                  <a:pt x="16437" y="3362"/>
                  <a:pt x="21664" y="11217"/>
                  <a:pt x="21664" y="19923"/>
                </a:cubicBezTo>
                <a:cubicBezTo>
                  <a:pt x="21664" y="31852"/>
                  <a:pt x="11993" y="41523"/>
                  <a:pt x="64" y="41523"/>
                </a:cubicBezTo>
                <a:cubicBezTo>
                  <a:pt x="42" y="41523"/>
                  <a:pt x="21" y="41522"/>
                  <a:pt x="0" y="41522"/>
                </a:cubicBezTo>
              </a:path>
              <a:path w="21664" h="41523" stroke="0" extrusionOk="0">
                <a:moveTo>
                  <a:pt x="8408" y="-1"/>
                </a:moveTo>
                <a:cubicBezTo>
                  <a:pt x="16437" y="3362"/>
                  <a:pt x="21664" y="11217"/>
                  <a:pt x="21664" y="19923"/>
                </a:cubicBezTo>
                <a:cubicBezTo>
                  <a:pt x="21664" y="31852"/>
                  <a:pt x="11993" y="41523"/>
                  <a:pt x="64" y="41523"/>
                </a:cubicBezTo>
                <a:cubicBezTo>
                  <a:pt x="42" y="41523"/>
                  <a:pt x="21" y="41522"/>
                  <a:pt x="0" y="41522"/>
                </a:cubicBezTo>
                <a:lnTo>
                  <a:pt x="64" y="19923"/>
                </a:lnTo>
                <a:lnTo>
                  <a:pt x="8408" y="-1"/>
                </a:lnTo>
                <a:close/>
              </a:path>
            </a:pathLst>
          </a:custGeom>
          <a:noFill/>
          <a:ln w="19050">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4154" name="Group 33"/>
          <p:cNvGrpSpPr>
            <a:grpSpLocks/>
          </p:cNvGrpSpPr>
          <p:nvPr/>
        </p:nvGrpSpPr>
        <p:grpSpPr bwMode="auto">
          <a:xfrm>
            <a:off x="1393825" y="4076700"/>
            <a:ext cx="1179513" cy="995363"/>
            <a:chOff x="878" y="2568"/>
            <a:chExt cx="743" cy="627"/>
          </a:xfrm>
        </p:grpSpPr>
        <p:sp>
          <p:nvSpPr>
            <p:cNvPr id="134171" name="Line 10"/>
            <p:cNvSpPr>
              <a:spLocks noChangeShapeType="1"/>
            </p:cNvSpPr>
            <p:nvPr/>
          </p:nvSpPr>
          <p:spPr bwMode="auto">
            <a:xfrm flipV="1">
              <a:off x="1029" y="2912"/>
              <a:ext cx="1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72" name="Line 11"/>
            <p:cNvSpPr>
              <a:spLocks noChangeShapeType="1"/>
            </p:cNvSpPr>
            <p:nvPr/>
          </p:nvSpPr>
          <p:spPr bwMode="auto">
            <a:xfrm flipV="1">
              <a:off x="1221" y="2744"/>
              <a:ext cx="0" cy="3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73" name="Text Box 12"/>
            <p:cNvSpPr txBox="1">
              <a:spLocks noChangeArrowheads="1"/>
            </p:cNvSpPr>
            <p:nvPr/>
          </p:nvSpPr>
          <p:spPr bwMode="auto">
            <a:xfrm>
              <a:off x="1429" y="2568"/>
              <a:ext cx="19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solidFill>
                    <a:srgbClr val="000000"/>
                  </a:solidFill>
                  <a:latin typeface="Times New Roman" pitchFamily="18" charset="0"/>
                  <a:cs typeface="Times New Roman" pitchFamily="18" charset="0"/>
                </a:rPr>
                <a:t>E</a:t>
              </a:r>
            </a:p>
          </p:txBody>
        </p:sp>
        <p:sp>
          <p:nvSpPr>
            <p:cNvPr id="134174" name="Text Box 13"/>
            <p:cNvSpPr txBox="1">
              <a:spLocks noChangeArrowheads="1"/>
            </p:cNvSpPr>
            <p:nvPr/>
          </p:nvSpPr>
          <p:spPr bwMode="auto">
            <a:xfrm>
              <a:off x="1429" y="3022"/>
              <a:ext cx="18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solidFill>
                    <a:srgbClr val="000000"/>
                  </a:solidFill>
                  <a:latin typeface="Times New Roman" pitchFamily="18" charset="0"/>
                  <a:cs typeface="Times New Roman" pitchFamily="18" charset="0"/>
                </a:rPr>
                <a:t>C</a:t>
              </a:r>
            </a:p>
          </p:txBody>
        </p:sp>
        <p:sp>
          <p:nvSpPr>
            <p:cNvPr id="134175" name="Text Box 14"/>
            <p:cNvSpPr txBox="1">
              <a:spLocks noChangeArrowheads="1"/>
            </p:cNvSpPr>
            <p:nvPr/>
          </p:nvSpPr>
          <p:spPr bwMode="auto">
            <a:xfrm>
              <a:off x="878" y="2799"/>
              <a:ext cx="19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solidFill>
                    <a:srgbClr val="000000"/>
                  </a:solidFill>
                  <a:latin typeface="Times New Roman" pitchFamily="18" charset="0"/>
                  <a:cs typeface="Times New Roman" pitchFamily="18" charset="0"/>
                </a:rPr>
                <a:t>B</a:t>
              </a:r>
            </a:p>
          </p:txBody>
        </p:sp>
        <p:sp>
          <p:nvSpPr>
            <p:cNvPr id="134176" name="Line 15"/>
            <p:cNvSpPr>
              <a:spLocks noChangeShapeType="1"/>
            </p:cNvSpPr>
            <p:nvPr/>
          </p:nvSpPr>
          <p:spPr bwMode="auto">
            <a:xfrm rot="10800000">
              <a:off x="1224" y="2995"/>
              <a:ext cx="224" cy="7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77" name="Line 16"/>
            <p:cNvSpPr>
              <a:spLocks noChangeShapeType="1"/>
            </p:cNvSpPr>
            <p:nvPr/>
          </p:nvSpPr>
          <p:spPr bwMode="auto">
            <a:xfrm rot="10800000" flipV="1">
              <a:off x="1224" y="2750"/>
              <a:ext cx="224" cy="8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4155" name="Text Box 17"/>
          <p:cNvSpPr txBox="1">
            <a:spLocks noChangeArrowheads="1"/>
          </p:cNvSpPr>
          <p:nvPr/>
        </p:nvSpPr>
        <p:spPr bwMode="auto">
          <a:xfrm>
            <a:off x="820738" y="5911850"/>
            <a:ext cx="2414587"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solidFill>
                  <a:srgbClr val="000000"/>
                </a:solidFill>
                <a:latin typeface="Times New Roman" pitchFamily="18" charset="0"/>
                <a:cs typeface="Times New Roman" pitchFamily="18" charset="0"/>
              </a:rPr>
              <a:t>Ký hiệu mạch điện của Transistor loại PNP</a:t>
            </a:r>
            <a:endParaRPr lang="ko-KR" altLang="en-US" sz="1000">
              <a:solidFill>
                <a:srgbClr val="000000"/>
              </a:solidFill>
              <a:latin typeface="Times New Roman" pitchFamily="18" charset="0"/>
              <a:cs typeface="Times New Roman" pitchFamily="18" charset="0"/>
            </a:endParaRPr>
          </a:p>
        </p:txBody>
      </p:sp>
      <p:grpSp>
        <p:nvGrpSpPr>
          <p:cNvPr id="134156" name="Group 19"/>
          <p:cNvGrpSpPr>
            <a:grpSpLocks/>
          </p:cNvGrpSpPr>
          <p:nvPr/>
        </p:nvGrpSpPr>
        <p:grpSpPr bwMode="auto">
          <a:xfrm>
            <a:off x="3779838" y="4987925"/>
            <a:ext cx="288925" cy="288925"/>
            <a:chOff x="2517" y="2114"/>
            <a:chExt cx="182" cy="182"/>
          </a:xfrm>
        </p:grpSpPr>
        <p:sp>
          <p:nvSpPr>
            <p:cNvPr id="134169" name="AutoShape 20"/>
            <p:cNvSpPr>
              <a:spLocks noChangeArrowheads="1"/>
            </p:cNvSpPr>
            <p:nvPr/>
          </p:nvSpPr>
          <p:spPr bwMode="auto">
            <a:xfrm>
              <a:off x="2517" y="2115"/>
              <a:ext cx="182" cy="181"/>
            </a:xfrm>
            <a:prstGeom prst="triangle">
              <a:avLst>
                <a:gd name="adj" fmla="val 50000"/>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4170" name="Line 21"/>
            <p:cNvSpPr>
              <a:spLocks noChangeShapeType="1"/>
            </p:cNvSpPr>
            <p:nvPr/>
          </p:nvSpPr>
          <p:spPr bwMode="auto">
            <a:xfrm>
              <a:off x="2517" y="2114"/>
              <a:ext cx="18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grpSp>
        <p:nvGrpSpPr>
          <p:cNvPr id="134157" name="Group 22"/>
          <p:cNvGrpSpPr>
            <a:grpSpLocks/>
          </p:cNvGrpSpPr>
          <p:nvPr/>
        </p:nvGrpSpPr>
        <p:grpSpPr bwMode="auto">
          <a:xfrm rot="10800000">
            <a:off x="3779838" y="4397375"/>
            <a:ext cx="288925" cy="288925"/>
            <a:chOff x="2517" y="2114"/>
            <a:chExt cx="182" cy="182"/>
          </a:xfrm>
        </p:grpSpPr>
        <p:sp>
          <p:nvSpPr>
            <p:cNvPr id="134167" name="AutoShape 23"/>
            <p:cNvSpPr>
              <a:spLocks noChangeArrowheads="1"/>
            </p:cNvSpPr>
            <p:nvPr/>
          </p:nvSpPr>
          <p:spPr bwMode="auto">
            <a:xfrm>
              <a:off x="2517" y="2115"/>
              <a:ext cx="182" cy="181"/>
            </a:xfrm>
            <a:prstGeom prst="triangle">
              <a:avLst>
                <a:gd name="adj" fmla="val 50000"/>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4168" name="Line 24"/>
            <p:cNvSpPr>
              <a:spLocks noChangeShapeType="1"/>
            </p:cNvSpPr>
            <p:nvPr/>
          </p:nvSpPr>
          <p:spPr bwMode="auto">
            <a:xfrm>
              <a:off x="2517" y="2114"/>
              <a:ext cx="18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34158" name="Line 25"/>
          <p:cNvSpPr>
            <a:spLocks noChangeShapeType="1"/>
          </p:cNvSpPr>
          <p:nvPr/>
        </p:nvSpPr>
        <p:spPr bwMode="auto">
          <a:xfrm>
            <a:off x="3924300" y="4687888"/>
            <a:ext cx="0"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59" name="Line 26"/>
          <p:cNvSpPr>
            <a:spLocks noChangeShapeType="1"/>
          </p:cNvSpPr>
          <p:nvPr/>
        </p:nvSpPr>
        <p:spPr bwMode="auto">
          <a:xfrm>
            <a:off x="3924300" y="5268913"/>
            <a:ext cx="0"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60" name="Line 27"/>
          <p:cNvSpPr>
            <a:spLocks noChangeShapeType="1"/>
          </p:cNvSpPr>
          <p:nvPr/>
        </p:nvSpPr>
        <p:spPr bwMode="auto">
          <a:xfrm>
            <a:off x="3924300" y="4111625"/>
            <a:ext cx="0"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61" name="Line 28"/>
          <p:cNvSpPr>
            <a:spLocks noChangeShapeType="1"/>
          </p:cNvSpPr>
          <p:nvPr/>
        </p:nvSpPr>
        <p:spPr bwMode="auto">
          <a:xfrm>
            <a:off x="3562350" y="4830763"/>
            <a:ext cx="3603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34162" name="Text Box 29"/>
          <p:cNvSpPr txBox="1">
            <a:spLocks noChangeArrowheads="1"/>
          </p:cNvSpPr>
          <p:nvPr/>
        </p:nvSpPr>
        <p:spPr bwMode="auto">
          <a:xfrm>
            <a:off x="3294063" y="4651375"/>
            <a:ext cx="28733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B</a:t>
            </a:r>
          </a:p>
        </p:txBody>
      </p:sp>
      <p:sp>
        <p:nvSpPr>
          <p:cNvPr id="134163" name="Text Box 30"/>
          <p:cNvSpPr txBox="1">
            <a:spLocks noChangeArrowheads="1"/>
          </p:cNvSpPr>
          <p:nvPr/>
        </p:nvSpPr>
        <p:spPr bwMode="auto">
          <a:xfrm>
            <a:off x="3779838" y="5551488"/>
            <a:ext cx="2952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C</a:t>
            </a:r>
          </a:p>
        </p:txBody>
      </p:sp>
      <p:sp>
        <p:nvSpPr>
          <p:cNvPr id="134164" name="Text Box 31"/>
          <p:cNvSpPr txBox="1">
            <a:spLocks noChangeArrowheads="1"/>
          </p:cNvSpPr>
          <p:nvPr/>
        </p:nvSpPr>
        <p:spPr bwMode="auto">
          <a:xfrm>
            <a:off x="3779838" y="3822700"/>
            <a:ext cx="287337"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E</a:t>
            </a:r>
          </a:p>
        </p:txBody>
      </p:sp>
      <p:sp>
        <p:nvSpPr>
          <p:cNvPr id="134165" name="Text Box 32"/>
          <p:cNvSpPr txBox="1">
            <a:spLocks noChangeArrowheads="1"/>
          </p:cNvSpPr>
          <p:nvPr/>
        </p:nvSpPr>
        <p:spPr bwMode="auto">
          <a:xfrm>
            <a:off x="3287713" y="5911850"/>
            <a:ext cx="1317625"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solidFill>
                  <a:srgbClr val="000000"/>
                </a:solidFill>
                <a:latin typeface="Times New Roman" pitchFamily="18" charset="0"/>
                <a:cs typeface="Times New Roman" pitchFamily="18" charset="0"/>
              </a:rPr>
              <a:t>So sánh kết nối Diode</a:t>
            </a:r>
            <a:endParaRPr lang="ko-KR" altLang="en-US" sz="1000">
              <a:solidFill>
                <a:srgbClr val="000000"/>
              </a:solidFill>
              <a:latin typeface="Times New Roman" pitchFamily="18" charset="0"/>
              <a:cs typeface="Times New Roman" pitchFamily="18" charset="0"/>
            </a:endParaRPr>
          </a:p>
        </p:txBody>
      </p:sp>
      <p:sp>
        <p:nvSpPr>
          <p:cNvPr id="134166" name="Arc 35"/>
          <p:cNvSpPr>
            <a:spLocks/>
          </p:cNvSpPr>
          <p:nvPr/>
        </p:nvSpPr>
        <p:spPr bwMode="auto">
          <a:xfrm flipH="1">
            <a:off x="5461000" y="4508500"/>
            <a:ext cx="847725" cy="1081088"/>
          </a:xfrm>
          <a:custGeom>
            <a:avLst/>
            <a:gdLst>
              <a:gd name="T0" fmla="*/ 2147483647 w 29494"/>
              <a:gd name="T1" fmla="*/ 0 h 41523"/>
              <a:gd name="T2" fmla="*/ 0 w 29494"/>
              <a:gd name="T3" fmla="*/ 2147483647 h 41523"/>
              <a:gd name="T4" fmla="*/ 2147483647 w 29494"/>
              <a:gd name="T5" fmla="*/ 2147483647 h 41523"/>
              <a:gd name="T6" fmla="*/ 0 60000 65536"/>
              <a:gd name="T7" fmla="*/ 0 60000 65536"/>
              <a:gd name="T8" fmla="*/ 0 60000 65536"/>
            </a:gdLst>
            <a:ahLst/>
            <a:cxnLst>
              <a:cxn ang="T6">
                <a:pos x="T0" y="T1"/>
              </a:cxn>
              <a:cxn ang="T7">
                <a:pos x="T2" y="T3"/>
              </a:cxn>
              <a:cxn ang="T8">
                <a:pos x="T4" y="T5"/>
              </a:cxn>
            </a:cxnLst>
            <a:rect l="0" t="0" r="r" b="b"/>
            <a:pathLst>
              <a:path w="29494" h="41523" fill="none" extrusionOk="0">
                <a:moveTo>
                  <a:pt x="16238" y="-1"/>
                </a:moveTo>
                <a:cubicBezTo>
                  <a:pt x="24267" y="3362"/>
                  <a:pt x="29494" y="11217"/>
                  <a:pt x="29494" y="19923"/>
                </a:cubicBezTo>
                <a:cubicBezTo>
                  <a:pt x="29494" y="31852"/>
                  <a:pt x="19823" y="41523"/>
                  <a:pt x="7894" y="41523"/>
                </a:cubicBezTo>
                <a:cubicBezTo>
                  <a:pt x="5192" y="41523"/>
                  <a:pt x="2514" y="41016"/>
                  <a:pt x="0" y="40028"/>
                </a:cubicBezTo>
              </a:path>
              <a:path w="29494" h="41523" stroke="0" extrusionOk="0">
                <a:moveTo>
                  <a:pt x="16238" y="-1"/>
                </a:moveTo>
                <a:cubicBezTo>
                  <a:pt x="24267" y="3362"/>
                  <a:pt x="29494" y="11217"/>
                  <a:pt x="29494" y="19923"/>
                </a:cubicBezTo>
                <a:cubicBezTo>
                  <a:pt x="29494" y="31852"/>
                  <a:pt x="19823" y="41523"/>
                  <a:pt x="7894" y="41523"/>
                </a:cubicBezTo>
                <a:cubicBezTo>
                  <a:pt x="5192" y="41523"/>
                  <a:pt x="2514" y="41016"/>
                  <a:pt x="0" y="40028"/>
                </a:cubicBezTo>
                <a:lnTo>
                  <a:pt x="7894" y="19923"/>
                </a:lnTo>
                <a:lnTo>
                  <a:pt x="16238" y="-1"/>
                </a:lnTo>
                <a:close/>
              </a:path>
            </a:pathLst>
          </a:custGeom>
          <a:noFill/>
          <a:ln w="19050">
            <a:solidFill>
              <a:schemeClr val="tx1"/>
            </a:solidFill>
            <a:prstDash val="sysDot"/>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3B1577B-FDCD-4B2F-87D5-325663D2331B}" type="slidenum">
              <a:rPr lang="en-US" altLang="ko-KR" sz="1400" smtClean="0">
                <a:latin typeface="Times New Roman" pitchFamily="18" charset="0"/>
                <a:cs typeface="Times New Roman" pitchFamily="18" charset="0"/>
              </a:rPr>
              <a:pPr eaLnBrk="1" hangingPunct="1"/>
              <a:t>127</a:t>
            </a:fld>
            <a:endParaRPr lang="en-US" altLang="ko-KR" sz="1400" smtClean="0">
              <a:latin typeface="Times New Roman" pitchFamily="18" charset="0"/>
              <a:cs typeface="Times New Roman" pitchFamily="18" charset="0"/>
            </a:endParaRPr>
          </a:p>
        </p:txBody>
      </p:sp>
      <p:sp>
        <p:nvSpPr>
          <p:cNvPr id="135171" name="Text Box 2"/>
          <p:cNvSpPr txBox="1">
            <a:spLocks noChangeArrowheads="1"/>
          </p:cNvSpPr>
          <p:nvPr/>
        </p:nvSpPr>
        <p:spPr bwMode="auto">
          <a:xfrm>
            <a:off x="684213" y="892175"/>
            <a:ext cx="35004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 Hiện vật Transistor và mục đích sử dụng</a:t>
            </a:r>
            <a:endParaRPr lang="ko-KR" altLang="en-US" sz="1400" b="1">
              <a:latin typeface="Times New Roman" pitchFamily="18" charset="0"/>
              <a:cs typeface="Times New Roman" pitchFamily="18" charset="0"/>
            </a:endParaRPr>
          </a:p>
        </p:txBody>
      </p:sp>
      <p:sp>
        <p:nvSpPr>
          <p:cNvPr id="135172" name="Text Box 4"/>
          <p:cNvSpPr txBox="1">
            <a:spLocks noChangeArrowheads="1"/>
          </p:cNvSpPr>
          <p:nvPr/>
        </p:nvSpPr>
        <p:spPr bwMode="auto">
          <a:xfrm>
            <a:off x="6962775" y="68263"/>
            <a:ext cx="20018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1. Linh kiện bán dẫn</a:t>
            </a:r>
            <a:endParaRPr lang="ko-KR" altLang="en-US" sz="1600" b="1">
              <a:latin typeface="Times New Roman" pitchFamily="18" charset="0"/>
              <a:cs typeface="Times New Roman" pitchFamily="18" charset="0"/>
            </a:endParaRPr>
          </a:p>
        </p:txBody>
      </p:sp>
      <p:sp>
        <p:nvSpPr>
          <p:cNvPr id="135173"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35174" name="Rectangle 10"/>
          <p:cNvSpPr>
            <a:spLocks noChangeArrowheads="1"/>
          </p:cNvSpPr>
          <p:nvPr/>
        </p:nvSpPr>
        <p:spPr bwMode="auto">
          <a:xfrm>
            <a:off x="685800" y="1484313"/>
            <a:ext cx="7848600" cy="491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① Transistor sử dụng cho tín hiệu nhỏ</a:t>
            </a:r>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endParaRPr lang="ko-KR" altLang="en-US" sz="1400" b="1">
              <a:latin typeface="Times New Roman" pitchFamily="18" charset="0"/>
              <a:cs typeface="Times New Roman" pitchFamily="18" charset="0"/>
            </a:endParaRPr>
          </a:p>
          <a:p>
            <a:pPr eaLnBrk="1" hangingPunct="1"/>
            <a:r>
              <a:rPr lang="ko-KR" altLang="en-US" sz="1400" b="1">
                <a:latin typeface="Times New Roman" pitchFamily="18" charset="0"/>
                <a:cs typeface="Times New Roman" pitchFamily="18" charset="0"/>
              </a:rPr>
              <a:t>② </a:t>
            </a:r>
            <a:r>
              <a:rPr lang="en-US" altLang="ko-KR" sz="1400" b="1">
                <a:latin typeface="Times New Roman" pitchFamily="18" charset="0"/>
                <a:cs typeface="Times New Roman" pitchFamily="18" charset="0"/>
              </a:rPr>
              <a:t>Loại Transistor chuyên sử dụng cho dòng điện lớn</a:t>
            </a:r>
            <a:endParaRPr lang="ko-KR" altLang="en-US" sz="1400" b="1">
              <a:latin typeface="Times New Roman" pitchFamily="18" charset="0"/>
              <a:cs typeface="Times New Roman" pitchFamily="18" charset="0"/>
            </a:endParaRPr>
          </a:p>
        </p:txBody>
      </p:sp>
      <p:pic>
        <p:nvPicPr>
          <p:cNvPr id="135175" name="Picture 11" descr="tr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05000"/>
            <a:ext cx="1828800" cy="14874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35176" name="Picture 12" descr="trlar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508500"/>
            <a:ext cx="2362200" cy="16557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35177" name="Rectangle 14"/>
          <p:cNvSpPr>
            <a:spLocks noChangeArrowheads="1"/>
          </p:cNvSpPr>
          <p:nvPr/>
        </p:nvSpPr>
        <p:spPr bwMode="auto">
          <a:xfrm>
            <a:off x="3505200" y="2057400"/>
            <a:ext cx="5029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Transistor được sử dụng khi sử dụng dòng điện tương đối nhỏ ( dưới 300 m 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Tùy theo kiểu dáng mà có tên riêng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từ trái qua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gọi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SST , T0 – 92 ,  </a:t>
            </a:r>
          </a:p>
          <a:p>
            <a:pPr eaLnBrk="1" hangingPunct="1"/>
            <a:r>
              <a:rPr lang="en-US" altLang="ko-KR">
                <a:latin typeface="Times New Roman" pitchFamily="18" charset="0"/>
                <a:cs typeface="Times New Roman" pitchFamily="18" charset="0"/>
              </a:rPr>
              <a:t>TO –18, cái này tên ngoại hình.</a:t>
            </a:r>
          </a:p>
        </p:txBody>
      </p:sp>
      <p:sp>
        <p:nvSpPr>
          <p:cNvPr id="135178" name="Rectangle 16"/>
          <p:cNvSpPr>
            <a:spLocks noChangeArrowheads="1"/>
          </p:cNvSpPr>
          <p:nvPr/>
        </p:nvSpPr>
        <p:spPr bwMode="auto">
          <a:xfrm>
            <a:off x="3505200" y="4267200"/>
            <a:ext cx="5029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loại transistor được sử dụng cho dòng điện lớn.</a:t>
            </a:r>
          </a:p>
          <a:p>
            <a:pPr eaLnBrk="1" hangingPunct="1"/>
            <a:r>
              <a:rPr lang="en-US" altLang="ko-KR">
                <a:latin typeface="Times New Roman" pitchFamily="18" charset="0"/>
                <a:cs typeface="Times New Roman" pitchFamily="18" charset="0"/>
              </a:rPr>
              <a:t>Tên ngoại hình được gọi từ trái qua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TO – 92 , TO – 220 , TO – 3. </a:t>
            </a: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0B53F2E-0587-454C-A776-9F00698E321A}" type="slidenum">
              <a:rPr lang="en-US" altLang="ko-KR" sz="1400" smtClean="0">
                <a:latin typeface="Times New Roman" pitchFamily="18" charset="0"/>
                <a:cs typeface="Times New Roman" pitchFamily="18" charset="0"/>
              </a:rPr>
              <a:pPr eaLnBrk="1" hangingPunct="1"/>
              <a:t>128</a:t>
            </a:fld>
            <a:endParaRPr lang="en-US" altLang="ko-KR" sz="1400" smtClean="0">
              <a:latin typeface="Times New Roman" pitchFamily="18" charset="0"/>
              <a:cs typeface="Times New Roman" pitchFamily="18" charset="0"/>
            </a:endParaRPr>
          </a:p>
        </p:txBody>
      </p:sp>
      <p:sp>
        <p:nvSpPr>
          <p:cNvPr id="136195" name="Text Box 2"/>
          <p:cNvSpPr txBox="1">
            <a:spLocks noChangeArrowheads="1"/>
          </p:cNvSpPr>
          <p:nvPr/>
        </p:nvSpPr>
        <p:spPr bwMode="auto">
          <a:xfrm>
            <a:off x="684213" y="892175"/>
            <a:ext cx="8731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2-1. SCR</a:t>
            </a:r>
          </a:p>
        </p:txBody>
      </p:sp>
      <p:sp>
        <p:nvSpPr>
          <p:cNvPr id="136196" name="Text Box 3"/>
          <p:cNvSpPr txBox="1">
            <a:spLocks noChangeArrowheads="1"/>
          </p:cNvSpPr>
          <p:nvPr/>
        </p:nvSpPr>
        <p:spPr bwMode="auto">
          <a:xfrm>
            <a:off x="352425" y="501650"/>
            <a:ext cx="31559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sp>
        <p:nvSpPr>
          <p:cNvPr id="136197"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solidFill>
                  <a:srgbClr val="000000"/>
                </a:solidFill>
                <a:latin typeface="Times New Roman" pitchFamily="18" charset="0"/>
                <a:cs typeface="Times New Roman" pitchFamily="18" charset="0"/>
              </a:rPr>
              <a:t>Để giảm điện trở bên trong của trạng thái ON</a:t>
            </a:r>
          </a:p>
          <a:p>
            <a:pPr eaLnBrk="1" hangingPunct="1"/>
            <a:r>
              <a:rPr lang="en-US" altLang="ko-KR">
                <a:solidFill>
                  <a:srgbClr val="000000"/>
                </a:solidFill>
                <a:latin typeface="Times New Roman" pitchFamily="18" charset="0"/>
                <a:cs typeface="Times New Roman" pitchFamily="18" charset="0"/>
              </a:rPr>
              <a:t>Ở TR đóng ở thông thường thì ta phải tăng nồng độ nước </a:t>
            </a:r>
          </a:p>
          <a:p>
            <a:pPr eaLnBrk="1" hangingPunct="1"/>
            <a:r>
              <a:rPr lang="en-US" altLang="ko-KR">
                <a:solidFill>
                  <a:srgbClr val="000000"/>
                </a:solidFill>
                <a:latin typeface="Times New Roman" pitchFamily="18" charset="0"/>
                <a:cs typeface="Times New Roman" pitchFamily="18" charset="0"/>
              </a:rPr>
              <a:t>không tinh khiết, mà nếu vậy thì điện áp ngược của cực C</a:t>
            </a:r>
          </a:p>
          <a:p>
            <a:pPr eaLnBrk="1" hangingPunct="1"/>
            <a:r>
              <a:rPr lang="en-US" altLang="ko-KR">
                <a:solidFill>
                  <a:srgbClr val="000000"/>
                </a:solidFill>
                <a:latin typeface="Times New Roman" pitchFamily="18" charset="0"/>
                <a:cs typeface="Times New Roman" pitchFamily="18" charset="0"/>
              </a:rPr>
              <a:t> sẽ thấp đi. Để khắc phục điều này, người ra đã tìm ra SCR</a:t>
            </a:r>
          </a:p>
          <a:p>
            <a:pPr eaLnBrk="1" hangingPunct="1"/>
            <a:r>
              <a:rPr lang="en-US" altLang="ko-KR">
                <a:solidFill>
                  <a:srgbClr val="000000"/>
                </a:solidFill>
                <a:latin typeface="Times New Roman" pitchFamily="18" charset="0"/>
                <a:cs typeface="Times New Roman" pitchFamily="18" charset="0"/>
              </a:rPr>
              <a:t> (silicon controlled rectifier) là phần tử đóng mở chuyên</a:t>
            </a:r>
          </a:p>
          <a:p>
            <a:pPr eaLnBrk="1" hangingPunct="1"/>
            <a:r>
              <a:rPr lang="en-US" altLang="ko-KR">
                <a:solidFill>
                  <a:srgbClr val="000000"/>
                </a:solidFill>
                <a:latin typeface="Times New Roman" pitchFamily="18" charset="0"/>
                <a:cs typeface="Times New Roman" pitchFamily="18" charset="0"/>
              </a:rPr>
              <a:t>sử dụng cho điện áp ngược cao, dòng điện cao, nó có </a:t>
            </a:r>
          </a:p>
          <a:p>
            <a:pPr eaLnBrk="1" hangingPunct="1"/>
            <a:r>
              <a:rPr lang="en-US" altLang="ko-KR">
                <a:solidFill>
                  <a:srgbClr val="000000"/>
                </a:solidFill>
                <a:latin typeface="Times New Roman" pitchFamily="18" charset="0"/>
                <a:cs typeface="Times New Roman" pitchFamily="18" charset="0"/>
              </a:rPr>
              <a:t>cấu tạo 4 lớp và 3 cực giống như ảnh 5-22(a). </a:t>
            </a:r>
          </a:p>
          <a:p>
            <a:pPr eaLnBrk="1" hangingPunct="1"/>
            <a:r>
              <a:rPr lang="en-US" altLang="ko-KR">
                <a:solidFill>
                  <a:srgbClr val="000000"/>
                </a:solidFill>
                <a:latin typeface="Times New Roman" pitchFamily="18" charset="0"/>
                <a:cs typeface="Times New Roman" pitchFamily="18" charset="0"/>
              </a:rPr>
              <a:t>Cái này còn gọi là thyristor. SCR này phải cho một dòng</a:t>
            </a:r>
          </a:p>
          <a:p>
            <a:pPr eaLnBrk="1" hangingPunct="1"/>
            <a:r>
              <a:rPr lang="en-US" altLang="ko-KR">
                <a:solidFill>
                  <a:srgbClr val="000000"/>
                </a:solidFill>
                <a:latin typeface="Times New Roman" pitchFamily="18" charset="0"/>
                <a:cs typeface="Times New Roman" pitchFamily="18" charset="0"/>
              </a:rPr>
              <a:t>kiểu xung lớn cỡ nào đi qua cổng(gate) thì mới có thể tạo</a:t>
            </a:r>
          </a:p>
          <a:p>
            <a:pPr eaLnBrk="1" hangingPunct="1"/>
            <a:r>
              <a:rPr lang="en-US" altLang="ko-KR">
                <a:solidFill>
                  <a:srgbClr val="000000"/>
                </a:solidFill>
                <a:latin typeface="Times New Roman" pitchFamily="18" charset="0"/>
                <a:cs typeface="Times New Roman" pitchFamily="18" charset="0"/>
              </a:rPr>
              <a:t>được dòng điện xuôi chiều từ anode đến cathode</a:t>
            </a:r>
            <a:r>
              <a:rPr lang="ko-KR" altLang="en-US">
                <a:solidFill>
                  <a:srgbClr val="000000"/>
                </a:solidFill>
                <a:latin typeface="Times New Roman" pitchFamily="18" charset="0"/>
                <a:cs typeface="Times New Roman" pitchFamily="18" charset="0"/>
              </a:rPr>
              <a:t> </a:t>
            </a:r>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(công tắc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ON).</a:t>
            </a:r>
          </a:p>
          <a:p>
            <a:pPr eaLnBrk="1" hangingPunct="1"/>
            <a:endParaRPr lang="en-US" altLang="ko-KR" sz="700">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Để giải thích hoạt động của SCR, thì ta sẽ thử suy nghĩ </a:t>
            </a:r>
          </a:p>
          <a:p>
            <a:pPr eaLnBrk="1" hangingPunct="1"/>
            <a:r>
              <a:rPr lang="en-US" altLang="ko-KR">
                <a:solidFill>
                  <a:srgbClr val="000000"/>
                </a:solidFill>
                <a:latin typeface="Times New Roman" pitchFamily="18" charset="0"/>
                <a:cs typeface="Times New Roman" pitchFamily="18" charset="0"/>
              </a:rPr>
              <a:t>theo cách tách 2 lớp ở giữa thành nửa rồi để cho pnp TR </a:t>
            </a:r>
          </a:p>
          <a:p>
            <a:pPr eaLnBrk="1" hangingPunct="1"/>
            <a:r>
              <a:rPr lang="en-US" altLang="ko-KR">
                <a:solidFill>
                  <a:srgbClr val="000000"/>
                </a:solidFill>
                <a:latin typeface="Times New Roman" pitchFamily="18" charset="0"/>
                <a:cs typeface="Times New Roman" pitchFamily="18" charset="0"/>
              </a:rPr>
              <a:t>và npn TR tiếp xúc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5-22(b).</a:t>
            </a:r>
          </a:p>
          <a:p>
            <a:pPr eaLnBrk="1" hangingPunct="1"/>
            <a:endParaRPr lang="en-US" altLang="ko-KR" sz="700">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   ⊙ Nếu cổng(Gate) tiếp đất thì</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Q1 ngắt, lúc này</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ICI = IB2 = ICO1 turn 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Q2  rất nhỏ.</a:t>
            </a:r>
          </a:p>
          <a:p>
            <a:pPr eaLnBrk="1" hangingPunct="1"/>
            <a:r>
              <a:rPr lang="en-US" altLang="ko-KR">
                <a:solidFill>
                  <a:srgbClr val="000000"/>
                </a:solidFill>
                <a:latin typeface="Times New Roman" pitchFamily="18" charset="0"/>
                <a:cs typeface="Times New Roman" pitchFamily="18" charset="0"/>
              </a:rPr>
              <a:t>       Tức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khi VGK = 0 thì </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SCR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OFF.      </a:t>
            </a:r>
          </a:p>
          <a:p>
            <a:pPr eaLnBrk="1" hangingPunct="1"/>
            <a:r>
              <a:rPr lang="en-US" altLang="ko-KR">
                <a:solidFill>
                  <a:srgbClr val="000000"/>
                </a:solidFill>
                <a:latin typeface="Times New Roman" pitchFamily="18" charset="0"/>
                <a:cs typeface="Times New Roman" pitchFamily="18" charset="0"/>
              </a:rPr>
              <a:t>   ⊙ Nếu cho điện áp + (thường là xung) lớn đủ lên cổng(Gate) thì</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Q1 sẽ</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turn ON, IC1 = IB2 sẽ turn 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Q2 ,</a:t>
            </a:r>
          </a:p>
          <a:p>
            <a:pPr eaLnBrk="1" hangingPunct="1"/>
            <a:r>
              <a:rPr lang="en-US" altLang="ko-KR">
                <a:solidFill>
                  <a:srgbClr val="000000"/>
                </a:solidFill>
                <a:latin typeface="Times New Roman" pitchFamily="18" charset="0"/>
                <a:cs typeface="Times New Roman" pitchFamily="18" charset="0"/>
              </a:rPr>
              <a:t>       IC2 = IB1 turn 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Q1 thêm nữa. Tức, trong vòng Q1 , Q2 </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sự phục hồi(regeneration)</a:t>
            </a:r>
            <a:r>
              <a:rPr lang="ko-KR" altLang="en-US">
                <a:solidFill>
                  <a:srgbClr val="000000"/>
                </a:solidFill>
                <a:latin typeface="Times New Roman" pitchFamily="18" charset="0"/>
                <a:cs typeface="Times New Roman" pitchFamily="18" charset="0"/>
              </a:rPr>
              <a:t> </a:t>
            </a:r>
          </a:p>
          <a:p>
            <a:pPr eaLnBrk="1" hangingPunct="1"/>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sẽ xảy ra và </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2</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này</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được turn ON. Ngay từ khi điện áp được đặt lên cổng, người ta gọi thời gian cho đến khi SCR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ON là thời gian turn ON SCR và thường là từ</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0.1 ~ 1 μs . </a:t>
            </a:r>
          </a:p>
          <a:p>
            <a:pPr eaLnBrk="1" hangingPunct="1"/>
            <a:r>
              <a:rPr lang="en-US" altLang="ko-KR">
                <a:solidFill>
                  <a:srgbClr val="000000"/>
                </a:solidFill>
                <a:latin typeface="Times New Roman" pitchFamily="18" charset="0"/>
                <a:cs typeface="Times New Roman" pitchFamily="18" charset="0"/>
              </a:rPr>
              <a:t>   ⊙ Trước hết nếu</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SCR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turn 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dù ta gỡ bỏ điện áp ở cổng(Gate) thì trạng thái</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vẫn sẽ được suy trì. Nếu định turn OFF SCR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thì phải chuyển điện áp của anode về 0 hoặc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 Thời gian turn OFF</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 từ</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 ~ 30 μs.  </a:t>
            </a:r>
          </a:p>
        </p:txBody>
      </p:sp>
      <p:sp>
        <p:nvSpPr>
          <p:cNvPr id="136198" name="Text Box 5"/>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sp>
        <p:nvSpPr>
          <p:cNvPr id="136199" name="Text Box 6"/>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362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438" y="1484313"/>
            <a:ext cx="39433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201" name="직사각형 1"/>
          <p:cNvSpPr>
            <a:spLocks noChangeArrowheads="1"/>
          </p:cNvSpPr>
          <p:nvPr/>
        </p:nvSpPr>
        <p:spPr bwMode="auto">
          <a:xfrm>
            <a:off x="4932363" y="3716338"/>
            <a:ext cx="3311525"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5-22 Cấu tạo và mạch tương đương của SCR</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00EF19D-2402-4DA3-BCEF-E65DA7BBB393}" type="slidenum">
              <a:rPr lang="en-US" altLang="ko-KR" sz="1400" smtClean="0">
                <a:latin typeface="Times New Roman" pitchFamily="18" charset="0"/>
                <a:cs typeface="Times New Roman" pitchFamily="18" charset="0"/>
              </a:rPr>
              <a:pPr eaLnBrk="1" hangingPunct="1"/>
              <a:t>129</a:t>
            </a:fld>
            <a:endParaRPr lang="en-US" altLang="ko-KR" sz="1400" smtClean="0">
              <a:latin typeface="Times New Roman" pitchFamily="18" charset="0"/>
              <a:cs typeface="Times New Roman" pitchFamily="18" charset="0"/>
            </a:endParaRPr>
          </a:p>
        </p:txBody>
      </p:sp>
      <p:sp>
        <p:nvSpPr>
          <p:cNvPr id="137219" name="Text Box 2"/>
          <p:cNvSpPr txBox="1">
            <a:spLocks noChangeArrowheads="1"/>
          </p:cNvSpPr>
          <p:nvPr/>
        </p:nvSpPr>
        <p:spPr bwMode="auto">
          <a:xfrm>
            <a:off x="684213" y="892175"/>
            <a:ext cx="1114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2-2. TRIAC</a:t>
            </a:r>
          </a:p>
        </p:txBody>
      </p:sp>
      <p:sp>
        <p:nvSpPr>
          <p:cNvPr id="137220"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TRIAC là công tắc xoay chiều 3 cực có chức năng gần giống với 2 SCR được tiếp xúc song song ngược, cái tên đó bắt nguồn từ ý nghĩa là điều khiển điện xoay chiều(AC) bằng 3 cực(Triode). </a:t>
            </a:r>
          </a:p>
          <a:p>
            <a:pPr eaLnBrk="1" hangingPunct="1"/>
            <a:r>
              <a:rPr lang="en-US" altLang="ko-KR">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 Đặc tính điện của nó giống với</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SSS</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nhưng, ở TRIAC có cổng (Gate) và nó có đặc tính là tín hiệu cổng(Gate) của cực nào đi chăng nữa (cực +, -) thì nó cũng khởi động(Trigger) được nên mạch điều khiển đơn giản và số phụ tùng cũng tốn ít. Do đó có thể gọi là linh kiện phù hợp hơn với điện xoay chiều.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19-5 là cấu tạo của</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TRIAC. Khi dòng điện chay từ</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T2 → T1 thì dòng điện chạy theo công tắc pnpn là mũi tên</a:t>
            </a:r>
            <a:r>
              <a:rPr lang="ko-KR" altLang="en-US">
                <a:solidFill>
                  <a:srgbClr val="000000"/>
                </a:solidFill>
                <a:latin typeface="Times New Roman" pitchFamily="18" charset="0"/>
                <a:cs typeface="Times New Roman" pitchFamily="18" charset="0"/>
              </a:rPr>
              <a:t> ① </a:t>
            </a:r>
            <a:r>
              <a:rPr lang="en-US" altLang="ko-KR">
                <a:solidFill>
                  <a:srgbClr val="000000"/>
                </a:solidFill>
                <a:latin typeface="Times New Roman" pitchFamily="18" charset="0"/>
                <a:cs typeface="Times New Roman" pitchFamily="18" charset="0"/>
              </a:rPr>
              <a:t>, khi dòng điện chạy từ T1 → T2 thì dòng điện chạy theo công tắc pnpn là mũi tên</a:t>
            </a:r>
            <a:r>
              <a:rPr lang="ko-KR" altLang="en-US">
                <a:solidFill>
                  <a:srgbClr val="000000"/>
                </a:solidFill>
                <a:latin typeface="Times New Roman" pitchFamily="18" charset="0"/>
                <a:cs typeface="Times New Roman" pitchFamily="18" charset="0"/>
              </a:rPr>
              <a:t> ②</a:t>
            </a:r>
            <a:r>
              <a:rPr lang="en-US" altLang="ko-KR">
                <a:solidFill>
                  <a:srgbClr val="000000"/>
                </a:solidFill>
                <a:latin typeface="Times New Roman" pitchFamily="18" charset="0"/>
                <a:cs typeface="Times New Roman" pitchFamily="18" charset="0"/>
              </a:rPr>
              <a:t>. Ở cổng(Gate) sẽ phức tạp một chút</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nhưng được thiết kế để có thể khởi động(Trigger) dù ở Gate Bias nào đi chăng nữa.</a:t>
            </a:r>
            <a:endParaRPr lang="ko-KR" altLang="en-US">
              <a:solidFill>
                <a:srgbClr val="000000"/>
              </a:solidFill>
              <a:latin typeface="Times New Roman" pitchFamily="18" charset="0"/>
              <a:cs typeface="Times New Roman" pitchFamily="18" charset="0"/>
            </a:endParaRPr>
          </a:p>
        </p:txBody>
      </p:sp>
      <p:sp>
        <p:nvSpPr>
          <p:cNvPr id="137221" name="Text Box 5"/>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sp>
        <p:nvSpPr>
          <p:cNvPr id="137222" name="Text Box 6"/>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372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412875"/>
            <a:ext cx="3067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4" name="직사각형 1"/>
          <p:cNvSpPr>
            <a:spLocks noChangeArrowheads="1"/>
          </p:cNvSpPr>
          <p:nvPr/>
        </p:nvSpPr>
        <p:spPr bwMode="auto">
          <a:xfrm>
            <a:off x="3276600" y="3429000"/>
            <a:ext cx="2087563"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19-5 Cấu tạo của TRIAC</a:t>
            </a:r>
            <a:endParaRPr lang="ko-KR" altLang="en-US">
              <a:latin typeface="Times New Roman" pitchFamily="18" charset="0"/>
              <a:cs typeface="Times New Roman" pitchFamily="18" charset="0"/>
            </a:endParaRPr>
          </a:p>
        </p:txBody>
      </p:sp>
      <p:sp>
        <p:nvSpPr>
          <p:cNvPr id="137225" name="직사각형 1"/>
          <p:cNvSpPr>
            <a:spLocks noChangeArrowheads="1"/>
          </p:cNvSpPr>
          <p:nvPr/>
        </p:nvSpPr>
        <p:spPr bwMode="auto">
          <a:xfrm>
            <a:off x="2941638" y="3141663"/>
            <a:ext cx="1042987"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Cấu tạo</a:t>
            </a:r>
            <a:endParaRPr lang="ko-KR" altLang="en-US">
              <a:latin typeface="Times New Roman" pitchFamily="18" charset="0"/>
              <a:cs typeface="Times New Roman" pitchFamily="18" charset="0"/>
            </a:endParaRPr>
          </a:p>
        </p:txBody>
      </p:sp>
      <p:sp>
        <p:nvSpPr>
          <p:cNvPr id="137226" name="직사각형 1"/>
          <p:cNvSpPr>
            <a:spLocks noChangeArrowheads="1"/>
          </p:cNvSpPr>
          <p:nvPr/>
        </p:nvSpPr>
        <p:spPr bwMode="auto">
          <a:xfrm>
            <a:off x="4968875" y="3140075"/>
            <a:ext cx="104298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Ký hiệu</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1F48628-09FB-492D-8EB9-BF909A886EFC}" type="slidenum">
              <a:rPr lang="en-US" altLang="ko-KR" sz="1400" smtClean="0">
                <a:latin typeface="Times New Roman" pitchFamily="18" charset="0"/>
                <a:cs typeface="Times New Roman" pitchFamily="18" charset="0"/>
              </a:rPr>
              <a:pPr eaLnBrk="1" hangingPunct="1"/>
              <a:t>130</a:t>
            </a:fld>
            <a:endParaRPr lang="en-US" altLang="ko-KR" sz="1400" smtClean="0">
              <a:latin typeface="Times New Roman" pitchFamily="18" charset="0"/>
              <a:cs typeface="Times New Roman" pitchFamily="18" charset="0"/>
            </a:endParaRPr>
          </a:p>
        </p:txBody>
      </p:sp>
      <p:sp>
        <p:nvSpPr>
          <p:cNvPr id="138243"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3824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Trigger Mode của TRIAC</a:t>
            </a:r>
          </a:p>
          <a:p>
            <a:pPr eaLnBrk="1" hangingPunct="1"/>
            <a:endParaRPr lang="en-US" altLang="ko-KR" b="1">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TRIAC có 4 loại Trigger như ảnh trên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mỗi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Trigger có độ cảm khác nhau. Độ cảm của Trigger Mode 1+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Mode 3-  tốt nên hai loại này được sử dụng chủ yếu như điều kiện hoạt động.  Ngược lại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 Mode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3- Mode có độ cảm kém nên không phù hợp để sử dụng.</a:t>
            </a:r>
          </a:p>
        </p:txBody>
      </p:sp>
      <p:sp>
        <p:nvSpPr>
          <p:cNvPr id="138245" name="Text Box 4"/>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grpSp>
        <p:nvGrpSpPr>
          <p:cNvPr id="138246" name="Group 5"/>
          <p:cNvGrpSpPr>
            <a:grpSpLocks/>
          </p:cNvGrpSpPr>
          <p:nvPr/>
        </p:nvGrpSpPr>
        <p:grpSpPr bwMode="auto">
          <a:xfrm>
            <a:off x="755650" y="1341438"/>
            <a:ext cx="7797800" cy="3024187"/>
            <a:chOff x="350" y="864"/>
            <a:chExt cx="5038" cy="2064"/>
          </a:xfrm>
        </p:grpSpPr>
        <p:sp>
          <p:nvSpPr>
            <p:cNvPr id="138247" name="Line 6"/>
            <p:cNvSpPr>
              <a:spLocks noChangeShapeType="1"/>
            </p:cNvSpPr>
            <p:nvPr/>
          </p:nvSpPr>
          <p:spPr bwMode="auto">
            <a:xfrm>
              <a:off x="396" y="864"/>
              <a:ext cx="4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48" name="Line 7"/>
            <p:cNvSpPr>
              <a:spLocks noChangeShapeType="1"/>
            </p:cNvSpPr>
            <p:nvPr/>
          </p:nvSpPr>
          <p:spPr bwMode="auto">
            <a:xfrm>
              <a:off x="1644" y="864"/>
              <a:ext cx="0" cy="20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49" name="Line 8"/>
            <p:cNvSpPr>
              <a:spLocks noChangeShapeType="1"/>
            </p:cNvSpPr>
            <p:nvPr/>
          </p:nvSpPr>
          <p:spPr bwMode="auto">
            <a:xfrm>
              <a:off x="396" y="864"/>
              <a:ext cx="0" cy="15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0" name="Line 9"/>
            <p:cNvSpPr>
              <a:spLocks noChangeShapeType="1"/>
            </p:cNvSpPr>
            <p:nvPr/>
          </p:nvSpPr>
          <p:spPr bwMode="auto">
            <a:xfrm>
              <a:off x="2892" y="864"/>
              <a:ext cx="0" cy="20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1" name="Line 10"/>
            <p:cNvSpPr>
              <a:spLocks noChangeShapeType="1"/>
            </p:cNvSpPr>
            <p:nvPr/>
          </p:nvSpPr>
          <p:spPr bwMode="auto">
            <a:xfrm>
              <a:off x="4140" y="864"/>
              <a:ext cx="0" cy="20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2" name="Line 11"/>
            <p:cNvSpPr>
              <a:spLocks noChangeShapeType="1"/>
            </p:cNvSpPr>
            <p:nvPr/>
          </p:nvSpPr>
          <p:spPr bwMode="auto">
            <a:xfrm>
              <a:off x="5388" y="864"/>
              <a:ext cx="0" cy="15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3" name="Line 12"/>
            <p:cNvSpPr>
              <a:spLocks noChangeShapeType="1"/>
            </p:cNvSpPr>
            <p:nvPr/>
          </p:nvSpPr>
          <p:spPr bwMode="auto">
            <a:xfrm>
              <a:off x="396" y="2448"/>
              <a:ext cx="4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4" name="Line 13"/>
            <p:cNvSpPr>
              <a:spLocks noChangeShapeType="1"/>
            </p:cNvSpPr>
            <p:nvPr/>
          </p:nvSpPr>
          <p:spPr bwMode="auto">
            <a:xfrm>
              <a:off x="902" y="1673"/>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5" name="AutoShape 14"/>
            <p:cNvSpPr>
              <a:spLocks noChangeArrowheads="1"/>
            </p:cNvSpPr>
            <p:nvPr/>
          </p:nvSpPr>
          <p:spPr bwMode="auto">
            <a:xfrm>
              <a:off x="912" y="1673"/>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56" name="AutoShape 15"/>
            <p:cNvSpPr>
              <a:spLocks noChangeArrowheads="1"/>
            </p:cNvSpPr>
            <p:nvPr/>
          </p:nvSpPr>
          <p:spPr bwMode="auto">
            <a:xfrm flipV="1">
              <a:off x="996" y="1673"/>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57" name="Line 16"/>
            <p:cNvSpPr>
              <a:spLocks noChangeShapeType="1"/>
            </p:cNvSpPr>
            <p:nvPr/>
          </p:nvSpPr>
          <p:spPr bwMode="auto">
            <a:xfrm>
              <a:off x="896" y="1857"/>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8" name="Line 17"/>
            <p:cNvSpPr>
              <a:spLocks noChangeShapeType="1"/>
            </p:cNvSpPr>
            <p:nvPr/>
          </p:nvSpPr>
          <p:spPr bwMode="auto">
            <a:xfrm>
              <a:off x="1038" y="1857"/>
              <a:ext cx="84"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59" name="Line 18"/>
            <p:cNvSpPr>
              <a:spLocks noChangeShapeType="1"/>
            </p:cNvSpPr>
            <p:nvPr/>
          </p:nvSpPr>
          <p:spPr bwMode="auto">
            <a:xfrm>
              <a:off x="1122" y="2041"/>
              <a:ext cx="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260" name="Group 19"/>
            <p:cNvGrpSpPr>
              <a:grpSpLocks/>
            </p:cNvGrpSpPr>
            <p:nvPr/>
          </p:nvGrpSpPr>
          <p:grpSpPr bwMode="auto">
            <a:xfrm>
              <a:off x="903" y="1213"/>
              <a:ext cx="239" cy="276"/>
              <a:chOff x="1140" y="1104"/>
              <a:chExt cx="274" cy="288"/>
            </a:xfrm>
          </p:grpSpPr>
          <p:sp>
            <p:nvSpPr>
              <p:cNvPr id="138428" name="Rectangle 20"/>
              <p:cNvSpPr>
                <a:spLocks noChangeArrowheads="1"/>
              </p:cNvSpPr>
              <p:nvPr/>
            </p:nvSpPr>
            <p:spPr bwMode="auto">
              <a:xfrm>
                <a:off x="1199" y="1104"/>
                <a:ext cx="193"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29" name="Text Box 21"/>
              <p:cNvSpPr txBox="1">
                <a:spLocks noChangeArrowheads="1"/>
              </p:cNvSpPr>
              <p:nvPr/>
            </p:nvSpPr>
            <p:spPr bwMode="auto">
              <a:xfrm>
                <a:off x="1140" y="1104"/>
                <a:ext cx="274"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Tải</a:t>
                </a:r>
                <a:endParaRPr lang="ko-KR" altLang="en-US">
                  <a:latin typeface="Times New Roman" pitchFamily="18" charset="0"/>
                  <a:cs typeface="Times New Roman" pitchFamily="18" charset="0"/>
                </a:endParaRPr>
              </a:p>
            </p:txBody>
          </p:sp>
        </p:grpSp>
        <p:sp>
          <p:nvSpPr>
            <p:cNvPr id="138261" name="Line 22"/>
            <p:cNvSpPr>
              <a:spLocks noChangeShapeType="1"/>
            </p:cNvSpPr>
            <p:nvPr/>
          </p:nvSpPr>
          <p:spPr bwMode="auto">
            <a:xfrm flipV="1">
              <a:off x="1033" y="1489"/>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62" name="Line 23"/>
            <p:cNvSpPr>
              <a:spLocks noChangeShapeType="1"/>
            </p:cNvSpPr>
            <p:nvPr/>
          </p:nvSpPr>
          <p:spPr bwMode="auto">
            <a:xfrm flipV="1">
              <a:off x="1038" y="1029"/>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263" name="Group 24"/>
            <p:cNvGrpSpPr>
              <a:grpSpLocks/>
            </p:cNvGrpSpPr>
            <p:nvPr/>
          </p:nvGrpSpPr>
          <p:grpSpPr bwMode="auto">
            <a:xfrm>
              <a:off x="828" y="1023"/>
              <a:ext cx="210" cy="0"/>
              <a:chOff x="1056" y="1098"/>
              <a:chExt cx="240" cy="0"/>
            </a:xfrm>
          </p:grpSpPr>
          <p:sp>
            <p:nvSpPr>
              <p:cNvPr id="138426" name="Line 25"/>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27" name="Line 26"/>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264" name="Oval 27"/>
            <p:cNvSpPr>
              <a:spLocks noChangeArrowheads="1"/>
            </p:cNvSpPr>
            <p:nvPr/>
          </p:nvSpPr>
          <p:spPr bwMode="auto">
            <a:xfrm>
              <a:off x="744" y="983"/>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65" name="Line 28"/>
            <p:cNvSpPr>
              <a:spLocks noChangeShapeType="1"/>
            </p:cNvSpPr>
            <p:nvPr/>
          </p:nvSpPr>
          <p:spPr bwMode="auto">
            <a:xfrm>
              <a:off x="1038" y="1857"/>
              <a:ext cx="0" cy="4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266" name="Group 29"/>
            <p:cNvGrpSpPr>
              <a:grpSpLocks/>
            </p:cNvGrpSpPr>
            <p:nvPr/>
          </p:nvGrpSpPr>
          <p:grpSpPr bwMode="auto">
            <a:xfrm>
              <a:off x="828" y="2265"/>
              <a:ext cx="210" cy="0"/>
              <a:chOff x="1056" y="1098"/>
              <a:chExt cx="240" cy="0"/>
            </a:xfrm>
          </p:grpSpPr>
          <p:sp>
            <p:nvSpPr>
              <p:cNvPr id="138424" name="Line 30"/>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25" name="Line 31"/>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267" name="Oval 32"/>
            <p:cNvSpPr>
              <a:spLocks noChangeArrowheads="1"/>
            </p:cNvSpPr>
            <p:nvPr/>
          </p:nvSpPr>
          <p:spPr bwMode="auto">
            <a:xfrm>
              <a:off x="744" y="2219"/>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68" name="Oval 33"/>
            <p:cNvSpPr>
              <a:spLocks noChangeArrowheads="1"/>
            </p:cNvSpPr>
            <p:nvPr/>
          </p:nvSpPr>
          <p:spPr bwMode="auto">
            <a:xfrm>
              <a:off x="1290" y="1995"/>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69" name="Text Box 34"/>
            <p:cNvSpPr txBox="1">
              <a:spLocks noChangeArrowheads="1"/>
            </p:cNvSpPr>
            <p:nvPr/>
          </p:nvSpPr>
          <p:spPr bwMode="auto">
            <a:xfrm>
              <a:off x="867" y="1535"/>
              <a:ext cx="230"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T2</a:t>
              </a:r>
            </a:p>
          </p:txBody>
        </p:sp>
        <p:sp>
          <p:nvSpPr>
            <p:cNvPr id="138270" name="Text Box 35"/>
            <p:cNvSpPr txBox="1">
              <a:spLocks noChangeArrowheads="1"/>
            </p:cNvSpPr>
            <p:nvPr/>
          </p:nvSpPr>
          <p:spPr bwMode="auto">
            <a:xfrm>
              <a:off x="870" y="1839"/>
              <a:ext cx="233"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T1</a:t>
              </a:r>
            </a:p>
          </p:txBody>
        </p:sp>
        <p:sp>
          <p:nvSpPr>
            <p:cNvPr id="138271" name="Text Box 36"/>
            <p:cNvSpPr txBox="1">
              <a:spLocks noChangeArrowheads="1"/>
            </p:cNvSpPr>
            <p:nvPr/>
          </p:nvSpPr>
          <p:spPr bwMode="auto">
            <a:xfrm>
              <a:off x="1080" y="1885"/>
              <a:ext cx="191"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G</a:t>
              </a:r>
            </a:p>
          </p:txBody>
        </p:sp>
        <p:sp>
          <p:nvSpPr>
            <p:cNvPr id="138272" name="Oval 37"/>
            <p:cNvSpPr>
              <a:spLocks noChangeArrowheads="1"/>
            </p:cNvSpPr>
            <p:nvPr/>
          </p:nvSpPr>
          <p:spPr bwMode="auto">
            <a:xfrm>
              <a:off x="534" y="96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73" name="Line 38"/>
            <p:cNvSpPr>
              <a:spLocks noChangeShapeType="1"/>
            </p:cNvSpPr>
            <p:nvPr/>
          </p:nvSpPr>
          <p:spPr bwMode="auto">
            <a:xfrm>
              <a:off x="534" y="102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74" name="Line 39"/>
            <p:cNvSpPr>
              <a:spLocks noChangeShapeType="1"/>
            </p:cNvSpPr>
            <p:nvPr/>
          </p:nvSpPr>
          <p:spPr bwMode="auto">
            <a:xfrm>
              <a:off x="597" y="960"/>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75" name="Oval 40"/>
            <p:cNvSpPr>
              <a:spLocks noChangeArrowheads="1"/>
            </p:cNvSpPr>
            <p:nvPr/>
          </p:nvSpPr>
          <p:spPr bwMode="auto">
            <a:xfrm>
              <a:off x="534" y="219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76" name="Line 41"/>
            <p:cNvSpPr>
              <a:spLocks noChangeShapeType="1"/>
            </p:cNvSpPr>
            <p:nvPr/>
          </p:nvSpPr>
          <p:spPr bwMode="auto">
            <a:xfrm>
              <a:off x="534" y="225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77" name="Oval 42"/>
            <p:cNvSpPr>
              <a:spLocks noChangeArrowheads="1"/>
            </p:cNvSpPr>
            <p:nvPr/>
          </p:nvSpPr>
          <p:spPr bwMode="auto">
            <a:xfrm>
              <a:off x="1416" y="1966"/>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78" name="Line 43"/>
            <p:cNvSpPr>
              <a:spLocks noChangeShapeType="1"/>
            </p:cNvSpPr>
            <p:nvPr/>
          </p:nvSpPr>
          <p:spPr bwMode="auto">
            <a:xfrm>
              <a:off x="1416" y="2035"/>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79" name="Line 44"/>
            <p:cNvSpPr>
              <a:spLocks noChangeShapeType="1"/>
            </p:cNvSpPr>
            <p:nvPr/>
          </p:nvSpPr>
          <p:spPr bwMode="auto">
            <a:xfrm>
              <a:off x="1479" y="1966"/>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0" name="Line 45"/>
            <p:cNvSpPr>
              <a:spLocks noChangeShapeType="1"/>
            </p:cNvSpPr>
            <p:nvPr/>
          </p:nvSpPr>
          <p:spPr bwMode="auto">
            <a:xfrm>
              <a:off x="828" y="1167"/>
              <a:ext cx="0" cy="9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1" name="Text Box 46"/>
            <p:cNvSpPr txBox="1">
              <a:spLocks noChangeArrowheads="1"/>
            </p:cNvSpPr>
            <p:nvPr/>
          </p:nvSpPr>
          <p:spPr bwMode="auto">
            <a:xfrm>
              <a:off x="350" y="1506"/>
              <a:ext cx="537"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a:t>
              </a:r>
              <a:endParaRPr lang="ko-KR" altLang="en-US">
                <a:latin typeface="Times New Roman" pitchFamily="18" charset="0"/>
                <a:cs typeface="Times New Roman" pitchFamily="18" charset="0"/>
              </a:endParaRPr>
            </a:p>
          </p:txBody>
        </p:sp>
        <p:sp>
          <p:nvSpPr>
            <p:cNvPr id="138282" name="Line 47"/>
            <p:cNvSpPr>
              <a:spLocks noChangeShapeType="1"/>
            </p:cNvSpPr>
            <p:nvPr/>
          </p:nvSpPr>
          <p:spPr bwMode="auto">
            <a:xfrm>
              <a:off x="1038" y="226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3" name="Oval 48"/>
            <p:cNvSpPr>
              <a:spLocks noChangeArrowheads="1"/>
            </p:cNvSpPr>
            <p:nvPr/>
          </p:nvSpPr>
          <p:spPr bwMode="auto">
            <a:xfrm>
              <a:off x="1278" y="2218"/>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84" name="Oval 49"/>
            <p:cNvSpPr>
              <a:spLocks noChangeArrowheads="1"/>
            </p:cNvSpPr>
            <p:nvPr/>
          </p:nvSpPr>
          <p:spPr bwMode="auto">
            <a:xfrm>
              <a:off x="1422" y="2202"/>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85" name="Line 50"/>
            <p:cNvSpPr>
              <a:spLocks noChangeShapeType="1"/>
            </p:cNvSpPr>
            <p:nvPr/>
          </p:nvSpPr>
          <p:spPr bwMode="auto">
            <a:xfrm>
              <a:off x="1422" y="2271"/>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6" name="Freeform 51"/>
            <p:cNvSpPr>
              <a:spLocks/>
            </p:cNvSpPr>
            <p:nvPr/>
          </p:nvSpPr>
          <p:spPr bwMode="auto">
            <a:xfrm>
              <a:off x="1080" y="2096"/>
              <a:ext cx="168" cy="128"/>
            </a:xfrm>
            <a:custGeom>
              <a:avLst/>
              <a:gdLst>
                <a:gd name="T0" fmla="*/ 168 w 168"/>
                <a:gd name="T1" fmla="*/ 16 h 128"/>
                <a:gd name="T2" fmla="*/ 24 w 168"/>
                <a:gd name="T3" fmla="*/ 16 h 128"/>
                <a:gd name="T4" fmla="*/ 24 w 168"/>
                <a:gd name="T5" fmla="*/ 112 h 128"/>
                <a:gd name="T6" fmla="*/ 168 w 168"/>
                <a:gd name="T7" fmla="*/ 112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 h="128">
                  <a:moveTo>
                    <a:pt x="168" y="16"/>
                  </a:moveTo>
                  <a:cubicBezTo>
                    <a:pt x="108" y="8"/>
                    <a:pt x="48" y="0"/>
                    <a:pt x="24" y="16"/>
                  </a:cubicBezTo>
                  <a:cubicBezTo>
                    <a:pt x="0" y="32"/>
                    <a:pt x="0" y="96"/>
                    <a:pt x="24" y="112"/>
                  </a:cubicBezTo>
                  <a:cubicBezTo>
                    <a:pt x="48" y="128"/>
                    <a:pt x="136" y="104"/>
                    <a:pt x="168" y="112"/>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7" name="Line 52"/>
            <p:cNvSpPr>
              <a:spLocks noChangeShapeType="1"/>
            </p:cNvSpPr>
            <p:nvPr/>
          </p:nvSpPr>
          <p:spPr bwMode="auto">
            <a:xfrm>
              <a:off x="1212" y="216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8" name="Line 53"/>
            <p:cNvSpPr>
              <a:spLocks noChangeShapeType="1"/>
            </p:cNvSpPr>
            <p:nvPr/>
          </p:nvSpPr>
          <p:spPr bwMode="auto">
            <a:xfrm flipH="1">
              <a:off x="1212" y="2208"/>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89" name="Line 54"/>
            <p:cNvSpPr>
              <a:spLocks noChangeShapeType="1"/>
            </p:cNvSpPr>
            <p:nvPr/>
          </p:nvSpPr>
          <p:spPr bwMode="auto">
            <a:xfrm>
              <a:off x="2120" y="1673"/>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90" name="AutoShape 55"/>
            <p:cNvSpPr>
              <a:spLocks noChangeArrowheads="1"/>
            </p:cNvSpPr>
            <p:nvPr/>
          </p:nvSpPr>
          <p:spPr bwMode="auto">
            <a:xfrm>
              <a:off x="2130" y="1673"/>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91" name="AutoShape 56"/>
            <p:cNvSpPr>
              <a:spLocks noChangeArrowheads="1"/>
            </p:cNvSpPr>
            <p:nvPr/>
          </p:nvSpPr>
          <p:spPr bwMode="auto">
            <a:xfrm flipV="1">
              <a:off x="2214" y="1673"/>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292" name="Line 57"/>
            <p:cNvSpPr>
              <a:spLocks noChangeShapeType="1"/>
            </p:cNvSpPr>
            <p:nvPr/>
          </p:nvSpPr>
          <p:spPr bwMode="auto">
            <a:xfrm>
              <a:off x="2114" y="1857"/>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93" name="Line 58"/>
            <p:cNvSpPr>
              <a:spLocks noChangeShapeType="1"/>
            </p:cNvSpPr>
            <p:nvPr/>
          </p:nvSpPr>
          <p:spPr bwMode="auto">
            <a:xfrm>
              <a:off x="2256" y="1857"/>
              <a:ext cx="84"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94" name="Line 59"/>
            <p:cNvSpPr>
              <a:spLocks noChangeShapeType="1"/>
            </p:cNvSpPr>
            <p:nvPr/>
          </p:nvSpPr>
          <p:spPr bwMode="auto">
            <a:xfrm>
              <a:off x="2340" y="2041"/>
              <a:ext cx="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295" name="Group 60"/>
            <p:cNvGrpSpPr>
              <a:grpSpLocks/>
            </p:cNvGrpSpPr>
            <p:nvPr/>
          </p:nvGrpSpPr>
          <p:grpSpPr bwMode="auto">
            <a:xfrm>
              <a:off x="2121" y="1213"/>
              <a:ext cx="239" cy="276"/>
              <a:chOff x="1140" y="1104"/>
              <a:chExt cx="274" cy="288"/>
            </a:xfrm>
          </p:grpSpPr>
          <p:sp>
            <p:nvSpPr>
              <p:cNvPr id="138422" name="Rectangle 61"/>
              <p:cNvSpPr>
                <a:spLocks noChangeArrowheads="1"/>
              </p:cNvSpPr>
              <p:nvPr/>
            </p:nvSpPr>
            <p:spPr bwMode="auto">
              <a:xfrm>
                <a:off x="1199" y="1104"/>
                <a:ext cx="193"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23" name="Text Box 62"/>
              <p:cNvSpPr txBox="1">
                <a:spLocks noChangeArrowheads="1"/>
              </p:cNvSpPr>
              <p:nvPr/>
            </p:nvSpPr>
            <p:spPr bwMode="auto">
              <a:xfrm>
                <a:off x="1140" y="1104"/>
                <a:ext cx="274"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Tải</a:t>
                </a:r>
                <a:endParaRPr lang="ko-KR" altLang="en-US">
                  <a:latin typeface="Times New Roman" pitchFamily="18" charset="0"/>
                  <a:cs typeface="Times New Roman" pitchFamily="18" charset="0"/>
                </a:endParaRPr>
              </a:p>
            </p:txBody>
          </p:sp>
        </p:grpSp>
        <p:sp>
          <p:nvSpPr>
            <p:cNvPr id="138296" name="Line 63"/>
            <p:cNvSpPr>
              <a:spLocks noChangeShapeType="1"/>
            </p:cNvSpPr>
            <p:nvPr/>
          </p:nvSpPr>
          <p:spPr bwMode="auto">
            <a:xfrm flipV="1">
              <a:off x="2251" y="1489"/>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297" name="Line 64"/>
            <p:cNvSpPr>
              <a:spLocks noChangeShapeType="1"/>
            </p:cNvSpPr>
            <p:nvPr/>
          </p:nvSpPr>
          <p:spPr bwMode="auto">
            <a:xfrm flipV="1">
              <a:off x="2256" y="1029"/>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298" name="Group 65"/>
            <p:cNvGrpSpPr>
              <a:grpSpLocks/>
            </p:cNvGrpSpPr>
            <p:nvPr/>
          </p:nvGrpSpPr>
          <p:grpSpPr bwMode="auto">
            <a:xfrm>
              <a:off x="2046" y="1023"/>
              <a:ext cx="210" cy="0"/>
              <a:chOff x="1056" y="1098"/>
              <a:chExt cx="240" cy="0"/>
            </a:xfrm>
          </p:grpSpPr>
          <p:sp>
            <p:nvSpPr>
              <p:cNvPr id="138420" name="Line 66"/>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21" name="Line 67"/>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299" name="Oval 68"/>
            <p:cNvSpPr>
              <a:spLocks noChangeArrowheads="1"/>
            </p:cNvSpPr>
            <p:nvPr/>
          </p:nvSpPr>
          <p:spPr bwMode="auto">
            <a:xfrm>
              <a:off x="1962" y="983"/>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00" name="Line 69"/>
            <p:cNvSpPr>
              <a:spLocks noChangeShapeType="1"/>
            </p:cNvSpPr>
            <p:nvPr/>
          </p:nvSpPr>
          <p:spPr bwMode="auto">
            <a:xfrm>
              <a:off x="2256" y="1857"/>
              <a:ext cx="0" cy="4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01" name="Group 70"/>
            <p:cNvGrpSpPr>
              <a:grpSpLocks/>
            </p:cNvGrpSpPr>
            <p:nvPr/>
          </p:nvGrpSpPr>
          <p:grpSpPr bwMode="auto">
            <a:xfrm>
              <a:off x="2046" y="2265"/>
              <a:ext cx="210" cy="0"/>
              <a:chOff x="1056" y="1098"/>
              <a:chExt cx="240" cy="0"/>
            </a:xfrm>
          </p:grpSpPr>
          <p:sp>
            <p:nvSpPr>
              <p:cNvPr id="138418" name="Line 71"/>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19" name="Line 72"/>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02" name="Oval 73"/>
            <p:cNvSpPr>
              <a:spLocks noChangeArrowheads="1"/>
            </p:cNvSpPr>
            <p:nvPr/>
          </p:nvSpPr>
          <p:spPr bwMode="auto">
            <a:xfrm>
              <a:off x="1962" y="2219"/>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03" name="Oval 74"/>
            <p:cNvSpPr>
              <a:spLocks noChangeArrowheads="1"/>
            </p:cNvSpPr>
            <p:nvPr/>
          </p:nvSpPr>
          <p:spPr bwMode="auto">
            <a:xfrm>
              <a:off x="2508" y="1995"/>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04" name="Text Box 75"/>
            <p:cNvSpPr txBox="1">
              <a:spLocks noChangeArrowheads="1"/>
            </p:cNvSpPr>
            <p:nvPr/>
          </p:nvSpPr>
          <p:spPr bwMode="auto">
            <a:xfrm>
              <a:off x="2085" y="1535"/>
              <a:ext cx="230"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T2</a:t>
              </a:r>
            </a:p>
          </p:txBody>
        </p:sp>
        <p:sp>
          <p:nvSpPr>
            <p:cNvPr id="138305" name="Text Box 76"/>
            <p:cNvSpPr txBox="1">
              <a:spLocks noChangeArrowheads="1"/>
            </p:cNvSpPr>
            <p:nvPr/>
          </p:nvSpPr>
          <p:spPr bwMode="auto">
            <a:xfrm>
              <a:off x="2088" y="1839"/>
              <a:ext cx="233"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T1</a:t>
              </a:r>
            </a:p>
          </p:txBody>
        </p:sp>
        <p:sp>
          <p:nvSpPr>
            <p:cNvPr id="138306" name="Text Box 77"/>
            <p:cNvSpPr txBox="1">
              <a:spLocks noChangeArrowheads="1"/>
            </p:cNvSpPr>
            <p:nvPr/>
          </p:nvSpPr>
          <p:spPr bwMode="auto">
            <a:xfrm>
              <a:off x="2298" y="1885"/>
              <a:ext cx="191"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G</a:t>
              </a:r>
            </a:p>
          </p:txBody>
        </p:sp>
        <p:sp>
          <p:nvSpPr>
            <p:cNvPr id="138307" name="Oval 78"/>
            <p:cNvSpPr>
              <a:spLocks noChangeArrowheads="1"/>
            </p:cNvSpPr>
            <p:nvPr/>
          </p:nvSpPr>
          <p:spPr bwMode="auto">
            <a:xfrm>
              <a:off x="1752" y="96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08" name="Line 79"/>
            <p:cNvSpPr>
              <a:spLocks noChangeShapeType="1"/>
            </p:cNvSpPr>
            <p:nvPr/>
          </p:nvSpPr>
          <p:spPr bwMode="auto">
            <a:xfrm>
              <a:off x="1752" y="102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09" name="Line 80"/>
            <p:cNvSpPr>
              <a:spLocks noChangeShapeType="1"/>
            </p:cNvSpPr>
            <p:nvPr/>
          </p:nvSpPr>
          <p:spPr bwMode="auto">
            <a:xfrm>
              <a:off x="1815" y="960"/>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0" name="Oval 81"/>
            <p:cNvSpPr>
              <a:spLocks noChangeArrowheads="1"/>
            </p:cNvSpPr>
            <p:nvPr/>
          </p:nvSpPr>
          <p:spPr bwMode="auto">
            <a:xfrm>
              <a:off x="1752" y="219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11" name="Line 82"/>
            <p:cNvSpPr>
              <a:spLocks noChangeShapeType="1"/>
            </p:cNvSpPr>
            <p:nvPr/>
          </p:nvSpPr>
          <p:spPr bwMode="auto">
            <a:xfrm>
              <a:off x="1752" y="225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2" name="Oval 83"/>
            <p:cNvSpPr>
              <a:spLocks noChangeArrowheads="1"/>
            </p:cNvSpPr>
            <p:nvPr/>
          </p:nvSpPr>
          <p:spPr bwMode="auto">
            <a:xfrm>
              <a:off x="2634" y="1966"/>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13" name="Line 84"/>
            <p:cNvSpPr>
              <a:spLocks noChangeShapeType="1"/>
            </p:cNvSpPr>
            <p:nvPr/>
          </p:nvSpPr>
          <p:spPr bwMode="auto">
            <a:xfrm>
              <a:off x="2634" y="2035"/>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4" name="Line 85"/>
            <p:cNvSpPr>
              <a:spLocks noChangeShapeType="1"/>
            </p:cNvSpPr>
            <p:nvPr/>
          </p:nvSpPr>
          <p:spPr bwMode="auto">
            <a:xfrm>
              <a:off x="2709" y="2208"/>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5" name="Line 86"/>
            <p:cNvSpPr>
              <a:spLocks noChangeShapeType="1"/>
            </p:cNvSpPr>
            <p:nvPr/>
          </p:nvSpPr>
          <p:spPr bwMode="auto">
            <a:xfrm>
              <a:off x="2046" y="1167"/>
              <a:ext cx="0" cy="9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6" name="Text Box 87"/>
            <p:cNvSpPr txBox="1">
              <a:spLocks noChangeArrowheads="1"/>
            </p:cNvSpPr>
            <p:nvPr/>
          </p:nvSpPr>
          <p:spPr bwMode="auto">
            <a:xfrm>
              <a:off x="1606" y="1506"/>
              <a:ext cx="537"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a:t>
              </a:r>
              <a:endParaRPr lang="ko-KR" altLang="en-US">
                <a:latin typeface="Times New Roman" pitchFamily="18" charset="0"/>
                <a:cs typeface="Times New Roman" pitchFamily="18" charset="0"/>
              </a:endParaRPr>
            </a:p>
          </p:txBody>
        </p:sp>
        <p:sp>
          <p:nvSpPr>
            <p:cNvPr id="138317" name="Line 88"/>
            <p:cNvSpPr>
              <a:spLocks noChangeShapeType="1"/>
            </p:cNvSpPr>
            <p:nvPr/>
          </p:nvSpPr>
          <p:spPr bwMode="auto">
            <a:xfrm>
              <a:off x="2256" y="226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18" name="Oval 89"/>
            <p:cNvSpPr>
              <a:spLocks noChangeArrowheads="1"/>
            </p:cNvSpPr>
            <p:nvPr/>
          </p:nvSpPr>
          <p:spPr bwMode="auto">
            <a:xfrm>
              <a:off x="2496" y="2218"/>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19" name="Oval 90"/>
            <p:cNvSpPr>
              <a:spLocks noChangeArrowheads="1"/>
            </p:cNvSpPr>
            <p:nvPr/>
          </p:nvSpPr>
          <p:spPr bwMode="auto">
            <a:xfrm>
              <a:off x="2640" y="2202"/>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20" name="Line 91"/>
            <p:cNvSpPr>
              <a:spLocks noChangeShapeType="1"/>
            </p:cNvSpPr>
            <p:nvPr/>
          </p:nvSpPr>
          <p:spPr bwMode="auto">
            <a:xfrm>
              <a:off x="2640" y="2271"/>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21" name="Freeform 92"/>
            <p:cNvSpPr>
              <a:spLocks/>
            </p:cNvSpPr>
            <p:nvPr/>
          </p:nvSpPr>
          <p:spPr bwMode="auto">
            <a:xfrm>
              <a:off x="2298" y="2096"/>
              <a:ext cx="168" cy="128"/>
            </a:xfrm>
            <a:custGeom>
              <a:avLst/>
              <a:gdLst>
                <a:gd name="T0" fmla="*/ 168 w 168"/>
                <a:gd name="T1" fmla="*/ 16 h 128"/>
                <a:gd name="T2" fmla="*/ 24 w 168"/>
                <a:gd name="T3" fmla="*/ 16 h 128"/>
                <a:gd name="T4" fmla="*/ 24 w 168"/>
                <a:gd name="T5" fmla="*/ 112 h 128"/>
                <a:gd name="T6" fmla="*/ 168 w 168"/>
                <a:gd name="T7" fmla="*/ 112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 h="128">
                  <a:moveTo>
                    <a:pt x="168" y="16"/>
                  </a:moveTo>
                  <a:cubicBezTo>
                    <a:pt x="108" y="8"/>
                    <a:pt x="48" y="0"/>
                    <a:pt x="24" y="16"/>
                  </a:cubicBezTo>
                  <a:cubicBezTo>
                    <a:pt x="0" y="32"/>
                    <a:pt x="0" y="96"/>
                    <a:pt x="24" y="112"/>
                  </a:cubicBezTo>
                  <a:cubicBezTo>
                    <a:pt x="48" y="128"/>
                    <a:pt x="136" y="104"/>
                    <a:pt x="168" y="112"/>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22" name="Line 93"/>
            <p:cNvSpPr>
              <a:spLocks noChangeShapeType="1"/>
            </p:cNvSpPr>
            <p:nvPr/>
          </p:nvSpPr>
          <p:spPr bwMode="auto">
            <a:xfrm>
              <a:off x="2430" y="2064"/>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23" name="Line 94"/>
            <p:cNvSpPr>
              <a:spLocks noChangeShapeType="1"/>
            </p:cNvSpPr>
            <p:nvPr/>
          </p:nvSpPr>
          <p:spPr bwMode="auto">
            <a:xfrm flipH="1">
              <a:off x="2430" y="2112"/>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24" name="Group 95"/>
            <p:cNvGrpSpPr>
              <a:grpSpLocks/>
            </p:cNvGrpSpPr>
            <p:nvPr/>
          </p:nvGrpSpPr>
          <p:grpSpPr bwMode="auto">
            <a:xfrm>
              <a:off x="4118" y="960"/>
              <a:ext cx="1162" cy="1380"/>
              <a:chOff x="2774" y="864"/>
              <a:chExt cx="1162" cy="1380"/>
            </a:xfrm>
          </p:grpSpPr>
          <p:sp>
            <p:nvSpPr>
              <p:cNvPr id="138377" name="Line 96"/>
              <p:cNvSpPr>
                <a:spLocks noChangeShapeType="1"/>
              </p:cNvSpPr>
              <p:nvPr/>
            </p:nvSpPr>
            <p:spPr bwMode="auto">
              <a:xfrm>
                <a:off x="3290" y="1577"/>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78" name="AutoShape 97"/>
              <p:cNvSpPr>
                <a:spLocks noChangeArrowheads="1"/>
              </p:cNvSpPr>
              <p:nvPr/>
            </p:nvSpPr>
            <p:spPr bwMode="auto">
              <a:xfrm>
                <a:off x="3300" y="1577"/>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79" name="AutoShape 98"/>
              <p:cNvSpPr>
                <a:spLocks noChangeArrowheads="1"/>
              </p:cNvSpPr>
              <p:nvPr/>
            </p:nvSpPr>
            <p:spPr bwMode="auto">
              <a:xfrm flipV="1">
                <a:off x="3384" y="1577"/>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80" name="Line 99"/>
              <p:cNvSpPr>
                <a:spLocks noChangeShapeType="1"/>
              </p:cNvSpPr>
              <p:nvPr/>
            </p:nvSpPr>
            <p:spPr bwMode="auto">
              <a:xfrm>
                <a:off x="3284" y="1761"/>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81" name="Line 100"/>
              <p:cNvSpPr>
                <a:spLocks noChangeShapeType="1"/>
              </p:cNvSpPr>
              <p:nvPr/>
            </p:nvSpPr>
            <p:spPr bwMode="auto">
              <a:xfrm>
                <a:off x="3426" y="1761"/>
                <a:ext cx="84"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82" name="Line 101"/>
              <p:cNvSpPr>
                <a:spLocks noChangeShapeType="1"/>
              </p:cNvSpPr>
              <p:nvPr/>
            </p:nvSpPr>
            <p:spPr bwMode="auto">
              <a:xfrm>
                <a:off x="3510" y="1945"/>
                <a:ext cx="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83" name="Group 102"/>
              <p:cNvGrpSpPr>
                <a:grpSpLocks/>
              </p:cNvGrpSpPr>
              <p:nvPr/>
            </p:nvGrpSpPr>
            <p:grpSpPr bwMode="auto">
              <a:xfrm>
                <a:off x="3291" y="1117"/>
                <a:ext cx="239" cy="276"/>
                <a:chOff x="1140" y="1104"/>
                <a:chExt cx="274" cy="288"/>
              </a:xfrm>
            </p:grpSpPr>
            <p:sp>
              <p:nvSpPr>
                <p:cNvPr id="138416" name="Rectangle 103"/>
                <p:cNvSpPr>
                  <a:spLocks noChangeArrowheads="1"/>
                </p:cNvSpPr>
                <p:nvPr/>
              </p:nvSpPr>
              <p:spPr bwMode="auto">
                <a:xfrm>
                  <a:off x="1199" y="1104"/>
                  <a:ext cx="193"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17" name="Text Box 104"/>
                <p:cNvSpPr txBox="1">
                  <a:spLocks noChangeArrowheads="1"/>
                </p:cNvSpPr>
                <p:nvPr/>
              </p:nvSpPr>
              <p:spPr bwMode="auto">
                <a:xfrm>
                  <a:off x="1140" y="1104"/>
                  <a:ext cx="274"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Tải</a:t>
                  </a:r>
                  <a:endParaRPr lang="ko-KR" altLang="en-US">
                    <a:latin typeface="Times New Roman" pitchFamily="18" charset="0"/>
                    <a:cs typeface="Times New Roman" pitchFamily="18" charset="0"/>
                  </a:endParaRPr>
                </a:p>
              </p:txBody>
            </p:sp>
          </p:grpSp>
          <p:sp>
            <p:nvSpPr>
              <p:cNvPr id="138384" name="Line 105"/>
              <p:cNvSpPr>
                <a:spLocks noChangeShapeType="1"/>
              </p:cNvSpPr>
              <p:nvPr/>
            </p:nvSpPr>
            <p:spPr bwMode="auto">
              <a:xfrm flipV="1">
                <a:off x="3421" y="1393"/>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85" name="Line 106"/>
              <p:cNvSpPr>
                <a:spLocks noChangeShapeType="1"/>
              </p:cNvSpPr>
              <p:nvPr/>
            </p:nvSpPr>
            <p:spPr bwMode="auto">
              <a:xfrm flipV="1">
                <a:off x="3426" y="933"/>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86" name="Group 107"/>
              <p:cNvGrpSpPr>
                <a:grpSpLocks/>
              </p:cNvGrpSpPr>
              <p:nvPr/>
            </p:nvGrpSpPr>
            <p:grpSpPr bwMode="auto">
              <a:xfrm>
                <a:off x="3216" y="927"/>
                <a:ext cx="210" cy="0"/>
                <a:chOff x="1056" y="1098"/>
                <a:chExt cx="240" cy="0"/>
              </a:xfrm>
            </p:grpSpPr>
            <p:sp>
              <p:nvSpPr>
                <p:cNvPr id="138414" name="Line 108"/>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15" name="Line 109"/>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87" name="Oval 110"/>
              <p:cNvSpPr>
                <a:spLocks noChangeArrowheads="1"/>
              </p:cNvSpPr>
              <p:nvPr/>
            </p:nvSpPr>
            <p:spPr bwMode="auto">
              <a:xfrm>
                <a:off x="3132" y="887"/>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88" name="Line 111"/>
              <p:cNvSpPr>
                <a:spLocks noChangeShapeType="1"/>
              </p:cNvSpPr>
              <p:nvPr/>
            </p:nvSpPr>
            <p:spPr bwMode="auto">
              <a:xfrm>
                <a:off x="3426" y="1761"/>
                <a:ext cx="0" cy="4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89" name="Group 112"/>
              <p:cNvGrpSpPr>
                <a:grpSpLocks/>
              </p:cNvGrpSpPr>
              <p:nvPr/>
            </p:nvGrpSpPr>
            <p:grpSpPr bwMode="auto">
              <a:xfrm>
                <a:off x="3216" y="2169"/>
                <a:ext cx="210" cy="0"/>
                <a:chOff x="1056" y="1098"/>
                <a:chExt cx="240" cy="0"/>
              </a:xfrm>
            </p:grpSpPr>
            <p:sp>
              <p:nvSpPr>
                <p:cNvPr id="138412" name="Line 113"/>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13" name="Line 114"/>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90" name="Oval 115"/>
              <p:cNvSpPr>
                <a:spLocks noChangeArrowheads="1"/>
              </p:cNvSpPr>
              <p:nvPr/>
            </p:nvSpPr>
            <p:spPr bwMode="auto">
              <a:xfrm>
                <a:off x="3132" y="2123"/>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91" name="Oval 116"/>
              <p:cNvSpPr>
                <a:spLocks noChangeArrowheads="1"/>
              </p:cNvSpPr>
              <p:nvPr/>
            </p:nvSpPr>
            <p:spPr bwMode="auto">
              <a:xfrm>
                <a:off x="3678" y="1899"/>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92" name="Text Box 117"/>
              <p:cNvSpPr txBox="1">
                <a:spLocks noChangeArrowheads="1"/>
              </p:cNvSpPr>
              <p:nvPr/>
            </p:nvSpPr>
            <p:spPr bwMode="auto">
              <a:xfrm>
                <a:off x="3255" y="1439"/>
                <a:ext cx="230"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T2</a:t>
                </a:r>
              </a:p>
            </p:txBody>
          </p:sp>
          <p:sp>
            <p:nvSpPr>
              <p:cNvPr id="138393" name="Text Box 118"/>
              <p:cNvSpPr txBox="1">
                <a:spLocks noChangeArrowheads="1"/>
              </p:cNvSpPr>
              <p:nvPr/>
            </p:nvSpPr>
            <p:spPr bwMode="auto">
              <a:xfrm>
                <a:off x="3258" y="1743"/>
                <a:ext cx="233"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T1</a:t>
                </a:r>
              </a:p>
            </p:txBody>
          </p:sp>
          <p:sp>
            <p:nvSpPr>
              <p:cNvPr id="138394" name="Text Box 119"/>
              <p:cNvSpPr txBox="1">
                <a:spLocks noChangeArrowheads="1"/>
              </p:cNvSpPr>
              <p:nvPr/>
            </p:nvSpPr>
            <p:spPr bwMode="auto">
              <a:xfrm>
                <a:off x="3468" y="1789"/>
                <a:ext cx="191"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G</a:t>
                </a:r>
              </a:p>
            </p:txBody>
          </p:sp>
          <p:sp>
            <p:nvSpPr>
              <p:cNvPr id="138395" name="Oval 120"/>
              <p:cNvSpPr>
                <a:spLocks noChangeArrowheads="1"/>
              </p:cNvSpPr>
              <p:nvPr/>
            </p:nvSpPr>
            <p:spPr bwMode="auto">
              <a:xfrm>
                <a:off x="2922" y="864"/>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96" name="Line 121"/>
              <p:cNvSpPr>
                <a:spLocks noChangeShapeType="1"/>
              </p:cNvSpPr>
              <p:nvPr/>
            </p:nvSpPr>
            <p:spPr bwMode="auto">
              <a:xfrm>
                <a:off x="2922" y="933"/>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97" name="Line 122"/>
              <p:cNvSpPr>
                <a:spLocks noChangeShapeType="1"/>
              </p:cNvSpPr>
              <p:nvPr/>
            </p:nvSpPr>
            <p:spPr bwMode="auto">
              <a:xfrm>
                <a:off x="2985" y="2094"/>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98" name="Oval 123"/>
              <p:cNvSpPr>
                <a:spLocks noChangeArrowheads="1"/>
              </p:cNvSpPr>
              <p:nvPr/>
            </p:nvSpPr>
            <p:spPr bwMode="auto">
              <a:xfrm>
                <a:off x="2922" y="2094"/>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99" name="Line 124"/>
              <p:cNvSpPr>
                <a:spLocks noChangeShapeType="1"/>
              </p:cNvSpPr>
              <p:nvPr/>
            </p:nvSpPr>
            <p:spPr bwMode="auto">
              <a:xfrm>
                <a:off x="2922" y="2163"/>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0" name="Oval 125"/>
              <p:cNvSpPr>
                <a:spLocks noChangeArrowheads="1"/>
              </p:cNvSpPr>
              <p:nvPr/>
            </p:nvSpPr>
            <p:spPr bwMode="auto">
              <a:xfrm>
                <a:off x="3804" y="187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01" name="Line 126"/>
              <p:cNvSpPr>
                <a:spLocks noChangeShapeType="1"/>
              </p:cNvSpPr>
              <p:nvPr/>
            </p:nvSpPr>
            <p:spPr bwMode="auto">
              <a:xfrm>
                <a:off x="3804" y="193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2" name="Line 127"/>
              <p:cNvSpPr>
                <a:spLocks noChangeShapeType="1"/>
              </p:cNvSpPr>
              <p:nvPr/>
            </p:nvSpPr>
            <p:spPr bwMode="auto">
              <a:xfrm>
                <a:off x="3879" y="2106"/>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3" name="Line 128"/>
              <p:cNvSpPr>
                <a:spLocks noChangeShapeType="1"/>
              </p:cNvSpPr>
              <p:nvPr/>
            </p:nvSpPr>
            <p:spPr bwMode="auto">
              <a:xfrm flipV="1">
                <a:off x="3216" y="1071"/>
                <a:ext cx="0" cy="9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4" name="Text Box 129"/>
              <p:cNvSpPr txBox="1">
                <a:spLocks noChangeArrowheads="1"/>
              </p:cNvSpPr>
              <p:nvPr/>
            </p:nvSpPr>
            <p:spPr bwMode="auto">
              <a:xfrm>
                <a:off x="2774" y="1410"/>
                <a:ext cx="537"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a:t>
                </a:r>
                <a:endParaRPr lang="ko-KR" altLang="en-US">
                  <a:latin typeface="Times New Roman" pitchFamily="18" charset="0"/>
                  <a:cs typeface="Times New Roman" pitchFamily="18" charset="0"/>
                </a:endParaRPr>
              </a:p>
            </p:txBody>
          </p:sp>
          <p:sp>
            <p:nvSpPr>
              <p:cNvPr id="138405" name="Line 130"/>
              <p:cNvSpPr>
                <a:spLocks noChangeShapeType="1"/>
              </p:cNvSpPr>
              <p:nvPr/>
            </p:nvSpPr>
            <p:spPr bwMode="auto">
              <a:xfrm>
                <a:off x="3426" y="216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6" name="Oval 131"/>
              <p:cNvSpPr>
                <a:spLocks noChangeArrowheads="1"/>
              </p:cNvSpPr>
              <p:nvPr/>
            </p:nvSpPr>
            <p:spPr bwMode="auto">
              <a:xfrm>
                <a:off x="3666" y="2122"/>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07" name="Oval 132"/>
              <p:cNvSpPr>
                <a:spLocks noChangeArrowheads="1"/>
              </p:cNvSpPr>
              <p:nvPr/>
            </p:nvSpPr>
            <p:spPr bwMode="auto">
              <a:xfrm>
                <a:off x="3810" y="2106"/>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408" name="Line 133"/>
              <p:cNvSpPr>
                <a:spLocks noChangeShapeType="1"/>
              </p:cNvSpPr>
              <p:nvPr/>
            </p:nvSpPr>
            <p:spPr bwMode="auto">
              <a:xfrm>
                <a:off x="3810" y="2175"/>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09" name="Freeform 134"/>
              <p:cNvSpPr>
                <a:spLocks/>
              </p:cNvSpPr>
              <p:nvPr/>
            </p:nvSpPr>
            <p:spPr bwMode="auto">
              <a:xfrm>
                <a:off x="3468" y="2000"/>
                <a:ext cx="168" cy="128"/>
              </a:xfrm>
              <a:custGeom>
                <a:avLst/>
                <a:gdLst>
                  <a:gd name="T0" fmla="*/ 168 w 168"/>
                  <a:gd name="T1" fmla="*/ 16 h 128"/>
                  <a:gd name="T2" fmla="*/ 24 w 168"/>
                  <a:gd name="T3" fmla="*/ 16 h 128"/>
                  <a:gd name="T4" fmla="*/ 24 w 168"/>
                  <a:gd name="T5" fmla="*/ 112 h 128"/>
                  <a:gd name="T6" fmla="*/ 168 w 168"/>
                  <a:gd name="T7" fmla="*/ 112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 h="128">
                    <a:moveTo>
                      <a:pt x="168" y="16"/>
                    </a:moveTo>
                    <a:cubicBezTo>
                      <a:pt x="108" y="8"/>
                      <a:pt x="48" y="0"/>
                      <a:pt x="24" y="16"/>
                    </a:cubicBezTo>
                    <a:cubicBezTo>
                      <a:pt x="0" y="32"/>
                      <a:pt x="0" y="96"/>
                      <a:pt x="24" y="112"/>
                    </a:cubicBezTo>
                    <a:cubicBezTo>
                      <a:pt x="48" y="128"/>
                      <a:pt x="136" y="104"/>
                      <a:pt x="168" y="112"/>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10" name="Line 135"/>
              <p:cNvSpPr>
                <a:spLocks noChangeShapeType="1"/>
              </p:cNvSpPr>
              <p:nvPr/>
            </p:nvSpPr>
            <p:spPr bwMode="auto">
              <a:xfrm>
                <a:off x="3600" y="198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411" name="Line 136"/>
              <p:cNvSpPr>
                <a:spLocks noChangeShapeType="1"/>
              </p:cNvSpPr>
              <p:nvPr/>
            </p:nvSpPr>
            <p:spPr bwMode="auto">
              <a:xfrm flipH="1">
                <a:off x="3594" y="201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38325" name="Group 137"/>
            <p:cNvGrpSpPr>
              <a:grpSpLocks/>
            </p:cNvGrpSpPr>
            <p:nvPr/>
          </p:nvGrpSpPr>
          <p:grpSpPr bwMode="auto">
            <a:xfrm>
              <a:off x="2862" y="960"/>
              <a:ext cx="1176" cy="1380"/>
              <a:chOff x="4002" y="864"/>
              <a:chExt cx="1176" cy="1380"/>
            </a:xfrm>
          </p:grpSpPr>
          <p:sp>
            <p:nvSpPr>
              <p:cNvPr id="138336" name="Line 138"/>
              <p:cNvSpPr>
                <a:spLocks noChangeShapeType="1"/>
              </p:cNvSpPr>
              <p:nvPr/>
            </p:nvSpPr>
            <p:spPr bwMode="auto">
              <a:xfrm>
                <a:off x="4532" y="1577"/>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37" name="AutoShape 139"/>
              <p:cNvSpPr>
                <a:spLocks noChangeArrowheads="1"/>
              </p:cNvSpPr>
              <p:nvPr/>
            </p:nvSpPr>
            <p:spPr bwMode="auto">
              <a:xfrm>
                <a:off x="4542" y="1577"/>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38" name="AutoShape 140"/>
              <p:cNvSpPr>
                <a:spLocks noChangeArrowheads="1"/>
              </p:cNvSpPr>
              <p:nvPr/>
            </p:nvSpPr>
            <p:spPr bwMode="auto">
              <a:xfrm flipV="1">
                <a:off x="4626" y="1577"/>
                <a:ext cx="126" cy="184"/>
              </a:xfrm>
              <a:prstGeom prst="flowChartExtra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39" name="Line 141"/>
              <p:cNvSpPr>
                <a:spLocks noChangeShapeType="1"/>
              </p:cNvSpPr>
              <p:nvPr/>
            </p:nvSpPr>
            <p:spPr bwMode="auto">
              <a:xfrm>
                <a:off x="4526" y="1761"/>
                <a:ext cx="2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40" name="Line 142"/>
              <p:cNvSpPr>
                <a:spLocks noChangeShapeType="1"/>
              </p:cNvSpPr>
              <p:nvPr/>
            </p:nvSpPr>
            <p:spPr bwMode="auto">
              <a:xfrm>
                <a:off x="4668" y="1761"/>
                <a:ext cx="84"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41" name="Line 143"/>
              <p:cNvSpPr>
                <a:spLocks noChangeShapeType="1"/>
              </p:cNvSpPr>
              <p:nvPr/>
            </p:nvSpPr>
            <p:spPr bwMode="auto">
              <a:xfrm>
                <a:off x="4752" y="1945"/>
                <a:ext cx="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42" name="Group 144"/>
              <p:cNvGrpSpPr>
                <a:grpSpLocks/>
              </p:cNvGrpSpPr>
              <p:nvPr/>
            </p:nvGrpSpPr>
            <p:grpSpPr bwMode="auto">
              <a:xfrm>
                <a:off x="4533" y="1117"/>
                <a:ext cx="239" cy="276"/>
                <a:chOff x="1140" y="1104"/>
                <a:chExt cx="274" cy="288"/>
              </a:xfrm>
            </p:grpSpPr>
            <p:sp>
              <p:nvSpPr>
                <p:cNvPr id="138375" name="Rectangle 145"/>
                <p:cNvSpPr>
                  <a:spLocks noChangeArrowheads="1"/>
                </p:cNvSpPr>
                <p:nvPr/>
              </p:nvSpPr>
              <p:spPr bwMode="auto">
                <a:xfrm>
                  <a:off x="1199" y="1104"/>
                  <a:ext cx="193"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76" name="Text Box 146"/>
                <p:cNvSpPr txBox="1">
                  <a:spLocks noChangeArrowheads="1"/>
                </p:cNvSpPr>
                <p:nvPr/>
              </p:nvSpPr>
              <p:spPr bwMode="auto">
                <a:xfrm>
                  <a:off x="1140" y="1104"/>
                  <a:ext cx="274"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Tải</a:t>
                  </a:r>
                  <a:endParaRPr lang="ko-KR" altLang="en-US">
                    <a:latin typeface="Times New Roman" pitchFamily="18" charset="0"/>
                    <a:cs typeface="Times New Roman" pitchFamily="18" charset="0"/>
                  </a:endParaRPr>
                </a:p>
              </p:txBody>
            </p:sp>
          </p:grpSp>
          <p:sp>
            <p:nvSpPr>
              <p:cNvPr id="138343" name="Line 147"/>
              <p:cNvSpPr>
                <a:spLocks noChangeShapeType="1"/>
              </p:cNvSpPr>
              <p:nvPr/>
            </p:nvSpPr>
            <p:spPr bwMode="auto">
              <a:xfrm flipV="1">
                <a:off x="4663" y="1393"/>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44" name="Line 148"/>
              <p:cNvSpPr>
                <a:spLocks noChangeShapeType="1"/>
              </p:cNvSpPr>
              <p:nvPr/>
            </p:nvSpPr>
            <p:spPr bwMode="auto">
              <a:xfrm flipV="1">
                <a:off x="4668" y="933"/>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45" name="Group 149"/>
              <p:cNvGrpSpPr>
                <a:grpSpLocks/>
              </p:cNvGrpSpPr>
              <p:nvPr/>
            </p:nvGrpSpPr>
            <p:grpSpPr bwMode="auto">
              <a:xfrm>
                <a:off x="4458" y="927"/>
                <a:ext cx="210" cy="0"/>
                <a:chOff x="1056" y="1098"/>
                <a:chExt cx="240" cy="0"/>
              </a:xfrm>
            </p:grpSpPr>
            <p:sp>
              <p:nvSpPr>
                <p:cNvPr id="138373" name="Line 150"/>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74" name="Line 151"/>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46" name="Oval 152"/>
              <p:cNvSpPr>
                <a:spLocks noChangeArrowheads="1"/>
              </p:cNvSpPr>
              <p:nvPr/>
            </p:nvSpPr>
            <p:spPr bwMode="auto">
              <a:xfrm>
                <a:off x="4374" y="887"/>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47" name="Line 153"/>
              <p:cNvSpPr>
                <a:spLocks noChangeShapeType="1"/>
              </p:cNvSpPr>
              <p:nvPr/>
            </p:nvSpPr>
            <p:spPr bwMode="auto">
              <a:xfrm>
                <a:off x="4668" y="1761"/>
                <a:ext cx="0" cy="4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38348" name="Group 154"/>
              <p:cNvGrpSpPr>
                <a:grpSpLocks/>
              </p:cNvGrpSpPr>
              <p:nvPr/>
            </p:nvGrpSpPr>
            <p:grpSpPr bwMode="auto">
              <a:xfrm>
                <a:off x="4458" y="2169"/>
                <a:ext cx="210" cy="0"/>
                <a:chOff x="1056" y="1098"/>
                <a:chExt cx="240" cy="0"/>
              </a:xfrm>
            </p:grpSpPr>
            <p:sp>
              <p:nvSpPr>
                <p:cNvPr id="138371" name="Line 155"/>
                <p:cNvSpPr>
                  <a:spLocks noChangeShapeType="1"/>
                </p:cNvSpPr>
                <p:nvPr/>
              </p:nvSpPr>
              <p:spPr bwMode="auto">
                <a:xfrm>
                  <a:off x="1152" y="109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72" name="Line 156"/>
                <p:cNvSpPr>
                  <a:spLocks noChangeShapeType="1"/>
                </p:cNvSpPr>
                <p:nvPr/>
              </p:nvSpPr>
              <p:spPr bwMode="auto">
                <a:xfrm flipH="1">
                  <a:off x="1056" y="109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49" name="Oval 157"/>
              <p:cNvSpPr>
                <a:spLocks noChangeArrowheads="1"/>
              </p:cNvSpPr>
              <p:nvPr/>
            </p:nvSpPr>
            <p:spPr bwMode="auto">
              <a:xfrm>
                <a:off x="4374" y="2123"/>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50" name="Oval 158"/>
              <p:cNvSpPr>
                <a:spLocks noChangeArrowheads="1"/>
              </p:cNvSpPr>
              <p:nvPr/>
            </p:nvSpPr>
            <p:spPr bwMode="auto">
              <a:xfrm>
                <a:off x="4920" y="1899"/>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51" name="Text Box 159"/>
              <p:cNvSpPr txBox="1">
                <a:spLocks noChangeArrowheads="1"/>
              </p:cNvSpPr>
              <p:nvPr/>
            </p:nvSpPr>
            <p:spPr bwMode="auto">
              <a:xfrm>
                <a:off x="4497" y="1439"/>
                <a:ext cx="230"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T2</a:t>
                </a:r>
              </a:p>
            </p:txBody>
          </p:sp>
          <p:sp>
            <p:nvSpPr>
              <p:cNvPr id="138352" name="Text Box 160"/>
              <p:cNvSpPr txBox="1">
                <a:spLocks noChangeArrowheads="1"/>
              </p:cNvSpPr>
              <p:nvPr/>
            </p:nvSpPr>
            <p:spPr bwMode="auto">
              <a:xfrm>
                <a:off x="4500" y="1743"/>
                <a:ext cx="233"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T1</a:t>
                </a:r>
              </a:p>
            </p:txBody>
          </p:sp>
          <p:sp>
            <p:nvSpPr>
              <p:cNvPr id="138353" name="Text Box 161"/>
              <p:cNvSpPr txBox="1">
                <a:spLocks noChangeArrowheads="1"/>
              </p:cNvSpPr>
              <p:nvPr/>
            </p:nvSpPr>
            <p:spPr bwMode="auto">
              <a:xfrm>
                <a:off x="4710" y="1789"/>
                <a:ext cx="191"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G</a:t>
                </a:r>
              </a:p>
            </p:txBody>
          </p:sp>
          <p:sp>
            <p:nvSpPr>
              <p:cNvPr id="138354" name="Oval 162"/>
              <p:cNvSpPr>
                <a:spLocks noChangeArrowheads="1"/>
              </p:cNvSpPr>
              <p:nvPr/>
            </p:nvSpPr>
            <p:spPr bwMode="auto">
              <a:xfrm>
                <a:off x="4164" y="864"/>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55" name="Line 163"/>
              <p:cNvSpPr>
                <a:spLocks noChangeShapeType="1"/>
              </p:cNvSpPr>
              <p:nvPr/>
            </p:nvSpPr>
            <p:spPr bwMode="auto">
              <a:xfrm>
                <a:off x="4164" y="933"/>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56" name="Line 164"/>
              <p:cNvSpPr>
                <a:spLocks noChangeShapeType="1"/>
              </p:cNvSpPr>
              <p:nvPr/>
            </p:nvSpPr>
            <p:spPr bwMode="auto">
              <a:xfrm>
                <a:off x="4233" y="2094"/>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57" name="Oval 165"/>
              <p:cNvSpPr>
                <a:spLocks noChangeArrowheads="1"/>
              </p:cNvSpPr>
              <p:nvPr/>
            </p:nvSpPr>
            <p:spPr bwMode="auto">
              <a:xfrm>
                <a:off x="4164" y="2094"/>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58" name="Line 166"/>
              <p:cNvSpPr>
                <a:spLocks noChangeShapeType="1"/>
              </p:cNvSpPr>
              <p:nvPr/>
            </p:nvSpPr>
            <p:spPr bwMode="auto">
              <a:xfrm>
                <a:off x="4164" y="2163"/>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59" name="Oval 167"/>
              <p:cNvSpPr>
                <a:spLocks noChangeArrowheads="1"/>
              </p:cNvSpPr>
              <p:nvPr/>
            </p:nvSpPr>
            <p:spPr bwMode="auto">
              <a:xfrm>
                <a:off x="5046" y="1870"/>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60" name="Line 168"/>
              <p:cNvSpPr>
                <a:spLocks noChangeShapeType="1"/>
              </p:cNvSpPr>
              <p:nvPr/>
            </p:nvSpPr>
            <p:spPr bwMode="auto">
              <a:xfrm>
                <a:off x="5046" y="1939"/>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1" name="Line 169"/>
              <p:cNvSpPr>
                <a:spLocks noChangeShapeType="1"/>
              </p:cNvSpPr>
              <p:nvPr/>
            </p:nvSpPr>
            <p:spPr bwMode="auto">
              <a:xfrm>
                <a:off x="5109" y="1870"/>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2" name="Line 170"/>
              <p:cNvSpPr>
                <a:spLocks noChangeShapeType="1"/>
              </p:cNvSpPr>
              <p:nvPr/>
            </p:nvSpPr>
            <p:spPr bwMode="auto">
              <a:xfrm flipV="1">
                <a:off x="4458" y="1071"/>
                <a:ext cx="0" cy="9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3" name="Text Box 171"/>
              <p:cNvSpPr txBox="1">
                <a:spLocks noChangeArrowheads="1"/>
              </p:cNvSpPr>
              <p:nvPr/>
            </p:nvSpPr>
            <p:spPr bwMode="auto">
              <a:xfrm>
                <a:off x="4002" y="1410"/>
                <a:ext cx="537"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a:t>
                </a:r>
                <a:endParaRPr lang="ko-KR" altLang="en-US">
                  <a:latin typeface="Times New Roman" pitchFamily="18" charset="0"/>
                  <a:cs typeface="Times New Roman" pitchFamily="18" charset="0"/>
                </a:endParaRPr>
              </a:p>
            </p:txBody>
          </p:sp>
          <p:sp>
            <p:nvSpPr>
              <p:cNvPr id="138364" name="Line 172"/>
              <p:cNvSpPr>
                <a:spLocks noChangeShapeType="1"/>
              </p:cNvSpPr>
              <p:nvPr/>
            </p:nvSpPr>
            <p:spPr bwMode="auto">
              <a:xfrm>
                <a:off x="4668" y="216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5" name="Oval 173"/>
              <p:cNvSpPr>
                <a:spLocks noChangeArrowheads="1"/>
              </p:cNvSpPr>
              <p:nvPr/>
            </p:nvSpPr>
            <p:spPr bwMode="auto">
              <a:xfrm>
                <a:off x="4908" y="2122"/>
                <a:ext cx="84" cy="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66" name="Oval 174"/>
              <p:cNvSpPr>
                <a:spLocks noChangeArrowheads="1"/>
              </p:cNvSpPr>
              <p:nvPr/>
            </p:nvSpPr>
            <p:spPr bwMode="auto">
              <a:xfrm>
                <a:off x="5052" y="2106"/>
                <a:ext cx="126" cy="13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67" name="Line 175"/>
              <p:cNvSpPr>
                <a:spLocks noChangeShapeType="1"/>
              </p:cNvSpPr>
              <p:nvPr/>
            </p:nvSpPr>
            <p:spPr bwMode="auto">
              <a:xfrm>
                <a:off x="5052" y="2175"/>
                <a:ext cx="1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8" name="Freeform 176"/>
              <p:cNvSpPr>
                <a:spLocks/>
              </p:cNvSpPr>
              <p:nvPr/>
            </p:nvSpPr>
            <p:spPr bwMode="auto">
              <a:xfrm>
                <a:off x="4710" y="2000"/>
                <a:ext cx="168" cy="128"/>
              </a:xfrm>
              <a:custGeom>
                <a:avLst/>
                <a:gdLst>
                  <a:gd name="T0" fmla="*/ 168 w 168"/>
                  <a:gd name="T1" fmla="*/ 16 h 128"/>
                  <a:gd name="T2" fmla="*/ 24 w 168"/>
                  <a:gd name="T3" fmla="*/ 16 h 128"/>
                  <a:gd name="T4" fmla="*/ 24 w 168"/>
                  <a:gd name="T5" fmla="*/ 112 h 128"/>
                  <a:gd name="T6" fmla="*/ 168 w 168"/>
                  <a:gd name="T7" fmla="*/ 112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 h="128">
                    <a:moveTo>
                      <a:pt x="168" y="16"/>
                    </a:moveTo>
                    <a:cubicBezTo>
                      <a:pt x="108" y="8"/>
                      <a:pt x="48" y="0"/>
                      <a:pt x="24" y="16"/>
                    </a:cubicBezTo>
                    <a:cubicBezTo>
                      <a:pt x="0" y="32"/>
                      <a:pt x="0" y="96"/>
                      <a:pt x="24" y="112"/>
                    </a:cubicBezTo>
                    <a:cubicBezTo>
                      <a:pt x="48" y="128"/>
                      <a:pt x="136" y="104"/>
                      <a:pt x="168" y="112"/>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69" name="Line 177"/>
              <p:cNvSpPr>
                <a:spLocks noChangeShapeType="1"/>
              </p:cNvSpPr>
              <p:nvPr/>
            </p:nvSpPr>
            <p:spPr bwMode="auto">
              <a:xfrm>
                <a:off x="4842" y="2064"/>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38370" name="Line 178"/>
              <p:cNvSpPr>
                <a:spLocks noChangeShapeType="1"/>
              </p:cNvSpPr>
              <p:nvPr/>
            </p:nvSpPr>
            <p:spPr bwMode="auto">
              <a:xfrm flipH="1">
                <a:off x="4842" y="2112"/>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38326" name="Rectangle 179"/>
            <p:cNvSpPr>
              <a:spLocks noChangeArrowheads="1"/>
            </p:cNvSpPr>
            <p:nvPr/>
          </p:nvSpPr>
          <p:spPr bwMode="auto">
            <a:xfrm>
              <a:off x="396" y="2448"/>
              <a:ext cx="4992"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27" name="Text Box 180"/>
            <p:cNvSpPr txBox="1">
              <a:spLocks noChangeArrowheads="1"/>
            </p:cNvSpPr>
            <p:nvPr/>
          </p:nvSpPr>
          <p:spPr bwMode="auto">
            <a:xfrm>
              <a:off x="411" y="2466"/>
              <a:ext cx="1240"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1+ Mode( T2: + , G: + )</a:t>
              </a:r>
            </a:p>
          </p:txBody>
        </p:sp>
        <p:sp>
          <p:nvSpPr>
            <p:cNvPr id="138328" name="Text Box 181"/>
            <p:cNvSpPr txBox="1">
              <a:spLocks noChangeArrowheads="1"/>
            </p:cNvSpPr>
            <p:nvPr/>
          </p:nvSpPr>
          <p:spPr bwMode="auto">
            <a:xfrm>
              <a:off x="1677" y="2483"/>
              <a:ext cx="1025"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1- Mode( T2: + , G: - )</a:t>
              </a:r>
            </a:p>
          </p:txBody>
        </p:sp>
        <p:sp>
          <p:nvSpPr>
            <p:cNvPr id="138329" name="Text Box 182"/>
            <p:cNvSpPr txBox="1">
              <a:spLocks noChangeArrowheads="1"/>
            </p:cNvSpPr>
            <p:nvPr/>
          </p:nvSpPr>
          <p:spPr bwMode="auto">
            <a:xfrm>
              <a:off x="2970" y="2483"/>
              <a:ext cx="1023"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3+ Mode( T2: - , G: +)</a:t>
              </a:r>
            </a:p>
          </p:txBody>
        </p:sp>
        <p:sp>
          <p:nvSpPr>
            <p:cNvPr id="138330" name="Text Box 183"/>
            <p:cNvSpPr txBox="1">
              <a:spLocks noChangeArrowheads="1"/>
            </p:cNvSpPr>
            <p:nvPr/>
          </p:nvSpPr>
          <p:spPr bwMode="auto">
            <a:xfrm>
              <a:off x="4225" y="2483"/>
              <a:ext cx="977"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3- Mode( T2: - , G: -)</a:t>
              </a:r>
            </a:p>
          </p:txBody>
        </p:sp>
        <p:sp>
          <p:nvSpPr>
            <p:cNvPr id="138331" name="Rectangle 184"/>
            <p:cNvSpPr>
              <a:spLocks noChangeArrowheads="1"/>
            </p:cNvSpPr>
            <p:nvPr/>
          </p:nvSpPr>
          <p:spPr bwMode="auto">
            <a:xfrm>
              <a:off x="396" y="2688"/>
              <a:ext cx="4992"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38332" name="Text Box 185"/>
            <p:cNvSpPr txBox="1">
              <a:spLocks noChangeArrowheads="1"/>
            </p:cNvSpPr>
            <p:nvPr/>
          </p:nvSpPr>
          <p:spPr bwMode="auto">
            <a:xfrm>
              <a:off x="582" y="2729"/>
              <a:ext cx="856"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Độ cảm(nhạy) cao</a:t>
              </a:r>
              <a:endParaRPr lang="ko-KR" altLang="en-US">
                <a:latin typeface="Times New Roman" pitchFamily="18" charset="0"/>
                <a:cs typeface="Times New Roman" pitchFamily="18" charset="0"/>
              </a:endParaRPr>
            </a:p>
          </p:txBody>
        </p:sp>
        <p:sp>
          <p:nvSpPr>
            <p:cNvPr id="138333" name="Text Box 186"/>
            <p:cNvSpPr txBox="1">
              <a:spLocks noChangeArrowheads="1"/>
            </p:cNvSpPr>
            <p:nvPr/>
          </p:nvSpPr>
          <p:spPr bwMode="auto">
            <a:xfrm>
              <a:off x="1733" y="2717"/>
              <a:ext cx="1129"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Độ cảm(nhạy) trung bình</a:t>
              </a:r>
              <a:endParaRPr lang="ko-KR" altLang="en-US">
                <a:latin typeface="Times New Roman" pitchFamily="18" charset="0"/>
                <a:cs typeface="Times New Roman" pitchFamily="18" charset="0"/>
              </a:endParaRPr>
            </a:p>
          </p:txBody>
        </p:sp>
        <p:sp>
          <p:nvSpPr>
            <p:cNvPr id="138334" name="Text Box 187"/>
            <p:cNvSpPr txBox="1">
              <a:spLocks noChangeArrowheads="1"/>
            </p:cNvSpPr>
            <p:nvPr/>
          </p:nvSpPr>
          <p:spPr bwMode="auto">
            <a:xfrm>
              <a:off x="3095" y="2711"/>
              <a:ext cx="856"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Độ cảm(nhạy kém</a:t>
              </a:r>
              <a:endParaRPr lang="ko-KR" altLang="en-US">
                <a:latin typeface="Times New Roman" pitchFamily="18" charset="0"/>
                <a:cs typeface="Times New Roman" pitchFamily="18" charset="0"/>
              </a:endParaRPr>
            </a:p>
          </p:txBody>
        </p:sp>
        <p:sp>
          <p:nvSpPr>
            <p:cNvPr id="138335" name="Text Box 188"/>
            <p:cNvSpPr txBox="1">
              <a:spLocks noChangeArrowheads="1"/>
            </p:cNvSpPr>
            <p:nvPr/>
          </p:nvSpPr>
          <p:spPr bwMode="auto">
            <a:xfrm>
              <a:off x="4304" y="2711"/>
              <a:ext cx="856" cy="18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Độ cảm(nhạy) cao</a:t>
              </a:r>
              <a:endParaRPr lang="ko-KR" altLang="en-US">
                <a:latin typeface="Times New Roman" pitchFamily="18" charset="0"/>
                <a:cs typeface="Times New Roman" pitchFamily="18" charset="0"/>
              </a:endParaRPr>
            </a:p>
          </p:txBody>
        </p:sp>
      </p:grpSp>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2DDF616-3ED3-445B-8194-A7C07430739A}" type="slidenum">
              <a:rPr lang="en-US" altLang="ko-KR" sz="1400" smtClean="0">
                <a:latin typeface="Times New Roman" pitchFamily="18" charset="0"/>
                <a:cs typeface="Times New Roman" pitchFamily="18" charset="0"/>
              </a:rPr>
              <a:pPr eaLnBrk="1" hangingPunct="1"/>
              <a:t>131</a:t>
            </a:fld>
            <a:endParaRPr lang="en-US" altLang="ko-KR" sz="1400" smtClean="0">
              <a:latin typeface="Times New Roman" pitchFamily="18" charset="0"/>
              <a:cs typeface="Times New Roman" pitchFamily="18" charset="0"/>
            </a:endParaRPr>
          </a:p>
        </p:txBody>
      </p:sp>
      <p:sp>
        <p:nvSpPr>
          <p:cNvPr id="139267" name="Text Box 2"/>
          <p:cNvSpPr txBox="1">
            <a:spLocks noChangeArrowheads="1"/>
          </p:cNvSpPr>
          <p:nvPr/>
        </p:nvSpPr>
        <p:spPr bwMode="auto">
          <a:xfrm>
            <a:off x="684213" y="892175"/>
            <a:ext cx="2309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2-3. SSR (Solid State Relay)</a:t>
            </a:r>
          </a:p>
        </p:txBody>
      </p:sp>
      <p:sp>
        <p:nvSpPr>
          <p:cNvPr id="139268"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linh kiện rơ le không tiếp điểm, ON trong khi tín hiệu đầu vào được truyền và OFF khi tín hiệu đầu vào mất đi.</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sz="700">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Đặc tính</a:t>
            </a:r>
            <a:endParaRPr lang="ko-KR" altLang="en-US" b="1">
              <a:latin typeface="Times New Roman" pitchFamily="18" charset="0"/>
              <a:cs typeface="Times New Roman" pitchFamily="18" charset="0"/>
            </a:endParaRPr>
          </a:p>
          <a:p>
            <a:pPr eaLnBrk="1" hangingPunct="1"/>
            <a:endParaRPr lang="ko-KR" altLang="en-US" sz="7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① </a:t>
            </a:r>
            <a:r>
              <a:rPr lang="en-US" altLang="ko-KR">
                <a:latin typeface="Times New Roman" pitchFamily="18" charset="0"/>
                <a:cs typeface="Times New Roman" pitchFamily="18" charset="0"/>
              </a:rPr>
              <a:t>Ít ồn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Trong những mạch điều khiển, nếu có yếu tố có tiếp điểm cơ khí thì sẽ phát ra tia lửa và tiếng lách tách theo sự ON-OFF của công tắc, theo đó sinh ra nhiều tiếng ồn(noise).</a:t>
            </a:r>
          </a:p>
          <a:p>
            <a:pPr eaLnBrk="1" hangingPunct="1"/>
            <a:r>
              <a:rPr lang="en-US" altLang="ko-KR">
                <a:latin typeface="Times New Roman" pitchFamily="18" charset="0"/>
                <a:cs typeface="Times New Roman" pitchFamily="18" charset="0"/>
              </a:rPr>
              <a:t>       SSR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loại không công tắc nên chịu ảnh hưởng của tiếng ồn ít.</a:t>
            </a:r>
          </a:p>
          <a:p>
            <a:pPr eaLnBrk="1" hangingPunct="1"/>
            <a:endParaRPr lang="en-US" altLang="ko-KR"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② Không tiếng</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Đối với những rơ le điện tử có tiếp điểm nó được cho tiếp xúc cơ khí nên khi ON-OFF bắt buộc phát ra âm thanh tuy nhiên,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SSR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không có công tắc nên không phát ra tiếng.</a:t>
            </a:r>
            <a:endParaRPr lang="en-US" altLang="ko-KR" sz="1400">
              <a:latin typeface="Times New Roman" pitchFamily="18" charset="0"/>
              <a:cs typeface="Times New Roman" pitchFamily="18" charset="0"/>
            </a:endParaRPr>
          </a:p>
        </p:txBody>
      </p:sp>
      <p:sp>
        <p:nvSpPr>
          <p:cNvPr id="139269" name="Text Box 5"/>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sp>
        <p:nvSpPr>
          <p:cNvPr id="139270" name="Text Box 6"/>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pic>
        <p:nvPicPr>
          <p:cNvPr id="139271" name="Picture 7" descr="p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2060575"/>
            <a:ext cx="23399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72" name="Picture 8" descr="p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50" y="1844675"/>
            <a:ext cx="1247775"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73" name="Picture 9" descr="p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060575"/>
            <a:ext cx="3433763"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5D2DDD4-AAD6-41FB-BC3C-1370E147AB3F}" type="slidenum">
              <a:rPr lang="en-US" altLang="ko-KR" sz="1400" smtClean="0">
                <a:latin typeface="Times New Roman" pitchFamily="18" charset="0"/>
                <a:cs typeface="Times New Roman" pitchFamily="18" charset="0"/>
              </a:rPr>
              <a:pPr eaLnBrk="1" hangingPunct="1"/>
              <a:t>132</a:t>
            </a:fld>
            <a:endParaRPr lang="en-US" altLang="ko-KR" sz="1400" smtClean="0">
              <a:latin typeface="Times New Roman" pitchFamily="18" charset="0"/>
              <a:cs typeface="Times New Roman" pitchFamily="18" charset="0"/>
            </a:endParaRPr>
          </a:p>
        </p:txBody>
      </p:sp>
      <p:sp>
        <p:nvSpPr>
          <p:cNvPr id="140291"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029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③ Tính chống rung</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Do là phương thức tiếp xúc điểm điện tử không tiếp điểm(không công tắc) nên vững với những rung lắc, không phát sinh lỗi vận hành do rung lắc.</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④ Chức năng cao</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Đóng mở nhanh, có thể điều khiển pha.</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⑤ Độ tin cậy cao</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Không có lửa cháy do mài mòn của tiếp điểm(công tắc), được phủ kín toàn bộ bằng Resin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sử dụng tốt trong cả những môi trường mang tính nguy hiểm như có nhiều bụi bẩn hoặc khí đốt.</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Hạng mục cần chú ý khi sử dụng</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 ① </a:t>
            </a:r>
            <a:r>
              <a:rPr lang="en-US" altLang="ko-KR">
                <a:latin typeface="Times New Roman" pitchFamily="18" charset="0"/>
                <a:cs typeface="Times New Roman" pitchFamily="18" charset="0"/>
              </a:rPr>
              <a:t>Tỏa nhiệt</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Phát sinh điện áp ON vào khoảng 1.0~1.5[Vrms ở giữa cực đầu ra theo đó tổn hao điện phát sinh theo sự tỏa nhiệt của phần tử.</a:t>
            </a:r>
          </a:p>
          <a:p>
            <a:pPr eaLnBrk="1" hangingPunct="1"/>
            <a:r>
              <a:rPr lang="en-US" altLang="ko-KR">
                <a:latin typeface="Times New Roman" pitchFamily="18" charset="0"/>
                <a:cs typeface="Times New Roman" pitchFamily="18" charset="0"/>
              </a:rPr>
              <a:t>     Cần có đối sách cho sự tỏa nhiệt theo lượng tổn hao điện.</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② Dòng rò</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Dù ở trạng thái OFF thì vẫn có dòng điện rò rỉ rất nhỏ chạy qua ở phía đầu ra.</a:t>
            </a:r>
          </a:p>
        </p:txBody>
      </p:sp>
      <p:sp>
        <p:nvSpPr>
          <p:cNvPr id="140293" name="Text Box 4"/>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664B9B9-6533-4E00-BB2F-8B614AABFA05}" type="slidenum">
              <a:rPr lang="en-US" altLang="ko-KR" sz="1400" smtClean="0">
                <a:latin typeface="Times New Roman" pitchFamily="18" charset="0"/>
                <a:cs typeface="Times New Roman" pitchFamily="18" charset="0"/>
              </a:rPr>
              <a:pPr eaLnBrk="1" hangingPunct="1"/>
              <a:t>133</a:t>
            </a:fld>
            <a:endParaRPr lang="en-US" altLang="ko-KR" sz="1400" smtClean="0">
              <a:latin typeface="Times New Roman" pitchFamily="18" charset="0"/>
              <a:cs typeface="Times New Roman" pitchFamily="18" charset="0"/>
            </a:endParaRPr>
          </a:p>
        </p:txBody>
      </p:sp>
      <p:sp>
        <p:nvSpPr>
          <p:cNvPr id="14131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131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Đo SSR</a:t>
            </a:r>
            <a:endParaRPr lang="ko-KR" altLang="en-US" b="1">
              <a:latin typeface="Times New Roman" pitchFamily="18" charset="0"/>
              <a:cs typeface="Times New Roman" pitchFamily="18" charset="0"/>
            </a:endParaRPr>
          </a:p>
        </p:txBody>
      </p:sp>
      <p:sp>
        <p:nvSpPr>
          <p:cNvPr id="141317" name="Text Box 4"/>
          <p:cNvSpPr txBox="1">
            <a:spLocks noChangeArrowheads="1"/>
          </p:cNvSpPr>
          <p:nvPr/>
        </p:nvSpPr>
        <p:spPr bwMode="auto">
          <a:xfrm>
            <a:off x="5808663" y="68263"/>
            <a:ext cx="3155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2. Linh kiện kiểm soát nguồn điện</a:t>
            </a:r>
            <a:endParaRPr lang="ko-KR" altLang="en-US" sz="1600" b="1">
              <a:latin typeface="Times New Roman" pitchFamily="18" charset="0"/>
              <a:cs typeface="Times New Roman" pitchFamily="18" charset="0"/>
            </a:endParaRPr>
          </a:p>
        </p:txBody>
      </p:sp>
      <p:pic>
        <p:nvPicPr>
          <p:cNvPr id="14131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341438"/>
            <a:ext cx="4032250" cy="22399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131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341438"/>
            <a:ext cx="2808288" cy="2214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0" name="Text Box 7"/>
          <p:cNvSpPr txBox="1">
            <a:spLocks noChangeArrowheads="1"/>
          </p:cNvSpPr>
          <p:nvPr/>
        </p:nvSpPr>
        <p:spPr bwMode="auto">
          <a:xfrm>
            <a:off x="920750" y="3644900"/>
            <a:ext cx="1909763" cy="246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sz="1000">
                <a:latin typeface="Times New Roman" pitchFamily="18" charset="0"/>
                <a:cs typeface="Times New Roman" pitchFamily="18" charset="0"/>
              </a:rPr>
              <a:t>▶ Phương pháp đo SSR như sau.</a:t>
            </a:r>
          </a:p>
        </p:txBody>
      </p:sp>
      <p:sp>
        <p:nvSpPr>
          <p:cNvPr id="141321" name="Text Box 8"/>
          <p:cNvSpPr txBox="1">
            <a:spLocks noChangeArrowheads="1"/>
          </p:cNvSpPr>
          <p:nvPr/>
        </p:nvSpPr>
        <p:spPr bwMode="auto">
          <a:xfrm>
            <a:off x="1033463" y="3933825"/>
            <a:ext cx="6202362" cy="1169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spcBef>
                <a:spcPct val="50000"/>
              </a:spcBef>
              <a:buFont typeface="Wingdings" pitchFamily="2" charset="2"/>
              <a:buChar char="ü"/>
            </a:pPr>
            <a:r>
              <a:rPr lang="en-US" altLang="ko-KR" sz="1000">
                <a:latin typeface="Times New Roman" pitchFamily="18" charset="0"/>
                <a:cs typeface="Times New Roman" pitchFamily="18" charset="0"/>
              </a:rPr>
              <a:t> Cho nguồn điện phù hợp với cực của phần đầu vào.</a:t>
            </a:r>
          </a:p>
          <a:p>
            <a:pPr eaLnBrk="1" hangingPunct="1">
              <a:lnSpc>
                <a:spcPct val="110000"/>
              </a:lnSpc>
              <a:spcBef>
                <a:spcPct val="50000"/>
              </a:spcBef>
              <a:buFont typeface="Wingdings" pitchFamily="2" charset="2"/>
              <a:buChar char="ü"/>
            </a:pPr>
            <a:r>
              <a:rPr lang="en-US" altLang="ko-KR" sz="1000">
                <a:latin typeface="Times New Roman" pitchFamily="18" charset="0"/>
                <a:cs typeface="Times New Roman" pitchFamily="18" charset="0"/>
              </a:rPr>
              <a:t> Đo xem phần đầu ra đã dẫn điện chưa.</a:t>
            </a:r>
          </a:p>
          <a:p>
            <a:pPr eaLnBrk="1" hangingPunct="1">
              <a:lnSpc>
                <a:spcPct val="110000"/>
              </a:lnSpc>
              <a:spcBef>
                <a:spcPct val="50000"/>
              </a:spcBef>
              <a:buFont typeface="Wingdings" pitchFamily="2" charset="2"/>
              <a:buChar char="ü"/>
            </a:pPr>
            <a:r>
              <a:rPr lang="en-US" altLang="ko-KR" sz="1000">
                <a:latin typeface="Times New Roman" pitchFamily="18" charset="0"/>
                <a:cs typeface="Times New Roman" pitchFamily="18" charset="0"/>
              </a:rPr>
              <a:t> Check trạng thái dẫn điện của phần đầu ra khi để phần đầu vào ở trạng thái không có nguồn điện.</a:t>
            </a:r>
          </a:p>
          <a:p>
            <a:pPr eaLnBrk="1" hangingPunct="1">
              <a:lnSpc>
                <a:spcPct val="110000"/>
              </a:lnSpc>
              <a:spcBef>
                <a:spcPct val="50000"/>
              </a:spcBef>
              <a:buFont typeface="Wingdings" pitchFamily="2" charset="2"/>
              <a:buChar char="ü"/>
            </a:pPr>
            <a:r>
              <a:rPr lang="en-US" altLang="ko-KR" sz="1000">
                <a:latin typeface="Times New Roman" pitchFamily="18" charset="0"/>
                <a:cs typeface="Times New Roman" pitchFamily="18" charset="0"/>
              </a:rPr>
              <a:t> Dùng Clamp-meter để check xem dòng điện có chạy qua phần đầu ra khi cung cấp dòng điện ở trạng thái kết nối bình thường.</a:t>
            </a:r>
          </a:p>
        </p:txBody>
      </p:sp>
      <p:sp>
        <p:nvSpPr>
          <p:cNvPr id="141322" name="Text Box 9"/>
          <p:cNvSpPr txBox="1">
            <a:spLocks noChangeArrowheads="1"/>
          </p:cNvSpPr>
          <p:nvPr/>
        </p:nvSpPr>
        <p:spPr bwMode="auto">
          <a:xfrm>
            <a:off x="1055688" y="5468938"/>
            <a:ext cx="7372350" cy="846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30000"/>
              </a:lnSpc>
              <a:spcBef>
                <a:spcPct val="50000"/>
              </a:spcBef>
              <a:buFont typeface="Wingdings" pitchFamily="2" charset="2"/>
              <a:buChar char="§"/>
            </a:pPr>
            <a:r>
              <a:rPr lang="en-US" altLang="ko-KR" sz="1000" b="1">
                <a:solidFill>
                  <a:srgbClr val="FF3300"/>
                </a:solidFill>
                <a:latin typeface="Times New Roman" pitchFamily="18" charset="0"/>
                <a:cs typeface="Times New Roman" pitchFamily="18" charset="0"/>
              </a:rPr>
              <a:t> Khi test như thường kì  khi cho dòng điện đi qua phần đầu vào thì phần đầu ra phải dẫn điện được.</a:t>
            </a:r>
          </a:p>
          <a:p>
            <a:pPr eaLnBrk="1" hangingPunct="1">
              <a:lnSpc>
                <a:spcPct val="130000"/>
              </a:lnSpc>
              <a:spcBef>
                <a:spcPct val="50000"/>
              </a:spcBef>
              <a:buFont typeface="Wingdings" pitchFamily="2" charset="2"/>
              <a:buChar char="§"/>
            </a:pPr>
            <a:r>
              <a:rPr lang="en-US" altLang="ko-KR" sz="1000" b="1">
                <a:solidFill>
                  <a:srgbClr val="FF3300"/>
                </a:solidFill>
                <a:latin typeface="Times New Roman" pitchFamily="18" charset="0"/>
                <a:cs typeface="Times New Roman" pitchFamily="18" charset="0"/>
              </a:rPr>
              <a:t> Hơn nữa nếu không cho dòng điện đi qua phần đầu vào thì ở phần đầu ra phải không dẫn điện được.</a:t>
            </a:r>
          </a:p>
          <a:p>
            <a:pPr eaLnBrk="1" hangingPunct="1">
              <a:lnSpc>
                <a:spcPct val="130000"/>
              </a:lnSpc>
              <a:spcBef>
                <a:spcPct val="50000"/>
              </a:spcBef>
              <a:buFont typeface="Wingdings" pitchFamily="2" charset="2"/>
              <a:buChar char="§"/>
            </a:pPr>
            <a:r>
              <a:rPr lang="en-US" altLang="ko-KR" sz="1000" b="1">
                <a:solidFill>
                  <a:srgbClr val="FF3300"/>
                </a:solidFill>
                <a:latin typeface="Times New Roman" pitchFamily="18" charset="0"/>
                <a:cs typeface="Times New Roman" pitchFamily="18" charset="0"/>
              </a:rPr>
              <a:t> Khi kết nối bình thường</a:t>
            </a:r>
            <a:r>
              <a:rPr lang="ko-KR" altLang="en-US" sz="1000" b="1">
                <a:solidFill>
                  <a:srgbClr val="FF3300"/>
                </a:solidFill>
                <a:latin typeface="Times New Roman" pitchFamily="18" charset="0"/>
                <a:cs typeface="Times New Roman" pitchFamily="18" charset="0"/>
              </a:rPr>
              <a:t> </a:t>
            </a:r>
            <a:r>
              <a:rPr lang="en-US" altLang="ko-KR" sz="1000" b="1">
                <a:solidFill>
                  <a:srgbClr val="FF3300"/>
                </a:solidFill>
                <a:latin typeface="Times New Roman" pitchFamily="18" charset="0"/>
                <a:cs typeface="Times New Roman" pitchFamily="18" charset="0"/>
              </a:rPr>
              <a:t>sẽ đo được điện áp nhưng cũng có trường hợp dòng điện không chạy qua</a:t>
            </a:r>
            <a:r>
              <a:rPr lang="ko-KR" altLang="en-US" sz="1000" b="1">
                <a:solidFill>
                  <a:srgbClr val="FF3300"/>
                </a:solidFill>
                <a:latin typeface="Times New Roman" pitchFamily="18" charset="0"/>
                <a:cs typeface="Times New Roman" pitchFamily="18" charset="0"/>
              </a:rPr>
              <a:t> </a:t>
            </a:r>
            <a:r>
              <a:rPr lang="en-US" altLang="ko-KR" sz="1000" b="1">
                <a:solidFill>
                  <a:srgbClr val="FF3300"/>
                </a:solidFill>
                <a:latin typeface="Times New Roman" pitchFamily="18" charset="0"/>
                <a:cs typeface="Times New Roman" pitchFamily="18" charset="0"/>
              </a:rPr>
              <a:t>nên bắt buộc phải đo dòng điện.</a:t>
            </a:r>
          </a:p>
        </p:txBody>
      </p:sp>
      <p:sp>
        <p:nvSpPr>
          <p:cNvPr id="141323" name="AutoShape 10"/>
          <p:cNvSpPr>
            <a:spLocks noChangeArrowheads="1"/>
          </p:cNvSpPr>
          <p:nvPr/>
        </p:nvSpPr>
        <p:spPr bwMode="auto">
          <a:xfrm>
            <a:off x="2339975" y="5084763"/>
            <a:ext cx="2736850" cy="314325"/>
          </a:xfrm>
          <a:prstGeom prst="downArrow">
            <a:avLst>
              <a:gd name="adj1" fmla="val 100000"/>
              <a:gd name="adj2" fmla="val 100000"/>
            </a:avLst>
          </a:prstGeom>
          <a:solidFill>
            <a:srgbClr val="DDDDDD"/>
          </a:solidFill>
          <a:ln>
            <a:noFill/>
          </a:ln>
          <a:effectLst/>
          <a:extLs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spcBef>
                <a:spcPct val="50000"/>
              </a:spcBef>
            </a:pPr>
            <a:r>
              <a:rPr lang="en-US" altLang="ko-KR" sz="1000" b="1">
                <a:latin typeface="Times New Roman" pitchFamily="18" charset="0"/>
                <a:cs typeface="Times New Roman" pitchFamily="18" charset="0"/>
              </a:rPr>
              <a:t>Kết quả đo</a:t>
            </a:r>
            <a:endParaRPr lang="ko-KR" altLang="en-US" sz="10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37CC52D-74F7-496A-BCA4-BB53A58FBEB0}" type="slidenum">
              <a:rPr lang="en-US" altLang="ko-KR" sz="1400" smtClean="0">
                <a:latin typeface="Times New Roman" pitchFamily="18" charset="0"/>
                <a:cs typeface="Times New Roman" pitchFamily="18" charset="0"/>
              </a:rPr>
              <a:pPr eaLnBrk="1" hangingPunct="1"/>
              <a:t>134</a:t>
            </a:fld>
            <a:endParaRPr lang="en-US" altLang="ko-KR" sz="1400" smtClean="0">
              <a:latin typeface="Times New Roman" pitchFamily="18" charset="0"/>
              <a:cs typeface="Times New Roman" pitchFamily="18" charset="0"/>
            </a:endParaRPr>
          </a:p>
        </p:txBody>
      </p:sp>
      <p:sp>
        <p:nvSpPr>
          <p:cNvPr id="142339" name="Text Box 2"/>
          <p:cNvSpPr txBox="1">
            <a:spLocks noChangeArrowheads="1"/>
          </p:cNvSpPr>
          <p:nvPr/>
        </p:nvSpPr>
        <p:spPr bwMode="auto">
          <a:xfrm>
            <a:off x="684213" y="892175"/>
            <a:ext cx="26812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3-1. LED (Light Emitting Diode)</a:t>
            </a:r>
          </a:p>
        </p:txBody>
      </p:sp>
      <p:sp>
        <p:nvSpPr>
          <p:cNvPr id="142340" name="Text Box 3"/>
          <p:cNvSpPr txBox="1">
            <a:spLocks noChangeArrowheads="1"/>
          </p:cNvSpPr>
          <p:nvPr/>
        </p:nvSpPr>
        <p:spPr bwMode="auto">
          <a:xfrm>
            <a:off x="352425" y="501650"/>
            <a:ext cx="1057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42341"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solidFill>
                  <a:srgbClr val="000000"/>
                </a:solidFill>
                <a:latin typeface="Times New Roman" pitchFamily="18" charset="0"/>
                <a:cs typeface="Times New Roman" pitchFamily="18" charset="0"/>
              </a:rPr>
              <a:t>(1) Đặc tính của ánh sáng</a:t>
            </a:r>
            <a:endParaRPr lang="ko-KR" altLang="en-US">
              <a:solidFill>
                <a:srgbClr val="000000"/>
              </a:solidFill>
              <a:latin typeface="Times New Roman" pitchFamily="18" charset="0"/>
              <a:cs typeface="Times New Roman" pitchFamily="18" charset="0"/>
            </a:endParaRPr>
          </a:p>
          <a:p>
            <a:pPr eaLnBrk="1" hangingPunct="1"/>
            <a:endParaRPr lang="ko-KR" altLang="en-US">
              <a:solidFill>
                <a:srgbClr val="000000"/>
              </a:solidFill>
              <a:latin typeface="Times New Roman" pitchFamily="18" charset="0"/>
              <a:cs typeface="Times New Roman" pitchFamily="18" charset="0"/>
            </a:endParaRPr>
          </a:p>
          <a:p>
            <a:pPr eaLnBrk="1" hangingPunct="1"/>
            <a:r>
              <a:rPr lang="ko-KR" altLang="en-US">
                <a:solidFill>
                  <a:srgbClr val="000000"/>
                </a:solidFill>
                <a:latin typeface="Times New Roman" pitchFamily="18" charset="0"/>
                <a:cs typeface="Times New Roman" pitchFamily="18" charset="0"/>
              </a:rPr>
              <a:t>*</a:t>
            </a:r>
            <a:r>
              <a:rPr lang="en-US" altLang="ko-KR">
                <a:solidFill>
                  <a:srgbClr val="000000"/>
                </a:solidFill>
                <a:latin typeface="Times New Roman" pitchFamily="18" charset="0"/>
                <a:cs typeface="Times New Roman" pitchFamily="18" charset="0"/>
              </a:rPr>
              <a:t>Dựa vào </a:t>
            </a:r>
            <a:r>
              <a:rPr lang="en-US" altLang="ko-KR" u="sng">
                <a:solidFill>
                  <a:srgbClr val="000000"/>
                </a:solidFill>
                <a:latin typeface="Times New Roman" pitchFamily="18" charset="0"/>
                <a:cs typeface="Times New Roman" pitchFamily="18" charset="0"/>
              </a:rPr>
              <a:t>thuyết lượng tử</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để giải thích thì ánh sáng được biết đến là chùm không liên tục của năng lượng gọi là quang tử(lượng tử ánh sáng)(Photon: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phân tử ánh sáng). Lượng năng lượng mà quang tử có thay đổi theo tần số của ánh sáng và được biểu hiện như sau.</a:t>
            </a:r>
          </a:p>
          <a:p>
            <a:pPr eaLnBrk="1" hangingPunct="1"/>
            <a:endParaRPr lang="en-US" altLang="ko-KR" b="1" u="sng">
              <a:solidFill>
                <a:srgbClr val="000000"/>
              </a:solidFill>
              <a:latin typeface="Times New Roman" pitchFamily="18" charset="0"/>
              <a:cs typeface="Times New Roman" pitchFamily="18" charset="0"/>
            </a:endParaRPr>
          </a:p>
          <a:p>
            <a:pPr eaLnBrk="1" hangingPunct="1"/>
            <a:endParaRPr lang="en-US" altLang="ko-KR" b="1" u="sng">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Ở đây</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ε là năng lượng, f là tần số, và </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h là hằng số Plăng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 giá trị đó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6.624×10</a:t>
            </a:r>
            <a:r>
              <a:rPr lang="en-US" altLang="ko-KR" baseline="30000">
                <a:solidFill>
                  <a:srgbClr val="000000"/>
                </a:solidFill>
                <a:latin typeface="Times New Roman" pitchFamily="18" charset="0"/>
                <a:cs typeface="Times New Roman" pitchFamily="18" charset="0"/>
              </a:rPr>
              <a:t>-34</a:t>
            </a:r>
            <a:r>
              <a:rPr lang="en-US" altLang="ko-KR">
                <a:solidFill>
                  <a:srgbClr val="000000"/>
                </a:solidFill>
                <a:latin typeface="Times New Roman" pitchFamily="18" charset="0"/>
                <a:cs typeface="Times New Roman" pitchFamily="18" charset="0"/>
              </a:rPr>
              <a:t> [j·s] .</a:t>
            </a:r>
          </a:p>
          <a:p>
            <a:pPr eaLnBrk="1" hangingPunct="1"/>
            <a:r>
              <a:rPr lang="en-US" altLang="ko-KR">
                <a:solidFill>
                  <a:srgbClr val="000000"/>
                </a:solidFill>
                <a:latin typeface="Times New Roman" pitchFamily="18" charset="0"/>
                <a:cs typeface="Times New Roman" pitchFamily="18" charset="0"/>
              </a:rPr>
              <a:t>Qua công thức trên ta có thể biết được năng lượng ánh sáng có liên quan trực tiếp đến tần số.  Tần số tăng thì năng lượng cũng tăng, và ngược lại. Ánh sáng thường thể hiện bước sóng hơn là tần số, chiều dài bước sóng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λ</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được biểu hiện như sau.</a:t>
            </a:r>
          </a:p>
          <a:p>
            <a:pPr eaLnBrk="1" hangingPunct="1"/>
            <a:endParaRPr lang="en-US" altLang="ko-KR">
              <a:solidFill>
                <a:srgbClr val="000000"/>
              </a:solidFill>
              <a:latin typeface="Times New Roman" pitchFamily="18" charset="0"/>
              <a:cs typeface="Times New Roman" pitchFamily="18" charset="0"/>
            </a:endParaRPr>
          </a:p>
          <a:p>
            <a:pPr eaLnBrk="1" hangingPunct="1"/>
            <a:endParaRPr lang="en-US" altLang="ko-KR">
              <a:solidFill>
                <a:srgbClr val="000000"/>
              </a:solidFill>
              <a:latin typeface="Times New Roman" pitchFamily="18" charset="0"/>
              <a:cs typeface="Times New Roman" pitchFamily="18" charset="0"/>
            </a:endParaRP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Ở đây</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 là tốc độ ánh sáng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(3×10</a:t>
            </a:r>
            <a:r>
              <a:rPr lang="en-US" altLang="ko-KR" baseline="30000">
                <a:solidFill>
                  <a:srgbClr val="000000"/>
                </a:solidFill>
                <a:latin typeface="Times New Roman" pitchFamily="18" charset="0"/>
                <a:cs typeface="Times New Roman" pitchFamily="18" charset="0"/>
              </a:rPr>
              <a:t>8</a:t>
            </a:r>
            <a:r>
              <a:rPr lang="en-US" altLang="ko-KR">
                <a:solidFill>
                  <a:srgbClr val="000000"/>
                </a:solidFill>
                <a:latin typeface="Times New Roman" pitchFamily="18" charset="0"/>
                <a:cs typeface="Times New Roman" pitchFamily="18" charset="0"/>
              </a:rPr>
              <a:t> m/s).  Khi c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m/s</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f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Hz</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thì</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λ</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m.  Tuy nhiên, </a:t>
            </a:r>
            <a:r>
              <a:rPr lang="vi-VN" altLang="ko-KR" b="1">
                <a:solidFill>
                  <a:srgbClr val="000000"/>
                </a:solidFill>
                <a:latin typeface="Times New Roman" pitchFamily="18" charset="0"/>
                <a:cs typeface="Times New Roman" pitchFamily="18" charset="0"/>
              </a:rPr>
              <a:t>ăngstrom</a:t>
            </a:r>
            <a:r>
              <a:rPr lang="ko-KR" altLang="en-US" b="1">
                <a:solidFill>
                  <a:srgbClr val="000000"/>
                </a:solidFill>
                <a:latin typeface="Times New Roman" pitchFamily="18" charset="0"/>
                <a:cs typeface="Times New Roman" pitchFamily="18" charset="0"/>
              </a:rPr>
              <a:t> </a:t>
            </a:r>
            <a:r>
              <a:rPr lang="en-US" altLang="ko-KR" b="1">
                <a:solidFill>
                  <a:srgbClr val="000000"/>
                </a:solidFill>
                <a:latin typeface="Times New Roman" pitchFamily="18" charset="0"/>
                <a:cs typeface="Times New Roman" pitchFamily="18" charset="0"/>
              </a:rPr>
              <a:t>(Å) </a:t>
            </a:r>
            <a:r>
              <a:rPr lang="en-US" altLang="ko-KR">
                <a:solidFill>
                  <a:srgbClr val="000000"/>
                </a:solidFill>
                <a:latin typeface="Times New Roman" pitchFamily="18" charset="0"/>
                <a:cs typeface="Times New Roman" pitchFamily="18" charset="0"/>
              </a:rPr>
              <a:t>là đơn vị của bước sóng được sử dụng phổ biến hơn.  1Å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1×10</a:t>
            </a:r>
            <a:r>
              <a:rPr lang="en-US" altLang="ko-KR" baseline="30000">
                <a:solidFill>
                  <a:srgbClr val="000000"/>
                </a:solidFill>
                <a:latin typeface="Times New Roman" pitchFamily="18" charset="0"/>
                <a:cs typeface="Times New Roman" pitchFamily="18" charset="0"/>
              </a:rPr>
              <a:t>-10</a:t>
            </a:r>
            <a:r>
              <a:rPr lang="en-US" altLang="ko-KR">
                <a:solidFill>
                  <a:srgbClr val="000000"/>
                </a:solidFill>
                <a:latin typeface="Times New Roman" pitchFamily="18" charset="0"/>
                <a:cs typeface="Times New Roman" pitchFamily="18" charset="0"/>
              </a:rPr>
              <a:t> m.  Bước sóng của ánh sáng quyết định màu sắc của ánh sáng trong khoảng có thể nhìn thấy được và quyết định là tia hồng ngoại hay tia cực tím ở ngoài khoảng có thể nhìn thấy được giống như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18-1.  Tức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 ta có thể biết ánh sáng trắng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được hợp thành tần số của vô số dải bước sóng.</a:t>
            </a:r>
          </a:p>
        </p:txBody>
      </p:sp>
      <p:sp>
        <p:nvSpPr>
          <p:cNvPr id="142342" name="Text Box 5"/>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42343" name="Text Box 6"/>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pic>
        <p:nvPicPr>
          <p:cNvPr id="14234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738" y="2305050"/>
            <a:ext cx="5969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2345"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8400" y="3573463"/>
            <a:ext cx="936625"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2346" name="Rectangle 9"/>
          <p:cNvSpPr>
            <a:spLocks noChangeArrowheads="1"/>
          </p:cNvSpPr>
          <p:nvPr/>
        </p:nvSpPr>
        <p:spPr bwMode="auto">
          <a:xfrm rot="10800000" flipH="1" flipV="1">
            <a:off x="914400" y="5911850"/>
            <a:ext cx="74676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solidFill>
                  <a:srgbClr val="000000"/>
                </a:solidFill>
                <a:latin typeface="Times New Roman" pitchFamily="18" charset="0"/>
                <a:cs typeface="Times New Roman" pitchFamily="18" charset="0"/>
              </a:rPr>
              <a:t>*Thuyết lượng tử</a:t>
            </a:r>
            <a:r>
              <a:rPr lang="ko-KR" altLang="en-US" sz="900">
                <a:solidFill>
                  <a:srgbClr val="000000"/>
                </a:solidFill>
                <a:latin typeface="Times New Roman" pitchFamily="18" charset="0"/>
                <a:cs typeface="Times New Roman" pitchFamily="18" charset="0"/>
              </a:rPr>
              <a:t> </a:t>
            </a:r>
            <a:r>
              <a:rPr lang="en-US" altLang="ko-KR" sz="900">
                <a:solidFill>
                  <a:srgbClr val="000000"/>
                </a:solidFill>
                <a:latin typeface="Times New Roman" pitchFamily="18" charset="0"/>
                <a:cs typeface="Times New Roman" pitchFamily="18" charset="0"/>
              </a:rPr>
              <a:t>: Là lý thuyết nói rằng việc hấp thụ hay bức xạ nhiệt của vật chất không diễn ra liên tục</a:t>
            </a:r>
            <a:r>
              <a:rPr lang="en-US" altLang="ko-KR" sz="900">
                <a:solidFill>
                  <a:srgbClr val="000000"/>
                </a:solidFill>
                <a:latin typeface="Times New Roman" pitchFamily="18" charset="0"/>
                <a:ea typeface="돋움" pitchFamily="50" charset="-127"/>
                <a:cs typeface="Times New Roman" pitchFamily="18" charset="0"/>
              </a:rPr>
              <a:t>, </a:t>
            </a:r>
            <a:r>
              <a:rPr lang="ko-KR" altLang="en-US" sz="900">
                <a:solidFill>
                  <a:srgbClr val="000000"/>
                </a:solidFill>
                <a:latin typeface="Times New Roman" pitchFamily="18" charset="0"/>
                <a:ea typeface="돋움" pitchFamily="50" charset="-127"/>
                <a:cs typeface="Times New Roman" pitchFamily="18" charset="0"/>
              </a:rPr>
              <a:t> </a:t>
            </a:r>
            <a:r>
              <a:rPr lang="en-US" altLang="ko-KR" sz="900">
                <a:solidFill>
                  <a:srgbClr val="000000"/>
                </a:solidFill>
                <a:latin typeface="Times New Roman" pitchFamily="18" charset="0"/>
                <a:ea typeface="돋움" pitchFamily="50" charset="-127"/>
                <a:cs typeface="Times New Roman" pitchFamily="18" charset="0"/>
              </a:rPr>
              <a:t>mà diễn ra theo hình thức  của số nguyên của đơn vị(năng lượng) không liên tục tỷ lệ với tần suất đối ứng với mỗi cái</a:t>
            </a:r>
            <a:endParaRPr lang="ko-KR" altLang="en-US" sz="900">
              <a:solidFill>
                <a:srgbClr val="000000"/>
              </a:solidFill>
              <a:latin typeface="Times New Roman" pitchFamily="18" charset="0"/>
              <a:ea typeface="돋움" pitchFamily="50" charset="-127"/>
              <a:cs typeface="Times New Roman" pitchFamily="18" charset="0"/>
            </a:endParaRPr>
          </a:p>
        </p:txBody>
      </p:sp>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522C0FF-151E-47CD-9536-71C6D8E0DF8C}" type="slidenum">
              <a:rPr lang="en-US" altLang="ko-KR" sz="1400" smtClean="0">
                <a:latin typeface="Times New Roman" pitchFamily="18" charset="0"/>
                <a:cs typeface="Times New Roman" pitchFamily="18" charset="0"/>
              </a:rPr>
              <a:pPr eaLnBrk="1" hangingPunct="1"/>
              <a:t>135</a:t>
            </a:fld>
            <a:endParaRPr lang="en-US" altLang="ko-KR" sz="1400" smtClean="0">
              <a:latin typeface="Times New Roman" pitchFamily="18" charset="0"/>
              <a:cs typeface="Times New Roman" pitchFamily="18" charset="0"/>
            </a:endParaRPr>
          </a:p>
        </p:txBody>
      </p:sp>
      <p:sp>
        <p:nvSpPr>
          <p:cNvPr id="143363"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43364"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Ở nguồn quang nào có bao gồm các phần tử quang điện tử cũng phát ra ánh sáng vượt quá phạm vi giới hạn của bước sóng.  Khi vẽ lượng năng lượng trên biểu đồ về bước sóng(hoặc tần số) thì ta gọi đó là phổ phát xạ</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(Emission Spectrum).</a:t>
            </a:r>
          </a:p>
          <a:p>
            <a:pPr eaLnBrk="1" hangingPunct="1"/>
            <a:r>
              <a:rPr lang="en-US" altLang="ko-KR">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Phần tử quang điện tử nào đã được hoạt tính dựa vào ánh sáng chứ không phải phát quang cũng chỉ phản ứng ở trong khoảng nhất định của bước sóng. Người ta gọi đặc tính này là phản ứng phổ</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(Spectrum Response).</a:t>
            </a:r>
          </a:p>
          <a:p>
            <a:pPr eaLnBrk="1" hangingPunct="1"/>
            <a:r>
              <a:rPr lang="en-US" altLang="ko-KR">
                <a:solidFill>
                  <a:srgbClr val="000000"/>
                </a:solidFill>
                <a:latin typeface="Times New Roman" pitchFamily="18" charset="0"/>
                <a:cs typeface="Times New Roman" pitchFamily="18" charset="0"/>
              </a:rPr>
              <a:t>Lượng ánh sáng phát ra từ nguồn quang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thường được đo bằng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Lumen. Cường độ chiếu sáng là lượng Lumen rơi trên diện tích đơn vị, thường biểu hiện bằng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Lumen trên mét vuông(lm/m²), Foot-Candle, fc hoặc, oát trên mét vuông(W/m</a:t>
            </a:r>
            <a:r>
              <a:rPr lang="en-US" altLang="ko-KR" baseline="30000">
                <a:solidFill>
                  <a:srgbClr val="000000"/>
                </a:solidFill>
                <a:latin typeface="Times New Roman" pitchFamily="18" charset="0"/>
                <a:cs typeface="Times New Roman" pitchFamily="18" charset="0"/>
              </a:rPr>
              <a:t>2</a:t>
            </a:r>
            <a:r>
              <a:rPr lang="en-US" altLang="ko-KR">
                <a:solidFill>
                  <a:srgbClr val="000000"/>
                </a:solidFill>
                <a:latin typeface="Times New Roman" pitchFamily="18" charset="0"/>
                <a:cs typeface="Times New Roman" pitchFamily="18" charset="0"/>
              </a:rPr>
              <a:t>).  1fc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là 1 Candle trên mét vuông và có thể được biểu hiện bằng đơn vị chung khác như sau.</a:t>
            </a:r>
          </a:p>
          <a:p>
            <a:pPr eaLnBrk="1" hangingPunct="1"/>
            <a:endParaRPr lang="en-US" altLang="ko-KR" b="1" u="sng">
              <a:solidFill>
                <a:srgbClr val="000000"/>
              </a:solidFill>
              <a:latin typeface="Times New Roman" pitchFamily="18" charset="0"/>
              <a:cs typeface="Times New Roman" pitchFamily="18" charset="0"/>
            </a:endParaRPr>
          </a:p>
          <a:p>
            <a:pPr eaLnBrk="1" hangingPunct="1"/>
            <a:r>
              <a:rPr lang="en-US" altLang="ko-KR" b="1">
                <a:solidFill>
                  <a:srgbClr val="000000"/>
                </a:solidFill>
                <a:latin typeface="Times New Roman" pitchFamily="18" charset="0"/>
                <a:cs typeface="Times New Roman" pitchFamily="18" charset="0"/>
              </a:rPr>
              <a:t>(2) Diode phát quang(LED)</a:t>
            </a: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LED (Light-Emitting Diode) là phần tử phát quang phát ra tia sáng dựa vào năng lượng điện.  Tức, Diode Photo hấp thụ năng lượng ánh sáng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rồi sinh ra dòng điện ngược chiều</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tuy nhiên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về bản chất LED hoạt động hoàn toàn trái ngược lại với điều đó..  Hơn nữa, diode photo sử dụng bằng Bias ngược</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nhưng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LED sử dụng bằng Bias thuận, điểm này phải hết sức lưu ý.</a:t>
            </a:r>
          </a:p>
          <a:p>
            <a:pPr eaLnBrk="1" hangingPunct="1"/>
            <a:endParaRPr lang="en-US" altLang="ko-KR" b="1">
              <a:latin typeface="Times New Roman" pitchFamily="18" charset="0"/>
              <a:cs typeface="Times New Roman" pitchFamily="18" charset="0"/>
            </a:endParaRPr>
          </a:p>
        </p:txBody>
      </p:sp>
      <p:sp>
        <p:nvSpPr>
          <p:cNvPr id="143365"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4336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25538"/>
            <a:ext cx="42672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7" name="직사각형 1"/>
          <p:cNvSpPr>
            <a:spLocks noChangeArrowheads="1"/>
          </p:cNvSpPr>
          <p:nvPr/>
        </p:nvSpPr>
        <p:spPr bwMode="auto">
          <a:xfrm>
            <a:off x="2713038" y="1125538"/>
            <a:ext cx="792162"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Tia tử ngoại</a:t>
            </a:r>
            <a:endParaRPr lang="ko-KR" altLang="en-US" sz="900">
              <a:latin typeface="Times New Roman" pitchFamily="18" charset="0"/>
              <a:cs typeface="Times New Roman" pitchFamily="18" charset="0"/>
            </a:endParaRPr>
          </a:p>
        </p:txBody>
      </p:sp>
      <p:sp>
        <p:nvSpPr>
          <p:cNvPr id="143368" name="직사각형 7"/>
          <p:cNvSpPr>
            <a:spLocks noChangeArrowheads="1"/>
          </p:cNvSpPr>
          <p:nvPr/>
        </p:nvSpPr>
        <p:spPr bwMode="auto">
          <a:xfrm>
            <a:off x="5435600" y="1125538"/>
            <a:ext cx="842963"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Tia hồng ngoại</a:t>
            </a:r>
            <a:endParaRPr lang="ko-KR" altLang="en-US" sz="800">
              <a:latin typeface="Times New Roman" pitchFamily="18" charset="0"/>
              <a:cs typeface="Times New Roman" pitchFamily="18" charset="0"/>
            </a:endParaRPr>
          </a:p>
        </p:txBody>
      </p:sp>
      <p:sp>
        <p:nvSpPr>
          <p:cNvPr id="143369" name="직사각형 8"/>
          <p:cNvSpPr>
            <a:spLocks noChangeArrowheads="1"/>
          </p:cNvSpPr>
          <p:nvPr/>
        </p:nvSpPr>
        <p:spPr bwMode="auto">
          <a:xfrm>
            <a:off x="4140200" y="1098550"/>
            <a:ext cx="792163" cy="4222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Khoảng nhìn thấy được</a:t>
            </a:r>
            <a:endParaRPr lang="ko-KR" altLang="en-US" sz="900">
              <a:latin typeface="Times New Roman" pitchFamily="18" charset="0"/>
              <a:cs typeface="Times New Roman" pitchFamily="18" charset="0"/>
            </a:endParaRPr>
          </a:p>
        </p:txBody>
      </p:sp>
      <p:sp>
        <p:nvSpPr>
          <p:cNvPr id="143370" name="직사각형 9"/>
          <p:cNvSpPr>
            <a:spLocks noChangeArrowheads="1"/>
          </p:cNvSpPr>
          <p:nvPr/>
        </p:nvSpPr>
        <p:spPr bwMode="auto">
          <a:xfrm>
            <a:off x="2555875" y="2286000"/>
            <a:ext cx="3763963" cy="3508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18-1 Quang phổ bước sóng của năng lượng ánh sáng</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5C2BC41-CB5D-4087-98AB-9E21BD35782A}" type="slidenum">
              <a:rPr lang="en-US" altLang="ko-KR" sz="1400" smtClean="0"/>
              <a:pPr eaLnBrk="1" hangingPunct="1"/>
              <a:t>136</a:t>
            </a:fld>
            <a:endParaRPr lang="en-US" altLang="ko-KR" sz="1400" smtClean="0"/>
          </a:p>
        </p:txBody>
      </p:sp>
      <p:sp>
        <p:nvSpPr>
          <p:cNvPr id="144387"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4388"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solidFill>
                  <a:srgbClr val="000000"/>
                </a:solidFill>
                <a:latin typeface="Times New Roman" pitchFamily="18" charset="0"/>
                <a:cs typeface="Times New Roman" pitchFamily="18" charset="0"/>
              </a:rPr>
              <a:t>Sự hoạt động cơ bản của LED như sau.  Nếu đặt Bias thuận chiều lên hai đầu tiếp hợp pn giống như ở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18-2 (a), thì điện tử ở khoảng n sẽ đi về phía khoảng p.  Những điện tử đã đi về phía khoảng p kết hợp lại (Recombination) với các lỗ trống, lúc này các điện tử tự do ở dải dẫn có mức năng lượng cao hơn các lỗ trống của dải hóa trị nên khi kết hợp lại năng lượng liên quan đến chênh lệch mức đó được phát ra bằng ánh sáng. Quá trình này gọi là phát quang điện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(Electro-Luminescence)</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 do dải bước sóng phát quang thay đổi theo chất liệu bán dẫn nên có thể nhận được ánh sáng có màu sắc khác.(do khác Eg) Chất liệu bán dẫn được sử dụng ở LED</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có</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GaAs(Gallium Arsenide : phát quang tia hồng ngoại), GaAsP(Gallium Arsenide Phosphide : phát quang màu hồng hoặc màu vàng), GaP(Gallium Phosphide : phát quang màu hồng hoặc màu xanh lá cây).  Si</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và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Ge về bản chất là </a:t>
            </a:r>
            <a:r>
              <a:rPr lang="ko-KR" altLang="en-US">
                <a:solidFill>
                  <a:srgbClr val="000000"/>
                </a:solidFill>
                <a:latin typeface="Times New Roman" pitchFamily="18" charset="0"/>
                <a:cs typeface="Times New Roman" pitchFamily="18" charset="0"/>
              </a:rPr>
              <a:t>* </a:t>
            </a:r>
            <a:r>
              <a:rPr lang="en-US" altLang="ko-KR" u="sng">
                <a:solidFill>
                  <a:srgbClr val="000000"/>
                </a:solidFill>
                <a:latin typeface="Times New Roman" pitchFamily="18" charset="0"/>
                <a:cs typeface="Times New Roman" pitchFamily="18" charset="0"/>
              </a:rPr>
              <a:t>vật chất sản sinh ra nhiệt</a:t>
            </a:r>
            <a:r>
              <a:rPr lang="en-US" altLang="ko-KR">
                <a:solidFill>
                  <a:srgbClr val="000000"/>
                </a:solidFill>
                <a:latin typeface="Times New Roman" pitchFamily="18" charset="0"/>
                <a:cs typeface="Times New Roman" pitchFamily="18" charset="0"/>
              </a:rPr>
              <a:t>, khả năng sản sinh ra ánh sáng thấp nên không được sử dụng làm chất liệu</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LED. (Khi điện tử và lỗ trống kết hợp với nhau, năng lượng liên quan đến sự chênh lệch mức năng lượng bị tiêu hao chủ yếu do nhiệt.) </a:t>
            </a:r>
          </a:p>
          <a:p>
            <a:pPr eaLnBrk="1" hangingPunct="1"/>
            <a:r>
              <a:rPr lang="en-US" altLang="ko-KR">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Cường độ chiếu sáng được phát ra về dòng điện xuôi chiều gần như đối chiếu giống với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18-2 (b).</a:t>
            </a:r>
          </a:p>
        </p:txBody>
      </p:sp>
      <p:sp>
        <p:nvSpPr>
          <p:cNvPr id="144389"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44390" name="Picture 6"/>
          <p:cNvPicPr>
            <a:picLocks noChangeAspect="1" noChangeArrowheads="1"/>
          </p:cNvPicPr>
          <p:nvPr/>
        </p:nvPicPr>
        <p:blipFill>
          <a:blip r:embed="rId3">
            <a:extLst>
              <a:ext uri="{28A0092B-C50C-407E-A947-70E740481C1C}">
                <a14:useLocalDpi xmlns:a14="http://schemas.microsoft.com/office/drawing/2010/main" val="0"/>
              </a:ext>
            </a:extLst>
          </a:blip>
          <a:srcRect b="52190"/>
          <a:stretch>
            <a:fillRect/>
          </a:stretch>
        </p:blipFill>
        <p:spPr bwMode="auto">
          <a:xfrm>
            <a:off x="827088" y="3789363"/>
            <a:ext cx="4733925"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9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1838" y="3833813"/>
            <a:ext cx="2432050"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92" name="Text Box 8"/>
          <p:cNvSpPr txBox="1">
            <a:spLocks noChangeArrowheads="1"/>
          </p:cNvSpPr>
          <p:nvPr/>
        </p:nvSpPr>
        <p:spPr bwMode="auto">
          <a:xfrm>
            <a:off x="1066800" y="6092825"/>
            <a:ext cx="73152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solidFill>
                  <a:srgbClr val="000000"/>
                </a:solidFill>
                <a:latin typeface="Times New Roman" pitchFamily="18" charset="0"/>
                <a:cs typeface="Times New Roman" pitchFamily="18" charset="0"/>
              </a:rPr>
              <a:t>*Vật chất sản sinh nhiệt</a:t>
            </a:r>
            <a:r>
              <a:rPr lang="ko-KR" altLang="en-US" sz="900">
                <a:solidFill>
                  <a:srgbClr val="000000"/>
                </a:solidFill>
                <a:latin typeface="Times New Roman" pitchFamily="18" charset="0"/>
                <a:cs typeface="Times New Roman" pitchFamily="18" charset="0"/>
              </a:rPr>
              <a:t> </a:t>
            </a:r>
            <a:r>
              <a:rPr lang="en-US" altLang="ko-KR" sz="900">
                <a:solidFill>
                  <a:srgbClr val="000000"/>
                </a:solidFill>
                <a:latin typeface="Times New Roman" pitchFamily="18" charset="0"/>
                <a:cs typeface="Times New Roman" pitchFamily="18" charset="0"/>
              </a:rPr>
              <a:t>: chia thành phản ứng tỏa nhiệt lớn và phản ứng hấp thụ nhiệt, là phản ứng của vật chất mà năng lượng được chuyển đổi thành nhiệt khi đạt được tác động hóa học hoặc tác động điện</a:t>
            </a:r>
            <a:endParaRPr lang="ko-KR" altLang="en-US" sz="900">
              <a:latin typeface="Times New Roman" pitchFamily="18" charset="0"/>
              <a:cs typeface="Times New Roman" pitchFamily="18" charset="0"/>
            </a:endParaRPr>
          </a:p>
        </p:txBody>
      </p:sp>
      <p:sp>
        <p:nvSpPr>
          <p:cNvPr id="144393" name="직사각형 8"/>
          <p:cNvSpPr>
            <a:spLocks noChangeArrowheads="1"/>
          </p:cNvSpPr>
          <p:nvPr/>
        </p:nvSpPr>
        <p:spPr bwMode="auto">
          <a:xfrm>
            <a:off x="5580063" y="5661025"/>
            <a:ext cx="2808287" cy="3508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18-2 Nguyên lý và đặc tính của LED</a:t>
            </a:r>
            <a:endParaRPr lang="ko-KR" altLang="en-US">
              <a:latin typeface="Times New Roman" pitchFamily="18" charset="0"/>
              <a:cs typeface="Times New Roman" pitchFamily="18" charset="0"/>
            </a:endParaRPr>
          </a:p>
        </p:txBody>
      </p:sp>
      <p:sp>
        <p:nvSpPr>
          <p:cNvPr id="144394" name="직사각형 9"/>
          <p:cNvSpPr>
            <a:spLocks noChangeArrowheads="1"/>
          </p:cNvSpPr>
          <p:nvPr/>
        </p:nvSpPr>
        <p:spPr bwMode="auto">
          <a:xfrm>
            <a:off x="1476375" y="5373688"/>
            <a:ext cx="1439863" cy="2778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(a) Phát quang điện ở LED</a:t>
            </a:r>
            <a:endParaRPr lang="ko-KR" altLang="en-US" sz="900">
              <a:latin typeface="Times New Roman" pitchFamily="18" charset="0"/>
              <a:cs typeface="Times New Roman" pitchFamily="18" charset="0"/>
            </a:endParaRPr>
          </a:p>
        </p:txBody>
      </p:sp>
      <p:sp>
        <p:nvSpPr>
          <p:cNvPr id="144395" name="직사각형 10"/>
          <p:cNvSpPr>
            <a:spLocks noChangeArrowheads="1"/>
          </p:cNvSpPr>
          <p:nvPr/>
        </p:nvSpPr>
        <p:spPr bwMode="auto">
          <a:xfrm>
            <a:off x="3203575" y="5373688"/>
            <a:ext cx="2447925"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(b) Cường độ ánh sáng đầu ra điển hình về dòng điện xuôi chiều </a:t>
            </a:r>
            <a:endParaRPr lang="ko-KR" altLang="en-US" sz="900">
              <a:latin typeface="Times New Roman" pitchFamily="18" charset="0"/>
              <a:cs typeface="Times New Roman" pitchFamily="18" charset="0"/>
            </a:endParaRPr>
          </a:p>
        </p:txBody>
      </p:sp>
      <p:sp>
        <p:nvSpPr>
          <p:cNvPr id="144396" name="직사각형 11"/>
          <p:cNvSpPr>
            <a:spLocks noChangeArrowheads="1"/>
          </p:cNvSpPr>
          <p:nvPr/>
        </p:nvSpPr>
        <p:spPr bwMode="auto">
          <a:xfrm>
            <a:off x="7380288" y="3933825"/>
            <a:ext cx="576262" cy="2778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Dải dẫn</a:t>
            </a:r>
            <a:endParaRPr lang="ko-KR" altLang="en-US" sz="900">
              <a:latin typeface="Times New Roman" pitchFamily="18" charset="0"/>
              <a:cs typeface="Times New Roman" pitchFamily="18" charset="0"/>
            </a:endParaRPr>
          </a:p>
        </p:txBody>
      </p:sp>
      <p:sp>
        <p:nvSpPr>
          <p:cNvPr id="144397" name="직사각형 12"/>
          <p:cNvSpPr>
            <a:spLocks noChangeArrowheads="1"/>
          </p:cNvSpPr>
          <p:nvPr/>
        </p:nvSpPr>
        <p:spPr bwMode="auto">
          <a:xfrm>
            <a:off x="7380288" y="4806950"/>
            <a:ext cx="720725" cy="2778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Dải hóa trị</a:t>
            </a:r>
            <a:endParaRPr lang="ko-KR" altLang="en-US" sz="900">
              <a:latin typeface="Times New Roman" pitchFamily="18" charset="0"/>
              <a:cs typeface="Times New Roman" pitchFamily="18" charset="0"/>
            </a:endParaRPr>
          </a:p>
        </p:txBody>
      </p:sp>
      <p:sp>
        <p:nvSpPr>
          <p:cNvPr id="144398" name="직사각형 13"/>
          <p:cNvSpPr>
            <a:spLocks noChangeArrowheads="1"/>
          </p:cNvSpPr>
          <p:nvPr/>
        </p:nvSpPr>
        <p:spPr bwMode="auto">
          <a:xfrm>
            <a:off x="971550" y="3689350"/>
            <a:ext cx="1128713" cy="279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Năng lượng quang</a:t>
            </a:r>
            <a:endParaRPr lang="ko-KR" altLang="en-US" sz="900">
              <a:latin typeface="Times New Roman" pitchFamily="18" charset="0"/>
              <a:cs typeface="Times New Roman" pitchFamily="18" charset="0"/>
            </a:endParaRPr>
          </a:p>
        </p:txBody>
      </p:sp>
      <p:sp>
        <p:nvSpPr>
          <p:cNvPr id="144399" name="직사각형 14"/>
          <p:cNvSpPr>
            <a:spLocks noChangeArrowheads="1"/>
          </p:cNvSpPr>
          <p:nvPr/>
        </p:nvSpPr>
        <p:spPr bwMode="auto">
          <a:xfrm>
            <a:off x="466725" y="4005263"/>
            <a:ext cx="720725" cy="2794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Kết hợp lại</a:t>
            </a:r>
            <a:endParaRPr lang="ko-KR" altLang="en-US" sz="900">
              <a:latin typeface="Times New Roman" pitchFamily="18" charset="0"/>
              <a:cs typeface="Times New Roman" pitchFamily="18" charset="0"/>
            </a:endParaRPr>
          </a:p>
        </p:txBody>
      </p:sp>
      <p:sp>
        <p:nvSpPr>
          <p:cNvPr id="144400" name="직사각형 15"/>
          <p:cNvSpPr>
            <a:spLocks noChangeArrowheads="1"/>
          </p:cNvSpPr>
          <p:nvPr/>
        </p:nvSpPr>
        <p:spPr bwMode="auto">
          <a:xfrm>
            <a:off x="6019800" y="5454650"/>
            <a:ext cx="2368550" cy="2778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(c) Nguyên lý phát quang mang tính khái niệm</a:t>
            </a:r>
            <a:endParaRPr lang="ko-KR" altLang="en-US" sz="900">
              <a:latin typeface="Times New Roman" pitchFamily="18" charset="0"/>
              <a:cs typeface="Times New Roman" pitchFamily="18" charset="0"/>
            </a:endParaRPr>
          </a:p>
        </p:txBody>
      </p:sp>
      <p:sp>
        <p:nvSpPr>
          <p:cNvPr id="144401" name="직사각형 16"/>
          <p:cNvSpPr>
            <a:spLocks noChangeArrowheads="1"/>
          </p:cNvSpPr>
          <p:nvPr/>
        </p:nvSpPr>
        <p:spPr bwMode="auto">
          <a:xfrm>
            <a:off x="6300788" y="5238750"/>
            <a:ext cx="719137" cy="2778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Kết hợp lại</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83F851D-4C66-46EF-82D8-3A314F767826}" type="slidenum">
              <a:rPr lang="en-US" altLang="ko-KR" sz="1400" smtClean="0"/>
              <a:pPr eaLnBrk="1" hangingPunct="1"/>
              <a:t>137</a:t>
            </a:fld>
            <a:endParaRPr lang="en-US" altLang="ko-KR" sz="1400" smtClean="0"/>
          </a:p>
        </p:txBody>
      </p:sp>
      <p:sp>
        <p:nvSpPr>
          <p:cNvPr id="145411"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541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LED(Light Emitting Diode) là linh kiện bán dẫn, diode phát quang phát ra ánh sáng nên nó một loại chất bán dẫn sử dụng đặc tính của chất bán dẫn hợp chất giống với GaAs hoặc Gap rồi biến đổi tín hiệu điện thành tia hồng ngoại và tia sáng để truyền tín hiệu.                                                                                                        </a:t>
            </a:r>
          </a:p>
          <a:p>
            <a:pPr eaLnBrk="1" hangingPunct="1"/>
            <a:r>
              <a:rPr lang="en-US" altLang="ko-KR">
                <a:latin typeface="Times New Roman" pitchFamily="18" charset="0"/>
                <a:cs typeface="Times New Roman" pitchFamily="18" charset="0"/>
              </a:rPr>
              <a:t>Được sử dụng ở bảng điện tử của các loại sản phẩm điện tử và bảng để dụng cụ… bằng màu phát quang đa dạng như đỏ, xanh lá cây, xanh lam, vàng, cam...</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Ở bảng điện tử, người ta tổ hợp 3 đường LED màu đỏ, màu xanh lá cây, và màu xanh lam có độ chói cao sau đó nó có thể biểu hiện Natural Color, vượt trội hơn CRT, FDT về tất cả mọi mặt như tốc độ xử lý, tiêu hao điện năng, tuổi thọ… và có ưu điểm có có thể tạo màn hình với chi phí rẻ.</a:t>
            </a:r>
            <a:r>
              <a:rPr lang="ko-KR" altLang="en-US">
                <a:latin typeface="Times New Roman" pitchFamily="18" charset="0"/>
                <a:cs typeface="Times New Roman" pitchFamily="18" charset="0"/>
              </a:rPr>
              <a:t/>
            </a:r>
            <a:br>
              <a:rPr lang="ko-KR" altLang="en-US">
                <a:latin typeface="Times New Roman" pitchFamily="18" charset="0"/>
                <a:cs typeface="Times New Roman" pitchFamily="18" charset="0"/>
              </a:rPr>
            </a:br>
            <a:endParaRPr lang="ko-KR" altLang="en-US">
              <a:latin typeface="Times New Roman" pitchFamily="18" charset="0"/>
              <a:cs typeface="Times New Roman" pitchFamily="18" charset="0"/>
            </a:endParaRPr>
          </a:p>
        </p:txBody>
      </p:sp>
      <p:sp>
        <p:nvSpPr>
          <p:cNvPr id="14541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grpSp>
        <p:nvGrpSpPr>
          <p:cNvPr id="145414" name="Group 8"/>
          <p:cNvGrpSpPr>
            <a:grpSpLocks/>
          </p:cNvGrpSpPr>
          <p:nvPr/>
        </p:nvGrpSpPr>
        <p:grpSpPr bwMode="auto">
          <a:xfrm>
            <a:off x="1042988" y="3455988"/>
            <a:ext cx="1790700" cy="1446212"/>
            <a:chOff x="494" y="2400"/>
            <a:chExt cx="1128" cy="911"/>
          </a:xfrm>
        </p:grpSpPr>
        <p:sp>
          <p:nvSpPr>
            <p:cNvPr id="145419" name="Text Box 9"/>
            <p:cNvSpPr txBox="1">
              <a:spLocks noChangeArrowheads="1"/>
            </p:cNvSpPr>
            <p:nvPr/>
          </p:nvSpPr>
          <p:spPr bwMode="auto">
            <a:xfrm>
              <a:off x="655" y="3137"/>
              <a:ext cx="9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Ký hiệu mạch điện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p:txBody>
        </p:sp>
        <p:sp>
          <p:nvSpPr>
            <p:cNvPr id="145420" name="Oval 10"/>
            <p:cNvSpPr>
              <a:spLocks noChangeArrowheads="1"/>
            </p:cNvSpPr>
            <p:nvPr/>
          </p:nvSpPr>
          <p:spPr bwMode="auto">
            <a:xfrm rot="5400000">
              <a:off x="890" y="2399"/>
              <a:ext cx="288" cy="29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145421" name="AutoShape 11"/>
            <p:cNvSpPr>
              <a:spLocks noChangeArrowheads="1"/>
            </p:cNvSpPr>
            <p:nvPr/>
          </p:nvSpPr>
          <p:spPr bwMode="auto">
            <a:xfrm rot="5400000">
              <a:off x="938" y="2471"/>
              <a:ext cx="192" cy="146"/>
            </a:xfrm>
            <a:prstGeom prst="flowChartExtra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145422" name="Line 12"/>
            <p:cNvSpPr>
              <a:spLocks noChangeShapeType="1"/>
            </p:cNvSpPr>
            <p:nvPr/>
          </p:nvSpPr>
          <p:spPr bwMode="auto">
            <a:xfrm rot="5400000">
              <a:off x="1011" y="254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3" name="Line 13"/>
            <p:cNvSpPr>
              <a:spLocks noChangeShapeType="1"/>
            </p:cNvSpPr>
            <p:nvPr/>
          </p:nvSpPr>
          <p:spPr bwMode="auto">
            <a:xfrm rot="16200000" flipV="1">
              <a:off x="1343" y="2302"/>
              <a:ext cx="0" cy="4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4" name="Line 14"/>
            <p:cNvSpPr>
              <a:spLocks noChangeShapeType="1"/>
            </p:cNvSpPr>
            <p:nvPr/>
          </p:nvSpPr>
          <p:spPr bwMode="auto">
            <a:xfrm rot="5400000">
              <a:off x="745" y="2327"/>
              <a:ext cx="0" cy="4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5" name="Line 15"/>
            <p:cNvSpPr>
              <a:spLocks noChangeShapeType="1"/>
            </p:cNvSpPr>
            <p:nvPr/>
          </p:nvSpPr>
          <p:spPr bwMode="auto">
            <a:xfrm>
              <a:off x="942" y="2749"/>
              <a:ext cx="14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6" name="Line 16"/>
            <p:cNvSpPr>
              <a:spLocks noChangeShapeType="1"/>
            </p:cNvSpPr>
            <p:nvPr/>
          </p:nvSpPr>
          <p:spPr bwMode="auto">
            <a:xfrm flipH="1">
              <a:off x="990" y="2797"/>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7" name="Line 17"/>
            <p:cNvSpPr>
              <a:spLocks noChangeShapeType="1"/>
            </p:cNvSpPr>
            <p:nvPr/>
          </p:nvSpPr>
          <p:spPr bwMode="auto">
            <a:xfrm>
              <a:off x="990" y="2797"/>
              <a:ext cx="14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5428" name="Text Box 18"/>
            <p:cNvSpPr txBox="1">
              <a:spLocks noChangeArrowheads="1"/>
            </p:cNvSpPr>
            <p:nvPr/>
          </p:nvSpPr>
          <p:spPr bwMode="auto">
            <a:xfrm>
              <a:off x="494" y="2414"/>
              <a:ext cx="16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t>A</a:t>
              </a:r>
            </a:p>
          </p:txBody>
        </p:sp>
        <p:sp>
          <p:nvSpPr>
            <p:cNvPr id="145429" name="Text Box 19"/>
            <p:cNvSpPr txBox="1">
              <a:spLocks noChangeArrowheads="1"/>
            </p:cNvSpPr>
            <p:nvPr/>
          </p:nvSpPr>
          <p:spPr bwMode="auto">
            <a:xfrm>
              <a:off x="1454" y="2415"/>
              <a:ext cx="16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t>K</a:t>
              </a:r>
            </a:p>
          </p:txBody>
        </p:sp>
      </p:grpSp>
      <p:sp>
        <p:nvSpPr>
          <p:cNvPr id="145415" name="Rectangle 20"/>
          <p:cNvSpPr>
            <a:spLocks noChangeArrowheads="1"/>
          </p:cNvSpPr>
          <p:nvPr/>
        </p:nvSpPr>
        <p:spPr bwMode="auto">
          <a:xfrm>
            <a:off x="3973513" y="3532188"/>
            <a:ext cx="1905000" cy="1371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solidFill>
                  <a:srgbClr val="003333"/>
                </a:solidFill>
                <a:latin typeface="Times New Roman" pitchFamily="18" charset="0"/>
                <a:cs typeface="Times New Roman" pitchFamily="18" charset="0"/>
              </a:rPr>
              <a:t>              </a:t>
            </a:r>
            <a:r>
              <a:rPr lang="en-US" altLang="ko-KR">
                <a:latin typeface="Times New Roman" pitchFamily="18" charset="0"/>
                <a:cs typeface="Times New Roman" pitchFamily="18" charset="0"/>
              </a:rPr>
              <a:t>1. Chip</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2. Lead frame</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3. Gold wire</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4. lens</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5. Anode  (+) </a:t>
            </a:r>
            <a:br>
              <a:rPr lang="en-US" altLang="ko-KR">
                <a:latin typeface="Times New Roman" pitchFamily="18" charset="0"/>
                <a:cs typeface="Times New Roman" pitchFamily="18" charset="0"/>
              </a:rPr>
            </a:br>
            <a:r>
              <a:rPr lang="en-US" altLang="ko-KR">
                <a:latin typeface="Times New Roman" pitchFamily="18" charset="0"/>
                <a:cs typeface="Times New Roman" pitchFamily="18" charset="0"/>
              </a:rPr>
              <a:t>            6. Cathode(-)</a:t>
            </a:r>
          </a:p>
          <a:p>
            <a:endParaRPr lang="en-US" altLang="ko-KR">
              <a:latin typeface="Times New Roman" pitchFamily="18" charset="0"/>
              <a:cs typeface="Times New Roman" pitchFamily="18" charset="0"/>
            </a:endParaRPr>
          </a:p>
        </p:txBody>
      </p:sp>
      <p:pic>
        <p:nvPicPr>
          <p:cNvPr id="145416" name="Picture 21" descr="L-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950" y="2997200"/>
            <a:ext cx="139858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7" name="Text Box 22"/>
          <p:cNvSpPr txBox="1">
            <a:spLocks noChangeArrowheads="1"/>
          </p:cNvSpPr>
          <p:nvPr/>
        </p:nvSpPr>
        <p:spPr bwMode="auto">
          <a:xfrm>
            <a:off x="3606800" y="5311775"/>
            <a:ext cx="146526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Cấu tạo bên trong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p:txBody>
      </p:sp>
      <p:pic>
        <p:nvPicPr>
          <p:cNvPr id="145418" name="Picture 24" descr="p-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378200"/>
            <a:ext cx="23622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0125686-859E-4804-9B68-C43F5826BBDD}" type="slidenum">
              <a:rPr lang="en-US" altLang="ko-KR" sz="1400" smtClean="0">
                <a:latin typeface="Times New Roman" pitchFamily="18" charset="0"/>
                <a:cs typeface="Times New Roman" pitchFamily="18" charset="0"/>
              </a:rPr>
              <a:pPr eaLnBrk="1" hangingPunct="1"/>
              <a:t>138</a:t>
            </a:fld>
            <a:endParaRPr lang="en-US" altLang="ko-KR" sz="1400" smtClean="0">
              <a:latin typeface="Times New Roman" pitchFamily="18" charset="0"/>
              <a:cs typeface="Times New Roman" pitchFamily="18" charset="0"/>
            </a:endParaRPr>
          </a:p>
        </p:txBody>
      </p:sp>
      <p:sp>
        <p:nvSpPr>
          <p:cNvPr id="14643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6436"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LED được chia làm hai loại lớn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IRED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VLED.</a:t>
            </a:r>
          </a:p>
          <a:p>
            <a:pPr eaLnBrk="1" hangingPunct="1"/>
            <a:endParaRPr lang="en-US" altLang="ko-KR">
              <a:latin typeface="Times New Roman" pitchFamily="18" charset="0"/>
              <a:cs typeface="Times New Roman" pitchFamily="18" charset="0"/>
            </a:endParaRPr>
          </a:p>
          <a:p>
            <a:pPr eaLnBrk="1" hangingPunct="1">
              <a:buFont typeface="Wingdings" pitchFamily="2" charset="2"/>
              <a:buChar char="ü"/>
            </a:pPr>
            <a:r>
              <a:rPr lang="en-US" altLang="ko-KR" b="1">
                <a:solidFill>
                  <a:srgbClr val="000000"/>
                </a:solidFill>
                <a:latin typeface="Times New Roman" pitchFamily="18" charset="0"/>
                <a:cs typeface="Times New Roman" pitchFamily="18" charset="0"/>
              </a:rPr>
              <a:t> Infrared LED chip(LED phát quang tia hồng ngoại)</a:t>
            </a:r>
          </a:p>
          <a:p>
            <a:pPr eaLnBrk="1" hangingPunct="1"/>
            <a:r>
              <a:rPr lang="en-US" altLang="ko-KR">
                <a:solidFill>
                  <a:srgbClr val="000000"/>
                </a:solidFill>
                <a:latin typeface="Times New Roman" pitchFamily="18" charset="0"/>
                <a:cs typeface="Times New Roman" pitchFamily="18" charset="0"/>
              </a:rPr>
              <a:t>  Mang nghĩa là IRED(Infrared Emitting Diode) Chip. </a:t>
            </a:r>
            <a:br>
              <a:rPr lang="en-US" altLang="ko-KR">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Loại chíp này được gia công và sử dụng ở Module điều khiển ti vi, công tắc quang học, IR LAN, thông tin dữ liệu kỹ thuật số không dây. </a:t>
            </a:r>
            <a:br>
              <a:rPr lang="en-US" altLang="ko-KR">
                <a:solidFill>
                  <a:srgbClr val="000000"/>
                </a:solidFill>
                <a:latin typeface="Times New Roman" pitchFamily="18" charset="0"/>
                <a:cs typeface="Times New Roman" pitchFamily="18" charset="0"/>
              </a:rPr>
            </a:br>
            <a:endParaRPr lang="en-US" altLang="ko-KR">
              <a:solidFill>
                <a:srgbClr val="000000"/>
              </a:solidFill>
              <a:latin typeface="Times New Roman" pitchFamily="18" charset="0"/>
              <a:cs typeface="Times New Roman" pitchFamily="18" charset="0"/>
            </a:endParaRPr>
          </a:p>
          <a:p>
            <a:pPr eaLnBrk="1" hangingPunct="1">
              <a:buFont typeface="Wingdings" pitchFamily="2" charset="2"/>
              <a:buChar char="ü"/>
            </a:pPr>
            <a:r>
              <a:rPr lang="en-US" altLang="ko-KR" b="1">
                <a:solidFill>
                  <a:srgbClr val="000000"/>
                </a:solidFill>
                <a:latin typeface="Times New Roman" pitchFamily="18" charset="0"/>
                <a:cs typeface="Times New Roman" pitchFamily="18" charset="0"/>
              </a:rPr>
              <a:t> Visible LED chip(LED được sử dụng thông thường)</a:t>
            </a:r>
          </a:p>
          <a:p>
            <a:pPr eaLnBrk="1" hangingPunct="1"/>
            <a:r>
              <a:rPr lang="en-US" altLang="ko-KR">
                <a:solidFill>
                  <a:srgbClr val="000000"/>
                </a:solidFill>
                <a:latin typeface="Times New Roman" pitchFamily="18" charset="0"/>
                <a:cs typeface="Times New Roman" pitchFamily="18" charset="0"/>
              </a:rPr>
              <a:t>  Mang nghĩa là VLED(Visible Light Emitting Diode) Chip và được chế tạo ra màu đỏ, xanh lá cây, da cam... </a:t>
            </a:r>
            <a:br>
              <a:rPr lang="en-US" altLang="ko-KR">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Loại chíp này được lắp ráp(LED) bằng Lamp và sử dụng để biểu thị các loại sản phẩm điện tử hoặc sử dụng như nguồn quang của đèn tín hiệu và đèn bảng điện tử.</a:t>
            </a:r>
          </a:p>
          <a:p>
            <a:pPr eaLnBrk="1" hangingPunct="1"/>
            <a:endParaRPr lang="en-US" altLang="ko-KR">
              <a:solidFill>
                <a:srgbClr val="000000"/>
              </a:solidFill>
              <a:latin typeface="Times New Roman" pitchFamily="18" charset="0"/>
              <a:cs typeface="Times New Roman" pitchFamily="18" charset="0"/>
            </a:endParaRP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Diode phát quang có chứa những đặc tính sau.</a:t>
            </a:r>
            <a:br>
              <a:rPr lang="en-US" altLang="ko-KR">
                <a:latin typeface="Times New Roman" pitchFamily="18" charset="0"/>
                <a:cs typeface="Times New Roman" pitchFamily="18" charset="0"/>
              </a:rPr>
            </a:br>
            <a:r>
              <a:rPr lang="en-US" altLang="ko-KR">
                <a:solidFill>
                  <a:srgbClr val="FF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 Hiệu suất phát quang cao, có thể nhận được đầu ra cao ở dòng điện thấp</a:t>
            </a:r>
            <a:r>
              <a:rPr lang="ko-KR" altLang="en-US">
                <a:solidFill>
                  <a:srgbClr val="000000"/>
                </a:solidFill>
                <a:latin typeface="Times New Roman" pitchFamily="18" charset="0"/>
                <a:cs typeface="Times New Roman" pitchFamily="18" charset="0"/>
              </a:rPr>
              <a:t> </a:t>
            </a:r>
            <a:br>
              <a:rPr lang="ko-KR" altLang="en-US">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Tốc độ nhận tín hiệu nhanh, có thể điều chỉnh sóng dựa vào cao tần vận hành xung</a:t>
            </a:r>
            <a:r>
              <a:rPr lang="ko-KR" altLang="en-US">
                <a:solidFill>
                  <a:srgbClr val="000000"/>
                </a:solidFill>
                <a:latin typeface="Times New Roman" pitchFamily="18" charset="0"/>
                <a:cs typeface="Times New Roman" pitchFamily="18" charset="0"/>
              </a:rPr>
              <a:t> </a:t>
            </a:r>
            <a:br>
              <a:rPr lang="ko-KR" altLang="en-US">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Có thể thay đổi một cách dễ dàng đầu ra của quang sang điều khiển dòng điện</a:t>
            </a:r>
            <a:r>
              <a:rPr lang="ko-KR" altLang="en-US">
                <a:solidFill>
                  <a:srgbClr val="000000"/>
                </a:solidFill>
                <a:latin typeface="Times New Roman" pitchFamily="18" charset="0"/>
                <a:cs typeface="Times New Roman" pitchFamily="18" charset="0"/>
              </a:rPr>
              <a:t/>
            </a:r>
            <a:br>
              <a:rPr lang="ko-KR" altLang="en-US">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Có thể hoạt động bằng dòng điện nào cũng được(1 chiều, xoay chiều)</a:t>
            </a:r>
            <a:r>
              <a:rPr lang="ko-KR" altLang="en-US">
                <a:solidFill>
                  <a:srgbClr val="000000"/>
                </a:solidFill>
                <a:latin typeface="Times New Roman" pitchFamily="18" charset="0"/>
                <a:cs typeface="Times New Roman" pitchFamily="18" charset="0"/>
              </a:rPr>
              <a:t/>
            </a:r>
            <a:br>
              <a:rPr lang="ko-KR" altLang="en-US">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Nhỏ và gọn nhẹ,</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tuổi thọ dài</a:t>
            </a:r>
            <a:r>
              <a:rPr lang="ko-KR" altLang="en-US">
                <a:solidFill>
                  <a:srgbClr val="000000"/>
                </a:solidFill>
                <a:latin typeface="Times New Roman" pitchFamily="18" charset="0"/>
                <a:cs typeface="Times New Roman" pitchFamily="18" charset="0"/>
              </a:rPr>
              <a:t> </a:t>
            </a:r>
            <a:br>
              <a:rPr lang="ko-KR" altLang="en-US">
                <a:solidFill>
                  <a:srgbClr val="000000"/>
                </a:solidFill>
                <a:latin typeface="Times New Roman" pitchFamily="18" charset="0"/>
                <a:cs typeface="Times New Roman" pitchFamily="18" charset="0"/>
              </a:rPr>
            </a:br>
            <a:r>
              <a:rPr lang="en-US" altLang="ko-KR">
                <a:solidFill>
                  <a:srgbClr val="000000"/>
                </a:solidFill>
                <a:latin typeface="Times New Roman" pitchFamily="18" charset="0"/>
                <a:cs typeface="Times New Roman" pitchFamily="18" charset="0"/>
              </a:rPr>
              <a:t>- Điện năng tiêu hao ít</a:t>
            </a:r>
            <a:endParaRPr lang="ko-KR" altLang="en-US">
              <a:solidFill>
                <a:srgbClr val="000000"/>
              </a:solidFill>
              <a:latin typeface="Times New Roman" pitchFamily="18" charset="0"/>
              <a:cs typeface="Times New Roman" pitchFamily="18" charset="0"/>
            </a:endParaRPr>
          </a:p>
        </p:txBody>
      </p:sp>
      <p:sp>
        <p:nvSpPr>
          <p:cNvPr id="14643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CDDA3B9-8D41-41F3-930A-8A8B75903AD1}" type="slidenum">
              <a:rPr lang="en-US" altLang="ko-KR" sz="1400" smtClean="0">
                <a:latin typeface="Times New Roman" pitchFamily="18" charset="0"/>
                <a:cs typeface="Times New Roman" pitchFamily="18" charset="0"/>
              </a:rPr>
              <a:pPr eaLnBrk="1" hangingPunct="1"/>
              <a:t>139</a:t>
            </a:fld>
            <a:endParaRPr lang="en-US" altLang="ko-KR" sz="1400" smtClean="0">
              <a:latin typeface="Times New Roman" pitchFamily="18" charset="0"/>
              <a:cs typeface="Times New Roman" pitchFamily="18" charset="0"/>
            </a:endParaRPr>
          </a:p>
        </p:txBody>
      </p:sp>
      <p:sp>
        <p:nvSpPr>
          <p:cNvPr id="147459"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746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Đo LED</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Hãy sử dụng LED của mạch 1 M-18 Module thực hành và DVM và Analog Tester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để kiểm tra hoạt động và xác định cực.</a:t>
            </a:r>
          </a:p>
        </p:txBody>
      </p:sp>
      <p:sp>
        <p:nvSpPr>
          <p:cNvPr id="147461"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4746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341438"/>
            <a:ext cx="4532313"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7463" name="Group 15"/>
          <p:cNvGrpSpPr>
            <a:grpSpLocks/>
          </p:cNvGrpSpPr>
          <p:nvPr/>
        </p:nvGrpSpPr>
        <p:grpSpPr bwMode="auto">
          <a:xfrm>
            <a:off x="1619250" y="4581525"/>
            <a:ext cx="647700" cy="719138"/>
            <a:chOff x="1383" y="2886"/>
            <a:chExt cx="408" cy="453"/>
          </a:xfrm>
        </p:grpSpPr>
        <p:sp>
          <p:nvSpPr>
            <p:cNvPr id="147488" name="Arc 8"/>
            <p:cNvSpPr>
              <a:spLocks/>
            </p:cNvSpPr>
            <p:nvPr/>
          </p:nvSpPr>
          <p:spPr bwMode="auto">
            <a:xfrm>
              <a:off x="1429" y="2886"/>
              <a:ext cx="317" cy="167"/>
            </a:xfrm>
            <a:custGeom>
              <a:avLst/>
              <a:gdLst>
                <a:gd name="T0" fmla="*/ 0 w 43200"/>
                <a:gd name="T1" fmla="*/ 0 h 21600"/>
                <a:gd name="T2" fmla="*/ 0 w 43200"/>
                <a:gd name="T3" fmla="*/ 0 h 21600"/>
                <a:gd name="T4" fmla="*/ 0 w 43200"/>
                <a:gd name="T5" fmla="*/ 0 h 21600"/>
                <a:gd name="T6" fmla="*/ 0 60000 65536"/>
                <a:gd name="T7" fmla="*/ 0 60000 65536"/>
                <a:gd name="T8" fmla="*/ 0 60000 65536"/>
              </a:gdLst>
              <a:ahLst/>
              <a:cxnLst>
                <a:cxn ang="T6">
                  <a:pos x="T0" y="T1"/>
                </a:cxn>
                <a:cxn ang="T7">
                  <a:pos x="T2" y="T3"/>
                </a:cxn>
                <a:cxn ang="T8">
                  <a:pos x="T4" y="T5"/>
                </a:cxn>
              </a:cxnLst>
              <a:rect l="0" t="0" r="r" b="b"/>
              <a:pathLst>
                <a:path w="43200" h="21600" fill="none" extrusionOk="0">
                  <a:moveTo>
                    <a:pt x="0" y="21600"/>
                  </a:moveTo>
                  <a:cubicBezTo>
                    <a:pt x="0" y="9670"/>
                    <a:pt x="9670" y="0"/>
                    <a:pt x="21600" y="0"/>
                  </a:cubicBezTo>
                  <a:cubicBezTo>
                    <a:pt x="33529" y="0"/>
                    <a:pt x="43200" y="9670"/>
                    <a:pt x="43200" y="21600"/>
                  </a:cubicBezTo>
                </a:path>
                <a:path w="43200" h="21600" stroke="0" extrusionOk="0">
                  <a:moveTo>
                    <a:pt x="0" y="21600"/>
                  </a:moveTo>
                  <a:cubicBezTo>
                    <a:pt x="0" y="9670"/>
                    <a:pt x="9670" y="0"/>
                    <a:pt x="21600" y="0"/>
                  </a:cubicBezTo>
                  <a:cubicBezTo>
                    <a:pt x="33529" y="0"/>
                    <a:pt x="43200" y="9670"/>
                    <a:pt x="43200" y="21600"/>
                  </a:cubicBezTo>
                  <a:lnTo>
                    <a:pt x="21600" y="21600"/>
                  </a:ln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47489" name="Line 10"/>
            <p:cNvSpPr>
              <a:spLocks noChangeShapeType="1"/>
            </p:cNvSpPr>
            <p:nvPr/>
          </p:nvSpPr>
          <p:spPr bwMode="auto">
            <a:xfrm>
              <a:off x="1429" y="3022"/>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90" name="Line 11"/>
            <p:cNvSpPr>
              <a:spLocks noChangeShapeType="1"/>
            </p:cNvSpPr>
            <p:nvPr/>
          </p:nvSpPr>
          <p:spPr bwMode="auto">
            <a:xfrm>
              <a:off x="1746" y="3022"/>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91" name="Freeform 12"/>
            <p:cNvSpPr>
              <a:spLocks/>
            </p:cNvSpPr>
            <p:nvPr/>
          </p:nvSpPr>
          <p:spPr bwMode="auto">
            <a:xfrm>
              <a:off x="1383" y="3294"/>
              <a:ext cx="408" cy="45"/>
            </a:xfrm>
            <a:custGeom>
              <a:avLst/>
              <a:gdLst>
                <a:gd name="T0" fmla="*/ 46 w 408"/>
                <a:gd name="T1" fmla="*/ 0 h 45"/>
                <a:gd name="T2" fmla="*/ 0 w 408"/>
                <a:gd name="T3" fmla="*/ 0 h 45"/>
                <a:gd name="T4" fmla="*/ 0 w 408"/>
                <a:gd name="T5" fmla="*/ 45 h 45"/>
                <a:gd name="T6" fmla="*/ 408 w 408"/>
                <a:gd name="T7" fmla="*/ 45 h 45"/>
                <a:gd name="T8" fmla="*/ 408 w 408"/>
                <a:gd name="T9" fmla="*/ 0 h 45"/>
                <a:gd name="T10" fmla="*/ 363 w 408"/>
                <a:gd name="T11" fmla="*/ 0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8" h="45">
                  <a:moveTo>
                    <a:pt x="46" y="0"/>
                  </a:moveTo>
                  <a:lnTo>
                    <a:pt x="0" y="0"/>
                  </a:lnTo>
                  <a:lnTo>
                    <a:pt x="0" y="45"/>
                  </a:lnTo>
                  <a:lnTo>
                    <a:pt x="408" y="45"/>
                  </a:lnTo>
                  <a:lnTo>
                    <a:pt x="408" y="0"/>
                  </a:lnTo>
                  <a:lnTo>
                    <a:pt x="363" y="0"/>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sp>
        <p:nvSpPr>
          <p:cNvPr id="147464" name="Line 13"/>
          <p:cNvSpPr>
            <a:spLocks noChangeShapeType="1"/>
          </p:cNvSpPr>
          <p:nvPr/>
        </p:nvSpPr>
        <p:spPr bwMode="auto">
          <a:xfrm>
            <a:off x="1835150" y="5300663"/>
            <a:ext cx="0" cy="6492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65" name="Line 14"/>
          <p:cNvSpPr>
            <a:spLocks noChangeShapeType="1"/>
          </p:cNvSpPr>
          <p:nvPr/>
        </p:nvSpPr>
        <p:spPr bwMode="auto">
          <a:xfrm>
            <a:off x="2051050" y="5300663"/>
            <a:ext cx="0" cy="10810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pic>
        <p:nvPicPr>
          <p:cNvPr id="147466"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7467" name="Oval 18"/>
          <p:cNvSpPr>
            <a:spLocks noChangeArrowheads="1"/>
          </p:cNvSpPr>
          <p:nvPr/>
        </p:nvSpPr>
        <p:spPr bwMode="auto">
          <a:xfrm>
            <a:off x="2124075" y="6237288"/>
            <a:ext cx="144463" cy="144462"/>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47468" name="Oval 19"/>
          <p:cNvSpPr>
            <a:spLocks noChangeArrowheads="1"/>
          </p:cNvSpPr>
          <p:nvPr/>
        </p:nvSpPr>
        <p:spPr bwMode="auto">
          <a:xfrm>
            <a:off x="1619250" y="5805488"/>
            <a:ext cx="144463" cy="144462"/>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47469" name="Arc 22"/>
          <p:cNvSpPr>
            <a:spLocks/>
          </p:cNvSpPr>
          <p:nvPr/>
        </p:nvSpPr>
        <p:spPr bwMode="auto">
          <a:xfrm>
            <a:off x="3059113" y="4581525"/>
            <a:ext cx="503237" cy="265113"/>
          </a:xfrm>
          <a:custGeom>
            <a:avLst/>
            <a:gdLst>
              <a:gd name="T0" fmla="*/ 0 w 43200"/>
              <a:gd name="T1" fmla="*/ 2147483647 h 21600"/>
              <a:gd name="T2" fmla="*/ 2147483647 w 43200"/>
              <a:gd name="T3" fmla="*/ 2147483647 h 21600"/>
              <a:gd name="T4" fmla="*/ 2147483647 w 43200"/>
              <a:gd name="T5" fmla="*/ 2147483647 h 21600"/>
              <a:gd name="T6" fmla="*/ 0 60000 65536"/>
              <a:gd name="T7" fmla="*/ 0 60000 65536"/>
              <a:gd name="T8" fmla="*/ 0 60000 65536"/>
            </a:gdLst>
            <a:ahLst/>
            <a:cxnLst>
              <a:cxn ang="T6">
                <a:pos x="T0" y="T1"/>
              </a:cxn>
              <a:cxn ang="T7">
                <a:pos x="T2" y="T3"/>
              </a:cxn>
              <a:cxn ang="T8">
                <a:pos x="T4" y="T5"/>
              </a:cxn>
            </a:cxnLst>
            <a:rect l="0" t="0" r="r" b="b"/>
            <a:pathLst>
              <a:path w="43200" h="21600" fill="none" extrusionOk="0">
                <a:moveTo>
                  <a:pt x="0" y="21600"/>
                </a:moveTo>
                <a:cubicBezTo>
                  <a:pt x="0" y="9670"/>
                  <a:pt x="9670" y="0"/>
                  <a:pt x="21600" y="0"/>
                </a:cubicBezTo>
                <a:cubicBezTo>
                  <a:pt x="33529" y="0"/>
                  <a:pt x="43200" y="9670"/>
                  <a:pt x="43200" y="21600"/>
                </a:cubicBezTo>
              </a:path>
              <a:path w="43200" h="21600" stroke="0" extrusionOk="0">
                <a:moveTo>
                  <a:pt x="0" y="21600"/>
                </a:moveTo>
                <a:cubicBezTo>
                  <a:pt x="0" y="9670"/>
                  <a:pt x="9670" y="0"/>
                  <a:pt x="21600" y="0"/>
                </a:cubicBezTo>
                <a:cubicBezTo>
                  <a:pt x="33529" y="0"/>
                  <a:pt x="43200" y="9670"/>
                  <a:pt x="43200" y="21600"/>
                </a:cubicBezTo>
                <a:lnTo>
                  <a:pt x="21600" y="21600"/>
                </a:ln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47470" name="Line 23"/>
          <p:cNvSpPr>
            <a:spLocks noChangeShapeType="1"/>
          </p:cNvSpPr>
          <p:nvPr/>
        </p:nvSpPr>
        <p:spPr bwMode="auto">
          <a:xfrm>
            <a:off x="3059113" y="4797425"/>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71" name="Line 24"/>
          <p:cNvSpPr>
            <a:spLocks noChangeShapeType="1"/>
          </p:cNvSpPr>
          <p:nvPr/>
        </p:nvSpPr>
        <p:spPr bwMode="auto">
          <a:xfrm>
            <a:off x="3562350" y="4797425"/>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72" name="Arc 26"/>
          <p:cNvSpPr>
            <a:spLocks/>
          </p:cNvSpPr>
          <p:nvPr/>
        </p:nvSpPr>
        <p:spPr bwMode="auto">
          <a:xfrm>
            <a:off x="2916238" y="5140325"/>
            <a:ext cx="727075" cy="234950"/>
          </a:xfrm>
          <a:custGeom>
            <a:avLst/>
            <a:gdLst>
              <a:gd name="T0" fmla="*/ 2147483647 w 39664"/>
              <a:gd name="T1" fmla="*/ 2147483647 h 37372"/>
              <a:gd name="T2" fmla="*/ 2147483647 w 39664"/>
              <a:gd name="T3" fmla="*/ 0 h 37372"/>
              <a:gd name="T4" fmla="*/ 2147483647 w 39664"/>
              <a:gd name="T5" fmla="*/ 2147483647 h 37372"/>
              <a:gd name="T6" fmla="*/ 0 60000 65536"/>
              <a:gd name="T7" fmla="*/ 0 60000 65536"/>
              <a:gd name="T8" fmla="*/ 0 60000 65536"/>
            </a:gdLst>
            <a:ahLst/>
            <a:cxnLst>
              <a:cxn ang="T6">
                <a:pos x="T0" y="T1"/>
              </a:cxn>
              <a:cxn ang="T7">
                <a:pos x="T2" y="T3"/>
              </a:cxn>
              <a:cxn ang="T8">
                <a:pos x="T4" y="T5"/>
              </a:cxn>
            </a:cxnLst>
            <a:rect l="0" t="0" r="r" b="b"/>
            <a:pathLst>
              <a:path w="39664" h="37372" fill="none" extrusionOk="0">
                <a:moveTo>
                  <a:pt x="39663" y="27614"/>
                </a:moveTo>
                <a:cubicBezTo>
                  <a:pt x="35671" y="33703"/>
                  <a:pt x="28880" y="37371"/>
                  <a:pt x="21600" y="37372"/>
                </a:cubicBezTo>
                <a:cubicBezTo>
                  <a:pt x="9670" y="37372"/>
                  <a:pt x="0" y="27701"/>
                  <a:pt x="0" y="15772"/>
                </a:cubicBezTo>
                <a:cubicBezTo>
                  <a:pt x="-1" y="9794"/>
                  <a:pt x="2477" y="4084"/>
                  <a:pt x="6841" y="-1"/>
                </a:cubicBezTo>
              </a:path>
              <a:path w="39664" h="37372" stroke="0" extrusionOk="0">
                <a:moveTo>
                  <a:pt x="39663" y="27614"/>
                </a:moveTo>
                <a:cubicBezTo>
                  <a:pt x="35671" y="33703"/>
                  <a:pt x="28880" y="37371"/>
                  <a:pt x="21600" y="37372"/>
                </a:cubicBezTo>
                <a:cubicBezTo>
                  <a:pt x="9670" y="37372"/>
                  <a:pt x="0" y="27701"/>
                  <a:pt x="0" y="15772"/>
                </a:cubicBezTo>
                <a:cubicBezTo>
                  <a:pt x="-1" y="9794"/>
                  <a:pt x="2477" y="4084"/>
                  <a:pt x="6841" y="-1"/>
                </a:cubicBezTo>
                <a:lnTo>
                  <a:pt x="21600" y="15772"/>
                </a:lnTo>
                <a:lnTo>
                  <a:pt x="39663" y="27614"/>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47473" name="Line 27"/>
          <p:cNvSpPr>
            <a:spLocks noChangeShapeType="1"/>
          </p:cNvSpPr>
          <p:nvPr/>
        </p:nvSpPr>
        <p:spPr bwMode="auto">
          <a:xfrm flipV="1">
            <a:off x="3643313" y="5173663"/>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74" name="Line 28"/>
          <p:cNvSpPr>
            <a:spLocks noChangeShapeType="1"/>
          </p:cNvSpPr>
          <p:nvPr/>
        </p:nvSpPr>
        <p:spPr bwMode="auto">
          <a:xfrm flipH="1" flipV="1">
            <a:off x="3570288" y="5148263"/>
            <a:ext cx="63500" cy="15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75" name="Line 29"/>
          <p:cNvSpPr>
            <a:spLocks noChangeShapeType="1"/>
          </p:cNvSpPr>
          <p:nvPr/>
        </p:nvSpPr>
        <p:spPr bwMode="auto">
          <a:xfrm>
            <a:off x="3417888" y="5372100"/>
            <a:ext cx="0" cy="649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76" name="Line 30"/>
          <p:cNvSpPr>
            <a:spLocks noChangeShapeType="1"/>
          </p:cNvSpPr>
          <p:nvPr/>
        </p:nvSpPr>
        <p:spPr bwMode="auto">
          <a:xfrm>
            <a:off x="3201988" y="5372100"/>
            <a:ext cx="0" cy="8651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grpSp>
        <p:nvGrpSpPr>
          <p:cNvPr id="147477" name="Group 35"/>
          <p:cNvGrpSpPr>
            <a:grpSpLocks/>
          </p:cNvGrpSpPr>
          <p:nvPr/>
        </p:nvGrpSpPr>
        <p:grpSpPr bwMode="auto">
          <a:xfrm>
            <a:off x="4005263" y="4819650"/>
            <a:ext cx="460375" cy="460375"/>
            <a:chOff x="3114" y="3036"/>
            <a:chExt cx="290" cy="290"/>
          </a:xfrm>
        </p:grpSpPr>
        <p:sp>
          <p:nvSpPr>
            <p:cNvPr id="147485" name="Oval 31"/>
            <p:cNvSpPr>
              <a:spLocks noChangeArrowheads="1"/>
            </p:cNvSpPr>
            <p:nvPr/>
          </p:nvSpPr>
          <p:spPr bwMode="auto">
            <a:xfrm>
              <a:off x="3152" y="3067"/>
              <a:ext cx="227" cy="227"/>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47486" name="Line 33"/>
            <p:cNvSpPr>
              <a:spLocks noChangeShapeType="1"/>
            </p:cNvSpPr>
            <p:nvPr/>
          </p:nvSpPr>
          <p:spPr bwMode="auto">
            <a:xfrm>
              <a:off x="3404" y="3117"/>
              <a:ext cx="0" cy="1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47487" name="Arc 34"/>
            <p:cNvSpPr>
              <a:spLocks/>
            </p:cNvSpPr>
            <p:nvPr/>
          </p:nvSpPr>
          <p:spPr bwMode="auto">
            <a:xfrm>
              <a:off x="3114" y="3036"/>
              <a:ext cx="289" cy="290"/>
            </a:xfrm>
            <a:custGeom>
              <a:avLst/>
              <a:gdLst>
                <a:gd name="T0" fmla="*/ 0 w 41136"/>
                <a:gd name="T1" fmla="*/ 0 h 43200"/>
                <a:gd name="T2" fmla="*/ 0 w 41136"/>
                <a:gd name="T3" fmla="*/ 0 h 43200"/>
                <a:gd name="T4" fmla="*/ 0 w 41136"/>
                <a:gd name="T5" fmla="*/ 0 h 43200"/>
                <a:gd name="T6" fmla="*/ 0 60000 65536"/>
                <a:gd name="T7" fmla="*/ 0 60000 65536"/>
                <a:gd name="T8" fmla="*/ 0 60000 65536"/>
              </a:gdLst>
              <a:ahLst/>
              <a:cxnLst>
                <a:cxn ang="T6">
                  <a:pos x="T0" y="T1"/>
                </a:cxn>
                <a:cxn ang="T7">
                  <a:pos x="T2" y="T3"/>
                </a:cxn>
                <a:cxn ang="T8">
                  <a:pos x="T4" y="T5"/>
                </a:cxn>
              </a:cxnLst>
              <a:rect l="0" t="0" r="r" b="b"/>
              <a:pathLst>
                <a:path w="41136" h="43200" fill="none" extrusionOk="0">
                  <a:moveTo>
                    <a:pt x="40901" y="31295"/>
                  </a:moveTo>
                  <a:cubicBezTo>
                    <a:pt x="37235" y="38593"/>
                    <a:pt x="29766" y="43199"/>
                    <a:pt x="21600" y="43200"/>
                  </a:cubicBezTo>
                  <a:cubicBezTo>
                    <a:pt x="9670" y="43200"/>
                    <a:pt x="0" y="33529"/>
                    <a:pt x="0" y="21600"/>
                  </a:cubicBezTo>
                  <a:cubicBezTo>
                    <a:pt x="0" y="9670"/>
                    <a:pt x="9670" y="0"/>
                    <a:pt x="21600" y="0"/>
                  </a:cubicBezTo>
                  <a:cubicBezTo>
                    <a:pt x="29959" y="-1"/>
                    <a:pt x="37569" y="4824"/>
                    <a:pt x="41135" y="12385"/>
                  </a:cubicBezTo>
                </a:path>
                <a:path w="41136" h="43200" stroke="0" extrusionOk="0">
                  <a:moveTo>
                    <a:pt x="40901" y="31295"/>
                  </a:moveTo>
                  <a:cubicBezTo>
                    <a:pt x="37235" y="38593"/>
                    <a:pt x="29766" y="43199"/>
                    <a:pt x="21600" y="43200"/>
                  </a:cubicBezTo>
                  <a:cubicBezTo>
                    <a:pt x="9670" y="43200"/>
                    <a:pt x="0" y="33529"/>
                    <a:pt x="0" y="21600"/>
                  </a:cubicBezTo>
                  <a:cubicBezTo>
                    <a:pt x="0" y="9670"/>
                    <a:pt x="9670" y="0"/>
                    <a:pt x="21600" y="0"/>
                  </a:cubicBezTo>
                  <a:cubicBezTo>
                    <a:pt x="29959" y="-1"/>
                    <a:pt x="37569" y="4824"/>
                    <a:pt x="41135" y="12385"/>
                  </a:cubicBezTo>
                  <a:lnTo>
                    <a:pt x="21600" y="21600"/>
                  </a:lnTo>
                  <a:lnTo>
                    <a:pt x="40901" y="31295"/>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47478" name="Oval 36"/>
          <p:cNvSpPr>
            <a:spLocks noChangeArrowheads="1"/>
          </p:cNvSpPr>
          <p:nvPr/>
        </p:nvSpPr>
        <p:spPr bwMode="auto">
          <a:xfrm>
            <a:off x="3671888" y="5300663"/>
            <a:ext cx="144462" cy="144462"/>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47479" name="Oval 37"/>
          <p:cNvSpPr>
            <a:spLocks noChangeArrowheads="1"/>
          </p:cNvSpPr>
          <p:nvPr/>
        </p:nvSpPr>
        <p:spPr bwMode="auto">
          <a:xfrm>
            <a:off x="4497388" y="5013325"/>
            <a:ext cx="144462" cy="144463"/>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b="1">
                <a:latin typeface="Times New Roman" pitchFamily="18" charset="0"/>
                <a:cs typeface="Times New Roman" pitchFamily="18" charset="0"/>
              </a:rPr>
              <a:t>-</a:t>
            </a:r>
          </a:p>
        </p:txBody>
      </p:sp>
      <p:sp>
        <p:nvSpPr>
          <p:cNvPr id="147480" name="Text Box 38"/>
          <p:cNvSpPr txBox="1">
            <a:spLocks noChangeArrowheads="1"/>
          </p:cNvSpPr>
          <p:nvPr/>
        </p:nvSpPr>
        <p:spPr bwMode="auto">
          <a:xfrm>
            <a:off x="4787900" y="4635500"/>
            <a:ext cx="3960813"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① Trong trường hợp là cấp 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nếu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Lead</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dài thì là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a:p>
            <a:pPr eaLnBrk="1" hangingPunct="1"/>
            <a:r>
              <a:rPr lang="en-US" altLang="ko-KR">
                <a:latin typeface="Times New Roman" pitchFamily="18" charset="0"/>
                <a:cs typeface="Times New Roman" pitchFamily="18" charset="0"/>
              </a:rPr>
              <a:t>② Trong số LED Body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đầu tròn có phần có một mặt bị cắt dẹt. Phía này chính là cực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a:t>
            </a:r>
          </a:p>
        </p:txBody>
      </p:sp>
      <p:sp>
        <p:nvSpPr>
          <p:cNvPr id="147481" name="직사각형 1"/>
          <p:cNvSpPr>
            <a:spLocks noChangeArrowheads="1"/>
          </p:cNvSpPr>
          <p:nvPr/>
        </p:nvSpPr>
        <p:spPr bwMode="auto">
          <a:xfrm>
            <a:off x="1714500" y="3429000"/>
            <a:ext cx="2713038"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18-5 Thực hành đặc biệt về LED (1)</a:t>
            </a:r>
            <a:endParaRPr lang="ko-KR" altLang="en-US">
              <a:latin typeface="Times New Roman" pitchFamily="18" charset="0"/>
              <a:cs typeface="Times New Roman" pitchFamily="18" charset="0"/>
            </a:endParaRPr>
          </a:p>
        </p:txBody>
      </p:sp>
      <p:sp>
        <p:nvSpPr>
          <p:cNvPr id="147482" name="직사각형 32"/>
          <p:cNvSpPr>
            <a:spLocks noChangeArrowheads="1"/>
          </p:cNvSpPr>
          <p:nvPr/>
        </p:nvSpPr>
        <p:spPr bwMode="auto">
          <a:xfrm>
            <a:off x="4427538" y="3429000"/>
            <a:ext cx="2713037"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18-6 Thực hành đặc biệt về LED (2)</a:t>
            </a:r>
            <a:endParaRPr lang="ko-KR" altLang="en-US">
              <a:latin typeface="Times New Roman" pitchFamily="18" charset="0"/>
              <a:cs typeface="Times New Roman" pitchFamily="18" charset="0"/>
            </a:endParaRPr>
          </a:p>
        </p:txBody>
      </p:sp>
      <p:sp>
        <p:nvSpPr>
          <p:cNvPr id="147483" name="직사각형 33"/>
          <p:cNvSpPr>
            <a:spLocks noChangeArrowheads="1"/>
          </p:cNvSpPr>
          <p:nvPr/>
        </p:nvSpPr>
        <p:spPr bwMode="auto">
          <a:xfrm>
            <a:off x="6011863" y="1565275"/>
            <a:ext cx="473075" cy="2079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Vàng</a:t>
            </a:r>
            <a:endParaRPr lang="ko-KR" altLang="en-US" sz="900">
              <a:latin typeface="Times New Roman" pitchFamily="18" charset="0"/>
              <a:cs typeface="Times New Roman" pitchFamily="18" charset="0"/>
            </a:endParaRPr>
          </a:p>
        </p:txBody>
      </p:sp>
      <p:sp>
        <p:nvSpPr>
          <p:cNvPr id="147484" name="직사각형 35"/>
          <p:cNvSpPr>
            <a:spLocks noChangeArrowheads="1"/>
          </p:cNvSpPr>
          <p:nvPr/>
        </p:nvSpPr>
        <p:spPr bwMode="auto">
          <a:xfrm>
            <a:off x="5651500" y="1557338"/>
            <a:ext cx="198438" cy="358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Đỏ</a:t>
            </a:r>
            <a:endParaRPr lang="ko-KR" altLang="en-US" sz="9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1576800-2136-431A-ACC4-96FAA034A1EA}" type="slidenum">
              <a:rPr lang="en-US" altLang="ko-KR" sz="1400" smtClean="0"/>
              <a:pPr eaLnBrk="1" hangingPunct="1"/>
              <a:t>140</a:t>
            </a:fld>
            <a:endParaRPr lang="en-US" altLang="ko-KR" sz="1400" smtClean="0"/>
          </a:p>
        </p:txBody>
      </p:sp>
      <p:sp>
        <p:nvSpPr>
          <p:cNvPr id="148483" name="Text Box 2"/>
          <p:cNvSpPr txBox="1">
            <a:spLocks noChangeArrowheads="1"/>
          </p:cNvSpPr>
          <p:nvPr/>
        </p:nvSpPr>
        <p:spPr bwMode="auto">
          <a:xfrm>
            <a:off x="684213" y="892175"/>
            <a:ext cx="29178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3-2. Diode quang điện(Photo Diode)</a:t>
            </a:r>
          </a:p>
        </p:txBody>
      </p:sp>
      <p:sp>
        <p:nvSpPr>
          <p:cNvPr id="148484" name="Rectangle 4"/>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Diode quang điện là linh kiện tiếp hợp pn bán dẫn được giới hạn khoảng hoạt động là khoảng Bias ngược. Ký hiệu mạch của diode quang điện được biểu thị ở ảnh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18-3. Dòng điện bão hòa ngược của Diode là dựa vào</a:t>
            </a:r>
            <a:r>
              <a:rPr lang="ko-KR" altLang="en-US">
                <a:latin typeface="Times New Roman" pitchFamily="18" charset="0"/>
                <a:cs typeface="Times New Roman" pitchFamily="18" charset="0"/>
              </a:rPr>
              <a:t> *</a:t>
            </a:r>
            <a:r>
              <a:rPr lang="en-US" altLang="ko-KR" u="sng">
                <a:latin typeface="Times New Roman" pitchFamily="18" charset="0"/>
                <a:cs typeface="Times New Roman" pitchFamily="18" charset="0"/>
              </a:rPr>
              <a:t>hạt dẫn thiểu số </a:t>
            </a:r>
            <a:r>
              <a:rPr lang="en-US" altLang="ko-KR">
                <a:latin typeface="Times New Roman" pitchFamily="18" charset="0"/>
                <a:cs typeface="Times New Roman" pitchFamily="18" charset="0"/>
              </a:rPr>
              <a:t>được phát sinh do nhiệt nên thường bị giới hạn bởi mấy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tuy nhiện nếu chiếu ánh sáng lên mặt tiếp hợp thì hạt dẫn thiểu số sẽ tăng nhờ có năng lượng quang, sau đó xuất hiện sự tăng của dòng điện. Khi không chiếu sáng thì dòng điện xuất hiện gọi là dòng điện tối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(dark). Diode quang điện nếu so sánh với Photo transistor thì nó có nhược điểm là độ cảm quang thấp hơn tuy nhiên mặt khác nó có những ưu điểm sau.</a:t>
            </a:r>
          </a:p>
          <a:p>
            <a:pPr eaLnBrk="1" hangingPunct="1"/>
            <a:endParaRPr lang="en-US" altLang="ko-KR">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  (1) Tính đường thẳng của ánh sáng tới và dòng điện đầu ra tốt.</a:t>
            </a:r>
          </a:p>
          <a:p>
            <a:pPr eaLnBrk="1" hangingPunct="1"/>
            <a:r>
              <a:rPr lang="en-US" altLang="ko-KR">
                <a:latin typeface="Times New Roman" pitchFamily="18" charset="0"/>
                <a:cs typeface="Times New Roman" pitchFamily="18" charset="0"/>
              </a:rPr>
              <a:t>  (2) Tốc độ phản hồi nhanh.</a:t>
            </a:r>
          </a:p>
          <a:p>
            <a:pPr eaLnBrk="1" hangingPunct="1"/>
            <a:r>
              <a:rPr lang="en-US" altLang="ko-KR">
                <a:latin typeface="Times New Roman" pitchFamily="18" charset="0"/>
                <a:cs typeface="Times New Roman" pitchFamily="18" charset="0"/>
              </a:rPr>
              <a:t>  (3) Sự phân tán của đầu ra nhỏ.</a:t>
            </a:r>
          </a:p>
          <a:p>
            <a:pPr eaLnBrk="1" hangingPunct="1"/>
            <a:r>
              <a:rPr lang="en-US" altLang="ko-KR">
                <a:latin typeface="Times New Roman" pitchFamily="18" charset="0"/>
                <a:cs typeface="Times New Roman" pitchFamily="18" charset="0"/>
              </a:rPr>
              <a:t>  (4) Biến động đầu ra theo sự thay đổi nhiệt độ xung quanh ít</a:t>
            </a:r>
          </a:p>
          <a:p>
            <a:pPr eaLnBrk="1" hangingPunct="1"/>
            <a:endParaRPr lang="en-US" altLang="ko-KR">
              <a:latin typeface="Times New Roman" pitchFamily="18" charset="0"/>
              <a:cs typeface="Times New Roman" pitchFamily="18" charset="0"/>
            </a:endParaRPr>
          </a:p>
        </p:txBody>
      </p:sp>
      <p:sp>
        <p:nvSpPr>
          <p:cNvPr id="148485" name="Text Box 5"/>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48486" name="Text Box 6"/>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48487" name="Text Box 11"/>
          <p:cNvSpPr txBox="1">
            <a:spLocks noChangeArrowheads="1"/>
          </p:cNvSpPr>
          <p:nvPr/>
        </p:nvSpPr>
        <p:spPr bwMode="auto">
          <a:xfrm>
            <a:off x="908050" y="6172200"/>
            <a:ext cx="4413250"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 Hạt dẫn thiểu số</a:t>
            </a:r>
            <a:r>
              <a:rPr lang="ko-KR" altLang="en-US" sz="900">
                <a:latin typeface="Times New Roman" pitchFamily="18" charset="0"/>
                <a:cs typeface="Times New Roman" pitchFamily="18" charset="0"/>
              </a:rPr>
              <a:t> </a:t>
            </a:r>
            <a:r>
              <a:rPr lang="en-US" altLang="ko-KR" sz="900">
                <a:latin typeface="Times New Roman" pitchFamily="18" charset="0"/>
                <a:cs typeface="Times New Roman" pitchFamily="18" charset="0"/>
              </a:rPr>
              <a:t>: Hạt dẫn là điện tử hoặc lỗ trống, còn thiểu số là hạt có lượng di động ít.</a:t>
            </a:r>
          </a:p>
        </p:txBody>
      </p:sp>
      <p:pic>
        <p:nvPicPr>
          <p:cNvPr id="14848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4035425"/>
            <a:ext cx="4876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9"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2565400"/>
            <a:ext cx="257175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90" name="직사각형 9"/>
          <p:cNvSpPr>
            <a:spLocks noChangeArrowheads="1"/>
          </p:cNvSpPr>
          <p:nvPr/>
        </p:nvSpPr>
        <p:spPr bwMode="auto">
          <a:xfrm>
            <a:off x="4859338" y="3759200"/>
            <a:ext cx="3578225" cy="317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18-3 Mạch điện và ký hiệu của diode quang điện</a:t>
            </a:r>
            <a:endParaRPr lang="ko-KR" altLang="en-US">
              <a:latin typeface="Times New Roman" pitchFamily="18" charset="0"/>
              <a:cs typeface="Times New Roman" pitchFamily="18" charset="0"/>
            </a:endParaRPr>
          </a:p>
        </p:txBody>
      </p:sp>
      <p:sp>
        <p:nvSpPr>
          <p:cNvPr id="148491" name="직사각형 10"/>
          <p:cNvSpPr>
            <a:spLocks noChangeArrowheads="1"/>
          </p:cNvSpPr>
          <p:nvPr/>
        </p:nvSpPr>
        <p:spPr bwMode="auto">
          <a:xfrm>
            <a:off x="1979613" y="5876925"/>
            <a:ext cx="4873625"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18-4 Mạch tương đương và đường cong đặc biệt của diode quang điện</a:t>
            </a:r>
            <a:endParaRPr lang="ko-KR" altLang="en-US">
              <a:latin typeface="Times New Roman" pitchFamily="18" charset="0"/>
              <a:cs typeface="Times New Roman" pitchFamily="18" charset="0"/>
            </a:endParaRPr>
          </a:p>
        </p:txBody>
      </p:sp>
      <p:sp>
        <p:nvSpPr>
          <p:cNvPr id="148492" name="직사각형 1"/>
          <p:cNvSpPr>
            <a:spLocks noChangeArrowheads="1"/>
          </p:cNvSpPr>
          <p:nvPr/>
        </p:nvSpPr>
        <p:spPr bwMode="auto">
          <a:xfrm>
            <a:off x="4787900" y="3511550"/>
            <a:ext cx="156527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Ký hiệu mạch điện</a:t>
            </a:r>
            <a:endParaRPr lang="ko-KR" altLang="en-US">
              <a:latin typeface="Times New Roman" pitchFamily="18" charset="0"/>
              <a:cs typeface="Times New Roman" pitchFamily="18" charset="0"/>
            </a:endParaRPr>
          </a:p>
        </p:txBody>
      </p:sp>
      <p:sp>
        <p:nvSpPr>
          <p:cNvPr id="148493" name="직사각형 12"/>
          <p:cNvSpPr>
            <a:spLocks noChangeArrowheads="1"/>
          </p:cNvSpPr>
          <p:nvPr/>
        </p:nvSpPr>
        <p:spPr bwMode="auto">
          <a:xfrm>
            <a:off x="6300788" y="3500438"/>
            <a:ext cx="1463675" cy="277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Dòng điện quang</a:t>
            </a:r>
            <a:endParaRPr lang="ko-KR" altLang="en-US">
              <a:latin typeface="Times New Roman" pitchFamily="18" charset="0"/>
              <a:cs typeface="Times New Roman" pitchFamily="18" charset="0"/>
            </a:endParaRPr>
          </a:p>
        </p:txBody>
      </p:sp>
      <p:sp>
        <p:nvSpPr>
          <p:cNvPr id="148494" name="직사각형 13"/>
          <p:cNvSpPr>
            <a:spLocks noChangeArrowheads="1"/>
          </p:cNvSpPr>
          <p:nvPr/>
        </p:nvSpPr>
        <p:spPr bwMode="auto">
          <a:xfrm>
            <a:off x="1908175" y="5589588"/>
            <a:ext cx="1195388"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Mạch cơ bản</a:t>
            </a:r>
            <a:endParaRPr lang="ko-KR" altLang="en-US">
              <a:latin typeface="Times New Roman" pitchFamily="18" charset="0"/>
              <a:cs typeface="Times New Roman" pitchFamily="18" charset="0"/>
            </a:endParaRPr>
          </a:p>
        </p:txBody>
      </p:sp>
      <p:sp>
        <p:nvSpPr>
          <p:cNvPr id="148495" name="직사각형 14"/>
          <p:cNvSpPr>
            <a:spLocks noChangeArrowheads="1"/>
          </p:cNvSpPr>
          <p:nvPr/>
        </p:nvSpPr>
        <p:spPr bwMode="auto">
          <a:xfrm>
            <a:off x="3348038" y="5589588"/>
            <a:ext cx="1589087"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Mạch tương đương</a:t>
            </a:r>
            <a:endParaRPr lang="ko-KR" altLang="en-US">
              <a:latin typeface="Times New Roman" pitchFamily="18" charset="0"/>
              <a:cs typeface="Times New Roman" pitchFamily="18" charset="0"/>
            </a:endParaRPr>
          </a:p>
        </p:txBody>
      </p:sp>
      <p:sp>
        <p:nvSpPr>
          <p:cNvPr id="148496" name="직사각형 15"/>
          <p:cNvSpPr>
            <a:spLocks noChangeArrowheads="1"/>
          </p:cNvSpPr>
          <p:nvPr/>
        </p:nvSpPr>
        <p:spPr bwMode="auto">
          <a:xfrm>
            <a:off x="5570538" y="5661025"/>
            <a:ext cx="1262062"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 Điểm thao tác</a:t>
            </a:r>
            <a:endParaRPr lang="ko-KR" altLang="en-US">
              <a:latin typeface="Times New Roman" pitchFamily="18" charset="0"/>
              <a:cs typeface="Times New Roman" pitchFamily="18" charset="0"/>
            </a:endParaRPr>
          </a:p>
        </p:txBody>
      </p:sp>
      <p:sp>
        <p:nvSpPr>
          <p:cNvPr id="148497" name="직사각형 16"/>
          <p:cNvSpPr>
            <a:spLocks noChangeArrowheads="1"/>
          </p:cNvSpPr>
          <p:nvPr/>
        </p:nvSpPr>
        <p:spPr bwMode="auto">
          <a:xfrm>
            <a:off x="6227763" y="5229225"/>
            <a:ext cx="784225" cy="230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Điện trở tải</a:t>
            </a:r>
            <a:endParaRPr lang="ko-KR" altLang="en-US" sz="900">
              <a:latin typeface="Times New Roman" pitchFamily="18" charset="0"/>
              <a:cs typeface="Times New Roman" pitchFamily="18" charset="0"/>
            </a:endParaRPr>
          </a:p>
        </p:txBody>
      </p:sp>
      <p:sp>
        <p:nvSpPr>
          <p:cNvPr id="148498" name="직사각형 17"/>
          <p:cNvSpPr>
            <a:spLocks noChangeArrowheads="1"/>
          </p:cNvSpPr>
          <p:nvPr/>
        </p:nvSpPr>
        <p:spPr bwMode="auto">
          <a:xfrm>
            <a:off x="6245225" y="5430838"/>
            <a:ext cx="630238" cy="2301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Độ sáng</a:t>
            </a:r>
            <a:endParaRPr lang="ko-KR" altLang="en-US" sz="900">
              <a:latin typeface="Times New Roman" pitchFamily="18" charset="0"/>
              <a:cs typeface="Times New Roman" pitchFamily="18" charset="0"/>
            </a:endParaRPr>
          </a:p>
        </p:txBody>
      </p:sp>
      <p:sp>
        <p:nvSpPr>
          <p:cNvPr id="148499" name="직사각형 1"/>
          <p:cNvSpPr>
            <a:spLocks noChangeArrowheads="1"/>
          </p:cNvSpPr>
          <p:nvPr/>
        </p:nvSpPr>
        <p:spPr bwMode="auto">
          <a:xfrm>
            <a:off x="6667500" y="2492375"/>
            <a:ext cx="712788" cy="241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Ánh sáng tới</a:t>
            </a:r>
            <a:endParaRPr lang="ko-KR" altLang="en-US" sz="800">
              <a:latin typeface="Times New Roman" pitchFamily="18" charset="0"/>
              <a:cs typeface="Times New Roman" pitchFamily="18" charset="0"/>
            </a:endParaRPr>
          </a:p>
        </p:txBody>
      </p:sp>
      <p:sp>
        <p:nvSpPr>
          <p:cNvPr id="148500" name="직사각형 20"/>
          <p:cNvSpPr>
            <a:spLocks noChangeArrowheads="1"/>
          </p:cNvSpPr>
          <p:nvPr/>
        </p:nvSpPr>
        <p:spPr bwMode="auto">
          <a:xfrm>
            <a:off x="7164388" y="2997200"/>
            <a:ext cx="749300"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Dòng điện tối</a:t>
            </a:r>
            <a:endParaRPr lang="ko-KR" altLang="en-US" sz="800">
              <a:latin typeface="Times New Roman" pitchFamily="18" charset="0"/>
              <a:cs typeface="Times New Roman" pitchFamily="18" charset="0"/>
            </a:endParaRPr>
          </a:p>
        </p:txBody>
      </p:sp>
      <p:sp>
        <p:nvSpPr>
          <p:cNvPr id="148501" name="직사각형 21"/>
          <p:cNvSpPr>
            <a:spLocks noChangeArrowheads="1"/>
          </p:cNvSpPr>
          <p:nvPr/>
        </p:nvSpPr>
        <p:spPr bwMode="auto">
          <a:xfrm>
            <a:off x="7164388" y="3357563"/>
            <a:ext cx="890587"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Dòng quang điện</a:t>
            </a:r>
            <a:endParaRPr lang="ko-KR" altLang="en-US" sz="800">
              <a:latin typeface="Times New Roman" pitchFamily="18" charset="0"/>
              <a:cs typeface="Times New Roman" pitchFamily="18" charset="0"/>
            </a:endParaRPr>
          </a:p>
        </p:txBody>
      </p:sp>
      <p:sp>
        <p:nvSpPr>
          <p:cNvPr id="148502" name="직사각형 23"/>
          <p:cNvSpPr>
            <a:spLocks noChangeArrowheads="1"/>
          </p:cNvSpPr>
          <p:nvPr/>
        </p:nvSpPr>
        <p:spPr bwMode="auto">
          <a:xfrm>
            <a:off x="6443663" y="3044825"/>
            <a:ext cx="684212"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Tiếp hợp pn</a:t>
            </a:r>
            <a:endParaRPr lang="ko-KR" altLang="en-US" sz="800">
              <a:latin typeface="Times New Roman" pitchFamily="18" charset="0"/>
              <a:cs typeface="Times New Roman" pitchFamily="18" charset="0"/>
            </a:endParaRPr>
          </a:p>
        </p:txBody>
      </p:sp>
      <p:sp>
        <p:nvSpPr>
          <p:cNvPr id="148503" name="직사각형 24"/>
          <p:cNvSpPr>
            <a:spLocks noChangeArrowheads="1"/>
          </p:cNvSpPr>
          <p:nvPr/>
        </p:nvSpPr>
        <p:spPr bwMode="auto">
          <a:xfrm>
            <a:off x="5003800" y="3284538"/>
            <a:ext cx="898525" cy="241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2 cực tiếp hợp pn</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E48EA45-C4DE-4E34-A5FC-92976B12FA70}" type="slidenum">
              <a:rPr lang="en-US" altLang="ko-KR" sz="1400" smtClean="0">
                <a:latin typeface="Times New Roman" pitchFamily="18" charset="0"/>
                <a:cs typeface="Times New Roman" pitchFamily="18" charset="0"/>
              </a:rPr>
              <a:pPr eaLnBrk="1" hangingPunct="1"/>
              <a:t>141</a:t>
            </a:fld>
            <a:endParaRPr lang="en-US" altLang="ko-KR" sz="1400" smtClean="0">
              <a:latin typeface="Times New Roman" pitchFamily="18" charset="0"/>
              <a:cs typeface="Times New Roman" pitchFamily="18" charset="0"/>
            </a:endParaRPr>
          </a:p>
        </p:txBody>
      </p:sp>
      <p:sp>
        <p:nvSpPr>
          <p:cNvPr id="149507" name="Text Box 2"/>
          <p:cNvSpPr txBox="1">
            <a:spLocks noChangeArrowheads="1"/>
          </p:cNvSpPr>
          <p:nvPr/>
        </p:nvSpPr>
        <p:spPr bwMode="auto">
          <a:xfrm>
            <a:off x="684213" y="692150"/>
            <a:ext cx="39370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3-3. Quang transistor bán dẫn</a:t>
            </a:r>
            <a:r>
              <a:rPr lang="ko-KR" altLang="ko-KR" sz="1400" b="1">
                <a:latin typeface="Times New Roman" pitchFamily="18" charset="0"/>
                <a:cs typeface="Times New Roman" pitchFamily="18" charset="0"/>
              </a:rPr>
              <a:t> (Photo Transistor)</a:t>
            </a:r>
            <a:endParaRPr lang="en-US" altLang="ko-KR" sz="1400" b="1">
              <a:latin typeface="Times New Roman" pitchFamily="18" charset="0"/>
              <a:cs typeface="Times New Roman" pitchFamily="18" charset="0"/>
            </a:endParaRPr>
          </a:p>
        </p:txBody>
      </p:sp>
      <p:sp>
        <p:nvSpPr>
          <p:cNvPr id="149508" name="Rectangle 3"/>
          <p:cNvSpPr>
            <a:spLocks noChangeArrowheads="1"/>
          </p:cNvSpPr>
          <p:nvPr/>
        </p:nvSpPr>
        <p:spPr bwMode="auto">
          <a:xfrm>
            <a:off x="827088" y="10525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solidFill>
                  <a:srgbClr val="000000"/>
                </a:solidFill>
                <a:latin typeface="Times New Roman" pitchFamily="18" charset="0"/>
                <a:cs typeface="Times New Roman" pitchFamily="18" charset="0"/>
              </a:rPr>
              <a:t>(1) Đặc tính của Photo Transistor</a:t>
            </a:r>
            <a:endParaRPr lang="ko-KR" altLang="en-US" b="1">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Nếu soi ánh sáng lên phần tiếp hợp pn thì điện tử và lỗ trống sinh ra do năng lượng của ánh sáng được đưa ra mạch bên ngoài. Nếu điện tử và lỗ trống sinh ra dựa vào ánh sáng tới thì dòng điện ngược sẽ tăng lên, và nhận được dòng điện đầu ra đối ứng với ánh sáng tới, người ta gọi cái này là dòng điện quang. </a:t>
            </a:r>
          </a:p>
          <a:p>
            <a:pPr eaLnBrk="1" hangingPunct="1"/>
            <a:r>
              <a:rPr lang="en-US" altLang="ko-KR">
                <a:solidFill>
                  <a:srgbClr val="000000"/>
                </a:solidFill>
                <a:latin typeface="Times New Roman" pitchFamily="18" charset="0"/>
                <a:cs typeface="Times New Roman" pitchFamily="18" charset="0"/>
              </a:rPr>
              <a:t> </a:t>
            </a:r>
          </a:p>
          <a:p>
            <a:pPr eaLnBrk="1" hangingPunct="1"/>
            <a:r>
              <a:rPr lang="en-US" altLang="ko-KR">
                <a:solidFill>
                  <a:srgbClr val="000000"/>
                </a:solidFill>
                <a:latin typeface="Times New Roman" pitchFamily="18" charset="0"/>
                <a:cs typeface="Times New Roman" pitchFamily="18" charset="0"/>
              </a:rPr>
              <a:t>Photo Transistor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có linh kiện 2 cực của tiếp hợp pn và linh kiện 3 cực của tiếp hợp npn,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gần đây người ta chủ yếu sử dụng Photo Transistor tiếp hợp npn có tác dụng khuếch đại. Và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Photo Transistor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có silicon và germani tuy nhiên, ở những điểm về độ cảm, tính an toàn,…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Photo Transistor silicon được sử dụng nhiều hơn.</a:t>
            </a:r>
            <a:r>
              <a:rPr lang="en-US" altLang="ko-KR">
                <a:latin typeface="Times New Roman" pitchFamily="18" charset="0"/>
                <a:cs typeface="Times New Roman" pitchFamily="18" charset="0"/>
              </a:rPr>
              <a:t>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Chúng ta nhìn thấy cấu tạo của Photo Transistor silicon npn như ở ảnh</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18-7. Nếu là Transistor thường thì cần điện cực Base nhưng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nếu là</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Photo Transistor</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ánh sáng đã thay cho dòng điện Base nên có nhiều cái không có điện cực.</a:t>
            </a:r>
          </a:p>
          <a:p>
            <a:pPr eaLnBrk="1" hangingPunct="1"/>
            <a:endParaRPr lang="en-US" altLang="ko-KR">
              <a:solidFill>
                <a:srgbClr val="000000"/>
              </a:solidFill>
              <a:latin typeface="Times New Roman" pitchFamily="18" charset="0"/>
              <a:cs typeface="Times New Roman" pitchFamily="18" charset="0"/>
            </a:endParaRPr>
          </a:p>
          <a:p>
            <a:pPr eaLnBrk="1" hangingPunct="1"/>
            <a:r>
              <a:rPr lang="en-US" altLang="ko-KR">
                <a:solidFill>
                  <a:srgbClr val="000000"/>
                </a:solidFill>
                <a:latin typeface="Times New Roman" pitchFamily="18" charset="0"/>
                <a:cs typeface="Times New Roman" pitchFamily="18" charset="0"/>
              </a:rPr>
              <a:t>Độ cảm quang của Photo Transistor khi</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có bước sóng khoảng</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8000Å ở gần thì sẽ đạt được hiệu suất cao nhất nên</a:t>
            </a:r>
            <a:r>
              <a:rPr lang="ko-KR" altLang="en-US">
                <a:solidFill>
                  <a:srgbClr val="000000"/>
                </a:solidFill>
                <a:latin typeface="Times New Roman" pitchFamily="18" charset="0"/>
                <a:cs typeface="Times New Roman" pitchFamily="18" charset="0"/>
              </a:rPr>
              <a:t> </a:t>
            </a:r>
            <a:r>
              <a:rPr lang="en-US" altLang="ko-KR">
                <a:solidFill>
                  <a:srgbClr val="000000"/>
                </a:solidFill>
                <a:latin typeface="Times New Roman" pitchFamily="18" charset="0"/>
                <a:cs typeface="Times New Roman" pitchFamily="18" charset="0"/>
              </a:rPr>
              <a:t>diode phát quang GaAs hoặc đèn vônfarm tiến hành thay đổi năng lượng ánh sáng có hiệu suất tốt nhất. Hơn nữa, tính phản hồi tốt nên được sử dụng nhiều vào việc đóng mở tốc độ cao.</a:t>
            </a:r>
          </a:p>
        </p:txBody>
      </p:sp>
      <p:sp>
        <p:nvSpPr>
          <p:cNvPr id="149509"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49510"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pic>
        <p:nvPicPr>
          <p:cNvPr id="14951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3179763"/>
            <a:ext cx="479107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2" name="직사각형 7"/>
          <p:cNvSpPr>
            <a:spLocks noChangeArrowheads="1"/>
          </p:cNvSpPr>
          <p:nvPr/>
        </p:nvSpPr>
        <p:spPr bwMode="auto">
          <a:xfrm>
            <a:off x="1547813" y="4652963"/>
            <a:ext cx="2592387" cy="3603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18-7 Cấu tạo của Photo transistor</a:t>
            </a:r>
            <a:endParaRPr lang="ko-KR" altLang="en-US">
              <a:latin typeface="Times New Roman" pitchFamily="18" charset="0"/>
              <a:cs typeface="Times New Roman" pitchFamily="18" charset="0"/>
            </a:endParaRPr>
          </a:p>
        </p:txBody>
      </p:sp>
      <p:sp>
        <p:nvSpPr>
          <p:cNvPr id="149513" name="직사각형 8"/>
          <p:cNvSpPr>
            <a:spLocks noChangeArrowheads="1"/>
          </p:cNvSpPr>
          <p:nvPr/>
        </p:nvSpPr>
        <p:spPr bwMode="auto">
          <a:xfrm>
            <a:off x="4148138" y="4724400"/>
            <a:ext cx="3160712" cy="3603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Ảnh 18-8 Đặc tính ứng đáp của Photo transistor</a:t>
            </a:r>
            <a:endParaRPr lang="ko-KR" altLang="en-US">
              <a:latin typeface="Times New Roman" pitchFamily="18" charset="0"/>
              <a:cs typeface="Times New Roman" pitchFamily="18" charset="0"/>
            </a:endParaRPr>
          </a:p>
        </p:txBody>
      </p:sp>
      <p:sp>
        <p:nvSpPr>
          <p:cNvPr id="149514" name="직사각형 9"/>
          <p:cNvSpPr>
            <a:spLocks noChangeArrowheads="1"/>
          </p:cNvSpPr>
          <p:nvPr/>
        </p:nvSpPr>
        <p:spPr bwMode="auto">
          <a:xfrm>
            <a:off x="3132138" y="4437063"/>
            <a:ext cx="639762" cy="2079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Collector</a:t>
            </a:r>
            <a:endParaRPr lang="ko-KR" altLang="en-US" sz="900">
              <a:latin typeface="Times New Roman" pitchFamily="18" charset="0"/>
              <a:cs typeface="Times New Roman" pitchFamily="18" charset="0"/>
            </a:endParaRPr>
          </a:p>
        </p:txBody>
      </p:sp>
      <p:sp>
        <p:nvSpPr>
          <p:cNvPr id="149515" name="직사각형 10"/>
          <p:cNvSpPr>
            <a:spLocks noChangeArrowheads="1"/>
          </p:cNvSpPr>
          <p:nvPr/>
        </p:nvSpPr>
        <p:spPr bwMode="auto">
          <a:xfrm>
            <a:off x="2819400" y="3074988"/>
            <a:ext cx="639763" cy="2079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Ánh sáng</a:t>
            </a:r>
            <a:endParaRPr lang="ko-KR" altLang="en-US" sz="900">
              <a:latin typeface="Times New Roman" pitchFamily="18" charset="0"/>
              <a:cs typeface="Times New Roman" pitchFamily="18" charset="0"/>
            </a:endParaRPr>
          </a:p>
        </p:txBody>
      </p:sp>
      <p:sp>
        <p:nvSpPr>
          <p:cNvPr id="149516" name="직사각형 11"/>
          <p:cNvSpPr>
            <a:spLocks noChangeArrowheads="1"/>
          </p:cNvSpPr>
          <p:nvPr/>
        </p:nvSpPr>
        <p:spPr bwMode="auto">
          <a:xfrm>
            <a:off x="3606800" y="3213100"/>
            <a:ext cx="820738" cy="2079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Màng Si02</a:t>
            </a:r>
            <a:endParaRPr lang="ko-KR" altLang="en-US" sz="900">
              <a:latin typeface="Times New Roman" pitchFamily="18" charset="0"/>
              <a:cs typeface="Times New Roman" pitchFamily="18" charset="0"/>
            </a:endParaRPr>
          </a:p>
        </p:txBody>
      </p:sp>
      <p:sp>
        <p:nvSpPr>
          <p:cNvPr id="149517" name="직사각형 12"/>
          <p:cNvSpPr>
            <a:spLocks noChangeArrowheads="1"/>
          </p:cNvSpPr>
          <p:nvPr/>
        </p:nvSpPr>
        <p:spPr bwMode="auto">
          <a:xfrm>
            <a:off x="2297113" y="3141663"/>
            <a:ext cx="546100" cy="2063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900">
                <a:latin typeface="Times New Roman" pitchFamily="18" charset="0"/>
                <a:cs typeface="Times New Roman" pitchFamily="18" charset="0"/>
              </a:rPr>
              <a:t>Lens</a:t>
            </a:r>
            <a:endParaRPr lang="ko-KR" altLang="en-US" sz="900">
              <a:latin typeface="Times New Roman" pitchFamily="18" charset="0"/>
              <a:cs typeface="Times New Roman" pitchFamily="18" charset="0"/>
            </a:endParaRPr>
          </a:p>
        </p:txBody>
      </p:sp>
      <p:sp>
        <p:nvSpPr>
          <p:cNvPr id="149518" name="직사각형 13"/>
          <p:cNvSpPr>
            <a:spLocks noChangeArrowheads="1"/>
          </p:cNvSpPr>
          <p:nvPr/>
        </p:nvSpPr>
        <p:spPr bwMode="auto">
          <a:xfrm>
            <a:off x="3155950" y="3244850"/>
            <a:ext cx="534988" cy="2079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emitter</a:t>
            </a:r>
            <a:endParaRPr lang="ko-KR" altLang="en-US" sz="900">
              <a:latin typeface="Times New Roman" pitchFamily="18" charset="0"/>
              <a:cs typeface="Times New Roman" pitchFamily="18" charset="0"/>
            </a:endParaRPr>
          </a:p>
        </p:txBody>
      </p:sp>
      <p:sp>
        <p:nvSpPr>
          <p:cNvPr id="149519" name="직사각형 14"/>
          <p:cNvSpPr>
            <a:spLocks noChangeArrowheads="1"/>
          </p:cNvSpPr>
          <p:nvPr/>
        </p:nvSpPr>
        <p:spPr bwMode="auto">
          <a:xfrm>
            <a:off x="2555875" y="3789363"/>
            <a:ext cx="533400" cy="2016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(Base)</a:t>
            </a:r>
            <a:endParaRPr lang="ko-KR" altLang="en-US" sz="900">
              <a:latin typeface="Times New Roman" pitchFamily="18" charset="0"/>
              <a:cs typeface="Times New Roman" pitchFamily="18" charset="0"/>
            </a:endParaRPr>
          </a:p>
        </p:txBody>
      </p:sp>
      <p:sp>
        <p:nvSpPr>
          <p:cNvPr id="149520" name="직사각형 15"/>
          <p:cNvSpPr>
            <a:spLocks noChangeArrowheads="1"/>
          </p:cNvSpPr>
          <p:nvPr/>
        </p:nvSpPr>
        <p:spPr bwMode="auto">
          <a:xfrm>
            <a:off x="4787900" y="4584700"/>
            <a:ext cx="863600" cy="212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Điện trở tải R</a:t>
            </a:r>
            <a:endParaRPr lang="ko-KR" altLang="en-US" sz="900">
              <a:latin typeface="Times New Roman" pitchFamily="18" charset="0"/>
              <a:cs typeface="Times New Roman" pitchFamily="18" charset="0"/>
            </a:endParaRPr>
          </a:p>
        </p:txBody>
      </p:sp>
      <p:sp>
        <p:nvSpPr>
          <p:cNvPr id="149521" name="직사각형 12"/>
          <p:cNvSpPr>
            <a:spLocks noChangeArrowheads="1"/>
          </p:cNvSpPr>
          <p:nvPr/>
        </p:nvSpPr>
        <p:spPr bwMode="auto">
          <a:xfrm>
            <a:off x="4060825" y="3429000"/>
            <a:ext cx="439738" cy="3508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900">
                <a:latin typeface="Times New Roman" pitchFamily="18" charset="0"/>
                <a:cs typeface="Times New Roman" pitchFamily="18" charset="0"/>
              </a:rPr>
              <a:t>Thời gian</a:t>
            </a:r>
            <a:endParaRPr lang="ko-KR" altLang="en-US" sz="900">
              <a:latin typeface="Times New Roman" pitchFamily="18" charset="0"/>
              <a:cs typeface="Times New Roman" pitchFamily="18" charset="0"/>
            </a:endParaRPr>
          </a:p>
        </p:txBody>
      </p:sp>
      <p:sp>
        <p:nvSpPr>
          <p:cNvPr id="149522" name="직사각형 10"/>
          <p:cNvSpPr>
            <a:spLocks noChangeArrowheads="1"/>
          </p:cNvSpPr>
          <p:nvPr/>
        </p:nvSpPr>
        <p:spPr bwMode="auto">
          <a:xfrm>
            <a:off x="6237288" y="4076700"/>
            <a:ext cx="1430337" cy="2016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Pulse của ánh sáng đầu vào</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5BFC511-FB0C-4930-B030-00C1E1C4D099}" type="slidenum">
              <a:rPr lang="en-US" altLang="ko-KR" sz="1400" smtClean="0">
                <a:latin typeface="Times New Roman" pitchFamily="18" charset="0"/>
                <a:cs typeface="Times New Roman" pitchFamily="18" charset="0"/>
              </a:rPr>
              <a:pPr eaLnBrk="1" hangingPunct="1"/>
              <a:t>142</a:t>
            </a:fld>
            <a:endParaRPr lang="en-US" altLang="ko-KR" sz="1400" smtClean="0">
              <a:latin typeface="Times New Roman" pitchFamily="18" charset="0"/>
              <a:cs typeface="Times New Roman" pitchFamily="18" charset="0"/>
            </a:endParaRPr>
          </a:p>
        </p:txBody>
      </p:sp>
      <p:sp>
        <p:nvSpPr>
          <p:cNvPr id="150531"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5053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Ký hiệu và nguyên lý của Photo Transistor</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Photo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 là quang transistor có dòng điện collector của TR được điều khiển dựa vào ánh sáng.</a:t>
            </a:r>
          </a:p>
          <a:p>
            <a:pPr eaLnBrk="1" hangingPunct="1"/>
            <a:endParaRPr lang="en-US" altLang="ko-KR">
              <a:latin typeface="Times New Roman" pitchFamily="18" charset="0"/>
              <a:cs typeface="Times New Roman" pitchFamily="18" charset="0"/>
            </a:endParaRPr>
          </a:p>
        </p:txBody>
      </p:sp>
      <p:sp>
        <p:nvSpPr>
          <p:cNvPr id="15053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50534" name="Picture 5" descr="p-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773238"/>
            <a:ext cx="2146300" cy="17303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50535" name="Picture 6" descr="p-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773238"/>
            <a:ext cx="2146300" cy="17303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150536" name="Group 21"/>
          <p:cNvGrpSpPr>
            <a:grpSpLocks/>
          </p:cNvGrpSpPr>
          <p:nvPr/>
        </p:nvGrpSpPr>
        <p:grpSpPr bwMode="auto">
          <a:xfrm>
            <a:off x="5651500" y="1773238"/>
            <a:ext cx="2320925" cy="1860550"/>
            <a:chOff x="3699" y="1026"/>
            <a:chExt cx="1462" cy="1172"/>
          </a:xfrm>
        </p:grpSpPr>
        <p:sp>
          <p:nvSpPr>
            <p:cNvPr id="150570" name="Oval 8"/>
            <p:cNvSpPr>
              <a:spLocks noChangeArrowheads="1"/>
            </p:cNvSpPr>
            <p:nvPr/>
          </p:nvSpPr>
          <p:spPr bwMode="auto">
            <a:xfrm>
              <a:off x="4366" y="1320"/>
              <a:ext cx="336"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0571" name="Line 9"/>
            <p:cNvSpPr>
              <a:spLocks noChangeShapeType="1"/>
            </p:cNvSpPr>
            <p:nvPr/>
          </p:nvSpPr>
          <p:spPr bwMode="auto">
            <a:xfrm>
              <a:off x="4462" y="135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2" name="Line 10"/>
            <p:cNvSpPr>
              <a:spLocks noChangeShapeType="1"/>
            </p:cNvSpPr>
            <p:nvPr/>
          </p:nvSpPr>
          <p:spPr bwMode="auto">
            <a:xfrm flipV="1">
              <a:off x="4462" y="1320"/>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3" name="Line 11"/>
            <p:cNvSpPr>
              <a:spLocks noChangeShapeType="1"/>
            </p:cNvSpPr>
            <p:nvPr/>
          </p:nvSpPr>
          <p:spPr bwMode="auto">
            <a:xfrm rot="-10083720">
              <a:off x="4462" y="1512"/>
              <a:ext cx="144" cy="14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4" name="Line 12"/>
            <p:cNvSpPr>
              <a:spLocks noChangeShapeType="1"/>
            </p:cNvSpPr>
            <p:nvPr/>
          </p:nvSpPr>
          <p:spPr bwMode="auto">
            <a:xfrm>
              <a:off x="4594" y="165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5" name="Line 13"/>
            <p:cNvSpPr>
              <a:spLocks noChangeShapeType="1"/>
            </p:cNvSpPr>
            <p:nvPr/>
          </p:nvSpPr>
          <p:spPr bwMode="auto">
            <a:xfrm>
              <a:off x="4582" y="108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6" name="Line 14"/>
            <p:cNvSpPr>
              <a:spLocks noChangeShapeType="1"/>
            </p:cNvSpPr>
            <p:nvPr/>
          </p:nvSpPr>
          <p:spPr bwMode="auto">
            <a:xfrm>
              <a:off x="4174" y="1416"/>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7" name="Line 15"/>
            <p:cNvSpPr>
              <a:spLocks noChangeShapeType="1"/>
            </p:cNvSpPr>
            <p:nvPr/>
          </p:nvSpPr>
          <p:spPr bwMode="auto">
            <a:xfrm>
              <a:off x="4174" y="1416"/>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8" name="Line 16"/>
            <p:cNvSpPr>
              <a:spLocks noChangeShapeType="1"/>
            </p:cNvSpPr>
            <p:nvPr/>
          </p:nvSpPr>
          <p:spPr bwMode="auto">
            <a:xfrm flipH="1" flipV="1">
              <a:off x="3982" y="1416"/>
              <a:ext cx="24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79" name="Text Box 17"/>
            <p:cNvSpPr txBox="1">
              <a:spLocks noChangeArrowheads="1"/>
            </p:cNvSpPr>
            <p:nvPr/>
          </p:nvSpPr>
          <p:spPr bwMode="auto">
            <a:xfrm>
              <a:off x="3699" y="1253"/>
              <a:ext cx="324"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Ánh</a:t>
              </a:r>
            </a:p>
            <a:p>
              <a:pPr eaLnBrk="1" hangingPunct="1"/>
              <a:r>
                <a:rPr lang="en-US" altLang="ko-KR" sz="1400">
                  <a:latin typeface="Times New Roman" pitchFamily="18" charset="0"/>
                  <a:cs typeface="Times New Roman" pitchFamily="18" charset="0"/>
                </a:rPr>
                <a:t>sáng</a:t>
              </a:r>
              <a:endParaRPr lang="ko-KR" altLang="en-US" sz="1400">
                <a:latin typeface="Times New Roman" pitchFamily="18" charset="0"/>
                <a:cs typeface="Times New Roman" pitchFamily="18" charset="0"/>
              </a:endParaRPr>
            </a:p>
          </p:txBody>
        </p:sp>
        <p:sp>
          <p:nvSpPr>
            <p:cNvPr id="150580" name="Text Box 18"/>
            <p:cNvSpPr txBox="1">
              <a:spLocks noChangeArrowheads="1"/>
            </p:cNvSpPr>
            <p:nvPr/>
          </p:nvSpPr>
          <p:spPr bwMode="auto">
            <a:xfrm>
              <a:off x="4576" y="1026"/>
              <a:ext cx="196" cy="19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C</a:t>
              </a:r>
            </a:p>
          </p:txBody>
        </p:sp>
        <p:sp>
          <p:nvSpPr>
            <p:cNvPr id="150581" name="Text Box 19"/>
            <p:cNvSpPr txBox="1">
              <a:spLocks noChangeArrowheads="1"/>
            </p:cNvSpPr>
            <p:nvPr/>
          </p:nvSpPr>
          <p:spPr bwMode="auto">
            <a:xfrm>
              <a:off x="4596" y="1752"/>
              <a:ext cx="186" cy="19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E</a:t>
              </a:r>
            </a:p>
          </p:txBody>
        </p:sp>
        <p:sp>
          <p:nvSpPr>
            <p:cNvPr id="150582" name="Text Box 20"/>
            <p:cNvSpPr txBox="1">
              <a:spLocks noChangeArrowheads="1"/>
            </p:cNvSpPr>
            <p:nvPr/>
          </p:nvSpPr>
          <p:spPr bwMode="auto">
            <a:xfrm>
              <a:off x="3812" y="2024"/>
              <a:ext cx="1349"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 Ký hiệu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Photo TR loại NPN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p>
          </p:txBody>
        </p:sp>
      </p:grpSp>
      <p:sp>
        <p:nvSpPr>
          <p:cNvPr id="150537" name="Rectangle 23"/>
          <p:cNvSpPr>
            <a:spLocks noChangeArrowheads="1"/>
          </p:cNvSpPr>
          <p:nvPr/>
        </p:nvSpPr>
        <p:spPr bwMode="auto">
          <a:xfrm>
            <a:off x="1649413" y="4530725"/>
            <a:ext cx="6858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0538" name="Line 24"/>
          <p:cNvSpPr>
            <a:spLocks noChangeShapeType="1"/>
          </p:cNvSpPr>
          <p:nvPr/>
        </p:nvSpPr>
        <p:spPr bwMode="auto">
          <a:xfrm>
            <a:off x="1649413" y="4816475"/>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39" name="Line 25"/>
          <p:cNvSpPr>
            <a:spLocks noChangeShapeType="1"/>
          </p:cNvSpPr>
          <p:nvPr/>
        </p:nvSpPr>
        <p:spPr bwMode="auto">
          <a:xfrm>
            <a:off x="1649413" y="5054600"/>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0" name="Line 26"/>
          <p:cNvSpPr>
            <a:spLocks noChangeShapeType="1"/>
          </p:cNvSpPr>
          <p:nvPr/>
        </p:nvSpPr>
        <p:spPr bwMode="auto">
          <a:xfrm flipV="1">
            <a:off x="1982788" y="4149725"/>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1" name="Line 27"/>
          <p:cNvSpPr>
            <a:spLocks noChangeShapeType="1"/>
          </p:cNvSpPr>
          <p:nvPr/>
        </p:nvSpPr>
        <p:spPr bwMode="auto">
          <a:xfrm flipV="1">
            <a:off x="1982788" y="5368925"/>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2" name="Line 28"/>
          <p:cNvSpPr>
            <a:spLocks noChangeShapeType="1"/>
          </p:cNvSpPr>
          <p:nvPr/>
        </p:nvSpPr>
        <p:spPr bwMode="auto">
          <a:xfrm>
            <a:off x="1992313" y="4149725"/>
            <a:ext cx="800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3" name="Line 29"/>
          <p:cNvSpPr>
            <a:spLocks noChangeShapeType="1"/>
          </p:cNvSpPr>
          <p:nvPr/>
        </p:nvSpPr>
        <p:spPr bwMode="auto">
          <a:xfrm>
            <a:off x="2792413" y="4149725"/>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4" name="Line 33"/>
          <p:cNvSpPr>
            <a:spLocks noChangeShapeType="1"/>
          </p:cNvSpPr>
          <p:nvPr/>
        </p:nvSpPr>
        <p:spPr bwMode="auto">
          <a:xfrm>
            <a:off x="1973263" y="5749925"/>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45" name="Text Box 34"/>
          <p:cNvSpPr txBox="1">
            <a:spLocks noChangeArrowheads="1"/>
          </p:cNvSpPr>
          <p:nvPr/>
        </p:nvSpPr>
        <p:spPr bwMode="auto">
          <a:xfrm>
            <a:off x="1843088" y="4511675"/>
            <a:ext cx="314325" cy="307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N</a:t>
            </a:r>
          </a:p>
        </p:txBody>
      </p:sp>
      <p:sp>
        <p:nvSpPr>
          <p:cNvPr id="150546" name="Text Box 35"/>
          <p:cNvSpPr txBox="1">
            <a:spLocks noChangeArrowheads="1"/>
          </p:cNvSpPr>
          <p:nvPr/>
        </p:nvSpPr>
        <p:spPr bwMode="auto">
          <a:xfrm>
            <a:off x="1839913" y="4778375"/>
            <a:ext cx="284162" cy="307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P</a:t>
            </a:r>
          </a:p>
        </p:txBody>
      </p:sp>
      <p:sp>
        <p:nvSpPr>
          <p:cNvPr id="150547" name="Text Box 36"/>
          <p:cNvSpPr txBox="1">
            <a:spLocks noChangeArrowheads="1"/>
          </p:cNvSpPr>
          <p:nvPr/>
        </p:nvSpPr>
        <p:spPr bwMode="auto">
          <a:xfrm>
            <a:off x="1839913" y="5064125"/>
            <a:ext cx="314325" cy="307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N</a:t>
            </a:r>
          </a:p>
        </p:txBody>
      </p:sp>
      <p:sp>
        <p:nvSpPr>
          <p:cNvPr id="150548" name="Text Box 37"/>
          <p:cNvSpPr txBox="1">
            <a:spLocks noChangeArrowheads="1"/>
          </p:cNvSpPr>
          <p:nvPr/>
        </p:nvSpPr>
        <p:spPr bwMode="auto">
          <a:xfrm>
            <a:off x="1938338" y="4273550"/>
            <a:ext cx="311150" cy="304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C</a:t>
            </a:r>
          </a:p>
        </p:txBody>
      </p:sp>
      <p:sp>
        <p:nvSpPr>
          <p:cNvPr id="150549" name="Text Box 38"/>
          <p:cNvSpPr txBox="1">
            <a:spLocks noChangeArrowheads="1"/>
          </p:cNvSpPr>
          <p:nvPr/>
        </p:nvSpPr>
        <p:spPr bwMode="auto">
          <a:xfrm>
            <a:off x="1947863" y="5321300"/>
            <a:ext cx="295275" cy="304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E</a:t>
            </a:r>
          </a:p>
        </p:txBody>
      </p:sp>
      <p:sp>
        <p:nvSpPr>
          <p:cNvPr id="150550" name="Line 39"/>
          <p:cNvSpPr>
            <a:spLocks noChangeShapeType="1"/>
          </p:cNvSpPr>
          <p:nvPr/>
        </p:nvSpPr>
        <p:spPr bwMode="auto">
          <a:xfrm>
            <a:off x="1344613" y="4683125"/>
            <a:ext cx="228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51" name="Line 40"/>
          <p:cNvSpPr>
            <a:spLocks noChangeShapeType="1"/>
          </p:cNvSpPr>
          <p:nvPr/>
        </p:nvSpPr>
        <p:spPr bwMode="auto">
          <a:xfrm>
            <a:off x="1344613" y="4683125"/>
            <a:ext cx="76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52" name="Line 41"/>
          <p:cNvSpPr>
            <a:spLocks noChangeShapeType="1"/>
          </p:cNvSpPr>
          <p:nvPr/>
        </p:nvSpPr>
        <p:spPr bwMode="auto">
          <a:xfrm flipH="1" flipV="1">
            <a:off x="1116013" y="4606925"/>
            <a:ext cx="304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50553" name="Group 42"/>
          <p:cNvGrpSpPr>
            <a:grpSpLocks/>
          </p:cNvGrpSpPr>
          <p:nvPr/>
        </p:nvGrpSpPr>
        <p:grpSpPr bwMode="auto">
          <a:xfrm>
            <a:off x="1668463" y="4854575"/>
            <a:ext cx="152400" cy="152400"/>
            <a:chOff x="2352" y="3264"/>
            <a:chExt cx="96" cy="96"/>
          </a:xfrm>
        </p:grpSpPr>
        <p:sp>
          <p:nvSpPr>
            <p:cNvPr id="150568" name="Oval 43"/>
            <p:cNvSpPr>
              <a:spLocks noChangeArrowheads="1"/>
            </p:cNvSpPr>
            <p:nvPr/>
          </p:nvSpPr>
          <p:spPr bwMode="auto">
            <a:xfrm>
              <a:off x="2352" y="3264"/>
              <a:ext cx="96" cy="9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0569" name="Line 44"/>
            <p:cNvSpPr>
              <a:spLocks noChangeShapeType="1"/>
            </p:cNvSpPr>
            <p:nvPr/>
          </p:nvSpPr>
          <p:spPr bwMode="auto">
            <a:xfrm>
              <a:off x="2352" y="3312"/>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0554" name="Line 49"/>
          <p:cNvSpPr>
            <a:spLocks noChangeShapeType="1"/>
          </p:cNvSpPr>
          <p:nvPr/>
        </p:nvSpPr>
        <p:spPr bwMode="auto">
          <a:xfrm>
            <a:off x="2792413" y="5083175"/>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50555" name="Group 54"/>
          <p:cNvGrpSpPr>
            <a:grpSpLocks/>
          </p:cNvGrpSpPr>
          <p:nvPr/>
        </p:nvGrpSpPr>
        <p:grpSpPr bwMode="auto">
          <a:xfrm flipV="1">
            <a:off x="1697038" y="4565650"/>
            <a:ext cx="104775" cy="228600"/>
            <a:chOff x="1069" y="3160"/>
            <a:chExt cx="66" cy="144"/>
          </a:xfrm>
        </p:grpSpPr>
        <p:sp>
          <p:nvSpPr>
            <p:cNvPr id="150566" name="Line 50"/>
            <p:cNvSpPr>
              <a:spLocks noChangeShapeType="1"/>
            </p:cNvSpPr>
            <p:nvPr/>
          </p:nvSpPr>
          <p:spPr bwMode="auto">
            <a:xfrm>
              <a:off x="1069" y="316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67" name="Line 51"/>
            <p:cNvSpPr>
              <a:spLocks noChangeShapeType="1"/>
            </p:cNvSpPr>
            <p:nvPr/>
          </p:nvSpPr>
          <p:spPr bwMode="auto">
            <a:xfrm>
              <a:off x="1135" y="316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50556" name="Group 53"/>
          <p:cNvGrpSpPr>
            <a:grpSpLocks/>
          </p:cNvGrpSpPr>
          <p:nvPr/>
        </p:nvGrpSpPr>
        <p:grpSpPr bwMode="auto">
          <a:xfrm rot="10800000">
            <a:off x="2609850" y="4605338"/>
            <a:ext cx="377825" cy="476250"/>
            <a:chOff x="1629" y="3046"/>
            <a:chExt cx="238" cy="300"/>
          </a:xfrm>
        </p:grpSpPr>
        <p:grpSp>
          <p:nvGrpSpPr>
            <p:cNvPr id="150558" name="Group 30"/>
            <p:cNvGrpSpPr>
              <a:grpSpLocks/>
            </p:cNvGrpSpPr>
            <p:nvPr/>
          </p:nvGrpSpPr>
          <p:grpSpPr bwMode="auto">
            <a:xfrm flipV="1">
              <a:off x="1675" y="3046"/>
              <a:ext cx="192" cy="48"/>
              <a:chOff x="1692" y="3072"/>
              <a:chExt cx="192" cy="48"/>
            </a:xfrm>
          </p:grpSpPr>
          <p:sp>
            <p:nvSpPr>
              <p:cNvPr id="150564" name="Line 31"/>
              <p:cNvSpPr>
                <a:spLocks noChangeShapeType="1"/>
              </p:cNvSpPr>
              <p:nvPr/>
            </p:nvSpPr>
            <p:spPr bwMode="auto">
              <a:xfrm>
                <a:off x="1692" y="307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65" name="Line 32"/>
              <p:cNvSpPr>
                <a:spLocks noChangeShapeType="1"/>
              </p:cNvSpPr>
              <p:nvPr/>
            </p:nvSpPr>
            <p:spPr bwMode="auto">
              <a:xfrm>
                <a:off x="1728" y="312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50559" name="Group 45"/>
            <p:cNvGrpSpPr>
              <a:grpSpLocks/>
            </p:cNvGrpSpPr>
            <p:nvPr/>
          </p:nvGrpSpPr>
          <p:grpSpPr bwMode="auto">
            <a:xfrm flipV="1">
              <a:off x="1675" y="3154"/>
              <a:ext cx="192" cy="48"/>
              <a:chOff x="1692" y="3072"/>
              <a:chExt cx="192" cy="48"/>
            </a:xfrm>
          </p:grpSpPr>
          <p:sp>
            <p:nvSpPr>
              <p:cNvPr id="150562" name="Line 46"/>
              <p:cNvSpPr>
                <a:spLocks noChangeShapeType="1"/>
              </p:cNvSpPr>
              <p:nvPr/>
            </p:nvSpPr>
            <p:spPr bwMode="auto">
              <a:xfrm>
                <a:off x="1692" y="307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63" name="Line 47"/>
              <p:cNvSpPr>
                <a:spLocks noChangeShapeType="1"/>
              </p:cNvSpPr>
              <p:nvPr/>
            </p:nvSpPr>
            <p:spPr bwMode="auto">
              <a:xfrm>
                <a:off x="1728" y="312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0560" name="Line 48"/>
            <p:cNvSpPr>
              <a:spLocks noChangeShapeType="1"/>
            </p:cNvSpPr>
            <p:nvPr/>
          </p:nvSpPr>
          <p:spPr bwMode="auto">
            <a:xfrm flipV="1">
              <a:off x="1759" y="3094"/>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0561" name="Text Box 52"/>
            <p:cNvSpPr txBox="1">
              <a:spLocks noChangeArrowheads="1"/>
            </p:cNvSpPr>
            <p:nvPr/>
          </p:nvSpPr>
          <p:spPr bwMode="auto">
            <a:xfrm>
              <a:off x="1629" y="3154"/>
              <a:ext cx="186" cy="19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a:t>
              </a:r>
            </a:p>
          </p:txBody>
        </p:sp>
      </p:grpSp>
      <p:sp>
        <p:nvSpPr>
          <p:cNvPr id="150557" name="Text Box 55"/>
          <p:cNvSpPr txBox="1">
            <a:spLocks noChangeArrowheads="1"/>
          </p:cNvSpPr>
          <p:nvPr/>
        </p:nvSpPr>
        <p:spPr bwMode="auto">
          <a:xfrm>
            <a:off x="3200400" y="4149725"/>
            <a:ext cx="5043488" cy="1717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10000"/>
              </a:lnSpc>
            </a:pPr>
            <a:r>
              <a:rPr lang="en-US" altLang="ko-KR">
                <a:latin typeface="Times New Roman" pitchFamily="18" charset="0"/>
                <a:cs typeface="Times New Roman" pitchFamily="18" charset="0"/>
              </a:rPr>
              <a:t>Nếu chiếu ánh sáng lên bộ phận Base của Photo TR như hình bên trái thì điện tử ở phần tiếp hợp PN nhận năng lượng ánh sáng và đẩy tốc độ nhanh lên nên nó ngắt những liên kết chung và tách ra khỏi quỹ đạo rồi trở thành điện tử tự do, làm cho sinh ra số lỗ trống tương ứng ngay tại vị trí đó, lúc này do nó cung cấp điện áp từ ngoài nên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lỗ trống bị hút về phía – còn điện tử bị hút về + khiến dòng điện chạy qua.</a:t>
            </a:r>
          </a:p>
          <a:p>
            <a:pPr eaLnBrk="1" hangingPunct="1">
              <a:lnSpc>
                <a:spcPct val="110000"/>
              </a:lnSpc>
            </a:pPr>
            <a:r>
              <a:rPr lang="en-US" altLang="ko-KR">
                <a:latin typeface="Times New Roman" pitchFamily="18" charset="0"/>
                <a:cs typeface="Times New Roman" pitchFamily="18" charset="0"/>
              </a:rPr>
              <a:t>Lúc này, nếu chiếu sáng nhiều hơn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số điện tử tương ứng với đó sẽ chạy và làm tăng thêm dòng điện.</a:t>
            </a:r>
          </a:p>
        </p:txBody>
      </p:sp>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501E667D-E4D0-45A1-A536-029BADA11E2D}" type="slidenum">
              <a:rPr lang="en-US" altLang="ko-KR" sz="1400" smtClean="0">
                <a:latin typeface="Times New Roman" pitchFamily="18" charset="0"/>
                <a:cs typeface="Times New Roman" pitchFamily="18" charset="0"/>
              </a:rPr>
              <a:pPr eaLnBrk="1" hangingPunct="1"/>
              <a:t>143</a:t>
            </a:fld>
            <a:endParaRPr lang="en-US" altLang="ko-KR" sz="1400" smtClean="0">
              <a:latin typeface="Times New Roman" pitchFamily="18" charset="0"/>
              <a:cs typeface="Times New Roman" pitchFamily="18" charset="0"/>
            </a:endParaRPr>
          </a:p>
        </p:txBody>
      </p:sp>
      <p:sp>
        <p:nvSpPr>
          <p:cNvPr id="15155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51556" name="Rectangle 3"/>
          <p:cNvSpPr>
            <a:spLocks noChangeArrowheads="1"/>
          </p:cNvSpPr>
          <p:nvPr/>
        </p:nvSpPr>
        <p:spPr bwMode="auto">
          <a:xfrm>
            <a:off x="827088" y="620713"/>
            <a:ext cx="7489825" cy="554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Photo Coupler</a:t>
            </a:r>
          </a:p>
          <a:p>
            <a:pPr eaLnBrk="1" hangingPunct="1"/>
            <a:r>
              <a:rPr lang="en-US" altLang="ko-KR">
                <a:latin typeface="Times New Roman" pitchFamily="18" charset="0"/>
                <a:cs typeface="Times New Roman" pitchFamily="18" charset="0"/>
              </a:rPr>
              <a:t>  </a:t>
            </a: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a:latin typeface="Times New Roman" pitchFamily="18" charset="0"/>
              <a:cs typeface="Times New Roman" pitchFamily="18" charset="0"/>
            </a:endParaRPr>
          </a:p>
          <a:p>
            <a:pPr eaLnBrk="1" hangingPunct="1"/>
            <a:endParaRPr lang="en-US" altLang="ko-KR"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Photo Coupler là </a:t>
            </a:r>
            <a:r>
              <a:rPr lang="en-US" altLang="ko-KR" smtClean="0">
                <a:latin typeface="Times New Roman" pitchFamily="18" charset="0"/>
                <a:cs typeface="Times New Roman" pitchFamily="18" charset="0"/>
              </a:rPr>
              <a:t>linh </a:t>
            </a:r>
            <a:r>
              <a:rPr lang="en-US" altLang="ko-KR">
                <a:latin typeface="Times New Roman" pitchFamily="18" charset="0"/>
                <a:cs typeface="Times New Roman" pitchFamily="18" charset="0"/>
              </a:rPr>
              <a:t>kiện </a:t>
            </a:r>
            <a:r>
              <a:rPr lang="en-US" altLang="ko-KR" smtClean="0">
                <a:latin typeface="Times New Roman" pitchFamily="18" charset="0"/>
                <a:cs typeface="Times New Roman" pitchFamily="18" charset="0"/>
              </a:rPr>
              <a:t>bao gồm</a:t>
            </a:r>
            <a:r>
              <a:rPr lang="en-US" altLang="ko-KR" smtClean="0">
                <a:latin typeface="Times New Roman" pitchFamily="18" charset="0"/>
                <a:cs typeface="Times New Roman" pitchFamily="18" charset="0"/>
              </a:rPr>
              <a:t> </a:t>
            </a:r>
            <a:r>
              <a:rPr lang="en-US" altLang="ko-KR">
                <a:latin typeface="Times New Roman" pitchFamily="18" charset="0"/>
                <a:cs typeface="Times New Roman" pitchFamily="18" charset="0"/>
              </a:rPr>
              <a:t>diode phát quang và Photo TR đối diện nhau.</a:t>
            </a:r>
          </a:p>
          <a:p>
            <a:pPr eaLnBrk="1" hangingPunct="1"/>
            <a:r>
              <a:rPr lang="en-US" altLang="ko-KR">
                <a:latin typeface="Times New Roman" pitchFamily="18" charset="0"/>
                <a:cs typeface="Times New Roman" pitchFamily="18" charset="0"/>
              </a:rPr>
              <a:t>Được sử dụng với mục đích truyền tín hiệu với các thiết bị bên ngoài như PC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PLC...</a:t>
            </a:r>
          </a:p>
          <a:p>
            <a:pPr eaLnBrk="1" hangingPunct="1"/>
            <a:r>
              <a:rPr lang="en-US" altLang="ko-KR">
                <a:latin typeface="Times New Roman" pitchFamily="18" charset="0"/>
                <a:cs typeface="Times New Roman" pitchFamily="18" charset="0"/>
              </a:rPr>
              <a:t>Tín hiệu điện từ thiết bị bên ngoài nếu được tạo lên Diode phát quang thì nó sẽ biến thành ánh sáng và Photo TR làm nhiệm vụ đọc tín hiệu đã được biến đổi thành ánh sáng đó và biến nó thành tín hiệu điện, lúc này tín hiệu sẽ được truyền đến PC và PLC….</a:t>
            </a:r>
          </a:p>
          <a:p>
            <a:pPr eaLnBrk="1" hangingPunct="1"/>
            <a:endParaRPr lang="en-US" altLang="ko-KR" sz="700">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Đặc tính của Photo Coupler</a:t>
            </a:r>
            <a:endParaRPr lang="ko-KR" altLang="en-US" b="1">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1. Giữa đầu vào và đầu ra được ngắt điện một cách hoàn toàn, do đó toàn bộ hiệu điện thế được sử dụng vào việc truyền tín hiệu giữa hai mạch khác.</a:t>
            </a:r>
          </a:p>
          <a:p>
            <a:pPr eaLnBrk="1" hangingPunct="1"/>
            <a:r>
              <a:rPr lang="en-US" altLang="ko-KR">
                <a:latin typeface="Times New Roman" pitchFamily="18" charset="0"/>
                <a:cs typeface="Times New Roman" pitchFamily="18" charset="0"/>
              </a:rPr>
              <a:t>2. Việc truyền tín hiệu là theo một hướng nên không có ảnh hưởng gì tới đầu vào từ đầu ra.</a:t>
            </a:r>
          </a:p>
          <a:p>
            <a:pPr eaLnBrk="1" hangingPunct="1"/>
            <a:r>
              <a:rPr lang="en-US" altLang="ko-KR">
                <a:latin typeface="Times New Roman" pitchFamily="18" charset="0"/>
                <a:cs typeface="Times New Roman" pitchFamily="18" charset="0"/>
              </a:rPr>
              <a:t>3. Giao diện với các phần tử logic dễ và tốc độ phản hồi nhanh.</a:t>
            </a:r>
          </a:p>
          <a:p>
            <a:pPr eaLnBrk="1" hangingPunct="1"/>
            <a:r>
              <a:rPr lang="en-US" altLang="ko-KR">
                <a:latin typeface="Times New Roman" pitchFamily="18" charset="0"/>
                <a:cs typeface="Times New Roman" pitchFamily="18" charset="0"/>
              </a:rPr>
              <a:t>4. Là loại hạng nhẹ và nhỏ nên có thể tăng mật độ đóng gói.</a:t>
            </a:r>
          </a:p>
          <a:p>
            <a:pPr eaLnBrk="1" hangingPunct="1"/>
            <a:r>
              <a:rPr lang="en-US" altLang="ko-KR">
                <a:latin typeface="Times New Roman" pitchFamily="18" charset="0"/>
                <a:cs typeface="Times New Roman" pitchFamily="18" charset="0"/>
              </a:rPr>
              <a:t>5. Tuổi thọ có tính bán vĩnh cửu nên có độ tin cậy cao.</a:t>
            </a:r>
          </a:p>
          <a:p>
            <a:pPr eaLnBrk="1" hangingPunct="1"/>
            <a:r>
              <a:rPr lang="en-US" altLang="ko-KR">
                <a:latin typeface="Times New Roman" pitchFamily="18" charset="0"/>
                <a:cs typeface="Times New Roman" pitchFamily="18" charset="0"/>
              </a:rPr>
              <a:t>6. Sử dụng ánh sáng để truyền tín hiệu nên </a:t>
            </a:r>
            <a:r>
              <a:rPr lang="en-US" altLang="ko-KR" smtClean="0">
                <a:latin typeface="Times New Roman" pitchFamily="18" charset="0"/>
                <a:cs typeface="Times New Roman" pitchFamily="18" charset="0"/>
              </a:rPr>
              <a:t>không gây tiếng ồn.</a:t>
            </a:r>
            <a:endParaRPr lang="en-US" altLang="ko-KR">
              <a:latin typeface="Times New Roman" pitchFamily="18" charset="0"/>
              <a:cs typeface="Times New Roman" pitchFamily="18" charset="0"/>
            </a:endParaRPr>
          </a:p>
        </p:txBody>
      </p:sp>
      <p:sp>
        <p:nvSpPr>
          <p:cNvPr id="15155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grpSp>
        <p:nvGrpSpPr>
          <p:cNvPr id="151558" name="Group 31"/>
          <p:cNvGrpSpPr>
            <a:grpSpLocks/>
          </p:cNvGrpSpPr>
          <p:nvPr/>
        </p:nvGrpSpPr>
        <p:grpSpPr bwMode="auto">
          <a:xfrm>
            <a:off x="900113" y="980728"/>
            <a:ext cx="7148512" cy="2312988"/>
            <a:chOff x="476" y="754"/>
            <a:chExt cx="4503" cy="1457"/>
          </a:xfrm>
        </p:grpSpPr>
        <p:pic>
          <p:nvPicPr>
            <p:cNvPr id="151572" name="Picture 57"/>
            <p:cNvPicPr>
              <a:picLocks noChangeAspect="1" noChangeArrowheads="1"/>
            </p:cNvPicPr>
            <p:nvPr/>
          </p:nvPicPr>
          <p:blipFill rotWithShape="1">
            <a:blip r:embed="rId3">
              <a:extLst>
                <a:ext uri="{28A0092B-C50C-407E-A947-70E740481C1C}">
                  <a14:useLocalDpi xmlns:a14="http://schemas.microsoft.com/office/drawing/2010/main" val="0"/>
                </a:ext>
              </a:extLst>
            </a:blip>
            <a:srcRect b="25312"/>
            <a:stretch/>
          </p:blipFill>
          <p:spPr bwMode="auto">
            <a:xfrm>
              <a:off x="1825" y="795"/>
              <a:ext cx="1735" cy="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1570" name="Group 32"/>
            <p:cNvGrpSpPr>
              <a:grpSpLocks/>
            </p:cNvGrpSpPr>
            <p:nvPr/>
          </p:nvGrpSpPr>
          <p:grpSpPr bwMode="auto">
            <a:xfrm>
              <a:off x="3837" y="754"/>
              <a:ext cx="1142" cy="1457"/>
              <a:chOff x="3168" y="1200"/>
              <a:chExt cx="1002" cy="1313"/>
            </a:xfrm>
          </p:grpSpPr>
          <p:grpSp>
            <p:nvGrpSpPr>
              <p:cNvPr id="151573" name="Group 33"/>
              <p:cNvGrpSpPr>
                <a:grpSpLocks/>
              </p:cNvGrpSpPr>
              <p:nvPr/>
            </p:nvGrpSpPr>
            <p:grpSpPr bwMode="auto">
              <a:xfrm>
                <a:off x="3168" y="1368"/>
                <a:ext cx="960" cy="678"/>
                <a:chOff x="3264" y="1122"/>
                <a:chExt cx="960" cy="678"/>
              </a:xfrm>
            </p:grpSpPr>
            <p:sp>
              <p:nvSpPr>
                <p:cNvPr id="151579" name="Rectangle 34"/>
                <p:cNvSpPr>
                  <a:spLocks noChangeArrowheads="1"/>
                </p:cNvSpPr>
                <p:nvPr/>
              </p:nvSpPr>
              <p:spPr bwMode="auto">
                <a:xfrm>
                  <a:off x="3264" y="1152"/>
                  <a:ext cx="960" cy="6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80" name="AutoShape 35"/>
                <p:cNvSpPr>
                  <a:spLocks noChangeArrowheads="1"/>
                </p:cNvSpPr>
                <p:nvPr/>
              </p:nvSpPr>
              <p:spPr bwMode="auto">
                <a:xfrm>
                  <a:off x="3408" y="1392"/>
                  <a:ext cx="192" cy="192"/>
                </a:xfrm>
                <a:prstGeom prst="flowChartMerge">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81" name="Line 36"/>
                <p:cNvSpPr>
                  <a:spLocks noChangeShapeType="1"/>
                </p:cNvSpPr>
                <p:nvPr/>
              </p:nvSpPr>
              <p:spPr bwMode="auto">
                <a:xfrm>
                  <a:off x="3426" y="158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2" name="Line 37"/>
                <p:cNvSpPr>
                  <a:spLocks noChangeShapeType="1"/>
                </p:cNvSpPr>
                <p:nvPr/>
              </p:nvSpPr>
              <p:spPr bwMode="auto">
                <a:xfrm flipV="1">
                  <a:off x="3504" y="115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3" name="Line 38"/>
                <p:cNvSpPr>
                  <a:spLocks noChangeShapeType="1"/>
                </p:cNvSpPr>
                <p:nvPr/>
              </p:nvSpPr>
              <p:spPr bwMode="auto">
                <a:xfrm flipV="1">
                  <a:off x="3504" y="158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4" name="Line 39"/>
                <p:cNvSpPr>
                  <a:spLocks noChangeShapeType="1"/>
                </p:cNvSpPr>
                <p:nvPr/>
              </p:nvSpPr>
              <p:spPr bwMode="auto">
                <a:xfrm>
                  <a:off x="3852" y="133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5" name="Line 40"/>
                <p:cNvSpPr>
                  <a:spLocks noChangeShapeType="1"/>
                </p:cNvSpPr>
                <p:nvPr/>
              </p:nvSpPr>
              <p:spPr bwMode="auto">
                <a:xfrm flipV="1">
                  <a:off x="3852" y="1326"/>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6" name="Line 41"/>
                <p:cNvSpPr>
                  <a:spLocks noChangeShapeType="1"/>
                </p:cNvSpPr>
                <p:nvPr/>
              </p:nvSpPr>
              <p:spPr bwMode="auto">
                <a:xfrm rot="-1196941">
                  <a:off x="3870" y="1488"/>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7" name="Line 42"/>
                <p:cNvSpPr>
                  <a:spLocks noChangeShapeType="1"/>
                </p:cNvSpPr>
                <p:nvPr/>
              </p:nvSpPr>
              <p:spPr bwMode="auto">
                <a:xfrm flipV="1">
                  <a:off x="3984" y="115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8" name="Line 43"/>
                <p:cNvSpPr>
                  <a:spLocks noChangeShapeType="1"/>
                </p:cNvSpPr>
                <p:nvPr/>
              </p:nvSpPr>
              <p:spPr bwMode="auto">
                <a:xfrm>
                  <a:off x="4002" y="158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89" name="Oval 44"/>
                <p:cNvSpPr>
                  <a:spLocks noChangeArrowheads="1"/>
                </p:cNvSpPr>
                <p:nvPr/>
              </p:nvSpPr>
              <p:spPr bwMode="auto">
                <a:xfrm>
                  <a:off x="3480" y="112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90" name="Oval 45"/>
                <p:cNvSpPr>
                  <a:spLocks noChangeArrowheads="1"/>
                </p:cNvSpPr>
                <p:nvPr/>
              </p:nvSpPr>
              <p:spPr bwMode="auto">
                <a:xfrm>
                  <a:off x="3480" y="17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91" name="Oval 46"/>
                <p:cNvSpPr>
                  <a:spLocks noChangeArrowheads="1"/>
                </p:cNvSpPr>
                <p:nvPr/>
              </p:nvSpPr>
              <p:spPr bwMode="auto">
                <a:xfrm>
                  <a:off x="3978" y="17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92" name="Oval 47"/>
                <p:cNvSpPr>
                  <a:spLocks noChangeArrowheads="1"/>
                </p:cNvSpPr>
                <p:nvPr/>
              </p:nvSpPr>
              <p:spPr bwMode="auto">
                <a:xfrm>
                  <a:off x="3966" y="112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1593" name="Line 48"/>
                <p:cNvSpPr>
                  <a:spLocks noChangeShapeType="1"/>
                </p:cNvSpPr>
                <p:nvPr/>
              </p:nvSpPr>
              <p:spPr bwMode="auto">
                <a:xfrm>
                  <a:off x="3696" y="1440"/>
                  <a:ext cx="14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94" name="Line 49"/>
                <p:cNvSpPr>
                  <a:spLocks noChangeShapeType="1"/>
                </p:cNvSpPr>
                <p:nvPr/>
              </p:nvSpPr>
              <p:spPr bwMode="auto">
                <a:xfrm>
                  <a:off x="3696" y="144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1595" name="Line 50"/>
                <p:cNvSpPr>
                  <a:spLocks noChangeShapeType="1"/>
                </p:cNvSpPr>
                <p:nvPr/>
              </p:nvSpPr>
              <p:spPr bwMode="auto">
                <a:xfrm flipH="1" flipV="1">
                  <a:off x="3600" y="1440"/>
                  <a:ext cx="14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1574" name="Text Box 51"/>
              <p:cNvSpPr txBox="1">
                <a:spLocks noChangeArrowheads="1"/>
              </p:cNvSpPr>
              <p:nvPr/>
            </p:nvSpPr>
            <p:spPr bwMode="auto">
              <a:xfrm>
                <a:off x="3314" y="1200"/>
                <a:ext cx="174" cy="17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A</a:t>
                </a:r>
              </a:p>
            </p:txBody>
          </p:sp>
          <p:sp>
            <p:nvSpPr>
              <p:cNvPr id="151575" name="Text Box 52"/>
              <p:cNvSpPr txBox="1">
                <a:spLocks noChangeArrowheads="1"/>
              </p:cNvSpPr>
              <p:nvPr/>
            </p:nvSpPr>
            <p:spPr bwMode="auto">
              <a:xfrm>
                <a:off x="3322" y="2010"/>
                <a:ext cx="174" cy="17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K</a:t>
                </a:r>
              </a:p>
            </p:txBody>
          </p:sp>
          <p:sp>
            <p:nvSpPr>
              <p:cNvPr id="151576" name="Text Box 53"/>
              <p:cNvSpPr txBox="1">
                <a:spLocks noChangeArrowheads="1"/>
              </p:cNvSpPr>
              <p:nvPr/>
            </p:nvSpPr>
            <p:spPr bwMode="auto">
              <a:xfrm>
                <a:off x="3826" y="2010"/>
                <a:ext cx="163" cy="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E</a:t>
                </a:r>
              </a:p>
            </p:txBody>
          </p:sp>
          <p:sp>
            <p:nvSpPr>
              <p:cNvPr id="151577" name="Text Box 54"/>
              <p:cNvSpPr txBox="1">
                <a:spLocks noChangeArrowheads="1"/>
              </p:cNvSpPr>
              <p:nvPr/>
            </p:nvSpPr>
            <p:spPr bwMode="auto">
              <a:xfrm>
                <a:off x="3804" y="1206"/>
                <a:ext cx="172" cy="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C</a:t>
                </a:r>
              </a:p>
            </p:txBody>
          </p:sp>
          <p:sp>
            <p:nvSpPr>
              <p:cNvPr id="151578" name="Text Box 55"/>
              <p:cNvSpPr txBox="1">
                <a:spLocks noChangeArrowheads="1"/>
              </p:cNvSpPr>
              <p:nvPr/>
            </p:nvSpPr>
            <p:spPr bwMode="auto">
              <a:xfrm>
                <a:off x="3216" y="2337"/>
                <a:ext cx="954" cy="17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a:latin typeface="Times New Roman" pitchFamily="18" charset="0"/>
                    <a:cs typeface="Times New Roman" pitchFamily="18" charset="0"/>
                  </a:rPr>
                  <a:t>( Ký hiệu trên mạch</a:t>
                </a:r>
                <a:r>
                  <a:rPr lang="ko-KR" altLang="en-US" sz="1400">
                    <a:latin typeface="Times New Roman" pitchFamily="18" charset="0"/>
                    <a:cs typeface="Times New Roman" pitchFamily="18" charset="0"/>
                  </a:rPr>
                  <a:t> </a:t>
                </a:r>
                <a:r>
                  <a:rPr lang="en-US" altLang="ko-KR" sz="1400">
                    <a:latin typeface="Times New Roman" pitchFamily="18" charset="0"/>
                    <a:cs typeface="Times New Roman" pitchFamily="18" charset="0"/>
                  </a:rPr>
                  <a:t>)</a:t>
                </a:r>
              </a:p>
            </p:txBody>
          </p:sp>
        </p:grpSp>
        <p:pic>
          <p:nvPicPr>
            <p:cNvPr id="151571"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 y="754"/>
              <a:ext cx="1231"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1559" name="Text Box 55"/>
          <p:cNvSpPr txBox="1">
            <a:spLocks noChangeArrowheads="1"/>
          </p:cNvSpPr>
          <p:nvPr/>
        </p:nvSpPr>
        <p:spPr bwMode="auto">
          <a:xfrm>
            <a:off x="3388246" y="2980184"/>
            <a:ext cx="2219325"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(b) Cấu thành của Photo Coupler</a:t>
            </a:r>
          </a:p>
        </p:txBody>
      </p:sp>
      <p:sp>
        <p:nvSpPr>
          <p:cNvPr id="151560" name="Text Box 55"/>
          <p:cNvSpPr txBox="1">
            <a:spLocks noChangeArrowheads="1"/>
          </p:cNvSpPr>
          <p:nvPr/>
        </p:nvSpPr>
        <p:spPr bwMode="auto">
          <a:xfrm>
            <a:off x="1042988" y="2993107"/>
            <a:ext cx="2065337"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 Cấu tạo của Photo Coupler</a:t>
            </a:r>
          </a:p>
        </p:txBody>
      </p:sp>
      <p:sp>
        <p:nvSpPr>
          <p:cNvPr id="151561" name="Text Box 55"/>
          <p:cNvSpPr txBox="1">
            <a:spLocks noChangeArrowheads="1"/>
          </p:cNvSpPr>
          <p:nvPr/>
        </p:nvSpPr>
        <p:spPr bwMode="auto">
          <a:xfrm>
            <a:off x="903288" y="2708945"/>
            <a:ext cx="1004887" cy="277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Collector (C)</a:t>
            </a:r>
          </a:p>
        </p:txBody>
      </p:sp>
      <p:sp>
        <p:nvSpPr>
          <p:cNvPr id="151562" name="Text Box 55"/>
          <p:cNvSpPr txBox="1">
            <a:spLocks noChangeArrowheads="1"/>
          </p:cNvSpPr>
          <p:nvPr/>
        </p:nvSpPr>
        <p:spPr bwMode="auto">
          <a:xfrm>
            <a:off x="1979613" y="2720057"/>
            <a:ext cx="88582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Emitter (E)</a:t>
            </a:r>
          </a:p>
        </p:txBody>
      </p:sp>
      <p:sp>
        <p:nvSpPr>
          <p:cNvPr id="151563" name="Text Box 55"/>
          <p:cNvSpPr txBox="1">
            <a:spLocks noChangeArrowheads="1"/>
          </p:cNvSpPr>
          <p:nvPr/>
        </p:nvSpPr>
        <p:spPr bwMode="auto">
          <a:xfrm>
            <a:off x="2124075" y="1197645"/>
            <a:ext cx="492125"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Kính</a:t>
            </a:r>
          </a:p>
        </p:txBody>
      </p:sp>
      <p:sp>
        <p:nvSpPr>
          <p:cNvPr id="151564" name="Text Box 55"/>
          <p:cNvSpPr txBox="1">
            <a:spLocks noChangeArrowheads="1"/>
          </p:cNvSpPr>
          <p:nvPr/>
        </p:nvSpPr>
        <p:spPr bwMode="auto">
          <a:xfrm>
            <a:off x="733425" y="908720"/>
            <a:ext cx="958850" cy="277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Kathode (K)</a:t>
            </a:r>
          </a:p>
        </p:txBody>
      </p:sp>
      <p:sp>
        <p:nvSpPr>
          <p:cNvPr id="151565" name="Text Box 55"/>
          <p:cNvSpPr txBox="1">
            <a:spLocks noChangeArrowheads="1"/>
          </p:cNvSpPr>
          <p:nvPr/>
        </p:nvSpPr>
        <p:spPr bwMode="auto">
          <a:xfrm>
            <a:off x="1692275" y="942057"/>
            <a:ext cx="846138"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Anode (A)</a:t>
            </a:r>
          </a:p>
        </p:txBody>
      </p:sp>
      <p:sp>
        <p:nvSpPr>
          <p:cNvPr id="151566" name="Text Box 55"/>
          <p:cNvSpPr txBox="1">
            <a:spLocks noChangeArrowheads="1"/>
          </p:cNvSpPr>
          <p:nvPr/>
        </p:nvSpPr>
        <p:spPr bwMode="auto">
          <a:xfrm>
            <a:off x="3400822" y="1535637"/>
            <a:ext cx="514102" cy="8679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endParaRPr lang="en-US" altLang="ko-KR" sz="700" smtClean="0">
              <a:latin typeface="Times New Roman" pitchFamily="18" charset="0"/>
              <a:cs typeface="Times New Roman" pitchFamily="18" charset="0"/>
            </a:endParaRPr>
          </a:p>
          <a:p>
            <a:pPr algn="ctr" eaLnBrk="1" hangingPunct="1"/>
            <a:r>
              <a:rPr lang="en-US" altLang="ko-KR" sz="700" smtClean="0">
                <a:latin typeface="Times New Roman" pitchFamily="18" charset="0"/>
                <a:cs typeface="Times New Roman" pitchFamily="18" charset="0"/>
              </a:rPr>
              <a:t>Phần</a:t>
            </a:r>
            <a:endParaRPr lang="en-US" altLang="ko-KR" sz="700">
              <a:latin typeface="Times New Roman" pitchFamily="18" charset="0"/>
              <a:cs typeface="Times New Roman" pitchFamily="18" charset="0"/>
            </a:endParaRPr>
          </a:p>
          <a:p>
            <a:pPr algn="ctr" eaLnBrk="1" hangingPunct="1"/>
            <a:r>
              <a:rPr lang="en-US" altLang="ko-KR" sz="700">
                <a:latin typeface="Times New Roman" pitchFamily="18" charset="0"/>
                <a:cs typeface="Times New Roman" pitchFamily="18" charset="0"/>
              </a:rPr>
              <a:t>Tử</a:t>
            </a:r>
          </a:p>
          <a:p>
            <a:pPr algn="ctr" eaLnBrk="1" hangingPunct="1"/>
            <a:r>
              <a:rPr lang="en-US" altLang="ko-KR" sz="700">
                <a:latin typeface="Times New Roman" pitchFamily="18" charset="0"/>
                <a:cs typeface="Times New Roman" pitchFamily="18" charset="0"/>
              </a:rPr>
              <a:t>Phát</a:t>
            </a:r>
          </a:p>
          <a:p>
            <a:pPr algn="ctr" eaLnBrk="1" hangingPunct="1"/>
            <a:r>
              <a:rPr lang="en-US" altLang="ko-KR" sz="700" smtClean="0">
                <a:latin typeface="Times New Roman" pitchFamily="18" charset="0"/>
                <a:cs typeface="Times New Roman" pitchFamily="18" charset="0"/>
              </a:rPr>
              <a:t>Quang</a:t>
            </a:r>
          </a:p>
          <a:p>
            <a:pPr eaLnBrk="1" hangingPunct="1"/>
            <a:endParaRPr lang="en-US" altLang="ko-KR" sz="700">
              <a:latin typeface="Times New Roman" pitchFamily="18" charset="0"/>
              <a:cs typeface="Times New Roman" pitchFamily="18" charset="0"/>
            </a:endParaRPr>
          </a:p>
        </p:txBody>
      </p:sp>
      <p:sp>
        <p:nvSpPr>
          <p:cNvPr id="151567" name="Text Box 55"/>
          <p:cNvSpPr txBox="1">
            <a:spLocks noChangeArrowheads="1"/>
          </p:cNvSpPr>
          <p:nvPr/>
        </p:nvSpPr>
        <p:spPr bwMode="auto">
          <a:xfrm>
            <a:off x="5141911" y="1600861"/>
            <a:ext cx="388665" cy="525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600">
                <a:latin typeface="Times New Roman" pitchFamily="18" charset="0"/>
                <a:cs typeface="Times New Roman" pitchFamily="18" charset="0"/>
              </a:rPr>
              <a:t>Phần</a:t>
            </a:r>
          </a:p>
          <a:p>
            <a:pPr algn="ctr" eaLnBrk="1" hangingPunct="1"/>
            <a:r>
              <a:rPr lang="en-US" altLang="ko-KR" sz="600">
                <a:latin typeface="Times New Roman" pitchFamily="18" charset="0"/>
                <a:cs typeface="Times New Roman" pitchFamily="18" charset="0"/>
              </a:rPr>
              <a:t>Tử</a:t>
            </a:r>
          </a:p>
          <a:p>
            <a:pPr algn="ctr" eaLnBrk="1" hangingPunct="1"/>
            <a:r>
              <a:rPr lang="en-US" altLang="ko-KR" sz="600">
                <a:latin typeface="Times New Roman" pitchFamily="18" charset="0"/>
                <a:cs typeface="Times New Roman" pitchFamily="18" charset="0"/>
              </a:rPr>
              <a:t>Thu</a:t>
            </a:r>
          </a:p>
          <a:p>
            <a:pPr algn="ctr" eaLnBrk="1" hangingPunct="1"/>
            <a:r>
              <a:rPr lang="en-US" altLang="ko-KR" sz="600">
                <a:latin typeface="Times New Roman" pitchFamily="18" charset="0"/>
                <a:cs typeface="Times New Roman" pitchFamily="18" charset="0"/>
              </a:rPr>
              <a:t>Quang</a:t>
            </a:r>
          </a:p>
        </p:txBody>
      </p:sp>
      <p:sp>
        <p:nvSpPr>
          <p:cNvPr id="151568" name="Text Box 55"/>
          <p:cNvSpPr txBox="1">
            <a:spLocks noChangeArrowheads="1"/>
          </p:cNvSpPr>
          <p:nvPr/>
        </p:nvSpPr>
        <p:spPr bwMode="auto">
          <a:xfrm>
            <a:off x="3103265" y="1743348"/>
            <a:ext cx="352425" cy="4688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Đầu </a:t>
            </a:r>
            <a:r>
              <a:rPr lang="en-US" altLang="ko-KR" sz="700" smtClean="0">
                <a:latin typeface="Times New Roman" pitchFamily="18" charset="0"/>
                <a:cs typeface="Times New Roman" pitchFamily="18" charset="0"/>
              </a:rPr>
              <a:t>vào</a:t>
            </a:r>
          </a:p>
          <a:p>
            <a:pPr eaLnBrk="1" hangingPunct="1"/>
            <a:endParaRPr lang="en-US" altLang="ko-KR" sz="700">
              <a:latin typeface="Times New Roman" pitchFamily="18" charset="0"/>
              <a:cs typeface="Times New Roman" pitchFamily="18" charset="0"/>
            </a:endParaRPr>
          </a:p>
        </p:txBody>
      </p:sp>
      <p:sp>
        <p:nvSpPr>
          <p:cNvPr id="151569" name="Text Box 55"/>
          <p:cNvSpPr txBox="1">
            <a:spLocks noChangeArrowheads="1"/>
          </p:cNvSpPr>
          <p:nvPr/>
        </p:nvSpPr>
        <p:spPr bwMode="auto">
          <a:xfrm>
            <a:off x="5530576" y="1785641"/>
            <a:ext cx="401192" cy="3508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700">
                <a:latin typeface="Times New Roman" pitchFamily="18" charset="0"/>
                <a:cs typeface="Times New Roman" pitchFamily="18" charset="0"/>
              </a:rPr>
              <a:t>Đầu ra</a:t>
            </a:r>
          </a:p>
        </p:txBody>
      </p:sp>
      <p:sp>
        <p:nvSpPr>
          <p:cNvPr id="2" name="Rectangle 1"/>
          <p:cNvSpPr/>
          <p:nvPr/>
        </p:nvSpPr>
        <p:spPr bwMode="auto">
          <a:xfrm>
            <a:off x="5141911" y="2156152"/>
            <a:ext cx="294185" cy="220391"/>
          </a:xfrm>
          <a:prstGeom prst="rect">
            <a:avLst/>
          </a:prstGeom>
          <a:solidFill>
            <a:schemeClr val="bg1"/>
          </a:solidFill>
          <a:ln w="9525" cap="flat" cmpd="sng" algn="ctr">
            <a:solidFill>
              <a:schemeClr val="bg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20000"/>
              </a:lnSpc>
              <a:spcBef>
                <a:spcPct val="0"/>
              </a:spcBef>
              <a:spcAft>
                <a:spcPct val="0"/>
              </a:spcAft>
              <a:buClrTx/>
              <a:buSzTx/>
              <a:buFontTx/>
              <a:buNone/>
              <a:tabLst/>
            </a:pPr>
            <a:endParaRPr kumimoji="1" lang="ko-KR" altLang="en-US" sz="1200" b="0" i="0" u="none" strike="noStrike" cap="none" normalizeH="0" baseline="0" smtClean="0">
              <a:ln>
                <a:noFill/>
              </a:ln>
              <a:solidFill>
                <a:schemeClr val="tx1"/>
              </a:solidFill>
              <a:effectLst/>
              <a:latin typeface="굴림" pitchFamily="50" charset="-127"/>
              <a:ea typeface="굴림" pitchFamily="50" charset="-127"/>
            </a:endParaRPr>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E42090C-C7B8-4C26-A90F-74219492E348}" type="slidenum">
              <a:rPr lang="en-US" altLang="ko-KR" sz="1400" smtClean="0">
                <a:latin typeface="Times New Roman" pitchFamily="18" charset="0"/>
                <a:cs typeface="Times New Roman" pitchFamily="18" charset="0"/>
              </a:rPr>
              <a:pPr eaLnBrk="1" hangingPunct="1"/>
              <a:t>144</a:t>
            </a:fld>
            <a:endParaRPr lang="en-US" altLang="ko-KR" sz="1400" smtClean="0">
              <a:latin typeface="Times New Roman" pitchFamily="18" charset="0"/>
              <a:cs typeface="Times New Roman" pitchFamily="18" charset="0"/>
            </a:endParaRPr>
          </a:p>
        </p:txBody>
      </p:sp>
      <p:sp>
        <p:nvSpPr>
          <p:cNvPr id="152579"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52580"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Đo Photo Coupler</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52581"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5258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613" y="1841500"/>
            <a:ext cx="679450"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413" y="1833563"/>
            <a:ext cx="598487"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4"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852738"/>
            <a:ext cx="973137"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5"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7125" y="2892425"/>
            <a:ext cx="87788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6" name="Text Box 9"/>
          <p:cNvSpPr txBox="1">
            <a:spLocks noChangeArrowheads="1"/>
          </p:cNvSpPr>
          <p:nvPr/>
        </p:nvSpPr>
        <p:spPr bwMode="auto">
          <a:xfrm>
            <a:off x="2627313" y="2060575"/>
            <a:ext cx="6445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PC817</a:t>
            </a:r>
          </a:p>
        </p:txBody>
      </p:sp>
      <p:sp>
        <p:nvSpPr>
          <p:cNvPr id="152587" name="Text Box 10"/>
          <p:cNvSpPr txBox="1">
            <a:spLocks noChangeArrowheads="1"/>
          </p:cNvSpPr>
          <p:nvPr/>
        </p:nvSpPr>
        <p:spPr bwMode="auto">
          <a:xfrm>
            <a:off x="3346450" y="3124200"/>
            <a:ext cx="6445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PC827</a:t>
            </a:r>
          </a:p>
        </p:txBody>
      </p:sp>
      <p:sp>
        <p:nvSpPr>
          <p:cNvPr id="152588" name="Text Box 11"/>
          <p:cNvSpPr txBox="1">
            <a:spLocks noChangeArrowheads="1"/>
          </p:cNvSpPr>
          <p:nvPr/>
        </p:nvSpPr>
        <p:spPr bwMode="auto">
          <a:xfrm>
            <a:off x="1331913" y="1484313"/>
            <a:ext cx="1643062"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 Sắp đặt bề ngoài và</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Pin </a:t>
            </a:r>
            <a:endParaRPr lang="ko-KR" altLang="en-US" sz="1000" b="1">
              <a:latin typeface="Times New Roman" pitchFamily="18" charset="0"/>
              <a:cs typeface="Times New Roman" pitchFamily="18" charset="0"/>
            </a:endParaRPr>
          </a:p>
        </p:txBody>
      </p:sp>
      <p:pic>
        <p:nvPicPr>
          <p:cNvPr id="15258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3644900"/>
            <a:ext cx="5984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90" name="Picture 1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801102">
            <a:off x="6732588" y="2924175"/>
            <a:ext cx="1228725" cy="329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591" name="Line 14"/>
          <p:cNvSpPr>
            <a:spLocks noChangeShapeType="1"/>
          </p:cNvSpPr>
          <p:nvPr/>
        </p:nvSpPr>
        <p:spPr bwMode="auto">
          <a:xfrm flipH="1" flipV="1">
            <a:off x="5724525" y="4508500"/>
            <a:ext cx="503238" cy="12255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52592" name="Freeform 15"/>
          <p:cNvSpPr>
            <a:spLocks/>
          </p:cNvSpPr>
          <p:nvPr/>
        </p:nvSpPr>
        <p:spPr bwMode="auto">
          <a:xfrm>
            <a:off x="5508625" y="4508500"/>
            <a:ext cx="1439863" cy="1584325"/>
          </a:xfrm>
          <a:custGeom>
            <a:avLst/>
            <a:gdLst>
              <a:gd name="T0" fmla="*/ 2147483647 w 907"/>
              <a:gd name="T1" fmla="*/ 2147483647 h 998"/>
              <a:gd name="T2" fmla="*/ 2147483647 w 907"/>
              <a:gd name="T3" fmla="*/ 2147483647 h 998"/>
              <a:gd name="T4" fmla="*/ 0 w 907"/>
              <a:gd name="T5" fmla="*/ 0 h 998"/>
              <a:gd name="T6" fmla="*/ 0 60000 65536"/>
              <a:gd name="T7" fmla="*/ 0 60000 65536"/>
              <a:gd name="T8" fmla="*/ 0 60000 65536"/>
            </a:gdLst>
            <a:ahLst/>
            <a:cxnLst>
              <a:cxn ang="T6">
                <a:pos x="T0" y="T1"/>
              </a:cxn>
              <a:cxn ang="T7">
                <a:pos x="T2" y="T3"/>
              </a:cxn>
              <a:cxn ang="T8">
                <a:pos x="T4" y="T5"/>
              </a:cxn>
            </a:cxnLst>
            <a:rect l="0" t="0" r="r" b="b"/>
            <a:pathLst>
              <a:path w="907" h="998">
                <a:moveTo>
                  <a:pt x="907" y="998"/>
                </a:moveTo>
                <a:lnTo>
                  <a:pt x="181" y="908"/>
                </a:lnTo>
                <a:lnTo>
                  <a:pt x="0"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pic>
        <p:nvPicPr>
          <p:cNvPr id="152593"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7775" y="620713"/>
            <a:ext cx="973138"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594" name="Line 18"/>
          <p:cNvSpPr>
            <a:spLocks noChangeShapeType="1"/>
          </p:cNvSpPr>
          <p:nvPr/>
        </p:nvSpPr>
        <p:spPr bwMode="auto">
          <a:xfrm>
            <a:off x="5219700" y="3429000"/>
            <a:ext cx="21590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52595" name="Line 19"/>
          <p:cNvSpPr>
            <a:spLocks noChangeShapeType="1"/>
          </p:cNvSpPr>
          <p:nvPr/>
        </p:nvSpPr>
        <p:spPr bwMode="auto">
          <a:xfrm flipH="1">
            <a:off x="5724525" y="3429000"/>
            <a:ext cx="142875"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52596" name="Text Box 20"/>
          <p:cNvSpPr txBox="1">
            <a:spLocks noChangeArrowheads="1"/>
          </p:cNvSpPr>
          <p:nvPr/>
        </p:nvSpPr>
        <p:spPr bwMode="auto">
          <a:xfrm>
            <a:off x="1166813" y="4275138"/>
            <a:ext cx="4052887" cy="164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① Chọn 2 người một đội Test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chuẩn bị 2 máy đo.</a:t>
            </a:r>
          </a:p>
          <a:p>
            <a:pPr eaLnBrk="1" hangingPunct="1"/>
            <a:r>
              <a:rPr lang="en-US" altLang="ko-KR">
                <a:latin typeface="Times New Roman" pitchFamily="18" charset="0"/>
                <a:cs typeface="Times New Roman" pitchFamily="18" charset="0"/>
              </a:rPr>
              <a:t>② 1</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người đo điện trở giữa E-C của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Photo Transistor bằng Mode đo điện trở. (thường đo được số</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MΩ)</a:t>
            </a:r>
          </a:p>
          <a:p>
            <a:pPr eaLnBrk="1" hangingPunct="1"/>
            <a:r>
              <a:rPr lang="en-US" altLang="ko-KR">
                <a:latin typeface="Times New Roman" pitchFamily="18" charset="0"/>
                <a:cs typeface="Times New Roman" pitchFamily="18" charset="0"/>
              </a:rPr>
              <a:t>③ 1</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người đo phía LED bằng Mode đo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Diode.</a:t>
            </a:r>
          </a:p>
          <a:p>
            <a:pPr eaLnBrk="1" hangingPunct="1"/>
            <a:r>
              <a:rPr lang="en-US" altLang="ko-KR">
                <a:latin typeface="Times New Roman" pitchFamily="18" charset="0"/>
                <a:cs typeface="Times New Roman" pitchFamily="18" charset="0"/>
              </a:rPr>
              <a:t>    (Khi xuôi chiều thường đo được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1.4V)</a:t>
            </a:r>
          </a:p>
          <a:p>
            <a:pPr eaLnBrk="1" hangingPunct="1"/>
            <a:r>
              <a:rPr lang="en-US" altLang="ko-KR">
                <a:latin typeface="Times New Roman" pitchFamily="18" charset="0"/>
                <a:cs typeface="Times New Roman" pitchFamily="18" charset="0"/>
              </a:rPr>
              <a:t>④ Khi đi xuôi chiều</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giá trị điện trở Photo Transistor</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mà thấp dưới đơn vị</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kΩ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bình thường.</a:t>
            </a:r>
          </a:p>
        </p:txBody>
      </p:sp>
      <p:pic>
        <p:nvPicPr>
          <p:cNvPr id="15259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1700213"/>
            <a:ext cx="927100" cy="119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598" name="Text Box 9"/>
          <p:cNvSpPr txBox="1">
            <a:spLocks noChangeArrowheads="1"/>
          </p:cNvSpPr>
          <p:nvPr/>
        </p:nvSpPr>
        <p:spPr bwMode="auto">
          <a:xfrm>
            <a:off x="4402138" y="2052638"/>
            <a:ext cx="500062"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4n33</a:t>
            </a:r>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A9B1AE4-D11E-4CCB-8E9B-02DEDEDD480D}" type="slidenum">
              <a:rPr lang="en-US" altLang="ko-KR" sz="1400" smtClean="0">
                <a:latin typeface="Times New Roman" pitchFamily="18" charset="0"/>
                <a:cs typeface="Times New Roman" pitchFamily="18" charset="0"/>
              </a:rPr>
              <a:pPr eaLnBrk="1" hangingPunct="1"/>
              <a:t>145</a:t>
            </a:fld>
            <a:endParaRPr lang="en-US" altLang="ko-KR" sz="1400" smtClean="0">
              <a:latin typeface="Times New Roman" pitchFamily="18" charset="0"/>
              <a:cs typeface="Times New Roman" pitchFamily="18" charset="0"/>
            </a:endParaRPr>
          </a:p>
        </p:txBody>
      </p:sp>
      <p:sp>
        <p:nvSpPr>
          <p:cNvPr id="153603"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Thực hành với Photo Coupler</a:t>
            </a:r>
            <a:endParaRPr lang="ko-KR" altLang="en-US">
              <a:latin typeface="Times New Roman" pitchFamily="18" charset="0"/>
              <a:cs typeface="Times New Roman" pitchFamily="18" charset="0"/>
            </a:endParaRPr>
          </a:p>
        </p:txBody>
      </p:sp>
      <p:grpSp>
        <p:nvGrpSpPr>
          <p:cNvPr id="153604" name="그룹 78"/>
          <p:cNvGrpSpPr>
            <a:grpSpLocks/>
          </p:cNvGrpSpPr>
          <p:nvPr/>
        </p:nvGrpSpPr>
        <p:grpSpPr bwMode="auto">
          <a:xfrm>
            <a:off x="2825750" y="1500188"/>
            <a:ext cx="3492500" cy="2649537"/>
            <a:chOff x="2826140" y="1499783"/>
            <a:chExt cx="3491720" cy="2649297"/>
          </a:xfrm>
        </p:grpSpPr>
        <p:sp>
          <p:nvSpPr>
            <p:cNvPr id="153607" name="Freeform 23"/>
            <p:cNvSpPr>
              <a:spLocks/>
            </p:cNvSpPr>
            <p:nvPr/>
          </p:nvSpPr>
          <p:spPr bwMode="auto">
            <a:xfrm rot="5400000">
              <a:off x="3654976" y="2022085"/>
              <a:ext cx="289699" cy="177562"/>
            </a:xfrm>
            <a:custGeom>
              <a:avLst/>
              <a:gdLst>
                <a:gd name="T0" fmla="*/ 0 w 317"/>
                <a:gd name="T1" fmla="*/ 2147483647 h 181"/>
                <a:gd name="T2" fmla="*/ 2147483647 w 317"/>
                <a:gd name="T3" fmla="*/ 0 h 181"/>
                <a:gd name="T4" fmla="*/ 2147483647 w 317"/>
                <a:gd name="T5" fmla="*/ 2147483647 h 181"/>
                <a:gd name="T6" fmla="*/ 2147483647 w 317"/>
                <a:gd name="T7" fmla="*/ 0 h 181"/>
                <a:gd name="T8" fmla="*/ 2147483647 w 317"/>
                <a:gd name="T9" fmla="*/ 2147483647 h 181"/>
                <a:gd name="T10" fmla="*/ 2147483647 w 317"/>
                <a:gd name="T11" fmla="*/ 0 h 181"/>
                <a:gd name="T12" fmla="*/ 2147483647 w 317"/>
                <a:gd name="T13" fmla="*/ 2147483647 h 181"/>
                <a:gd name="T14" fmla="*/ 2147483647 w 31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cxnSp>
          <p:nvCxnSpPr>
            <p:cNvPr id="153608" name="AutoShape 24"/>
            <p:cNvCxnSpPr>
              <a:cxnSpLocks noChangeShapeType="1"/>
              <a:stCxn id="153607" idx="0"/>
            </p:cNvCxnSpPr>
            <p:nvPr/>
          </p:nvCxnSpPr>
          <p:spPr bwMode="auto">
            <a:xfrm flipH="1" flipV="1">
              <a:off x="3797995" y="1724299"/>
              <a:ext cx="1831" cy="24443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3609" name="Group 25"/>
            <p:cNvGrpSpPr>
              <a:grpSpLocks/>
            </p:cNvGrpSpPr>
            <p:nvPr/>
          </p:nvGrpSpPr>
          <p:grpSpPr bwMode="auto">
            <a:xfrm rot="5400000">
              <a:off x="4196039" y="2452335"/>
              <a:ext cx="148471" cy="302039"/>
              <a:chOff x="2835" y="1389"/>
              <a:chExt cx="117" cy="155"/>
            </a:xfrm>
          </p:grpSpPr>
          <p:sp>
            <p:nvSpPr>
              <p:cNvPr id="153648" name="AutoShape 26"/>
              <p:cNvSpPr>
                <a:spLocks noChangeArrowheads="1"/>
              </p:cNvSpPr>
              <p:nvPr/>
            </p:nvSpPr>
            <p:spPr bwMode="auto">
              <a:xfrm rot="5400000">
                <a:off x="2815" y="1409"/>
                <a:ext cx="155" cy="11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3649" name="Line 27"/>
              <p:cNvSpPr>
                <a:spLocks noChangeShapeType="1"/>
              </p:cNvSpPr>
              <p:nvPr/>
            </p:nvSpPr>
            <p:spPr bwMode="auto">
              <a:xfrm>
                <a:off x="2951" y="1389"/>
                <a:ext cx="1" cy="1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3610" name="Freeform 28"/>
            <p:cNvSpPr>
              <a:spLocks/>
            </p:cNvSpPr>
            <p:nvPr/>
          </p:nvSpPr>
          <p:spPr bwMode="auto">
            <a:xfrm rot="3463461">
              <a:off x="4494557" y="2560317"/>
              <a:ext cx="173819" cy="89696"/>
            </a:xfrm>
            <a:custGeom>
              <a:avLst/>
              <a:gdLst>
                <a:gd name="T0" fmla="*/ 0 w 182"/>
                <a:gd name="T1" fmla="*/ 2147483647 h 46"/>
                <a:gd name="T2" fmla="*/ 2147483647 w 182"/>
                <a:gd name="T3" fmla="*/ 0 h 46"/>
                <a:gd name="T4" fmla="*/ 2147483647 w 182"/>
                <a:gd name="T5" fmla="*/ 2147483647 h 46"/>
                <a:gd name="T6" fmla="*/ 2147483647 w 182"/>
                <a:gd name="T7" fmla="*/ 0 h 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 h="46">
                  <a:moveTo>
                    <a:pt x="0" y="46"/>
                  </a:moveTo>
                  <a:lnTo>
                    <a:pt x="91" y="0"/>
                  </a:lnTo>
                  <a:lnTo>
                    <a:pt x="91" y="46"/>
                  </a:lnTo>
                  <a:lnTo>
                    <a:pt x="182" y="0"/>
                  </a:lnTo>
                </a:path>
              </a:pathLst>
            </a:custGeom>
            <a:noFill/>
            <a:ln w="9525" cap="flat" cmpd="sng">
              <a:solidFill>
                <a:schemeClr val="tx1"/>
              </a:solidFill>
              <a:prstDash val="solid"/>
              <a:round/>
              <a:headEn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53611" name="Group 29"/>
            <p:cNvGrpSpPr>
              <a:grpSpLocks/>
            </p:cNvGrpSpPr>
            <p:nvPr/>
          </p:nvGrpSpPr>
          <p:grpSpPr bwMode="auto">
            <a:xfrm>
              <a:off x="4775504" y="2486570"/>
              <a:ext cx="265428" cy="229949"/>
              <a:chOff x="3243" y="1344"/>
              <a:chExt cx="136" cy="181"/>
            </a:xfrm>
          </p:grpSpPr>
          <p:sp>
            <p:nvSpPr>
              <p:cNvPr id="153645" name="Line 30"/>
              <p:cNvSpPr>
                <a:spLocks noChangeShapeType="1"/>
              </p:cNvSpPr>
              <p:nvPr/>
            </p:nvSpPr>
            <p:spPr bwMode="auto">
              <a:xfrm>
                <a:off x="3243" y="1344"/>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6" name="Line 31"/>
              <p:cNvSpPr>
                <a:spLocks noChangeShapeType="1"/>
              </p:cNvSpPr>
              <p:nvPr/>
            </p:nvSpPr>
            <p:spPr bwMode="auto">
              <a:xfrm>
                <a:off x="3243" y="1434"/>
                <a:ext cx="136" cy="9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7" name="Line 32"/>
              <p:cNvSpPr>
                <a:spLocks noChangeShapeType="1"/>
              </p:cNvSpPr>
              <p:nvPr/>
            </p:nvSpPr>
            <p:spPr bwMode="auto">
              <a:xfrm flipV="1">
                <a:off x="3243" y="1344"/>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53612" name="AutoShape 33"/>
            <p:cNvCxnSpPr>
              <a:cxnSpLocks noChangeShapeType="1"/>
              <a:stCxn id="153607" idx="7"/>
              <a:endCxn id="153648" idx="3"/>
            </p:cNvCxnSpPr>
            <p:nvPr/>
          </p:nvCxnSpPr>
          <p:spPr bwMode="auto">
            <a:xfrm rot="16200000" flipH="1">
              <a:off x="3898349" y="2159919"/>
              <a:ext cx="273403" cy="468618"/>
            </a:xfrm>
            <a:prstGeom prst="bentConnector3">
              <a:avLst>
                <a:gd name="adj1" fmla="val 4976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13" name="AutoShape 41"/>
            <p:cNvCxnSpPr>
              <a:cxnSpLocks noChangeShapeType="1"/>
              <a:stCxn id="153628" idx="6"/>
              <a:endCxn id="153648" idx="0"/>
            </p:cNvCxnSpPr>
            <p:nvPr/>
          </p:nvCxnSpPr>
          <p:spPr bwMode="auto">
            <a:xfrm flipV="1">
              <a:off x="3779912" y="2675687"/>
              <a:ext cx="489388" cy="99879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3614" name="Group 45"/>
            <p:cNvGrpSpPr>
              <a:grpSpLocks/>
            </p:cNvGrpSpPr>
            <p:nvPr/>
          </p:nvGrpSpPr>
          <p:grpSpPr bwMode="auto">
            <a:xfrm>
              <a:off x="2826140" y="4091140"/>
              <a:ext cx="305700" cy="57940"/>
              <a:chOff x="1519" y="3430"/>
              <a:chExt cx="156" cy="45"/>
            </a:xfrm>
          </p:grpSpPr>
          <p:sp>
            <p:nvSpPr>
              <p:cNvPr id="153641" name="Line 46"/>
              <p:cNvSpPr>
                <a:spLocks noChangeShapeType="1"/>
              </p:cNvSpPr>
              <p:nvPr/>
            </p:nvSpPr>
            <p:spPr bwMode="auto">
              <a:xfrm>
                <a:off x="1539" y="3430"/>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2" name="Line 47"/>
              <p:cNvSpPr>
                <a:spLocks noChangeShapeType="1"/>
              </p:cNvSpPr>
              <p:nvPr/>
            </p:nvSpPr>
            <p:spPr bwMode="auto">
              <a:xfrm flipH="1">
                <a:off x="1565"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3" name="Line 48"/>
              <p:cNvSpPr>
                <a:spLocks noChangeShapeType="1"/>
              </p:cNvSpPr>
              <p:nvPr/>
            </p:nvSpPr>
            <p:spPr bwMode="auto">
              <a:xfrm flipH="1">
                <a:off x="1519"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4" name="Line 49"/>
              <p:cNvSpPr>
                <a:spLocks noChangeShapeType="1"/>
              </p:cNvSpPr>
              <p:nvPr/>
            </p:nvSpPr>
            <p:spPr bwMode="auto">
              <a:xfrm flipH="1">
                <a:off x="1610"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53615" name="AutoShape 50"/>
            <p:cNvCxnSpPr>
              <a:cxnSpLocks noChangeShapeType="1"/>
              <a:endCxn id="153627" idx="2"/>
            </p:cNvCxnSpPr>
            <p:nvPr/>
          </p:nvCxnSpPr>
          <p:spPr bwMode="auto">
            <a:xfrm rot="5400000" flipH="1" flipV="1">
              <a:off x="2980477" y="3692593"/>
              <a:ext cx="416657" cy="38043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616" name="Freeform 51"/>
            <p:cNvSpPr>
              <a:spLocks/>
            </p:cNvSpPr>
            <p:nvPr/>
          </p:nvSpPr>
          <p:spPr bwMode="auto">
            <a:xfrm>
              <a:off x="5040932" y="1744217"/>
              <a:ext cx="442991" cy="763518"/>
            </a:xfrm>
            <a:custGeom>
              <a:avLst/>
              <a:gdLst>
                <a:gd name="T0" fmla="*/ 0 w 227"/>
                <a:gd name="T1" fmla="*/ 2147483647 h 589"/>
                <a:gd name="T2" fmla="*/ 0 w 227"/>
                <a:gd name="T3" fmla="*/ 2147483647 h 589"/>
                <a:gd name="T4" fmla="*/ 2147483647 w 227"/>
                <a:gd name="T5" fmla="*/ 2147483647 h 589"/>
                <a:gd name="T6" fmla="*/ 2147483647 w 227"/>
                <a:gd name="T7" fmla="*/ 0 h 5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7" h="589">
                  <a:moveTo>
                    <a:pt x="0" y="589"/>
                  </a:moveTo>
                  <a:lnTo>
                    <a:pt x="0" y="499"/>
                  </a:lnTo>
                  <a:lnTo>
                    <a:pt x="227" y="499"/>
                  </a:lnTo>
                  <a:lnTo>
                    <a:pt x="227"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53617" name="Group 56"/>
            <p:cNvGrpSpPr>
              <a:grpSpLocks/>
            </p:cNvGrpSpPr>
            <p:nvPr/>
          </p:nvGrpSpPr>
          <p:grpSpPr bwMode="auto">
            <a:xfrm>
              <a:off x="6012160" y="4005064"/>
              <a:ext cx="305700" cy="57940"/>
              <a:chOff x="1519" y="3430"/>
              <a:chExt cx="156" cy="45"/>
            </a:xfrm>
          </p:grpSpPr>
          <p:sp>
            <p:nvSpPr>
              <p:cNvPr id="153637" name="Line 57"/>
              <p:cNvSpPr>
                <a:spLocks noChangeShapeType="1"/>
              </p:cNvSpPr>
              <p:nvPr/>
            </p:nvSpPr>
            <p:spPr bwMode="auto">
              <a:xfrm>
                <a:off x="1539" y="3430"/>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8" name="Line 58"/>
              <p:cNvSpPr>
                <a:spLocks noChangeShapeType="1"/>
              </p:cNvSpPr>
              <p:nvPr/>
            </p:nvSpPr>
            <p:spPr bwMode="auto">
              <a:xfrm flipH="1">
                <a:off x="1565"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9" name="Line 59"/>
              <p:cNvSpPr>
                <a:spLocks noChangeShapeType="1"/>
              </p:cNvSpPr>
              <p:nvPr/>
            </p:nvSpPr>
            <p:spPr bwMode="auto">
              <a:xfrm flipH="1">
                <a:off x="1519"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40" name="Line 60"/>
              <p:cNvSpPr>
                <a:spLocks noChangeShapeType="1"/>
              </p:cNvSpPr>
              <p:nvPr/>
            </p:nvSpPr>
            <p:spPr bwMode="auto">
              <a:xfrm flipH="1">
                <a:off x="1610" y="3430"/>
                <a:ext cx="45"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3618" name="Text Box 63"/>
            <p:cNvSpPr txBox="1">
              <a:spLocks noChangeArrowheads="1"/>
            </p:cNvSpPr>
            <p:nvPr/>
          </p:nvSpPr>
          <p:spPr bwMode="auto">
            <a:xfrm>
              <a:off x="3121472" y="2001324"/>
              <a:ext cx="561247" cy="24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180[Ω]</a:t>
              </a:r>
            </a:p>
          </p:txBody>
        </p:sp>
        <p:sp>
          <p:nvSpPr>
            <p:cNvPr id="153619" name="Text Box 65"/>
            <p:cNvSpPr txBox="1">
              <a:spLocks noChangeArrowheads="1"/>
            </p:cNvSpPr>
            <p:nvPr/>
          </p:nvSpPr>
          <p:spPr bwMode="auto">
            <a:xfrm>
              <a:off x="3442870" y="1499783"/>
              <a:ext cx="501949" cy="24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+5[V]</a:t>
              </a:r>
            </a:p>
          </p:txBody>
        </p:sp>
        <p:sp>
          <p:nvSpPr>
            <p:cNvPr id="153620" name="Text Box 66"/>
            <p:cNvSpPr txBox="1">
              <a:spLocks noChangeArrowheads="1"/>
            </p:cNvSpPr>
            <p:nvPr/>
          </p:nvSpPr>
          <p:spPr bwMode="auto">
            <a:xfrm>
              <a:off x="5292080" y="1526595"/>
              <a:ext cx="566055" cy="24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+12[V]</a:t>
              </a:r>
            </a:p>
          </p:txBody>
        </p:sp>
        <p:sp>
          <p:nvSpPr>
            <p:cNvPr id="153621" name="Text Box 67"/>
            <p:cNvSpPr txBox="1">
              <a:spLocks noChangeArrowheads="1"/>
            </p:cNvSpPr>
            <p:nvPr/>
          </p:nvSpPr>
          <p:spPr bwMode="auto">
            <a:xfrm>
              <a:off x="5123180" y="3356992"/>
              <a:ext cx="111921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Buzzer (DC12V)</a:t>
              </a:r>
            </a:p>
          </p:txBody>
        </p:sp>
        <p:sp>
          <p:nvSpPr>
            <p:cNvPr id="153622" name="Rectangle 68"/>
            <p:cNvSpPr>
              <a:spLocks noChangeArrowheads="1"/>
            </p:cNvSpPr>
            <p:nvPr/>
          </p:nvSpPr>
          <p:spPr bwMode="auto">
            <a:xfrm>
              <a:off x="4045118" y="2245757"/>
              <a:ext cx="1173377" cy="747785"/>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3623" name="Text Box 69"/>
            <p:cNvSpPr txBox="1">
              <a:spLocks noChangeArrowheads="1"/>
            </p:cNvSpPr>
            <p:nvPr/>
          </p:nvSpPr>
          <p:spPr bwMode="auto">
            <a:xfrm>
              <a:off x="4242817" y="1995397"/>
              <a:ext cx="565637" cy="24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PC827</a:t>
              </a:r>
            </a:p>
          </p:txBody>
        </p:sp>
        <p:sp>
          <p:nvSpPr>
            <p:cNvPr id="153624" name="Freeform 72"/>
            <p:cNvSpPr>
              <a:spLocks/>
            </p:cNvSpPr>
            <p:nvPr/>
          </p:nvSpPr>
          <p:spPr bwMode="auto">
            <a:xfrm>
              <a:off x="5040932" y="2718329"/>
              <a:ext cx="355590" cy="970710"/>
            </a:xfrm>
            <a:custGeom>
              <a:avLst/>
              <a:gdLst>
                <a:gd name="T0" fmla="*/ 0 w 544"/>
                <a:gd name="T1" fmla="*/ 0 h 91"/>
                <a:gd name="T2" fmla="*/ 0 w 544"/>
                <a:gd name="T3" fmla="*/ 2147483647 h 91"/>
                <a:gd name="T4" fmla="*/ 2147483647 w 544"/>
                <a:gd name="T5" fmla="*/ 2147483647 h 91"/>
                <a:gd name="T6" fmla="*/ 0 60000 65536"/>
                <a:gd name="T7" fmla="*/ 0 60000 65536"/>
                <a:gd name="T8" fmla="*/ 0 60000 65536"/>
              </a:gdLst>
              <a:ahLst/>
              <a:cxnLst>
                <a:cxn ang="T6">
                  <a:pos x="T0" y="T1"/>
                </a:cxn>
                <a:cxn ang="T7">
                  <a:pos x="T2" y="T3"/>
                </a:cxn>
                <a:cxn ang="T8">
                  <a:pos x="T4" y="T5"/>
                </a:cxn>
              </a:cxnLst>
              <a:rect l="0" t="0" r="r" b="b"/>
              <a:pathLst>
                <a:path w="544" h="91">
                  <a:moveTo>
                    <a:pt x="0" y="0"/>
                  </a:moveTo>
                  <a:lnTo>
                    <a:pt x="0" y="91"/>
                  </a:lnTo>
                  <a:lnTo>
                    <a:pt x="544" y="91"/>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53625" name="그룹 74"/>
            <p:cNvGrpSpPr>
              <a:grpSpLocks/>
            </p:cNvGrpSpPr>
            <p:nvPr/>
          </p:nvGrpSpPr>
          <p:grpSpPr bwMode="auto">
            <a:xfrm>
              <a:off x="5396522" y="3582213"/>
              <a:ext cx="788084" cy="422851"/>
              <a:chOff x="6104477" y="2738246"/>
              <a:chExt cx="975678" cy="278835"/>
            </a:xfrm>
          </p:grpSpPr>
          <p:sp>
            <p:nvSpPr>
              <p:cNvPr id="153633" name="Rectangle 55"/>
              <p:cNvSpPr>
                <a:spLocks noChangeArrowheads="1"/>
              </p:cNvSpPr>
              <p:nvPr/>
            </p:nvSpPr>
            <p:spPr bwMode="auto">
              <a:xfrm>
                <a:off x="6168545" y="2738246"/>
                <a:ext cx="146443" cy="2064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3634" name="Line 70"/>
              <p:cNvSpPr>
                <a:spLocks noChangeShapeType="1"/>
              </p:cNvSpPr>
              <p:nvPr/>
            </p:nvSpPr>
            <p:spPr bwMode="auto">
              <a:xfrm>
                <a:off x="6104477" y="2738246"/>
                <a:ext cx="1831" cy="2064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5" name="Line 71"/>
              <p:cNvSpPr>
                <a:spLocks noChangeShapeType="1"/>
              </p:cNvSpPr>
              <p:nvPr/>
            </p:nvSpPr>
            <p:spPr bwMode="auto">
              <a:xfrm>
                <a:off x="6369905" y="2738246"/>
                <a:ext cx="1831" cy="2064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6" name="Freeform 73"/>
              <p:cNvSpPr>
                <a:spLocks/>
              </p:cNvSpPr>
              <p:nvPr/>
            </p:nvSpPr>
            <p:spPr bwMode="auto">
              <a:xfrm>
                <a:off x="6369905" y="2845072"/>
                <a:ext cx="710250" cy="172009"/>
              </a:xfrm>
              <a:custGeom>
                <a:avLst/>
                <a:gdLst>
                  <a:gd name="T0" fmla="*/ 0 w 363"/>
                  <a:gd name="T1" fmla="*/ 0 h 136"/>
                  <a:gd name="T2" fmla="*/ 2147483647 w 363"/>
                  <a:gd name="T3" fmla="*/ 0 h 136"/>
                  <a:gd name="T4" fmla="*/ 2147483647 w 363"/>
                  <a:gd name="T5" fmla="*/ 2147483647 h 136"/>
                  <a:gd name="T6" fmla="*/ 0 60000 65536"/>
                  <a:gd name="T7" fmla="*/ 0 60000 65536"/>
                  <a:gd name="T8" fmla="*/ 0 60000 65536"/>
                </a:gdLst>
                <a:ahLst/>
                <a:cxnLst>
                  <a:cxn ang="T6">
                    <a:pos x="T0" y="T1"/>
                  </a:cxn>
                  <a:cxn ang="T7">
                    <a:pos x="T2" y="T3"/>
                  </a:cxn>
                  <a:cxn ang="T8">
                    <a:pos x="T4" y="T5"/>
                  </a:cxn>
                </a:cxnLst>
                <a:rect l="0" t="0" r="r" b="b"/>
                <a:pathLst>
                  <a:path w="363" h="136">
                    <a:moveTo>
                      <a:pt x="0" y="0"/>
                    </a:moveTo>
                    <a:lnTo>
                      <a:pt x="363" y="0"/>
                    </a:lnTo>
                    <a:lnTo>
                      <a:pt x="363" y="136"/>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153626" name="그룹 75"/>
            <p:cNvGrpSpPr>
              <a:grpSpLocks/>
            </p:cNvGrpSpPr>
            <p:nvPr/>
          </p:nvGrpSpPr>
          <p:grpSpPr bwMode="auto">
            <a:xfrm>
              <a:off x="3070196" y="3246310"/>
              <a:ext cx="1093783" cy="470722"/>
              <a:chOff x="3070196" y="3140878"/>
              <a:chExt cx="1093783" cy="470722"/>
            </a:xfrm>
          </p:grpSpPr>
          <p:sp>
            <p:nvSpPr>
              <p:cNvPr id="153627" name="Oval 39"/>
              <p:cNvSpPr>
                <a:spLocks noChangeArrowheads="1"/>
              </p:cNvSpPr>
              <p:nvPr/>
            </p:nvSpPr>
            <p:spPr bwMode="auto">
              <a:xfrm>
                <a:off x="3379024" y="3526501"/>
                <a:ext cx="13362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3628" name="Oval 40"/>
              <p:cNvSpPr>
                <a:spLocks noChangeArrowheads="1"/>
              </p:cNvSpPr>
              <p:nvPr/>
            </p:nvSpPr>
            <p:spPr bwMode="auto">
              <a:xfrm>
                <a:off x="3648113" y="3526501"/>
                <a:ext cx="131799" cy="85099"/>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3629" name="Line 42"/>
              <p:cNvSpPr>
                <a:spLocks noChangeShapeType="1"/>
              </p:cNvSpPr>
              <p:nvPr/>
            </p:nvSpPr>
            <p:spPr bwMode="auto">
              <a:xfrm>
                <a:off x="3406482" y="3473993"/>
                <a:ext cx="3642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0" name="Line 43"/>
              <p:cNvSpPr>
                <a:spLocks noChangeShapeType="1"/>
              </p:cNvSpPr>
              <p:nvPr/>
            </p:nvSpPr>
            <p:spPr bwMode="auto">
              <a:xfrm>
                <a:off x="3585875" y="3417863"/>
                <a:ext cx="0" cy="561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3631" name="Text Box 62"/>
              <p:cNvSpPr txBox="1">
                <a:spLocks noChangeArrowheads="1"/>
              </p:cNvSpPr>
              <p:nvPr/>
            </p:nvSpPr>
            <p:spPr bwMode="auto">
              <a:xfrm>
                <a:off x="3070196" y="3140878"/>
                <a:ext cx="419194" cy="24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cs typeface="Times New Roman" pitchFamily="18" charset="0"/>
                  </a:rPr>
                  <a:t>PB2</a:t>
                </a:r>
              </a:p>
            </p:txBody>
          </p:sp>
          <p:sp>
            <p:nvSpPr>
              <p:cNvPr id="153632" name="Text Box 76"/>
              <p:cNvSpPr txBox="1">
                <a:spLocks noChangeArrowheads="1"/>
              </p:cNvSpPr>
              <p:nvPr/>
            </p:nvSpPr>
            <p:spPr bwMode="auto">
              <a:xfrm>
                <a:off x="3216495" y="3140968"/>
                <a:ext cx="947484" cy="246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b="1">
                    <a:latin typeface="Times New Roman" pitchFamily="18" charset="0"/>
                    <a:cs typeface="Times New Roman" pitchFamily="18" charset="0"/>
                  </a:rPr>
                  <a:t>(Tiếp điểm A)</a:t>
                </a:r>
              </a:p>
            </p:txBody>
          </p:sp>
        </p:grpSp>
      </p:grpSp>
      <p:sp>
        <p:nvSpPr>
          <p:cNvPr id="153605"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53606"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9D807AE-2D03-462A-B9BD-C96CC3DE3CB9}" type="slidenum">
              <a:rPr lang="en-US" altLang="ko-KR" sz="1400" smtClean="0">
                <a:latin typeface="Times New Roman" pitchFamily="18" charset="0"/>
                <a:cs typeface="Times New Roman" pitchFamily="18" charset="0"/>
              </a:rPr>
              <a:pPr eaLnBrk="1" hangingPunct="1"/>
              <a:t>146</a:t>
            </a:fld>
            <a:endParaRPr lang="en-US" altLang="ko-KR" sz="1400" smtClean="0">
              <a:latin typeface="Times New Roman" pitchFamily="18" charset="0"/>
              <a:cs typeface="Times New Roman" pitchFamily="18" charset="0"/>
            </a:endParaRPr>
          </a:p>
        </p:txBody>
      </p:sp>
      <p:sp>
        <p:nvSpPr>
          <p:cNvPr id="154627" name="Text Box 2"/>
          <p:cNvSpPr txBox="1">
            <a:spLocks noChangeArrowheads="1"/>
          </p:cNvSpPr>
          <p:nvPr/>
        </p:nvSpPr>
        <p:spPr bwMode="auto">
          <a:xfrm>
            <a:off x="684213" y="620713"/>
            <a:ext cx="13890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3-4. </a:t>
            </a:r>
            <a:r>
              <a:rPr lang="ko-KR" altLang="ko-KR" sz="1400" b="1">
                <a:latin typeface="Times New Roman" pitchFamily="18" charset="0"/>
                <a:cs typeface="Times New Roman" pitchFamily="18" charset="0"/>
              </a:rPr>
              <a:t>Thermistor</a:t>
            </a:r>
            <a:endParaRPr lang="en-US" altLang="ko-KR" sz="1400" b="1">
              <a:latin typeface="Times New Roman" pitchFamily="18" charset="0"/>
              <a:cs typeface="Times New Roman" pitchFamily="18" charset="0"/>
            </a:endParaRPr>
          </a:p>
        </p:txBody>
      </p:sp>
      <p:sp>
        <p:nvSpPr>
          <p:cNvPr id="154628" name="Rectangle 3"/>
          <p:cNvSpPr>
            <a:spLocks noChangeArrowheads="1"/>
          </p:cNvSpPr>
          <p:nvPr/>
        </p:nvSpPr>
        <p:spPr bwMode="auto">
          <a:xfrm>
            <a:off x="827088" y="981075"/>
            <a:ext cx="7489825" cy="489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linh kiện có đặc điểm giá trị điện trở theo nhiệt độ. Được phân loại thành:</a:t>
            </a:r>
          </a:p>
          <a:p>
            <a:pPr eaLnBrk="1" hangingPunct="1"/>
            <a:r>
              <a:rPr lang="en-US" altLang="ko-KR">
                <a:latin typeface="Times New Roman" pitchFamily="18" charset="0"/>
                <a:cs typeface="Times New Roman" pitchFamily="18" charset="0"/>
              </a:rPr>
              <a:t>Nhiệt độ tăng thì giá trị điện trở giảm</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NTC</a:t>
            </a:r>
            <a:r>
              <a:rPr lang="en-US" altLang="ko-KR">
                <a:latin typeface="Times New Roman" pitchFamily="18" charset="0"/>
                <a:cs typeface="Times New Roman" pitchFamily="18" charset="0"/>
              </a:rPr>
              <a:t>(negative temperature coefficient thermistor),</a:t>
            </a:r>
          </a:p>
          <a:p>
            <a:pPr eaLnBrk="1" hangingPunct="1"/>
            <a:r>
              <a:rPr lang="en-US" altLang="ko-KR">
                <a:latin typeface="Times New Roman" pitchFamily="18" charset="0"/>
                <a:cs typeface="Times New Roman" pitchFamily="18" charset="0"/>
              </a:rPr>
              <a:t>Nhiệt độ tăng thì giá trị điện trở tăng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PTC</a:t>
            </a:r>
            <a:r>
              <a:rPr lang="en-US" altLang="ko-KR">
                <a:latin typeface="Times New Roman" pitchFamily="18" charset="0"/>
                <a:cs typeface="Times New Roman" pitchFamily="18" charset="0"/>
              </a:rPr>
              <a:t>(positive temperature coefficient thermistor),</a:t>
            </a:r>
          </a:p>
          <a:p>
            <a:pPr eaLnBrk="1" hangingPunct="1"/>
            <a:r>
              <a:rPr lang="en-US" altLang="ko-KR">
                <a:latin typeface="Times New Roman" pitchFamily="18" charset="0"/>
                <a:cs typeface="Times New Roman" pitchFamily="18" charset="0"/>
              </a:rPr>
              <a:t>Giá trị điện trở đột biến ở nhiệt độ đặc biệt nào đó là</a:t>
            </a:r>
            <a:r>
              <a:rPr lang="ko-KR" altLang="en-US">
                <a:latin typeface="Times New Roman" pitchFamily="18" charset="0"/>
                <a:cs typeface="Times New Roman" pitchFamily="18" charset="0"/>
              </a:rPr>
              <a:t> </a:t>
            </a:r>
            <a:r>
              <a:rPr lang="en-US" altLang="ko-KR" b="1">
                <a:latin typeface="Times New Roman" pitchFamily="18" charset="0"/>
                <a:cs typeface="Times New Roman" pitchFamily="18" charset="0"/>
              </a:rPr>
              <a:t>CTR</a:t>
            </a:r>
            <a:r>
              <a:rPr lang="en-US" altLang="ko-KR">
                <a:latin typeface="Times New Roman" pitchFamily="18" charset="0"/>
                <a:cs typeface="Times New Roman" pitchFamily="18" charset="0"/>
              </a:rPr>
              <a:t>(critical temperature resistor). </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Đặc điểm của Thermistor</a:t>
            </a:r>
            <a:endParaRPr lang="ko-KR" altLang="en-US" b="1">
              <a:latin typeface="Times New Roman" pitchFamily="18" charset="0"/>
              <a:cs typeface="Times New Roman" pitchFamily="18" charset="0"/>
            </a:endParaRPr>
          </a:p>
          <a:p>
            <a:pPr eaLnBrk="1" hangingPunct="1"/>
            <a:endParaRPr lang="ko-KR" altLang="en-US" sz="700">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① </a:t>
            </a:r>
            <a:r>
              <a:rPr lang="en-US" altLang="ko-KR">
                <a:latin typeface="Times New Roman" pitchFamily="18" charset="0"/>
                <a:cs typeface="Times New Roman" pitchFamily="18" charset="0"/>
              </a:rPr>
              <a:t>Hệ số nhiệt độ điện trở về nhiệt độ lớn nên việc đo </a:t>
            </a:r>
          </a:p>
          <a:p>
            <a:pPr eaLnBrk="1" hangingPunct="1"/>
            <a:r>
              <a:rPr lang="en-US" altLang="ko-KR">
                <a:latin typeface="Times New Roman" pitchFamily="18" charset="0"/>
                <a:cs typeface="Times New Roman" pitchFamily="18" charset="0"/>
              </a:rPr>
              <a:t>nhiệt độ nhỏ và chính xác tốt. </a:t>
            </a:r>
          </a:p>
          <a:p>
            <a:pPr eaLnBrk="1" hangingPunct="1"/>
            <a:r>
              <a:rPr lang="en-US" altLang="ko-KR">
                <a:latin typeface="Times New Roman" pitchFamily="18" charset="0"/>
                <a:cs typeface="Times New Roman" pitchFamily="18" charset="0"/>
              </a:rPr>
              <a:t>   ② Cấu tạo đơn giản nên có thể làm nhỏ đi. </a:t>
            </a:r>
          </a:p>
          <a:p>
            <a:pPr eaLnBrk="1" hangingPunct="1"/>
            <a:r>
              <a:rPr lang="en-US" altLang="ko-KR">
                <a:latin typeface="Times New Roman" pitchFamily="18" charset="0"/>
                <a:cs typeface="Times New Roman" pitchFamily="18" charset="0"/>
              </a:rPr>
              <a:t>   ③ Do là loại không tiếp điểm(không công tắc) nên độ </a:t>
            </a:r>
          </a:p>
          <a:p>
            <a:pPr eaLnBrk="1" hangingPunct="1"/>
            <a:r>
              <a:rPr lang="en-US" altLang="ko-KR">
                <a:latin typeface="Times New Roman" pitchFamily="18" charset="0"/>
                <a:cs typeface="Times New Roman" pitchFamily="18" charset="0"/>
              </a:rPr>
              <a:t>tin cậy cao, biến đổi ít. </a:t>
            </a:r>
          </a:p>
          <a:p>
            <a:pPr eaLnBrk="1" hangingPunct="1"/>
            <a:r>
              <a:rPr lang="en-US" altLang="ko-KR">
                <a:latin typeface="Times New Roman" pitchFamily="18" charset="0"/>
                <a:cs typeface="Times New Roman" pitchFamily="18" charset="0"/>
              </a:rPr>
              <a:t>   ④ Không bị ảnh hưởng bởi áp lực, chính bản thân nó và </a:t>
            </a:r>
          </a:p>
          <a:p>
            <a:pPr eaLnBrk="1" hangingPunct="1"/>
            <a:r>
              <a:rPr lang="en-US" altLang="ko-KR">
                <a:latin typeface="Times New Roman" pitchFamily="18" charset="0"/>
                <a:cs typeface="Times New Roman" pitchFamily="18" charset="0"/>
              </a:rPr>
              <a:t>Factor khác.</a:t>
            </a:r>
          </a:p>
          <a:p>
            <a:pPr eaLnBrk="1" hangingPunct="1"/>
            <a:r>
              <a:rPr lang="en-US" altLang="ko-KR">
                <a:latin typeface="Times New Roman" pitchFamily="18" charset="0"/>
                <a:cs typeface="Times New Roman" pitchFamily="18" charset="0"/>
              </a:rPr>
              <a:t>   ⑤ Có tính vượt trội về việc sản xuất đại trà, có thể cung cấp</a:t>
            </a:r>
          </a:p>
          <a:p>
            <a:pPr eaLnBrk="1" hangingPunct="1"/>
            <a:r>
              <a:rPr lang="en-US" altLang="ko-KR">
                <a:latin typeface="Times New Roman" pitchFamily="18" charset="0"/>
                <a:cs typeface="Times New Roman" pitchFamily="18" charset="0"/>
              </a:rPr>
              <a:t> với số lượng lớn với giá thành ổn định. </a:t>
            </a:r>
          </a:p>
          <a:p>
            <a:pPr eaLnBrk="1" hangingPunct="1"/>
            <a:r>
              <a:rPr lang="en-US" altLang="ko-KR">
                <a:latin typeface="Times New Roman" pitchFamily="18" charset="0"/>
                <a:cs typeface="Times New Roman" pitchFamily="18" charset="0"/>
              </a:rPr>
              <a:t>   ⑥ Độ bền cơ khí và tính gia công vượt trội.</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Mục đích sử dụng của Thermistor</a:t>
            </a:r>
            <a:endParaRPr lang="ko-KR" altLang="en-US" b="1">
              <a:latin typeface="Times New Roman" pitchFamily="18" charset="0"/>
              <a:cs typeface="Times New Roman" pitchFamily="18" charset="0"/>
            </a:endParaRPr>
          </a:p>
          <a:p>
            <a:pPr eaLnBrk="1" hangingPunct="1"/>
            <a:endParaRPr lang="ko-KR" altLang="en-US" sz="7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Thermistor được sử dụng ở tất cả các lĩnh vực có liên quan đến nhiệt độ</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nó được sử dụng ở những thiết bị đo nhiệt độ và điều chỉnh nhiệt độ</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đặc biệt được sử dụng rộng rãi như dụng cụ nấu nướng(bếp từ, nồi cơm điện…), máy điều hòa không khí, máy lạnh/máy sưởi, đồ dùng văn phòng(máy phô tô, máy in…), phụ tùng điện trường của xe ô tô, máy móc dịch vụ, thiết bị bảo vệ sức khỏe, thiết bị chăm sóc sắc đẹp, máy móc nông</a:t>
            </a:r>
            <a:r>
              <a:rPr lang="ko-KR" altLang="en-US">
                <a:latin typeface="Times New Roman" pitchFamily="18" charset="0"/>
                <a:cs typeface="Times New Roman" pitchFamily="18" charset="0"/>
              </a:rPr>
              <a:t>ㆍ</a:t>
            </a:r>
            <a:r>
              <a:rPr lang="en-US" altLang="ko-KR">
                <a:latin typeface="Times New Roman" pitchFamily="18" charset="0"/>
                <a:cs typeface="Times New Roman" pitchFamily="18" charset="0"/>
              </a:rPr>
              <a:t>công</a:t>
            </a:r>
            <a:r>
              <a:rPr lang="ko-KR" altLang="en-US">
                <a:latin typeface="Times New Roman" pitchFamily="18" charset="0"/>
                <a:cs typeface="Times New Roman" pitchFamily="18" charset="0"/>
              </a:rPr>
              <a:t>ㆍ</a:t>
            </a:r>
            <a:r>
              <a:rPr lang="en-US" altLang="ko-KR">
                <a:latin typeface="Times New Roman" pitchFamily="18" charset="0"/>
                <a:cs typeface="Times New Roman" pitchFamily="18" charset="0"/>
              </a:rPr>
              <a:t>ngư nghiệp, thiết bị y tế,</a:t>
            </a:r>
          </a:p>
          <a:p>
            <a:pPr eaLnBrk="1" hangingPunct="1"/>
            <a:r>
              <a:rPr lang="en-US" altLang="ko-KR">
                <a:latin typeface="Times New Roman" pitchFamily="18" charset="0"/>
                <a:cs typeface="Times New Roman" pitchFamily="18" charset="0"/>
              </a:rPr>
              <a:t>thiết bị lý hóa học, thiết bị kiểm tra, máy đo thông thường… </a:t>
            </a:r>
          </a:p>
        </p:txBody>
      </p:sp>
      <p:sp>
        <p:nvSpPr>
          <p:cNvPr id="154629"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54630"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pic>
        <p:nvPicPr>
          <p:cNvPr id="154631" name="Picture 7" descr="p14747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363" y="2062163"/>
            <a:ext cx="36734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86C1334-DD01-4CFA-BBF6-35D69DD01BE8}" type="slidenum">
              <a:rPr lang="en-US" altLang="ko-KR" sz="1400" smtClean="0">
                <a:latin typeface="Times New Roman" pitchFamily="18" charset="0"/>
                <a:cs typeface="Times New Roman" pitchFamily="18" charset="0"/>
              </a:rPr>
              <a:pPr eaLnBrk="1" hangingPunct="1"/>
              <a:t>147</a:t>
            </a:fld>
            <a:endParaRPr lang="en-US" altLang="ko-KR" sz="1400" smtClean="0">
              <a:latin typeface="Times New Roman" pitchFamily="18" charset="0"/>
              <a:cs typeface="Times New Roman" pitchFamily="18" charset="0"/>
            </a:endParaRPr>
          </a:p>
        </p:txBody>
      </p:sp>
      <p:sp>
        <p:nvSpPr>
          <p:cNvPr id="155651" name="Text Box 2"/>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55652"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Đo Thermistor</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5565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pic>
        <p:nvPicPr>
          <p:cNvPr id="155654" name="Picture 5" descr="pro-img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500438"/>
            <a:ext cx="1503363"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5" name="Picture 7" descr="pro-img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196975"/>
            <a:ext cx="2905125"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6" name="Arc 8"/>
          <p:cNvSpPr>
            <a:spLocks/>
          </p:cNvSpPr>
          <p:nvPr/>
        </p:nvSpPr>
        <p:spPr bwMode="auto">
          <a:xfrm rot="1011497" flipH="1" flipV="1">
            <a:off x="4937125" y="1492250"/>
            <a:ext cx="3084513" cy="971550"/>
          </a:xfrm>
          <a:custGeom>
            <a:avLst/>
            <a:gdLst>
              <a:gd name="T0" fmla="*/ 2147483647 w 18260"/>
              <a:gd name="T1" fmla="*/ 0 h 21387"/>
              <a:gd name="T2" fmla="*/ 2147483647 w 18260"/>
              <a:gd name="T3" fmla="*/ 2147483647 h 21387"/>
              <a:gd name="T4" fmla="*/ 0 w 18260"/>
              <a:gd name="T5" fmla="*/ 2147483647 h 21387"/>
              <a:gd name="T6" fmla="*/ 0 60000 65536"/>
              <a:gd name="T7" fmla="*/ 0 60000 65536"/>
              <a:gd name="T8" fmla="*/ 0 60000 65536"/>
            </a:gdLst>
            <a:ahLst/>
            <a:cxnLst>
              <a:cxn ang="T6">
                <a:pos x="T0" y="T1"/>
              </a:cxn>
              <a:cxn ang="T7">
                <a:pos x="T2" y="T3"/>
              </a:cxn>
              <a:cxn ang="T8">
                <a:pos x="T4" y="T5"/>
              </a:cxn>
            </a:cxnLst>
            <a:rect l="0" t="0" r="r" b="b"/>
            <a:pathLst>
              <a:path w="18260" h="21387" fill="none" extrusionOk="0">
                <a:moveTo>
                  <a:pt x="3027" y="0"/>
                </a:moveTo>
                <a:cubicBezTo>
                  <a:pt x="9304" y="888"/>
                  <a:pt x="14873" y="4489"/>
                  <a:pt x="18260" y="9848"/>
                </a:cubicBezTo>
              </a:path>
              <a:path w="18260" h="21387" stroke="0" extrusionOk="0">
                <a:moveTo>
                  <a:pt x="3027" y="0"/>
                </a:moveTo>
                <a:cubicBezTo>
                  <a:pt x="9304" y="888"/>
                  <a:pt x="14873" y="4489"/>
                  <a:pt x="18260" y="9848"/>
                </a:cubicBezTo>
                <a:lnTo>
                  <a:pt x="0" y="21387"/>
                </a:lnTo>
                <a:lnTo>
                  <a:pt x="3027" y="0"/>
                </a:lnTo>
                <a:close/>
              </a:path>
            </a:pathLst>
          </a:custGeom>
          <a:noFill/>
          <a:ln w="19050">
            <a:solidFill>
              <a:srgbClr val="CC33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5657" name="Line 9"/>
          <p:cNvSpPr>
            <a:spLocks noChangeShapeType="1"/>
          </p:cNvSpPr>
          <p:nvPr/>
        </p:nvSpPr>
        <p:spPr bwMode="auto">
          <a:xfrm flipV="1">
            <a:off x="5803900" y="1268413"/>
            <a:ext cx="0" cy="2087562"/>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5658" name="Line 10"/>
          <p:cNvSpPr>
            <a:spLocks noChangeShapeType="1"/>
          </p:cNvSpPr>
          <p:nvPr/>
        </p:nvSpPr>
        <p:spPr bwMode="auto">
          <a:xfrm>
            <a:off x="4987925" y="2092325"/>
            <a:ext cx="23749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5659" name="Line 11"/>
          <p:cNvSpPr>
            <a:spLocks noChangeShapeType="1"/>
          </p:cNvSpPr>
          <p:nvPr/>
        </p:nvSpPr>
        <p:spPr bwMode="auto">
          <a:xfrm flipV="1">
            <a:off x="5957888" y="2171700"/>
            <a:ext cx="0" cy="1185863"/>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5660" name="Line 12"/>
          <p:cNvSpPr>
            <a:spLocks noChangeShapeType="1"/>
          </p:cNvSpPr>
          <p:nvPr/>
        </p:nvSpPr>
        <p:spPr bwMode="auto">
          <a:xfrm>
            <a:off x="4987925" y="2185988"/>
            <a:ext cx="950913"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5661" name="Text Box 13"/>
          <p:cNvSpPr txBox="1">
            <a:spLocks noChangeArrowheads="1"/>
          </p:cNvSpPr>
          <p:nvPr/>
        </p:nvSpPr>
        <p:spPr bwMode="auto">
          <a:xfrm>
            <a:off x="1116013" y="1341438"/>
            <a:ext cx="3535362"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DSC 103 Thermistor</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(3Φ)</a:t>
            </a:r>
          </a:p>
          <a:p>
            <a:pPr eaLnBrk="1" hangingPunct="1"/>
            <a:r>
              <a:rPr lang="en-US" altLang="ko-KR">
                <a:latin typeface="Times New Roman" pitchFamily="18" charset="0"/>
                <a:cs typeface="Times New Roman" pitchFamily="18" charset="0"/>
              </a:rPr>
              <a:t>    - DSC : Tên nhà sản xuất</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- 103  : Công suất</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Chủng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NTC(Small Size Disc Thermistor)</a:t>
            </a:r>
          </a:p>
          <a:p>
            <a:pPr eaLnBrk="1" hangingPunct="1"/>
            <a:r>
              <a:rPr lang="en-US" altLang="ko-KR">
                <a:latin typeface="Times New Roman" pitchFamily="18" charset="0"/>
                <a:cs typeface="Times New Roman" pitchFamily="18" charset="0"/>
              </a:rPr>
              <a:t>    - Đầu vào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từ 20℃</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10[kΩ]</a:t>
            </a:r>
          </a:p>
          <a:p>
            <a:pPr eaLnBrk="1" hangingPunct="1"/>
            <a:r>
              <a:rPr lang="en-US" altLang="ko-KR">
                <a:latin typeface="Times New Roman" pitchFamily="18" charset="0"/>
                <a:cs typeface="Times New Roman" pitchFamily="18" charset="0"/>
              </a:rPr>
              <a:t>    - Nhiệt độ sử dụng cao nhất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120℃ </a:t>
            </a:r>
          </a:p>
          <a:p>
            <a:pPr eaLnBrk="1" hangingPunct="1"/>
            <a:r>
              <a:rPr lang="en-US" altLang="ko-KR">
                <a:latin typeface="Times New Roman" pitchFamily="18" charset="0"/>
                <a:cs typeface="Times New Roman" pitchFamily="18" charset="0"/>
              </a:rPr>
              <a:t>    - Ứng dụng</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Theo dõi và điều chỉnh nhiệt độ của điều hòa</a:t>
            </a:r>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Hệ thống điện tử điều khiển tự động</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Bổ sung nhiệt độ cho mạch điện và máy biến áp</a:t>
            </a:r>
            <a:endParaRPr lang="ko-KR" altLang="en-US">
              <a:latin typeface="Times New Roman" pitchFamily="18" charset="0"/>
              <a:cs typeface="Times New Roman" pitchFamily="18" charset="0"/>
            </a:endParaRPr>
          </a:p>
        </p:txBody>
      </p:sp>
      <p:sp>
        <p:nvSpPr>
          <p:cNvPr id="155662" name="Text Box 14"/>
          <p:cNvSpPr txBox="1">
            <a:spLocks noChangeArrowheads="1"/>
          </p:cNvSpPr>
          <p:nvPr/>
        </p:nvSpPr>
        <p:spPr bwMode="auto">
          <a:xfrm>
            <a:off x="3635375" y="4005263"/>
            <a:ext cx="5187950"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① Kiểm tra Spec của Thermistor định đo.</a:t>
            </a:r>
          </a:p>
          <a:p>
            <a:pPr eaLnBrk="1" hangingPunct="1"/>
            <a:r>
              <a:rPr lang="en-US" altLang="ko-KR">
                <a:latin typeface="Times New Roman" pitchFamily="18" charset="0"/>
                <a:cs typeface="Times New Roman" pitchFamily="18" charset="0"/>
              </a:rPr>
              <a:t>② Đo giá trị điện trở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rồi so sánh với giá trị Spec ở môi trường đo.</a:t>
            </a:r>
          </a:p>
          <a:p>
            <a:pPr eaLnBrk="1" hangingPunct="1"/>
            <a:r>
              <a:rPr lang="en-US" altLang="ko-KR">
                <a:latin typeface="Times New Roman" pitchFamily="18" charset="0"/>
                <a:cs typeface="Times New Roman" pitchFamily="18" charset="0"/>
              </a:rPr>
              <a:t>③ Thông thường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Thermistor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mà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Fail</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nó sẽ xuất hiện một cách vô hạn hoặc</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ngắn.</a:t>
            </a:r>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9745714-F01A-49D5-8304-F983A1AC3BB1}" type="slidenum">
              <a:rPr lang="en-US" altLang="ko-KR" sz="1400" smtClean="0">
                <a:latin typeface="Times New Roman" pitchFamily="18" charset="0"/>
                <a:cs typeface="Times New Roman" pitchFamily="18" charset="0"/>
              </a:rPr>
              <a:pPr eaLnBrk="1" hangingPunct="1"/>
              <a:t>148</a:t>
            </a:fld>
            <a:endParaRPr lang="en-US" altLang="ko-KR" sz="1400" smtClean="0">
              <a:latin typeface="Times New Roman" pitchFamily="18" charset="0"/>
              <a:cs typeface="Times New Roman" pitchFamily="18" charset="0"/>
            </a:endParaRPr>
          </a:p>
        </p:txBody>
      </p:sp>
      <p:sp>
        <p:nvSpPr>
          <p:cNvPr id="156675" name="Text Box 2"/>
          <p:cNvSpPr txBox="1">
            <a:spLocks noChangeArrowheads="1"/>
          </p:cNvSpPr>
          <p:nvPr/>
        </p:nvSpPr>
        <p:spPr bwMode="auto">
          <a:xfrm>
            <a:off x="684213" y="620713"/>
            <a:ext cx="16383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3-5. Cặp nhiệt điện</a:t>
            </a:r>
            <a:endParaRPr lang="ko-KR" altLang="en-US" sz="1400" b="1">
              <a:latin typeface="Times New Roman" pitchFamily="18" charset="0"/>
              <a:cs typeface="Times New Roman" pitchFamily="18" charset="0"/>
            </a:endParaRPr>
          </a:p>
        </p:txBody>
      </p:sp>
      <p:sp>
        <p:nvSpPr>
          <p:cNvPr id="156676" name="Rectangle 3"/>
          <p:cNvSpPr>
            <a:spLocks noChangeArrowheads="1"/>
          </p:cNvSpPr>
          <p:nvPr/>
        </p:nvSpPr>
        <p:spPr bwMode="auto">
          <a:xfrm>
            <a:off x="827088" y="981075"/>
            <a:ext cx="7489825" cy="489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Là sản phẩm cảm biến nhiệt độ có thể cảm nhận một cách nhanh nhạy nhất chỉ số của sự thay đổi nhiệt độ ở tất cả các lĩnh vực lấy nguồn nhiệt làm cơ sở</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Là Thermocouple (T/C), nếu cho tiếp xúc điện hai cực của hai loại chất dẫn kim loại khác nhau sau đó cho chênh lệch nhiệt độ lên hai cực này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dòng điện sẽ chạy trong mạch(hiệu quả Zee back).</a:t>
            </a:r>
          </a:p>
          <a:p>
            <a:pPr eaLnBrk="1" hangingPunct="1"/>
            <a:r>
              <a:rPr lang="en-US" altLang="ko-KR">
                <a:latin typeface="Times New Roman" pitchFamily="18" charset="0"/>
                <a:cs typeface="Times New Roman" pitchFamily="18" charset="0"/>
              </a:rPr>
              <a:t> Bằng cách duy trì nhiệt độ một đầu(tiếp điểm tiêu chuẩn) thành nhiệt độ nhất định(theo nguyên tắc là 0℃)  và đo chỉ số của sức nhiệt điện động chúng ta có thể biết được nhiệt độ của cực đầu kia(tiếp điểm đo nhiệt độ). </a:t>
            </a:r>
          </a:p>
          <a:p>
            <a:pPr eaLnBrk="1" hangingPunct="1"/>
            <a:r>
              <a:rPr lang="en-US" altLang="ko-KR">
                <a:latin typeface="Times New Roman" pitchFamily="18" charset="0"/>
                <a:cs typeface="Times New Roman" pitchFamily="18" charset="0"/>
              </a:rPr>
              <a:t>Theo đó</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nếu duy trì một cách nhất định nhiệt độ tiếp điểm tiêu chuẩn ta có thể biết được nhiệt độ của tiếp điểm đo dựa vào sức điện động này và lúc này người ta gọi dây kim loại này là cặp nhiệt điện. </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(1) Đặc điểm của cặp nhiệt điện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① </a:t>
            </a:r>
            <a:r>
              <a:rPr lang="en-US" altLang="ko-KR">
                <a:latin typeface="Times New Roman" pitchFamily="18" charset="0"/>
                <a:cs typeface="Times New Roman" pitchFamily="18" charset="0"/>
              </a:rPr>
              <a:t>Phản hồi nhanh, sai số do sự trễ thời gian (Time lag) tương đối ít.</a:t>
            </a:r>
          </a:p>
          <a:p>
            <a:pPr eaLnBrk="1" hangingPunct="1"/>
            <a:r>
              <a:rPr lang="en-US" altLang="ko-KR">
                <a:latin typeface="Times New Roman" pitchFamily="18" charset="0"/>
                <a:cs typeface="Times New Roman" pitchFamily="18" charset="0"/>
              </a:rPr>
              <a:t> ② Nếu lựa chọn cặp nhiệt điện phù hợp</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có thể đo được cả phạm vi nhiệt độ từ</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0℃</a:t>
            </a:r>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2500℃.</a:t>
            </a:r>
          </a:p>
          <a:p>
            <a:pPr eaLnBrk="1" hangingPunct="1"/>
            <a:r>
              <a:rPr lang="en-US" altLang="ko-KR">
                <a:latin typeface="Times New Roman" pitchFamily="18" charset="0"/>
                <a:cs typeface="Times New Roman" pitchFamily="18" charset="0"/>
              </a:rPr>
              <a:t> ③ Do sử dụng sức nhiệt điện động để kiểm tra nhiệt độ nên dễ xử lý thông tin như chỉ thị, điều chỉnh, khuếch đại, chế tạo và biến đổi...</a:t>
            </a:r>
          </a:p>
          <a:p>
            <a:pPr eaLnBrk="1" hangingPunct="1"/>
            <a:r>
              <a:rPr lang="en-US" altLang="ko-KR">
                <a:latin typeface="Times New Roman" pitchFamily="18" charset="0"/>
                <a:cs typeface="Times New Roman" pitchFamily="18" charset="0"/>
              </a:rPr>
              <a:t> ④ Độ bền cơ khí cao ngay cả ở nhiệt độ cao, tính chống rỉ mạnh và độ an toàn cao.</a:t>
            </a:r>
          </a:p>
          <a:p>
            <a:pPr eaLnBrk="1" hangingPunct="1"/>
            <a:r>
              <a:rPr lang="en-US" altLang="ko-KR">
                <a:latin typeface="Times New Roman" pitchFamily="18" charset="0"/>
                <a:cs typeface="Times New Roman" pitchFamily="18" charset="0"/>
              </a:rPr>
              <a:t> ⑤ Có thể đo nhiệt độ ở cả những vị trí đặc biệt hoặc những địa điểm nhỏ hẹp.</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(2) Hạng mục chú ý</a:t>
            </a:r>
            <a:endParaRPr lang="ko-KR" altLang="en-US">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Để đo nhiệt độ một cách chính xác thì việc lựa chọn cặp nhiệt điện phù hợp theo địa điểm và mục đích sử dụng là vô cùng quan trọng.</a:t>
            </a:r>
          </a:p>
          <a:p>
            <a:pPr eaLnBrk="1" hangingPunct="1"/>
            <a:r>
              <a:rPr lang="en-US" altLang="ko-KR">
                <a:latin typeface="Times New Roman" pitchFamily="18" charset="0"/>
                <a:cs typeface="Times New Roman" pitchFamily="18" charset="0"/>
              </a:rPr>
              <a:t>Cần chú ý đến cả những việc lựa chọn hộp bảo quản,cấu tạo và phương pháp gắn, vị trí gắn..trong điều kiện phải chịu nhiệt, chống ăn mòn, chống địa chấn.</a:t>
            </a:r>
          </a:p>
          <a:p>
            <a:pPr eaLnBrk="1" hangingPunct="1"/>
            <a:r>
              <a:rPr lang="en-US" altLang="ko-KR">
                <a:latin typeface="Times New Roman" pitchFamily="18" charset="0"/>
                <a:cs typeface="Times New Roman" pitchFamily="18" charset="0"/>
              </a:rPr>
              <a:t>Đặc biệt khi sử dụng trong môi trường khí có tính ăn mòn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phải loại bỏ những yếu tố như hỏng hóc của hộp bảo vệ hay những phần gắn không phù hợp…</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mới có thể chế tạo và chỉ thị một cách chính xác.</a:t>
            </a:r>
          </a:p>
        </p:txBody>
      </p:sp>
      <p:sp>
        <p:nvSpPr>
          <p:cNvPr id="15667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56678"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1E08C21-C14F-46EA-B3DA-1FED1832C5B4}" type="slidenum">
              <a:rPr lang="en-US" altLang="ko-KR" sz="1400" smtClean="0">
                <a:latin typeface="Times New Roman" pitchFamily="18" charset="0"/>
                <a:cs typeface="Times New Roman" pitchFamily="18" charset="0"/>
              </a:rPr>
              <a:pPr eaLnBrk="1" hangingPunct="1"/>
              <a:t>149</a:t>
            </a:fld>
            <a:endParaRPr lang="en-US" altLang="ko-KR" sz="1400" smtClean="0">
              <a:latin typeface="Times New Roman" pitchFamily="18" charset="0"/>
              <a:cs typeface="Times New Roman" pitchFamily="18" charset="0"/>
            </a:endParaRPr>
          </a:p>
        </p:txBody>
      </p:sp>
      <p:sp>
        <p:nvSpPr>
          <p:cNvPr id="157699" name="Text Box 2"/>
          <p:cNvSpPr txBox="1">
            <a:spLocks noChangeArrowheads="1"/>
          </p:cNvSpPr>
          <p:nvPr/>
        </p:nvSpPr>
        <p:spPr bwMode="auto">
          <a:xfrm>
            <a:off x="684213" y="892175"/>
            <a:ext cx="1971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3-6. Phân loại cảm biến</a:t>
            </a:r>
          </a:p>
        </p:txBody>
      </p:sp>
      <p:sp>
        <p:nvSpPr>
          <p:cNvPr id="157700" name="Rectangle 3"/>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Các loại cảm biến</a:t>
            </a:r>
            <a:endParaRPr lang="ko-KR" altLang="en-US" b="1">
              <a:latin typeface="Times New Roman" pitchFamily="18" charset="0"/>
              <a:cs typeface="Times New Roman" pitchFamily="18" charset="0"/>
            </a:endParaRPr>
          </a:p>
        </p:txBody>
      </p:sp>
      <p:pic>
        <p:nvPicPr>
          <p:cNvPr id="157701" name="다이어그램 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700213"/>
            <a:ext cx="7559675" cy="451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2"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57703"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2" name="직사각형 1"/>
          <p:cNvSpPr/>
          <p:nvPr/>
        </p:nvSpPr>
        <p:spPr bwMode="auto">
          <a:xfrm>
            <a:off x="2411413" y="1700213"/>
            <a:ext cx="6108700" cy="1152525"/>
          </a:xfrm>
          <a:prstGeom prst="rect">
            <a:avLst/>
          </a:prstGeom>
          <a:solidFill>
            <a:schemeClr val="bg1"/>
          </a:solidFill>
          <a:ln w="9525" cap="flat" cmpd="sng" algn="ctr">
            <a:noFill/>
            <a:prstDash val="solid"/>
            <a:round/>
            <a:headEnd type="none" w="med" len="med"/>
            <a:tailEnd type="none" w="med" len="med"/>
          </a:ln>
          <a:effectLst/>
          <a:extLst/>
        </p:spPr>
        <p:txBody>
          <a:bodyPr/>
          <a:lstStyle/>
          <a:p>
            <a:pPr>
              <a:defRPr/>
            </a:pPr>
            <a:r>
              <a:rPr lang="en-US" altLang="ko-KR" sz="1000" b="1" dirty="0" err="1">
                <a:latin typeface="Times New Roman" panose="02020603050405020304" pitchFamily="18" charset="0"/>
                <a:cs typeface="Times New Roman" panose="02020603050405020304" pitchFamily="18" charset="0"/>
              </a:rPr>
              <a:t>Cảm</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biến</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quang</a:t>
            </a:r>
            <a:endParaRPr lang="en-US" altLang="ko-KR" sz="10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quang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quang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từ</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phần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truyền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ánh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như</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nhìn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thấy</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hồng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ngoại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phóng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theo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phương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thức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kiểm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ánh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phản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chiếu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lên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vật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thể</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kiểm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phần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quang</a:t>
            </a:r>
            <a:r>
              <a:rPr lang="en-US" altLang="ko-KR" sz="1000" dirty="0">
                <a:latin typeface="Times New Roman" panose="02020603050405020304" pitchFamily="18" charset="0"/>
                <a:cs typeface="Times New Roman" panose="02020603050405020304" pitchFamily="18" charset="0"/>
              </a:rPr>
              <a:t>(</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phản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chiếu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hoặc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kiểm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sự</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đổi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của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lượng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quang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đã</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chắn</a:t>
            </a:r>
            <a:r>
              <a:rPr lang="en-US" altLang="ko-KR" sz="1000" dirty="0">
                <a:latin typeface="Times New Roman" panose="02020603050405020304" pitchFamily="18" charset="0"/>
                <a:cs typeface="Times New Roman" panose="02020603050405020304" pitchFamily="18" charset="0"/>
              </a:rPr>
              <a:t>(</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trong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phản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chiếu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hồi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quy</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sau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đầu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ra</a:t>
            </a:r>
            <a:endParaRPr lang="en-US" altLang="ko-K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quang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sợi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laze… </a:t>
            </a:r>
            <a:r>
              <a:rPr lang="en-US" altLang="ko-KR" sz="1000" dirty="0" err="1">
                <a:latin typeface="Times New Roman" panose="02020603050405020304" pitchFamily="18" charset="0"/>
                <a:cs typeface="Times New Roman" panose="02020603050405020304" pitchFamily="18" charset="0"/>
              </a:rPr>
              <a:t>theo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phương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thức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dụng</a:t>
            </a:r>
            <a:r>
              <a:rPr lang="en-US" altLang="ko-KR" sz="1000" dirty="0">
                <a:latin typeface="Times New Roman" panose="02020603050405020304" pitchFamily="18" charset="0"/>
                <a:cs typeface="Times New Roman" panose="02020603050405020304" pitchFamily="18" charset="0"/>
              </a:rPr>
              <a:t>.</a:t>
            </a:r>
            <a:endParaRPr lang="ko-KR" altLang="en-US" sz="1000" dirty="0">
              <a:latin typeface="Times New Roman" panose="02020603050405020304" pitchFamily="18" charset="0"/>
              <a:cs typeface="Times New Roman" panose="02020603050405020304" pitchFamily="18" charset="0"/>
            </a:endParaRPr>
          </a:p>
        </p:txBody>
      </p:sp>
      <p:sp>
        <p:nvSpPr>
          <p:cNvPr id="9" name="직사각형 8"/>
          <p:cNvSpPr/>
          <p:nvPr/>
        </p:nvSpPr>
        <p:spPr bwMode="auto">
          <a:xfrm>
            <a:off x="2411413" y="2852738"/>
            <a:ext cx="6108700" cy="1008062"/>
          </a:xfrm>
          <a:prstGeom prst="rect">
            <a:avLst/>
          </a:prstGeom>
          <a:solidFill>
            <a:schemeClr val="bg1"/>
          </a:solidFill>
          <a:ln w="9525" cap="flat" cmpd="sng" algn="ctr">
            <a:noFill/>
            <a:prstDash val="solid"/>
            <a:round/>
            <a:headEnd type="none" w="med" len="med"/>
            <a:tailEnd type="none" w="med" len="med"/>
          </a:ln>
          <a:effectLst/>
          <a:extLst/>
        </p:spPr>
        <p:txBody>
          <a:bodyPr/>
          <a:lstStyle/>
          <a:p>
            <a:pPr>
              <a:defRPr/>
            </a:pPr>
            <a:r>
              <a:rPr lang="en-US" altLang="ko-KR" sz="1000" b="1" dirty="0" err="1">
                <a:latin typeface="Times New Roman" panose="02020603050405020304" pitchFamily="18" charset="0"/>
                <a:cs typeface="Times New Roman" panose="02020603050405020304" pitchFamily="18" charset="0"/>
              </a:rPr>
              <a:t>Cảm</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biến</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không</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tiếp</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xúc</a:t>
            </a:r>
            <a:endParaRPr lang="en-US" altLang="ko-KR" sz="10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máy</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phân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tích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theo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phương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thức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không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tiếp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xúc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để</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hay </a:t>
            </a:r>
            <a:r>
              <a:rPr lang="en-US" altLang="ko-KR" sz="1000" dirty="0" err="1">
                <a:latin typeface="Times New Roman" panose="02020603050405020304" pitchFamily="18" charset="0"/>
                <a:cs typeface="Times New Roman" panose="02020603050405020304" pitchFamily="18" charset="0"/>
              </a:rPr>
              <a:t>không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vật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thể</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đối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tượng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phân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tích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để</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gần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với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vật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thể</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phân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tích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chứ</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không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phải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phân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tích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dựa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vào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tiếp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xúc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cơ</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như</a:t>
            </a:r>
            <a:r>
              <a:rPr lang="en-US" altLang="ko-KR" sz="1000" dirty="0">
                <a:latin typeface="Times New Roman" panose="02020603050405020304" pitchFamily="18" charset="0"/>
                <a:cs typeface="Times New Roman" panose="02020603050405020304" pitchFamily="18" charset="0"/>
              </a:rPr>
              <a:t> micro switch </a:t>
            </a:r>
            <a:r>
              <a:rPr lang="en-US" altLang="ko-KR" sz="1000" dirty="0" err="1">
                <a:latin typeface="Times New Roman" panose="02020603050405020304" pitchFamily="18" charset="0"/>
                <a:cs typeface="Times New Roman" panose="02020603050405020304" pitchFamily="18" charset="0"/>
              </a:rPr>
              <a:t>hoặc</a:t>
            </a:r>
            <a:r>
              <a:rPr lang="en-US" altLang="ko-KR" sz="1000" dirty="0">
                <a:latin typeface="Times New Roman" panose="02020603050405020304" pitchFamily="18" charset="0"/>
                <a:cs typeface="Times New Roman" panose="02020603050405020304" pitchFamily="18" charset="0"/>
              </a:rPr>
              <a:t> Limit switch</a:t>
            </a: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từ</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dụng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nam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châm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dao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động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cao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tần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điện</a:t>
            </a:r>
            <a:r>
              <a:rPr lang="en-US" altLang="ko-KR" sz="1000" dirty="0">
                <a:latin typeface="Times New Roman" panose="02020603050405020304" pitchFamily="18" charset="0"/>
                <a:cs typeface="Times New Roman" panose="02020603050405020304" pitchFamily="18" charset="0"/>
              </a:rPr>
              <a:t> dung…</a:t>
            </a:r>
          </a:p>
        </p:txBody>
      </p:sp>
      <p:sp>
        <p:nvSpPr>
          <p:cNvPr id="10" name="직사각형 9"/>
          <p:cNvSpPr/>
          <p:nvPr/>
        </p:nvSpPr>
        <p:spPr bwMode="auto">
          <a:xfrm>
            <a:off x="2393950" y="4076700"/>
            <a:ext cx="6110288" cy="865188"/>
          </a:xfrm>
          <a:prstGeom prst="rect">
            <a:avLst/>
          </a:prstGeom>
          <a:solidFill>
            <a:schemeClr val="bg1"/>
          </a:solidFill>
          <a:ln w="9525" cap="flat" cmpd="sng" algn="ctr">
            <a:noFill/>
            <a:prstDash val="solid"/>
            <a:round/>
            <a:headEnd type="none" w="med" len="med"/>
            <a:tailEnd type="none" w="med" len="med"/>
          </a:ln>
          <a:effectLst/>
          <a:extLst/>
        </p:spPr>
        <p:txBody>
          <a:bodyPr/>
          <a:lstStyle/>
          <a:p>
            <a:pPr>
              <a:defRPr/>
            </a:pPr>
            <a:r>
              <a:rPr lang="en-US" altLang="ko-KR" sz="1000" b="1" dirty="0" err="1">
                <a:latin typeface="Times New Roman" panose="02020603050405020304" pitchFamily="18" charset="0"/>
                <a:cs typeface="Times New Roman" panose="02020603050405020304" pitchFamily="18" charset="0"/>
              </a:rPr>
              <a:t>Cảm</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biến</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áp</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suất</a:t>
            </a:r>
            <a:endParaRPr lang="en-US" altLang="ko-KR" sz="10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đổi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sự</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hóa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của</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không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thành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điện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thông</a:t>
            </a:r>
            <a:r>
              <a:rPr lang="en-US" altLang="ko-KR" sz="1000" dirty="0">
                <a:latin typeface="Times New Roman" panose="02020603050405020304" pitchFamily="18" charset="0"/>
                <a:cs typeface="Times New Roman" panose="02020603050405020304" pitchFamily="18" charset="0"/>
              </a:rPr>
              <a:t> qua </a:t>
            </a:r>
            <a:r>
              <a:rPr lang="en-US" altLang="ko-KR" sz="1000" dirty="0" err="1">
                <a:latin typeface="Times New Roman" panose="02020603050405020304" pitchFamily="18" charset="0"/>
                <a:cs typeface="Times New Roman" panose="02020603050405020304" pitchFamily="18" charset="0"/>
              </a:rPr>
              <a:t>linh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kiện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ở </a:t>
            </a:r>
            <a:r>
              <a:rPr lang="en-US" altLang="ko-KR" sz="1000" dirty="0" err="1">
                <a:latin typeface="Times New Roman" panose="02020603050405020304" pitchFamily="18" charset="0"/>
                <a:cs typeface="Times New Roman" panose="02020603050405020304" pitchFamily="18" charset="0"/>
              </a:rPr>
              <a:t>bên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trong</a:t>
            </a:r>
            <a:endParaRPr lang="en-US" altLang="ko-K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Khi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vượt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quá</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giá</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trị</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suất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đã</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cài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đặt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trước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bằng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cách</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tạo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điện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suất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này</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được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dụng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trong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việc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xác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hấp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thụ</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độ</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rò</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quản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lý</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áp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suất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cung</a:t>
            </a:r>
            <a:r>
              <a:rPr lang="en-US" altLang="ko-KR" sz="1000" dirty="0">
                <a:latin typeface="Times New Roman" panose="02020603050405020304" pitchFamily="18" charset="0"/>
                <a:cs typeface="Times New Roman" panose="02020603050405020304" pitchFamily="18" charset="0"/>
              </a:rPr>
              <a:t>…</a:t>
            </a:r>
          </a:p>
        </p:txBody>
      </p:sp>
      <p:sp>
        <p:nvSpPr>
          <p:cNvPr id="12" name="직사각형 11"/>
          <p:cNvSpPr/>
          <p:nvPr/>
        </p:nvSpPr>
        <p:spPr bwMode="auto">
          <a:xfrm>
            <a:off x="2411413" y="5229225"/>
            <a:ext cx="5770562" cy="865188"/>
          </a:xfrm>
          <a:prstGeom prst="rect">
            <a:avLst/>
          </a:prstGeom>
          <a:solidFill>
            <a:schemeClr val="bg1"/>
          </a:solidFill>
          <a:ln w="9525" cap="flat" cmpd="sng" algn="ctr">
            <a:noFill/>
            <a:prstDash val="solid"/>
            <a:round/>
            <a:headEnd type="none" w="med" len="med"/>
            <a:tailEnd type="none" w="med" len="med"/>
          </a:ln>
          <a:effectLst/>
          <a:extLst/>
        </p:spPr>
        <p:txBody>
          <a:bodyPr/>
          <a:lstStyle/>
          <a:p>
            <a:pPr>
              <a:defRPr/>
            </a:pPr>
            <a:r>
              <a:rPr lang="en-US" altLang="ko-KR" sz="1000" b="1" dirty="0" err="1">
                <a:latin typeface="Times New Roman" panose="02020603050405020304" pitchFamily="18" charset="0"/>
                <a:cs typeface="Times New Roman" panose="02020603050405020304" pitchFamily="18" charset="0"/>
              </a:rPr>
              <a:t>Cảm</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biến</a:t>
            </a:r>
            <a:r>
              <a:rPr lang="en-US" altLang="ko-KR" sz="1000" b="1" dirty="0">
                <a:latin typeface="Times New Roman" panose="02020603050405020304" pitchFamily="18" charset="0"/>
                <a:cs typeface="Times New Roman" panose="02020603050405020304" pitchFamily="18" charset="0"/>
              </a:rPr>
              <a:t> </a:t>
            </a:r>
            <a:r>
              <a:rPr lang="en-US" altLang="ko-KR" sz="1000" b="1" dirty="0" err="1">
                <a:latin typeface="Times New Roman" panose="02020603050405020304" pitchFamily="18" charset="0"/>
                <a:cs typeface="Times New Roman" panose="02020603050405020304" pitchFamily="18" charset="0"/>
              </a:rPr>
              <a:t>khác</a:t>
            </a:r>
            <a:endParaRPr lang="en-US" altLang="ko-KR" sz="10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lưu</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lượng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lượng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dòng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chảy</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như</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nước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khí</a:t>
            </a:r>
            <a:r>
              <a:rPr lang="en-US" altLang="ko-KR" sz="1000" dirty="0">
                <a:latin typeface="Times New Roman" panose="02020603050405020304" pitchFamily="18" charset="0"/>
                <a:cs typeface="Times New Roman" panose="02020603050405020304" pitchFamily="18" charset="0"/>
              </a:rPr>
              <a:t>, …</a:t>
            </a: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nhiệt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độ</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cảm</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biến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đo</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nhiệt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độ</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có</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hai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loại</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tiếp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xúc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và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không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tiếp</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xúc</a:t>
            </a:r>
            <a:endParaRPr lang="en-US" altLang="ko-K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ko-KR" sz="1000" dirty="0" err="1">
                <a:latin typeface="Times New Roman" panose="02020603050405020304" pitchFamily="18" charset="0"/>
                <a:cs typeface="Times New Roman" panose="02020603050405020304" pitchFamily="18" charset="0"/>
              </a:rPr>
              <a:t>Hệ</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thống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thị</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giác</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Là</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hệ</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thống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sử</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dụng</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tín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hiệu</a:t>
            </a:r>
            <a:r>
              <a:rPr lang="en-US" altLang="ko-KR" sz="1000" dirty="0">
                <a:latin typeface="Times New Roman" panose="02020603050405020304" pitchFamily="18" charset="0"/>
                <a:cs typeface="Times New Roman" panose="02020603050405020304" pitchFamily="18" charset="0"/>
              </a:rPr>
              <a:t> video </a:t>
            </a:r>
            <a:r>
              <a:rPr lang="en-US" altLang="ko-KR" sz="1000" dirty="0" err="1">
                <a:latin typeface="Times New Roman" panose="02020603050405020304" pitchFamily="18" charset="0"/>
                <a:cs typeface="Times New Roman" panose="02020603050405020304" pitchFamily="18" charset="0"/>
              </a:rPr>
              <a:t>xuất</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hiện</a:t>
            </a:r>
            <a:r>
              <a:rPr lang="en-US" altLang="ko-KR" sz="1000" dirty="0">
                <a:latin typeface="Times New Roman" panose="02020603050405020304" pitchFamily="18" charset="0"/>
                <a:cs typeface="Times New Roman" panose="02020603050405020304" pitchFamily="18" charset="0"/>
              </a:rPr>
              <a:t> </a:t>
            </a:r>
            <a:r>
              <a:rPr lang="en-US" altLang="ko-KR" sz="1000" dirty="0" err="1">
                <a:latin typeface="Times New Roman" panose="02020603050405020304" pitchFamily="18" charset="0"/>
                <a:cs typeface="Times New Roman" panose="02020603050405020304" pitchFamily="18" charset="0"/>
              </a:rPr>
              <a:t>trên</a:t>
            </a:r>
            <a:r>
              <a:rPr lang="en-US" altLang="ko-KR" sz="1000" dirty="0">
                <a:latin typeface="Times New Roman" panose="02020603050405020304" pitchFamily="18" charset="0"/>
                <a:cs typeface="Times New Roman" panose="02020603050405020304" pitchFamily="18" charset="0"/>
              </a:rPr>
              <a:t> camera</a:t>
            </a:r>
          </a:p>
        </p:txBody>
      </p:sp>
    </p:spTree>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12B8902-AF02-4750-9D01-8B01A3273BCE}" type="slidenum">
              <a:rPr lang="en-US" altLang="ko-KR" sz="1400" smtClean="0">
                <a:latin typeface="Times New Roman" pitchFamily="18" charset="0"/>
                <a:cs typeface="Times New Roman" pitchFamily="18" charset="0"/>
              </a:rPr>
              <a:pPr eaLnBrk="1" hangingPunct="1"/>
              <a:t>150</a:t>
            </a:fld>
            <a:endParaRPr lang="en-US" altLang="ko-KR" sz="1400" smtClean="0">
              <a:latin typeface="Times New Roman" pitchFamily="18" charset="0"/>
              <a:cs typeface="Times New Roman" pitchFamily="18" charset="0"/>
            </a:endParaRPr>
          </a:p>
        </p:txBody>
      </p:sp>
      <p:pic>
        <p:nvPicPr>
          <p:cNvPr id="158723" name="Picture 2" descr="ee_spy31"/>
          <p:cNvPicPr>
            <a:picLocks noChangeAspect="1" noChangeArrowheads="1"/>
          </p:cNvPicPr>
          <p:nvPr/>
        </p:nvPicPr>
        <p:blipFill>
          <a:blip r:embed="rId3">
            <a:extLst>
              <a:ext uri="{28A0092B-C50C-407E-A947-70E740481C1C}">
                <a14:useLocalDpi xmlns:a14="http://schemas.microsoft.com/office/drawing/2010/main" val="0"/>
              </a:ext>
            </a:extLst>
          </a:blip>
          <a:srcRect b="-441"/>
          <a:stretch>
            <a:fillRect/>
          </a:stretch>
        </p:blipFill>
        <p:spPr bwMode="auto">
          <a:xfrm>
            <a:off x="5645150" y="2076450"/>
            <a:ext cx="1481138"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475" y="4367213"/>
            <a:ext cx="695325"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4381500"/>
            <a:ext cx="7556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6" name="Rectangle 6"/>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Các loại</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Photo Sensor</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nhỏ</a:t>
            </a:r>
            <a:endParaRPr lang="ko-KR" altLang="en-US" b="1">
              <a:latin typeface="Times New Roman" pitchFamily="18" charset="0"/>
              <a:cs typeface="Times New Roman" pitchFamily="18" charset="0"/>
            </a:endParaRPr>
          </a:p>
        </p:txBody>
      </p:sp>
      <p:graphicFrame>
        <p:nvGraphicFramePr>
          <p:cNvPr id="2846729" name="Group 9"/>
          <p:cNvGraphicFramePr>
            <a:graphicFrameLocks noGrp="1"/>
          </p:cNvGraphicFramePr>
          <p:nvPr/>
        </p:nvGraphicFramePr>
        <p:xfrm>
          <a:off x="828675" y="1412875"/>
          <a:ext cx="7773988" cy="4741864"/>
        </p:xfrm>
        <a:graphic>
          <a:graphicData uri="http://schemas.openxmlformats.org/drawingml/2006/table">
            <a:tbl>
              <a:tblPr/>
              <a:tblGrid>
                <a:gridCol w="574973"/>
                <a:gridCol w="1296690"/>
                <a:gridCol w="1439862"/>
                <a:gridCol w="1487488"/>
                <a:gridCol w="1392584"/>
                <a:gridCol w="1582391"/>
              </a:tblGrid>
              <a:tr h="243826">
                <a:tc row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Tên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gọi</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Photo Coupler</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row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Photointerrupter</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gridSpan="3">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Photo·Microsensor</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hMerge="1">
                  <a:txBody>
                    <a:bodyPr/>
                    <a:lstStyle/>
                    <a:p>
                      <a:pPr latinLnBrk="1"/>
                      <a:endParaRPr lang="ko-KR" altLang="en-US"/>
                    </a:p>
                  </a:txBody>
                  <a:tcPr/>
                </a:tc>
                <a:tc hMerge="1">
                  <a:txBody>
                    <a:bodyPr/>
                    <a:lstStyle/>
                    <a:p>
                      <a:pPr latinLnBrk="1"/>
                      <a:endParaRPr lang="ko-KR" altLang="en-US"/>
                    </a:p>
                  </a:txBody>
                  <a:tcPr/>
                </a:tc>
              </a:tr>
              <a:tr h="396226">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hình</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móng</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ngựa</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hồi</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quy</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r>
              <a:tr h="11142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Bề</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ngoài</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2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dán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PCB</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3">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phần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ngoài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(connector</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cable)</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r>
              <a:tr h="54862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Nguồn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Thông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thường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hạn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6V,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số</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2</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35V.</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3">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DC12~24, DC5~24[V] Theo Spec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theo</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chủng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r>
              <a:tr h="204274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Mạch</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bên</a:t>
                      </a:r>
                      <a:r>
                        <a:rPr kumimoji="1" lang="en-US" altLang="ko-KR"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1"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endParaRPr kumimoji="1" lang="ko-KR" altLang="en-US" sz="1000" b="1"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r>
            </a:tbl>
          </a:graphicData>
        </a:graphic>
      </p:graphicFrame>
      <p:pic>
        <p:nvPicPr>
          <p:cNvPr id="158766" name="Picture 48" descr="4073"/>
          <p:cNvPicPr>
            <a:picLocks noChangeAspect="1" noChangeArrowheads="1"/>
          </p:cNvPicPr>
          <p:nvPr/>
        </p:nvPicPr>
        <p:blipFill>
          <a:blip r:embed="rId6">
            <a:extLst>
              <a:ext uri="{28A0092B-C50C-407E-A947-70E740481C1C}">
                <a14:useLocalDpi xmlns:a14="http://schemas.microsoft.com/office/drawing/2010/main" val="0"/>
              </a:ext>
            </a:extLst>
          </a:blip>
          <a:srcRect r="-294"/>
          <a:stretch>
            <a:fillRect/>
          </a:stretch>
        </p:blipFill>
        <p:spPr bwMode="auto">
          <a:xfrm>
            <a:off x="1692275" y="2203450"/>
            <a:ext cx="763588"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67" name="Picture 49" descr="105"/>
          <p:cNvPicPr>
            <a:picLocks noChangeAspect="1" noChangeArrowheads="1"/>
          </p:cNvPicPr>
          <p:nvPr/>
        </p:nvPicPr>
        <p:blipFill>
          <a:blip r:embed="rId7">
            <a:extLst>
              <a:ext uri="{28A0092B-C50C-407E-A947-70E740481C1C}">
                <a14:useLocalDpi xmlns:a14="http://schemas.microsoft.com/office/drawing/2010/main" val="0"/>
              </a:ext>
            </a:extLst>
          </a:blip>
          <a:srcRect b="-340"/>
          <a:stretch>
            <a:fillRect/>
          </a:stretch>
        </p:blipFill>
        <p:spPr bwMode="auto">
          <a:xfrm>
            <a:off x="2843213" y="21320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68" name="Picture 50" descr="ee_spx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2113" y="2133600"/>
            <a:ext cx="1408112"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69" name="Picture 51" descr="ee_spz_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35825" y="2122488"/>
            <a:ext cx="116046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70" name="Picture 52"/>
          <p:cNvPicPr>
            <a:picLocks noChangeAspect="1" noChangeArrowheads="1"/>
          </p:cNvPicPr>
          <p:nvPr/>
        </p:nvPicPr>
        <p:blipFill>
          <a:blip r:embed="rId10">
            <a:extLst>
              <a:ext uri="{28A0092B-C50C-407E-A947-70E740481C1C}">
                <a14:useLocalDpi xmlns:a14="http://schemas.microsoft.com/office/drawing/2010/main" val="0"/>
              </a:ext>
            </a:extLst>
          </a:blip>
          <a:srcRect b="10707"/>
          <a:stretch>
            <a:fillRect/>
          </a:stretch>
        </p:blipFill>
        <p:spPr bwMode="auto">
          <a:xfrm>
            <a:off x="4722813" y="4354513"/>
            <a:ext cx="3400425" cy="152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8771" name="Group 53"/>
          <p:cNvGrpSpPr>
            <a:grpSpLocks/>
          </p:cNvGrpSpPr>
          <p:nvPr/>
        </p:nvGrpSpPr>
        <p:grpSpPr bwMode="auto">
          <a:xfrm>
            <a:off x="2843213" y="4467225"/>
            <a:ext cx="1152525" cy="1265238"/>
            <a:chOff x="1791" y="2831"/>
            <a:chExt cx="726" cy="797"/>
          </a:xfrm>
        </p:grpSpPr>
        <p:grpSp>
          <p:nvGrpSpPr>
            <p:cNvPr id="158775" name="Group 54"/>
            <p:cNvGrpSpPr>
              <a:grpSpLocks/>
            </p:cNvGrpSpPr>
            <p:nvPr/>
          </p:nvGrpSpPr>
          <p:grpSpPr bwMode="auto">
            <a:xfrm>
              <a:off x="1791" y="2998"/>
              <a:ext cx="726" cy="451"/>
              <a:chOff x="3264" y="1122"/>
              <a:chExt cx="960" cy="678"/>
            </a:xfrm>
          </p:grpSpPr>
          <p:sp>
            <p:nvSpPr>
              <p:cNvPr id="158780" name="Rectangle 55"/>
              <p:cNvSpPr>
                <a:spLocks noChangeArrowheads="1"/>
              </p:cNvSpPr>
              <p:nvPr/>
            </p:nvSpPr>
            <p:spPr bwMode="auto">
              <a:xfrm>
                <a:off x="3264" y="1152"/>
                <a:ext cx="960" cy="6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81" name="AutoShape 56"/>
              <p:cNvSpPr>
                <a:spLocks noChangeArrowheads="1"/>
              </p:cNvSpPr>
              <p:nvPr/>
            </p:nvSpPr>
            <p:spPr bwMode="auto">
              <a:xfrm>
                <a:off x="3408" y="1392"/>
                <a:ext cx="192" cy="192"/>
              </a:xfrm>
              <a:prstGeom prst="flowChartMerge">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82" name="Line 57"/>
              <p:cNvSpPr>
                <a:spLocks noChangeShapeType="1"/>
              </p:cNvSpPr>
              <p:nvPr/>
            </p:nvSpPr>
            <p:spPr bwMode="auto">
              <a:xfrm>
                <a:off x="3426" y="158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3" name="Line 58"/>
              <p:cNvSpPr>
                <a:spLocks noChangeShapeType="1"/>
              </p:cNvSpPr>
              <p:nvPr/>
            </p:nvSpPr>
            <p:spPr bwMode="auto">
              <a:xfrm flipV="1">
                <a:off x="3504" y="115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4" name="Line 59"/>
              <p:cNvSpPr>
                <a:spLocks noChangeShapeType="1"/>
              </p:cNvSpPr>
              <p:nvPr/>
            </p:nvSpPr>
            <p:spPr bwMode="auto">
              <a:xfrm flipV="1">
                <a:off x="3504" y="158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5" name="Line 60"/>
              <p:cNvSpPr>
                <a:spLocks noChangeShapeType="1"/>
              </p:cNvSpPr>
              <p:nvPr/>
            </p:nvSpPr>
            <p:spPr bwMode="auto">
              <a:xfrm>
                <a:off x="3852" y="133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6" name="Line 61"/>
              <p:cNvSpPr>
                <a:spLocks noChangeShapeType="1"/>
              </p:cNvSpPr>
              <p:nvPr/>
            </p:nvSpPr>
            <p:spPr bwMode="auto">
              <a:xfrm flipV="1">
                <a:off x="3852" y="1326"/>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7" name="Line 62"/>
              <p:cNvSpPr>
                <a:spLocks noChangeShapeType="1"/>
              </p:cNvSpPr>
              <p:nvPr/>
            </p:nvSpPr>
            <p:spPr bwMode="auto">
              <a:xfrm rot="-1196941">
                <a:off x="3870" y="1488"/>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8" name="Line 63"/>
              <p:cNvSpPr>
                <a:spLocks noChangeShapeType="1"/>
              </p:cNvSpPr>
              <p:nvPr/>
            </p:nvSpPr>
            <p:spPr bwMode="auto">
              <a:xfrm flipV="1">
                <a:off x="3984" y="115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89" name="Line 64"/>
              <p:cNvSpPr>
                <a:spLocks noChangeShapeType="1"/>
              </p:cNvSpPr>
              <p:nvPr/>
            </p:nvSpPr>
            <p:spPr bwMode="auto">
              <a:xfrm>
                <a:off x="4002" y="158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90" name="Oval 65"/>
              <p:cNvSpPr>
                <a:spLocks noChangeArrowheads="1"/>
              </p:cNvSpPr>
              <p:nvPr/>
            </p:nvSpPr>
            <p:spPr bwMode="auto">
              <a:xfrm>
                <a:off x="3480" y="112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91" name="Oval 66"/>
              <p:cNvSpPr>
                <a:spLocks noChangeArrowheads="1"/>
              </p:cNvSpPr>
              <p:nvPr/>
            </p:nvSpPr>
            <p:spPr bwMode="auto">
              <a:xfrm>
                <a:off x="3480" y="17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92" name="Oval 67"/>
              <p:cNvSpPr>
                <a:spLocks noChangeArrowheads="1"/>
              </p:cNvSpPr>
              <p:nvPr/>
            </p:nvSpPr>
            <p:spPr bwMode="auto">
              <a:xfrm>
                <a:off x="3978" y="17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93" name="Oval 68"/>
              <p:cNvSpPr>
                <a:spLocks noChangeArrowheads="1"/>
              </p:cNvSpPr>
              <p:nvPr/>
            </p:nvSpPr>
            <p:spPr bwMode="auto">
              <a:xfrm>
                <a:off x="3966" y="112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58794" name="Line 69"/>
              <p:cNvSpPr>
                <a:spLocks noChangeShapeType="1"/>
              </p:cNvSpPr>
              <p:nvPr/>
            </p:nvSpPr>
            <p:spPr bwMode="auto">
              <a:xfrm>
                <a:off x="3696" y="1440"/>
                <a:ext cx="14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95" name="Line 70"/>
              <p:cNvSpPr>
                <a:spLocks noChangeShapeType="1"/>
              </p:cNvSpPr>
              <p:nvPr/>
            </p:nvSpPr>
            <p:spPr bwMode="auto">
              <a:xfrm>
                <a:off x="3696" y="1440"/>
                <a:ext cx="4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58796" name="Line 71"/>
              <p:cNvSpPr>
                <a:spLocks noChangeShapeType="1"/>
              </p:cNvSpPr>
              <p:nvPr/>
            </p:nvSpPr>
            <p:spPr bwMode="auto">
              <a:xfrm flipH="1" flipV="1">
                <a:off x="3600" y="1440"/>
                <a:ext cx="14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158776" name="Text Box 72"/>
            <p:cNvSpPr txBox="1">
              <a:spLocks noChangeArrowheads="1"/>
            </p:cNvSpPr>
            <p:nvPr/>
          </p:nvSpPr>
          <p:spPr bwMode="auto">
            <a:xfrm>
              <a:off x="1876" y="2831"/>
              <a:ext cx="186"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A</a:t>
              </a:r>
            </a:p>
          </p:txBody>
        </p:sp>
        <p:sp>
          <p:nvSpPr>
            <p:cNvPr id="158777" name="Text Box 73"/>
            <p:cNvSpPr txBox="1">
              <a:spLocks noChangeArrowheads="1"/>
            </p:cNvSpPr>
            <p:nvPr/>
          </p:nvSpPr>
          <p:spPr bwMode="auto">
            <a:xfrm>
              <a:off x="1877" y="3454"/>
              <a:ext cx="192"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K</a:t>
              </a:r>
            </a:p>
          </p:txBody>
        </p:sp>
        <p:sp>
          <p:nvSpPr>
            <p:cNvPr id="158778" name="Text Box 74"/>
            <p:cNvSpPr txBox="1">
              <a:spLocks noChangeArrowheads="1"/>
            </p:cNvSpPr>
            <p:nvPr/>
          </p:nvSpPr>
          <p:spPr bwMode="auto">
            <a:xfrm>
              <a:off x="2259" y="3454"/>
              <a:ext cx="181"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E</a:t>
              </a:r>
            </a:p>
          </p:txBody>
        </p:sp>
        <p:sp>
          <p:nvSpPr>
            <p:cNvPr id="158779" name="Text Box 75"/>
            <p:cNvSpPr txBox="1">
              <a:spLocks noChangeArrowheads="1"/>
            </p:cNvSpPr>
            <p:nvPr/>
          </p:nvSpPr>
          <p:spPr bwMode="auto">
            <a:xfrm>
              <a:off x="2246" y="2836"/>
              <a:ext cx="186" cy="17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C</a:t>
              </a:r>
            </a:p>
          </p:txBody>
        </p:sp>
      </p:grpSp>
      <p:sp>
        <p:nvSpPr>
          <p:cNvPr id="158772" name="Text Box 76"/>
          <p:cNvSpPr txBox="1">
            <a:spLocks noChangeArrowheads="1"/>
          </p:cNvSpPr>
          <p:nvPr/>
        </p:nvSpPr>
        <p:spPr bwMode="auto">
          <a:xfrm>
            <a:off x="4716463" y="3878263"/>
            <a:ext cx="9667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a:latin typeface="Times New Roman" pitchFamily="18" charset="0"/>
                <a:cs typeface="Times New Roman" pitchFamily="18" charset="0"/>
              </a:rPr>
              <a:t>＊</a:t>
            </a:r>
            <a:r>
              <a:rPr lang="en-US" altLang="ko-KR">
                <a:latin typeface="Times New Roman" pitchFamily="18" charset="0"/>
                <a:cs typeface="Times New Roman" pitchFamily="18" charset="0"/>
              </a:rPr>
              <a:t>Loại NPN</a:t>
            </a:r>
            <a:endParaRPr lang="ko-KR" altLang="en-US">
              <a:latin typeface="Times New Roman" pitchFamily="18" charset="0"/>
              <a:cs typeface="Times New Roman" pitchFamily="18" charset="0"/>
            </a:endParaRPr>
          </a:p>
        </p:txBody>
      </p:sp>
      <p:sp>
        <p:nvSpPr>
          <p:cNvPr id="15877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58774"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02047FE-E23B-4206-9AAA-14FD98980DB5}" type="slidenum">
              <a:rPr lang="en-US" altLang="ko-KR" sz="1400" smtClean="0">
                <a:latin typeface="Times New Roman" pitchFamily="18" charset="0"/>
                <a:cs typeface="Times New Roman" pitchFamily="18" charset="0"/>
              </a:rPr>
              <a:pPr eaLnBrk="1" hangingPunct="1"/>
              <a:t>151</a:t>
            </a:fld>
            <a:endParaRPr lang="en-US" altLang="ko-KR" sz="1400" smtClean="0">
              <a:latin typeface="Times New Roman" pitchFamily="18" charset="0"/>
              <a:cs typeface="Times New Roman" pitchFamily="18" charset="0"/>
            </a:endParaRPr>
          </a:p>
        </p:txBody>
      </p:sp>
      <p:sp>
        <p:nvSpPr>
          <p:cNvPr id="159747" name="Rectangle 3"/>
          <p:cNvSpPr>
            <a:spLocks noChangeArrowheads="1"/>
          </p:cNvSpPr>
          <p:nvPr/>
        </p:nvSpPr>
        <p:spPr bwMode="auto">
          <a:xfrm>
            <a:off x="827088" y="4048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Cảm biến quang</a:t>
            </a:r>
            <a:endParaRPr lang="ko-KR" altLang="en-US" b="1">
              <a:latin typeface="Times New Roman" pitchFamily="18" charset="0"/>
              <a:cs typeface="Times New Roman" pitchFamily="18" charset="0"/>
            </a:endParaRPr>
          </a:p>
          <a:p>
            <a:pPr eaLnBrk="1" hangingPunct="1"/>
            <a:endParaRPr lang="ko-KR" altLang="en-US" sz="600">
              <a:latin typeface="Times New Roman" pitchFamily="18" charset="0"/>
              <a:cs typeface="Times New Roman" pitchFamily="18" charset="0"/>
            </a:endParaRPr>
          </a:p>
          <a:p>
            <a:pPr eaLnBrk="1" hangingPunct="1"/>
            <a:r>
              <a:rPr lang="en-US" altLang="ko-KR">
                <a:latin typeface="Times New Roman" pitchFamily="18" charset="0"/>
                <a:cs typeface="Times New Roman" pitchFamily="18" charset="0"/>
              </a:rPr>
              <a:t>Phân biệt các loại cảm biến thường được sử dụng nhiều nhất trong thiết bị là loại trong suốt, loại phản chiếu hồi quy và loại phản chiếu khuếch tán</a:t>
            </a:r>
            <a:endParaRPr lang="ko-KR" altLang="en-US">
              <a:latin typeface="Times New Roman" pitchFamily="18" charset="0"/>
              <a:cs typeface="Times New Roman" pitchFamily="18" charset="0"/>
            </a:endParaRPr>
          </a:p>
        </p:txBody>
      </p:sp>
      <p:graphicFrame>
        <p:nvGraphicFramePr>
          <p:cNvPr id="2797621" name="Group 53"/>
          <p:cNvGraphicFramePr>
            <a:graphicFrameLocks noGrp="1"/>
          </p:cNvGraphicFramePr>
          <p:nvPr>
            <p:extLst>
              <p:ext uri="{D42A27DB-BD31-4B8C-83A1-F6EECF244321}">
                <p14:modId xmlns:p14="http://schemas.microsoft.com/office/powerpoint/2010/main" val="1401341847"/>
              </p:ext>
            </p:extLst>
          </p:nvPr>
        </p:nvGraphicFramePr>
        <p:xfrm>
          <a:off x="900113" y="1341438"/>
          <a:ext cx="7848600" cy="5039891"/>
        </p:xfrm>
        <a:graphic>
          <a:graphicData uri="http://schemas.openxmlformats.org/drawingml/2006/table">
            <a:tbl>
              <a:tblPr/>
              <a:tblGrid>
                <a:gridCol w="441325"/>
                <a:gridCol w="2517775"/>
                <a:gridCol w="2440979"/>
                <a:gridCol w="2448521"/>
              </a:tblGrid>
              <a:tr h="30763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Chủng</a:t>
                      </a:r>
                      <a:r>
                        <a:rPr kumimoji="1" lang="en-US" altLang="ko-KR" sz="7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7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endParaRPr kumimoji="1" lang="ko-KR" altLang="en-US" sz="7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quát</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Ưu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Nhược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tr>
              <a:tr h="1613765">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suốt</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dựa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vào</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việc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ngăn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chùm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giữa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diện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Khoảng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dài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chính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xác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cao</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được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những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nhỏ</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liên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đến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hình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sắc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chất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liệu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suốt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những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ô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nhiễm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kính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giữa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thì</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qua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đâu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cũng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gian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lắp</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rộng</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None/>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(So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gương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Chi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phí</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dây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lớn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None/>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(So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gương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diễn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sự</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tách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sóng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đồng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bộ</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dễ</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nhận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khác</a:t>
                      </a: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sinh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sự</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can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thiệp</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lẫn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nhau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Cần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điều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chỉnh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trục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13765">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hồi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quy</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gắn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bộ</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lọc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cực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nhận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được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kính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kính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Dễ</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điều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chỉnh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trục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Chỉ</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cần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dây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một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phía</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So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suốt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thì</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gian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lắp</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nhỏ</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liên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đến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hình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sắc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chất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liệu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suốt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giữa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biến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gương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thì</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dù</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qua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đâu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cũng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Cần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gương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chuyên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Khoảng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ngắn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so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trong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suốt</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None/>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cùng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một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sê</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phẩm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None/>
                        <a:tabLst/>
                      </a:pPr>
                      <a:endPar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047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khuếch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tán</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lên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nhận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chiếu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từ</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cần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điều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chỉnh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trục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gian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lắp</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nhỏ</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Chỉ</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cần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dây</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một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phía</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những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biến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trước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sau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Khoảng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rộng</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Khoảng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ngắn</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None/>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Chuẩn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bị</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sản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phẩm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cùng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sê</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phát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sinh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hiện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tượng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khoảng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ngắn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được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không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ổn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định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chính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xác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giảm</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theo</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hình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màu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sắc</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trạng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thái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bề</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mặt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chất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liệu</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của</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trường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hợp</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phân</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tích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những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xung</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quanh</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và</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vật</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bối</a:t>
                      </a:r>
                      <a:r>
                        <a:rPr kumimoji="1" lang="en-US" altLang="ko-KR"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9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cảnh</a:t>
                      </a:r>
                      <a:endParaRPr kumimoji="1" lang="ko-KR" altLang="en-US" sz="9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72000" marR="72000" marT="46783" marB="467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59775"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1988840"/>
            <a:ext cx="1944688"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76"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9225" y="3722365"/>
            <a:ext cx="2376488"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77" name="Text Box 38"/>
          <p:cNvSpPr txBox="1">
            <a:spLocks noChangeArrowheads="1"/>
          </p:cNvSpPr>
          <p:nvPr/>
        </p:nvSpPr>
        <p:spPr bwMode="auto">
          <a:xfrm>
            <a:off x="1898724" y="4581128"/>
            <a:ext cx="188118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dirty="0">
                <a:latin typeface="Times New Roman" pitchFamily="18" charset="0"/>
                <a:cs typeface="Times New Roman" pitchFamily="18" charset="0"/>
              </a:rPr>
              <a:t>★</a:t>
            </a:r>
            <a:r>
              <a:rPr lang="en-US" altLang="ko-KR" sz="1000" b="1" dirty="0" err="1">
                <a:latin typeface="Times New Roman" pitchFamily="18" charset="0"/>
                <a:cs typeface="Times New Roman" pitchFamily="18" charset="0"/>
              </a:rPr>
              <a:t>Loại</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có</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bộ</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lọc</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sáng</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phân</a:t>
            </a:r>
            <a:r>
              <a:rPr lang="en-US" altLang="ko-KR" sz="1000" b="1" dirty="0">
                <a:latin typeface="Times New Roman" pitchFamily="18" charset="0"/>
                <a:cs typeface="Times New Roman" pitchFamily="18" charset="0"/>
              </a:rPr>
              <a:t> </a:t>
            </a:r>
            <a:r>
              <a:rPr lang="en-US" altLang="ko-KR" sz="1000" b="1" dirty="0" err="1">
                <a:latin typeface="Times New Roman" pitchFamily="18" charset="0"/>
                <a:cs typeface="Times New Roman" pitchFamily="18" charset="0"/>
              </a:rPr>
              <a:t>cực</a:t>
            </a:r>
            <a:endParaRPr lang="ko-KR" altLang="en-US" sz="1000" b="1" dirty="0">
              <a:latin typeface="Times New Roman" pitchFamily="18" charset="0"/>
              <a:cs typeface="Times New Roman" pitchFamily="18" charset="0"/>
            </a:endParaRPr>
          </a:p>
        </p:txBody>
      </p:sp>
      <p:pic>
        <p:nvPicPr>
          <p:cNvPr id="159778"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5229200"/>
            <a:ext cx="1800225"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79"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59780"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59781" name="직사각형 1"/>
          <p:cNvSpPr>
            <a:spLocks noChangeArrowheads="1"/>
          </p:cNvSpPr>
          <p:nvPr/>
        </p:nvSpPr>
        <p:spPr bwMode="auto">
          <a:xfrm>
            <a:off x="1743075" y="6108675"/>
            <a:ext cx="525463" cy="1873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Sensor</a:t>
            </a:r>
            <a:endParaRPr lang="ko-KR" altLang="en-US" sz="900">
              <a:latin typeface="Times New Roman" pitchFamily="18" charset="0"/>
              <a:cs typeface="Times New Roman" pitchFamily="18" charset="0"/>
            </a:endParaRPr>
          </a:p>
        </p:txBody>
      </p:sp>
      <p:sp>
        <p:nvSpPr>
          <p:cNvPr id="159782" name="직사각형 11"/>
          <p:cNvSpPr>
            <a:spLocks noChangeArrowheads="1"/>
          </p:cNvSpPr>
          <p:nvPr/>
        </p:nvSpPr>
        <p:spPr bwMode="auto">
          <a:xfrm>
            <a:off x="2411413" y="6080100"/>
            <a:ext cx="10509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dirty="0" err="1">
                <a:latin typeface="Times New Roman" pitchFamily="18" charset="0"/>
                <a:cs typeface="Times New Roman" pitchFamily="18" charset="0"/>
              </a:rPr>
              <a:t>Khoảng</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phân</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tích</a:t>
            </a:r>
            <a:endParaRPr lang="ko-KR" altLang="en-US" sz="900" dirty="0">
              <a:latin typeface="Times New Roman" pitchFamily="18" charset="0"/>
              <a:cs typeface="Times New Roman" pitchFamily="18" charset="0"/>
            </a:endParaRPr>
          </a:p>
        </p:txBody>
      </p:sp>
      <p:sp>
        <p:nvSpPr>
          <p:cNvPr id="159783" name="직사각형 12"/>
          <p:cNvSpPr>
            <a:spLocks noChangeArrowheads="1"/>
          </p:cNvSpPr>
          <p:nvPr/>
        </p:nvSpPr>
        <p:spPr bwMode="auto">
          <a:xfrm>
            <a:off x="2771775" y="4393679"/>
            <a:ext cx="10509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dirty="0" err="1">
                <a:latin typeface="Times New Roman" pitchFamily="18" charset="0"/>
                <a:cs typeface="Times New Roman" pitchFamily="18" charset="0"/>
              </a:rPr>
              <a:t>Gương</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phản</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chiếu</a:t>
            </a:r>
            <a:endParaRPr lang="ko-KR" altLang="en-US" sz="900" dirty="0">
              <a:latin typeface="Times New Roman" pitchFamily="18" charset="0"/>
              <a:cs typeface="Times New Roman" pitchFamily="18" charset="0"/>
            </a:endParaRPr>
          </a:p>
        </p:txBody>
      </p:sp>
      <p:sp>
        <p:nvSpPr>
          <p:cNvPr id="159784" name="직사각형 13"/>
          <p:cNvSpPr>
            <a:spLocks noChangeArrowheads="1"/>
          </p:cNvSpPr>
          <p:nvPr/>
        </p:nvSpPr>
        <p:spPr bwMode="auto">
          <a:xfrm>
            <a:off x="1487488" y="4478039"/>
            <a:ext cx="568325" cy="212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dirty="0">
                <a:latin typeface="Times New Roman" pitchFamily="18" charset="0"/>
                <a:cs typeface="Times New Roman" pitchFamily="18" charset="0"/>
              </a:rPr>
              <a:t>Sensor</a:t>
            </a:r>
            <a:endParaRPr lang="ko-KR" altLang="en-US" sz="900" dirty="0">
              <a:latin typeface="Times New Roman" pitchFamily="18" charset="0"/>
              <a:cs typeface="Times New Roman" pitchFamily="18" charset="0"/>
            </a:endParaRPr>
          </a:p>
        </p:txBody>
      </p:sp>
      <p:sp>
        <p:nvSpPr>
          <p:cNvPr id="159785" name="직사각형 14"/>
          <p:cNvSpPr>
            <a:spLocks noChangeArrowheads="1"/>
          </p:cNvSpPr>
          <p:nvPr/>
        </p:nvSpPr>
        <p:spPr bwMode="auto">
          <a:xfrm>
            <a:off x="1403350" y="2707977"/>
            <a:ext cx="944563"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a:latin typeface="Times New Roman" pitchFamily="18" charset="0"/>
                <a:cs typeface="Times New Roman" pitchFamily="18" charset="0"/>
              </a:rPr>
              <a:t>Máy phát quang</a:t>
            </a:r>
            <a:endParaRPr lang="ko-KR" altLang="en-US" sz="900">
              <a:latin typeface="Times New Roman" pitchFamily="18" charset="0"/>
              <a:cs typeface="Times New Roman" pitchFamily="18" charset="0"/>
            </a:endParaRPr>
          </a:p>
        </p:txBody>
      </p:sp>
      <p:sp>
        <p:nvSpPr>
          <p:cNvPr id="159786" name="직사각형 15"/>
          <p:cNvSpPr>
            <a:spLocks noChangeArrowheads="1"/>
          </p:cNvSpPr>
          <p:nvPr/>
        </p:nvSpPr>
        <p:spPr bwMode="auto">
          <a:xfrm>
            <a:off x="2690813" y="2707977"/>
            <a:ext cx="944562" cy="2143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900" dirty="0" err="1">
                <a:latin typeface="Times New Roman" pitchFamily="18" charset="0"/>
                <a:cs typeface="Times New Roman" pitchFamily="18" charset="0"/>
              </a:rPr>
              <a:t>Máy</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thu</a:t>
            </a:r>
            <a:r>
              <a:rPr lang="en-US" altLang="ko-KR" sz="900" dirty="0">
                <a:latin typeface="Times New Roman" pitchFamily="18" charset="0"/>
                <a:cs typeface="Times New Roman" pitchFamily="18" charset="0"/>
              </a:rPr>
              <a:t> </a:t>
            </a:r>
            <a:r>
              <a:rPr lang="en-US" altLang="ko-KR" sz="900" dirty="0" err="1">
                <a:latin typeface="Times New Roman" pitchFamily="18" charset="0"/>
                <a:cs typeface="Times New Roman" pitchFamily="18" charset="0"/>
              </a:rPr>
              <a:t>quang</a:t>
            </a:r>
            <a:endParaRPr lang="ko-KR" altLang="en-US" sz="900" dirty="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C3D4D61-828D-473A-92CA-8484BA7E87AE}" type="slidenum">
              <a:rPr lang="en-US" altLang="ko-KR" sz="1400" smtClean="0">
                <a:latin typeface="Times New Roman" pitchFamily="18" charset="0"/>
                <a:cs typeface="Times New Roman" pitchFamily="18" charset="0"/>
              </a:rPr>
              <a:pPr eaLnBrk="1" hangingPunct="1"/>
              <a:t>152</a:t>
            </a:fld>
            <a:endParaRPr lang="en-US" altLang="ko-KR" sz="1400" smtClean="0">
              <a:latin typeface="Times New Roman" pitchFamily="18" charset="0"/>
              <a:cs typeface="Times New Roman" pitchFamily="18" charset="0"/>
            </a:endParaRPr>
          </a:p>
        </p:txBody>
      </p:sp>
      <p:sp>
        <p:nvSpPr>
          <p:cNvPr id="160771"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(4) Cảm biến không tiếp xúc</a:t>
            </a:r>
            <a:endParaRPr lang="ko-KR" altLang="en-US" b="1">
              <a:latin typeface="Times New Roman" pitchFamily="18" charset="0"/>
              <a:cs typeface="Times New Roman" pitchFamily="18" charset="0"/>
            </a:endParaRPr>
          </a:p>
          <a:p>
            <a:pPr eaLnBrk="1" hangingPunct="1"/>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Loại dao động cao tần(từ trường)</a:t>
            </a: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Loại cảm biến điện dung(Điện trường)</a:t>
            </a:r>
          </a:p>
        </p:txBody>
      </p:sp>
      <p:sp>
        <p:nvSpPr>
          <p:cNvPr id="160772" name="Rectangle 5"/>
          <p:cNvSpPr>
            <a:spLocks noChangeArrowheads="1"/>
          </p:cNvSpPr>
          <p:nvPr/>
        </p:nvSpPr>
        <p:spPr bwMode="auto">
          <a:xfrm>
            <a:off x="2192338" y="2009775"/>
            <a:ext cx="1631950" cy="1579563"/>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73" name="Rectangle 6"/>
          <p:cNvSpPr>
            <a:spLocks noChangeArrowheads="1"/>
          </p:cNvSpPr>
          <p:nvPr/>
        </p:nvSpPr>
        <p:spPr bwMode="auto">
          <a:xfrm>
            <a:off x="1352550" y="2122488"/>
            <a:ext cx="192088" cy="1354137"/>
          </a:xfrm>
          <a:prstGeom prst="rect">
            <a:avLst/>
          </a:prstGeom>
          <a:solidFill>
            <a:srgbClr val="008000"/>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74" name="Text Box 7"/>
          <p:cNvSpPr txBox="1">
            <a:spLocks noChangeArrowheads="1"/>
          </p:cNvSpPr>
          <p:nvPr/>
        </p:nvSpPr>
        <p:spPr bwMode="auto">
          <a:xfrm>
            <a:off x="893763" y="2122488"/>
            <a:ext cx="49212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Vật</a:t>
            </a:r>
          </a:p>
          <a:p>
            <a:pPr algn="ctr" eaLnBrk="1" hangingPunct="1"/>
            <a:r>
              <a:rPr lang="en-US" altLang="ko-KR">
                <a:latin typeface="Times New Roman" pitchFamily="18" charset="0"/>
                <a:cs typeface="Times New Roman" pitchFamily="18" charset="0"/>
              </a:rPr>
              <a:t>Thể</a:t>
            </a:r>
          </a:p>
          <a:p>
            <a:pPr algn="ctr" eaLnBrk="1" hangingPunct="1"/>
            <a:r>
              <a:rPr lang="en-US" altLang="ko-KR">
                <a:latin typeface="Times New Roman" pitchFamily="18" charset="0"/>
                <a:cs typeface="Times New Roman" pitchFamily="18" charset="0"/>
              </a:rPr>
              <a:t>Phân</a:t>
            </a:r>
          </a:p>
          <a:p>
            <a:pPr algn="ctr" eaLnBrk="1" hangingPunct="1"/>
            <a:r>
              <a:rPr lang="en-US" altLang="ko-KR">
                <a:latin typeface="Times New Roman" pitchFamily="18" charset="0"/>
                <a:cs typeface="Times New Roman" pitchFamily="18" charset="0"/>
              </a:rPr>
              <a:t>tích</a:t>
            </a:r>
            <a:endParaRPr lang="ko-KR" altLang="en-US">
              <a:latin typeface="Times New Roman" pitchFamily="18" charset="0"/>
              <a:cs typeface="Times New Roman" pitchFamily="18" charset="0"/>
            </a:endParaRPr>
          </a:p>
        </p:txBody>
      </p:sp>
      <p:sp>
        <p:nvSpPr>
          <p:cNvPr id="160775" name="Rectangle 8"/>
          <p:cNvSpPr>
            <a:spLocks noChangeArrowheads="1"/>
          </p:cNvSpPr>
          <p:nvPr/>
        </p:nvSpPr>
        <p:spPr bwMode="auto">
          <a:xfrm>
            <a:off x="2384425" y="2460625"/>
            <a:ext cx="192088" cy="677863"/>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76" name="Rectangle 9"/>
          <p:cNvSpPr>
            <a:spLocks noChangeArrowheads="1"/>
          </p:cNvSpPr>
          <p:nvPr/>
        </p:nvSpPr>
        <p:spPr bwMode="auto">
          <a:xfrm>
            <a:off x="2384425" y="3138488"/>
            <a:ext cx="192088" cy="22542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77" name="Line 10"/>
          <p:cNvSpPr>
            <a:spLocks noChangeShapeType="1"/>
          </p:cNvSpPr>
          <p:nvPr/>
        </p:nvSpPr>
        <p:spPr bwMode="auto">
          <a:xfrm flipV="1">
            <a:off x="2384425" y="3138488"/>
            <a:ext cx="192088" cy="2254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778" name="Line 11"/>
          <p:cNvSpPr>
            <a:spLocks noChangeShapeType="1"/>
          </p:cNvSpPr>
          <p:nvPr/>
        </p:nvSpPr>
        <p:spPr bwMode="auto">
          <a:xfrm>
            <a:off x="2384425" y="3138488"/>
            <a:ext cx="192088" cy="2254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779" name="Rectangle 12"/>
          <p:cNvSpPr>
            <a:spLocks noChangeArrowheads="1"/>
          </p:cNvSpPr>
          <p:nvPr/>
        </p:nvSpPr>
        <p:spPr bwMode="auto">
          <a:xfrm>
            <a:off x="2384425" y="2235200"/>
            <a:ext cx="192088" cy="22542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80" name="Line 13"/>
          <p:cNvSpPr>
            <a:spLocks noChangeShapeType="1"/>
          </p:cNvSpPr>
          <p:nvPr/>
        </p:nvSpPr>
        <p:spPr bwMode="auto">
          <a:xfrm flipV="1">
            <a:off x="2384425" y="2235200"/>
            <a:ext cx="192088" cy="2254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781" name="Line 14"/>
          <p:cNvSpPr>
            <a:spLocks noChangeShapeType="1"/>
          </p:cNvSpPr>
          <p:nvPr/>
        </p:nvSpPr>
        <p:spPr bwMode="auto">
          <a:xfrm>
            <a:off x="2384425" y="2235200"/>
            <a:ext cx="192088" cy="2254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160782" name="Group 15"/>
          <p:cNvGrpSpPr>
            <a:grpSpLocks/>
          </p:cNvGrpSpPr>
          <p:nvPr/>
        </p:nvGrpSpPr>
        <p:grpSpPr bwMode="auto">
          <a:xfrm>
            <a:off x="2768600" y="2573338"/>
            <a:ext cx="384175" cy="452437"/>
            <a:chOff x="1632" y="912"/>
            <a:chExt cx="192" cy="192"/>
          </a:xfrm>
        </p:grpSpPr>
        <p:sp>
          <p:nvSpPr>
            <p:cNvPr id="160830" name="Rectangle 16"/>
            <p:cNvSpPr>
              <a:spLocks noChangeArrowheads="1"/>
            </p:cNvSpPr>
            <p:nvPr/>
          </p:nvSpPr>
          <p:spPr bwMode="auto">
            <a:xfrm>
              <a:off x="1632" y="912"/>
              <a:ext cx="192" cy="19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31" name="Oval 17"/>
            <p:cNvSpPr>
              <a:spLocks noChangeArrowheads="1"/>
            </p:cNvSpPr>
            <p:nvPr/>
          </p:nvSpPr>
          <p:spPr bwMode="auto">
            <a:xfrm>
              <a:off x="1680" y="960"/>
              <a:ext cx="96" cy="96"/>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32" name="Freeform 18"/>
            <p:cNvSpPr>
              <a:spLocks/>
            </p:cNvSpPr>
            <p:nvPr/>
          </p:nvSpPr>
          <p:spPr bwMode="auto">
            <a:xfrm>
              <a:off x="1688" y="980"/>
              <a:ext cx="73" cy="52"/>
            </a:xfrm>
            <a:custGeom>
              <a:avLst/>
              <a:gdLst>
                <a:gd name="T0" fmla="*/ 0 w 73"/>
                <a:gd name="T1" fmla="*/ 40 h 52"/>
                <a:gd name="T2" fmla="*/ 31 w 73"/>
                <a:gd name="T3" fmla="*/ 9 h 52"/>
                <a:gd name="T4" fmla="*/ 47 w 73"/>
                <a:gd name="T5" fmla="*/ 32 h 52"/>
                <a:gd name="T6" fmla="*/ 70 w 73"/>
                <a:gd name="T7" fmla="*/ 32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 h="52">
                  <a:moveTo>
                    <a:pt x="0" y="40"/>
                  </a:moveTo>
                  <a:cubicBezTo>
                    <a:pt x="4" y="29"/>
                    <a:pt x="7" y="0"/>
                    <a:pt x="31" y="9"/>
                  </a:cubicBezTo>
                  <a:cubicBezTo>
                    <a:pt x="40" y="12"/>
                    <a:pt x="40" y="26"/>
                    <a:pt x="47" y="32"/>
                  </a:cubicBezTo>
                  <a:cubicBezTo>
                    <a:pt x="73" y="52"/>
                    <a:pt x="70" y="44"/>
                    <a:pt x="70" y="32"/>
                  </a:cubicBezTo>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60783" name="AutoShape 19"/>
          <p:cNvCxnSpPr>
            <a:cxnSpLocks noChangeShapeType="1"/>
            <a:stCxn id="160775" idx="3"/>
            <a:endCxn id="160830" idx="1"/>
          </p:cNvCxnSpPr>
          <p:nvPr/>
        </p:nvCxnSpPr>
        <p:spPr bwMode="auto">
          <a:xfrm>
            <a:off x="2576513" y="2800350"/>
            <a:ext cx="192087" cy="0"/>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784" name="Rectangle 20"/>
          <p:cNvSpPr>
            <a:spLocks noChangeArrowheads="1"/>
          </p:cNvSpPr>
          <p:nvPr/>
        </p:nvSpPr>
        <p:spPr bwMode="auto">
          <a:xfrm>
            <a:off x="3343275" y="2460625"/>
            <a:ext cx="288925" cy="677863"/>
          </a:xfrm>
          <a:prstGeom prst="rect">
            <a:avLst/>
          </a:prstGeom>
          <a:noFill/>
          <a:ln w="9525">
            <a:solidFill>
              <a:schemeClr val="bg2"/>
            </a:solidFill>
            <a:prstDash val="dash"/>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85" name="Oval 21"/>
          <p:cNvSpPr>
            <a:spLocks noChangeArrowheads="1"/>
          </p:cNvSpPr>
          <p:nvPr/>
        </p:nvSpPr>
        <p:spPr bwMode="auto">
          <a:xfrm>
            <a:off x="3440113" y="2573338"/>
            <a:ext cx="95250" cy="112712"/>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86" name="Oval 22"/>
          <p:cNvSpPr>
            <a:spLocks noChangeArrowheads="1"/>
          </p:cNvSpPr>
          <p:nvPr/>
        </p:nvSpPr>
        <p:spPr bwMode="auto">
          <a:xfrm>
            <a:off x="3440113" y="2913063"/>
            <a:ext cx="95250" cy="112712"/>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87" name="Oval 23"/>
          <p:cNvSpPr>
            <a:spLocks noChangeArrowheads="1"/>
          </p:cNvSpPr>
          <p:nvPr/>
        </p:nvSpPr>
        <p:spPr bwMode="auto">
          <a:xfrm>
            <a:off x="4111625" y="2235200"/>
            <a:ext cx="95250" cy="112713"/>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88" name="Line 24"/>
          <p:cNvSpPr>
            <a:spLocks noChangeShapeType="1"/>
          </p:cNvSpPr>
          <p:nvPr/>
        </p:nvSpPr>
        <p:spPr bwMode="auto">
          <a:xfrm>
            <a:off x="3152775" y="2800350"/>
            <a:ext cx="1905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cxnSp>
        <p:nvCxnSpPr>
          <p:cNvPr id="160789" name="AutoShape 25"/>
          <p:cNvCxnSpPr>
            <a:cxnSpLocks noChangeShapeType="1"/>
            <a:stCxn id="160785" idx="0"/>
            <a:endCxn id="160787" idx="1"/>
          </p:cNvCxnSpPr>
          <p:nvPr/>
        </p:nvCxnSpPr>
        <p:spPr bwMode="auto">
          <a:xfrm rot="-5400000">
            <a:off x="3646488" y="2093913"/>
            <a:ext cx="320675" cy="638175"/>
          </a:xfrm>
          <a:prstGeom prst="bentConnector3">
            <a:avLst>
              <a:gd name="adj1" fmla="val 83940"/>
            </a:avLst>
          </a:prstGeom>
          <a:noFill/>
          <a:ln w="9525">
            <a:solidFill>
              <a:schemeClr val="bg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790" name="Oval 26"/>
          <p:cNvSpPr>
            <a:spLocks noChangeArrowheads="1"/>
          </p:cNvSpPr>
          <p:nvPr/>
        </p:nvSpPr>
        <p:spPr bwMode="auto">
          <a:xfrm>
            <a:off x="4111625" y="3251200"/>
            <a:ext cx="95250" cy="112713"/>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60791" name="AutoShape 27"/>
          <p:cNvCxnSpPr>
            <a:cxnSpLocks noChangeShapeType="1"/>
            <a:stCxn id="160786" idx="4"/>
            <a:endCxn id="160790" idx="3"/>
          </p:cNvCxnSpPr>
          <p:nvPr/>
        </p:nvCxnSpPr>
        <p:spPr bwMode="auto">
          <a:xfrm rot="16200000" flipH="1">
            <a:off x="3646488" y="2867025"/>
            <a:ext cx="320675" cy="638175"/>
          </a:xfrm>
          <a:prstGeom prst="bentConnector3">
            <a:avLst>
              <a:gd name="adj1" fmla="val 84671"/>
            </a:avLst>
          </a:prstGeom>
          <a:noFill/>
          <a:ln w="9525">
            <a:solidFill>
              <a:schemeClr val="bg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792" name="Oval 28"/>
          <p:cNvSpPr>
            <a:spLocks noChangeArrowheads="1"/>
          </p:cNvSpPr>
          <p:nvPr/>
        </p:nvSpPr>
        <p:spPr bwMode="auto">
          <a:xfrm>
            <a:off x="2000250" y="1784350"/>
            <a:ext cx="960438" cy="788988"/>
          </a:xfrm>
          <a:prstGeom prst="ellipse">
            <a:avLst/>
          </a:prstGeom>
          <a:noFill/>
          <a:ln w="9525">
            <a:solidFill>
              <a:schemeClr val="bg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93" name="Oval 29"/>
          <p:cNvSpPr>
            <a:spLocks noChangeArrowheads="1"/>
          </p:cNvSpPr>
          <p:nvPr/>
        </p:nvSpPr>
        <p:spPr bwMode="auto">
          <a:xfrm>
            <a:off x="2000250" y="3025775"/>
            <a:ext cx="960438" cy="788988"/>
          </a:xfrm>
          <a:prstGeom prst="ellipse">
            <a:avLst/>
          </a:prstGeom>
          <a:noFill/>
          <a:ln w="9525">
            <a:solidFill>
              <a:schemeClr val="bg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794" name="Text Box 30"/>
          <p:cNvSpPr txBox="1">
            <a:spLocks noChangeArrowheads="1"/>
          </p:cNvSpPr>
          <p:nvPr/>
        </p:nvSpPr>
        <p:spPr bwMode="auto">
          <a:xfrm>
            <a:off x="1981200" y="1671638"/>
            <a:ext cx="14224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Cuộn cảm phân tích</a:t>
            </a:r>
            <a:endParaRPr lang="ko-KR" altLang="en-US">
              <a:latin typeface="Times New Roman" pitchFamily="18" charset="0"/>
              <a:cs typeface="Times New Roman" pitchFamily="18" charset="0"/>
            </a:endParaRPr>
          </a:p>
        </p:txBody>
      </p:sp>
      <p:sp>
        <p:nvSpPr>
          <p:cNvPr id="160795" name="Text Box 31"/>
          <p:cNvSpPr txBox="1">
            <a:spLocks noChangeArrowheads="1"/>
          </p:cNvSpPr>
          <p:nvPr/>
        </p:nvSpPr>
        <p:spPr bwMode="auto">
          <a:xfrm>
            <a:off x="1812925" y="3586163"/>
            <a:ext cx="13716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(Dao động cao tần)</a:t>
            </a:r>
          </a:p>
        </p:txBody>
      </p:sp>
      <p:sp>
        <p:nvSpPr>
          <p:cNvPr id="160796" name="Text Box 32"/>
          <p:cNvSpPr txBox="1">
            <a:spLocks noChangeArrowheads="1"/>
          </p:cNvSpPr>
          <p:nvPr/>
        </p:nvSpPr>
        <p:spPr bwMode="auto">
          <a:xfrm>
            <a:off x="3232150" y="3586163"/>
            <a:ext cx="21177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Linh kiện đóng mở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(Tr.SCR…)</a:t>
            </a:r>
          </a:p>
        </p:txBody>
      </p:sp>
      <p:sp>
        <p:nvSpPr>
          <p:cNvPr id="160797" name="Text Box 33"/>
          <p:cNvSpPr txBox="1">
            <a:spLocks noChangeArrowheads="1"/>
          </p:cNvSpPr>
          <p:nvPr/>
        </p:nvSpPr>
        <p:spPr bwMode="auto">
          <a:xfrm>
            <a:off x="5299075" y="2033588"/>
            <a:ext cx="330517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nSpc>
                <a:spcPct val="130000"/>
              </a:lnSpc>
            </a:pPr>
            <a:r>
              <a:rPr lang="en-US" altLang="ko-KR">
                <a:latin typeface="Times New Roman" pitchFamily="18" charset="0"/>
                <a:cs typeface="Times New Roman" pitchFamily="18" charset="0"/>
              </a:rPr>
              <a:t>Độ tự cảm của cuộn cảm thay đổi do vật thể phân tích,  thông qua hiện tượng này mà đây là loại được sử dụng nhiều nhất để phân tích việc phát tín hiệu từ mạch phát tín hiệu đang mở hay dừng</a:t>
            </a:r>
            <a:endParaRPr lang="ko-KR" altLang="en-US">
              <a:latin typeface="Times New Roman" pitchFamily="18" charset="0"/>
              <a:cs typeface="Times New Roman" pitchFamily="18" charset="0"/>
            </a:endParaRPr>
          </a:p>
          <a:p>
            <a:pPr>
              <a:lnSpc>
                <a:spcPct val="130000"/>
              </a:lnSpc>
            </a:pPr>
            <a:r>
              <a:rPr lang="en-US" altLang="ko-KR">
                <a:latin typeface="Times New Roman" pitchFamily="18" charset="0"/>
                <a:cs typeface="Times New Roman" pitchFamily="18" charset="0"/>
              </a:rPr>
              <a:t>Chỉ có thể phân tích kim loại và vật thể tiêu chuẩn là thép.</a:t>
            </a:r>
          </a:p>
          <a:p>
            <a:pPr>
              <a:lnSpc>
                <a:spcPct val="130000"/>
              </a:lnSpc>
            </a:pPr>
            <a:r>
              <a:rPr lang="en-US" altLang="ko-KR" b="1">
                <a:latin typeface="Times New Roman" pitchFamily="18" charset="0"/>
                <a:cs typeface="Times New Roman" pitchFamily="18" charset="0"/>
              </a:rPr>
              <a:t>Chú ý với vật phi kim loại thì khoảng cách phân tích ngắn hơn</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Spec</a:t>
            </a:r>
            <a:endParaRPr lang="ko-KR" altLang="en-US" b="1">
              <a:latin typeface="Times New Roman" pitchFamily="18" charset="0"/>
              <a:cs typeface="Times New Roman" pitchFamily="18" charset="0"/>
            </a:endParaRPr>
          </a:p>
        </p:txBody>
      </p:sp>
      <p:sp>
        <p:nvSpPr>
          <p:cNvPr id="160798" name="Text Box 34"/>
          <p:cNvSpPr txBox="1">
            <a:spLocks noChangeArrowheads="1"/>
          </p:cNvSpPr>
          <p:nvPr/>
        </p:nvSpPr>
        <p:spPr bwMode="auto">
          <a:xfrm>
            <a:off x="5286375" y="4324350"/>
            <a:ext cx="3749675" cy="23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nSpc>
                <a:spcPct val="110000"/>
              </a:lnSpc>
            </a:pPr>
            <a:r>
              <a:rPr lang="en-US" altLang="ko-KR">
                <a:latin typeface="Times New Roman" pitchFamily="18" charset="0"/>
                <a:cs typeface="Times New Roman" pitchFamily="18" charset="0"/>
              </a:rPr>
              <a:t>   Nếu nguồn điện được cung cấp lên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trái đất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sẽ bị điện khí hóa sang điện tích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còn điện cực của cảm biến sẽ sang điện tích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 trong khi đó điện trường sẽ được hình thành. Nếu vật thể được đưa lại gần với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vật thể sẽ nhận được sự cảm ứng tĩnh điện , xuất hiện hiện tượng phân cực phát sinh điện tích - ở điện cực của cảm biến và điện tích + tại trái đất. </a:t>
            </a:r>
          </a:p>
          <a:p>
            <a:pPr>
              <a:lnSpc>
                <a:spcPct val="110000"/>
              </a:lnSpc>
            </a:pPr>
            <a:r>
              <a:rPr lang="en-US" altLang="ko-KR">
                <a:latin typeface="Times New Roman" pitchFamily="18" charset="0"/>
                <a:cs typeface="Times New Roman" pitchFamily="18" charset="0"/>
              </a:rPr>
              <a:t>Thông qua hiện tượng này mà người ta phân tích việc phát tín hiệu từ mạch phát tín hiệu đang mở hay dừng.</a:t>
            </a:r>
          </a:p>
          <a:p>
            <a:pPr>
              <a:lnSpc>
                <a:spcPct val="110000"/>
              </a:lnSpc>
            </a:pPr>
            <a:r>
              <a:rPr lang="en-US" altLang="ko-KR" b="1">
                <a:latin typeface="Times New Roman" pitchFamily="18" charset="0"/>
                <a:cs typeface="Times New Roman" pitchFamily="18" charset="0"/>
              </a:rPr>
              <a:t>Chú ý là có thể hoạt động ở bất cứ vật chất nào trừ thể khí</a:t>
            </a:r>
            <a:endParaRPr lang="ko-KR" altLang="en-US" b="1">
              <a:latin typeface="Times New Roman" pitchFamily="18" charset="0"/>
              <a:cs typeface="Times New Roman" pitchFamily="18" charset="0"/>
            </a:endParaRPr>
          </a:p>
        </p:txBody>
      </p:sp>
      <p:sp>
        <p:nvSpPr>
          <p:cNvPr id="160799" name="Rectangle 35"/>
          <p:cNvSpPr>
            <a:spLocks noChangeArrowheads="1"/>
          </p:cNvSpPr>
          <p:nvPr/>
        </p:nvSpPr>
        <p:spPr bwMode="auto">
          <a:xfrm>
            <a:off x="2300288" y="4581525"/>
            <a:ext cx="1484312" cy="1468438"/>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00" name="Text Box 36"/>
          <p:cNvSpPr txBox="1">
            <a:spLocks noChangeArrowheads="1"/>
          </p:cNvSpPr>
          <p:nvPr/>
        </p:nvSpPr>
        <p:spPr bwMode="auto">
          <a:xfrm>
            <a:off x="749300" y="4681538"/>
            <a:ext cx="49212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chemeClr val="bg2"/>
                </a:solidFill>
                <a:latin typeface="Times New Roman" pitchFamily="18" charset="0"/>
                <a:cs typeface="Times New Roman" pitchFamily="18" charset="0"/>
              </a:rPr>
              <a:t>Vật</a:t>
            </a:r>
          </a:p>
          <a:p>
            <a:pPr algn="ctr" eaLnBrk="1" hangingPunct="1"/>
            <a:r>
              <a:rPr lang="en-US" altLang="ko-KR">
                <a:solidFill>
                  <a:schemeClr val="bg2"/>
                </a:solidFill>
                <a:latin typeface="Times New Roman" pitchFamily="18" charset="0"/>
                <a:cs typeface="Times New Roman" pitchFamily="18" charset="0"/>
              </a:rPr>
              <a:t>Thể</a:t>
            </a:r>
          </a:p>
          <a:p>
            <a:pPr algn="ctr" eaLnBrk="1" hangingPunct="1"/>
            <a:r>
              <a:rPr lang="en-US" altLang="ko-KR">
                <a:solidFill>
                  <a:schemeClr val="bg2"/>
                </a:solidFill>
                <a:latin typeface="Times New Roman" pitchFamily="18" charset="0"/>
                <a:cs typeface="Times New Roman" pitchFamily="18" charset="0"/>
              </a:rPr>
              <a:t>Phân</a:t>
            </a:r>
          </a:p>
          <a:p>
            <a:pPr algn="ctr" eaLnBrk="1" hangingPunct="1"/>
            <a:r>
              <a:rPr lang="en-US" altLang="ko-KR">
                <a:solidFill>
                  <a:schemeClr val="bg2"/>
                </a:solidFill>
                <a:latin typeface="Times New Roman" pitchFamily="18" charset="0"/>
                <a:cs typeface="Times New Roman" pitchFamily="18" charset="0"/>
              </a:rPr>
              <a:t>tích</a:t>
            </a:r>
            <a:endParaRPr lang="ko-KR" altLang="en-US">
              <a:solidFill>
                <a:schemeClr val="bg2"/>
              </a:solidFill>
              <a:latin typeface="Times New Roman" pitchFamily="18" charset="0"/>
              <a:cs typeface="Times New Roman" pitchFamily="18" charset="0"/>
            </a:endParaRPr>
          </a:p>
        </p:txBody>
      </p:sp>
      <p:sp>
        <p:nvSpPr>
          <p:cNvPr id="160801" name="Rectangle 37"/>
          <p:cNvSpPr>
            <a:spLocks noChangeArrowheads="1"/>
          </p:cNvSpPr>
          <p:nvPr/>
        </p:nvSpPr>
        <p:spPr bwMode="auto">
          <a:xfrm>
            <a:off x="2474913" y="4732338"/>
            <a:ext cx="160337" cy="10493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nvGrpSpPr>
          <p:cNvPr id="160802" name="Group 38"/>
          <p:cNvGrpSpPr>
            <a:grpSpLocks/>
          </p:cNvGrpSpPr>
          <p:nvPr/>
        </p:nvGrpSpPr>
        <p:grpSpPr bwMode="auto">
          <a:xfrm>
            <a:off x="2824163" y="4959350"/>
            <a:ext cx="349250" cy="419100"/>
            <a:chOff x="1632" y="912"/>
            <a:chExt cx="192" cy="192"/>
          </a:xfrm>
        </p:grpSpPr>
        <p:sp>
          <p:nvSpPr>
            <p:cNvPr id="160827" name="Rectangle 39"/>
            <p:cNvSpPr>
              <a:spLocks noChangeArrowheads="1"/>
            </p:cNvSpPr>
            <p:nvPr/>
          </p:nvSpPr>
          <p:spPr bwMode="auto">
            <a:xfrm>
              <a:off x="1632" y="912"/>
              <a:ext cx="192" cy="19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28" name="Oval 40"/>
            <p:cNvSpPr>
              <a:spLocks noChangeArrowheads="1"/>
            </p:cNvSpPr>
            <p:nvPr/>
          </p:nvSpPr>
          <p:spPr bwMode="auto">
            <a:xfrm>
              <a:off x="1680" y="960"/>
              <a:ext cx="96" cy="96"/>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29" name="Freeform 41"/>
            <p:cNvSpPr>
              <a:spLocks/>
            </p:cNvSpPr>
            <p:nvPr/>
          </p:nvSpPr>
          <p:spPr bwMode="auto">
            <a:xfrm>
              <a:off x="1688" y="980"/>
              <a:ext cx="73" cy="52"/>
            </a:xfrm>
            <a:custGeom>
              <a:avLst/>
              <a:gdLst>
                <a:gd name="T0" fmla="*/ 0 w 73"/>
                <a:gd name="T1" fmla="*/ 40 h 52"/>
                <a:gd name="T2" fmla="*/ 31 w 73"/>
                <a:gd name="T3" fmla="*/ 9 h 52"/>
                <a:gd name="T4" fmla="*/ 47 w 73"/>
                <a:gd name="T5" fmla="*/ 32 h 52"/>
                <a:gd name="T6" fmla="*/ 70 w 73"/>
                <a:gd name="T7" fmla="*/ 32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 h="52">
                  <a:moveTo>
                    <a:pt x="0" y="40"/>
                  </a:moveTo>
                  <a:cubicBezTo>
                    <a:pt x="4" y="29"/>
                    <a:pt x="7" y="0"/>
                    <a:pt x="31" y="9"/>
                  </a:cubicBezTo>
                  <a:cubicBezTo>
                    <a:pt x="40" y="12"/>
                    <a:pt x="40" y="26"/>
                    <a:pt x="47" y="32"/>
                  </a:cubicBezTo>
                  <a:cubicBezTo>
                    <a:pt x="73" y="52"/>
                    <a:pt x="70" y="44"/>
                    <a:pt x="70" y="32"/>
                  </a:cubicBezTo>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cxnSp>
        <p:nvCxnSpPr>
          <p:cNvPr id="160803" name="AutoShape 42"/>
          <p:cNvCxnSpPr>
            <a:cxnSpLocks noChangeShapeType="1"/>
            <a:stCxn id="160801" idx="3"/>
            <a:endCxn id="160827" idx="1"/>
          </p:cNvCxnSpPr>
          <p:nvPr/>
        </p:nvCxnSpPr>
        <p:spPr bwMode="auto">
          <a:xfrm flipV="1">
            <a:off x="2635250" y="5168900"/>
            <a:ext cx="188913" cy="88900"/>
          </a:xfrm>
          <a:prstGeom prst="straightConnector1">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804" name="Rectangle 43"/>
          <p:cNvSpPr>
            <a:spLocks noChangeArrowheads="1"/>
          </p:cNvSpPr>
          <p:nvPr/>
        </p:nvSpPr>
        <p:spPr bwMode="auto">
          <a:xfrm>
            <a:off x="3348038" y="4883150"/>
            <a:ext cx="261937" cy="630238"/>
          </a:xfrm>
          <a:prstGeom prst="rect">
            <a:avLst/>
          </a:prstGeom>
          <a:noFill/>
          <a:ln w="9525">
            <a:solidFill>
              <a:schemeClr val="bg2"/>
            </a:solidFill>
            <a:prstDash val="dash"/>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05" name="Oval 44"/>
          <p:cNvSpPr>
            <a:spLocks noChangeArrowheads="1"/>
          </p:cNvSpPr>
          <p:nvPr/>
        </p:nvSpPr>
        <p:spPr bwMode="auto">
          <a:xfrm>
            <a:off x="3435350" y="4872038"/>
            <a:ext cx="87313" cy="104775"/>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06" name="Oval 45"/>
          <p:cNvSpPr>
            <a:spLocks noChangeArrowheads="1"/>
          </p:cNvSpPr>
          <p:nvPr/>
        </p:nvSpPr>
        <p:spPr bwMode="auto">
          <a:xfrm>
            <a:off x="3435350" y="5275263"/>
            <a:ext cx="87313" cy="103187"/>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07" name="Oval 46"/>
          <p:cNvSpPr>
            <a:spLocks noChangeArrowheads="1"/>
          </p:cNvSpPr>
          <p:nvPr/>
        </p:nvSpPr>
        <p:spPr bwMode="auto">
          <a:xfrm>
            <a:off x="4044950" y="4470400"/>
            <a:ext cx="87313" cy="103188"/>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60808" name="Line 47"/>
          <p:cNvSpPr>
            <a:spLocks noChangeShapeType="1"/>
          </p:cNvSpPr>
          <p:nvPr/>
        </p:nvSpPr>
        <p:spPr bwMode="auto">
          <a:xfrm>
            <a:off x="3173413" y="5110163"/>
            <a:ext cx="1746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cxnSp>
        <p:nvCxnSpPr>
          <p:cNvPr id="160809" name="AutoShape 48"/>
          <p:cNvCxnSpPr>
            <a:cxnSpLocks noChangeShapeType="1"/>
            <a:stCxn id="160805" idx="0"/>
            <a:endCxn id="160807" idx="1"/>
          </p:cNvCxnSpPr>
          <p:nvPr/>
        </p:nvCxnSpPr>
        <p:spPr bwMode="auto">
          <a:xfrm rot="-5400000">
            <a:off x="3575843" y="4390232"/>
            <a:ext cx="385763" cy="577850"/>
          </a:xfrm>
          <a:prstGeom prst="bentConnector3">
            <a:avLst>
              <a:gd name="adj1" fmla="val 163375"/>
            </a:avLst>
          </a:prstGeom>
          <a:noFill/>
          <a:ln w="9525">
            <a:solidFill>
              <a:schemeClr val="bg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810" name="Oval 49"/>
          <p:cNvSpPr>
            <a:spLocks noChangeArrowheads="1"/>
          </p:cNvSpPr>
          <p:nvPr/>
        </p:nvSpPr>
        <p:spPr bwMode="auto">
          <a:xfrm>
            <a:off x="4044950" y="5676900"/>
            <a:ext cx="87313" cy="104775"/>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60811" name="AutoShape 50"/>
          <p:cNvCxnSpPr>
            <a:cxnSpLocks noChangeShapeType="1"/>
            <a:stCxn id="160806" idx="4"/>
            <a:endCxn id="160810" idx="3"/>
          </p:cNvCxnSpPr>
          <p:nvPr/>
        </p:nvCxnSpPr>
        <p:spPr bwMode="auto">
          <a:xfrm rot="16200000" flipH="1">
            <a:off x="3575050" y="5283200"/>
            <a:ext cx="387350" cy="577850"/>
          </a:xfrm>
          <a:prstGeom prst="bentConnector3">
            <a:avLst>
              <a:gd name="adj1" fmla="val 163116"/>
            </a:avLst>
          </a:prstGeom>
          <a:noFill/>
          <a:ln w="9525">
            <a:solidFill>
              <a:schemeClr val="bg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812" name="Text Box 51"/>
          <p:cNvSpPr txBox="1">
            <a:spLocks noChangeArrowheads="1"/>
          </p:cNvSpPr>
          <p:nvPr/>
        </p:nvSpPr>
        <p:spPr bwMode="auto">
          <a:xfrm>
            <a:off x="1893888" y="6170613"/>
            <a:ext cx="13716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chemeClr val="bg2"/>
                </a:solidFill>
                <a:latin typeface="Times New Roman" pitchFamily="18" charset="0"/>
                <a:cs typeface="Times New Roman" pitchFamily="18" charset="0"/>
              </a:rPr>
              <a:t>(Dao động cao tần)</a:t>
            </a:r>
          </a:p>
        </p:txBody>
      </p:sp>
      <p:sp>
        <p:nvSpPr>
          <p:cNvPr id="160813" name="Text Box 52"/>
          <p:cNvSpPr txBox="1">
            <a:spLocks noChangeArrowheads="1"/>
          </p:cNvSpPr>
          <p:nvPr/>
        </p:nvSpPr>
        <p:spPr bwMode="auto">
          <a:xfrm>
            <a:off x="3246438" y="6170613"/>
            <a:ext cx="21177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solidFill>
                  <a:schemeClr val="bg2"/>
                </a:solidFill>
                <a:latin typeface="Times New Roman" pitchFamily="18" charset="0"/>
                <a:cs typeface="Times New Roman" pitchFamily="18" charset="0"/>
              </a:rPr>
              <a:t>Linh kiện đóng mở</a:t>
            </a:r>
            <a:r>
              <a:rPr lang="ko-KR" altLang="en-US">
                <a:solidFill>
                  <a:schemeClr val="bg2"/>
                </a:solidFill>
                <a:latin typeface="Times New Roman" pitchFamily="18" charset="0"/>
                <a:cs typeface="Times New Roman" pitchFamily="18" charset="0"/>
              </a:rPr>
              <a:t> </a:t>
            </a:r>
            <a:r>
              <a:rPr lang="en-US" altLang="ko-KR">
                <a:solidFill>
                  <a:schemeClr val="bg2"/>
                </a:solidFill>
                <a:latin typeface="Times New Roman" pitchFamily="18" charset="0"/>
                <a:cs typeface="Times New Roman" pitchFamily="18" charset="0"/>
              </a:rPr>
              <a:t>(Tr.SCR…)</a:t>
            </a:r>
          </a:p>
        </p:txBody>
      </p:sp>
      <p:sp>
        <p:nvSpPr>
          <p:cNvPr id="160814" name="Freeform 53"/>
          <p:cNvSpPr>
            <a:spLocks/>
          </p:cNvSpPr>
          <p:nvPr/>
        </p:nvSpPr>
        <p:spPr bwMode="auto">
          <a:xfrm>
            <a:off x="1196975" y="4524375"/>
            <a:ext cx="601663" cy="1262063"/>
          </a:xfrm>
          <a:custGeom>
            <a:avLst/>
            <a:gdLst>
              <a:gd name="T0" fmla="*/ 2147483647 w 331"/>
              <a:gd name="T1" fmla="*/ 2147483647 h 578"/>
              <a:gd name="T2" fmla="*/ 2147483647 w 331"/>
              <a:gd name="T3" fmla="*/ 2147483647 h 578"/>
              <a:gd name="T4" fmla="*/ 2147483647 w 331"/>
              <a:gd name="T5" fmla="*/ 2147483647 h 578"/>
              <a:gd name="T6" fmla="*/ 2147483647 w 331"/>
              <a:gd name="T7" fmla="*/ 2147483647 h 578"/>
              <a:gd name="T8" fmla="*/ 2147483647 w 331"/>
              <a:gd name="T9" fmla="*/ 2147483647 h 578"/>
              <a:gd name="T10" fmla="*/ 2147483647 w 331"/>
              <a:gd name="T11" fmla="*/ 2147483647 h 578"/>
              <a:gd name="T12" fmla="*/ 2147483647 w 331"/>
              <a:gd name="T13" fmla="*/ 2147483647 h 578"/>
              <a:gd name="T14" fmla="*/ 2147483647 w 331"/>
              <a:gd name="T15" fmla="*/ 2147483647 h 578"/>
              <a:gd name="T16" fmla="*/ 2147483647 w 331"/>
              <a:gd name="T17" fmla="*/ 2147483647 h 578"/>
              <a:gd name="T18" fmla="*/ 2147483647 w 331"/>
              <a:gd name="T19" fmla="*/ 0 h 578"/>
              <a:gd name="T20" fmla="*/ 2147483647 w 331"/>
              <a:gd name="T21" fmla="*/ 2147483647 h 578"/>
              <a:gd name="T22" fmla="*/ 2147483647 w 331"/>
              <a:gd name="T23" fmla="*/ 2147483647 h 578"/>
              <a:gd name="T24" fmla="*/ 2147483647 w 331"/>
              <a:gd name="T25" fmla="*/ 2147483647 h 578"/>
              <a:gd name="T26" fmla="*/ 2147483647 w 331"/>
              <a:gd name="T27" fmla="*/ 2147483647 h 578"/>
              <a:gd name="T28" fmla="*/ 2147483647 w 331"/>
              <a:gd name="T29" fmla="*/ 2147483647 h 578"/>
              <a:gd name="T30" fmla="*/ 2147483647 w 331"/>
              <a:gd name="T31" fmla="*/ 2147483647 h 578"/>
              <a:gd name="T32" fmla="*/ 2147483647 w 331"/>
              <a:gd name="T33" fmla="*/ 2147483647 h 578"/>
              <a:gd name="T34" fmla="*/ 2147483647 w 331"/>
              <a:gd name="T35" fmla="*/ 2147483647 h 578"/>
              <a:gd name="T36" fmla="*/ 2147483647 w 331"/>
              <a:gd name="T37" fmla="*/ 2147483647 h 578"/>
              <a:gd name="T38" fmla="*/ 2147483647 w 331"/>
              <a:gd name="T39" fmla="*/ 2147483647 h 578"/>
              <a:gd name="T40" fmla="*/ 2147483647 w 331"/>
              <a:gd name="T41" fmla="*/ 2147483647 h 5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578">
                <a:moveTo>
                  <a:pt x="206" y="561"/>
                </a:moveTo>
                <a:cubicBezTo>
                  <a:pt x="176" y="513"/>
                  <a:pt x="159" y="501"/>
                  <a:pt x="105" y="483"/>
                </a:cubicBezTo>
                <a:cubicBezTo>
                  <a:pt x="70" y="429"/>
                  <a:pt x="80" y="454"/>
                  <a:pt x="66" y="413"/>
                </a:cubicBezTo>
                <a:cubicBezTo>
                  <a:pt x="70" y="383"/>
                  <a:pt x="90" y="327"/>
                  <a:pt x="74" y="296"/>
                </a:cubicBezTo>
                <a:cubicBezTo>
                  <a:pt x="66" y="279"/>
                  <a:pt x="53" y="265"/>
                  <a:pt x="43" y="249"/>
                </a:cubicBezTo>
                <a:cubicBezTo>
                  <a:pt x="38" y="241"/>
                  <a:pt x="27" y="226"/>
                  <a:pt x="27" y="226"/>
                </a:cubicBezTo>
                <a:cubicBezTo>
                  <a:pt x="16" y="193"/>
                  <a:pt x="0" y="150"/>
                  <a:pt x="27" y="117"/>
                </a:cubicBezTo>
                <a:cubicBezTo>
                  <a:pt x="39" y="102"/>
                  <a:pt x="87" y="90"/>
                  <a:pt x="97" y="86"/>
                </a:cubicBezTo>
                <a:cubicBezTo>
                  <a:pt x="105" y="83"/>
                  <a:pt x="121" y="78"/>
                  <a:pt x="121" y="78"/>
                </a:cubicBezTo>
                <a:cubicBezTo>
                  <a:pt x="138" y="53"/>
                  <a:pt x="174" y="17"/>
                  <a:pt x="199" y="0"/>
                </a:cubicBezTo>
                <a:cubicBezTo>
                  <a:pt x="234" y="7"/>
                  <a:pt x="255" y="12"/>
                  <a:pt x="284" y="31"/>
                </a:cubicBezTo>
                <a:cubicBezTo>
                  <a:pt x="294" y="47"/>
                  <a:pt x="305" y="62"/>
                  <a:pt x="315" y="78"/>
                </a:cubicBezTo>
                <a:cubicBezTo>
                  <a:pt x="320" y="86"/>
                  <a:pt x="331" y="102"/>
                  <a:pt x="331" y="102"/>
                </a:cubicBezTo>
                <a:cubicBezTo>
                  <a:pt x="323" y="154"/>
                  <a:pt x="308" y="179"/>
                  <a:pt x="292" y="226"/>
                </a:cubicBezTo>
                <a:cubicBezTo>
                  <a:pt x="303" y="270"/>
                  <a:pt x="308" y="279"/>
                  <a:pt x="300" y="327"/>
                </a:cubicBezTo>
                <a:cubicBezTo>
                  <a:pt x="309" y="354"/>
                  <a:pt x="324" y="385"/>
                  <a:pt x="308" y="413"/>
                </a:cubicBezTo>
                <a:cubicBezTo>
                  <a:pt x="299" y="430"/>
                  <a:pt x="276" y="460"/>
                  <a:pt x="276" y="460"/>
                </a:cubicBezTo>
                <a:cubicBezTo>
                  <a:pt x="274" y="468"/>
                  <a:pt x="270" y="475"/>
                  <a:pt x="269" y="483"/>
                </a:cubicBezTo>
                <a:cubicBezTo>
                  <a:pt x="265" y="506"/>
                  <a:pt x="267" y="530"/>
                  <a:pt x="261" y="553"/>
                </a:cubicBezTo>
                <a:cubicBezTo>
                  <a:pt x="259" y="562"/>
                  <a:pt x="254" y="575"/>
                  <a:pt x="245" y="576"/>
                </a:cubicBezTo>
                <a:cubicBezTo>
                  <a:pt x="231" y="578"/>
                  <a:pt x="219" y="566"/>
                  <a:pt x="206" y="561"/>
                </a:cubicBezTo>
                <a:close/>
              </a:path>
            </a:pathLst>
          </a:custGeom>
          <a:solidFill>
            <a:srgbClr val="008000"/>
          </a:solidFill>
          <a:ln w="9525" cap="flat" cmpd="sng">
            <a:solidFill>
              <a:schemeClr val="bg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15" name="Line 54"/>
          <p:cNvSpPr>
            <a:spLocks noChangeShapeType="1"/>
          </p:cNvSpPr>
          <p:nvPr/>
        </p:nvSpPr>
        <p:spPr bwMode="auto">
          <a:xfrm>
            <a:off x="1973263" y="4959350"/>
            <a:ext cx="1587" cy="41910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16" name="Line 55"/>
          <p:cNvSpPr>
            <a:spLocks noChangeShapeType="1"/>
          </p:cNvSpPr>
          <p:nvPr/>
        </p:nvSpPr>
        <p:spPr bwMode="auto">
          <a:xfrm>
            <a:off x="2060575" y="4959350"/>
            <a:ext cx="1588" cy="41910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17" name="Line 56"/>
          <p:cNvSpPr>
            <a:spLocks noChangeShapeType="1"/>
          </p:cNvSpPr>
          <p:nvPr/>
        </p:nvSpPr>
        <p:spPr bwMode="auto">
          <a:xfrm>
            <a:off x="2060575" y="5110163"/>
            <a:ext cx="261938" cy="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18" name="Line 57"/>
          <p:cNvSpPr>
            <a:spLocks noChangeShapeType="1"/>
          </p:cNvSpPr>
          <p:nvPr/>
        </p:nvSpPr>
        <p:spPr bwMode="auto">
          <a:xfrm>
            <a:off x="1711325" y="5110163"/>
            <a:ext cx="261938" cy="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19" name="Line 58"/>
          <p:cNvSpPr>
            <a:spLocks noChangeShapeType="1"/>
          </p:cNvSpPr>
          <p:nvPr/>
        </p:nvSpPr>
        <p:spPr bwMode="auto">
          <a:xfrm>
            <a:off x="1449388" y="5921375"/>
            <a:ext cx="349250" cy="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20" name="Line 59"/>
          <p:cNvSpPr>
            <a:spLocks noChangeShapeType="1"/>
          </p:cNvSpPr>
          <p:nvPr/>
        </p:nvSpPr>
        <p:spPr bwMode="auto">
          <a:xfrm>
            <a:off x="1449388" y="6054725"/>
            <a:ext cx="349250" cy="0"/>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21" name="Line 60"/>
          <p:cNvSpPr>
            <a:spLocks noChangeShapeType="1"/>
          </p:cNvSpPr>
          <p:nvPr/>
        </p:nvSpPr>
        <p:spPr bwMode="auto">
          <a:xfrm>
            <a:off x="1624013" y="5816600"/>
            <a:ext cx="1587" cy="104775"/>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22" name="Line 61"/>
          <p:cNvSpPr>
            <a:spLocks noChangeShapeType="1"/>
          </p:cNvSpPr>
          <p:nvPr/>
        </p:nvSpPr>
        <p:spPr bwMode="auto">
          <a:xfrm>
            <a:off x="1362075" y="6323013"/>
            <a:ext cx="611188"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23" name="Line 62"/>
          <p:cNvSpPr>
            <a:spLocks noChangeShapeType="1"/>
          </p:cNvSpPr>
          <p:nvPr/>
        </p:nvSpPr>
        <p:spPr bwMode="auto">
          <a:xfrm flipH="1">
            <a:off x="1624013" y="6111875"/>
            <a:ext cx="1587" cy="211138"/>
          </a:xfrm>
          <a:prstGeom prst="line">
            <a:avLst/>
          </a:prstGeom>
          <a:noFill/>
          <a:ln w="9525">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60824" name="Text Box 63"/>
          <p:cNvSpPr txBox="1">
            <a:spLocks noChangeArrowheads="1"/>
          </p:cNvSpPr>
          <p:nvPr/>
        </p:nvSpPr>
        <p:spPr bwMode="auto">
          <a:xfrm>
            <a:off x="1825625" y="5308600"/>
            <a:ext cx="3698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solidFill>
                  <a:schemeClr val="bg2"/>
                </a:solidFill>
                <a:latin typeface="Times New Roman" pitchFamily="18" charset="0"/>
                <a:cs typeface="Times New Roman" pitchFamily="18" charset="0"/>
              </a:rPr>
              <a:t>Cx</a:t>
            </a:r>
          </a:p>
        </p:txBody>
      </p:sp>
      <p:sp>
        <p:nvSpPr>
          <p:cNvPr id="160825"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0826" name="Text Box 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F333077-440D-491D-AD57-E1C37389BC99}" type="slidenum">
              <a:rPr lang="en-US" altLang="ko-KR" sz="1400" smtClean="0">
                <a:latin typeface="Times New Roman" pitchFamily="18" charset="0"/>
                <a:cs typeface="Times New Roman" pitchFamily="18" charset="0"/>
              </a:rPr>
              <a:pPr eaLnBrk="1" hangingPunct="1"/>
              <a:t>153</a:t>
            </a:fld>
            <a:endParaRPr lang="en-US" altLang="ko-KR" sz="1400" smtClean="0">
              <a:latin typeface="Times New Roman" pitchFamily="18" charset="0"/>
              <a:cs typeface="Times New Roman" pitchFamily="18" charset="0"/>
            </a:endParaRPr>
          </a:p>
        </p:txBody>
      </p:sp>
      <p:sp>
        <p:nvSpPr>
          <p:cNvPr id="161795" name="Text Box 5"/>
          <p:cNvSpPr txBox="1">
            <a:spLocks noChangeArrowheads="1"/>
          </p:cNvSpPr>
          <p:nvPr/>
        </p:nvSpPr>
        <p:spPr bwMode="auto">
          <a:xfrm>
            <a:off x="684213" y="892175"/>
            <a:ext cx="37639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3-7. Hạng mục cần chú ý khi sử dụng cảm biến</a:t>
            </a:r>
            <a:endParaRPr lang="ko-KR" altLang="en-US" sz="1400" b="1">
              <a:latin typeface="Times New Roman" pitchFamily="18" charset="0"/>
              <a:cs typeface="Times New Roman" pitchFamily="18" charset="0"/>
            </a:endParaRPr>
          </a:p>
        </p:txBody>
      </p:sp>
      <p:sp>
        <p:nvSpPr>
          <p:cNvPr id="161796" name="Rectangle 6"/>
          <p:cNvSpPr>
            <a:spLocks noChangeArrowheads="1"/>
          </p:cNvSpPr>
          <p:nvPr/>
        </p:nvSpPr>
        <p:spPr bwMode="auto">
          <a:xfrm>
            <a:off x="827088" y="1268413"/>
            <a:ext cx="74898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Mạch đầu ra của cảm biến</a:t>
            </a:r>
            <a:endParaRPr lang="ko-KR" altLang="en-US" b="1">
              <a:latin typeface="Times New Roman" pitchFamily="18" charset="0"/>
              <a:cs typeface="Times New Roman" pitchFamily="18" charset="0"/>
            </a:endParaRPr>
          </a:p>
        </p:txBody>
      </p:sp>
      <p:pic>
        <p:nvPicPr>
          <p:cNvPr id="161797" name="Picture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884363"/>
            <a:ext cx="6985000"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1798"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1799"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61800" name="직사각형 1"/>
          <p:cNvSpPr>
            <a:spLocks noChangeArrowheads="1"/>
          </p:cNvSpPr>
          <p:nvPr/>
        </p:nvSpPr>
        <p:spPr bwMode="auto">
          <a:xfrm>
            <a:off x="6084888" y="4221163"/>
            <a:ext cx="1150937"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Analog Output </a:t>
            </a:r>
            <a:endParaRPr lang="ko-KR" altLang="en-US">
              <a:latin typeface="Times New Roman" pitchFamily="18" charset="0"/>
              <a:cs typeface="Times New Roman" pitchFamily="18" charset="0"/>
            </a:endParaRPr>
          </a:p>
        </p:txBody>
      </p:sp>
      <p:sp>
        <p:nvSpPr>
          <p:cNvPr id="161801" name="직사각형 8"/>
          <p:cNvSpPr>
            <a:spLocks noChangeArrowheads="1"/>
          </p:cNvSpPr>
          <p:nvPr/>
        </p:nvSpPr>
        <p:spPr bwMode="auto">
          <a:xfrm>
            <a:off x="2843213" y="3500438"/>
            <a:ext cx="115252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Analog Output </a:t>
            </a:r>
            <a:endParaRPr lang="ko-KR" altLang="en-US">
              <a:latin typeface="Times New Roman" pitchFamily="18" charset="0"/>
              <a:cs typeface="Times New Roman" pitchFamily="18" charset="0"/>
            </a:endParaRPr>
          </a:p>
        </p:txBody>
      </p:sp>
      <p:sp>
        <p:nvSpPr>
          <p:cNvPr id="161802" name="직사각형 10"/>
          <p:cNvSpPr>
            <a:spLocks noChangeArrowheads="1"/>
          </p:cNvSpPr>
          <p:nvPr/>
        </p:nvSpPr>
        <p:spPr bwMode="auto">
          <a:xfrm>
            <a:off x="2051050" y="5661025"/>
            <a:ext cx="169703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Cường độ ánh sáng tới</a:t>
            </a:r>
            <a:endParaRPr lang="ko-KR" altLang="en-US">
              <a:latin typeface="Times New Roman" pitchFamily="18" charset="0"/>
              <a:cs typeface="Times New Roman" pitchFamily="18" charset="0"/>
            </a:endParaRPr>
          </a:p>
        </p:txBody>
      </p:sp>
      <p:sp>
        <p:nvSpPr>
          <p:cNvPr id="161803" name="직사각형 11"/>
          <p:cNvSpPr>
            <a:spLocks noChangeArrowheads="1"/>
          </p:cNvSpPr>
          <p:nvPr/>
        </p:nvSpPr>
        <p:spPr bwMode="auto">
          <a:xfrm>
            <a:off x="1619250" y="5661025"/>
            <a:ext cx="2794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Ít</a:t>
            </a:r>
            <a:endParaRPr lang="ko-KR" altLang="en-US">
              <a:latin typeface="Times New Roman" pitchFamily="18" charset="0"/>
              <a:cs typeface="Times New Roman" pitchFamily="18" charset="0"/>
            </a:endParaRPr>
          </a:p>
        </p:txBody>
      </p:sp>
      <p:sp>
        <p:nvSpPr>
          <p:cNvPr id="161804" name="직사각형 12"/>
          <p:cNvSpPr>
            <a:spLocks noChangeArrowheads="1"/>
          </p:cNvSpPr>
          <p:nvPr/>
        </p:nvSpPr>
        <p:spPr bwMode="auto">
          <a:xfrm>
            <a:off x="3792538" y="5661025"/>
            <a:ext cx="57626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Nhiều</a:t>
            </a:r>
            <a:endParaRPr lang="ko-KR" altLang="en-US">
              <a:latin typeface="Times New Roman" pitchFamily="18" charset="0"/>
              <a:cs typeface="Times New Roman" pitchFamily="18" charset="0"/>
            </a:endParaRPr>
          </a:p>
        </p:txBody>
      </p:sp>
      <p:sp>
        <p:nvSpPr>
          <p:cNvPr id="161805" name="직사각형 13"/>
          <p:cNvSpPr>
            <a:spLocks noChangeArrowheads="1"/>
          </p:cNvSpPr>
          <p:nvPr/>
        </p:nvSpPr>
        <p:spPr bwMode="auto">
          <a:xfrm>
            <a:off x="3932238" y="4868863"/>
            <a:ext cx="128746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Điện áp đầu ra </a:t>
            </a:r>
            <a:endParaRPr lang="ko-KR" altLang="en-US">
              <a:latin typeface="Times New Roman" pitchFamily="18" charset="0"/>
              <a:cs typeface="Times New Roman" pitchFamily="18" charset="0"/>
            </a:endParaRPr>
          </a:p>
        </p:txBody>
      </p:sp>
      <p:sp>
        <p:nvSpPr>
          <p:cNvPr id="161806" name="직사각형 14"/>
          <p:cNvSpPr>
            <a:spLocks noChangeArrowheads="1"/>
          </p:cNvSpPr>
          <p:nvPr/>
        </p:nvSpPr>
        <p:spPr bwMode="auto">
          <a:xfrm>
            <a:off x="3924300" y="5229225"/>
            <a:ext cx="1287463"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 đầu ra </a:t>
            </a:r>
            <a:endParaRPr lang="ko-KR" altLang="en-US">
              <a:latin typeface="Times New Roman" pitchFamily="18" charset="0"/>
              <a:cs typeface="Times New Roman" pitchFamily="18" charset="0"/>
            </a:endParaRPr>
          </a:p>
        </p:txBody>
      </p:sp>
      <p:sp>
        <p:nvSpPr>
          <p:cNvPr id="161807" name="직사각형 15"/>
          <p:cNvSpPr>
            <a:spLocks noChangeArrowheads="1"/>
          </p:cNvSpPr>
          <p:nvPr/>
        </p:nvSpPr>
        <p:spPr bwMode="auto">
          <a:xfrm>
            <a:off x="5724525" y="2708275"/>
            <a:ext cx="1287463"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Tiếp điểm rơ le </a:t>
            </a:r>
            <a:endParaRPr lang="ko-KR" altLang="en-US">
              <a:latin typeface="Times New Roman" pitchFamily="18" charset="0"/>
              <a:cs typeface="Times New Roman" pitchFamily="18" charset="0"/>
            </a:endParaRPr>
          </a:p>
        </p:txBody>
      </p:sp>
      <p:sp>
        <p:nvSpPr>
          <p:cNvPr id="161808" name="직사각형 16"/>
          <p:cNvSpPr>
            <a:spLocks noChangeArrowheads="1"/>
          </p:cNvSpPr>
          <p:nvPr/>
        </p:nvSpPr>
        <p:spPr bwMode="auto">
          <a:xfrm>
            <a:off x="4432300" y="3860800"/>
            <a:ext cx="1795463"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Dòng điện đầu ra analog </a:t>
            </a:r>
            <a:endParaRPr lang="ko-KR" altLang="en-US">
              <a:latin typeface="Times New Roman" pitchFamily="18" charset="0"/>
              <a:cs typeface="Times New Roman" pitchFamily="18" charset="0"/>
            </a:endParaRPr>
          </a:p>
        </p:txBody>
      </p:sp>
      <p:sp>
        <p:nvSpPr>
          <p:cNvPr id="161809" name="직사각형 17"/>
          <p:cNvSpPr>
            <a:spLocks noChangeArrowheads="1"/>
          </p:cNvSpPr>
          <p:nvPr/>
        </p:nvSpPr>
        <p:spPr bwMode="auto">
          <a:xfrm>
            <a:off x="4427538" y="3219450"/>
            <a:ext cx="179705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Điện áp đầu ra analog </a:t>
            </a:r>
            <a:endParaRPr lang="ko-KR" altLang="en-US">
              <a:latin typeface="Times New Roman" pitchFamily="18" charset="0"/>
              <a:cs typeface="Times New Roman" pitchFamily="18" charset="0"/>
            </a:endParaRPr>
          </a:p>
        </p:txBody>
      </p:sp>
      <p:sp>
        <p:nvSpPr>
          <p:cNvPr id="161810" name="직사각형 18"/>
          <p:cNvSpPr>
            <a:spLocks noChangeArrowheads="1"/>
          </p:cNvSpPr>
          <p:nvPr/>
        </p:nvSpPr>
        <p:spPr bwMode="auto">
          <a:xfrm>
            <a:off x="2708275" y="2349500"/>
            <a:ext cx="1287463"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ON/OFF Output </a:t>
            </a:r>
            <a:endParaRPr lang="ko-KR" altLang="en-US">
              <a:latin typeface="Times New Roman" pitchFamily="18" charset="0"/>
              <a:cs typeface="Times New Roman" pitchFamily="18" charset="0"/>
            </a:endParaRPr>
          </a:p>
        </p:txBody>
      </p:sp>
      <p:sp>
        <p:nvSpPr>
          <p:cNvPr id="161811" name="직사각형 19"/>
          <p:cNvSpPr>
            <a:spLocks noChangeArrowheads="1"/>
          </p:cNvSpPr>
          <p:nvPr/>
        </p:nvSpPr>
        <p:spPr bwMode="auto">
          <a:xfrm>
            <a:off x="4500563" y="1989138"/>
            <a:ext cx="863600" cy="444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Đầu ra không</a:t>
            </a:r>
          </a:p>
          <a:p>
            <a:pPr algn="ctr" eaLnBrk="1" hangingPunct="1"/>
            <a:r>
              <a:rPr lang="en-US" altLang="ko-KR" sz="800">
                <a:latin typeface="Times New Roman" pitchFamily="18" charset="0"/>
                <a:cs typeface="Times New Roman" pitchFamily="18" charset="0"/>
              </a:rPr>
              <a:t> tiếp điểm </a:t>
            </a:r>
            <a:endParaRPr lang="ko-KR" altLang="en-US" sz="800">
              <a:latin typeface="Times New Roman" pitchFamily="18" charset="0"/>
              <a:cs typeface="Times New Roman" pitchFamily="18" charset="0"/>
            </a:endParaRPr>
          </a:p>
        </p:txBody>
      </p:sp>
      <p:sp>
        <p:nvSpPr>
          <p:cNvPr id="161812" name="직사각형 20"/>
          <p:cNvSpPr>
            <a:spLocks noChangeArrowheads="1"/>
          </p:cNvSpPr>
          <p:nvPr/>
        </p:nvSpPr>
        <p:spPr bwMode="auto">
          <a:xfrm>
            <a:off x="4500563" y="2636838"/>
            <a:ext cx="863600" cy="444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Đầu ra có</a:t>
            </a:r>
          </a:p>
          <a:p>
            <a:pPr algn="ctr" eaLnBrk="1" hangingPunct="1"/>
            <a:r>
              <a:rPr lang="en-US" altLang="ko-KR" sz="800">
                <a:latin typeface="Times New Roman" pitchFamily="18" charset="0"/>
                <a:cs typeface="Times New Roman" pitchFamily="18" charset="0"/>
              </a:rPr>
              <a:t> tiếp điểm </a:t>
            </a:r>
            <a:endParaRPr lang="ko-KR" altLang="en-US" sz="800">
              <a:latin typeface="Times New Roman" pitchFamily="18" charset="0"/>
              <a:cs typeface="Times New Roman" pitchFamily="18" charset="0"/>
            </a:endParaRPr>
          </a:p>
        </p:txBody>
      </p:sp>
      <p:sp>
        <p:nvSpPr>
          <p:cNvPr id="161813" name="직사각형 21"/>
          <p:cNvSpPr>
            <a:spLocks noChangeArrowheads="1"/>
          </p:cNvSpPr>
          <p:nvPr/>
        </p:nvSpPr>
        <p:spPr bwMode="auto">
          <a:xfrm>
            <a:off x="1779588" y="4221163"/>
            <a:ext cx="1208087"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ON/OFF Output </a:t>
            </a:r>
            <a:endParaRPr lang="ko-KR" altLang="en-US">
              <a:latin typeface="Times New Roman" pitchFamily="18" charset="0"/>
              <a:cs typeface="Times New Roman" pitchFamily="18" charset="0"/>
            </a:endParaRPr>
          </a:p>
        </p:txBody>
      </p:sp>
      <p:sp>
        <p:nvSpPr>
          <p:cNvPr id="161814" name="직사각형 22"/>
          <p:cNvSpPr>
            <a:spLocks noChangeArrowheads="1"/>
          </p:cNvSpPr>
          <p:nvPr/>
        </p:nvSpPr>
        <p:spPr bwMode="auto">
          <a:xfrm>
            <a:off x="1116013" y="2851150"/>
            <a:ext cx="1287462" cy="4953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Mạch đầu ra của cảm biến chính</a:t>
            </a:r>
            <a:endParaRPr lang="ko-KR" altLang="en-US">
              <a:latin typeface="Times New Roman" pitchFamily="18" charset="0"/>
              <a:cs typeface="Times New Roman" pitchFamily="18" charset="0"/>
            </a:endParaRPr>
          </a:p>
        </p:txBody>
      </p:sp>
      <p:sp>
        <p:nvSpPr>
          <p:cNvPr id="161815" name="직사각형 23"/>
          <p:cNvSpPr>
            <a:spLocks noChangeArrowheads="1"/>
          </p:cNvSpPr>
          <p:nvPr/>
        </p:nvSpPr>
        <p:spPr bwMode="auto">
          <a:xfrm>
            <a:off x="5811838" y="5661025"/>
            <a:ext cx="1697037"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Cường độ ánh sáng tới</a:t>
            </a:r>
            <a:endParaRPr lang="ko-KR" altLang="en-US">
              <a:latin typeface="Times New Roman" pitchFamily="18" charset="0"/>
              <a:cs typeface="Times New Roman" pitchFamily="18" charset="0"/>
            </a:endParaRPr>
          </a:p>
        </p:txBody>
      </p:sp>
      <p:sp>
        <p:nvSpPr>
          <p:cNvPr id="161816" name="직사각형 24"/>
          <p:cNvSpPr>
            <a:spLocks noChangeArrowheads="1"/>
          </p:cNvSpPr>
          <p:nvPr/>
        </p:nvSpPr>
        <p:spPr bwMode="auto">
          <a:xfrm>
            <a:off x="5364163" y="5668963"/>
            <a:ext cx="27940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Ít</a:t>
            </a:r>
            <a:endParaRPr lang="ko-KR" altLang="en-US">
              <a:latin typeface="Times New Roman" pitchFamily="18" charset="0"/>
              <a:cs typeface="Times New Roman" pitchFamily="18" charset="0"/>
            </a:endParaRPr>
          </a:p>
        </p:txBody>
      </p:sp>
      <p:sp>
        <p:nvSpPr>
          <p:cNvPr id="161817" name="직사각형 25"/>
          <p:cNvSpPr>
            <a:spLocks noChangeArrowheads="1"/>
          </p:cNvSpPr>
          <p:nvPr/>
        </p:nvSpPr>
        <p:spPr bwMode="auto">
          <a:xfrm>
            <a:off x="7645400" y="5656263"/>
            <a:ext cx="5746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Nhiều</a:t>
            </a:r>
            <a:endParaRPr lang="ko-KR" altLang="en-US">
              <a:latin typeface="Times New Roman" pitchFamily="18" charset="0"/>
              <a:cs typeface="Times New Roman" pitchFamily="18" charset="0"/>
            </a:endParaRPr>
          </a:p>
        </p:txBody>
      </p:sp>
      <p:sp>
        <p:nvSpPr>
          <p:cNvPr id="161818" name="직사각형 26"/>
          <p:cNvSpPr>
            <a:spLocks noChangeArrowheads="1"/>
          </p:cNvSpPr>
          <p:nvPr/>
        </p:nvSpPr>
        <p:spPr bwMode="auto">
          <a:xfrm>
            <a:off x="5732463" y="1773238"/>
            <a:ext cx="2224087" cy="2873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NPN transistor-Open collector </a:t>
            </a:r>
            <a:endParaRPr lang="ko-KR" altLang="en-US">
              <a:latin typeface="Times New Roman" pitchFamily="18" charset="0"/>
              <a:cs typeface="Times New Roman" pitchFamily="18" charset="0"/>
            </a:endParaRPr>
          </a:p>
        </p:txBody>
      </p:sp>
      <p:sp>
        <p:nvSpPr>
          <p:cNvPr id="161819" name="직사각형 27"/>
          <p:cNvSpPr>
            <a:spLocks noChangeArrowheads="1"/>
          </p:cNvSpPr>
          <p:nvPr/>
        </p:nvSpPr>
        <p:spPr bwMode="auto">
          <a:xfrm>
            <a:off x="5724525" y="2060575"/>
            <a:ext cx="2224088"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PNP transistor-Open collector </a:t>
            </a:r>
            <a:endParaRPr lang="ko-KR" altLang="en-US">
              <a:latin typeface="Times New Roman" pitchFamily="18" charset="0"/>
              <a:cs typeface="Times New Roman" pitchFamily="18" charset="0"/>
            </a:endParaRPr>
          </a:p>
        </p:txBody>
      </p:sp>
      <p:sp>
        <p:nvSpPr>
          <p:cNvPr id="161820" name="직사각형 28"/>
          <p:cNvSpPr>
            <a:spLocks noChangeArrowheads="1"/>
          </p:cNvSpPr>
          <p:nvPr/>
        </p:nvSpPr>
        <p:spPr bwMode="auto">
          <a:xfrm>
            <a:off x="5803900" y="2349500"/>
            <a:ext cx="222408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DC two wire way </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245B9998-198A-44FD-979B-98C9BE9F6065}" type="slidenum">
              <a:rPr lang="en-US" altLang="ko-KR" sz="1400" smtClean="0">
                <a:latin typeface="Times New Roman" pitchFamily="18" charset="0"/>
                <a:cs typeface="Times New Roman" pitchFamily="18" charset="0"/>
              </a:rPr>
              <a:pPr eaLnBrk="1" hangingPunct="1"/>
              <a:t>154</a:t>
            </a:fld>
            <a:endParaRPr lang="en-US" altLang="ko-KR" sz="1400" smtClean="0">
              <a:latin typeface="Times New Roman" pitchFamily="18" charset="0"/>
              <a:cs typeface="Times New Roman" pitchFamily="18" charset="0"/>
            </a:endParaRPr>
          </a:p>
        </p:txBody>
      </p:sp>
      <p:sp>
        <p:nvSpPr>
          <p:cNvPr id="162819"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Đặc tính của các mạch đầu ra</a:t>
            </a:r>
            <a:endParaRPr lang="ko-KR" altLang="en-US" b="1">
              <a:latin typeface="Times New Roman" pitchFamily="18" charset="0"/>
              <a:cs typeface="Times New Roman" pitchFamily="18" charset="0"/>
            </a:endParaRPr>
          </a:p>
        </p:txBody>
      </p:sp>
      <p:graphicFrame>
        <p:nvGraphicFramePr>
          <p:cNvPr id="2801697" name="Group 33"/>
          <p:cNvGraphicFramePr>
            <a:graphicFrameLocks noGrp="1"/>
          </p:cNvGraphicFramePr>
          <p:nvPr/>
        </p:nvGraphicFramePr>
        <p:xfrm>
          <a:off x="900113" y="1230313"/>
          <a:ext cx="7489825" cy="1771650"/>
        </p:xfrm>
        <a:graphic>
          <a:graphicData uri="http://schemas.openxmlformats.org/drawingml/2006/table">
            <a:tbl>
              <a:tblPr/>
              <a:tblGrid>
                <a:gridCol w="388937"/>
                <a:gridCol w="1771650"/>
                <a:gridCol w="1800225"/>
                <a:gridCol w="1800225"/>
                <a:gridCol w="1728788"/>
              </a:tblGrid>
              <a:tr h="24576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NPN</a:t>
                      </a: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Transistor (Open collector)</a:t>
                      </a: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PNPTransistor</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(Open collector)</a:t>
                      </a: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DC two wire way </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le</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1525882">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Đặc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tính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Bao</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gồm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le,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khả</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năng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xúc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phần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lớn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máy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móc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mạch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thẳng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như</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PLC, TTL</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transistor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khác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tuổi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thọ</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bán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vĩnh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cửu</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hồi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nhanh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phương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thức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đang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được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châu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âu</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transistor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khác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tuổi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thọ</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bán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vĩnh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cửu</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hồi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nhanh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kiệm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dây</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Dòng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điện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tiêu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hao</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thấp</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Là</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loại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transistor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nên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khác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Output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điểm</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khí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tuổi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thọ</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sử</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dụng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bán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vĩnh</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cửu</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Phản</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hồi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nhanh</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thể</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tiếp</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xúc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với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tất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các</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phía</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phía</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tải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xoay</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chiều</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hay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tải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1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chiều</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Công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suất</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đóng</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mở</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lớn</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Font typeface="Wingdings" pitchFamily="2" charset="2"/>
                        <a:buChar char="§"/>
                        <a:tabLst/>
                      </a:pPr>
                      <a:r>
                        <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Có</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tuổi</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thọ</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ở </a:t>
                      </a:r>
                      <a:r>
                        <a:rPr kumimoji="1" lang="en-US" altLang="ko-KR" sz="10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rơ</a:t>
                      </a:r>
                      <a:r>
                        <a:rPr kumimoji="1" lang="en-US" altLang="ko-KR"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le</a:t>
                      </a:r>
                      <a:endParaRPr kumimoji="1" lang="ko-KR" altLang="en-US" sz="10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L="36000" marR="0" marT="46684" marB="46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pic>
        <p:nvPicPr>
          <p:cNvPr id="16284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4050" y="3141663"/>
            <a:ext cx="3995738"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842"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4050" y="4830763"/>
            <a:ext cx="3887788"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43" name="Text Box 36"/>
          <p:cNvSpPr txBox="1">
            <a:spLocks noChangeArrowheads="1"/>
          </p:cNvSpPr>
          <p:nvPr/>
        </p:nvSpPr>
        <p:spPr bwMode="auto">
          <a:xfrm>
            <a:off x="879475" y="3195638"/>
            <a:ext cx="3402013"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Cảm biến loại NPN</a:t>
            </a:r>
          </a:p>
          <a:p>
            <a:pPr eaLnBrk="1" hangingPunct="1"/>
            <a:r>
              <a:rPr lang="en-US" altLang="ko-KR">
                <a:latin typeface="Times New Roman" pitchFamily="18" charset="0"/>
                <a:cs typeface="Times New Roman" pitchFamily="18" charset="0"/>
              </a:rPr>
              <a:t>    - Tải được đặt ở</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màu nâu(+V)</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màu đen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(OUT)</a:t>
            </a:r>
          </a:p>
          <a:p>
            <a:pPr eaLnBrk="1" hangingPunct="1"/>
            <a:r>
              <a:rPr lang="en-US" altLang="ko-KR">
                <a:latin typeface="Times New Roman" pitchFamily="18" charset="0"/>
                <a:cs typeface="Times New Roman" pitchFamily="18" charset="0"/>
              </a:rPr>
              <a:t>    - Khi Sensor On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đầu ra 0V </a:t>
            </a:r>
            <a:endParaRPr lang="ko-KR" altLang="en-US">
              <a:latin typeface="Times New Roman" pitchFamily="18" charset="0"/>
              <a:cs typeface="Times New Roman" pitchFamily="18" charset="0"/>
            </a:endParaRPr>
          </a:p>
        </p:txBody>
      </p:sp>
      <p:sp>
        <p:nvSpPr>
          <p:cNvPr id="162844" name="Text Box 37"/>
          <p:cNvSpPr txBox="1">
            <a:spLocks noChangeArrowheads="1"/>
          </p:cNvSpPr>
          <p:nvPr/>
        </p:nvSpPr>
        <p:spPr bwMode="auto">
          <a:xfrm>
            <a:off x="879475" y="4868863"/>
            <a:ext cx="3613150"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Cảm biến loại PNP</a:t>
            </a:r>
          </a:p>
          <a:p>
            <a:pPr eaLnBrk="1" hangingPunct="1"/>
            <a:r>
              <a:rPr lang="en-US" altLang="ko-KR">
                <a:latin typeface="Times New Roman" pitchFamily="18" charset="0"/>
                <a:cs typeface="Times New Roman" pitchFamily="18" charset="0"/>
              </a:rPr>
              <a:t>    - Tải được đặt ở màu đen(OUT)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màu xanh(GND).</a:t>
            </a:r>
          </a:p>
          <a:p>
            <a:pPr eaLnBrk="1" hangingPunct="1"/>
            <a:r>
              <a:rPr lang="en-US" altLang="ko-KR">
                <a:latin typeface="Times New Roman" pitchFamily="18" charset="0"/>
                <a:cs typeface="Times New Roman" pitchFamily="18" charset="0"/>
              </a:rPr>
              <a:t>    - Khi Sensor On đầu ra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a:t>
            </a:r>
            <a:endParaRPr lang="ko-KR" altLang="en-US">
              <a:latin typeface="Times New Roman" pitchFamily="18" charset="0"/>
              <a:cs typeface="Times New Roman" pitchFamily="18" charset="0"/>
            </a:endParaRPr>
          </a:p>
        </p:txBody>
      </p:sp>
      <p:sp>
        <p:nvSpPr>
          <p:cNvPr id="162845"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2846"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62847" name="직사각형 1"/>
          <p:cNvSpPr>
            <a:spLocks noChangeArrowheads="1"/>
          </p:cNvSpPr>
          <p:nvPr/>
        </p:nvSpPr>
        <p:spPr bwMode="auto">
          <a:xfrm>
            <a:off x="4211638" y="3143250"/>
            <a:ext cx="709612" cy="534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Đèn biểu thị</a:t>
            </a:r>
          </a:p>
          <a:p>
            <a:pPr algn="ctr" eaLnBrk="1" hangingPunct="1"/>
            <a:r>
              <a:rPr lang="en-US" altLang="ko-KR" sz="800">
                <a:latin typeface="Times New Roman" pitchFamily="18" charset="0"/>
                <a:cs typeface="Times New Roman" pitchFamily="18" charset="0"/>
              </a:rPr>
              <a:t> ánh sáng tới</a:t>
            </a:r>
          </a:p>
          <a:p>
            <a:pPr algn="ctr" eaLnBrk="1" hangingPunct="1"/>
            <a:r>
              <a:rPr lang="en-US" altLang="ko-KR" sz="800">
                <a:latin typeface="Times New Roman" pitchFamily="18" charset="0"/>
                <a:cs typeface="Times New Roman" pitchFamily="18" charset="0"/>
              </a:rPr>
              <a:t>(màu đỏ)</a:t>
            </a:r>
            <a:endParaRPr lang="ko-KR" altLang="en-US" sz="800">
              <a:latin typeface="Times New Roman" pitchFamily="18" charset="0"/>
              <a:cs typeface="Times New Roman" pitchFamily="18" charset="0"/>
            </a:endParaRPr>
          </a:p>
        </p:txBody>
      </p:sp>
      <p:sp>
        <p:nvSpPr>
          <p:cNvPr id="162848" name="직사각형 12"/>
          <p:cNvSpPr>
            <a:spLocks noChangeArrowheads="1"/>
          </p:cNvSpPr>
          <p:nvPr/>
        </p:nvSpPr>
        <p:spPr bwMode="auto">
          <a:xfrm>
            <a:off x="5403850" y="3141663"/>
            <a:ext cx="752475" cy="534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Đèn biểu thị</a:t>
            </a:r>
          </a:p>
          <a:p>
            <a:pPr algn="ctr" eaLnBrk="1" hangingPunct="1"/>
            <a:r>
              <a:rPr lang="en-US" altLang="ko-KR" sz="800">
                <a:latin typeface="Times New Roman" pitchFamily="18" charset="0"/>
                <a:cs typeface="Times New Roman" pitchFamily="18" charset="0"/>
              </a:rPr>
              <a:t>sự ổn định</a:t>
            </a:r>
          </a:p>
          <a:p>
            <a:pPr algn="ctr" eaLnBrk="1" hangingPunct="1"/>
            <a:r>
              <a:rPr lang="en-US" altLang="ko-KR" sz="800">
                <a:latin typeface="Times New Roman" pitchFamily="18" charset="0"/>
                <a:cs typeface="Times New Roman" pitchFamily="18" charset="0"/>
              </a:rPr>
              <a:t>(màu xanh lá)</a:t>
            </a:r>
            <a:endParaRPr lang="ko-KR" altLang="en-US" sz="800">
              <a:latin typeface="Times New Roman" pitchFamily="18" charset="0"/>
              <a:cs typeface="Times New Roman" pitchFamily="18" charset="0"/>
            </a:endParaRPr>
          </a:p>
        </p:txBody>
      </p:sp>
      <p:sp>
        <p:nvSpPr>
          <p:cNvPr id="162849" name="직사각형 13"/>
          <p:cNvSpPr>
            <a:spLocks noChangeArrowheads="1"/>
          </p:cNvSpPr>
          <p:nvPr/>
        </p:nvSpPr>
        <p:spPr bwMode="auto">
          <a:xfrm>
            <a:off x="4211638" y="4868863"/>
            <a:ext cx="709612" cy="536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Đèn biểu thị</a:t>
            </a:r>
          </a:p>
          <a:p>
            <a:pPr algn="ctr" eaLnBrk="1" hangingPunct="1"/>
            <a:r>
              <a:rPr lang="en-US" altLang="ko-KR" sz="800">
                <a:latin typeface="Times New Roman" pitchFamily="18" charset="0"/>
                <a:cs typeface="Times New Roman" pitchFamily="18" charset="0"/>
              </a:rPr>
              <a:t> ánh sáng tới</a:t>
            </a:r>
          </a:p>
          <a:p>
            <a:pPr algn="ctr" eaLnBrk="1" hangingPunct="1"/>
            <a:r>
              <a:rPr lang="en-US" altLang="ko-KR" sz="800">
                <a:latin typeface="Times New Roman" pitchFamily="18" charset="0"/>
                <a:cs typeface="Times New Roman" pitchFamily="18" charset="0"/>
              </a:rPr>
              <a:t>(màu đỏ)</a:t>
            </a:r>
            <a:endParaRPr lang="ko-KR" altLang="en-US" sz="800">
              <a:latin typeface="Times New Roman" pitchFamily="18" charset="0"/>
              <a:cs typeface="Times New Roman" pitchFamily="18" charset="0"/>
            </a:endParaRPr>
          </a:p>
        </p:txBody>
      </p:sp>
      <p:sp>
        <p:nvSpPr>
          <p:cNvPr id="162850" name="직사각형 14"/>
          <p:cNvSpPr>
            <a:spLocks noChangeArrowheads="1"/>
          </p:cNvSpPr>
          <p:nvPr/>
        </p:nvSpPr>
        <p:spPr bwMode="auto">
          <a:xfrm>
            <a:off x="5364163" y="4765675"/>
            <a:ext cx="752475" cy="534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Đèn biểu thị</a:t>
            </a:r>
          </a:p>
          <a:p>
            <a:pPr algn="ctr" eaLnBrk="1" hangingPunct="1"/>
            <a:r>
              <a:rPr lang="en-US" altLang="ko-KR" sz="800">
                <a:latin typeface="Times New Roman" pitchFamily="18" charset="0"/>
                <a:cs typeface="Times New Roman" pitchFamily="18" charset="0"/>
              </a:rPr>
              <a:t>sự ổn định</a:t>
            </a:r>
          </a:p>
          <a:p>
            <a:pPr algn="ctr" eaLnBrk="1" hangingPunct="1"/>
            <a:r>
              <a:rPr lang="en-US" altLang="ko-KR" sz="800">
                <a:latin typeface="Times New Roman" pitchFamily="18" charset="0"/>
                <a:cs typeface="Times New Roman" pitchFamily="18" charset="0"/>
              </a:rPr>
              <a:t>(màu xanh lá)</a:t>
            </a:r>
            <a:endParaRPr lang="ko-KR" altLang="en-US" sz="800">
              <a:latin typeface="Times New Roman" pitchFamily="18" charset="0"/>
              <a:cs typeface="Times New Roman" pitchFamily="18" charset="0"/>
            </a:endParaRPr>
          </a:p>
        </p:txBody>
      </p:sp>
      <p:sp>
        <p:nvSpPr>
          <p:cNvPr id="162851" name="직사각형 15"/>
          <p:cNvSpPr>
            <a:spLocks noChangeArrowheads="1"/>
          </p:cNvSpPr>
          <p:nvPr/>
        </p:nvSpPr>
        <p:spPr bwMode="auto">
          <a:xfrm>
            <a:off x="5435600" y="3716338"/>
            <a:ext cx="696913" cy="536575"/>
          </a:xfrm>
          <a:prstGeom prst="rect">
            <a:avLst/>
          </a:prstGeom>
          <a:solidFill>
            <a:schemeClr val="bg1"/>
          </a:solidFill>
          <a:ln w="9525">
            <a:solidFill>
              <a:schemeClr val="tx1"/>
            </a:solidFill>
            <a:miter lim="800000"/>
            <a:headEnd/>
            <a:tailEnd/>
          </a:ln>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Mạch chính </a:t>
            </a:r>
          </a:p>
          <a:p>
            <a:pPr algn="ctr" eaLnBrk="1" hangingPunct="1"/>
            <a:r>
              <a:rPr lang="en-US" altLang="ko-KR" sz="800">
                <a:latin typeface="Times New Roman" pitchFamily="18" charset="0"/>
                <a:cs typeface="Times New Roman" pitchFamily="18" charset="0"/>
              </a:rPr>
              <a:t>công tắc </a:t>
            </a:r>
          </a:p>
          <a:p>
            <a:pPr algn="ctr" eaLnBrk="1" hangingPunct="1"/>
            <a:r>
              <a:rPr lang="en-US" altLang="ko-KR" sz="800">
                <a:latin typeface="Times New Roman" pitchFamily="18" charset="0"/>
                <a:cs typeface="Times New Roman" pitchFamily="18" charset="0"/>
              </a:rPr>
              <a:t>quang điện</a:t>
            </a:r>
            <a:endParaRPr lang="ko-KR" altLang="en-US" sz="800">
              <a:latin typeface="Times New Roman" pitchFamily="18" charset="0"/>
              <a:cs typeface="Times New Roman" pitchFamily="18" charset="0"/>
            </a:endParaRPr>
          </a:p>
        </p:txBody>
      </p:sp>
      <p:sp>
        <p:nvSpPr>
          <p:cNvPr id="162852" name="직사각형 16"/>
          <p:cNvSpPr>
            <a:spLocks noChangeArrowheads="1"/>
          </p:cNvSpPr>
          <p:nvPr/>
        </p:nvSpPr>
        <p:spPr bwMode="auto">
          <a:xfrm>
            <a:off x="5418138" y="5357813"/>
            <a:ext cx="696912" cy="536575"/>
          </a:xfrm>
          <a:prstGeom prst="rect">
            <a:avLst/>
          </a:prstGeom>
          <a:solidFill>
            <a:schemeClr val="bg1"/>
          </a:solidFill>
          <a:ln w="9525">
            <a:solidFill>
              <a:schemeClr val="tx1"/>
            </a:solidFill>
            <a:miter lim="800000"/>
            <a:headEnd/>
            <a:tailEnd/>
          </a:ln>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Mạch chính </a:t>
            </a:r>
          </a:p>
          <a:p>
            <a:pPr algn="ctr" eaLnBrk="1" hangingPunct="1"/>
            <a:r>
              <a:rPr lang="en-US" altLang="ko-KR" sz="800">
                <a:latin typeface="Times New Roman" pitchFamily="18" charset="0"/>
                <a:cs typeface="Times New Roman" pitchFamily="18" charset="0"/>
              </a:rPr>
              <a:t>công tắc </a:t>
            </a:r>
          </a:p>
          <a:p>
            <a:pPr algn="ctr" eaLnBrk="1" hangingPunct="1"/>
            <a:r>
              <a:rPr lang="en-US" altLang="ko-KR" sz="800">
                <a:latin typeface="Times New Roman" pitchFamily="18" charset="0"/>
                <a:cs typeface="Times New Roman" pitchFamily="18" charset="0"/>
              </a:rPr>
              <a:t>quang điện</a:t>
            </a:r>
            <a:endParaRPr lang="ko-KR" altLang="en-US" sz="800">
              <a:latin typeface="Times New Roman" pitchFamily="18" charset="0"/>
              <a:cs typeface="Times New Roman" pitchFamily="18" charset="0"/>
            </a:endParaRPr>
          </a:p>
        </p:txBody>
      </p:sp>
      <p:sp>
        <p:nvSpPr>
          <p:cNvPr id="162853" name="직사각형 17"/>
          <p:cNvSpPr>
            <a:spLocks noChangeArrowheads="1"/>
          </p:cNvSpPr>
          <p:nvPr/>
        </p:nvSpPr>
        <p:spPr bwMode="auto">
          <a:xfrm>
            <a:off x="7235825" y="3379788"/>
            <a:ext cx="490538" cy="388937"/>
          </a:xfrm>
          <a:prstGeom prst="rect">
            <a:avLst/>
          </a:prstGeom>
          <a:solidFill>
            <a:schemeClr val="bg1"/>
          </a:solidFill>
          <a:ln w="9525">
            <a:solidFill>
              <a:schemeClr val="tx1"/>
            </a:solidFill>
            <a:miter lim="800000"/>
            <a:headEnd/>
            <a:tailEnd/>
          </a:ln>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Tải</a:t>
            </a:r>
          </a:p>
          <a:p>
            <a:pPr algn="ctr" eaLnBrk="1" hangingPunct="1"/>
            <a:r>
              <a:rPr lang="en-US" altLang="ko-KR" sz="800">
                <a:latin typeface="Times New Roman" pitchFamily="18" charset="0"/>
                <a:cs typeface="Times New Roman" pitchFamily="18" charset="0"/>
              </a:rPr>
              <a:t>(Relay)</a:t>
            </a:r>
            <a:endParaRPr lang="ko-KR" altLang="en-US" sz="800">
              <a:latin typeface="Times New Roman" pitchFamily="18" charset="0"/>
              <a:cs typeface="Times New Roman" pitchFamily="18" charset="0"/>
            </a:endParaRPr>
          </a:p>
        </p:txBody>
      </p:sp>
      <p:sp>
        <p:nvSpPr>
          <p:cNvPr id="162854" name="직사각형 18"/>
          <p:cNvSpPr>
            <a:spLocks noChangeArrowheads="1"/>
          </p:cNvSpPr>
          <p:nvPr/>
        </p:nvSpPr>
        <p:spPr bwMode="auto">
          <a:xfrm>
            <a:off x="7235825" y="5578475"/>
            <a:ext cx="490538" cy="387350"/>
          </a:xfrm>
          <a:prstGeom prst="rect">
            <a:avLst/>
          </a:prstGeom>
          <a:solidFill>
            <a:schemeClr val="bg1"/>
          </a:solidFill>
          <a:ln w="9525">
            <a:solidFill>
              <a:schemeClr val="tx1"/>
            </a:solidFill>
            <a:miter lim="800000"/>
            <a:headEnd/>
            <a:tailEnd/>
          </a:ln>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Tải</a:t>
            </a:r>
          </a:p>
          <a:p>
            <a:pPr algn="ctr" eaLnBrk="1" hangingPunct="1"/>
            <a:r>
              <a:rPr lang="en-US" altLang="ko-KR" sz="800">
                <a:latin typeface="Times New Roman" pitchFamily="18" charset="0"/>
                <a:cs typeface="Times New Roman" pitchFamily="18" charset="0"/>
              </a:rPr>
              <a:t>(Relay)</a:t>
            </a:r>
            <a:endParaRPr lang="ko-KR" altLang="en-US" sz="800">
              <a:latin typeface="Times New Roman" pitchFamily="18" charset="0"/>
              <a:cs typeface="Times New Roman" pitchFamily="18" charset="0"/>
            </a:endParaRPr>
          </a:p>
        </p:txBody>
      </p:sp>
      <p:sp>
        <p:nvSpPr>
          <p:cNvPr id="162855" name="직사각형 19"/>
          <p:cNvSpPr>
            <a:spLocks noChangeArrowheads="1"/>
          </p:cNvSpPr>
          <p:nvPr/>
        </p:nvSpPr>
        <p:spPr bwMode="auto">
          <a:xfrm>
            <a:off x="7123113" y="3068638"/>
            <a:ext cx="544512" cy="2270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nâu</a:t>
            </a:r>
            <a:endParaRPr lang="ko-KR" altLang="en-US" sz="800">
              <a:latin typeface="Times New Roman" pitchFamily="18" charset="0"/>
              <a:cs typeface="Times New Roman" pitchFamily="18" charset="0"/>
            </a:endParaRPr>
          </a:p>
        </p:txBody>
      </p:sp>
      <p:sp>
        <p:nvSpPr>
          <p:cNvPr id="162856" name="직사각형 20"/>
          <p:cNvSpPr>
            <a:spLocks noChangeArrowheads="1"/>
          </p:cNvSpPr>
          <p:nvPr/>
        </p:nvSpPr>
        <p:spPr bwMode="auto">
          <a:xfrm>
            <a:off x="7092950" y="4724400"/>
            <a:ext cx="544513"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nâu</a:t>
            </a:r>
            <a:endParaRPr lang="ko-KR" altLang="en-US" sz="800">
              <a:latin typeface="Times New Roman" pitchFamily="18" charset="0"/>
              <a:cs typeface="Times New Roman" pitchFamily="18" charset="0"/>
            </a:endParaRPr>
          </a:p>
        </p:txBody>
      </p:sp>
      <p:sp>
        <p:nvSpPr>
          <p:cNvPr id="162857" name="직사각형 21"/>
          <p:cNvSpPr>
            <a:spLocks noChangeArrowheads="1"/>
          </p:cNvSpPr>
          <p:nvPr/>
        </p:nvSpPr>
        <p:spPr bwMode="auto">
          <a:xfrm>
            <a:off x="7092950" y="5300663"/>
            <a:ext cx="544513" cy="2270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đen</a:t>
            </a:r>
            <a:endParaRPr lang="ko-KR" altLang="en-US" sz="800">
              <a:latin typeface="Times New Roman" pitchFamily="18" charset="0"/>
              <a:cs typeface="Times New Roman" pitchFamily="18" charset="0"/>
            </a:endParaRPr>
          </a:p>
        </p:txBody>
      </p:sp>
      <p:sp>
        <p:nvSpPr>
          <p:cNvPr id="162858" name="직사각형 22"/>
          <p:cNvSpPr>
            <a:spLocks noChangeArrowheads="1"/>
          </p:cNvSpPr>
          <p:nvPr/>
        </p:nvSpPr>
        <p:spPr bwMode="auto">
          <a:xfrm>
            <a:off x="6978650" y="3692525"/>
            <a:ext cx="5461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đen</a:t>
            </a:r>
            <a:endParaRPr lang="ko-KR" altLang="en-US" sz="800">
              <a:latin typeface="Times New Roman" pitchFamily="18" charset="0"/>
              <a:cs typeface="Times New Roman" pitchFamily="18" charset="0"/>
            </a:endParaRPr>
          </a:p>
        </p:txBody>
      </p:sp>
      <p:sp>
        <p:nvSpPr>
          <p:cNvPr id="162859" name="직사각형 23"/>
          <p:cNvSpPr>
            <a:spLocks noChangeArrowheads="1"/>
          </p:cNvSpPr>
          <p:nvPr/>
        </p:nvSpPr>
        <p:spPr bwMode="auto">
          <a:xfrm>
            <a:off x="7019925" y="4221163"/>
            <a:ext cx="796925"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xanh lam</a:t>
            </a:r>
            <a:endParaRPr lang="ko-KR" altLang="en-US" sz="800">
              <a:latin typeface="Times New Roman" pitchFamily="18" charset="0"/>
              <a:cs typeface="Times New Roman" pitchFamily="18" charset="0"/>
            </a:endParaRPr>
          </a:p>
        </p:txBody>
      </p:sp>
      <p:sp>
        <p:nvSpPr>
          <p:cNvPr id="162860" name="직사각형 24"/>
          <p:cNvSpPr>
            <a:spLocks noChangeArrowheads="1"/>
          </p:cNvSpPr>
          <p:nvPr/>
        </p:nvSpPr>
        <p:spPr bwMode="auto">
          <a:xfrm>
            <a:off x="7019925" y="5924550"/>
            <a:ext cx="796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Màu xanh lam</a:t>
            </a:r>
            <a:endParaRPr lang="ko-KR" altLang="en-US" sz="800">
              <a:latin typeface="Times New Roman" pitchFamily="18" charset="0"/>
              <a:cs typeface="Times New Roman" pitchFamily="18" charset="0"/>
            </a:endParaRPr>
          </a:p>
        </p:txBody>
      </p:sp>
      <p:sp>
        <p:nvSpPr>
          <p:cNvPr id="162861" name="직사각형 25"/>
          <p:cNvSpPr>
            <a:spLocks noChangeArrowheads="1"/>
          </p:cNvSpPr>
          <p:nvPr/>
        </p:nvSpPr>
        <p:spPr bwMode="auto">
          <a:xfrm>
            <a:off x="6156325" y="3573463"/>
            <a:ext cx="9271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Lớn nhất 100mA</a:t>
            </a:r>
            <a:endParaRPr lang="ko-KR" altLang="en-US" sz="800">
              <a:latin typeface="Times New Roman" pitchFamily="18" charset="0"/>
              <a:cs typeface="Times New Roman" pitchFamily="18" charset="0"/>
            </a:endParaRPr>
          </a:p>
        </p:txBody>
      </p:sp>
      <p:sp>
        <p:nvSpPr>
          <p:cNvPr id="162862" name="직사각형 26"/>
          <p:cNvSpPr>
            <a:spLocks noChangeArrowheads="1"/>
          </p:cNvSpPr>
          <p:nvPr/>
        </p:nvSpPr>
        <p:spPr bwMode="auto">
          <a:xfrm>
            <a:off x="6156325" y="5637213"/>
            <a:ext cx="9271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Lớn nhất 100mA</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08B909E-15EF-4C63-B50C-28BE6A09789A}" type="slidenum">
              <a:rPr lang="en-US" altLang="ko-KR" sz="1400" smtClean="0">
                <a:latin typeface="Times New Roman" pitchFamily="18" charset="0"/>
                <a:cs typeface="Times New Roman" pitchFamily="18" charset="0"/>
              </a:rPr>
              <a:pPr eaLnBrk="1" hangingPunct="1"/>
              <a:t>155</a:t>
            </a:fld>
            <a:endParaRPr lang="en-US" altLang="ko-KR" sz="1400" smtClean="0">
              <a:latin typeface="Times New Roman" pitchFamily="18" charset="0"/>
              <a:cs typeface="Times New Roman" pitchFamily="18" charset="0"/>
            </a:endParaRPr>
          </a:p>
        </p:txBody>
      </p:sp>
      <p:sp>
        <p:nvSpPr>
          <p:cNvPr id="163843"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Phương thức nối dây cảm biến</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32" name="직사각형 31"/>
          <p:cNvSpPr/>
          <p:nvPr/>
        </p:nvSpPr>
        <p:spPr>
          <a:xfrm>
            <a:off x="1157288" y="4010025"/>
            <a:ext cx="7375525" cy="22987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pic>
        <p:nvPicPr>
          <p:cNvPr id="1638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200" y="1541463"/>
            <a:ext cx="2809875"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6" name="TextBox 6"/>
          <p:cNvSpPr txBox="1">
            <a:spLocks noChangeArrowheads="1"/>
          </p:cNvSpPr>
          <p:nvPr/>
        </p:nvSpPr>
        <p:spPr bwMode="auto">
          <a:xfrm>
            <a:off x="6873875" y="2228850"/>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X00</a:t>
            </a:r>
          </a:p>
        </p:txBody>
      </p:sp>
      <p:sp>
        <p:nvSpPr>
          <p:cNvPr id="163847" name="TextBox 7"/>
          <p:cNvSpPr txBox="1">
            <a:spLocks noChangeArrowheads="1"/>
          </p:cNvSpPr>
          <p:nvPr/>
        </p:nvSpPr>
        <p:spPr bwMode="auto">
          <a:xfrm>
            <a:off x="6873875" y="1811338"/>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X08</a:t>
            </a:r>
          </a:p>
        </p:txBody>
      </p:sp>
      <p:sp>
        <p:nvSpPr>
          <p:cNvPr id="163848" name="TextBox 8"/>
          <p:cNvSpPr txBox="1">
            <a:spLocks noChangeArrowheads="1"/>
          </p:cNvSpPr>
          <p:nvPr/>
        </p:nvSpPr>
        <p:spPr bwMode="auto">
          <a:xfrm>
            <a:off x="6873875" y="1692275"/>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X09</a:t>
            </a:r>
          </a:p>
        </p:txBody>
      </p:sp>
      <p:sp>
        <p:nvSpPr>
          <p:cNvPr id="163849" name="TextBox 9"/>
          <p:cNvSpPr txBox="1">
            <a:spLocks noChangeArrowheads="1"/>
          </p:cNvSpPr>
          <p:nvPr/>
        </p:nvSpPr>
        <p:spPr bwMode="auto">
          <a:xfrm>
            <a:off x="6873875" y="1566863"/>
            <a:ext cx="4349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X0A</a:t>
            </a:r>
          </a:p>
        </p:txBody>
      </p:sp>
      <p:sp>
        <p:nvSpPr>
          <p:cNvPr id="163850" name="TextBox 10"/>
          <p:cNvSpPr txBox="1">
            <a:spLocks noChangeArrowheads="1"/>
          </p:cNvSpPr>
          <p:nvPr/>
        </p:nvSpPr>
        <p:spPr bwMode="auto">
          <a:xfrm>
            <a:off x="7524750" y="1749425"/>
            <a:ext cx="901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PLC IN Card</a:t>
            </a:r>
          </a:p>
        </p:txBody>
      </p:sp>
      <p:pic>
        <p:nvPicPr>
          <p:cNvPr id="16385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338" y="1936750"/>
            <a:ext cx="26098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52" name="TextBox 13"/>
          <p:cNvSpPr txBox="1">
            <a:spLocks noChangeArrowheads="1"/>
          </p:cNvSpPr>
          <p:nvPr/>
        </p:nvSpPr>
        <p:spPr bwMode="auto">
          <a:xfrm>
            <a:off x="3803650" y="2119313"/>
            <a:ext cx="561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 OUT</a:t>
            </a:r>
          </a:p>
        </p:txBody>
      </p:sp>
      <p:sp>
        <p:nvSpPr>
          <p:cNvPr id="163853" name="TextBox 14"/>
          <p:cNvSpPr txBox="1">
            <a:spLocks noChangeArrowheads="1"/>
          </p:cNvSpPr>
          <p:nvPr/>
        </p:nvSpPr>
        <p:spPr bwMode="auto">
          <a:xfrm>
            <a:off x="3803650" y="2749550"/>
            <a:ext cx="415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- 0V</a:t>
            </a:r>
          </a:p>
        </p:txBody>
      </p:sp>
      <p:pic>
        <p:nvPicPr>
          <p:cNvPr id="16385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863" y="4337050"/>
            <a:ext cx="22383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5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6350" y="4260850"/>
            <a:ext cx="30448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56" name="TextBox 7"/>
          <p:cNvSpPr txBox="1">
            <a:spLocks noChangeArrowheads="1"/>
          </p:cNvSpPr>
          <p:nvPr/>
        </p:nvSpPr>
        <p:spPr bwMode="auto">
          <a:xfrm>
            <a:off x="6902450" y="4897438"/>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X00</a:t>
            </a:r>
          </a:p>
        </p:txBody>
      </p:sp>
      <p:sp>
        <p:nvSpPr>
          <p:cNvPr id="163857" name="TextBox 8"/>
          <p:cNvSpPr txBox="1">
            <a:spLocks noChangeArrowheads="1"/>
          </p:cNvSpPr>
          <p:nvPr/>
        </p:nvSpPr>
        <p:spPr bwMode="auto">
          <a:xfrm>
            <a:off x="6902450" y="4565650"/>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X08</a:t>
            </a:r>
          </a:p>
        </p:txBody>
      </p:sp>
      <p:sp>
        <p:nvSpPr>
          <p:cNvPr id="163858" name="TextBox 9"/>
          <p:cNvSpPr txBox="1">
            <a:spLocks noChangeArrowheads="1"/>
          </p:cNvSpPr>
          <p:nvPr/>
        </p:nvSpPr>
        <p:spPr bwMode="auto">
          <a:xfrm>
            <a:off x="6902450" y="4446588"/>
            <a:ext cx="4079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X09</a:t>
            </a:r>
          </a:p>
        </p:txBody>
      </p:sp>
      <p:sp>
        <p:nvSpPr>
          <p:cNvPr id="163859" name="TextBox 10"/>
          <p:cNvSpPr txBox="1">
            <a:spLocks noChangeArrowheads="1"/>
          </p:cNvSpPr>
          <p:nvPr/>
        </p:nvSpPr>
        <p:spPr bwMode="auto">
          <a:xfrm>
            <a:off x="6902450" y="4322763"/>
            <a:ext cx="4349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X0A</a:t>
            </a:r>
          </a:p>
        </p:txBody>
      </p:sp>
      <p:sp>
        <p:nvSpPr>
          <p:cNvPr id="163860" name="TextBox 11"/>
          <p:cNvSpPr txBox="1">
            <a:spLocks noChangeArrowheads="1"/>
          </p:cNvSpPr>
          <p:nvPr/>
        </p:nvSpPr>
        <p:spPr bwMode="auto">
          <a:xfrm>
            <a:off x="7011988" y="4094163"/>
            <a:ext cx="901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PLC IN Card</a:t>
            </a:r>
          </a:p>
        </p:txBody>
      </p:sp>
      <p:sp>
        <p:nvSpPr>
          <p:cNvPr id="163861" name="TextBox 13"/>
          <p:cNvSpPr txBox="1">
            <a:spLocks noChangeArrowheads="1"/>
          </p:cNvSpPr>
          <p:nvPr/>
        </p:nvSpPr>
        <p:spPr bwMode="auto">
          <a:xfrm>
            <a:off x="3448050" y="5103813"/>
            <a:ext cx="4524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OUT</a:t>
            </a:r>
          </a:p>
        </p:txBody>
      </p:sp>
      <p:sp>
        <p:nvSpPr>
          <p:cNvPr id="163862" name="TextBox 14"/>
          <p:cNvSpPr txBox="1">
            <a:spLocks noChangeArrowheads="1"/>
          </p:cNvSpPr>
          <p:nvPr/>
        </p:nvSpPr>
        <p:spPr bwMode="auto">
          <a:xfrm>
            <a:off x="3448050" y="5734050"/>
            <a:ext cx="415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- 0V</a:t>
            </a:r>
          </a:p>
        </p:txBody>
      </p:sp>
      <p:sp>
        <p:nvSpPr>
          <p:cNvPr id="163863" name="TextBox 13"/>
          <p:cNvSpPr txBox="1">
            <a:spLocks noChangeArrowheads="1"/>
          </p:cNvSpPr>
          <p:nvPr/>
        </p:nvSpPr>
        <p:spPr bwMode="auto">
          <a:xfrm>
            <a:off x="3448050" y="4483100"/>
            <a:ext cx="517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+ 24V</a:t>
            </a:r>
          </a:p>
        </p:txBody>
      </p:sp>
      <p:sp>
        <p:nvSpPr>
          <p:cNvPr id="30" name="직사각형 29"/>
          <p:cNvSpPr>
            <a:spLocks noChangeArrowheads="1"/>
          </p:cNvSpPr>
          <p:nvPr/>
        </p:nvSpPr>
        <p:spPr bwMode="auto">
          <a:xfrm>
            <a:off x="1157288" y="1417638"/>
            <a:ext cx="7375525" cy="2298700"/>
          </a:xfrm>
          <a:prstGeom prst="rect">
            <a:avLst/>
          </a:prstGeom>
          <a:noFill/>
          <a:ln w="25400" algn="ctr">
            <a:solidFill>
              <a:schemeClr val="tx1"/>
            </a:solidFill>
            <a:miter lim="800000"/>
            <a:headEnd/>
            <a:tailEnd/>
          </a:ln>
          <a:effectLst>
            <a:outerShdw dist="38100" dir="2700000" algn="tl" rotWithShape="0">
              <a:srgbClr val="000000">
                <a:alpha val="39999"/>
              </a:srgbClr>
            </a:outerShdw>
          </a:effectLst>
          <a:extLst>
            <a:ext uri="{909E8E84-426E-40DD-AFC4-6F175D3DCCD1}">
              <a14:hiddenFill xmlns:a14="http://schemas.microsoft.com/office/drawing/2010/main">
                <a:solidFill>
                  <a:schemeClr val="bg1"/>
                </a:solidFill>
              </a14:hiddenFill>
            </a:ext>
          </a:extLst>
        </p:spPr>
        <p:txBody>
          <a:bodyPr anchor="ctr"/>
          <a:lstStyle/>
          <a:p>
            <a:pPr algn="ctr">
              <a:defRPr/>
            </a:pPr>
            <a:endParaRPr lang="ko-KR" altLang="en-US" sz="1000">
              <a:solidFill>
                <a:schemeClr val="lt1"/>
              </a:solidFill>
              <a:latin typeface="Times New Roman" panose="02020603050405020304" pitchFamily="18" charset="0"/>
              <a:ea typeface="+mn-ea"/>
              <a:cs typeface="Times New Roman" panose="02020603050405020304" pitchFamily="18" charset="0"/>
            </a:endParaRPr>
          </a:p>
        </p:txBody>
      </p:sp>
      <p:sp>
        <p:nvSpPr>
          <p:cNvPr id="163865" name="Text Box 27"/>
          <p:cNvSpPr txBox="1">
            <a:spLocks noChangeArrowheads="1"/>
          </p:cNvSpPr>
          <p:nvPr/>
        </p:nvSpPr>
        <p:spPr bwMode="auto">
          <a:xfrm>
            <a:off x="1258888" y="1466850"/>
            <a:ext cx="1503362"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DC two wire way </a:t>
            </a:r>
            <a:endParaRPr lang="ko-KR" altLang="en-US">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 </a:t>
            </a:r>
            <a:endParaRPr lang="ko-KR" altLang="en-US" b="1">
              <a:latin typeface="Times New Roman" pitchFamily="18" charset="0"/>
              <a:cs typeface="Times New Roman" pitchFamily="18" charset="0"/>
            </a:endParaRPr>
          </a:p>
        </p:txBody>
      </p:sp>
      <p:sp>
        <p:nvSpPr>
          <p:cNvPr id="163866" name="Text Box 28"/>
          <p:cNvSpPr txBox="1">
            <a:spLocks noChangeArrowheads="1"/>
          </p:cNvSpPr>
          <p:nvPr/>
        </p:nvSpPr>
        <p:spPr bwMode="auto">
          <a:xfrm>
            <a:off x="1327150" y="4076700"/>
            <a:ext cx="2379663"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DC three wire way </a:t>
            </a:r>
            <a:r>
              <a:rPr lang="en-US" altLang="ko-KR" b="1">
                <a:latin typeface="Times New Roman" pitchFamily="18" charset="0"/>
                <a:cs typeface="Times New Roman" pitchFamily="18" charset="0"/>
              </a:rPr>
              <a:t>(Loại NPN)</a:t>
            </a:r>
          </a:p>
        </p:txBody>
      </p:sp>
      <p:sp>
        <p:nvSpPr>
          <p:cNvPr id="16386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3868"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63869" name="직사각형 1"/>
          <p:cNvSpPr>
            <a:spLocks noChangeArrowheads="1"/>
          </p:cNvSpPr>
          <p:nvPr/>
        </p:nvSpPr>
        <p:spPr bwMode="auto">
          <a:xfrm>
            <a:off x="3128963" y="1916113"/>
            <a:ext cx="8667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Màu nâu</a:t>
            </a:r>
            <a:endParaRPr lang="ko-KR" altLang="en-US">
              <a:latin typeface="Times New Roman" pitchFamily="18" charset="0"/>
              <a:cs typeface="Times New Roman" pitchFamily="18" charset="0"/>
            </a:endParaRPr>
          </a:p>
        </p:txBody>
      </p:sp>
      <p:sp>
        <p:nvSpPr>
          <p:cNvPr id="163870" name="직사각형 30"/>
          <p:cNvSpPr>
            <a:spLocks noChangeArrowheads="1"/>
          </p:cNvSpPr>
          <p:nvPr/>
        </p:nvSpPr>
        <p:spPr bwMode="auto">
          <a:xfrm>
            <a:off x="3132138" y="2565400"/>
            <a:ext cx="86677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Màu xanh</a:t>
            </a:r>
            <a:endParaRPr lang="ko-KR" altLang="en-US">
              <a:latin typeface="Times New Roman" pitchFamily="18" charset="0"/>
              <a:cs typeface="Times New Roman" pitchFamily="18" charset="0"/>
            </a:endParaRPr>
          </a:p>
        </p:txBody>
      </p:sp>
      <p:sp>
        <p:nvSpPr>
          <p:cNvPr id="163871" name="직사각형 32"/>
          <p:cNvSpPr>
            <a:spLocks noChangeArrowheads="1"/>
          </p:cNvSpPr>
          <p:nvPr/>
        </p:nvSpPr>
        <p:spPr bwMode="auto">
          <a:xfrm>
            <a:off x="2913063" y="4292600"/>
            <a:ext cx="8667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Màu nâu</a:t>
            </a:r>
            <a:endParaRPr lang="ko-KR" altLang="en-US">
              <a:latin typeface="Times New Roman" pitchFamily="18" charset="0"/>
              <a:cs typeface="Times New Roman" pitchFamily="18" charset="0"/>
            </a:endParaRPr>
          </a:p>
        </p:txBody>
      </p:sp>
      <p:sp>
        <p:nvSpPr>
          <p:cNvPr id="163872" name="직사각형 33"/>
          <p:cNvSpPr>
            <a:spLocks noChangeArrowheads="1"/>
          </p:cNvSpPr>
          <p:nvPr/>
        </p:nvSpPr>
        <p:spPr bwMode="auto">
          <a:xfrm>
            <a:off x="2913063" y="5516563"/>
            <a:ext cx="8667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Màu xanh</a:t>
            </a:r>
            <a:endParaRPr lang="ko-KR" altLang="en-US">
              <a:latin typeface="Times New Roman" pitchFamily="18" charset="0"/>
              <a:cs typeface="Times New Roman" pitchFamily="18" charset="0"/>
            </a:endParaRPr>
          </a:p>
        </p:txBody>
      </p:sp>
      <p:sp>
        <p:nvSpPr>
          <p:cNvPr id="163873" name="직사각형 34"/>
          <p:cNvSpPr>
            <a:spLocks noChangeArrowheads="1"/>
          </p:cNvSpPr>
          <p:nvPr/>
        </p:nvSpPr>
        <p:spPr bwMode="auto">
          <a:xfrm>
            <a:off x="2916238" y="4897438"/>
            <a:ext cx="8667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Màu đen</a:t>
            </a:r>
            <a:endParaRPr lang="ko-KR" altLang="en-US">
              <a:latin typeface="Times New Roman" pitchFamily="18" charset="0"/>
              <a:cs typeface="Times New Roman" pitchFamily="18" charset="0"/>
            </a:endParaRPr>
          </a:p>
        </p:txBody>
      </p:sp>
      <p:sp>
        <p:nvSpPr>
          <p:cNvPr id="163874" name="TextBox 10"/>
          <p:cNvSpPr txBox="1">
            <a:spLocks noChangeArrowheads="1"/>
          </p:cNvSpPr>
          <p:nvPr/>
        </p:nvSpPr>
        <p:spPr bwMode="auto">
          <a:xfrm>
            <a:off x="4643438" y="2792413"/>
            <a:ext cx="1416050"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Dòng 1 chiều loại 2 dây</a:t>
            </a:r>
          </a:p>
        </p:txBody>
      </p:sp>
      <p:sp>
        <p:nvSpPr>
          <p:cNvPr id="163875" name="TextBox 10"/>
          <p:cNvSpPr txBox="1">
            <a:spLocks noChangeArrowheads="1"/>
          </p:cNvSpPr>
          <p:nvPr/>
        </p:nvSpPr>
        <p:spPr bwMode="auto">
          <a:xfrm>
            <a:off x="5292725" y="3284538"/>
            <a:ext cx="811213" cy="388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3876" name="TextBox 10"/>
          <p:cNvSpPr txBox="1">
            <a:spLocks noChangeArrowheads="1"/>
          </p:cNvSpPr>
          <p:nvPr/>
        </p:nvSpPr>
        <p:spPr bwMode="auto">
          <a:xfrm>
            <a:off x="5129213" y="5856288"/>
            <a:ext cx="811212"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3877" name="직사각형 32"/>
          <p:cNvSpPr>
            <a:spLocks noChangeArrowheads="1"/>
          </p:cNvSpPr>
          <p:nvPr/>
        </p:nvSpPr>
        <p:spPr bwMode="auto">
          <a:xfrm>
            <a:off x="5729288" y="4868863"/>
            <a:ext cx="7143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 nâu</a:t>
            </a:r>
            <a:endParaRPr lang="ko-KR" altLang="en-US" sz="800">
              <a:latin typeface="Times New Roman" pitchFamily="18" charset="0"/>
              <a:cs typeface="Times New Roman" pitchFamily="18" charset="0"/>
            </a:endParaRPr>
          </a:p>
        </p:txBody>
      </p:sp>
      <p:sp>
        <p:nvSpPr>
          <p:cNvPr id="163878" name="직사각형 32"/>
          <p:cNvSpPr>
            <a:spLocks noChangeArrowheads="1"/>
          </p:cNvSpPr>
          <p:nvPr/>
        </p:nvSpPr>
        <p:spPr bwMode="auto">
          <a:xfrm>
            <a:off x="5724525" y="5156200"/>
            <a:ext cx="7143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 đen</a:t>
            </a:r>
            <a:endParaRPr lang="ko-KR" altLang="en-US" sz="800">
              <a:latin typeface="Times New Roman" pitchFamily="18" charset="0"/>
              <a:cs typeface="Times New Roman" pitchFamily="18" charset="0"/>
            </a:endParaRPr>
          </a:p>
        </p:txBody>
      </p:sp>
      <p:sp>
        <p:nvSpPr>
          <p:cNvPr id="163879" name="직사각형 32"/>
          <p:cNvSpPr>
            <a:spLocks noChangeArrowheads="1"/>
          </p:cNvSpPr>
          <p:nvPr/>
        </p:nvSpPr>
        <p:spPr bwMode="auto">
          <a:xfrm>
            <a:off x="5795963" y="5372100"/>
            <a:ext cx="7143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Màu xanh</a:t>
            </a:r>
            <a:endParaRPr lang="ko-KR" altLang="en-US" sz="800">
              <a:latin typeface="Times New Roman" pitchFamily="18" charset="0"/>
              <a:cs typeface="Times New Roman" pitchFamily="18" charset="0"/>
            </a:endParaRPr>
          </a:p>
        </p:txBody>
      </p:sp>
      <p:sp>
        <p:nvSpPr>
          <p:cNvPr id="163880" name="직사각형 32"/>
          <p:cNvSpPr>
            <a:spLocks noChangeArrowheads="1"/>
          </p:cNvSpPr>
          <p:nvPr/>
        </p:nvSpPr>
        <p:spPr bwMode="auto">
          <a:xfrm>
            <a:off x="7818438" y="4941888"/>
            <a:ext cx="425450" cy="792162"/>
          </a:xfrm>
          <a:prstGeom prst="rect">
            <a:avLst/>
          </a:prstGeom>
          <a:solidFill>
            <a:schemeClr val="bg1"/>
          </a:solidFill>
          <a:ln w="9525">
            <a:solidFill>
              <a:schemeClr val="tx1"/>
            </a:solidFill>
            <a:miter lim="800000"/>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Mạch bên trong PLC</a:t>
            </a:r>
            <a:endParaRPr lang="ko-KR" altLang="en-US" sz="800">
              <a:latin typeface="Times New Roman" pitchFamily="18" charset="0"/>
              <a:cs typeface="Times New Roman" pitchFamily="18" charset="0"/>
            </a:endParaRPr>
          </a:p>
        </p:txBody>
      </p:sp>
      <p:sp>
        <p:nvSpPr>
          <p:cNvPr id="163881" name="직사각형 32"/>
          <p:cNvSpPr>
            <a:spLocks noChangeArrowheads="1"/>
          </p:cNvSpPr>
          <p:nvPr/>
        </p:nvSpPr>
        <p:spPr bwMode="auto">
          <a:xfrm>
            <a:off x="4776788" y="5514975"/>
            <a:ext cx="1019175" cy="3619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PR18-5DN</a:t>
            </a:r>
          </a:p>
          <a:p>
            <a:pPr algn="ctr" eaLnBrk="1" hangingPunct="1"/>
            <a:r>
              <a:rPr lang="en-US" altLang="ko-KR" sz="800">
                <a:latin typeface="Times New Roman" pitchFamily="18" charset="0"/>
                <a:cs typeface="Times New Roman" pitchFamily="18" charset="0"/>
              </a:rPr>
              <a:t>(Loại Output NPN)</a:t>
            </a:r>
            <a:endParaRPr lang="ko-KR" altLang="en-US" sz="800">
              <a:latin typeface="Times New Roman" pitchFamily="18" charset="0"/>
              <a:cs typeface="Times New Roman" pitchFamily="18" charset="0"/>
            </a:endParaRPr>
          </a:p>
        </p:txBody>
      </p:sp>
      <p:sp>
        <p:nvSpPr>
          <p:cNvPr id="163882" name="직사각형 32"/>
          <p:cNvSpPr>
            <a:spLocks noChangeArrowheads="1"/>
          </p:cNvSpPr>
          <p:nvPr/>
        </p:nvSpPr>
        <p:spPr bwMode="auto">
          <a:xfrm>
            <a:off x="6015038" y="2070100"/>
            <a:ext cx="357187"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Nâu</a:t>
            </a:r>
            <a:endParaRPr lang="ko-KR" altLang="en-US" sz="800">
              <a:latin typeface="Times New Roman" pitchFamily="18" charset="0"/>
              <a:cs typeface="Times New Roman" pitchFamily="18" charset="0"/>
            </a:endParaRPr>
          </a:p>
        </p:txBody>
      </p:sp>
      <p:sp>
        <p:nvSpPr>
          <p:cNvPr id="163883" name="직사각형 32"/>
          <p:cNvSpPr>
            <a:spLocks noChangeArrowheads="1"/>
          </p:cNvSpPr>
          <p:nvPr/>
        </p:nvSpPr>
        <p:spPr bwMode="auto">
          <a:xfrm>
            <a:off x="5954713" y="2565400"/>
            <a:ext cx="4175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Xanh</a:t>
            </a:r>
            <a:endParaRPr lang="ko-KR" altLang="en-US" sz="800">
              <a:latin typeface="Times New Roman" pitchFamily="18" charset="0"/>
              <a:cs typeface="Times New Roman" pitchFamily="18" charset="0"/>
            </a:endParaRPr>
          </a:p>
        </p:txBody>
      </p:sp>
      <p:sp>
        <p:nvSpPr>
          <p:cNvPr id="163884" name="직사각형 32"/>
          <p:cNvSpPr>
            <a:spLocks noChangeArrowheads="1"/>
          </p:cNvSpPr>
          <p:nvPr/>
        </p:nvSpPr>
        <p:spPr bwMode="auto">
          <a:xfrm>
            <a:off x="7818438" y="2205038"/>
            <a:ext cx="425450" cy="792162"/>
          </a:xfrm>
          <a:prstGeom prst="rect">
            <a:avLst/>
          </a:prstGeom>
          <a:solidFill>
            <a:schemeClr val="bg1"/>
          </a:solidFill>
          <a:ln w="9525">
            <a:solidFill>
              <a:schemeClr val="tx1"/>
            </a:solidFill>
            <a:miter lim="800000"/>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Mạch bên trong PLC</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DC5768A-65B9-403F-AC56-5D2F3288EEDC}" type="slidenum">
              <a:rPr lang="en-US" altLang="ko-KR" sz="1400" smtClean="0">
                <a:latin typeface="Times New Roman" pitchFamily="18" charset="0"/>
                <a:cs typeface="Times New Roman" pitchFamily="18" charset="0"/>
              </a:rPr>
              <a:pPr eaLnBrk="1" hangingPunct="1"/>
              <a:t>156</a:t>
            </a:fld>
            <a:endParaRPr lang="en-US" altLang="ko-KR" sz="1400" smtClean="0">
              <a:latin typeface="Times New Roman" pitchFamily="18" charset="0"/>
              <a:cs typeface="Times New Roman" pitchFamily="18" charset="0"/>
            </a:endParaRPr>
          </a:p>
        </p:txBody>
      </p:sp>
      <p:pic>
        <p:nvPicPr>
          <p:cNvPr id="164867"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338" y="1762125"/>
            <a:ext cx="3816350" cy="260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868" name="TextBox 5"/>
          <p:cNvSpPr txBox="1">
            <a:spLocks noChangeArrowheads="1"/>
          </p:cNvSpPr>
          <p:nvPr/>
        </p:nvSpPr>
        <p:spPr bwMode="auto">
          <a:xfrm>
            <a:off x="3113088" y="2690813"/>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X00</a:t>
            </a:r>
          </a:p>
        </p:txBody>
      </p:sp>
      <p:sp>
        <p:nvSpPr>
          <p:cNvPr id="164869" name="TextBox 6"/>
          <p:cNvSpPr txBox="1">
            <a:spLocks noChangeArrowheads="1"/>
          </p:cNvSpPr>
          <p:nvPr/>
        </p:nvSpPr>
        <p:spPr bwMode="auto">
          <a:xfrm>
            <a:off x="3113088" y="2293938"/>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X08</a:t>
            </a:r>
          </a:p>
        </p:txBody>
      </p:sp>
      <p:sp>
        <p:nvSpPr>
          <p:cNvPr id="164870" name="TextBox 7"/>
          <p:cNvSpPr txBox="1">
            <a:spLocks noChangeArrowheads="1"/>
          </p:cNvSpPr>
          <p:nvPr/>
        </p:nvSpPr>
        <p:spPr bwMode="auto">
          <a:xfrm>
            <a:off x="3113088" y="2160588"/>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X09</a:t>
            </a:r>
          </a:p>
        </p:txBody>
      </p:sp>
      <p:sp>
        <p:nvSpPr>
          <p:cNvPr id="164871" name="TextBox 8"/>
          <p:cNvSpPr txBox="1">
            <a:spLocks noChangeArrowheads="1"/>
          </p:cNvSpPr>
          <p:nvPr/>
        </p:nvSpPr>
        <p:spPr bwMode="auto">
          <a:xfrm>
            <a:off x="3113088" y="2020888"/>
            <a:ext cx="4349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X0A</a:t>
            </a:r>
          </a:p>
        </p:txBody>
      </p:sp>
      <p:sp>
        <p:nvSpPr>
          <p:cNvPr id="164872" name="TextBox 9"/>
          <p:cNvSpPr txBox="1">
            <a:spLocks noChangeArrowheads="1"/>
          </p:cNvSpPr>
          <p:nvPr/>
        </p:nvSpPr>
        <p:spPr bwMode="auto">
          <a:xfrm>
            <a:off x="3224213" y="1814513"/>
            <a:ext cx="901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PLC IN Card</a:t>
            </a:r>
          </a:p>
        </p:txBody>
      </p:sp>
      <p:sp>
        <p:nvSpPr>
          <p:cNvPr id="164873" name="TextBox 9"/>
          <p:cNvSpPr txBox="1">
            <a:spLocks noChangeArrowheads="1"/>
          </p:cNvSpPr>
          <p:nvPr/>
        </p:nvSpPr>
        <p:spPr bwMode="auto">
          <a:xfrm>
            <a:off x="942975" y="3254375"/>
            <a:ext cx="8207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Dây Option</a:t>
            </a:r>
            <a:endParaRPr lang="ko-KR" altLang="en-US" sz="1000" b="1">
              <a:latin typeface="Times New Roman" pitchFamily="18" charset="0"/>
              <a:ea typeface="굴림체" pitchFamily="49" charset="-127"/>
              <a:cs typeface="Times New Roman" pitchFamily="18" charset="0"/>
            </a:endParaRPr>
          </a:p>
        </p:txBody>
      </p:sp>
      <p:sp>
        <p:nvSpPr>
          <p:cNvPr id="164874" name="TextBox 27"/>
          <p:cNvSpPr txBox="1">
            <a:spLocks noChangeArrowheads="1"/>
          </p:cNvSpPr>
          <p:nvPr/>
        </p:nvSpPr>
        <p:spPr bwMode="auto">
          <a:xfrm>
            <a:off x="323850" y="1104900"/>
            <a:ext cx="17891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DC four wire way </a:t>
            </a:r>
            <a:endParaRPr lang="ko-KR" altLang="en-US" b="1">
              <a:latin typeface="Times New Roman" pitchFamily="18" charset="0"/>
              <a:cs typeface="Times New Roman" pitchFamily="18" charset="0"/>
            </a:endParaRPr>
          </a:p>
        </p:txBody>
      </p:sp>
      <p:sp>
        <p:nvSpPr>
          <p:cNvPr id="26" name="직사각형 25"/>
          <p:cNvSpPr>
            <a:spLocks noChangeArrowheads="1"/>
          </p:cNvSpPr>
          <p:nvPr/>
        </p:nvSpPr>
        <p:spPr bwMode="auto">
          <a:xfrm>
            <a:off x="396875" y="1412875"/>
            <a:ext cx="4089400" cy="3541713"/>
          </a:xfrm>
          <a:prstGeom prst="rect">
            <a:avLst/>
          </a:prstGeom>
          <a:noFill/>
          <a:ln w="25400" algn="ctr">
            <a:solidFill>
              <a:schemeClr val="tx1"/>
            </a:solidFill>
            <a:miter lim="800000"/>
            <a:headEnd/>
            <a:tailEnd/>
          </a:ln>
          <a:effectLst>
            <a:outerShdw dist="38100" dir="2700000" algn="tl" rotWithShape="0">
              <a:srgbClr val="000000">
                <a:alpha val="39999"/>
              </a:srgbClr>
            </a:outerShdw>
          </a:effectLst>
          <a:extLst>
            <a:ext uri="{909E8E84-426E-40DD-AFC4-6F175D3DCCD1}">
              <a14:hiddenFill xmlns:a14="http://schemas.microsoft.com/office/drawing/2010/main">
                <a:solidFill>
                  <a:schemeClr val="bg1"/>
                </a:solidFill>
              </a14:hiddenFill>
            </a:ext>
          </a:extLst>
        </p:spPr>
        <p:txBody>
          <a:bodyPr anchor="ctr"/>
          <a:lstStyle/>
          <a:p>
            <a:pPr algn="ctr">
              <a:defRPr/>
            </a:pPr>
            <a:endParaRPr lang="ko-KR" altLang="en-US" sz="1000">
              <a:solidFill>
                <a:schemeClr val="lt1"/>
              </a:solidFill>
              <a:latin typeface="Times New Roman" panose="02020603050405020304" pitchFamily="18" charset="0"/>
              <a:ea typeface="+mn-ea"/>
              <a:cs typeface="Times New Roman" panose="02020603050405020304" pitchFamily="18" charset="0"/>
            </a:endParaRPr>
          </a:p>
        </p:txBody>
      </p:sp>
      <p:sp>
        <p:nvSpPr>
          <p:cNvPr id="27" name="직사각형 26"/>
          <p:cNvSpPr/>
          <p:nvPr/>
        </p:nvSpPr>
        <p:spPr>
          <a:xfrm>
            <a:off x="4610100" y="1423988"/>
            <a:ext cx="4089400" cy="354171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pic>
        <p:nvPicPr>
          <p:cNvPr id="16487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900" y="1679575"/>
            <a:ext cx="3956050"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78" name="TextBox 17"/>
          <p:cNvSpPr txBox="1">
            <a:spLocks noChangeArrowheads="1"/>
          </p:cNvSpPr>
          <p:nvPr/>
        </p:nvSpPr>
        <p:spPr bwMode="auto">
          <a:xfrm>
            <a:off x="7364413" y="2811463"/>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X00</a:t>
            </a:r>
          </a:p>
        </p:txBody>
      </p:sp>
      <p:sp>
        <p:nvSpPr>
          <p:cNvPr id="164879" name="TextBox 18"/>
          <p:cNvSpPr txBox="1">
            <a:spLocks noChangeArrowheads="1"/>
          </p:cNvSpPr>
          <p:nvPr/>
        </p:nvSpPr>
        <p:spPr bwMode="auto">
          <a:xfrm>
            <a:off x="7364413" y="2368550"/>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X08</a:t>
            </a:r>
          </a:p>
        </p:txBody>
      </p:sp>
      <p:sp>
        <p:nvSpPr>
          <p:cNvPr id="164880" name="TextBox 19"/>
          <p:cNvSpPr txBox="1">
            <a:spLocks noChangeArrowheads="1"/>
          </p:cNvSpPr>
          <p:nvPr/>
        </p:nvSpPr>
        <p:spPr bwMode="auto">
          <a:xfrm>
            <a:off x="7364413" y="2228850"/>
            <a:ext cx="407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X09</a:t>
            </a:r>
          </a:p>
        </p:txBody>
      </p:sp>
      <p:sp>
        <p:nvSpPr>
          <p:cNvPr id="164881" name="TextBox 20"/>
          <p:cNvSpPr txBox="1">
            <a:spLocks noChangeArrowheads="1"/>
          </p:cNvSpPr>
          <p:nvPr/>
        </p:nvSpPr>
        <p:spPr bwMode="auto">
          <a:xfrm>
            <a:off x="7364413" y="2084388"/>
            <a:ext cx="4349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X0A</a:t>
            </a:r>
          </a:p>
        </p:txBody>
      </p:sp>
      <p:sp>
        <p:nvSpPr>
          <p:cNvPr id="164882" name="TextBox 21"/>
          <p:cNvSpPr txBox="1">
            <a:spLocks noChangeArrowheads="1"/>
          </p:cNvSpPr>
          <p:nvPr/>
        </p:nvSpPr>
        <p:spPr bwMode="auto">
          <a:xfrm>
            <a:off x="7480300" y="1898650"/>
            <a:ext cx="901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PLC IN Card</a:t>
            </a:r>
          </a:p>
        </p:txBody>
      </p:sp>
      <p:sp>
        <p:nvSpPr>
          <p:cNvPr id="164883" name="TextBox 22"/>
          <p:cNvSpPr txBox="1">
            <a:spLocks noChangeArrowheads="1"/>
          </p:cNvSpPr>
          <p:nvPr/>
        </p:nvSpPr>
        <p:spPr bwMode="auto">
          <a:xfrm>
            <a:off x="5159375" y="2882900"/>
            <a:ext cx="8207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Dây Option</a:t>
            </a:r>
            <a:endParaRPr lang="ko-KR" altLang="en-US" sz="1000" b="1">
              <a:latin typeface="Times New Roman" pitchFamily="18" charset="0"/>
              <a:ea typeface="굴림체" pitchFamily="49" charset="-127"/>
              <a:cs typeface="Times New Roman" pitchFamily="18" charset="0"/>
            </a:endParaRPr>
          </a:p>
        </p:txBody>
      </p:sp>
      <p:sp>
        <p:nvSpPr>
          <p:cNvPr id="164884" name="TextBox 23"/>
          <p:cNvSpPr txBox="1">
            <a:spLocks noChangeArrowheads="1"/>
          </p:cNvSpPr>
          <p:nvPr/>
        </p:nvSpPr>
        <p:spPr bwMode="auto">
          <a:xfrm>
            <a:off x="5148263" y="3106738"/>
            <a:ext cx="820737"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Dây Option</a:t>
            </a:r>
            <a:endParaRPr lang="ko-KR" altLang="en-US" sz="1000" b="1">
              <a:latin typeface="Times New Roman" pitchFamily="18" charset="0"/>
              <a:ea typeface="굴림체" pitchFamily="49" charset="-127"/>
              <a:cs typeface="Times New Roman" pitchFamily="18" charset="0"/>
            </a:endParaRPr>
          </a:p>
        </p:txBody>
      </p:sp>
      <p:sp>
        <p:nvSpPr>
          <p:cNvPr id="164885" name="TextBox 24"/>
          <p:cNvSpPr txBox="1">
            <a:spLocks noChangeArrowheads="1"/>
          </p:cNvSpPr>
          <p:nvPr/>
        </p:nvSpPr>
        <p:spPr bwMode="auto">
          <a:xfrm>
            <a:off x="5148263" y="3546475"/>
            <a:ext cx="8207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Dây Option</a:t>
            </a:r>
            <a:endParaRPr lang="ko-KR" altLang="en-US" sz="1000" b="1">
              <a:latin typeface="Times New Roman" pitchFamily="18" charset="0"/>
              <a:ea typeface="굴림체" pitchFamily="49" charset="-127"/>
              <a:cs typeface="Times New Roman" pitchFamily="18" charset="0"/>
            </a:endParaRPr>
          </a:p>
        </p:txBody>
      </p:sp>
      <p:sp>
        <p:nvSpPr>
          <p:cNvPr id="164886" name="TextBox 28"/>
          <p:cNvSpPr txBox="1">
            <a:spLocks noChangeArrowheads="1"/>
          </p:cNvSpPr>
          <p:nvPr/>
        </p:nvSpPr>
        <p:spPr bwMode="auto">
          <a:xfrm>
            <a:off x="4573588" y="1116013"/>
            <a:ext cx="17891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t>
            </a:r>
            <a:r>
              <a:rPr lang="en-US" altLang="ko-KR">
                <a:latin typeface="Times New Roman" pitchFamily="18" charset="0"/>
                <a:cs typeface="Times New Roman" pitchFamily="18" charset="0"/>
              </a:rPr>
              <a:t>DC five wire way </a:t>
            </a:r>
            <a:endParaRPr lang="ko-KR" altLang="en-US" b="1">
              <a:latin typeface="Times New Roman" pitchFamily="18" charset="0"/>
              <a:cs typeface="Times New Roman" pitchFamily="18" charset="0"/>
            </a:endParaRPr>
          </a:p>
        </p:txBody>
      </p:sp>
      <p:sp>
        <p:nvSpPr>
          <p:cNvPr id="164887" name="TextBox 10"/>
          <p:cNvSpPr txBox="1">
            <a:spLocks noChangeArrowheads="1"/>
          </p:cNvSpPr>
          <p:nvPr/>
        </p:nvSpPr>
        <p:spPr bwMode="auto">
          <a:xfrm>
            <a:off x="468313" y="5157788"/>
            <a:ext cx="6315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ea typeface="굴림체" pitchFamily="49" charset="-127"/>
                <a:cs typeface="Times New Roman" pitchFamily="18" charset="0"/>
              </a:rPr>
              <a:t>※. Dây Option</a:t>
            </a:r>
            <a:r>
              <a:rPr lang="ko-KR" altLang="en-US" b="1">
                <a:latin typeface="Times New Roman" pitchFamily="18" charset="0"/>
                <a:ea typeface="굴림체" pitchFamily="49" charset="-127"/>
                <a:cs typeface="Times New Roman" pitchFamily="18" charset="0"/>
              </a:rPr>
              <a:t> </a:t>
            </a:r>
            <a:r>
              <a:rPr lang="en-US" altLang="ko-KR" b="1">
                <a:latin typeface="Times New Roman" pitchFamily="18" charset="0"/>
                <a:ea typeface="굴림체" pitchFamily="49" charset="-127"/>
                <a:cs typeface="Times New Roman" pitchFamily="18" charset="0"/>
              </a:rPr>
              <a:t>: Là dây Control output 2, đầu ra tự chuẩn đoán, thiết lập độ cảm bên ngoài.. </a:t>
            </a:r>
          </a:p>
          <a:p>
            <a:pPr eaLnBrk="1" hangingPunct="1"/>
            <a:r>
              <a:rPr lang="en-US" altLang="ko-KR" b="1">
                <a:latin typeface="Times New Roman" pitchFamily="18" charset="0"/>
                <a:ea typeface="굴림체" pitchFamily="49" charset="-127"/>
                <a:cs typeface="Times New Roman" pitchFamily="18" charset="0"/>
              </a:rPr>
              <a:t>nên khác nh au theo từng nhà sản xuất và từng loại cảm biến.</a:t>
            </a:r>
          </a:p>
        </p:txBody>
      </p:sp>
      <p:sp>
        <p:nvSpPr>
          <p:cNvPr id="164888"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4889"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64890" name="TextBox 10"/>
          <p:cNvSpPr txBox="1">
            <a:spLocks noChangeArrowheads="1"/>
          </p:cNvSpPr>
          <p:nvPr/>
        </p:nvSpPr>
        <p:spPr bwMode="auto">
          <a:xfrm>
            <a:off x="5364163" y="4121150"/>
            <a:ext cx="811212"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4891" name="TextBox 10"/>
          <p:cNvSpPr txBox="1">
            <a:spLocks noChangeArrowheads="1"/>
          </p:cNvSpPr>
          <p:nvPr/>
        </p:nvSpPr>
        <p:spPr bwMode="auto">
          <a:xfrm>
            <a:off x="1187450" y="3986213"/>
            <a:ext cx="811213"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4892" name="TextBox 10"/>
          <p:cNvSpPr txBox="1">
            <a:spLocks noChangeArrowheads="1"/>
          </p:cNvSpPr>
          <p:nvPr/>
        </p:nvSpPr>
        <p:spPr bwMode="auto">
          <a:xfrm>
            <a:off x="684213" y="2636838"/>
            <a:ext cx="577850"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64893" name="TextBox 10"/>
          <p:cNvSpPr txBox="1">
            <a:spLocks noChangeArrowheads="1"/>
          </p:cNvSpPr>
          <p:nvPr/>
        </p:nvSpPr>
        <p:spPr bwMode="auto">
          <a:xfrm>
            <a:off x="684213" y="2997200"/>
            <a:ext cx="1071562"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64894" name="TextBox 10"/>
          <p:cNvSpPr txBox="1">
            <a:spLocks noChangeArrowheads="1"/>
          </p:cNvSpPr>
          <p:nvPr/>
        </p:nvSpPr>
        <p:spPr bwMode="auto">
          <a:xfrm>
            <a:off x="547688" y="3273425"/>
            <a:ext cx="495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
        <p:nvSpPr>
          <p:cNvPr id="164895" name="TextBox 10"/>
          <p:cNvSpPr txBox="1">
            <a:spLocks noChangeArrowheads="1"/>
          </p:cNvSpPr>
          <p:nvPr/>
        </p:nvSpPr>
        <p:spPr bwMode="auto">
          <a:xfrm>
            <a:off x="611188" y="3500438"/>
            <a:ext cx="62388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
        <p:nvSpPr>
          <p:cNvPr id="164896" name="TextBox 10"/>
          <p:cNvSpPr txBox="1">
            <a:spLocks noChangeArrowheads="1"/>
          </p:cNvSpPr>
          <p:nvPr/>
        </p:nvSpPr>
        <p:spPr bwMode="auto">
          <a:xfrm>
            <a:off x="4859338" y="2613025"/>
            <a:ext cx="579437"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64897" name="TextBox 10"/>
          <p:cNvSpPr txBox="1">
            <a:spLocks noChangeArrowheads="1"/>
          </p:cNvSpPr>
          <p:nvPr/>
        </p:nvSpPr>
        <p:spPr bwMode="auto">
          <a:xfrm>
            <a:off x="4811713" y="2852738"/>
            <a:ext cx="481012"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(Hồng)</a:t>
            </a:r>
          </a:p>
        </p:txBody>
      </p:sp>
      <p:sp>
        <p:nvSpPr>
          <p:cNvPr id="164898" name="TextBox 10"/>
          <p:cNvSpPr txBox="1">
            <a:spLocks noChangeArrowheads="1"/>
          </p:cNvSpPr>
          <p:nvPr/>
        </p:nvSpPr>
        <p:spPr bwMode="auto">
          <a:xfrm>
            <a:off x="4716463" y="3068638"/>
            <a:ext cx="5651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(Da cam)</a:t>
            </a:r>
          </a:p>
        </p:txBody>
      </p:sp>
      <p:sp>
        <p:nvSpPr>
          <p:cNvPr id="164899" name="TextBox 10"/>
          <p:cNvSpPr txBox="1">
            <a:spLocks noChangeArrowheads="1"/>
          </p:cNvSpPr>
          <p:nvPr/>
        </p:nvSpPr>
        <p:spPr bwMode="auto">
          <a:xfrm>
            <a:off x="4716463" y="3306763"/>
            <a:ext cx="1071562"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64900" name="TextBox 10"/>
          <p:cNvSpPr txBox="1">
            <a:spLocks noChangeArrowheads="1"/>
          </p:cNvSpPr>
          <p:nvPr/>
        </p:nvSpPr>
        <p:spPr bwMode="auto">
          <a:xfrm>
            <a:off x="4716463" y="3500438"/>
            <a:ext cx="495300"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
        <p:nvSpPr>
          <p:cNvPr id="164901" name="TextBox 10"/>
          <p:cNvSpPr txBox="1">
            <a:spLocks noChangeArrowheads="1"/>
          </p:cNvSpPr>
          <p:nvPr/>
        </p:nvSpPr>
        <p:spPr bwMode="auto">
          <a:xfrm>
            <a:off x="4740275" y="3692525"/>
            <a:ext cx="623888"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
        <p:nvSpPr>
          <p:cNvPr id="164902" name="직사각형 32"/>
          <p:cNvSpPr>
            <a:spLocks noChangeArrowheads="1"/>
          </p:cNvSpPr>
          <p:nvPr/>
        </p:nvSpPr>
        <p:spPr bwMode="auto">
          <a:xfrm>
            <a:off x="8394700" y="2781300"/>
            <a:ext cx="425450" cy="911225"/>
          </a:xfrm>
          <a:prstGeom prst="rect">
            <a:avLst/>
          </a:prstGeom>
          <a:solidFill>
            <a:schemeClr val="bg1"/>
          </a:solidFill>
          <a:ln w="9525">
            <a:solidFill>
              <a:schemeClr val="tx1"/>
            </a:solidFill>
            <a:miter lim="800000"/>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Mạch bên trong PLC</a:t>
            </a:r>
            <a:endParaRPr lang="ko-KR" altLang="en-US" sz="800">
              <a:latin typeface="Times New Roman" pitchFamily="18" charset="0"/>
              <a:cs typeface="Times New Roman" pitchFamily="18" charset="0"/>
            </a:endParaRPr>
          </a:p>
        </p:txBody>
      </p:sp>
      <p:sp>
        <p:nvSpPr>
          <p:cNvPr id="164903" name="직사각형 32"/>
          <p:cNvSpPr>
            <a:spLocks noChangeArrowheads="1"/>
          </p:cNvSpPr>
          <p:nvPr/>
        </p:nvSpPr>
        <p:spPr bwMode="auto">
          <a:xfrm>
            <a:off x="4114800" y="2693988"/>
            <a:ext cx="427038" cy="912812"/>
          </a:xfrm>
          <a:prstGeom prst="rect">
            <a:avLst/>
          </a:prstGeom>
          <a:solidFill>
            <a:schemeClr val="bg1"/>
          </a:solidFill>
          <a:ln w="9525">
            <a:solidFill>
              <a:schemeClr val="tx1"/>
            </a:solidFill>
            <a:miter lim="800000"/>
            <a:headEnd/>
            <a:tailEnd/>
          </a:ln>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Mạch bên trong PLC</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A51CB2F-1054-4E16-A28A-A2527A009E19}" type="slidenum">
              <a:rPr lang="en-US" altLang="ko-KR" sz="1400" smtClean="0">
                <a:latin typeface="Times New Roman" pitchFamily="18" charset="0"/>
                <a:cs typeface="Times New Roman" pitchFamily="18" charset="0"/>
              </a:rPr>
              <a:pPr eaLnBrk="1" hangingPunct="1"/>
              <a:t>157</a:t>
            </a:fld>
            <a:endParaRPr lang="en-US" altLang="ko-KR" sz="1400" smtClean="0">
              <a:latin typeface="Times New Roman" pitchFamily="18" charset="0"/>
              <a:cs typeface="Times New Roman" pitchFamily="18" charset="0"/>
            </a:endParaRPr>
          </a:p>
        </p:txBody>
      </p:sp>
      <p:sp>
        <p:nvSpPr>
          <p:cNvPr id="8" name="직사각형 7"/>
          <p:cNvSpPr/>
          <p:nvPr/>
        </p:nvSpPr>
        <p:spPr>
          <a:xfrm>
            <a:off x="539750" y="1055688"/>
            <a:ext cx="8064500" cy="25193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sp>
        <p:nvSpPr>
          <p:cNvPr id="9" name="직사각형 8"/>
          <p:cNvSpPr/>
          <p:nvPr/>
        </p:nvSpPr>
        <p:spPr>
          <a:xfrm>
            <a:off x="539750" y="3830638"/>
            <a:ext cx="8064500" cy="25193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pic>
        <p:nvPicPr>
          <p:cNvPr id="16589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150" y="1128713"/>
            <a:ext cx="59150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150" y="3903663"/>
            <a:ext cx="59150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5" name="TextBox 12"/>
          <p:cNvSpPr txBox="1">
            <a:spLocks noChangeArrowheads="1"/>
          </p:cNvSpPr>
          <p:nvPr/>
        </p:nvSpPr>
        <p:spPr bwMode="auto">
          <a:xfrm>
            <a:off x="5027613" y="2187575"/>
            <a:ext cx="3619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I</a:t>
            </a:r>
            <a:r>
              <a:rPr lang="ko-KR" altLang="en-US" sz="1000" b="1">
                <a:latin typeface="Times New Roman" pitchFamily="18" charset="0"/>
                <a:ea typeface="굴림체" pitchFamily="49" charset="-127"/>
                <a:cs typeface="Times New Roman" pitchFamily="18" charset="0"/>
              </a:rPr>
              <a:t>＋</a:t>
            </a:r>
          </a:p>
        </p:txBody>
      </p:sp>
      <p:sp>
        <p:nvSpPr>
          <p:cNvPr id="165896" name="TextBox 13"/>
          <p:cNvSpPr txBox="1">
            <a:spLocks noChangeArrowheads="1"/>
          </p:cNvSpPr>
          <p:nvPr/>
        </p:nvSpPr>
        <p:spPr bwMode="auto">
          <a:xfrm>
            <a:off x="5027613" y="2698750"/>
            <a:ext cx="3619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I</a:t>
            </a:r>
            <a:r>
              <a:rPr lang="ko-KR" altLang="en-US" sz="1000" b="1">
                <a:latin typeface="Times New Roman" pitchFamily="18" charset="0"/>
                <a:ea typeface="굴림체" pitchFamily="49" charset="-127"/>
                <a:cs typeface="Times New Roman" pitchFamily="18" charset="0"/>
              </a:rPr>
              <a:t>－</a:t>
            </a:r>
          </a:p>
        </p:txBody>
      </p:sp>
      <p:sp>
        <p:nvSpPr>
          <p:cNvPr id="165897" name="TextBox 14"/>
          <p:cNvSpPr txBox="1">
            <a:spLocks noChangeArrowheads="1"/>
          </p:cNvSpPr>
          <p:nvPr/>
        </p:nvSpPr>
        <p:spPr bwMode="auto">
          <a:xfrm>
            <a:off x="5018088" y="4972050"/>
            <a:ext cx="406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V</a:t>
            </a:r>
            <a:r>
              <a:rPr lang="ko-KR" altLang="en-US" sz="1000" b="1">
                <a:latin typeface="Times New Roman" pitchFamily="18" charset="0"/>
                <a:ea typeface="굴림체" pitchFamily="49" charset="-127"/>
                <a:cs typeface="Times New Roman" pitchFamily="18" charset="0"/>
              </a:rPr>
              <a:t>＋</a:t>
            </a:r>
          </a:p>
        </p:txBody>
      </p:sp>
      <p:sp>
        <p:nvSpPr>
          <p:cNvPr id="165898" name="TextBox 15"/>
          <p:cNvSpPr txBox="1">
            <a:spLocks noChangeArrowheads="1"/>
          </p:cNvSpPr>
          <p:nvPr/>
        </p:nvSpPr>
        <p:spPr bwMode="auto">
          <a:xfrm>
            <a:off x="5018088" y="5483225"/>
            <a:ext cx="406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V</a:t>
            </a:r>
            <a:r>
              <a:rPr lang="ko-KR" altLang="en-US" sz="1000" b="1">
                <a:latin typeface="Times New Roman" pitchFamily="18" charset="0"/>
                <a:ea typeface="굴림체" pitchFamily="49" charset="-127"/>
                <a:cs typeface="Times New Roman" pitchFamily="18" charset="0"/>
              </a:rPr>
              <a:t>－</a:t>
            </a:r>
          </a:p>
        </p:txBody>
      </p:sp>
      <p:sp>
        <p:nvSpPr>
          <p:cNvPr id="165899" name="TextBox 16"/>
          <p:cNvSpPr txBox="1">
            <a:spLocks noChangeArrowheads="1"/>
          </p:cNvSpPr>
          <p:nvPr/>
        </p:nvSpPr>
        <p:spPr bwMode="auto">
          <a:xfrm>
            <a:off x="3382963" y="2370138"/>
            <a:ext cx="1404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ANALOG OUT “mA”</a:t>
            </a:r>
          </a:p>
        </p:txBody>
      </p:sp>
      <p:sp>
        <p:nvSpPr>
          <p:cNvPr id="165900" name="TextBox 17"/>
          <p:cNvSpPr txBox="1">
            <a:spLocks noChangeArrowheads="1"/>
          </p:cNvSpPr>
          <p:nvPr/>
        </p:nvSpPr>
        <p:spPr bwMode="auto">
          <a:xfrm>
            <a:off x="3406775" y="5154613"/>
            <a:ext cx="13096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ANALOG OUT “V”</a:t>
            </a:r>
          </a:p>
        </p:txBody>
      </p:sp>
      <p:sp>
        <p:nvSpPr>
          <p:cNvPr id="165901" name="TextBox 20"/>
          <p:cNvSpPr txBox="1">
            <a:spLocks noChangeArrowheads="1"/>
          </p:cNvSpPr>
          <p:nvPr/>
        </p:nvSpPr>
        <p:spPr bwMode="auto">
          <a:xfrm>
            <a:off x="5230813" y="1457325"/>
            <a:ext cx="833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ea typeface="굴림체" pitchFamily="49" charset="-127"/>
                <a:cs typeface="Times New Roman" pitchFamily="18" charset="0"/>
              </a:rPr>
              <a:t>Q68ADI</a:t>
            </a:r>
          </a:p>
        </p:txBody>
      </p:sp>
      <p:sp>
        <p:nvSpPr>
          <p:cNvPr id="165902" name="TextBox 21"/>
          <p:cNvSpPr txBox="1">
            <a:spLocks noChangeArrowheads="1"/>
          </p:cNvSpPr>
          <p:nvPr/>
        </p:nvSpPr>
        <p:spPr bwMode="auto">
          <a:xfrm>
            <a:off x="5227638" y="4195763"/>
            <a:ext cx="895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ea typeface="굴림체" pitchFamily="49" charset="-127"/>
                <a:cs typeface="Times New Roman" pitchFamily="18" charset="0"/>
              </a:rPr>
              <a:t>Q68ADV</a:t>
            </a:r>
          </a:p>
        </p:txBody>
      </p:sp>
      <p:sp>
        <p:nvSpPr>
          <p:cNvPr id="165903" name="TextBox 22"/>
          <p:cNvSpPr txBox="1">
            <a:spLocks noChangeArrowheads="1"/>
          </p:cNvSpPr>
          <p:nvPr/>
        </p:nvSpPr>
        <p:spPr bwMode="auto">
          <a:xfrm>
            <a:off x="2782888" y="2698750"/>
            <a:ext cx="787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Dây Option</a:t>
            </a:r>
            <a:endParaRPr lang="ko-KR" altLang="en-US" sz="1000">
              <a:latin typeface="Times New Roman" pitchFamily="18" charset="0"/>
              <a:ea typeface="굴림체" pitchFamily="49" charset="-127"/>
              <a:cs typeface="Times New Roman" pitchFamily="18" charset="0"/>
            </a:endParaRPr>
          </a:p>
        </p:txBody>
      </p:sp>
      <p:sp>
        <p:nvSpPr>
          <p:cNvPr id="165904" name="TextBox 23"/>
          <p:cNvSpPr txBox="1">
            <a:spLocks noChangeArrowheads="1"/>
          </p:cNvSpPr>
          <p:nvPr/>
        </p:nvSpPr>
        <p:spPr bwMode="auto">
          <a:xfrm>
            <a:off x="2782888" y="5473700"/>
            <a:ext cx="787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Dây Option</a:t>
            </a:r>
            <a:endParaRPr lang="ko-KR" altLang="en-US" sz="1000">
              <a:latin typeface="Times New Roman" pitchFamily="18" charset="0"/>
              <a:ea typeface="굴림체" pitchFamily="49" charset="-127"/>
              <a:cs typeface="Times New Roman" pitchFamily="18" charset="0"/>
            </a:endParaRPr>
          </a:p>
        </p:txBody>
      </p:sp>
      <p:sp>
        <p:nvSpPr>
          <p:cNvPr id="25" name="직사각형 24"/>
          <p:cNvSpPr/>
          <p:nvPr/>
        </p:nvSpPr>
        <p:spPr>
          <a:xfrm>
            <a:off x="4845050" y="2114550"/>
            <a:ext cx="693738" cy="912813"/>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sp>
        <p:nvSpPr>
          <p:cNvPr id="165906" name="TextBox 25"/>
          <p:cNvSpPr txBox="1">
            <a:spLocks noChangeArrowheads="1"/>
          </p:cNvSpPr>
          <p:nvPr/>
        </p:nvSpPr>
        <p:spPr bwMode="auto">
          <a:xfrm>
            <a:off x="5173663" y="1895475"/>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CH1</a:t>
            </a:r>
          </a:p>
        </p:txBody>
      </p:sp>
      <p:sp>
        <p:nvSpPr>
          <p:cNvPr id="31" name="직사각형 30"/>
          <p:cNvSpPr/>
          <p:nvPr/>
        </p:nvSpPr>
        <p:spPr>
          <a:xfrm>
            <a:off x="4845050" y="4889500"/>
            <a:ext cx="693738" cy="912813"/>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sp>
        <p:nvSpPr>
          <p:cNvPr id="165908" name="TextBox 31"/>
          <p:cNvSpPr txBox="1">
            <a:spLocks noChangeArrowheads="1"/>
          </p:cNvSpPr>
          <p:nvPr/>
        </p:nvSpPr>
        <p:spPr bwMode="auto">
          <a:xfrm>
            <a:off x="5173663" y="4670425"/>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CH1</a:t>
            </a:r>
          </a:p>
        </p:txBody>
      </p:sp>
      <p:sp>
        <p:nvSpPr>
          <p:cNvPr id="33" name="직사각형 32"/>
          <p:cNvSpPr/>
          <p:nvPr/>
        </p:nvSpPr>
        <p:spPr>
          <a:xfrm>
            <a:off x="5830888" y="2465388"/>
            <a:ext cx="73025" cy="21907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cxnSp>
        <p:nvCxnSpPr>
          <p:cNvPr id="44" name="직선 연결선 43"/>
          <p:cNvCxnSpPr>
            <a:stCxn id="33" idx="0"/>
          </p:cNvCxnSpPr>
          <p:nvPr/>
        </p:nvCxnSpPr>
        <p:spPr>
          <a:xfrm rot="5400000" flipH="1" flipV="1">
            <a:off x="5793581" y="2389982"/>
            <a:ext cx="14922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p:cNvCxnSpPr>
            <a:stCxn id="33" idx="2"/>
          </p:cNvCxnSpPr>
          <p:nvPr/>
        </p:nvCxnSpPr>
        <p:spPr>
          <a:xfrm rot="5400000">
            <a:off x="5802313" y="2747963"/>
            <a:ext cx="128587"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5912" name="Text Box 26"/>
          <p:cNvSpPr txBox="1">
            <a:spLocks noChangeArrowheads="1"/>
          </p:cNvSpPr>
          <p:nvPr/>
        </p:nvSpPr>
        <p:spPr bwMode="auto">
          <a:xfrm>
            <a:off x="539750" y="1052513"/>
            <a:ext cx="2198688"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Analog current output Type</a:t>
            </a:r>
          </a:p>
          <a:p>
            <a:pPr eaLnBrk="1" hangingPunct="1"/>
            <a:endParaRPr lang="en-US" altLang="ko-KR" b="1">
              <a:latin typeface="Times New Roman" pitchFamily="18" charset="0"/>
              <a:cs typeface="Times New Roman" pitchFamily="18" charset="0"/>
            </a:endParaRPr>
          </a:p>
        </p:txBody>
      </p:sp>
      <p:sp>
        <p:nvSpPr>
          <p:cNvPr id="165913" name="Text Box 27"/>
          <p:cNvSpPr txBox="1">
            <a:spLocks noChangeArrowheads="1"/>
          </p:cNvSpPr>
          <p:nvPr/>
        </p:nvSpPr>
        <p:spPr bwMode="auto">
          <a:xfrm>
            <a:off x="539750" y="3860800"/>
            <a:ext cx="21923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Analog Voltage output Type</a:t>
            </a:r>
          </a:p>
        </p:txBody>
      </p:sp>
      <p:sp>
        <p:nvSpPr>
          <p:cNvPr id="165914"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5915" name="Text Box 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65916" name="TextBox 10"/>
          <p:cNvSpPr txBox="1">
            <a:spLocks noChangeArrowheads="1"/>
          </p:cNvSpPr>
          <p:nvPr/>
        </p:nvSpPr>
        <p:spPr bwMode="auto">
          <a:xfrm>
            <a:off x="2392363" y="1965325"/>
            <a:ext cx="579437"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65917" name="TextBox 10"/>
          <p:cNvSpPr txBox="1">
            <a:spLocks noChangeArrowheads="1"/>
          </p:cNvSpPr>
          <p:nvPr/>
        </p:nvSpPr>
        <p:spPr bwMode="auto">
          <a:xfrm>
            <a:off x="2411413" y="4730750"/>
            <a:ext cx="579437"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65918" name="TextBox 10"/>
          <p:cNvSpPr txBox="1">
            <a:spLocks noChangeArrowheads="1"/>
          </p:cNvSpPr>
          <p:nvPr/>
        </p:nvSpPr>
        <p:spPr bwMode="auto">
          <a:xfrm>
            <a:off x="2347913" y="2386013"/>
            <a:ext cx="1071562"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65919" name="TextBox 10"/>
          <p:cNvSpPr txBox="1">
            <a:spLocks noChangeArrowheads="1"/>
          </p:cNvSpPr>
          <p:nvPr/>
        </p:nvSpPr>
        <p:spPr bwMode="auto">
          <a:xfrm>
            <a:off x="2339975" y="5084763"/>
            <a:ext cx="1073150"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65920" name="TextBox 10"/>
          <p:cNvSpPr txBox="1">
            <a:spLocks noChangeArrowheads="1"/>
          </p:cNvSpPr>
          <p:nvPr/>
        </p:nvSpPr>
        <p:spPr bwMode="auto">
          <a:xfrm>
            <a:off x="2916238" y="3132138"/>
            <a:ext cx="811212"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5921" name="TextBox 10"/>
          <p:cNvSpPr txBox="1">
            <a:spLocks noChangeArrowheads="1"/>
          </p:cNvSpPr>
          <p:nvPr/>
        </p:nvSpPr>
        <p:spPr bwMode="auto">
          <a:xfrm>
            <a:off x="2916238" y="5921375"/>
            <a:ext cx="811212"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65922" name="TextBox 10"/>
          <p:cNvSpPr txBox="1">
            <a:spLocks noChangeArrowheads="1"/>
          </p:cNvSpPr>
          <p:nvPr/>
        </p:nvSpPr>
        <p:spPr bwMode="auto">
          <a:xfrm>
            <a:off x="2492375" y="2587625"/>
            <a:ext cx="495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
        <p:nvSpPr>
          <p:cNvPr id="165923" name="TextBox 10"/>
          <p:cNvSpPr txBox="1">
            <a:spLocks noChangeArrowheads="1"/>
          </p:cNvSpPr>
          <p:nvPr/>
        </p:nvSpPr>
        <p:spPr bwMode="auto">
          <a:xfrm>
            <a:off x="2420938" y="5362575"/>
            <a:ext cx="495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
        <p:nvSpPr>
          <p:cNvPr id="165924" name="TextBox 10"/>
          <p:cNvSpPr txBox="1">
            <a:spLocks noChangeArrowheads="1"/>
          </p:cNvSpPr>
          <p:nvPr/>
        </p:nvSpPr>
        <p:spPr bwMode="auto">
          <a:xfrm>
            <a:off x="2435225" y="5589588"/>
            <a:ext cx="623888"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
        <p:nvSpPr>
          <p:cNvPr id="165925" name="TextBox 10"/>
          <p:cNvSpPr txBox="1">
            <a:spLocks noChangeArrowheads="1"/>
          </p:cNvSpPr>
          <p:nvPr/>
        </p:nvSpPr>
        <p:spPr bwMode="auto">
          <a:xfrm>
            <a:off x="2363788" y="2828925"/>
            <a:ext cx="62388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Tree>
  </p:cSld>
  <p:clrMapOvr>
    <a:masterClrMapping/>
  </p:clrMapOvr>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E188576-4158-4DE9-B2FC-4FD5F02B3A7D}" type="slidenum">
              <a:rPr lang="en-US" altLang="ko-KR" sz="1400" smtClean="0">
                <a:latin typeface="Times New Roman" pitchFamily="18" charset="0"/>
                <a:cs typeface="Times New Roman" pitchFamily="18" charset="0"/>
              </a:rPr>
              <a:pPr eaLnBrk="1" hangingPunct="1"/>
              <a:t>158</a:t>
            </a:fld>
            <a:endParaRPr lang="en-US" altLang="ko-KR" sz="1400" smtClean="0">
              <a:latin typeface="Times New Roman" pitchFamily="18" charset="0"/>
              <a:cs typeface="Times New Roman" pitchFamily="18" charset="0"/>
            </a:endParaRPr>
          </a:p>
        </p:txBody>
      </p:sp>
      <p:sp>
        <p:nvSpPr>
          <p:cNvPr id="166915" name="Rectangle 3"/>
          <p:cNvSpPr>
            <a:spLocks noChangeArrowheads="1"/>
          </p:cNvSpPr>
          <p:nvPr/>
        </p:nvSpPr>
        <p:spPr bwMode="auto">
          <a:xfrm>
            <a:off x="827088" y="407988"/>
            <a:ext cx="7489825" cy="604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Các hạng mục cần chú ý khi thay thế cảm biến</a:t>
            </a:r>
            <a:endParaRPr lang="ko-KR" altLang="en-US" b="1">
              <a:latin typeface="Times New Roman" pitchFamily="18" charset="0"/>
              <a:cs typeface="Times New Roman" pitchFamily="18" charset="0"/>
            </a:endParaRPr>
          </a:p>
          <a:p>
            <a:pPr eaLnBrk="1" hangingPunct="1"/>
            <a:endParaRPr lang="ko-KR" altLang="en-US" sz="600">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① </a:t>
            </a:r>
            <a:r>
              <a:rPr lang="en-US" altLang="ko-KR" b="1">
                <a:latin typeface="Times New Roman" pitchFamily="18" charset="0"/>
                <a:cs typeface="Times New Roman" pitchFamily="18" charset="0"/>
              </a:rPr>
              <a:t>Chú ý khi kết nối dây</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Màu nâu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 màu xanh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GND, màu đen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OUT, và đây là tiêu chuẩn quốc tế.</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② Chú ý khi kết nối dây theo mạch đầu ra(output)</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Vị trí của phụ tải thay đổi theo loại mạch đầu ra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NPN / PNP.</a:t>
            </a:r>
          </a:p>
          <a:p>
            <a:pPr eaLnBrk="1" hangingPunct="1"/>
            <a:r>
              <a:rPr lang="en-US" altLang="ko-KR">
                <a:latin typeface="Times New Roman" pitchFamily="18" charset="0"/>
                <a:cs typeface="Times New Roman" pitchFamily="18" charset="0"/>
              </a:rPr>
              <a:t>    Hơn nữa, phải chú ý rằng ngoài màu nâu/đen/xanh thì màu của dây là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Option Line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khác nhau theo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Maker và</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Series.</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③ Loại phản chiếu và phản chiếu hồi quy</a:t>
            </a:r>
            <a:endParaRPr lang="ko-KR" altLang="en-US" b="1">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Loại phản chiếu và phản chiếu hồi quy nếu chỉ nhìn thân của</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cảm biến thì sẽ không thấy được sự khác nhau. </a:t>
            </a:r>
          </a:p>
          <a:p>
            <a:pPr eaLnBrk="1" hangingPunct="1"/>
            <a:r>
              <a:rPr lang="en-US" altLang="ko-KR">
                <a:latin typeface="Times New Roman" pitchFamily="18" charset="0"/>
                <a:cs typeface="Times New Roman" pitchFamily="18" charset="0"/>
              </a:rPr>
              <a:t>    Tuy nhiên phải lưu ý loại phản chiếu hồi quy bắt buộc là một SET với tấm phản chiếu.</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④ Cảm biến phản chiếu hồi quy thường và cảm biến phản chiếu hồi quy loại lọc sáng phân cực</a:t>
            </a:r>
          </a:p>
          <a:p>
            <a:pPr eaLnBrk="1" hangingPunct="1"/>
            <a:r>
              <a:rPr lang="en-US" altLang="ko-KR">
                <a:latin typeface="Times New Roman" pitchFamily="18" charset="0"/>
                <a:cs typeface="Times New Roman" pitchFamily="18" charset="0"/>
              </a:rPr>
              <a:t>    Cảm biến phản chiếu hồi quy thường dùng cho đối tượng là vật thể có tỉ lệ phản chiếu thấp, và không phân tích được vật thể có mặt kính.</a:t>
            </a:r>
          </a:p>
          <a:p>
            <a:pPr eaLnBrk="1" hangingPunct="1"/>
            <a:r>
              <a:rPr lang="en-US" altLang="ko-KR">
                <a:latin typeface="Times New Roman" pitchFamily="18" charset="0"/>
                <a:cs typeface="Times New Roman" pitchFamily="18" charset="0"/>
              </a:rPr>
              <a:t>    Tuy nhiên phải chú ý đối với loại có bộ lọc sáng phân cực</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tấm phản chiếu là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corner-cube  nên có thể phân tích được vật thể có mặt kính.</a:t>
            </a:r>
          </a:p>
          <a:p>
            <a:pPr eaLnBrk="1" hangingPunct="1"/>
            <a:endParaRPr lang="en-US" altLang="ko-KR">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⑤ Chú ý về chất liệu, kích cỡ, độ dày của vật thể nếu là cảm biến không tiếp xúc</a:t>
            </a:r>
            <a:endParaRPr lang="ko-KR" altLang="en-US" b="1">
              <a:latin typeface="Times New Roman" pitchFamily="18" charset="0"/>
              <a:cs typeface="Times New Roman" pitchFamily="18" charset="0"/>
            </a:endParaRPr>
          </a:p>
          <a:p>
            <a:pPr eaLnBrk="1" hangingPunct="1"/>
            <a:r>
              <a:rPr lang="ko-KR" altLang="en-US" b="1">
                <a:latin typeface="Times New Roman" pitchFamily="18" charset="0"/>
                <a:cs typeface="Times New Roman" pitchFamily="18" charset="0"/>
              </a:rPr>
              <a:t>   </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Phần lớn cảm biến không tiếp xúc phân tích vật thể tiêu chuẩn làm bằng sắt(Fe) nên nếu là vật thể phi kim loại</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phải chú ý chênh lệch khoảng cách phân tích lớn. Đặc biệt cảm biến không tiếp xúc điện dung phân tích cả chất hữu cơ nên cần đặc biệt chú ý.</a:t>
            </a:r>
            <a:endParaRPr lang="en-US" altLang="ko-KR"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a:p>
            <a:pPr eaLnBrk="1" hangingPunct="1"/>
            <a:r>
              <a:rPr lang="en-US" altLang="ko-KR" b="1">
                <a:latin typeface="Times New Roman" pitchFamily="18" charset="0"/>
                <a:cs typeface="Times New Roman" pitchFamily="18" charset="0"/>
              </a:rPr>
              <a:t>⑥ Cảm biến không tiếp xúc loại </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Shield Type và</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Non shield Type</a:t>
            </a:r>
          </a:p>
          <a:p>
            <a:pPr eaLnBrk="1" hangingPunct="1"/>
            <a:r>
              <a:rPr lang="en-US" altLang="ko-KR">
                <a:latin typeface="Times New Roman" pitchFamily="18" charset="0"/>
                <a:cs typeface="Times New Roman" pitchFamily="18" charset="0"/>
              </a:rPr>
              <a:t>    Nếu là Non Shield Type</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có thể phân tích cả mặt cạnh</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cần </a:t>
            </a:r>
          </a:p>
          <a:p>
            <a:pPr eaLnBrk="1" hangingPunct="1"/>
            <a:r>
              <a:rPr lang="en-US" altLang="ko-KR">
                <a:latin typeface="Times New Roman" pitchFamily="18" charset="0"/>
                <a:cs typeface="Times New Roman" pitchFamily="18" charset="0"/>
              </a:rPr>
              <a:t>chú ý khi gắn và có cảm biến hay không.</a:t>
            </a:r>
          </a:p>
        </p:txBody>
      </p:sp>
      <p:pic>
        <p:nvPicPr>
          <p:cNvPr id="166916" name="Picture 38"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200" y="5589588"/>
            <a:ext cx="291147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1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6918"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304C3A4-4C43-417A-9CAA-BFA9FEE8A187}" type="slidenum">
              <a:rPr lang="en-US" altLang="ko-KR" sz="1400" smtClean="0">
                <a:latin typeface="Times New Roman" pitchFamily="18" charset="0"/>
                <a:cs typeface="Times New Roman" pitchFamily="18" charset="0"/>
              </a:rPr>
              <a:pPr eaLnBrk="1" hangingPunct="1"/>
              <a:t>159</a:t>
            </a:fld>
            <a:endParaRPr lang="en-US" altLang="ko-KR" sz="1400" smtClean="0">
              <a:latin typeface="Times New Roman" pitchFamily="18" charset="0"/>
              <a:cs typeface="Times New Roman" pitchFamily="18" charset="0"/>
            </a:endParaRPr>
          </a:p>
        </p:txBody>
      </p:sp>
      <p:pic>
        <p:nvPicPr>
          <p:cNvPr id="167939" name="Picture 2" descr="p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996950"/>
            <a:ext cx="3509963" cy="248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0" name="Rectangle 3"/>
          <p:cNvSpPr>
            <a:spLocks noChangeArrowheads="1"/>
          </p:cNvSpPr>
          <p:nvPr/>
        </p:nvSpPr>
        <p:spPr bwMode="auto">
          <a:xfrm>
            <a:off x="593725" y="1058863"/>
            <a:ext cx="10652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Nguyên lý</a:t>
            </a:r>
            <a:endParaRPr lang="ko-KR" altLang="en-US" b="1">
              <a:latin typeface="Times New Roman" pitchFamily="18" charset="0"/>
              <a:cs typeface="Times New Roman" pitchFamily="18" charset="0"/>
            </a:endParaRPr>
          </a:p>
        </p:txBody>
      </p:sp>
      <p:sp>
        <p:nvSpPr>
          <p:cNvPr id="167941" name="Text Box 4"/>
          <p:cNvSpPr txBox="1">
            <a:spLocks noChangeArrowheads="1"/>
          </p:cNvSpPr>
          <p:nvPr/>
        </p:nvSpPr>
        <p:spPr bwMode="auto">
          <a:xfrm>
            <a:off x="611188" y="1335088"/>
            <a:ext cx="4178300" cy="1201737"/>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Hệ số khúc xạ được cấu thành từ tâm và vỏ bọc quang (Cladding) khác nhau, tia quang phản chiếu lặp lại lên tường của vật liệu bao phủ và di chuyển thông qua tâm.</a:t>
            </a:r>
          </a:p>
          <a:p>
            <a:pPr eaLnBrk="1" hangingPunct="1"/>
            <a:r>
              <a:rPr lang="en-US" altLang="ko-KR">
                <a:latin typeface="Times New Roman" pitchFamily="18" charset="0"/>
                <a:cs typeface="Times New Roman" pitchFamily="18" charset="0"/>
              </a:rPr>
              <a:t>   Tia quang đi qua sợi quang mà không có tổn hao lượng quang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được phân tán theo góc khoảng 60 độ và được phát quang lên vật thể đối tượng.</a:t>
            </a:r>
          </a:p>
        </p:txBody>
      </p:sp>
      <p:sp>
        <p:nvSpPr>
          <p:cNvPr id="167942" name="Rectangle 5"/>
          <p:cNvSpPr>
            <a:spLocks noChangeArrowheads="1"/>
          </p:cNvSpPr>
          <p:nvPr/>
        </p:nvSpPr>
        <p:spPr bwMode="auto">
          <a:xfrm>
            <a:off x="593725" y="2724150"/>
            <a:ext cx="9620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(2) Đặc tính</a:t>
            </a:r>
            <a:endParaRPr lang="ko-KR" altLang="en-US" b="1">
              <a:latin typeface="Times New Roman" pitchFamily="18" charset="0"/>
              <a:cs typeface="Times New Roman" pitchFamily="18" charset="0"/>
            </a:endParaRPr>
          </a:p>
        </p:txBody>
      </p:sp>
      <p:sp>
        <p:nvSpPr>
          <p:cNvPr id="167943" name="Text Box 6"/>
          <p:cNvSpPr txBox="1">
            <a:spLocks noChangeArrowheads="1"/>
          </p:cNvSpPr>
          <p:nvPr/>
        </p:nvSpPr>
        <p:spPr bwMode="auto">
          <a:xfrm>
            <a:off x="582613" y="3257550"/>
            <a:ext cx="8174037" cy="1754188"/>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Điều kiện lắp đặt đa dạng.</a:t>
            </a:r>
          </a:p>
          <a:p>
            <a:pPr eaLnBrk="1" hangingPunct="1"/>
            <a:r>
              <a:rPr lang="en-US" altLang="ko-KR">
                <a:latin typeface="Times New Roman" pitchFamily="18" charset="0"/>
                <a:cs typeface="Times New Roman" pitchFamily="18" charset="0"/>
              </a:rPr>
              <a:t>     Sợi quang dẻo và mềm nên có thể sử dụng được ở cả những không gian nhỏ giữa các máy móc.</a:t>
            </a:r>
          </a:p>
          <a:p>
            <a:pPr eaLnBrk="1" hangingPunct="1"/>
            <a:r>
              <a:rPr lang="en-US" altLang="ko-KR">
                <a:latin typeface="Times New Roman" pitchFamily="18" charset="0"/>
                <a:cs typeface="Times New Roman" pitchFamily="18" charset="0"/>
              </a:rPr>
              <a:t>▶  Phân tích vật thể loại nhỏ</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Bề mặt phát quang của đầu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phân tích một cách ổn định vật thể đối tượng loại nhỏ</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Hoạt động ổn định cả ở những môi trường xấu</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Do sợi quang không dẫn điện nên có thể sử dụng cả ở những môi trường dễ cháy nổ</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và không chịu ảnh hưởng từ tiếng ồn điện</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Tính chịu nhiệt</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Hoạt động ổn định ở cả những môi trường có nhiệt độ cao</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p>
        </p:txBody>
      </p:sp>
      <p:sp>
        <p:nvSpPr>
          <p:cNvPr id="167944" name="Text Box 11"/>
          <p:cNvSpPr txBox="1">
            <a:spLocks noChangeArrowheads="1"/>
          </p:cNvSpPr>
          <p:nvPr/>
        </p:nvSpPr>
        <p:spPr bwMode="auto">
          <a:xfrm>
            <a:off x="684213" y="692150"/>
            <a:ext cx="28336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3-8. Thực hành với cảm biến Fiber</a:t>
            </a:r>
            <a:endParaRPr lang="ko-KR" altLang="en-US" sz="1400" b="1">
              <a:latin typeface="Times New Roman" pitchFamily="18" charset="0"/>
              <a:cs typeface="Times New Roman" pitchFamily="18" charset="0"/>
            </a:endParaRPr>
          </a:p>
        </p:txBody>
      </p:sp>
      <p:sp>
        <p:nvSpPr>
          <p:cNvPr id="167945"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7946" name="Text Box 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
        <p:nvSpPr>
          <p:cNvPr id="167947" name="직사각형 10"/>
          <p:cNvSpPr>
            <a:spLocks noChangeArrowheads="1"/>
          </p:cNvSpPr>
          <p:nvPr/>
        </p:nvSpPr>
        <p:spPr bwMode="auto">
          <a:xfrm>
            <a:off x="5289550" y="981075"/>
            <a:ext cx="866775"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Sợi quang</a:t>
            </a:r>
            <a:endParaRPr lang="ko-KR" altLang="en-US">
              <a:latin typeface="Times New Roman" pitchFamily="18" charset="0"/>
              <a:cs typeface="Times New Roman" pitchFamily="18" charset="0"/>
            </a:endParaRPr>
          </a:p>
        </p:txBody>
      </p:sp>
      <p:sp>
        <p:nvSpPr>
          <p:cNvPr id="167948" name="직사각형 11"/>
          <p:cNvSpPr>
            <a:spLocks noChangeArrowheads="1"/>
          </p:cNvSpPr>
          <p:nvPr/>
        </p:nvSpPr>
        <p:spPr bwMode="auto">
          <a:xfrm>
            <a:off x="6153150" y="933450"/>
            <a:ext cx="1731963"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Tâm (hệ số khúc xạ cao)</a:t>
            </a:r>
            <a:endParaRPr lang="ko-KR" altLang="en-US">
              <a:latin typeface="Times New Roman" pitchFamily="18" charset="0"/>
              <a:cs typeface="Times New Roman" pitchFamily="18" charset="0"/>
            </a:endParaRPr>
          </a:p>
        </p:txBody>
      </p:sp>
      <p:sp>
        <p:nvSpPr>
          <p:cNvPr id="167949" name="직사각형 12"/>
          <p:cNvSpPr>
            <a:spLocks noChangeArrowheads="1"/>
          </p:cNvSpPr>
          <p:nvPr/>
        </p:nvSpPr>
        <p:spPr bwMode="auto">
          <a:xfrm>
            <a:off x="7593013" y="1589088"/>
            <a:ext cx="1443037" cy="5445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a:latin typeface="Times New Roman" pitchFamily="18" charset="0"/>
                <a:cs typeface="Times New Roman" pitchFamily="18" charset="0"/>
              </a:rPr>
              <a:t>Vỏ bọc quang (hệ số khúc xạ thấp)</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A63BCCC-8DA8-476F-874A-7013FA87CCE5}" type="slidenum">
              <a:rPr lang="en-US" altLang="ko-KR" sz="1400" smtClean="0">
                <a:latin typeface="Times New Roman" pitchFamily="18" charset="0"/>
                <a:cs typeface="Times New Roman" pitchFamily="18" charset="0"/>
              </a:rPr>
              <a:pPr eaLnBrk="1" hangingPunct="1"/>
              <a:t>160</a:t>
            </a:fld>
            <a:endParaRPr lang="en-US" altLang="ko-KR" sz="1400" smtClean="0">
              <a:latin typeface="Times New Roman" pitchFamily="18" charset="0"/>
              <a:cs typeface="Times New Roman" pitchFamily="18" charset="0"/>
            </a:endParaRPr>
          </a:p>
        </p:txBody>
      </p:sp>
      <p:sp>
        <p:nvSpPr>
          <p:cNvPr id="168963" name="Rectangle 2"/>
          <p:cNvSpPr>
            <a:spLocks noChangeArrowheads="1"/>
          </p:cNvSpPr>
          <p:nvPr/>
        </p:nvSpPr>
        <p:spPr bwMode="auto">
          <a:xfrm>
            <a:off x="593725" y="765175"/>
            <a:ext cx="13049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(3) Cách sử dụng</a:t>
            </a:r>
            <a:endParaRPr lang="ko-KR" altLang="en-US" b="1">
              <a:latin typeface="Times New Roman" pitchFamily="18" charset="0"/>
              <a:cs typeface="Times New Roman" pitchFamily="18" charset="0"/>
            </a:endParaRPr>
          </a:p>
        </p:txBody>
      </p:sp>
      <p:sp>
        <p:nvSpPr>
          <p:cNvPr id="168964" name="Text Box 3"/>
          <p:cNvSpPr txBox="1">
            <a:spLocks noChangeArrowheads="1"/>
          </p:cNvSpPr>
          <p:nvPr/>
        </p:nvSpPr>
        <p:spPr bwMode="auto">
          <a:xfrm>
            <a:off x="609600" y="1123950"/>
            <a:ext cx="1512888" cy="277813"/>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Gắn FIBER UNIT</a:t>
            </a:r>
            <a:endParaRPr lang="ko-KR" altLang="en-US">
              <a:latin typeface="Times New Roman" pitchFamily="18" charset="0"/>
              <a:cs typeface="Times New Roman" pitchFamily="18" charset="0"/>
            </a:endParaRPr>
          </a:p>
        </p:txBody>
      </p:sp>
      <p:pic>
        <p:nvPicPr>
          <p:cNvPr id="168965" name="Picture 4" descr="18"/>
          <p:cNvPicPr>
            <a:picLocks noChangeAspect="1" noChangeArrowheads="1"/>
          </p:cNvPicPr>
          <p:nvPr/>
        </p:nvPicPr>
        <p:blipFill>
          <a:blip r:embed="rId3">
            <a:lum contrast="12000"/>
            <a:extLst>
              <a:ext uri="{28A0092B-C50C-407E-A947-70E740481C1C}">
                <a14:useLocalDpi xmlns:a14="http://schemas.microsoft.com/office/drawing/2010/main" val="0"/>
              </a:ext>
            </a:extLst>
          </a:blip>
          <a:srcRect l="65352" t="48875" r="-31" b="26151"/>
          <a:stretch>
            <a:fillRect/>
          </a:stretch>
        </p:blipFill>
        <p:spPr bwMode="auto">
          <a:xfrm>
            <a:off x="838200" y="4149725"/>
            <a:ext cx="3810000" cy="1343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68966" name="Picture 5" descr="18"/>
          <p:cNvPicPr>
            <a:picLocks noChangeAspect="1" noChangeArrowheads="1"/>
          </p:cNvPicPr>
          <p:nvPr/>
        </p:nvPicPr>
        <p:blipFill>
          <a:blip r:embed="rId3">
            <a:lum contrast="6000"/>
            <a:extLst>
              <a:ext uri="{28A0092B-C50C-407E-A947-70E740481C1C}">
                <a14:useLocalDpi xmlns:a14="http://schemas.microsoft.com/office/drawing/2010/main" val="0"/>
              </a:ext>
            </a:extLst>
          </a:blip>
          <a:srcRect l="3555" t="62532" r="53542" b="-41"/>
          <a:stretch>
            <a:fillRect/>
          </a:stretch>
        </p:blipFill>
        <p:spPr bwMode="auto">
          <a:xfrm>
            <a:off x="4876800" y="1633538"/>
            <a:ext cx="3962400" cy="1387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68967" name="Picture 6" descr="18"/>
          <p:cNvPicPr>
            <a:picLocks noChangeAspect="1" noChangeArrowheads="1"/>
          </p:cNvPicPr>
          <p:nvPr/>
        </p:nvPicPr>
        <p:blipFill>
          <a:blip r:embed="rId3">
            <a:lum contrast="6000"/>
            <a:extLst>
              <a:ext uri="{28A0092B-C50C-407E-A947-70E740481C1C}">
                <a14:useLocalDpi xmlns:a14="http://schemas.microsoft.com/office/drawing/2010/main" val="0"/>
              </a:ext>
            </a:extLst>
          </a:blip>
          <a:srcRect r="48094" b="63290"/>
          <a:stretch>
            <a:fillRect/>
          </a:stretch>
        </p:blipFill>
        <p:spPr bwMode="auto">
          <a:xfrm>
            <a:off x="838200" y="1633538"/>
            <a:ext cx="3810000" cy="1377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8968" name="Text Box 7"/>
          <p:cNvSpPr txBox="1">
            <a:spLocks noChangeArrowheads="1"/>
          </p:cNvSpPr>
          <p:nvPr/>
        </p:nvSpPr>
        <p:spPr bwMode="auto">
          <a:xfrm>
            <a:off x="838200" y="3186113"/>
            <a:ext cx="3810000" cy="460375"/>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Kéo và mở đòn bẩy rời cho đến khi Fiber unit dừng lại</a:t>
            </a:r>
            <a:r>
              <a:rPr lang="ko-KR" altLang="en-US">
                <a:latin typeface="Times New Roman" pitchFamily="18" charset="0"/>
                <a:cs typeface="Times New Roman" pitchFamily="18" charset="0"/>
              </a:rPr>
              <a:t> </a:t>
            </a: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đẩy và đặt vào sau đó đóng đòn bẩy rời.</a:t>
            </a:r>
          </a:p>
        </p:txBody>
      </p:sp>
      <p:sp>
        <p:nvSpPr>
          <p:cNvPr id="168969" name="Text Box 8"/>
          <p:cNvSpPr txBox="1">
            <a:spLocks noChangeArrowheads="1"/>
          </p:cNvSpPr>
          <p:nvPr/>
        </p:nvSpPr>
        <p:spPr bwMode="auto">
          <a:xfrm>
            <a:off x="5046663" y="3136900"/>
            <a:ext cx="3792537" cy="831850"/>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 Khi nối Fiber unit có đường kính nhỏ</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 Nối adapter lên fiber unit.</a:t>
            </a:r>
          </a:p>
          <a:p>
            <a:pPr eaLnBrk="1" hangingPunct="1"/>
            <a:r>
              <a:rPr lang="en-US" altLang="ko-KR">
                <a:latin typeface="Times New Roman" pitchFamily="18" charset="0"/>
                <a:cs typeface="Times New Roman" pitchFamily="18" charset="0"/>
              </a:rPr>
              <a:t>   2. Kéo và đặt adapter hoàn toàn vào lỗ gắn amplifier(bộ khuếch đại) rồi đóng đòn bẩy gắn lại.</a:t>
            </a:r>
          </a:p>
        </p:txBody>
      </p:sp>
      <p:sp>
        <p:nvSpPr>
          <p:cNvPr id="168970" name="Text Box 9"/>
          <p:cNvSpPr txBox="1">
            <a:spLocks noChangeArrowheads="1"/>
          </p:cNvSpPr>
          <p:nvPr/>
        </p:nvSpPr>
        <p:spPr bwMode="auto">
          <a:xfrm>
            <a:off x="838200" y="5565775"/>
            <a:ext cx="3810000" cy="646113"/>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 Khi nối fiber unit trục đồng loại phản chiếu lên amplifier</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 Nối fiber lõi đơn lên phần phát quang.</a:t>
            </a:r>
          </a:p>
          <a:p>
            <a:pPr eaLnBrk="1" hangingPunct="1"/>
            <a:r>
              <a:rPr lang="en-US" altLang="ko-KR">
                <a:latin typeface="Times New Roman" pitchFamily="18" charset="0"/>
                <a:cs typeface="Times New Roman" pitchFamily="18" charset="0"/>
              </a:rPr>
              <a:t>   2. Nối fiber lõi kép lên phần thu quang.</a:t>
            </a:r>
          </a:p>
        </p:txBody>
      </p:sp>
      <p:sp>
        <p:nvSpPr>
          <p:cNvPr id="168971"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8972"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68973" name="TextBox 10"/>
          <p:cNvSpPr txBox="1">
            <a:spLocks noChangeArrowheads="1"/>
          </p:cNvSpPr>
          <p:nvPr/>
        </p:nvSpPr>
        <p:spPr bwMode="auto">
          <a:xfrm>
            <a:off x="3124200" y="4797425"/>
            <a:ext cx="942975"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Bộ phận phát sáng</a:t>
            </a:r>
          </a:p>
          <a:p>
            <a:pPr eaLnBrk="1" hangingPunct="1"/>
            <a:r>
              <a:rPr lang="en-US" altLang="ko-KR" sz="800">
                <a:latin typeface="Times New Roman" pitchFamily="18" charset="0"/>
                <a:ea typeface="굴림체" pitchFamily="49" charset="-127"/>
                <a:cs typeface="Times New Roman" pitchFamily="18" charset="0"/>
              </a:rPr>
              <a:t>Bộ phận thu sáng</a:t>
            </a:r>
          </a:p>
        </p:txBody>
      </p:sp>
      <p:sp>
        <p:nvSpPr>
          <p:cNvPr id="168974" name="직사각형 1"/>
          <p:cNvSpPr>
            <a:spLocks noChangeArrowheads="1"/>
          </p:cNvSpPr>
          <p:nvPr/>
        </p:nvSpPr>
        <p:spPr bwMode="auto">
          <a:xfrm>
            <a:off x="1882775" y="4292600"/>
            <a:ext cx="6731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Lõi đơn</a:t>
            </a:r>
            <a:endParaRPr lang="ko-KR" altLang="en-US">
              <a:latin typeface="Times New Roman" pitchFamily="18" charset="0"/>
              <a:cs typeface="Times New Roman" pitchFamily="18" charset="0"/>
            </a:endParaRPr>
          </a:p>
        </p:txBody>
      </p:sp>
      <p:sp>
        <p:nvSpPr>
          <p:cNvPr id="168975" name="직사각형 15"/>
          <p:cNvSpPr>
            <a:spLocks noChangeArrowheads="1"/>
          </p:cNvSpPr>
          <p:nvPr/>
        </p:nvSpPr>
        <p:spPr bwMode="auto">
          <a:xfrm>
            <a:off x="1763713" y="5151438"/>
            <a:ext cx="76358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Nhiều lõi</a:t>
            </a:r>
            <a:endParaRPr lang="ko-KR" alt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5F9E19A-5B7A-49F2-9A29-3E29F6121D4F}" type="slidenum">
              <a:rPr lang="en-US" altLang="ko-KR" sz="1400" smtClean="0">
                <a:latin typeface="Times New Roman" pitchFamily="18" charset="0"/>
                <a:cs typeface="Times New Roman" pitchFamily="18" charset="0"/>
              </a:rPr>
              <a:pPr eaLnBrk="1" hangingPunct="1"/>
              <a:t>161</a:t>
            </a:fld>
            <a:endParaRPr lang="en-US" altLang="ko-KR" sz="1400" smtClean="0">
              <a:latin typeface="Times New Roman" pitchFamily="18" charset="0"/>
              <a:cs typeface="Times New Roman" pitchFamily="18" charset="0"/>
            </a:endParaRPr>
          </a:p>
        </p:txBody>
      </p:sp>
      <p:sp>
        <p:nvSpPr>
          <p:cNvPr id="169987" name="Text Box 2"/>
          <p:cNvSpPr txBox="1">
            <a:spLocks noChangeArrowheads="1"/>
          </p:cNvSpPr>
          <p:nvPr/>
        </p:nvSpPr>
        <p:spPr bwMode="auto">
          <a:xfrm>
            <a:off x="609600" y="763588"/>
            <a:ext cx="2239963" cy="277812"/>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Cách sử dụng cutter (máy cắt)</a:t>
            </a:r>
            <a:endParaRPr lang="ko-KR" altLang="en-US">
              <a:latin typeface="Times New Roman" pitchFamily="18" charset="0"/>
              <a:cs typeface="Times New Roman" pitchFamily="18" charset="0"/>
            </a:endParaRPr>
          </a:p>
        </p:txBody>
      </p:sp>
      <p:sp>
        <p:nvSpPr>
          <p:cNvPr id="169988" name="Text Box 3"/>
          <p:cNvSpPr txBox="1">
            <a:spLocks noChangeArrowheads="1"/>
          </p:cNvSpPr>
          <p:nvPr/>
        </p:nvSpPr>
        <p:spPr bwMode="auto">
          <a:xfrm>
            <a:off x="838200" y="1143000"/>
            <a:ext cx="4310063" cy="647700"/>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Sử dụng khi cắt fiber unit với độ dài mong muốn.</a:t>
            </a:r>
          </a:p>
          <a:p>
            <a:pPr eaLnBrk="1" hangingPunct="1"/>
            <a:r>
              <a:rPr lang="en-US" altLang="ko-KR">
                <a:latin typeface="Times New Roman" pitchFamily="18" charset="0"/>
                <a:cs typeface="Times New Roman" pitchFamily="18" charset="0"/>
              </a:rPr>
              <a:t>    1. Đưa Fiber unit vào trong lỗ máy cắt với độ dài mong muốn.</a:t>
            </a:r>
          </a:p>
          <a:p>
            <a:pPr eaLnBrk="1" hangingPunct="1"/>
            <a:r>
              <a:rPr lang="en-US" altLang="ko-KR">
                <a:latin typeface="Times New Roman" pitchFamily="18" charset="0"/>
                <a:cs typeface="Times New Roman" pitchFamily="18" charset="0"/>
              </a:rPr>
              <a:t>    2. Dập Blade 1 lần và cắt fiber.</a:t>
            </a:r>
          </a:p>
        </p:txBody>
      </p:sp>
      <p:pic>
        <p:nvPicPr>
          <p:cNvPr id="169989" name="Picture 4" descr="15"/>
          <p:cNvPicPr>
            <a:picLocks noChangeAspect="1" noChangeArrowheads="1"/>
          </p:cNvPicPr>
          <p:nvPr/>
        </p:nvPicPr>
        <p:blipFill>
          <a:blip r:embed="rId3">
            <a:extLst>
              <a:ext uri="{28A0092B-C50C-407E-A947-70E740481C1C}">
                <a14:useLocalDpi xmlns:a14="http://schemas.microsoft.com/office/drawing/2010/main" val="0"/>
              </a:ext>
            </a:extLst>
          </a:blip>
          <a:srcRect t="50380" r="-50" b="-44"/>
          <a:stretch>
            <a:fillRect/>
          </a:stretch>
        </p:blipFill>
        <p:spPr bwMode="auto">
          <a:xfrm>
            <a:off x="6343650" y="3163888"/>
            <a:ext cx="2266950" cy="31242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169990" name="Picture 5" descr="15"/>
          <p:cNvPicPr>
            <a:picLocks noChangeAspect="1" noChangeArrowheads="1"/>
          </p:cNvPicPr>
          <p:nvPr/>
        </p:nvPicPr>
        <p:blipFill>
          <a:blip r:embed="rId3">
            <a:extLst>
              <a:ext uri="{28A0092B-C50C-407E-A947-70E740481C1C}">
                <a14:useLocalDpi xmlns:a14="http://schemas.microsoft.com/office/drawing/2010/main" val="0"/>
              </a:ext>
            </a:extLst>
          </a:blip>
          <a:srcRect l="4958" r="8870" b="72842"/>
          <a:stretch>
            <a:fillRect/>
          </a:stretch>
        </p:blipFill>
        <p:spPr bwMode="auto">
          <a:xfrm>
            <a:off x="6324600" y="979488"/>
            <a:ext cx="2286000" cy="200025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169991" name="Text Box 6"/>
          <p:cNvSpPr txBox="1">
            <a:spLocks noChangeArrowheads="1"/>
          </p:cNvSpPr>
          <p:nvPr/>
        </p:nvSpPr>
        <p:spPr bwMode="auto">
          <a:xfrm>
            <a:off x="638175" y="2149475"/>
            <a:ext cx="4362450" cy="831850"/>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Hạng mục chú ý</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1. Khi đang cắt mà Blade dừng lại sẽ sinh ra gấp khúc trên mặt cắt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nên khoảng cách phân tích sẽ ngắn lại.</a:t>
            </a:r>
          </a:p>
          <a:p>
            <a:pPr eaLnBrk="1" hangingPunct="1"/>
            <a:r>
              <a:rPr lang="en-US" altLang="ko-KR">
                <a:latin typeface="Times New Roman" pitchFamily="18" charset="0"/>
                <a:cs typeface="Times New Roman" pitchFamily="18" charset="0"/>
              </a:rPr>
              <a:t>       2.  Không được dùng lỗ cắt trên 1 lần.</a:t>
            </a:r>
          </a:p>
        </p:txBody>
      </p:sp>
      <p:sp>
        <p:nvSpPr>
          <p:cNvPr id="169992" name="Text Box 7"/>
          <p:cNvSpPr txBox="1">
            <a:spLocks noChangeArrowheads="1"/>
          </p:cNvSpPr>
          <p:nvPr/>
        </p:nvSpPr>
        <p:spPr bwMode="auto">
          <a:xfrm>
            <a:off x="612775" y="3665538"/>
            <a:ext cx="4751388" cy="1200150"/>
          </a:xfrm>
          <a:prstGeom prst="rect">
            <a:avLst/>
          </a:prstGeom>
          <a:noFill/>
          <a:ln>
            <a:noFill/>
          </a:ln>
          <a:effectLst/>
          <a:extLst>
            <a:ext uri="{909E8E84-426E-40DD-AFC4-6F175D3DCCD1}">
              <a14:hiddenFill xmlns:a14="http://schemas.microsoft.com/office/drawing/2010/main">
                <a:gradFill rotWithShape="0">
                  <a:gsLst>
                    <a:gs pos="0">
                      <a:srgbClr val="FF0000"/>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a:latin typeface="Times New Roman" pitchFamily="18" charset="0"/>
                <a:cs typeface="Times New Roman" pitchFamily="18" charset="0"/>
              </a:rPr>
              <a:t>▶ Cách sử dụng Splitter</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Sử dụng khi mài phần chóp sau khi cắt fiber unit.</a:t>
            </a:r>
          </a:p>
          <a:p>
            <a:pPr eaLnBrk="1" hangingPunct="1"/>
            <a:r>
              <a:rPr lang="en-US" altLang="ko-KR">
                <a:latin typeface="Times New Roman" pitchFamily="18" charset="0"/>
                <a:cs typeface="Times New Roman" pitchFamily="18" charset="0"/>
              </a:rPr>
              <a:t>        1. Cầm đầu của splitter lên đến khi fiber unit nhô ra khoảng</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40mm </a:t>
            </a:r>
            <a:endParaRPr lang="ko-KR" altLang="en-US">
              <a:latin typeface="Times New Roman" pitchFamily="18" charset="0"/>
              <a:cs typeface="Times New Roman" pitchFamily="18" charset="0"/>
            </a:endParaRPr>
          </a:p>
          <a:p>
            <a:pPr eaLnBrk="1" hangingPunct="1"/>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thì lắp vào theo hướng ngược lại của mũi tên.</a:t>
            </a:r>
          </a:p>
          <a:p>
            <a:pPr eaLnBrk="1" hangingPunct="1"/>
            <a:r>
              <a:rPr lang="en-US" altLang="ko-KR">
                <a:latin typeface="Times New Roman" pitchFamily="18" charset="0"/>
                <a:cs typeface="Times New Roman" pitchFamily="18" charset="0"/>
              </a:rPr>
              <a:t>        2. Nhấn mạnh đầu của splitter.</a:t>
            </a:r>
          </a:p>
          <a:p>
            <a:pPr eaLnBrk="1" hangingPunct="1"/>
            <a:r>
              <a:rPr lang="en-US" altLang="ko-KR">
                <a:latin typeface="Times New Roman" pitchFamily="18" charset="0"/>
                <a:cs typeface="Times New Roman" pitchFamily="18" charset="0"/>
              </a:rPr>
              <a:t>        3. Nắm và kéo fiber unit từ splitter theo hướng mũi tên.</a:t>
            </a:r>
          </a:p>
        </p:txBody>
      </p:sp>
      <p:sp>
        <p:nvSpPr>
          <p:cNvPr id="16999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69994"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BF02F1F-0AEC-49D9-B195-1AE9585FB077}" type="slidenum">
              <a:rPr lang="en-US" altLang="ko-KR" sz="1400" smtClean="0">
                <a:latin typeface="Times New Roman" pitchFamily="18" charset="0"/>
                <a:cs typeface="Times New Roman" pitchFamily="18" charset="0"/>
              </a:rPr>
              <a:pPr eaLnBrk="1" hangingPunct="1"/>
              <a:t>162</a:t>
            </a:fld>
            <a:endParaRPr lang="en-US" altLang="ko-KR" sz="1400" smtClean="0">
              <a:latin typeface="Times New Roman" pitchFamily="18" charset="0"/>
              <a:cs typeface="Times New Roman" pitchFamily="18" charset="0"/>
            </a:endParaRPr>
          </a:p>
        </p:txBody>
      </p:sp>
      <p:sp>
        <p:nvSpPr>
          <p:cNvPr id="171011" name="Text Box 4"/>
          <p:cNvSpPr txBox="1">
            <a:spLocks noChangeArrowheads="1"/>
          </p:cNvSpPr>
          <p:nvPr/>
        </p:nvSpPr>
        <p:spPr bwMode="auto">
          <a:xfrm>
            <a:off x="539750" y="892175"/>
            <a:ext cx="33924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Thực hành cấu thành cảm biến trong suốt</a:t>
            </a:r>
            <a:endParaRPr lang="ko-KR" altLang="en-US" sz="1400" b="1">
              <a:latin typeface="Times New Roman" pitchFamily="18" charset="0"/>
              <a:cs typeface="Times New Roman" pitchFamily="18" charset="0"/>
            </a:endParaRPr>
          </a:p>
        </p:txBody>
      </p:sp>
      <p:sp>
        <p:nvSpPr>
          <p:cNvPr id="362502" name="Text Box 5"/>
          <p:cNvSpPr txBox="1">
            <a:spLocks noChangeArrowheads="1"/>
          </p:cNvSpPr>
          <p:nvPr/>
        </p:nvSpPr>
        <p:spPr bwMode="auto">
          <a:xfrm>
            <a:off x="684213" y="1573213"/>
            <a:ext cx="7056437" cy="255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defRPr/>
            </a:pPr>
            <a:r>
              <a:rPr lang="en-US" altLang="ko-KR" b="1" dirty="0" smtClean="0">
                <a:latin typeface="Times New Roman" panose="02020603050405020304" pitchFamily="18" charset="0"/>
                <a:cs typeface="Times New Roman" panose="02020603050405020304" pitchFamily="18" charset="0"/>
              </a:rPr>
              <a:t>[</a:t>
            </a:r>
            <a:r>
              <a:rPr lang="en-US" altLang="ko-KR" b="1" dirty="0" err="1" smtClean="0">
                <a:latin typeface="Times New Roman" panose="02020603050405020304" pitchFamily="18" charset="0"/>
                <a:cs typeface="Times New Roman" panose="02020603050405020304" pitchFamily="18" charset="0"/>
              </a:rPr>
              <a:t>Quá</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trình</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thực</a:t>
            </a:r>
            <a:r>
              <a:rPr lang="en-US" altLang="ko-KR" b="1" dirty="0" smtClean="0">
                <a:latin typeface="Times New Roman" panose="02020603050405020304" pitchFamily="18" charset="0"/>
                <a:cs typeface="Times New Roman" panose="02020603050405020304" pitchFamily="18" charset="0"/>
              </a:rPr>
              <a:t> </a:t>
            </a:r>
            <a:r>
              <a:rPr lang="en-US" altLang="ko-KR" b="1" dirty="0" err="1" smtClean="0">
                <a:latin typeface="Times New Roman" panose="02020603050405020304" pitchFamily="18" charset="0"/>
                <a:cs typeface="Times New Roman" panose="02020603050405020304" pitchFamily="18" charset="0"/>
              </a:rPr>
              <a:t>hành</a:t>
            </a:r>
            <a:r>
              <a:rPr lang="en-US" altLang="ko-KR" b="1" dirty="0" smtClean="0">
                <a:latin typeface="Times New Roman" panose="02020603050405020304" pitchFamily="18" charset="0"/>
                <a:cs typeface="Times New Roman" panose="02020603050405020304" pitchFamily="18" charset="0"/>
              </a:rPr>
              <a:t>]</a:t>
            </a:r>
          </a:p>
          <a:p>
            <a:pPr eaLnBrk="1" hangingPunct="1">
              <a:defRPr/>
            </a:pPr>
            <a:endParaRPr lang="en-US" altLang="ko-KR" sz="400" b="1" dirty="0" smtClean="0">
              <a:latin typeface="Times New Roman" panose="02020603050405020304" pitchFamily="18" charset="0"/>
              <a:cs typeface="Times New Roman" panose="02020603050405020304" pitchFamily="18" charset="0"/>
            </a:endParaRPr>
          </a:p>
          <a:p>
            <a:pPr eaLnBrk="1" hangingPunct="1">
              <a:buFontTx/>
              <a:buAutoNum type="arabicPeriod"/>
              <a:defRPr/>
            </a:pPr>
            <a:r>
              <a:rPr lang="en-US" altLang="ko-KR" dirty="0" err="1" smtClean="0">
                <a:latin typeface="Times New Roman" panose="02020603050405020304" pitchFamily="18" charset="0"/>
                <a:cs typeface="Times New Roman" panose="02020603050405020304" pitchFamily="18" charset="0"/>
              </a:rPr>
              <a:t>Phân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tích</a:t>
            </a:r>
            <a:r>
              <a:rPr lang="en-US" altLang="ko-KR" dirty="0" smtClean="0">
                <a:latin typeface="Times New Roman" panose="02020603050405020304" pitchFamily="18" charset="0"/>
                <a:cs typeface="Times New Roman" panose="02020603050405020304" pitchFamily="18" charset="0"/>
              </a:rPr>
              <a:t> Spec </a:t>
            </a:r>
            <a:r>
              <a:rPr lang="en-US" altLang="ko-KR" dirty="0" err="1" smtClean="0">
                <a:latin typeface="Times New Roman" panose="02020603050405020304" pitchFamily="18" charset="0"/>
                <a:cs typeface="Times New Roman" panose="02020603050405020304" pitchFamily="18" charset="0"/>
              </a:rPr>
              <a:t>có</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trong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cataloge</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như</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đặc</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điểm</a:t>
            </a:r>
            <a:r>
              <a:rPr lang="en-US" altLang="ko-KR" dirty="0" smtClean="0">
                <a:latin typeface="Times New Roman" panose="02020603050405020304" pitchFamily="18" charset="0"/>
                <a:cs typeface="Times New Roman" panose="02020603050405020304" pitchFamily="18" charset="0"/>
              </a:rPr>
              <a:t>/</a:t>
            </a:r>
            <a:r>
              <a:rPr lang="en-US" altLang="ko-KR" dirty="0" err="1" smtClean="0">
                <a:latin typeface="Times New Roman" panose="02020603050405020304" pitchFamily="18" charset="0"/>
                <a:cs typeface="Times New Roman" panose="02020603050405020304" pitchFamily="18" charset="0"/>
              </a:rPr>
              <a:t>quy</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cách</a:t>
            </a:r>
            <a:r>
              <a:rPr lang="en-US" altLang="ko-KR" dirty="0" smtClean="0">
                <a:latin typeface="Times New Roman" panose="02020603050405020304" pitchFamily="18" charset="0"/>
                <a:cs typeface="Times New Roman" panose="02020603050405020304" pitchFamily="18" charset="0"/>
              </a:rPr>
              <a:t>…</a:t>
            </a:r>
            <a:r>
              <a:rPr lang="en-US" altLang="ko-KR" dirty="0" err="1" smtClean="0">
                <a:latin typeface="Times New Roman" panose="02020603050405020304" pitchFamily="18" charset="0"/>
                <a:cs typeface="Times New Roman" panose="02020603050405020304" pitchFamily="18" charset="0"/>
              </a:rPr>
              <a:t>của</a:t>
            </a:r>
            <a:r>
              <a:rPr lang="en-US" altLang="ko-KR" dirty="0" smtClean="0">
                <a:latin typeface="Times New Roman" panose="02020603050405020304" pitchFamily="18" charset="0"/>
                <a:cs typeface="Times New Roman" panose="02020603050405020304" pitchFamily="18" charset="0"/>
              </a:rPr>
              <a:t> E3Z-T61Photoelectric Switch.</a:t>
            </a:r>
          </a:p>
          <a:p>
            <a:pPr eaLnBrk="1" hangingPunct="1">
              <a:buFontTx/>
              <a:buAutoNum type="arabicPeriod"/>
              <a:defRPr/>
            </a:pPr>
            <a:r>
              <a:rPr lang="en-US" altLang="ko-KR" dirty="0" err="1" smtClean="0">
                <a:latin typeface="Times New Roman" panose="02020603050405020304" pitchFamily="18" charset="0"/>
                <a:cs typeface="Times New Roman" panose="02020603050405020304" pitchFamily="18" charset="0"/>
              </a:rPr>
              <a:t>Phân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tích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đặc</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điểm</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hoạt</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động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mạch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đầu</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ra</a:t>
            </a:r>
            <a:r>
              <a:rPr lang="en-US" altLang="ko-KR" dirty="0" smtClean="0">
                <a:latin typeface="Times New Roman" panose="02020603050405020304" pitchFamily="18" charset="0"/>
                <a:cs typeface="Times New Roman" panose="02020603050405020304" pitchFamily="18" charset="0"/>
              </a:rPr>
              <a:t> ở </a:t>
            </a:r>
            <a:r>
              <a:rPr lang="en-US" altLang="ko-KR" dirty="0" err="1" smtClean="0">
                <a:latin typeface="Times New Roman" panose="02020603050405020304" pitchFamily="18" charset="0"/>
                <a:cs typeface="Times New Roman" panose="02020603050405020304" pitchFamily="18" charset="0"/>
              </a:rPr>
              <a:t>cataloge</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và</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để</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điện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áp</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nguông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là</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Consol</a:t>
            </a:r>
            <a:r>
              <a:rPr lang="en-US" altLang="ko-KR" dirty="0" smtClean="0">
                <a:latin typeface="Times New Roman" panose="02020603050405020304" pitchFamily="18" charset="0"/>
                <a:cs typeface="Times New Roman" panose="02020603050405020304" pitchFamily="18" charset="0"/>
              </a:rPr>
              <a:t> DC12[V] </a:t>
            </a:r>
            <a:r>
              <a:rPr lang="en-US" altLang="ko-KR" dirty="0" err="1" smtClean="0">
                <a:latin typeface="Times New Roman" panose="02020603050405020304" pitchFamily="18" charset="0"/>
                <a:cs typeface="Times New Roman" panose="02020603050405020304" pitchFamily="18" charset="0"/>
              </a:rPr>
              <a:t>sau</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đó</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cấu</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thành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mạch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cảm</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biến</a:t>
            </a:r>
            <a:r>
              <a:rPr lang="ko-KR" altLang="en-US" dirty="0" smtClean="0">
                <a:latin typeface="Times New Roman" panose="02020603050405020304" pitchFamily="18" charset="0"/>
                <a:cs typeface="Times New Roman" panose="02020603050405020304" pitchFamily="18" charset="0"/>
              </a:rPr>
              <a:t> </a:t>
            </a:r>
            <a:r>
              <a:rPr lang="en-US" altLang="ko-KR" dirty="0" smtClean="0">
                <a:latin typeface="Times New Roman" panose="02020603050405020304" pitchFamily="18" charset="0"/>
                <a:cs typeface="Times New Roman" panose="02020603050405020304" pitchFamily="18" charset="0"/>
              </a:rPr>
              <a:t>Sensor. </a:t>
            </a:r>
            <a:r>
              <a:rPr lang="en-US" altLang="ko-KR" dirty="0" err="1" smtClean="0">
                <a:latin typeface="Times New Roman" panose="02020603050405020304" pitchFamily="18" charset="0"/>
                <a:cs typeface="Times New Roman" panose="02020603050405020304" pitchFamily="18" charset="0"/>
              </a:rPr>
              <a:t>Lúc</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này</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tải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sử</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dụng</a:t>
            </a:r>
            <a:r>
              <a:rPr lang="en-US" altLang="ko-KR" dirty="0" smtClean="0">
                <a:latin typeface="Times New Roman" panose="02020603050405020304" pitchFamily="18" charset="0"/>
                <a:cs typeface="Times New Roman" panose="02020603050405020304" pitchFamily="18" charset="0"/>
              </a:rPr>
              <a:t> Buzzer </a:t>
            </a:r>
            <a:r>
              <a:rPr lang="en-US" altLang="ko-KR" dirty="0" err="1" smtClean="0">
                <a:latin typeface="Times New Roman" panose="02020603050405020304" pitchFamily="18" charset="0"/>
                <a:cs typeface="Times New Roman" panose="02020603050405020304" pitchFamily="18" charset="0"/>
              </a:rPr>
              <a:t>chuyên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dùng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cho</a:t>
            </a:r>
            <a:r>
              <a:rPr lang="ko-KR" altLang="en-US" dirty="0" smtClean="0">
                <a:latin typeface="Times New Roman" panose="02020603050405020304" pitchFamily="18" charset="0"/>
                <a:cs typeface="Times New Roman" panose="02020603050405020304" pitchFamily="18" charset="0"/>
              </a:rPr>
              <a:t> </a:t>
            </a:r>
            <a:r>
              <a:rPr lang="en-US" altLang="ko-KR" dirty="0" smtClean="0">
                <a:latin typeface="Times New Roman" panose="02020603050405020304" pitchFamily="18" charset="0"/>
                <a:cs typeface="Times New Roman" panose="02020603050405020304" pitchFamily="18" charset="0"/>
              </a:rPr>
              <a:t>DC12[V].</a:t>
            </a:r>
          </a:p>
          <a:p>
            <a:pPr eaLnBrk="1" hangingPunct="1">
              <a:buFontTx/>
              <a:buAutoNum type="arabicPeriod"/>
              <a:defRPr/>
            </a:pPr>
            <a:r>
              <a:rPr lang="en-US" altLang="ko-KR" dirty="0" err="1" smtClean="0">
                <a:latin typeface="Times New Roman" panose="02020603050405020304" pitchFamily="18" charset="0"/>
                <a:cs typeface="Times New Roman" panose="02020603050405020304" pitchFamily="18" charset="0"/>
              </a:rPr>
              <a:t>Để</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khoảng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cách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phân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tích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với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độ</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rộng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của</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vai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trong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vòng</a:t>
            </a:r>
            <a:r>
              <a:rPr lang="en-US" altLang="ko-KR" dirty="0">
                <a:latin typeface="Times New Roman" panose="02020603050405020304" pitchFamily="18" charset="0"/>
                <a:cs typeface="Times New Roman" panose="02020603050405020304" pitchFamily="18" charset="0"/>
              </a:rPr>
              <a:t> </a:t>
            </a:r>
            <a:r>
              <a:rPr lang="en-US" altLang="ko-KR" dirty="0" smtClean="0">
                <a:latin typeface="Times New Roman" panose="02020603050405020304" pitchFamily="18" charset="0"/>
                <a:cs typeface="Times New Roman" panose="02020603050405020304" pitchFamily="18" charset="0"/>
              </a:rPr>
              <a:t>300mm </a:t>
            </a:r>
            <a:r>
              <a:rPr lang="en-US" altLang="ko-KR" dirty="0" err="1" smtClean="0">
                <a:latin typeface="Times New Roman" panose="02020603050405020304" pitchFamily="18" charset="0"/>
                <a:cs typeface="Times New Roman" panose="02020603050405020304" pitchFamily="18" charset="0"/>
              </a:rPr>
              <a:t>rồi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kiểm</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tra</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khoảng</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cách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trễ</a:t>
            </a:r>
            <a:r>
              <a:rPr lang="en-US" altLang="ko-KR" dirty="0" smtClean="0">
                <a:latin typeface="Times New Roman" panose="02020603050405020304" pitchFamily="18" charset="0"/>
                <a:cs typeface="Times New Roman" panose="02020603050405020304" pitchFamily="18" charset="0"/>
              </a:rPr>
              <a:t>.</a:t>
            </a:r>
          </a:p>
          <a:p>
            <a:pPr eaLnBrk="1" hangingPunct="1">
              <a:buFontTx/>
              <a:buAutoNum type="arabicPeriod"/>
              <a:defRPr/>
            </a:pPr>
            <a:r>
              <a:rPr lang="en-US" altLang="ko-KR" dirty="0" err="1" smtClean="0">
                <a:latin typeface="Times New Roman" panose="02020603050405020304" pitchFamily="18" charset="0"/>
                <a:cs typeface="Times New Roman" panose="02020603050405020304" pitchFamily="18" charset="0"/>
              </a:rPr>
              <a:t>Khi</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thiết</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lập</a:t>
            </a:r>
            <a:r>
              <a:rPr lang="en-US" altLang="ko-KR" dirty="0" smtClean="0">
                <a:latin typeface="Times New Roman" panose="02020603050405020304" pitchFamily="18" charset="0"/>
                <a:cs typeface="Times New Roman" panose="02020603050405020304" pitchFamily="18" charset="0"/>
              </a:rPr>
              <a:t> D/On, L/On, </a:t>
            </a:r>
            <a:r>
              <a:rPr lang="en-US" altLang="ko-KR" dirty="0" err="1" smtClean="0">
                <a:latin typeface="Times New Roman" panose="02020603050405020304" pitchFamily="18" charset="0"/>
                <a:cs typeface="Times New Roman" panose="02020603050405020304" pitchFamily="18" charset="0"/>
              </a:rPr>
              <a:t>phân</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tích</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đặc</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điểm</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hoạt</a:t>
            </a:r>
            <a:r>
              <a:rPr lang="en-US" altLang="ko-KR" dirty="0" smtClean="0">
                <a:latin typeface="Times New Roman" panose="02020603050405020304" pitchFamily="18" charset="0"/>
                <a:cs typeface="Times New Roman" panose="02020603050405020304" pitchFamily="18" charset="0"/>
              </a:rPr>
              <a:t> </a:t>
            </a:r>
            <a:r>
              <a:rPr lang="en-US" altLang="ko-KR" dirty="0" err="1" smtClean="0">
                <a:latin typeface="Times New Roman" panose="02020603050405020304" pitchFamily="18" charset="0"/>
                <a:cs typeface="Times New Roman" panose="02020603050405020304" pitchFamily="18" charset="0"/>
              </a:rPr>
              <a:t>động</a:t>
            </a:r>
            <a:r>
              <a:rPr lang="en-US" altLang="ko-KR" dirty="0" smtClean="0">
                <a:latin typeface="Times New Roman" panose="02020603050405020304" pitchFamily="18" charset="0"/>
                <a:cs typeface="Times New Roman" panose="02020603050405020304" pitchFamily="18" charset="0"/>
              </a:rPr>
              <a:t>.</a:t>
            </a: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eaLnBrk="1" hangingPunct="1">
              <a:buFontTx/>
              <a:buAutoNum type="arabicPeriod"/>
              <a:defRPr/>
            </a:pPr>
            <a:endParaRPr lang="en-US" altLang="ko-KR" dirty="0" smtClean="0">
              <a:latin typeface="Times New Roman" panose="02020603050405020304" pitchFamily="18" charset="0"/>
              <a:cs typeface="Times New Roman" panose="02020603050405020304" pitchFamily="18" charset="0"/>
            </a:endParaRPr>
          </a:p>
          <a:p>
            <a:pPr marL="0" indent="0" eaLnBrk="1" hangingPunct="1">
              <a:defRPr/>
            </a:pPr>
            <a:endParaRPr lang="en-US" altLang="ko-KR" dirty="0" smtClean="0">
              <a:latin typeface="Times New Roman" panose="02020603050405020304" pitchFamily="18" charset="0"/>
              <a:cs typeface="Times New Roman" panose="02020603050405020304" pitchFamily="18" charset="0"/>
            </a:endParaRPr>
          </a:p>
        </p:txBody>
      </p:sp>
      <p:graphicFrame>
        <p:nvGraphicFramePr>
          <p:cNvPr id="3326982" name="Group 6"/>
          <p:cNvGraphicFramePr>
            <a:graphicFrameLocks noGrp="1"/>
          </p:cNvGraphicFramePr>
          <p:nvPr/>
        </p:nvGraphicFramePr>
        <p:xfrm>
          <a:off x="1258888" y="2997200"/>
          <a:ext cx="6096000" cy="1006475"/>
        </p:xfrm>
        <a:graphic>
          <a:graphicData uri="http://schemas.openxmlformats.org/drawingml/2006/table">
            <a:tbl>
              <a:tblPr/>
              <a:tblGrid>
                <a:gridCol w="1524000"/>
                <a:gridCol w="1524000"/>
                <a:gridCol w="1777280"/>
                <a:gridCol w="1270720"/>
              </a:tblGrid>
              <a:tr h="457335">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Sensor OUT [V]</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Buzzer</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7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D/On</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7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L/On</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62" marB="457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1036"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1037"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939836F-5A36-4639-9D5C-D4DB30213401}" type="slidenum">
              <a:rPr lang="en-US" altLang="ko-KR" sz="1400" smtClean="0"/>
              <a:pPr eaLnBrk="1" hangingPunct="1"/>
              <a:t>163</a:t>
            </a:fld>
            <a:endParaRPr lang="en-US" altLang="ko-KR" sz="1400" smtClean="0"/>
          </a:p>
        </p:txBody>
      </p:sp>
      <p:pic>
        <p:nvPicPr>
          <p:cNvPr id="1720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549275"/>
            <a:ext cx="3995738" cy="593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203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4688" y="476250"/>
            <a:ext cx="4395787" cy="600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2037"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2038" name="Text Box 5"/>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C8A35A8-AB24-4BBC-A644-6B953F2890D5}" type="slidenum">
              <a:rPr lang="en-US" altLang="ko-KR" sz="1400" smtClean="0"/>
              <a:pPr eaLnBrk="1" hangingPunct="1"/>
              <a:t>164</a:t>
            </a:fld>
            <a:endParaRPr lang="en-US" altLang="ko-KR" sz="1400" smtClean="0"/>
          </a:p>
        </p:txBody>
      </p:sp>
      <p:pic>
        <p:nvPicPr>
          <p:cNvPr id="1730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76250"/>
            <a:ext cx="3313112" cy="597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306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2563" y="476250"/>
            <a:ext cx="4868862" cy="599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3061"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3062"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95E9F91-F1C0-4F9E-8882-7CF6F1CCD340}" type="slidenum">
              <a:rPr lang="en-US" altLang="ko-KR" sz="1400" smtClean="0">
                <a:latin typeface="Times New Roman" pitchFamily="18" charset="0"/>
                <a:cs typeface="Times New Roman" pitchFamily="18" charset="0"/>
              </a:rPr>
              <a:pPr eaLnBrk="1" hangingPunct="1"/>
              <a:t>165</a:t>
            </a:fld>
            <a:endParaRPr lang="en-US" altLang="ko-KR" sz="1400" smtClean="0">
              <a:latin typeface="Times New Roman" pitchFamily="18" charset="0"/>
              <a:cs typeface="Times New Roman" pitchFamily="18" charset="0"/>
            </a:endParaRPr>
          </a:p>
        </p:txBody>
      </p:sp>
      <p:sp>
        <p:nvSpPr>
          <p:cNvPr id="174083" name="Text Box 4"/>
          <p:cNvSpPr txBox="1">
            <a:spLocks noChangeArrowheads="1"/>
          </p:cNvSpPr>
          <p:nvPr/>
        </p:nvSpPr>
        <p:spPr bwMode="auto">
          <a:xfrm>
            <a:off x="539750" y="892175"/>
            <a:ext cx="41132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 Thực hành cấu thành cảm biến phản chiếu hồi quy</a:t>
            </a:r>
            <a:endParaRPr lang="ko-KR" altLang="en-US" sz="1400" b="1">
              <a:latin typeface="Times New Roman" pitchFamily="18" charset="0"/>
              <a:cs typeface="Times New Roman" pitchFamily="18" charset="0"/>
            </a:endParaRPr>
          </a:p>
        </p:txBody>
      </p:sp>
      <p:sp>
        <p:nvSpPr>
          <p:cNvPr id="174084" name="Text Box 5"/>
          <p:cNvSpPr txBox="1">
            <a:spLocks noChangeArrowheads="1"/>
          </p:cNvSpPr>
          <p:nvPr/>
        </p:nvSpPr>
        <p:spPr bwMode="auto">
          <a:xfrm>
            <a:off x="684213" y="1573213"/>
            <a:ext cx="7056437" cy="255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[Quá trình thực hành</a:t>
            </a:r>
          </a:p>
          <a:p>
            <a:pPr eaLnBrk="1" hangingPunct="1"/>
            <a:endParaRPr lang="en-US" altLang="ko-KR" sz="400" b="1">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Phân tích Spec có trong cataloge như đặc điểm/quy cách…của E3S-R11 Photoelectric Switch.</a:t>
            </a:r>
          </a:p>
          <a:p>
            <a:pPr eaLnBrk="1" hangingPunct="1">
              <a:buFontTx/>
              <a:buAutoNum type="arabicPeriod"/>
            </a:pPr>
            <a:r>
              <a:rPr lang="en-US" altLang="ko-KR">
                <a:latin typeface="Times New Roman" pitchFamily="18" charset="0"/>
                <a:cs typeface="Times New Roman" pitchFamily="18" charset="0"/>
              </a:rPr>
              <a:t>Phân tích đặc điểm hoạt động mạch đầu ra ở cataloge và để điện áp nguông là Consol DC12[V] sau đó cấu thành mạch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Sensor. Lúc này tải sử dụng Buzzer chuyên dùng cho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DC12[V].</a:t>
            </a:r>
          </a:p>
          <a:p>
            <a:pPr eaLnBrk="1" hangingPunct="1">
              <a:buFontTx/>
              <a:buAutoNum type="arabicPeriod"/>
            </a:pPr>
            <a:r>
              <a:rPr lang="en-US" altLang="ko-KR">
                <a:latin typeface="Times New Roman" pitchFamily="18" charset="0"/>
                <a:cs typeface="Times New Roman" pitchFamily="18" charset="0"/>
              </a:rPr>
              <a:t>Để khoảng cách phân tích với độ rộng của vai trong vòng 300mm rồi kiểm tra khoảng cách trễ.</a:t>
            </a:r>
          </a:p>
          <a:p>
            <a:pPr eaLnBrk="1" hangingPunct="1">
              <a:buFontTx/>
              <a:buAutoNum type="arabicPeriod"/>
            </a:pPr>
            <a:r>
              <a:rPr lang="en-US" altLang="ko-KR">
                <a:latin typeface="Times New Roman" pitchFamily="18" charset="0"/>
                <a:cs typeface="Times New Roman" pitchFamily="18" charset="0"/>
              </a:rPr>
              <a:t>Khi thiết lập D/On, L/On, phân tích đặc điểm hoạt động.</a:t>
            </a: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p:txBody>
      </p:sp>
      <p:graphicFrame>
        <p:nvGraphicFramePr>
          <p:cNvPr id="3333126" name="Group 6"/>
          <p:cNvGraphicFramePr>
            <a:graphicFrameLocks noGrp="1"/>
          </p:cNvGraphicFramePr>
          <p:nvPr/>
        </p:nvGraphicFramePr>
        <p:xfrm>
          <a:off x="1258888" y="2997200"/>
          <a:ext cx="6096000" cy="827088"/>
        </p:xfrm>
        <a:graphic>
          <a:graphicData uri="http://schemas.openxmlformats.org/drawingml/2006/table">
            <a:tbl>
              <a:tblPr/>
              <a:tblGrid>
                <a:gridCol w="1524000"/>
                <a:gridCol w="1524000"/>
                <a:gridCol w="1705272"/>
                <a:gridCol w="1342728"/>
              </a:tblGrid>
              <a:tr h="27802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Sensor OUT [V]</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Buzzer</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D/On</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L/On</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4108"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4109"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2E91295-08CC-4466-9D4A-BC3DEBB25BC4}" type="slidenum">
              <a:rPr lang="en-US" altLang="ko-KR" sz="1400" smtClean="0"/>
              <a:pPr eaLnBrk="1" hangingPunct="1"/>
              <a:t>166</a:t>
            </a:fld>
            <a:endParaRPr lang="en-US" altLang="ko-KR" sz="1400" smtClean="0"/>
          </a:p>
        </p:txBody>
      </p:sp>
      <p:pic>
        <p:nvPicPr>
          <p:cNvPr id="175107" name="Picture 2" descr="E3S-R_all_1"/>
          <p:cNvPicPr>
            <a:picLocks noChangeAspect="1" noChangeArrowheads="1"/>
          </p:cNvPicPr>
          <p:nvPr/>
        </p:nvPicPr>
        <p:blipFill>
          <a:blip r:embed="rId2">
            <a:extLst>
              <a:ext uri="{28A0092B-C50C-407E-A947-70E740481C1C}">
                <a14:useLocalDpi xmlns:a14="http://schemas.microsoft.com/office/drawing/2010/main" val="0"/>
              </a:ext>
            </a:extLst>
          </a:blip>
          <a:srcRect b="6396"/>
          <a:stretch>
            <a:fillRect/>
          </a:stretch>
        </p:blipFill>
        <p:spPr bwMode="auto">
          <a:xfrm>
            <a:off x="304800" y="620713"/>
            <a:ext cx="8610600" cy="569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08"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5109"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DA137F3-5F64-4DD5-9A7D-A69B84EFE3A3}" type="slidenum">
              <a:rPr lang="en-US" altLang="ko-KR" sz="1400" smtClean="0"/>
              <a:pPr eaLnBrk="1" hangingPunct="1"/>
              <a:t>167</a:t>
            </a:fld>
            <a:endParaRPr lang="en-US" altLang="ko-KR" sz="1400" smtClean="0"/>
          </a:p>
        </p:txBody>
      </p:sp>
      <p:pic>
        <p:nvPicPr>
          <p:cNvPr id="176131" name="Picture 2" descr="E3S-R_all_2"/>
          <p:cNvPicPr>
            <a:picLocks noChangeAspect="1" noChangeArrowheads="1"/>
          </p:cNvPicPr>
          <p:nvPr/>
        </p:nvPicPr>
        <p:blipFill>
          <a:blip r:embed="rId2">
            <a:extLst>
              <a:ext uri="{28A0092B-C50C-407E-A947-70E740481C1C}">
                <a14:useLocalDpi xmlns:a14="http://schemas.microsoft.com/office/drawing/2010/main" val="0"/>
              </a:ext>
            </a:extLst>
          </a:blip>
          <a:srcRect b="7571"/>
          <a:stretch>
            <a:fillRect/>
          </a:stretch>
        </p:blipFill>
        <p:spPr bwMode="auto">
          <a:xfrm>
            <a:off x="304800" y="620713"/>
            <a:ext cx="8610600"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2"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6133"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24CA89C-E863-478B-9533-C909B10D73B1}" type="slidenum">
              <a:rPr lang="en-US" altLang="ko-KR" sz="1400" smtClean="0"/>
              <a:pPr eaLnBrk="1" hangingPunct="1"/>
              <a:t>168</a:t>
            </a:fld>
            <a:endParaRPr lang="en-US" altLang="ko-KR" sz="1400" smtClean="0"/>
          </a:p>
        </p:txBody>
      </p:sp>
      <p:pic>
        <p:nvPicPr>
          <p:cNvPr id="177155" name="Picture 2" descr="E3S-R_all_3"/>
          <p:cNvPicPr>
            <a:picLocks noChangeAspect="1" noChangeArrowheads="1"/>
          </p:cNvPicPr>
          <p:nvPr/>
        </p:nvPicPr>
        <p:blipFill>
          <a:blip r:embed="rId2">
            <a:extLst>
              <a:ext uri="{28A0092B-C50C-407E-A947-70E740481C1C}">
                <a14:useLocalDpi xmlns:a14="http://schemas.microsoft.com/office/drawing/2010/main" val="0"/>
              </a:ext>
            </a:extLst>
          </a:blip>
          <a:srcRect t="7285"/>
          <a:stretch>
            <a:fillRect/>
          </a:stretch>
        </p:blipFill>
        <p:spPr bwMode="auto">
          <a:xfrm>
            <a:off x="228600" y="692150"/>
            <a:ext cx="8610600"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6"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7157"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3D1635F1-9665-49CB-9F19-B6AF1601E62A}" type="slidenum">
              <a:rPr lang="en-US" altLang="ko-KR" sz="1400" smtClean="0">
                <a:latin typeface="Times New Roman" pitchFamily="18" charset="0"/>
                <a:cs typeface="Times New Roman" pitchFamily="18" charset="0"/>
              </a:rPr>
              <a:pPr eaLnBrk="1" hangingPunct="1"/>
              <a:t>169</a:t>
            </a:fld>
            <a:endParaRPr lang="en-US" altLang="ko-KR" sz="1400" smtClean="0">
              <a:latin typeface="Times New Roman" pitchFamily="18" charset="0"/>
              <a:cs typeface="Times New Roman" pitchFamily="18" charset="0"/>
            </a:endParaRPr>
          </a:p>
        </p:txBody>
      </p:sp>
      <p:sp>
        <p:nvSpPr>
          <p:cNvPr id="178179" name="Text Box 4"/>
          <p:cNvSpPr txBox="1">
            <a:spLocks noChangeArrowheads="1"/>
          </p:cNvSpPr>
          <p:nvPr/>
        </p:nvSpPr>
        <p:spPr bwMode="auto">
          <a:xfrm>
            <a:off x="539750" y="892175"/>
            <a:ext cx="3594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Thực hành cấu thành cảm biến Digital Fiber</a:t>
            </a:r>
            <a:endParaRPr lang="ko-KR" altLang="en-US" sz="1400" b="1">
              <a:latin typeface="Times New Roman" pitchFamily="18" charset="0"/>
              <a:cs typeface="Times New Roman" pitchFamily="18" charset="0"/>
            </a:endParaRPr>
          </a:p>
        </p:txBody>
      </p:sp>
      <p:sp>
        <p:nvSpPr>
          <p:cNvPr id="178180" name="Text Box 5"/>
          <p:cNvSpPr txBox="1">
            <a:spLocks noChangeArrowheads="1"/>
          </p:cNvSpPr>
          <p:nvPr/>
        </p:nvSpPr>
        <p:spPr bwMode="auto">
          <a:xfrm>
            <a:off x="684213" y="1573213"/>
            <a:ext cx="7056437" cy="255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[Quá trình thực hành]</a:t>
            </a:r>
          </a:p>
          <a:p>
            <a:pPr eaLnBrk="1" hangingPunct="1"/>
            <a:endParaRPr lang="en-US" altLang="ko-KR" sz="400" b="1">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Phân tích Spec có trong cataloge như đặc điểm/quy cách…của cảm biến Digital Fiber E3X-DA11-N.</a:t>
            </a:r>
          </a:p>
          <a:p>
            <a:pPr eaLnBrk="1" hangingPunct="1">
              <a:buFontTx/>
              <a:buAutoNum type="arabicPeriod"/>
            </a:pPr>
            <a:r>
              <a:rPr lang="en-US" altLang="ko-KR">
                <a:latin typeface="Times New Roman" pitchFamily="18" charset="0"/>
                <a:cs typeface="Times New Roman" pitchFamily="18" charset="0"/>
              </a:rPr>
              <a:t>Phân tích đặc điểm hoạt động mạch đầu ra ở cataloge và để điện áp nguông là Consol DC12[V] sau đó cấu thành mạch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Sensor. Lúc này tải sử dụng Buzzer chuyên dùng cho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DC12[V].</a:t>
            </a:r>
          </a:p>
          <a:p>
            <a:pPr eaLnBrk="1" hangingPunct="1">
              <a:buFontTx/>
              <a:buAutoNum type="arabicPeriod"/>
            </a:pPr>
            <a:r>
              <a:rPr lang="en-US" altLang="ko-KR">
                <a:latin typeface="Times New Roman" pitchFamily="18" charset="0"/>
                <a:cs typeface="Times New Roman" pitchFamily="18" charset="0"/>
              </a:rPr>
              <a:t>Để khoảng cách phân tích với độ rộng của vai trong vòng 300mm rồi kiểm tra khoảng cách trễ.</a:t>
            </a:r>
          </a:p>
          <a:p>
            <a:pPr eaLnBrk="1" hangingPunct="1">
              <a:buFontTx/>
              <a:buAutoNum type="arabicPeriod"/>
            </a:pPr>
            <a:r>
              <a:rPr lang="en-US" altLang="ko-KR">
                <a:latin typeface="Times New Roman" pitchFamily="18" charset="0"/>
                <a:cs typeface="Times New Roman" pitchFamily="18" charset="0"/>
              </a:rPr>
              <a:t>Khi thiết lập D/On, L/On, phân tích đặc điểm hoạt động.</a:t>
            </a: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a:p>
            <a:pPr eaLnBrk="1" hangingPunct="1">
              <a:buFontTx/>
              <a:buAutoNum type="arabicPeriod"/>
            </a:pPr>
            <a:endParaRPr lang="en-US" altLang="ko-KR">
              <a:latin typeface="Times New Roman" pitchFamily="18" charset="0"/>
              <a:cs typeface="Times New Roman" pitchFamily="18" charset="0"/>
            </a:endParaRPr>
          </a:p>
        </p:txBody>
      </p:sp>
      <p:graphicFrame>
        <p:nvGraphicFramePr>
          <p:cNvPr id="3338246" name="Group 6"/>
          <p:cNvGraphicFramePr>
            <a:graphicFrameLocks noGrp="1"/>
          </p:cNvGraphicFramePr>
          <p:nvPr/>
        </p:nvGraphicFramePr>
        <p:xfrm>
          <a:off x="1258888" y="2997200"/>
          <a:ext cx="6096000" cy="827088"/>
        </p:xfrm>
        <a:graphic>
          <a:graphicData uri="http://schemas.openxmlformats.org/drawingml/2006/table">
            <a:tbl>
              <a:tblPr/>
              <a:tblGrid>
                <a:gridCol w="1524000"/>
                <a:gridCol w="1524000"/>
                <a:gridCol w="1633264"/>
                <a:gridCol w="1414736"/>
              </a:tblGrid>
              <a:tr h="27802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Sensor OUT [V]</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Buzzer</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D/On</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L/On</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Rọi</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Chắn</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quang</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8204"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78205" name="Text Box 5"/>
          <p:cNvSpPr txBox="1">
            <a:spLocks noChangeArrowheads="1"/>
          </p:cNvSpPr>
          <p:nvPr/>
        </p:nvSpPr>
        <p:spPr bwMode="auto">
          <a:xfrm>
            <a:off x="22225" y="38100"/>
            <a:ext cx="31432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 3. Linh kiện điện tử chủ động</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FADFF29-0EC9-48BB-97BF-26708F411495}" type="slidenum">
              <a:rPr lang="en-US" altLang="ko-KR" sz="1400" smtClean="0"/>
              <a:pPr eaLnBrk="1" hangingPunct="1"/>
              <a:t>170</a:t>
            </a:fld>
            <a:endParaRPr lang="en-US" altLang="ko-KR" sz="1400" smtClean="0"/>
          </a:p>
        </p:txBody>
      </p:sp>
      <p:pic>
        <p:nvPicPr>
          <p:cNvPr id="179203" name="Picture 2" descr="E3X-DA-N_01"/>
          <p:cNvPicPr>
            <a:picLocks noChangeAspect="1" noChangeArrowheads="1"/>
          </p:cNvPicPr>
          <p:nvPr/>
        </p:nvPicPr>
        <p:blipFill>
          <a:blip r:embed="rId2">
            <a:extLst>
              <a:ext uri="{28A0092B-C50C-407E-A947-70E740481C1C}">
                <a14:useLocalDpi xmlns:a14="http://schemas.microsoft.com/office/drawing/2010/main" val="0"/>
              </a:ext>
            </a:extLst>
          </a:blip>
          <a:srcRect b="5544"/>
          <a:stretch>
            <a:fillRect/>
          </a:stretch>
        </p:blipFill>
        <p:spPr bwMode="auto">
          <a:xfrm>
            <a:off x="228600" y="620713"/>
            <a:ext cx="8610600" cy="576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4"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79205"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1E05299C-8340-4077-B2AA-D0DD2ED19DBF}" type="slidenum">
              <a:rPr lang="en-US" altLang="ko-KR" sz="1400" smtClean="0"/>
              <a:pPr eaLnBrk="1" hangingPunct="1"/>
              <a:t>171</a:t>
            </a:fld>
            <a:endParaRPr lang="en-US" altLang="ko-KR" sz="1400" smtClean="0"/>
          </a:p>
        </p:txBody>
      </p:sp>
      <p:pic>
        <p:nvPicPr>
          <p:cNvPr id="180227" name="Picture 2" descr="E3X-DA-N_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79425"/>
            <a:ext cx="8534400"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8"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0229"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C92DB58-DBAE-4DF4-B1CB-D50E0824C13B}" type="slidenum">
              <a:rPr lang="en-US" altLang="ko-KR" sz="1400" smtClean="0"/>
              <a:pPr eaLnBrk="1" hangingPunct="1"/>
              <a:t>172</a:t>
            </a:fld>
            <a:endParaRPr lang="en-US" altLang="ko-KR" sz="1400" smtClean="0"/>
          </a:p>
        </p:txBody>
      </p:sp>
      <p:pic>
        <p:nvPicPr>
          <p:cNvPr id="181251" name="Picture 2" descr="E3X-DA-N_03"/>
          <p:cNvPicPr>
            <a:picLocks noChangeAspect="1" noChangeArrowheads="1"/>
          </p:cNvPicPr>
          <p:nvPr/>
        </p:nvPicPr>
        <p:blipFill>
          <a:blip r:embed="rId2">
            <a:extLst>
              <a:ext uri="{28A0092B-C50C-407E-A947-70E740481C1C}">
                <a14:useLocalDpi xmlns:a14="http://schemas.microsoft.com/office/drawing/2010/main" val="0"/>
              </a:ext>
            </a:extLst>
          </a:blip>
          <a:srcRect b="7886"/>
          <a:stretch>
            <a:fillRect/>
          </a:stretch>
        </p:blipFill>
        <p:spPr bwMode="auto">
          <a:xfrm>
            <a:off x="228600" y="547688"/>
            <a:ext cx="8610600" cy="56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52"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1253"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031FD93-57FE-4ADD-B42C-BC026E984F03}" type="slidenum">
              <a:rPr lang="en-US" altLang="ko-KR" sz="1400" smtClean="0"/>
              <a:pPr eaLnBrk="1" hangingPunct="1"/>
              <a:t>173</a:t>
            </a:fld>
            <a:endParaRPr lang="en-US" altLang="ko-KR" sz="1400" smtClean="0"/>
          </a:p>
        </p:txBody>
      </p:sp>
      <p:pic>
        <p:nvPicPr>
          <p:cNvPr id="182275" name="Picture 2" descr="E3X-DA-N_04"/>
          <p:cNvPicPr>
            <a:picLocks noChangeAspect="1" noChangeArrowheads="1"/>
          </p:cNvPicPr>
          <p:nvPr/>
        </p:nvPicPr>
        <p:blipFill>
          <a:blip r:embed="rId2">
            <a:extLst>
              <a:ext uri="{28A0092B-C50C-407E-A947-70E740481C1C}">
                <a14:useLocalDpi xmlns:a14="http://schemas.microsoft.com/office/drawing/2010/main" val="0"/>
              </a:ext>
            </a:extLst>
          </a:blip>
          <a:srcRect b="5908"/>
          <a:stretch>
            <a:fillRect/>
          </a:stretch>
        </p:blipFill>
        <p:spPr bwMode="auto">
          <a:xfrm>
            <a:off x="228600" y="498475"/>
            <a:ext cx="8610600" cy="573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6"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2277"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B66C5A5-C1C3-4213-BAF0-A7C9ECA1ADE4}" type="slidenum">
              <a:rPr lang="en-US" altLang="ko-KR" sz="1400" smtClean="0"/>
              <a:pPr eaLnBrk="1" hangingPunct="1"/>
              <a:t>174</a:t>
            </a:fld>
            <a:endParaRPr lang="en-US" altLang="ko-KR" sz="1400" smtClean="0"/>
          </a:p>
        </p:txBody>
      </p:sp>
      <p:pic>
        <p:nvPicPr>
          <p:cNvPr id="183299" name="Picture 2" descr="E3X-DA-N_05"/>
          <p:cNvPicPr>
            <a:picLocks noChangeAspect="1" noChangeArrowheads="1"/>
          </p:cNvPicPr>
          <p:nvPr/>
        </p:nvPicPr>
        <p:blipFill>
          <a:blip r:embed="rId2">
            <a:extLst>
              <a:ext uri="{28A0092B-C50C-407E-A947-70E740481C1C}">
                <a14:useLocalDpi xmlns:a14="http://schemas.microsoft.com/office/drawing/2010/main" val="0"/>
              </a:ext>
            </a:extLst>
          </a:blip>
          <a:srcRect t="7080"/>
          <a:stretch>
            <a:fillRect/>
          </a:stretch>
        </p:blipFill>
        <p:spPr bwMode="auto">
          <a:xfrm>
            <a:off x="228600" y="641350"/>
            <a:ext cx="8610600"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0"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3301"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6680DCA1-FD1C-4BC1-A6D6-5B8EB94CEC4F}" type="slidenum">
              <a:rPr lang="en-US" altLang="ko-KR" sz="1400" smtClean="0"/>
              <a:pPr eaLnBrk="1" hangingPunct="1"/>
              <a:t>175</a:t>
            </a:fld>
            <a:endParaRPr lang="en-US" altLang="ko-KR" sz="1400" smtClean="0"/>
          </a:p>
        </p:txBody>
      </p:sp>
      <p:pic>
        <p:nvPicPr>
          <p:cNvPr id="184323" name="Picture 2" descr="E3X-DA-N_06"/>
          <p:cNvPicPr>
            <a:picLocks noChangeAspect="1" noChangeArrowheads="1"/>
          </p:cNvPicPr>
          <p:nvPr/>
        </p:nvPicPr>
        <p:blipFill>
          <a:blip r:embed="rId2">
            <a:extLst>
              <a:ext uri="{28A0092B-C50C-407E-A947-70E740481C1C}">
                <a14:useLocalDpi xmlns:a14="http://schemas.microsoft.com/office/drawing/2010/main" val="0"/>
              </a:ext>
            </a:extLst>
          </a:blip>
          <a:srcRect t="5569"/>
          <a:stretch>
            <a:fillRect/>
          </a:stretch>
        </p:blipFill>
        <p:spPr bwMode="auto">
          <a:xfrm>
            <a:off x="228600" y="549275"/>
            <a:ext cx="861060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4"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4325"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BC6F9D4-0F95-4DC3-AC3D-D911E7BFCACD}" type="slidenum">
              <a:rPr lang="en-US" altLang="ko-KR" sz="1400" smtClean="0"/>
              <a:pPr eaLnBrk="1" hangingPunct="1"/>
              <a:t>176</a:t>
            </a:fld>
            <a:endParaRPr lang="en-US" altLang="ko-KR" sz="1400" smtClean="0"/>
          </a:p>
        </p:txBody>
      </p:sp>
      <p:pic>
        <p:nvPicPr>
          <p:cNvPr id="185347" name="Picture 2" descr="E3X-DA-N_07"/>
          <p:cNvPicPr>
            <a:picLocks noChangeAspect="1" noChangeArrowheads="1"/>
          </p:cNvPicPr>
          <p:nvPr/>
        </p:nvPicPr>
        <p:blipFill>
          <a:blip r:embed="rId2">
            <a:extLst>
              <a:ext uri="{28A0092B-C50C-407E-A947-70E740481C1C}">
                <a14:useLocalDpi xmlns:a14="http://schemas.microsoft.com/office/drawing/2010/main" val="0"/>
              </a:ext>
            </a:extLst>
          </a:blip>
          <a:srcRect t="7080"/>
          <a:stretch>
            <a:fillRect/>
          </a:stretch>
        </p:blipFill>
        <p:spPr bwMode="auto">
          <a:xfrm>
            <a:off x="228600" y="765175"/>
            <a:ext cx="8610600"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48"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5349"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B1E29F7-76A9-4E99-B81D-570B2B7B8A6A}" type="slidenum">
              <a:rPr lang="en-US" altLang="ko-KR" sz="1400" smtClean="0"/>
              <a:pPr eaLnBrk="1" hangingPunct="1"/>
              <a:t>177</a:t>
            </a:fld>
            <a:endParaRPr lang="en-US" altLang="ko-KR" sz="1400" smtClean="0"/>
          </a:p>
        </p:txBody>
      </p:sp>
      <p:pic>
        <p:nvPicPr>
          <p:cNvPr id="186371" name="Picture 2" descr="E3X-DA-N_08"/>
          <p:cNvPicPr>
            <a:picLocks noChangeAspect="1" noChangeArrowheads="1"/>
          </p:cNvPicPr>
          <p:nvPr/>
        </p:nvPicPr>
        <p:blipFill>
          <a:blip r:embed="rId2">
            <a:extLst>
              <a:ext uri="{28A0092B-C50C-407E-A947-70E740481C1C}">
                <a14:useLocalDpi xmlns:a14="http://schemas.microsoft.com/office/drawing/2010/main" val="0"/>
              </a:ext>
            </a:extLst>
          </a:blip>
          <a:srcRect b="6715"/>
          <a:stretch>
            <a:fillRect/>
          </a:stretch>
        </p:blipFill>
        <p:spPr bwMode="auto">
          <a:xfrm>
            <a:off x="228600" y="619125"/>
            <a:ext cx="8610600"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2"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6373"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7D76EE50-C92E-41B3-BBB5-B637BFCF1FB7}" type="slidenum">
              <a:rPr lang="en-US" altLang="ko-KR" sz="1400" smtClean="0"/>
              <a:pPr eaLnBrk="1" hangingPunct="1"/>
              <a:t>178</a:t>
            </a:fld>
            <a:endParaRPr lang="en-US" altLang="ko-KR" sz="1400" smtClean="0"/>
          </a:p>
        </p:txBody>
      </p:sp>
      <p:pic>
        <p:nvPicPr>
          <p:cNvPr id="187395" name="Picture 2" descr="E3X-DA-N_09"/>
          <p:cNvPicPr>
            <a:picLocks noChangeAspect="1" noChangeArrowheads="1"/>
          </p:cNvPicPr>
          <p:nvPr/>
        </p:nvPicPr>
        <p:blipFill>
          <a:blip r:embed="rId2">
            <a:extLst>
              <a:ext uri="{28A0092B-C50C-407E-A947-70E740481C1C}">
                <a14:useLocalDpi xmlns:a14="http://schemas.microsoft.com/office/drawing/2010/main" val="0"/>
              </a:ext>
            </a:extLst>
          </a:blip>
          <a:srcRect t="7262"/>
          <a:stretch>
            <a:fillRect/>
          </a:stretch>
        </p:blipFill>
        <p:spPr bwMode="auto">
          <a:xfrm>
            <a:off x="228600" y="652463"/>
            <a:ext cx="8610600" cy="565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6"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7397"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54AC61A-0551-44D4-AABA-A02988A8A128}" type="slidenum">
              <a:rPr lang="en-US" altLang="ko-KR" sz="1400" smtClean="0"/>
              <a:pPr eaLnBrk="1" hangingPunct="1"/>
              <a:t>179</a:t>
            </a:fld>
            <a:endParaRPr lang="en-US" altLang="ko-KR" sz="1400" smtClean="0"/>
          </a:p>
        </p:txBody>
      </p:sp>
      <p:pic>
        <p:nvPicPr>
          <p:cNvPr id="188419" name="Picture 2" descr="E3X-DA-N_10"/>
          <p:cNvPicPr>
            <a:picLocks noChangeAspect="1" noChangeArrowheads="1"/>
          </p:cNvPicPr>
          <p:nvPr/>
        </p:nvPicPr>
        <p:blipFill>
          <a:blip r:embed="rId2">
            <a:extLst>
              <a:ext uri="{28A0092B-C50C-407E-A947-70E740481C1C}">
                <a14:useLocalDpi xmlns:a14="http://schemas.microsoft.com/office/drawing/2010/main" val="0"/>
              </a:ext>
            </a:extLst>
          </a:blip>
          <a:srcRect b="5569"/>
          <a:stretch>
            <a:fillRect/>
          </a:stretch>
        </p:blipFill>
        <p:spPr bwMode="auto">
          <a:xfrm>
            <a:off x="228600" y="549275"/>
            <a:ext cx="861060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0"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8421"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8C4E2A49-E0A5-4F81-A77C-02B2BDA227A3}" type="slidenum">
              <a:rPr lang="en-US" altLang="ko-KR" sz="1400" smtClean="0"/>
              <a:pPr eaLnBrk="1" hangingPunct="1"/>
              <a:t>180</a:t>
            </a:fld>
            <a:endParaRPr lang="en-US" altLang="ko-KR" sz="1400" smtClean="0"/>
          </a:p>
        </p:txBody>
      </p:sp>
      <p:pic>
        <p:nvPicPr>
          <p:cNvPr id="189443" name="Picture 2" descr="E3X-DA-N_11"/>
          <p:cNvPicPr>
            <a:picLocks noChangeAspect="1" noChangeArrowheads="1"/>
          </p:cNvPicPr>
          <p:nvPr/>
        </p:nvPicPr>
        <p:blipFill>
          <a:blip r:embed="rId2">
            <a:extLst>
              <a:ext uri="{28A0092B-C50C-407E-A947-70E740481C1C}">
                <a14:useLocalDpi xmlns:a14="http://schemas.microsoft.com/office/drawing/2010/main" val="0"/>
              </a:ext>
            </a:extLst>
          </a:blip>
          <a:srcRect t="7262"/>
          <a:stretch>
            <a:fillRect/>
          </a:stretch>
        </p:blipFill>
        <p:spPr bwMode="auto">
          <a:xfrm>
            <a:off x="228600" y="549275"/>
            <a:ext cx="8610600" cy="565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4" name="Text Box 2"/>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89445"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A31B7742-9526-4C16-8B50-574433E3C4DE}" type="slidenum">
              <a:rPr lang="en-US" altLang="ko-KR" sz="1400" smtClean="0"/>
              <a:pPr eaLnBrk="1" hangingPunct="1"/>
              <a:t>181</a:t>
            </a:fld>
            <a:endParaRPr lang="en-US" altLang="ko-KR" sz="1400" smtClean="0"/>
          </a:p>
        </p:txBody>
      </p:sp>
      <p:pic>
        <p:nvPicPr>
          <p:cNvPr id="190467" name="Picture 2" descr="E3X-DA-N_12"/>
          <p:cNvPicPr>
            <a:picLocks noChangeAspect="1" noChangeArrowheads="1"/>
          </p:cNvPicPr>
          <p:nvPr/>
        </p:nvPicPr>
        <p:blipFill>
          <a:blip r:embed="rId2">
            <a:extLst>
              <a:ext uri="{28A0092B-C50C-407E-A947-70E740481C1C}">
                <a14:useLocalDpi xmlns:a14="http://schemas.microsoft.com/office/drawing/2010/main" val="0"/>
              </a:ext>
            </a:extLst>
          </a:blip>
          <a:srcRect b="5362"/>
          <a:stretch>
            <a:fillRect/>
          </a:stretch>
        </p:blipFill>
        <p:spPr bwMode="auto">
          <a:xfrm>
            <a:off x="228600" y="620713"/>
            <a:ext cx="8610600"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68" name="Text Box 2"/>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0469" name="Text Box 3"/>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E83D067D-5A31-40CC-85D1-49C4198BE115}" type="slidenum">
              <a:rPr lang="en-US" altLang="ko-KR" sz="1400" smtClean="0">
                <a:latin typeface="Times New Roman" pitchFamily="18" charset="0"/>
                <a:cs typeface="Times New Roman" pitchFamily="18" charset="0"/>
              </a:rPr>
              <a:pPr eaLnBrk="1" hangingPunct="1"/>
              <a:t>182</a:t>
            </a:fld>
            <a:endParaRPr lang="en-US" altLang="ko-KR" sz="1400" smtClean="0">
              <a:latin typeface="Times New Roman" pitchFamily="18" charset="0"/>
              <a:cs typeface="Times New Roman" pitchFamily="18" charset="0"/>
            </a:endParaRPr>
          </a:p>
        </p:txBody>
      </p:sp>
      <p:sp>
        <p:nvSpPr>
          <p:cNvPr id="191491" name="Text Box 2"/>
          <p:cNvSpPr txBox="1">
            <a:spLocks noChangeArrowheads="1"/>
          </p:cNvSpPr>
          <p:nvPr/>
        </p:nvSpPr>
        <p:spPr bwMode="auto">
          <a:xfrm>
            <a:off x="684213" y="1717675"/>
            <a:ext cx="7272337"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[Quá trình thực hiện]</a:t>
            </a:r>
          </a:p>
          <a:p>
            <a:pPr eaLnBrk="1" hangingPunct="1"/>
            <a:endParaRPr lang="en-US" altLang="ko-KR" sz="400" b="1">
              <a:latin typeface="Times New Roman" pitchFamily="18" charset="0"/>
              <a:cs typeface="Times New Roman" pitchFamily="18" charset="0"/>
            </a:endParaRPr>
          </a:p>
          <a:p>
            <a:pPr eaLnBrk="1" hangingPunct="1">
              <a:buFontTx/>
              <a:buAutoNum type="arabicPeriod"/>
            </a:pPr>
            <a:r>
              <a:rPr lang="en-US" altLang="ko-KR">
                <a:latin typeface="Times New Roman" pitchFamily="18" charset="0"/>
                <a:cs typeface="Times New Roman" pitchFamily="18" charset="0"/>
              </a:rPr>
              <a:t>Phân tích Spec có trong cataloge như chủng loại, đặc điểm/quy cách…của E2K-X8ME1.</a:t>
            </a:r>
          </a:p>
          <a:p>
            <a:pPr eaLnBrk="1" hangingPunct="1">
              <a:buFontTx/>
              <a:buAutoNum type="arabicPeriod"/>
            </a:pPr>
            <a:r>
              <a:rPr lang="en-US" altLang="ko-KR">
                <a:latin typeface="Times New Roman" pitchFamily="18" charset="0"/>
                <a:cs typeface="Times New Roman" pitchFamily="18" charset="0"/>
              </a:rPr>
              <a:t>Phân tích đặc điểm hoạt động mạch đầu ra ở cataloge và để điện áp nguông là Consol DC12[V] sau đó cấu thành mạch cảm biến</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Sensor. Lúc này tải sử dụng Buzzer chuyên dùng cho</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DC12[V].</a:t>
            </a:r>
          </a:p>
          <a:p>
            <a:pPr eaLnBrk="1" hangingPunct="1">
              <a:buFontTx/>
              <a:buAutoNum type="arabicPeriod"/>
            </a:pPr>
            <a:r>
              <a:rPr lang="en-US" altLang="ko-KR">
                <a:latin typeface="Times New Roman" pitchFamily="18" charset="0"/>
                <a:cs typeface="Times New Roman" pitchFamily="18" charset="0"/>
              </a:rPr>
              <a:t>Kiểm tra khoảng cách phân tích và khoảng cách trễ.</a:t>
            </a:r>
          </a:p>
          <a:p>
            <a:pPr eaLnBrk="1" hangingPunct="1">
              <a:buFontTx/>
              <a:buAutoNum type="arabicPeriod"/>
            </a:pPr>
            <a:r>
              <a:rPr lang="en-US" altLang="ko-KR">
                <a:latin typeface="Times New Roman" pitchFamily="18" charset="0"/>
                <a:cs typeface="Times New Roman" pitchFamily="18" charset="0"/>
              </a:rPr>
              <a:t>Kiểm tra xem loại E2K-X8ME1 Output</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Type là gì và kiểm tra sự hoạt động của Buzzer khi On/Off điện áp đầu ra và cảm biến.</a:t>
            </a:r>
          </a:p>
        </p:txBody>
      </p:sp>
      <p:graphicFrame>
        <p:nvGraphicFramePr>
          <p:cNvPr id="3375107" name="Group 3"/>
          <p:cNvGraphicFramePr>
            <a:graphicFrameLocks noGrp="1"/>
          </p:cNvGraphicFramePr>
          <p:nvPr/>
        </p:nvGraphicFramePr>
        <p:xfrm>
          <a:off x="1258888" y="3181350"/>
          <a:ext cx="6096000" cy="827088"/>
        </p:xfrm>
        <a:graphic>
          <a:graphicData uri="http://schemas.openxmlformats.org/drawingml/2006/table">
            <a:tbl>
              <a:tblPr/>
              <a:tblGrid>
                <a:gridCol w="1524000"/>
                <a:gridCol w="1524000"/>
                <a:gridCol w="1524000"/>
                <a:gridCol w="1524000"/>
              </a:tblGrid>
              <a:tr h="278026">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Output</a:t>
                      </a:r>
                      <a:r>
                        <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Type</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Sensor OUT [V]</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On/Off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cảm</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biến</a:t>
                      </a:r>
                      <a:endPar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Hoạt</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a:t>
                      </a:r>
                      <a:r>
                        <a:rPr kumimoji="1" lang="en-US" altLang="ko-KR" sz="1200" b="0" i="0" u="none" strike="noStrike" cap="none" normalizeH="0" baseline="0" dirty="0" err="1"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động</a:t>
                      </a:r>
                      <a:r>
                        <a:rPr kumimoji="1" lang="en-US"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 Buzzer</a:t>
                      </a:r>
                      <a:endParaRPr kumimoji="1" lang="ko-KR" altLang="en-US"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rowSpan="2">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On</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531">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0" i="0" u="none" strike="noStrike" cap="none" normalizeH="0" baseline="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rPr>
                        <a:t>Off</a:t>
                      </a: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200" b="0" i="0" u="none" strike="noStrike" cap="none" normalizeH="0" baseline="0" dirty="0" smtClean="0">
                        <a:ln>
                          <a:noFill/>
                        </a:ln>
                        <a:solidFill>
                          <a:schemeClr val="tx1"/>
                        </a:solidFill>
                        <a:effectLst/>
                        <a:latin typeface="Times New Roman" panose="02020603050405020304" pitchFamily="18" charset="0"/>
                        <a:ea typeface="굴림" pitchFamily="50" charset="-127"/>
                        <a:cs typeface="Times New Roman" panose="02020603050405020304" pitchFamily="18" charset="0"/>
                      </a:endParaRPr>
                    </a:p>
                  </a:txBody>
                  <a:tcPr marT="45755" marB="457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1513" name="Text Box 24"/>
          <p:cNvSpPr txBox="1">
            <a:spLocks noChangeArrowheads="1"/>
          </p:cNvSpPr>
          <p:nvPr/>
        </p:nvSpPr>
        <p:spPr bwMode="auto">
          <a:xfrm>
            <a:off x="684213" y="1268413"/>
            <a:ext cx="64595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 Thực hành cấu thành cảm biến không tiếp xúc điện dung Omron E2K-X8ME1</a:t>
            </a:r>
            <a:endParaRPr lang="ko-KR" altLang="en-US" sz="1400" b="1">
              <a:latin typeface="Times New Roman" pitchFamily="18" charset="0"/>
              <a:cs typeface="Times New Roman" pitchFamily="18" charset="0"/>
            </a:endParaRPr>
          </a:p>
        </p:txBody>
      </p:sp>
      <p:sp>
        <p:nvSpPr>
          <p:cNvPr id="191514" name="Text Box 25"/>
          <p:cNvSpPr txBox="1">
            <a:spLocks noChangeArrowheads="1"/>
          </p:cNvSpPr>
          <p:nvPr/>
        </p:nvSpPr>
        <p:spPr bwMode="auto">
          <a:xfrm>
            <a:off x="539750" y="892175"/>
            <a:ext cx="45450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cs typeface="Times New Roman" pitchFamily="18" charset="0"/>
              </a:rPr>
              <a:t>Thực hành cấu thành cảm biến không tiếp xúc điện dung</a:t>
            </a:r>
            <a:endParaRPr lang="ko-KR" altLang="en-US" sz="1400" b="1">
              <a:latin typeface="Times New Roman" pitchFamily="18" charset="0"/>
              <a:cs typeface="Times New Roman" pitchFamily="18" charset="0"/>
            </a:endParaRPr>
          </a:p>
        </p:txBody>
      </p:sp>
      <p:sp>
        <p:nvSpPr>
          <p:cNvPr id="191515" name="Text Box 26"/>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1516" name="Text Box 27"/>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C674C95D-BBE5-4461-8E9F-E5BFA90FEB0D}" type="slidenum">
              <a:rPr lang="en-US" altLang="ko-KR" sz="1400" smtClean="0"/>
              <a:pPr eaLnBrk="1" hangingPunct="1"/>
              <a:t>183</a:t>
            </a:fld>
            <a:endParaRPr lang="en-US" altLang="ko-KR" sz="1400" smtClean="0"/>
          </a:p>
        </p:txBody>
      </p:sp>
      <p:pic>
        <p:nvPicPr>
          <p:cNvPr id="192515" name="Picture 2" descr="E2K-X_1"/>
          <p:cNvPicPr>
            <a:picLocks noChangeAspect="1" noChangeArrowheads="1"/>
          </p:cNvPicPr>
          <p:nvPr/>
        </p:nvPicPr>
        <p:blipFill>
          <a:blip r:embed="rId2">
            <a:extLst>
              <a:ext uri="{28A0092B-C50C-407E-A947-70E740481C1C}">
                <a14:useLocalDpi xmlns:a14="http://schemas.microsoft.com/office/drawing/2010/main" val="0"/>
              </a:ext>
            </a:extLst>
          </a:blip>
          <a:srcRect b="6422"/>
          <a:stretch>
            <a:fillRect/>
          </a:stretch>
        </p:blipFill>
        <p:spPr bwMode="auto">
          <a:xfrm>
            <a:off x="228600" y="619125"/>
            <a:ext cx="8610600"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6" name="Text Box 26"/>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2517" name="Text Box 27"/>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FD35AB38-ECD9-449F-B0C5-C304FDB079C1}" type="slidenum">
              <a:rPr lang="en-US" altLang="ko-KR" sz="1400" smtClean="0"/>
              <a:pPr eaLnBrk="1" hangingPunct="1"/>
              <a:t>184</a:t>
            </a:fld>
            <a:endParaRPr lang="en-US" altLang="ko-KR" sz="1400" smtClean="0"/>
          </a:p>
        </p:txBody>
      </p:sp>
      <p:pic>
        <p:nvPicPr>
          <p:cNvPr id="193539" name="Picture 2" descr="E2K-X_2"/>
          <p:cNvPicPr>
            <a:picLocks noChangeAspect="1" noChangeArrowheads="1"/>
          </p:cNvPicPr>
          <p:nvPr/>
        </p:nvPicPr>
        <p:blipFill>
          <a:blip r:embed="rId2">
            <a:extLst>
              <a:ext uri="{28A0092B-C50C-407E-A947-70E740481C1C}">
                <a14:useLocalDpi xmlns:a14="http://schemas.microsoft.com/office/drawing/2010/main" val="0"/>
              </a:ext>
            </a:extLst>
          </a:blip>
          <a:srcRect t="7285"/>
          <a:stretch>
            <a:fillRect/>
          </a:stretch>
        </p:blipFill>
        <p:spPr bwMode="auto">
          <a:xfrm>
            <a:off x="250825" y="549275"/>
            <a:ext cx="8610600"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40" name="Text Box 26"/>
          <p:cNvSpPr txBox="1">
            <a:spLocks noChangeArrowheads="1"/>
          </p:cNvSpPr>
          <p:nvPr/>
        </p:nvSpPr>
        <p:spPr bwMode="auto">
          <a:xfrm>
            <a:off x="22225" y="38100"/>
            <a:ext cx="31607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ko-KR" altLang="en-US" sz="1800" b="1"/>
              <a:t> </a:t>
            </a:r>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3541" name="Text Box 27"/>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02DBBA04-B3B8-478E-B64D-0FCADF583DC7}" type="slidenum">
              <a:rPr lang="en-US" altLang="ko-KR" sz="1400" smtClean="0"/>
              <a:pPr eaLnBrk="1" hangingPunct="1"/>
              <a:t>185</a:t>
            </a:fld>
            <a:endParaRPr lang="en-US" altLang="ko-KR" sz="1400" smtClean="0"/>
          </a:p>
        </p:txBody>
      </p:sp>
      <p:pic>
        <p:nvPicPr>
          <p:cNvPr id="194563" name="Picture 2" descr="E2K-X_4"/>
          <p:cNvPicPr>
            <a:picLocks noChangeAspect="1" noChangeArrowheads="1"/>
          </p:cNvPicPr>
          <p:nvPr/>
        </p:nvPicPr>
        <p:blipFill>
          <a:blip r:embed="rId2">
            <a:extLst>
              <a:ext uri="{28A0092B-C50C-407E-A947-70E740481C1C}">
                <a14:useLocalDpi xmlns:a14="http://schemas.microsoft.com/office/drawing/2010/main" val="0"/>
              </a:ext>
            </a:extLst>
          </a:blip>
          <a:srcRect t="7101"/>
          <a:stretch>
            <a:fillRect/>
          </a:stretch>
        </p:blipFill>
        <p:spPr bwMode="auto">
          <a:xfrm>
            <a:off x="228600" y="765175"/>
            <a:ext cx="8610600" cy="564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4" name="Text Box 26"/>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4565" name="Text Box 27"/>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B17A9BE6-4E24-4687-AF83-479AFC94E0DF}" type="slidenum">
              <a:rPr lang="en-US" altLang="ko-KR" sz="1400" smtClean="0">
                <a:latin typeface="Times New Roman" pitchFamily="18" charset="0"/>
                <a:cs typeface="Times New Roman" pitchFamily="18" charset="0"/>
              </a:rPr>
              <a:pPr eaLnBrk="1" hangingPunct="1"/>
              <a:t>186</a:t>
            </a:fld>
            <a:endParaRPr lang="en-US" altLang="ko-KR" sz="1400" smtClean="0">
              <a:latin typeface="Times New Roman" pitchFamily="18" charset="0"/>
              <a:cs typeface="Times New Roman" pitchFamily="18" charset="0"/>
            </a:endParaRPr>
          </a:p>
        </p:txBody>
      </p:sp>
      <p:sp>
        <p:nvSpPr>
          <p:cNvPr id="25" name="직사각형 24"/>
          <p:cNvSpPr/>
          <p:nvPr/>
        </p:nvSpPr>
        <p:spPr>
          <a:xfrm>
            <a:off x="539750" y="1055688"/>
            <a:ext cx="8064500" cy="25193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pic>
        <p:nvPicPr>
          <p:cNvPr id="19558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38" y="1158875"/>
            <a:ext cx="5565775"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직사각형 25"/>
          <p:cNvSpPr/>
          <p:nvPr/>
        </p:nvSpPr>
        <p:spPr>
          <a:xfrm>
            <a:off x="539750" y="3830638"/>
            <a:ext cx="8064500" cy="251936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pic>
        <p:nvPicPr>
          <p:cNvPr id="1955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3" y="3940175"/>
            <a:ext cx="5592762"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91" name="TextBox 27"/>
          <p:cNvSpPr txBox="1">
            <a:spLocks noChangeArrowheads="1"/>
          </p:cNvSpPr>
          <p:nvPr/>
        </p:nvSpPr>
        <p:spPr bwMode="auto">
          <a:xfrm>
            <a:off x="3614738" y="2297113"/>
            <a:ext cx="11017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ANALOG “mA”</a:t>
            </a:r>
          </a:p>
        </p:txBody>
      </p:sp>
      <p:sp>
        <p:nvSpPr>
          <p:cNvPr id="195592" name="TextBox 28"/>
          <p:cNvSpPr txBox="1">
            <a:spLocks noChangeArrowheads="1"/>
          </p:cNvSpPr>
          <p:nvPr/>
        </p:nvSpPr>
        <p:spPr bwMode="auto">
          <a:xfrm>
            <a:off x="3643313" y="5081588"/>
            <a:ext cx="10001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b="1">
                <a:latin typeface="Times New Roman" pitchFamily="18" charset="0"/>
                <a:ea typeface="굴림체" pitchFamily="49" charset="-127"/>
                <a:cs typeface="Times New Roman" pitchFamily="18" charset="0"/>
              </a:rPr>
              <a:t>ANALOG “V”</a:t>
            </a:r>
          </a:p>
        </p:txBody>
      </p:sp>
      <p:sp>
        <p:nvSpPr>
          <p:cNvPr id="30" name="직사각형 29"/>
          <p:cNvSpPr/>
          <p:nvPr/>
        </p:nvSpPr>
        <p:spPr>
          <a:xfrm>
            <a:off x="4879975" y="2078038"/>
            <a:ext cx="693738" cy="76676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sp>
        <p:nvSpPr>
          <p:cNvPr id="195594" name="TextBox 30"/>
          <p:cNvSpPr txBox="1">
            <a:spLocks noChangeArrowheads="1"/>
          </p:cNvSpPr>
          <p:nvPr/>
        </p:nvSpPr>
        <p:spPr bwMode="auto">
          <a:xfrm>
            <a:off x="5208588" y="1858963"/>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CH1</a:t>
            </a:r>
          </a:p>
        </p:txBody>
      </p:sp>
      <p:sp>
        <p:nvSpPr>
          <p:cNvPr id="195595" name="TextBox 31"/>
          <p:cNvSpPr txBox="1">
            <a:spLocks noChangeArrowheads="1"/>
          </p:cNvSpPr>
          <p:nvPr/>
        </p:nvSpPr>
        <p:spPr bwMode="auto">
          <a:xfrm>
            <a:off x="5208588" y="4679950"/>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CH1</a:t>
            </a:r>
          </a:p>
        </p:txBody>
      </p:sp>
      <p:sp>
        <p:nvSpPr>
          <p:cNvPr id="33" name="직사각형 32"/>
          <p:cNvSpPr/>
          <p:nvPr/>
        </p:nvSpPr>
        <p:spPr>
          <a:xfrm>
            <a:off x="4879975" y="4889500"/>
            <a:ext cx="693738" cy="766763"/>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000">
              <a:latin typeface="Times New Roman" panose="02020603050405020304" pitchFamily="18" charset="0"/>
              <a:cs typeface="Times New Roman" panose="02020603050405020304" pitchFamily="18" charset="0"/>
            </a:endParaRPr>
          </a:p>
        </p:txBody>
      </p:sp>
      <p:sp>
        <p:nvSpPr>
          <p:cNvPr id="195597" name="TextBox 33"/>
          <p:cNvSpPr txBox="1">
            <a:spLocks noChangeArrowheads="1"/>
          </p:cNvSpPr>
          <p:nvPr/>
        </p:nvSpPr>
        <p:spPr bwMode="auto">
          <a:xfrm>
            <a:off x="5265738" y="1457325"/>
            <a:ext cx="776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ea typeface="굴림체" pitchFamily="49" charset="-127"/>
                <a:cs typeface="Times New Roman" pitchFamily="18" charset="0"/>
              </a:rPr>
              <a:t>Q64AD</a:t>
            </a:r>
          </a:p>
        </p:txBody>
      </p:sp>
      <p:sp>
        <p:nvSpPr>
          <p:cNvPr id="195598" name="TextBox 34"/>
          <p:cNvSpPr txBox="1">
            <a:spLocks noChangeArrowheads="1"/>
          </p:cNvSpPr>
          <p:nvPr/>
        </p:nvSpPr>
        <p:spPr bwMode="auto">
          <a:xfrm>
            <a:off x="5262563" y="4195763"/>
            <a:ext cx="776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400" b="1">
                <a:latin typeface="Times New Roman" pitchFamily="18" charset="0"/>
                <a:ea typeface="굴림체" pitchFamily="49" charset="-127"/>
                <a:cs typeface="Times New Roman" pitchFamily="18" charset="0"/>
              </a:rPr>
              <a:t>Q64AD</a:t>
            </a:r>
          </a:p>
        </p:txBody>
      </p:sp>
      <p:sp>
        <p:nvSpPr>
          <p:cNvPr id="195599" name="TextBox 38"/>
          <p:cNvSpPr txBox="1">
            <a:spLocks noChangeArrowheads="1"/>
          </p:cNvSpPr>
          <p:nvPr/>
        </p:nvSpPr>
        <p:spPr bwMode="auto">
          <a:xfrm>
            <a:off x="2981325" y="2608263"/>
            <a:ext cx="7874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Dây Option</a:t>
            </a:r>
            <a:endParaRPr lang="ko-KR" altLang="en-US" sz="1000">
              <a:latin typeface="Times New Roman" pitchFamily="18" charset="0"/>
              <a:ea typeface="굴림체" pitchFamily="49" charset="-127"/>
              <a:cs typeface="Times New Roman" pitchFamily="18" charset="0"/>
            </a:endParaRPr>
          </a:p>
        </p:txBody>
      </p:sp>
      <p:sp>
        <p:nvSpPr>
          <p:cNvPr id="195600" name="TextBox 39"/>
          <p:cNvSpPr txBox="1">
            <a:spLocks noChangeArrowheads="1"/>
          </p:cNvSpPr>
          <p:nvPr/>
        </p:nvSpPr>
        <p:spPr bwMode="auto">
          <a:xfrm>
            <a:off x="2981325" y="5383213"/>
            <a:ext cx="7874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000">
                <a:latin typeface="Times New Roman" pitchFamily="18" charset="0"/>
                <a:ea typeface="굴림체" pitchFamily="49" charset="-127"/>
                <a:cs typeface="Times New Roman" pitchFamily="18" charset="0"/>
              </a:rPr>
              <a:t>Dây Option</a:t>
            </a:r>
            <a:endParaRPr lang="ko-KR" altLang="en-US" sz="1000">
              <a:latin typeface="Times New Roman" pitchFamily="18" charset="0"/>
              <a:ea typeface="굴림체" pitchFamily="49" charset="-127"/>
              <a:cs typeface="Times New Roman" pitchFamily="18" charset="0"/>
            </a:endParaRPr>
          </a:p>
        </p:txBody>
      </p:sp>
      <p:sp>
        <p:nvSpPr>
          <p:cNvPr id="195601" name="Text Box 21"/>
          <p:cNvSpPr txBox="1">
            <a:spLocks noChangeArrowheads="1"/>
          </p:cNvSpPr>
          <p:nvPr/>
        </p:nvSpPr>
        <p:spPr bwMode="auto">
          <a:xfrm>
            <a:off x="539750" y="1052513"/>
            <a:ext cx="2198688"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Analog current output Type</a:t>
            </a:r>
          </a:p>
          <a:p>
            <a:pPr eaLnBrk="1" hangingPunct="1"/>
            <a:endParaRPr lang="en-US" altLang="ko-KR" b="1">
              <a:latin typeface="Times New Roman" pitchFamily="18" charset="0"/>
              <a:cs typeface="Times New Roman" pitchFamily="18" charset="0"/>
            </a:endParaRPr>
          </a:p>
        </p:txBody>
      </p:sp>
      <p:sp>
        <p:nvSpPr>
          <p:cNvPr id="195602" name="Text Box 22"/>
          <p:cNvSpPr txBox="1">
            <a:spLocks noChangeArrowheads="1"/>
          </p:cNvSpPr>
          <p:nvPr/>
        </p:nvSpPr>
        <p:spPr bwMode="auto">
          <a:xfrm>
            <a:off x="539750" y="3860800"/>
            <a:ext cx="21748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 Analog voltage output Type</a:t>
            </a:r>
          </a:p>
        </p:txBody>
      </p:sp>
      <p:sp>
        <p:nvSpPr>
          <p:cNvPr id="195603" name="Text Box 4"/>
          <p:cNvSpPr txBox="1">
            <a:spLocks noChangeArrowheads="1"/>
          </p:cNvSpPr>
          <p:nvPr/>
        </p:nvSpPr>
        <p:spPr bwMode="auto">
          <a:xfrm>
            <a:off x="7907338" y="68263"/>
            <a:ext cx="105727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600" b="1">
                <a:latin typeface="Times New Roman" pitchFamily="18" charset="0"/>
                <a:cs typeface="Times New Roman" pitchFamily="18" charset="0"/>
              </a:rPr>
              <a:t>3. Máy dò</a:t>
            </a:r>
            <a:endParaRPr lang="ko-KR" altLang="en-US" sz="1600" b="1">
              <a:latin typeface="Times New Roman" pitchFamily="18" charset="0"/>
              <a:cs typeface="Times New Roman" pitchFamily="18" charset="0"/>
            </a:endParaRPr>
          </a:p>
        </p:txBody>
      </p:sp>
      <p:sp>
        <p:nvSpPr>
          <p:cNvPr id="195604" name="Text Box 5"/>
          <p:cNvSpPr txBox="1">
            <a:spLocks noChangeArrowheads="1"/>
          </p:cNvSpPr>
          <p:nvPr/>
        </p:nvSpPr>
        <p:spPr bwMode="auto">
          <a:xfrm>
            <a:off x="22225" y="38100"/>
            <a:ext cx="3086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1800" b="1">
                <a:latin typeface="Times New Roman" pitchFamily="18" charset="0"/>
                <a:cs typeface="Times New Roman" pitchFamily="18" charset="0"/>
              </a:rPr>
              <a:t>3. Linh kiện điện tử chủ động</a:t>
            </a:r>
            <a:endParaRPr lang="ko-KR" altLang="en-US" sz="1800" b="1">
              <a:latin typeface="Times New Roman" pitchFamily="18" charset="0"/>
              <a:cs typeface="Times New Roman" pitchFamily="18" charset="0"/>
            </a:endParaRPr>
          </a:p>
        </p:txBody>
      </p:sp>
      <p:sp>
        <p:nvSpPr>
          <p:cNvPr id="195605" name="TextBox 10"/>
          <p:cNvSpPr txBox="1">
            <a:spLocks noChangeArrowheads="1"/>
          </p:cNvSpPr>
          <p:nvPr/>
        </p:nvSpPr>
        <p:spPr bwMode="auto">
          <a:xfrm>
            <a:off x="3040063" y="5776913"/>
            <a:ext cx="811212" cy="388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95606" name="TextBox 10"/>
          <p:cNvSpPr txBox="1">
            <a:spLocks noChangeArrowheads="1"/>
          </p:cNvSpPr>
          <p:nvPr/>
        </p:nvSpPr>
        <p:spPr bwMode="auto">
          <a:xfrm>
            <a:off x="3040063" y="2968625"/>
            <a:ext cx="811212" cy="388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Thiết bị điện</a:t>
            </a:r>
          </a:p>
          <a:p>
            <a:pPr eaLnBrk="1" hangingPunct="1"/>
            <a:r>
              <a:rPr lang="en-US" altLang="ko-KR" sz="800">
                <a:latin typeface="Times New Roman" pitchFamily="18" charset="0"/>
                <a:ea typeface="굴림체" pitchFamily="49" charset="-127"/>
                <a:cs typeface="Times New Roman" pitchFamily="18" charset="0"/>
              </a:rPr>
              <a:t> nguồn 24VDC</a:t>
            </a:r>
          </a:p>
        </p:txBody>
      </p:sp>
      <p:sp>
        <p:nvSpPr>
          <p:cNvPr id="195607" name="TextBox 10"/>
          <p:cNvSpPr txBox="1">
            <a:spLocks noChangeArrowheads="1"/>
          </p:cNvSpPr>
          <p:nvPr/>
        </p:nvSpPr>
        <p:spPr bwMode="auto">
          <a:xfrm>
            <a:off x="2700338" y="1892300"/>
            <a:ext cx="577850" cy="241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95608" name="TextBox 10"/>
          <p:cNvSpPr txBox="1">
            <a:spLocks noChangeArrowheads="1"/>
          </p:cNvSpPr>
          <p:nvPr/>
        </p:nvSpPr>
        <p:spPr bwMode="auto">
          <a:xfrm>
            <a:off x="2700338" y="4652963"/>
            <a:ext cx="577850"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(Nâu) +V</a:t>
            </a:r>
          </a:p>
        </p:txBody>
      </p:sp>
      <p:sp>
        <p:nvSpPr>
          <p:cNvPr id="195609" name="TextBox 10"/>
          <p:cNvSpPr txBox="1">
            <a:spLocks noChangeArrowheads="1"/>
          </p:cNvSpPr>
          <p:nvPr/>
        </p:nvSpPr>
        <p:spPr bwMode="auto">
          <a:xfrm>
            <a:off x="2563813" y="5060950"/>
            <a:ext cx="1071562" cy="239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95610" name="TextBox 10"/>
          <p:cNvSpPr txBox="1">
            <a:spLocks noChangeArrowheads="1"/>
          </p:cNvSpPr>
          <p:nvPr/>
        </p:nvSpPr>
        <p:spPr bwMode="auto">
          <a:xfrm>
            <a:off x="2555875" y="2252663"/>
            <a:ext cx="1073150" cy="239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(Đen) Control Output</a:t>
            </a:r>
          </a:p>
        </p:txBody>
      </p:sp>
      <p:sp>
        <p:nvSpPr>
          <p:cNvPr id="195611" name="TextBox 10"/>
          <p:cNvSpPr txBox="1">
            <a:spLocks noChangeArrowheads="1"/>
          </p:cNvSpPr>
          <p:nvPr/>
        </p:nvSpPr>
        <p:spPr bwMode="auto">
          <a:xfrm>
            <a:off x="2484438" y="2724150"/>
            <a:ext cx="62388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
        <p:nvSpPr>
          <p:cNvPr id="195612" name="TextBox 10"/>
          <p:cNvSpPr txBox="1">
            <a:spLocks noChangeArrowheads="1"/>
          </p:cNvSpPr>
          <p:nvPr/>
        </p:nvSpPr>
        <p:spPr bwMode="auto">
          <a:xfrm>
            <a:off x="2555875" y="5507038"/>
            <a:ext cx="623888"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(Xanh) 0V</a:t>
            </a:r>
          </a:p>
        </p:txBody>
      </p:sp>
      <p:sp>
        <p:nvSpPr>
          <p:cNvPr id="195613" name="TextBox 10"/>
          <p:cNvSpPr txBox="1">
            <a:spLocks noChangeArrowheads="1"/>
          </p:cNvSpPr>
          <p:nvPr/>
        </p:nvSpPr>
        <p:spPr bwMode="auto">
          <a:xfrm>
            <a:off x="2535238" y="2492375"/>
            <a:ext cx="495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
        <p:nvSpPr>
          <p:cNvPr id="195614" name="TextBox 10"/>
          <p:cNvSpPr txBox="1">
            <a:spLocks noChangeArrowheads="1"/>
          </p:cNvSpPr>
          <p:nvPr/>
        </p:nvSpPr>
        <p:spPr bwMode="auto">
          <a:xfrm>
            <a:off x="2555875" y="5289550"/>
            <a:ext cx="495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ea typeface="굴림체" pitchFamily="49" charset="-127"/>
                <a:cs typeface="Times New Roman" pitchFamily="18" charset="0"/>
              </a:rPr>
              <a:t>(Trắng)</a:t>
            </a:r>
          </a:p>
        </p:txBody>
      </p:sp>
    </p:spTree>
  </p:cSld>
  <p:clrMapOvr>
    <a:masterClrMapping/>
  </p:clrMapOvr>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슬라이드 번호 개체 틀 1"/>
          <p:cNvSpPr>
            <a:spLocks noGrp="1"/>
          </p:cNvSpPr>
          <p:nvPr>
            <p:ph type="sldNum" sz="quarter" idx="10"/>
          </p:nvPr>
        </p:nvSpPr>
        <p:spPr>
          <a:xfrm>
            <a:off x="3527425" y="6369050"/>
            <a:ext cx="2133600" cy="476250"/>
          </a:xfrm>
          <a:noFill/>
        </p:spPr>
        <p:txBody>
          <a:bodyPr lIns="36000" tIns="36000" rIns="36000" bIns="36000"/>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0972900-3E77-4261-852E-8811BC557635}" type="slidenum">
              <a:rPr lang="en-US" altLang="ko-KR" sz="1400" smtClean="0">
                <a:latin typeface="Times New Roman" pitchFamily="18" charset="0"/>
                <a:cs typeface="Times New Roman" pitchFamily="18" charset="0"/>
              </a:rPr>
              <a:pPr eaLnBrk="1" hangingPunct="1"/>
              <a:t>187</a:t>
            </a:fld>
            <a:endParaRPr lang="en-US" altLang="ko-KR" sz="1400" smtClean="0">
              <a:latin typeface="Times New Roman" pitchFamily="18" charset="0"/>
              <a:cs typeface="Times New Roman" pitchFamily="18" charset="0"/>
            </a:endParaRPr>
          </a:p>
        </p:txBody>
      </p:sp>
      <p:sp>
        <p:nvSpPr>
          <p:cNvPr id="196611" name="Text Box 2"/>
          <p:cNvSpPr txBox="1">
            <a:spLocks noChangeArrowheads="1"/>
          </p:cNvSpPr>
          <p:nvPr/>
        </p:nvSpPr>
        <p:spPr bwMode="auto">
          <a:xfrm>
            <a:off x="22225" y="38100"/>
            <a:ext cx="9921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graphicFrame>
        <p:nvGraphicFramePr>
          <p:cNvPr id="2812023" name="Group 119"/>
          <p:cNvGraphicFramePr>
            <a:graphicFrameLocks noGrp="1"/>
          </p:cNvGraphicFramePr>
          <p:nvPr/>
        </p:nvGraphicFramePr>
        <p:xfrm>
          <a:off x="371475" y="836613"/>
          <a:ext cx="8529638" cy="5516572"/>
        </p:xfrm>
        <a:graphic>
          <a:graphicData uri="http://schemas.openxmlformats.org/drawingml/2006/table">
            <a:tbl>
              <a:tblPr/>
              <a:tblGrid>
                <a:gridCol w="2295525"/>
                <a:gridCol w="1040904"/>
                <a:gridCol w="4320481"/>
                <a:gridCol w="872728"/>
              </a:tblGrid>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1" i="0" u="none" strike="noStrike" cap="none" normalizeH="0" baseline="0" dirty="0" err="1" smtClean="0">
                          <a:ln>
                            <a:noFill/>
                          </a:ln>
                          <a:solidFill>
                            <a:schemeClr val="tx1"/>
                          </a:solidFill>
                          <a:effectLst/>
                          <a:latin typeface="Times New Roman" pitchFamily="18" charset="0"/>
                          <a:ea typeface="굴림" pitchFamily="50" charset="-127"/>
                          <a:cs typeface="Times New Roman" pitchFamily="18" charset="0"/>
                        </a:rPr>
                        <a:t>Tên</a:t>
                      </a:r>
                      <a:endParaRPr kumimoji="1" lang="ko-KR" altLang="en-US" sz="1000" b="1" i="0" u="none" strike="noStrike" cap="none" normalizeH="0" baseline="0" dirty="0" smtClean="0">
                        <a:ln>
                          <a:noFill/>
                        </a:ln>
                        <a:solidFill>
                          <a:schemeClr val="tx1"/>
                        </a:solidFill>
                        <a:effectLst/>
                        <a:latin typeface="Times New Roman" pitchFamily="18" charset="0"/>
                        <a:ea typeface="굴림"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1"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Tiểu sử</a:t>
                      </a:r>
                      <a:endParaRPr kumimoji="1" lang="ko-KR" altLang="en-US" sz="18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1"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Thành tích</a:t>
                      </a:r>
                      <a:endParaRPr kumimoji="1" lang="ko-KR" altLang="en-US" sz="18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1"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Đơn vị</a:t>
                      </a:r>
                      <a:endParaRPr kumimoji="1" lang="ko-KR" altLang="en-US" sz="18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Thales</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636-546B.C.</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Người đi tiên phong trong lĩnh vực điện-điện tử</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Gillbert,W.</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1544-1603</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Xác định được trái đất là một nam châm vĩ đại</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[Gb]</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Newton,l</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1642-1727</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Công thức hóa quy luật vận động và định luật trọng lực</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[N]</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Franklin,B.</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1706-1790</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Phát kiến ra quy luật bảo toàn năng lượng</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Coulomb,C.A</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1736-1806</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Đo lực điện và lực từ tính</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Watt,J.</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1736-1819</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Khai thác ứng dụng năng lượng hơi nước</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[W]</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Gauss,K.F.</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1771-1855</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Phát biểu định lý phân kỳ của từ thông</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[G]</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Volta,A.</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1745-1827</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Phát minh ra pin volta</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Oersted,H.C</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1777-1851</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Phát kiến ra việc dòng điện sản sinh ra từ trường</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[Oe]</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Ampere,A.M.</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1775-1836</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Phát minh ra điện từ</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[A]</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Henry,J.</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1797-1878</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Thí nghiệm cảm ứng điện, phát minh ra máy điện báo và thiết bị trung gian</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[H]</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Ohm,G.S.</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1787-1854</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Xây dựng lên định luật Ohm</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[Ω]</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Faraday,M.</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1791-1867</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Chứng minh được từ trường sinh ra dòng điện</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[F]</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Weber,W.E.</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1804-1891</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Người tiên phong nghiên cứu về từ trường trái đất</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[Wb]</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Joule,J.P.</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1818-1889</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Chứng minh được nhiệt tỷ lệ thuận với bình phương cường độ dòng điện</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[J]</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Maxwell,J.C.</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1831-1879</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Xây dựng lý thuyết cơ bản về điện từ học</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[Mx]</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rPr>
                        <a:t>Heinrich Hertz</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1857-1894</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rPr>
                        <a:t>Thực nghiệm truyền phát sóng radio</a:t>
                      </a:r>
                      <a:endParaRPr kumimoji="1" lang="ko-KR" altLang="en-US"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[Hz]</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Marconi,G.</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1874-1937</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Truyền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tín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hiệu</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sóng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radio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vượt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qua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Đại</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Tây</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Dương</a:t>
                      </a:r>
                      <a:endParaRPr kumimoji="1" lang="ko-KR" altLang="en-US"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endParaRPr kumimoji="1" lang="en-US" altLang="ko-KR"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Edison,T.A.</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1847-1931</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Phát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minh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ra</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bóng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đèn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tròn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xây</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dựng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nhà</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máy</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phát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điện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đầu</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tiên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trên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thế</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giới</a:t>
                      </a:r>
                      <a:endParaRPr kumimoji="1" lang="ko-KR" altLang="en-US"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25">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Tesla.N.</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1857-1943</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zh-TW"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P</a:t>
                      </a:r>
                      <a:r>
                        <a:rPr kumimoji="1" lang="vi-VN" altLang="zh-TW"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hát triển hệ thống và động cơ truyền tải dòng xoay chiều</a:t>
                      </a:r>
                      <a:r>
                        <a:rPr kumimoji="1" lang="en-US" altLang="zh-TW"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phát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minh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ra</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động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cơ</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cảm</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ứng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từ</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trường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quay</a:t>
                      </a:r>
                      <a:endParaRPr kumimoji="1" lang="ko-KR" altLang="en-US"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a:t>
                      </a:r>
                      <a:endPar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26">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Einstein,A.</a:t>
                      </a: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rPr>
                        <a:t>1879-1955</a:t>
                      </a:r>
                      <a:endParaRPr kumimoji="0" lang="ko-KR" altLang="en-US" sz="1000" b="0" i="0" u="none" strike="noStrike" cap="none" normalizeH="0" baseline="0" smtClean="0">
                        <a:ln>
                          <a:noFill/>
                        </a:ln>
                        <a:solidFill>
                          <a:schemeClr val="tx1"/>
                        </a:solidFill>
                        <a:effectLst/>
                        <a:latin typeface="Times New Roman" pitchFamily="18" charset="0"/>
                        <a:ea typeface="굴림"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Phát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triển</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phương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trình</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Maxwell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bằng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thuyết</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tương</a:t>
                      </a:r>
                      <a:r>
                        <a:rPr kumimoji="1" lang="en-US" altLang="ko-KR"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dirty="0" err="1" smtClean="0">
                          <a:ln>
                            <a:noFill/>
                          </a:ln>
                          <a:solidFill>
                            <a:schemeClr val="tx1"/>
                          </a:solidFill>
                          <a:effectLst/>
                          <a:latin typeface="Times New Roman" pitchFamily="18" charset="0"/>
                          <a:ea typeface="돋움" pitchFamily="50" charset="-127"/>
                          <a:cs typeface="Times New Roman" pitchFamily="18" charset="0"/>
                        </a:rPr>
                        <a:t>đối</a:t>
                      </a:r>
                      <a:endParaRPr kumimoji="1" lang="ko-KR" altLang="en-US" sz="1000" b="0" i="0" u="none" strike="noStrike" cap="none" normalizeH="0" baseline="0" dirty="0" smtClean="0">
                        <a:ln>
                          <a:noFill/>
                        </a:ln>
                        <a:solidFill>
                          <a:schemeClr val="tx1"/>
                        </a:solidFill>
                        <a:effectLst/>
                        <a:latin typeface="Times New Roman" pitchFamily="18" charset="0"/>
                        <a:ea typeface="돋움"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ctr" latinLnBrk="1" hangingPunct="1">
                        <a:lnSpc>
                          <a:spcPct val="100000"/>
                        </a:lnSpc>
                        <a:spcBef>
                          <a:spcPct val="0"/>
                        </a:spcBef>
                        <a:spcAft>
                          <a:spcPct val="0"/>
                        </a:spcAft>
                        <a:buClrTx/>
                        <a:buSzTx/>
                        <a:buFontTx/>
                        <a:buNone/>
                        <a:tabLst/>
                      </a:pPr>
                      <a:endParaRPr kumimoji="1" lang="en-US" altLang="ko-KR" sz="1000" b="0" i="0" u="none" strike="noStrike" cap="none" normalizeH="0" baseline="0" dirty="0" smtClean="0">
                        <a:ln>
                          <a:noFill/>
                        </a:ln>
                        <a:solidFill>
                          <a:schemeClr val="tx1"/>
                        </a:solidFill>
                        <a:effectLst/>
                        <a:latin typeface="Times New Roman" pitchFamily="18" charset="0"/>
                        <a:ea typeface="굴림" pitchFamily="50" charset="-127"/>
                        <a:cs typeface="Times New Roman" pitchFamily="18"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96729" name="Text Box 118"/>
          <p:cNvSpPr txBox="1">
            <a:spLocks noChangeArrowheads="1"/>
          </p:cNvSpPr>
          <p:nvPr/>
        </p:nvSpPr>
        <p:spPr bwMode="auto">
          <a:xfrm>
            <a:off x="371475" y="476250"/>
            <a:ext cx="157638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Phụ lục 1. Lịch sử điện</a:t>
            </a:r>
            <a:endParaRPr lang="ko-KR" altLang="en-US"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DF2552A1-1B80-4EAA-A347-B89590FC890F}" type="slidenum">
              <a:rPr lang="en-US" altLang="ko-KR" sz="1400" smtClean="0">
                <a:latin typeface="Times New Roman" pitchFamily="18" charset="0"/>
                <a:cs typeface="Times New Roman" pitchFamily="18" charset="0"/>
              </a:rPr>
              <a:pPr eaLnBrk="1" hangingPunct="1"/>
              <a:t>188</a:t>
            </a:fld>
            <a:endParaRPr lang="en-US" altLang="ko-KR" sz="1400" smtClean="0">
              <a:latin typeface="Times New Roman" pitchFamily="18" charset="0"/>
              <a:cs typeface="Times New Roman" pitchFamily="18" charset="0"/>
            </a:endParaRPr>
          </a:p>
        </p:txBody>
      </p:sp>
      <p:sp>
        <p:nvSpPr>
          <p:cNvPr id="197635" name="Text Box 2"/>
          <p:cNvSpPr txBox="1">
            <a:spLocks noChangeArrowheads="1"/>
          </p:cNvSpPr>
          <p:nvPr/>
        </p:nvSpPr>
        <p:spPr bwMode="auto">
          <a:xfrm>
            <a:off x="22225" y="38100"/>
            <a:ext cx="1009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sp>
        <p:nvSpPr>
          <p:cNvPr id="197636" name="Text Box 115"/>
          <p:cNvSpPr txBox="1">
            <a:spLocks noChangeArrowheads="1"/>
          </p:cNvSpPr>
          <p:nvPr/>
        </p:nvSpPr>
        <p:spPr bwMode="auto">
          <a:xfrm>
            <a:off x="371475" y="674688"/>
            <a:ext cx="203993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Phụ lục 2. Ký hiệu và đơn vị</a:t>
            </a:r>
            <a:endParaRPr lang="ko-KR" altLang="en-US" b="1">
              <a:latin typeface="Times New Roman" pitchFamily="18" charset="0"/>
              <a:cs typeface="Times New Roman" pitchFamily="18" charset="0"/>
            </a:endParaRPr>
          </a:p>
        </p:txBody>
      </p:sp>
      <p:sp>
        <p:nvSpPr>
          <p:cNvPr id="197637" name="Text Box 117"/>
          <p:cNvSpPr txBox="1">
            <a:spLocks noChangeArrowheads="1"/>
          </p:cNvSpPr>
          <p:nvPr/>
        </p:nvSpPr>
        <p:spPr bwMode="auto">
          <a:xfrm>
            <a:off x="188913" y="1520825"/>
            <a:ext cx="8648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400">
                <a:latin typeface="Times New Roman" pitchFamily="18" charset="0"/>
                <a:cs typeface="Times New Roman" pitchFamily="18" charset="0"/>
              </a:rPr>
              <a:t>Các đơn vị sử dụng trong kỹ thuật điện: Hệ thống đơn vị MKS (được gọi là hệ thống đơn vị tiêu chuẩn quốc tế(SI))</a:t>
            </a:r>
          </a:p>
        </p:txBody>
      </p:sp>
      <p:sp>
        <p:nvSpPr>
          <p:cNvPr id="197638" name="Text Box 118"/>
          <p:cNvSpPr txBox="1">
            <a:spLocks noChangeArrowheads="1"/>
          </p:cNvSpPr>
          <p:nvPr/>
        </p:nvSpPr>
        <p:spPr bwMode="auto">
          <a:xfrm>
            <a:off x="600075" y="5257800"/>
            <a:ext cx="27670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Hệ thống đơn vị MKS là hệ thống đơn vị bao gồm</a:t>
            </a:r>
          </a:p>
          <a:p>
            <a:pPr eaLnBrk="1" latinLnBrk="1" hangingPunct="1">
              <a:lnSpc>
                <a:spcPct val="100000"/>
              </a:lnSpc>
            </a:pPr>
            <a:r>
              <a:rPr lang="ko-KR" altLang="en-US" sz="1000">
                <a:latin typeface="Times New Roman" pitchFamily="18" charset="0"/>
                <a:cs typeface="Times New Roman" pitchFamily="18" charset="0"/>
              </a:rPr>
              <a:t> </a:t>
            </a:r>
            <a:r>
              <a:rPr lang="en-US" altLang="ko-KR" sz="1000" b="1">
                <a:latin typeface="Times New Roman" pitchFamily="18" charset="0"/>
                <a:cs typeface="Times New Roman" pitchFamily="18" charset="0"/>
              </a:rPr>
              <a:t>M</a:t>
            </a:r>
            <a:r>
              <a:rPr lang="en-US" altLang="ko-KR" sz="1000">
                <a:latin typeface="Times New Roman" pitchFamily="18" charset="0"/>
                <a:cs typeface="Times New Roman" pitchFamily="18" charset="0"/>
              </a:rPr>
              <a:t>eter, </a:t>
            </a:r>
            <a:r>
              <a:rPr lang="en-US" altLang="ko-KR" sz="1000" b="1">
                <a:latin typeface="Times New Roman" pitchFamily="18" charset="0"/>
                <a:cs typeface="Times New Roman" pitchFamily="18" charset="0"/>
              </a:rPr>
              <a:t>K</a:t>
            </a:r>
            <a:r>
              <a:rPr lang="en-US" altLang="ko-KR" sz="1000">
                <a:latin typeface="Times New Roman" pitchFamily="18" charset="0"/>
                <a:cs typeface="Times New Roman" pitchFamily="18" charset="0"/>
              </a:rPr>
              <a:t>ilogram, </a:t>
            </a:r>
            <a:r>
              <a:rPr lang="en-US" altLang="ko-KR" sz="1000" b="1">
                <a:latin typeface="Times New Roman" pitchFamily="18" charset="0"/>
                <a:cs typeface="Times New Roman" pitchFamily="18" charset="0"/>
              </a:rPr>
              <a:t>S</a:t>
            </a:r>
            <a:r>
              <a:rPr lang="en-US" altLang="ko-KR" sz="1000">
                <a:latin typeface="Times New Roman" pitchFamily="18" charset="0"/>
                <a:cs typeface="Times New Roman" pitchFamily="18" charset="0"/>
              </a:rPr>
              <a:t>econd(giây).</a:t>
            </a:r>
          </a:p>
        </p:txBody>
      </p:sp>
      <p:sp>
        <p:nvSpPr>
          <p:cNvPr id="197639" name="Text Box 119"/>
          <p:cNvSpPr txBox="1">
            <a:spLocks noChangeArrowheads="1"/>
          </p:cNvSpPr>
          <p:nvPr/>
        </p:nvSpPr>
        <p:spPr bwMode="auto">
          <a:xfrm>
            <a:off x="4787900" y="5318125"/>
            <a:ext cx="38608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Sức chứa của tụ điện được tính bằng đơn vị điện farad[F].</a:t>
            </a:r>
          </a:p>
          <a:p>
            <a:pPr eaLnBrk="1" latinLnBrk="1" hangingPunct="1">
              <a:lnSpc>
                <a:spcPct val="100000"/>
              </a:lnSpc>
            </a:pPr>
            <a:r>
              <a:rPr lang="en-US" altLang="ko-KR" sz="1000">
                <a:latin typeface="Times New Roman" pitchFamily="18" charset="0"/>
                <a:cs typeface="Times New Roman" pitchFamily="18" charset="0"/>
              </a:rPr>
              <a:t> Lượng tự cảm có ký hiệu là [H](Henry), từ thông là</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[Wb]weber, </a:t>
            </a:r>
          </a:p>
          <a:p>
            <a:pPr eaLnBrk="1" latinLnBrk="1" hangingPunct="1">
              <a:lnSpc>
                <a:spcPct val="100000"/>
              </a:lnSpc>
            </a:pPr>
            <a:r>
              <a:rPr lang="en-US" altLang="ko-KR" sz="1000">
                <a:latin typeface="Times New Roman" pitchFamily="18" charset="0"/>
                <a:cs typeface="Times New Roman" pitchFamily="18" charset="0"/>
              </a:rPr>
              <a:t> điện áp</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[V](volt), cường độ dòng điện</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[A]ampere, lực</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[N](Newton).</a:t>
            </a:r>
          </a:p>
        </p:txBody>
      </p:sp>
      <p:pic>
        <p:nvPicPr>
          <p:cNvPr id="197640" name="Picture 1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 y="1952625"/>
            <a:ext cx="8537575" cy="318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97641" name="직사각형 1"/>
          <p:cNvSpPr>
            <a:spLocks noChangeArrowheads="1"/>
          </p:cNvSpPr>
          <p:nvPr/>
        </p:nvSpPr>
        <p:spPr bwMode="auto">
          <a:xfrm>
            <a:off x="406400" y="1952625"/>
            <a:ext cx="852488" cy="3238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sz="800">
                <a:latin typeface="Times New Roman" pitchFamily="18" charset="0"/>
                <a:cs typeface="Times New Roman" pitchFamily="18" charset="0"/>
              </a:rPr>
              <a:t>Đại lượng vật lý</a:t>
            </a:r>
            <a:endParaRPr lang="ko-KR" altLang="en-US" sz="800">
              <a:latin typeface="Times New Roman" pitchFamily="18" charset="0"/>
              <a:cs typeface="Times New Roman" pitchFamily="18" charset="0"/>
            </a:endParaRPr>
          </a:p>
        </p:txBody>
      </p:sp>
      <p:sp>
        <p:nvSpPr>
          <p:cNvPr id="11" name="직사각형 10"/>
          <p:cNvSpPr/>
          <p:nvPr/>
        </p:nvSpPr>
        <p:spPr bwMode="auto">
          <a:xfrm>
            <a:off x="4716463" y="1973263"/>
            <a:ext cx="830262" cy="284162"/>
          </a:xfrm>
          <a:prstGeom prst="rect">
            <a:avLst/>
          </a:prstGeom>
          <a:solidFill>
            <a:schemeClr val="bg1"/>
          </a:solidFill>
          <a:ln w="9525" cap="flat" cmpd="sng" algn="ctr">
            <a:noFill/>
            <a:prstDash val="solid"/>
            <a:round/>
            <a:headEnd type="none" w="med" len="med"/>
            <a:tailEnd type="none" w="med" len="med"/>
          </a:ln>
          <a:effectLst/>
          <a:extLst/>
        </p:spPr>
        <p:txBody>
          <a:bodyPr anchor="ctr"/>
          <a:lstStyle/>
          <a:p>
            <a:pPr algn="ctr">
              <a:defRPr/>
            </a:pPr>
            <a:r>
              <a:rPr lang="en-US" altLang="ko-KR" sz="750" dirty="0" err="1">
                <a:latin typeface="Times New Roman" panose="02020603050405020304" pitchFamily="18" charset="0"/>
                <a:cs typeface="Times New Roman" panose="02020603050405020304" pitchFamily="18" charset="0"/>
              </a:rPr>
              <a:t>Đại</a:t>
            </a:r>
            <a:r>
              <a:rPr lang="en-US" altLang="ko-KR" sz="750" dirty="0">
                <a:latin typeface="Times New Roman" panose="02020603050405020304" pitchFamily="18" charset="0"/>
                <a:cs typeface="Times New Roman" panose="02020603050405020304" pitchFamily="18" charset="0"/>
              </a:rPr>
              <a:t> </a:t>
            </a:r>
            <a:r>
              <a:rPr lang="en-US" altLang="ko-KR" sz="750" dirty="0" err="1">
                <a:latin typeface="Times New Roman" panose="02020603050405020304" pitchFamily="18" charset="0"/>
                <a:cs typeface="Times New Roman" panose="02020603050405020304" pitchFamily="18" charset="0"/>
              </a:rPr>
              <a:t>lượng</a:t>
            </a:r>
            <a:r>
              <a:rPr lang="en-US" altLang="ko-KR" sz="750" dirty="0">
                <a:latin typeface="Times New Roman" panose="02020603050405020304" pitchFamily="18" charset="0"/>
                <a:cs typeface="Times New Roman" panose="02020603050405020304" pitchFamily="18" charset="0"/>
              </a:rPr>
              <a:t> </a:t>
            </a:r>
            <a:r>
              <a:rPr lang="en-US" altLang="ko-KR" sz="750" dirty="0" err="1">
                <a:latin typeface="Times New Roman" panose="02020603050405020304" pitchFamily="18" charset="0"/>
                <a:cs typeface="Times New Roman" panose="02020603050405020304" pitchFamily="18" charset="0"/>
              </a:rPr>
              <a:t>vật</a:t>
            </a:r>
            <a:r>
              <a:rPr lang="en-US" altLang="ko-KR" sz="750" dirty="0">
                <a:latin typeface="Times New Roman" panose="02020603050405020304" pitchFamily="18" charset="0"/>
                <a:cs typeface="Times New Roman" panose="02020603050405020304" pitchFamily="18" charset="0"/>
              </a:rPr>
              <a:t> </a:t>
            </a:r>
            <a:r>
              <a:rPr lang="en-US" altLang="ko-KR" sz="750" dirty="0" err="1">
                <a:latin typeface="Times New Roman" panose="02020603050405020304" pitchFamily="18" charset="0"/>
                <a:cs typeface="Times New Roman" panose="02020603050405020304" pitchFamily="18" charset="0"/>
              </a:rPr>
              <a:t>lý</a:t>
            </a:r>
            <a:endParaRPr lang="ko-KR" altLang="en-US" sz="750" dirty="0">
              <a:latin typeface="Times New Roman" panose="02020603050405020304" pitchFamily="18" charset="0"/>
              <a:cs typeface="Times New Roman" panose="02020603050405020304" pitchFamily="18" charset="0"/>
            </a:endParaRPr>
          </a:p>
        </p:txBody>
      </p:sp>
      <p:sp>
        <p:nvSpPr>
          <p:cNvPr id="197643" name="직사각형 11"/>
          <p:cNvSpPr>
            <a:spLocks noChangeArrowheads="1"/>
          </p:cNvSpPr>
          <p:nvPr/>
        </p:nvSpPr>
        <p:spPr bwMode="auto">
          <a:xfrm>
            <a:off x="441325" y="2349500"/>
            <a:ext cx="7810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Chiều dài</a:t>
            </a:r>
            <a:endParaRPr lang="ko-KR" altLang="en-US" sz="800">
              <a:latin typeface="Times New Roman" pitchFamily="18" charset="0"/>
              <a:cs typeface="Times New Roman" pitchFamily="18" charset="0"/>
            </a:endParaRPr>
          </a:p>
        </p:txBody>
      </p:sp>
      <p:sp>
        <p:nvSpPr>
          <p:cNvPr id="197644" name="직사각형 13"/>
          <p:cNvSpPr>
            <a:spLocks noChangeArrowheads="1"/>
          </p:cNvSpPr>
          <p:nvPr/>
        </p:nvSpPr>
        <p:spPr bwMode="auto">
          <a:xfrm>
            <a:off x="441325" y="2608263"/>
            <a:ext cx="781050"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Trọng lượng</a:t>
            </a:r>
            <a:endParaRPr lang="ko-KR" altLang="en-US" sz="800">
              <a:latin typeface="Times New Roman" pitchFamily="18" charset="0"/>
              <a:cs typeface="Times New Roman" pitchFamily="18" charset="0"/>
            </a:endParaRPr>
          </a:p>
        </p:txBody>
      </p:sp>
      <p:sp>
        <p:nvSpPr>
          <p:cNvPr id="197645" name="직사각형 14"/>
          <p:cNvSpPr>
            <a:spLocks noChangeArrowheads="1"/>
          </p:cNvSpPr>
          <p:nvPr/>
        </p:nvSpPr>
        <p:spPr bwMode="auto">
          <a:xfrm>
            <a:off x="427038" y="2924175"/>
            <a:ext cx="815975"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Thời gian</a:t>
            </a:r>
            <a:endParaRPr lang="ko-KR" altLang="en-US" sz="800">
              <a:latin typeface="Times New Roman" pitchFamily="18" charset="0"/>
              <a:cs typeface="Times New Roman" pitchFamily="18" charset="0"/>
            </a:endParaRPr>
          </a:p>
        </p:txBody>
      </p:sp>
      <p:sp>
        <p:nvSpPr>
          <p:cNvPr id="197646" name="직사각형 15"/>
          <p:cNvSpPr>
            <a:spLocks noChangeArrowheads="1"/>
          </p:cNvSpPr>
          <p:nvPr/>
        </p:nvSpPr>
        <p:spPr bwMode="auto">
          <a:xfrm>
            <a:off x="427038" y="3241675"/>
            <a:ext cx="811212" cy="288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Lực</a:t>
            </a:r>
            <a:endParaRPr lang="ko-KR" altLang="en-US" sz="800">
              <a:latin typeface="Times New Roman" pitchFamily="18" charset="0"/>
              <a:cs typeface="Times New Roman" pitchFamily="18" charset="0"/>
            </a:endParaRPr>
          </a:p>
        </p:txBody>
      </p:sp>
      <p:sp>
        <p:nvSpPr>
          <p:cNvPr id="197647" name="직사각형 16"/>
          <p:cNvSpPr>
            <a:spLocks noChangeArrowheads="1"/>
          </p:cNvSpPr>
          <p:nvPr/>
        </p:nvSpPr>
        <p:spPr bwMode="auto">
          <a:xfrm>
            <a:off x="454025" y="360838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tích</a:t>
            </a:r>
            <a:endParaRPr lang="ko-KR" altLang="en-US" sz="800">
              <a:latin typeface="Times New Roman" pitchFamily="18" charset="0"/>
              <a:cs typeface="Times New Roman" pitchFamily="18" charset="0"/>
            </a:endParaRPr>
          </a:p>
        </p:txBody>
      </p:sp>
      <p:sp>
        <p:nvSpPr>
          <p:cNvPr id="197648" name="직사각형 17"/>
          <p:cNvSpPr>
            <a:spLocks noChangeArrowheads="1"/>
          </p:cNvSpPr>
          <p:nvPr/>
        </p:nvSpPr>
        <p:spPr bwMode="auto">
          <a:xfrm>
            <a:off x="447675" y="3876675"/>
            <a:ext cx="768350" cy="3063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Cường độ dòng điện</a:t>
            </a:r>
            <a:endParaRPr lang="ko-KR" altLang="en-US" sz="800">
              <a:latin typeface="Times New Roman" pitchFamily="18" charset="0"/>
              <a:cs typeface="Times New Roman" pitchFamily="18" charset="0"/>
            </a:endParaRPr>
          </a:p>
        </p:txBody>
      </p:sp>
      <p:sp>
        <p:nvSpPr>
          <p:cNvPr id="197649" name="직사각형 18"/>
          <p:cNvSpPr>
            <a:spLocks noChangeArrowheads="1"/>
          </p:cNvSpPr>
          <p:nvPr/>
        </p:nvSpPr>
        <p:spPr bwMode="auto">
          <a:xfrm>
            <a:off x="427038" y="4213225"/>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thế</a:t>
            </a:r>
            <a:endParaRPr lang="ko-KR" altLang="en-US" sz="800">
              <a:latin typeface="Times New Roman" pitchFamily="18" charset="0"/>
              <a:cs typeface="Times New Roman" pitchFamily="18" charset="0"/>
            </a:endParaRPr>
          </a:p>
        </p:txBody>
      </p:sp>
      <p:sp>
        <p:nvSpPr>
          <p:cNvPr id="197650" name="직사각형 19"/>
          <p:cNvSpPr>
            <a:spLocks noChangeArrowheads="1"/>
          </p:cNvSpPr>
          <p:nvPr/>
        </p:nvSpPr>
        <p:spPr bwMode="auto">
          <a:xfrm>
            <a:off x="444500" y="456088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trường</a:t>
            </a:r>
            <a:endParaRPr lang="ko-KR" altLang="en-US" sz="800">
              <a:latin typeface="Times New Roman" pitchFamily="18" charset="0"/>
              <a:cs typeface="Times New Roman" pitchFamily="18" charset="0"/>
            </a:endParaRPr>
          </a:p>
        </p:txBody>
      </p:sp>
      <p:sp>
        <p:nvSpPr>
          <p:cNvPr id="197651" name="직사각형 20"/>
          <p:cNvSpPr>
            <a:spLocks noChangeArrowheads="1"/>
          </p:cNvSpPr>
          <p:nvPr/>
        </p:nvSpPr>
        <p:spPr bwMode="auto">
          <a:xfrm>
            <a:off x="441325" y="4833938"/>
            <a:ext cx="768350" cy="27146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Mật độ từ thông</a:t>
            </a:r>
            <a:endParaRPr lang="ko-KR" altLang="en-US" sz="800">
              <a:latin typeface="Times New Roman" pitchFamily="18" charset="0"/>
              <a:cs typeface="Times New Roman" pitchFamily="18" charset="0"/>
            </a:endParaRPr>
          </a:p>
        </p:txBody>
      </p:sp>
      <p:sp>
        <p:nvSpPr>
          <p:cNvPr id="197652" name="직사각형 21"/>
          <p:cNvSpPr>
            <a:spLocks noChangeArrowheads="1"/>
          </p:cNvSpPr>
          <p:nvPr/>
        </p:nvSpPr>
        <p:spPr bwMode="auto">
          <a:xfrm>
            <a:off x="1423988" y="1952625"/>
            <a:ext cx="1635125" cy="2524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Hệ thống đơn vị MKS</a:t>
            </a:r>
            <a:endParaRPr lang="ko-KR" altLang="en-US" sz="1000">
              <a:latin typeface="Times New Roman" pitchFamily="18" charset="0"/>
              <a:cs typeface="Times New Roman" pitchFamily="18" charset="0"/>
            </a:endParaRPr>
          </a:p>
        </p:txBody>
      </p:sp>
      <p:sp>
        <p:nvSpPr>
          <p:cNvPr id="197653" name="직사각형 22"/>
          <p:cNvSpPr>
            <a:spLocks noChangeArrowheads="1"/>
          </p:cNvSpPr>
          <p:nvPr/>
        </p:nvSpPr>
        <p:spPr bwMode="auto">
          <a:xfrm>
            <a:off x="3754438" y="1992313"/>
            <a:ext cx="831850" cy="2444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Đơn vị</a:t>
            </a:r>
            <a:endParaRPr lang="ko-KR" altLang="en-US" sz="1000">
              <a:latin typeface="Times New Roman" pitchFamily="18" charset="0"/>
              <a:cs typeface="Times New Roman" pitchFamily="18" charset="0"/>
            </a:endParaRPr>
          </a:p>
        </p:txBody>
      </p:sp>
      <p:sp>
        <p:nvSpPr>
          <p:cNvPr id="197654" name="직사각형 23"/>
          <p:cNvSpPr>
            <a:spLocks noChangeArrowheads="1"/>
          </p:cNvSpPr>
          <p:nvPr/>
        </p:nvSpPr>
        <p:spPr bwMode="auto">
          <a:xfrm>
            <a:off x="5989638" y="1992313"/>
            <a:ext cx="1635125" cy="2524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r" eaLnBrk="1" hangingPunct="1"/>
            <a:r>
              <a:rPr lang="en-US" altLang="ko-KR" sz="1000">
                <a:latin typeface="Times New Roman" pitchFamily="18" charset="0"/>
                <a:cs typeface="Times New Roman" pitchFamily="18" charset="0"/>
              </a:rPr>
              <a:t>Hệ thống đơn vị MKS</a:t>
            </a:r>
            <a:endParaRPr lang="ko-KR" altLang="en-US" sz="1000">
              <a:latin typeface="Times New Roman" pitchFamily="18" charset="0"/>
              <a:cs typeface="Times New Roman" pitchFamily="18" charset="0"/>
            </a:endParaRPr>
          </a:p>
        </p:txBody>
      </p:sp>
      <p:sp>
        <p:nvSpPr>
          <p:cNvPr id="197655" name="직사각형 24"/>
          <p:cNvSpPr>
            <a:spLocks noChangeArrowheads="1"/>
          </p:cNvSpPr>
          <p:nvPr/>
        </p:nvSpPr>
        <p:spPr bwMode="auto">
          <a:xfrm>
            <a:off x="8005763" y="2001838"/>
            <a:ext cx="831850" cy="2428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1000">
                <a:latin typeface="Times New Roman" pitchFamily="18" charset="0"/>
                <a:cs typeface="Times New Roman" pitchFamily="18" charset="0"/>
              </a:rPr>
              <a:t>Đơn vị</a:t>
            </a:r>
            <a:endParaRPr lang="ko-KR" altLang="en-US" sz="1000">
              <a:latin typeface="Times New Roman" pitchFamily="18" charset="0"/>
              <a:cs typeface="Times New Roman" pitchFamily="18" charset="0"/>
            </a:endParaRPr>
          </a:p>
        </p:txBody>
      </p:sp>
      <p:sp>
        <p:nvSpPr>
          <p:cNvPr id="197656" name="직사각형 25"/>
          <p:cNvSpPr>
            <a:spLocks noChangeArrowheads="1"/>
          </p:cNvSpPr>
          <p:nvPr/>
        </p:nvSpPr>
        <p:spPr bwMode="auto">
          <a:xfrm>
            <a:off x="4760913" y="2316163"/>
            <a:ext cx="768350" cy="21748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lượng</a:t>
            </a:r>
            <a:endParaRPr lang="ko-KR" altLang="en-US" sz="800">
              <a:latin typeface="Times New Roman" pitchFamily="18" charset="0"/>
              <a:cs typeface="Times New Roman" pitchFamily="18" charset="0"/>
            </a:endParaRPr>
          </a:p>
        </p:txBody>
      </p:sp>
      <p:sp>
        <p:nvSpPr>
          <p:cNvPr id="197657" name="직사각형 26"/>
          <p:cNvSpPr>
            <a:spLocks noChangeArrowheads="1"/>
          </p:cNvSpPr>
          <p:nvPr/>
        </p:nvSpPr>
        <p:spPr bwMode="auto">
          <a:xfrm>
            <a:off x="4746625" y="2644775"/>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ra</a:t>
            </a:r>
            <a:endParaRPr lang="ko-KR" altLang="en-US" sz="800">
              <a:latin typeface="Times New Roman" pitchFamily="18" charset="0"/>
              <a:cs typeface="Times New Roman" pitchFamily="18" charset="0"/>
            </a:endParaRPr>
          </a:p>
        </p:txBody>
      </p:sp>
      <p:sp>
        <p:nvSpPr>
          <p:cNvPr id="197658" name="직사각형 27"/>
          <p:cNvSpPr>
            <a:spLocks noChangeArrowheads="1"/>
          </p:cNvSpPr>
          <p:nvPr/>
        </p:nvSpPr>
        <p:spPr bwMode="auto">
          <a:xfrm>
            <a:off x="4740275" y="2952750"/>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Năng lượng</a:t>
            </a:r>
            <a:endParaRPr lang="ko-KR" altLang="en-US" sz="800">
              <a:latin typeface="Times New Roman" pitchFamily="18" charset="0"/>
              <a:cs typeface="Times New Roman" pitchFamily="18" charset="0"/>
            </a:endParaRPr>
          </a:p>
        </p:txBody>
      </p:sp>
      <p:sp>
        <p:nvSpPr>
          <p:cNvPr id="197659" name="직사각형 28"/>
          <p:cNvSpPr>
            <a:spLocks noChangeArrowheads="1"/>
          </p:cNvSpPr>
          <p:nvPr/>
        </p:nvSpPr>
        <p:spPr bwMode="auto">
          <a:xfrm>
            <a:off x="4725988" y="327818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Điện trở</a:t>
            </a:r>
            <a:endParaRPr lang="ko-KR" altLang="en-US" sz="800">
              <a:latin typeface="Times New Roman" pitchFamily="18" charset="0"/>
              <a:cs typeface="Times New Roman" pitchFamily="18" charset="0"/>
            </a:endParaRPr>
          </a:p>
        </p:txBody>
      </p:sp>
      <p:sp>
        <p:nvSpPr>
          <p:cNvPr id="197660" name="직사각형 29"/>
          <p:cNvSpPr>
            <a:spLocks noChangeArrowheads="1"/>
          </p:cNvSpPr>
          <p:nvPr/>
        </p:nvSpPr>
        <p:spPr bwMode="auto">
          <a:xfrm>
            <a:off x="4740275" y="360838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Từ thông</a:t>
            </a:r>
            <a:endParaRPr lang="ko-KR" altLang="en-US" sz="800">
              <a:latin typeface="Times New Roman" pitchFamily="18" charset="0"/>
              <a:cs typeface="Times New Roman" pitchFamily="18" charset="0"/>
            </a:endParaRPr>
          </a:p>
        </p:txBody>
      </p:sp>
      <p:sp>
        <p:nvSpPr>
          <p:cNvPr id="197661" name="직사각형 30"/>
          <p:cNvSpPr>
            <a:spLocks noChangeArrowheads="1"/>
          </p:cNvSpPr>
          <p:nvPr/>
        </p:nvSpPr>
        <p:spPr bwMode="auto">
          <a:xfrm>
            <a:off x="4778375" y="3876675"/>
            <a:ext cx="736600" cy="2730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Mật độ từ thông</a:t>
            </a:r>
            <a:endParaRPr lang="ko-KR" altLang="en-US" sz="800">
              <a:latin typeface="Times New Roman" pitchFamily="18" charset="0"/>
              <a:cs typeface="Times New Roman" pitchFamily="18" charset="0"/>
            </a:endParaRPr>
          </a:p>
        </p:txBody>
      </p:sp>
      <p:sp>
        <p:nvSpPr>
          <p:cNvPr id="197662" name="직사각형 31"/>
          <p:cNvSpPr>
            <a:spLocks noChangeArrowheads="1"/>
          </p:cNvSpPr>
          <p:nvPr/>
        </p:nvSpPr>
        <p:spPr bwMode="auto">
          <a:xfrm>
            <a:off x="4760913" y="4213225"/>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Từ trường</a:t>
            </a:r>
            <a:endParaRPr lang="ko-KR" altLang="en-US" sz="800">
              <a:latin typeface="Times New Roman" pitchFamily="18" charset="0"/>
              <a:cs typeface="Times New Roman" pitchFamily="18" charset="0"/>
            </a:endParaRPr>
          </a:p>
        </p:txBody>
      </p:sp>
      <p:sp>
        <p:nvSpPr>
          <p:cNvPr id="197663" name="직사각형 32"/>
          <p:cNvSpPr>
            <a:spLocks noChangeArrowheads="1"/>
          </p:cNvSpPr>
          <p:nvPr/>
        </p:nvSpPr>
        <p:spPr bwMode="auto">
          <a:xfrm>
            <a:off x="4716463" y="483393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Nhiệt độ</a:t>
            </a:r>
            <a:endParaRPr lang="ko-KR" altLang="en-US" sz="800">
              <a:latin typeface="Times New Roman" pitchFamily="18" charset="0"/>
              <a:cs typeface="Times New Roman" pitchFamily="18" charset="0"/>
            </a:endParaRPr>
          </a:p>
        </p:txBody>
      </p:sp>
      <p:sp>
        <p:nvSpPr>
          <p:cNvPr id="197664" name="직사각형 34"/>
          <p:cNvSpPr>
            <a:spLocks noChangeArrowheads="1"/>
          </p:cNvSpPr>
          <p:nvPr/>
        </p:nvSpPr>
        <p:spPr bwMode="auto">
          <a:xfrm>
            <a:off x="4716463" y="4560888"/>
            <a:ext cx="768350"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800">
                <a:latin typeface="Times New Roman" pitchFamily="18" charset="0"/>
                <a:cs typeface="Times New Roman" pitchFamily="18" charset="0"/>
              </a:rPr>
              <a:t>Độ tự cảm</a:t>
            </a:r>
            <a:endParaRPr lang="ko-KR" altLang="en-US" sz="80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슬라이드 번호 개체 틀 1"/>
          <p:cNvSpPr>
            <a:spLocks noGrp="1"/>
          </p:cNvSpPr>
          <p:nvPr>
            <p:ph type="sldNum" sz="quarter" idx="10"/>
          </p:nvPr>
        </p:nvSpPr>
        <p:spPr>
          <a:noFill/>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fld id="{9C8EBE34-8AAA-496D-BF82-42B7AE4F08F4}" type="slidenum">
              <a:rPr lang="en-US" altLang="ko-KR" sz="1400" smtClean="0">
                <a:latin typeface="Times New Roman" pitchFamily="18" charset="0"/>
                <a:cs typeface="Times New Roman" pitchFamily="18" charset="0"/>
              </a:rPr>
              <a:pPr eaLnBrk="1" hangingPunct="1"/>
              <a:t>189</a:t>
            </a:fld>
            <a:endParaRPr lang="en-US" altLang="ko-KR" sz="1400" smtClean="0">
              <a:latin typeface="Times New Roman" pitchFamily="18" charset="0"/>
              <a:cs typeface="Times New Roman" pitchFamily="18" charset="0"/>
            </a:endParaRPr>
          </a:p>
        </p:txBody>
      </p:sp>
      <p:sp>
        <p:nvSpPr>
          <p:cNvPr id="198659" name="Text Box 2"/>
          <p:cNvSpPr txBox="1">
            <a:spLocks noChangeArrowheads="1"/>
          </p:cNvSpPr>
          <p:nvPr/>
        </p:nvSpPr>
        <p:spPr bwMode="auto">
          <a:xfrm>
            <a:off x="0" y="0"/>
            <a:ext cx="1009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sp>
        <p:nvSpPr>
          <p:cNvPr id="198660" name="Text Box 3"/>
          <p:cNvSpPr txBox="1">
            <a:spLocks noChangeArrowheads="1"/>
          </p:cNvSpPr>
          <p:nvPr/>
        </p:nvSpPr>
        <p:spPr bwMode="auto">
          <a:xfrm>
            <a:off x="371475" y="674688"/>
            <a:ext cx="264953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Phụ lục 3. Tiếp đầu ngữ hệ thập phân</a:t>
            </a:r>
            <a:endParaRPr lang="ko-KR" altLang="en-US" b="1">
              <a:latin typeface="Times New Roman" pitchFamily="18" charset="0"/>
              <a:cs typeface="Times New Roman" pitchFamily="18" charset="0"/>
            </a:endParaRPr>
          </a:p>
        </p:txBody>
      </p:sp>
      <p:sp>
        <p:nvSpPr>
          <p:cNvPr id="198661" name="Rectangle 4"/>
          <p:cNvSpPr>
            <a:spLocks noChangeArrowheads="1"/>
          </p:cNvSpPr>
          <p:nvPr/>
        </p:nvSpPr>
        <p:spPr bwMode="auto">
          <a:xfrm>
            <a:off x="911225" y="5227638"/>
            <a:ext cx="7264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r>
              <a:rPr lang="en-US" altLang="ko-KR" sz="1000">
                <a:latin typeface="Times New Roman" pitchFamily="18" charset="0"/>
                <a:cs typeface="Times New Roman" pitchFamily="18" charset="0"/>
              </a:rPr>
              <a:t>Ổ cứng máy tính sử dụng dung lượng 13[GB], dung lượng bộ nhớ(RAM) 64[MB], điện trở dùng trên linh kiện điện tử </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1.5[kΩ],</a:t>
            </a:r>
          </a:p>
          <a:p>
            <a:pPr algn="ctr" eaLnBrk="1" latinLnBrk="1" hangingPunct="1">
              <a:lnSpc>
                <a:spcPct val="100000"/>
              </a:lnSpc>
            </a:pPr>
            <a:r>
              <a:rPr lang="en-US" altLang="ko-KR" sz="1000">
                <a:latin typeface="Times New Roman" pitchFamily="18" charset="0"/>
                <a:cs typeface="Times New Roman" pitchFamily="18" charset="0"/>
              </a:rPr>
              <a:t> dung lượng tĩnh điện của tụ điện [μF] và trọng lượng dùng [kg].</a:t>
            </a:r>
            <a:br>
              <a:rPr lang="en-US" altLang="ko-KR" sz="1000">
                <a:latin typeface="Times New Roman" pitchFamily="18" charset="0"/>
                <a:cs typeface="Times New Roman" pitchFamily="18" charset="0"/>
              </a:rPr>
            </a:br>
            <a:r>
              <a:rPr lang="en-US" altLang="ko-KR" sz="1000">
                <a:latin typeface="Times New Roman" pitchFamily="18" charset="0"/>
                <a:cs typeface="Times New Roman" pitchFamily="18" charset="0"/>
              </a:rPr>
              <a:t>Hiện nay người ta bán cả ổ cứng ở cấp terabyte [TB].</a:t>
            </a:r>
          </a:p>
        </p:txBody>
      </p:sp>
      <p:pic>
        <p:nvPicPr>
          <p:cNvPr id="1986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68413"/>
            <a:ext cx="8667750" cy="3730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98663" name="직사각형 1"/>
          <p:cNvSpPr>
            <a:spLocks noChangeArrowheads="1"/>
          </p:cNvSpPr>
          <p:nvPr/>
        </p:nvSpPr>
        <p:spPr bwMode="auto">
          <a:xfrm>
            <a:off x="1692275" y="1268413"/>
            <a:ext cx="792163"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Giá trị số</a:t>
            </a:r>
          </a:p>
        </p:txBody>
      </p:sp>
      <p:sp>
        <p:nvSpPr>
          <p:cNvPr id="198664" name="직사각형 7"/>
          <p:cNvSpPr>
            <a:spLocks noChangeArrowheads="1"/>
          </p:cNvSpPr>
          <p:nvPr/>
        </p:nvSpPr>
        <p:spPr bwMode="auto">
          <a:xfrm>
            <a:off x="3863975" y="1268413"/>
            <a:ext cx="563563"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Viết tắt</a:t>
            </a:r>
          </a:p>
        </p:txBody>
      </p:sp>
      <p:sp>
        <p:nvSpPr>
          <p:cNvPr id="198665" name="직사각형 8"/>
          <p:cNvSpPr>
            <a:spLocks noChangeArrowheads="1"/>
          </p:cNvSpPr>
          <p:nvPr/>
        </p:nvSpPr>
        <p:spPr bwMode="auto">
          <a:xfrm>
            <a:off x="5435600" y="1268413"/>
            <a:ext cx="700088"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Cách đọc</a:t>
            </a:r>
          </a:p>
        </p:txBody>
      </p:sp>
      <p:sp>
        <p:nvSpPr>
          <p:cNvPr id="198666" name="직사각형 9"/>
          <p:cNvSpPr>
            <a:spLocks noChangeArrowheads="1"/>
          </p:cNvSpPr>
          <p:nvPr/>
        </p:nvSpPr>
        <p:spPr bwMode="auto">
          <a:xfrm>
            <a:off x="4543425" y="1196975"/>
            <a:ext cx="700088"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Tiếp đầu ngữ</a:t>
            </a:r>
          </a:p>
        </p:txBody>
      </p:sp>
      <p:sp>
        <p:nvSpPr>
          <p:cNvPr id="198667" name="직사각형 10"/>
          <p:cNvSpPr>
            <a:spLocks noChangeArrowheads="1"/>
          </p:cNvSpPr>
          <p:nvPr/>
        </p:nvSpPr>
        <p:spPr bwMode="auto">
          <a:xfrm>
            <a:off x="7164388" y="1268413"/>
            <a:ext cx="700087" cy="215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hangingPunct="1"/>
            <a:r>
              <a:rPr lang="en-US" altLang="ko-KR" sz="900">
                <a:latin typeface="Times New Roman" pitchFamily="18" charset="0"/>
                <a:cs typeface="Times New Roman" pitchFamily="18" charset="0"/>
              </a:rPr>
              <a:t>Từ gốc</a:t>
            </a:r>
          </a:p>
        </p:txBody>
      </p:sp>
    </p:spTree>
  </p:cSld>
  <p:clrMapOvr>
    <a:masterClrMapping/>
  </p:clrMapOvr>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슬라이드 번호 개체 틀 1"/>
          <p:cNvSpPr txBox="1">
            <a:spLocks noGrp="1"/>
          </p:cNvSpPr>
          <p:nvPr/>
        </p:nvSpPr>
        <p:spPr bwMode="auto">
          <a:xfrm>
            <a:off x="3527425" y="656748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fld id="{18E999BF-0979-4CC9-9A5D-4D794286F3ED}" type="slidenum">
              <a:rPr lang="en-US" altLang="ko-KR" sz="1400">
                <a:latin typeface="Times New Roman" pitchFamily="18" charset="0"/>
                <a:cs typeface="Times New Roman" pitchFamily="18" charset="0"/>
              </a:rPr>
              <a:pPr algn="ctr" eaLnBrk="1" latinLnBrk="1" hangingPunct="1">
                <a:lnSpc>
                  <a:spcPct val="100000"/>
                </a:lnSpc>
              </a:pPr>
              <a:t>190</a:t>
            </a:fld>
            <a:endParaRPr lang="en-US" altLang="ko-KR" sz="1400">
              <a:latin typeface="Times New Roman" pitchFamily="18" charset="0"/>
              <a:cs typeface="Times New Roman" pitchFamily="18" charset="0"/>
            </a:endParaRPr>
          </a:p>
        </p:txBody>
      </p:sp>
      <p:sp>
        <p:nvSpPr>
          <p:cNvPr id="199683" name="Text Box 2"/>
          <p:cNvSpPr txBox="1">
            <a:spLocks noChangeArrowheads="1"/>
          </p:cNvSpPr>
          <p:nvPr/>
        </p:nvSpPr>
        <p:spPr bwMode="auto">
          <a:xfrm>
            <a:off x="684213" y="892175"/>
            <a:ext cx="12477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400" b="1">
                <a:latin typeface="Times New Roman" pitchFamily="18" charset="0"/>
                <a:cs typeface="Times New Roman" pitchFamily="18" charset="0"/>
              </a:rPr>
              <a:t>Analog Tester</a:t>
            </a:r>
          </a:p>
        </p:txBody>
      </p:sp>
      <p:sp>
        <p:nvSpPr>
          <p:cNvPr id="199684" name="Rectangle 6"/>
          <p:cNvSpPr>
            <a:spLocks noChangeArrowheads="1"/>
          </p:cNvSpPr>
          <p:nvPr/>
        </p:nvSpPr>
        <p:spPr bwMode="auto">
          <a:xfrm>
            <a:off x="827088" y="1125538"/>
            <a:ext cx="748982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ko-KR" b="1">
                <a:latin typeface="Times New Roman" pitchFamily="18" charset="0"/>
                <a:cs typeface="Times New Roman" pitchFamily="18" charset="0"/>
              </a:rPr>
              <a:t>(1) Cấu tạo Analog Tester</a:t>
            </a:r>
            <a:endParaRPr lang="ko-KR" altLang="en-US"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p:txBody>
      </p:sp>
      <p:graphicFrame>
        <p:nvGraphicFramePr>
          <p:cNvPr id="2496913" name="Group 401"/>
          <p:cNvGraphicFramePr>
            <a:graphicFrameLocks noGrp="1"/>
          </p:cNvGraphicFramePr>
          <p:nvPr/>
        </p:nvGraphicFramePr>
        <p:xfrm>
          <a:off x="4594225" y="1549400"/>
          <a:ext cx="3865563" cy="4733925"/>
        </p:xfrm>
        <a:graphic>
          <a:graphicData uri="http://schemas.openxmlformats.org/drawingml/2006/table">
            <a:tbl>
              <a:tblPr/>
              <a:tblGrid>
                <a:gridCol w="438150"/>
                <a:gridCol w="1217613"/>
                <a:gridCol w="2209800"/>
              </a:tblGrid>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Số</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Tên gọi</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Mục đích sử dụng</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DDDDD"/>
                    </a:solid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đọc Ohm</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Đo/đọc giá trị điện trở</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911">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2</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Đọc AC&amp;DC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Đo/đọc AC&amp;DC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3</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đọc AC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Đo và đọc AC&amp;DC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4</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Setting về 0</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9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Setting đến 0 để có kết quả đo chính xác</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5</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Chọn điện áp DC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đo điện áp DC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911">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6</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Power OFF</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Power OFF</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7</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Chọn điện áp AC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đo điện áp AC</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8</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Housing đo TR</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Housing chèn TR</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9</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Vạch đo TR</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Vạch đo TR</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911">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10</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Chân</a:t>
                      </a:r>
                      <a:r>
                        <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Jack </a:t>
                      </a:r>
                      <a:r>
                        <a:rPr kumimoji="1" lang="en-US" altLang="ko-KR" sz="11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a:t>
                      </a: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Đặt chân “-" vào để đo</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11</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DC 10A Jack</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9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Dùng khi đo DC 10A(Max)</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12</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Lựa chọn Buzzer</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Đo đoản dây</a:t>
                      </a:r>
                      <a:r>
                        <a:rPr kumimoji="1" lang="ko-KR" altLang="en-US"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a:t>
                      </a: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  đoản mạch</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13</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Chân Jack "+"</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Đặt chân "+" để đo</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911">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14</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Vạch chọn điện trở</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đo điện trở</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99">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15</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Chọn DC 10A</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đo khi sử dụng mục 11 bên trên</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93">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16</a:t>
                      </a:r>
                      <a:endParaRPr kumimoji="1" lang="en-US" altLang="ko-KR"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Vạch chọn cường độ dòng điện</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latinLnBrk="1" hangingPunct="0">
                        <a:spcBef>
                          <a:spcPct val="20000"/>
                        </a:spcBef>
                        <a:defRPr kumimoji="1" sz="2800">
                          <a:solidFill>
                            <a:schemeClr val="tx1"/>
                          </a:solidFill>
                          <a:latin typeface="굴림" pitchFamily="50" charset="-127"/>
                          <a:ea typeface="굴림" pitchFamily="50" charset="-127"/>
                        </a:defRPr>
                      </a:lvl1pPr>
                      <a:lvl2pPr marL="742950" indent="-285750" eaLnBrk="0" latinLnBrk="1" hangingPunct="0">
                        <a:spcBef>
                          <a:spcPct val="20000"/>
                        </a:spcBef>
                        <a:defRPr kumimoji="1" sz="2400">
                          <a:solidFill>
                            <a:schemeClr val="tx1"/>
                          </a:solidFill>
                          <a:latin typeface="굴림" pitchFamily="50" charset="-127"/>
                          <a:ea typeface="굴림" pitchFamily="50" charset="-127"/>
                        </a:defRPr>
                      </a:lvl2pPr>
                      <a:lvl3pPr marL="1143000" indent="-228600" eaLnBrk="0" latinLnBrk="1" hangingPunct="0">
                        <a:spcBef>
                          <a:spcPct val="20000"/>
                        </a:spcBef>
                        <a:defRPr kumimoji="1" sz="2000">
                          <a:solidFill>
                            <a:schemeClr val="tx1"/>
                          </a:solidFill>
                          <a:latin typeface="굴림" pitchFamily="50" charset="-127"/>
                          <a:ea typeface="굴림" pitchFamily="50" charset="-127"/>
                        </a:defRPr>
                      </a:lvl3pPr>
                      <a:lvl4pPr marL="1600200" indent="-228600" eaLnBrk="0" latinLnBrk="1" hangingPunct="0">
                        <a:spcBef>
                          <a:spcPct val="20000"/>
                        </a:spcBef>
                        <a:defRPr kumimoji="1">
                          <a:solidFill>
                            <a:schemeClr val="tx1"/>
                          </a:solidFill>
                          <a:latin typeface="굴림" pitchFamily="50" charset="-127"/>
                          <a:ea typeface="굴림" pitchFamily="50" charset="-127"/>
                        </a:defRPr>
                      </a:lvl4pPr>
                      <a:lvl5pPr marL="2057400" indent="-228600" eaLnBrk="0" latinLnBrk="1" hangingPunct="0">
                        <a:spcBef>
                          <a:spcPct val="20000"/>
                        </a:spcBef>
                        <a:defRPr kumimoji="1">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defRPr kumimoji="1">
                          <a:solidFill>
                            <a:schemeClr val="tx1"/>
                          </a:solidFill>
                          <a:latin typeface="굴림" pitchFamily="50" charset="-127"/>
                          <a:ea typeface="굴림" pitchFamily="50" charset="-127"/>
                        </a:defRPr>
                      </a:lvl9pPr>
                    </a:lstStyle>
                    <a:p>
                      <a:pPr marL="0" marR="0" lvl="0" indent="0" algn="ctr" defTabSz="914400" rtl="0" eaLnBrk="1" fontAlgn="ctr" latinLnBrk="1" hangingPunct="1">
                        <a:lnSpc>
                          <a:spcPct val="100000"/>
                        </a:lnSpc>
                        <a:spcBef>
                          <a:spcPct val="0"/>
                        </a:spcBef>
                        <a:spcAft>
                          <a:spcPct val="0"/>
                        </a:spcAft>
                        <a:buClrTx/>
                        <a:buSzTx/>
                        <a:buFontTx/>
                        <a:buNone/>
                        <a:tabLst/>
                      </a:pPr>
                      <a:r>
                        <a:rPr kumimoji="1" lang="en-US" altLang="ko-KR" sz="10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rPr>
                        <a:t>Thang đo cường độ dòng điện</a:t>
                      </a:r>
                      <a:endParaRPr kumimoji="1" lang="ko-KR" altLang="en-US" sz="2400" b="0" i="0" u="none" strike="noStrike" cap="none" normalizeH="0" baseline="0" smtClean="0">
                        <a:ln>
                          <a:noFill/>
                        </a:ln>
                        <a:solidFill>
                          <a:schemeClr val="tx1"/>
                        </a:solidFill>
                        <a:effectLst/>
                        <a:latin typeface="Times New Roman" pitchFamily="18" charset="0"/>
                        <a:ea typeface="돋움" pitchFamily="50" charset="-127"/>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199759" name="Group 439"/>
          <p:cNvGrpSpPr>
            <a:grpSpLocks/>
          </p:cNvGrpSpPr>
          <p:nvPr/>
        </p:nvGrpSpPr>
        <p:grpSpPr bwMode="auto">
          <a:xfrm>
            <a:off x="701675" y="1476375"/>
            <a:ext cx="4175125" cy="4681538"/>
            <a:chOff x="567" y="1071"/>
            <a:chExt cx="2630" cy="2949"/>
          </a:xfrm>
        </p:grpSpPr>
        <p:pic>
          <p:nvPicPr>
            <p:cNvPr id="199761" name="Picture 8" descr="anal_206t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1071"/>
              <a:ext cx="1995" cy="2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762" name="Oval 29"/>
            <p:cNvSpPr>
              <a:spLocks noChangeArrowheads="1"/>
            </p:cNvSpPr>
            <p:nvPr/>
          </p:nvSpPr>
          <p:spPr bwMode="auto">
            <a:xfrm>
              <a:off x="1172" y="2795"/>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3" name="Oval 30"/>
            <p:cNvSpPr>
              <a:spLocks noChangeArrowheads="1"/>
            </p:cNvSpPr>
            <p:nvPr/>
          </p:nvSpPr>
          <p:spPr bwMode="auto">
            <a:xfrm>
              <a:off x="839" y="3205"/>
              <a:ext cx="86" cy="89"/>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4" name="Oval 31"/>
            <p:cNvSpPr>
              <a:spLocks noChangeArrowheads="1"/>
            </p:cNvSpPr>
            <p:nvPr/>
          </p:nvSpPr>
          <p:spPr bwMode="auto">
            <a:xfrm>
              <a:off x="771" y="3714"/>
              <a:ext cx="68" cy="68"/>
            </a:xfrm>
            <a:prstGeom prst="ellipse">
              <a:avLst/>
            </a:prstGeom>
            <a:noFill/>
            <a:ln>
              <a:noFill/>
            </a:ln>
            <a:effectLst/>
            <a:extLst>
              <a:ext uri="{909E8E84-426E-40DD-AFC4-6F175D3DCCD1}">
                <a14:hiddenFill xmlns:a14="http://schemas.microsoft.com/office/drawing/2010/main">
                  <a:gradFill rotWithShape="1">
                    <a:gsLst>
                      <a:gs pos="0">
                        <a:srgbClr val="FFFFFF"/>
                      </a:gs>
                      <a:gs pos="100000">
                        <a:schemeClr val="tx1"/>
                      </a:gs>
                    </a:gsLst>
                    <a:path path="shape">
                      <a:fillToRect l="50000" t="50000" r="50000" b="50000"/>
                    </a:path>
                  </a:gra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5" name="Oval 32"/>
            <p:cNvSpPr>
              <a:spLocks noChangeArrowheads="1"/>
            </p:cNvSpPr>
            <p:nvPr/>
          </p:nvSpPr>
          <p:spPr bwMode="auto">
            <a:xfrm>
              <a:off x="1034" y="3389"/>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6" name="Oval 40"/>
            <p:cNvSpPr>
              <a:spLocks noChangeArrowheads="1"/>
            </p:cNvSpPr>
            <p:nvPr/>
          </p:nvSpPr>
          <p:spPr bwMode="auto">
            <a:xfrm>
              <a:off x="2222" y="3657"/>
              <a:ext cx="68" cy="68"/>
            </a:xfrm>
            <a:prstGeom prst="ellipse">
              <a:avLst/>
            </a:prstGeom>
            <a:noFill/>
            <a:ln>
              <a:noFill/>
            </a:ln>
            <a:effectLst/>
            <a:extLst>
              <a:ext uri="{909E8E84-426E-40DD-AFC4-6F175D3DCCD1}">
                <a14:hiddenFill xmlns:a14="http://schemas.microsoft.com/office/drawing/2010/main">
                  <a:gradFill rotWithShape="1">
                    <a:gsLst>
                      <a:gs pos="0">
                        <a:srgbClr val="FFFFFF"/>
                      </a:gs>
                      <a:gs pos="100000">
                        <a:schemeClr val="tx1"/>
                      </a:gs>
                    </a:gsLst>
                    <a:path path="shape">
                      <a:fillToRect l="50000" t="50000" r="50000" b="50000"/>
                    </a:path>
                  </a:gra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7" name="Rectangle 402"/>
            <p:cNvSpPr>
              <a:spLocks noChangeArrowheads="1"/>
            </p:cNvSpPr>
            <p:nvPr/>
          </p:nvSpPr>
          <p:spPr bwMode="auto">
            <a:xfrm>
              <a:off x="3016" y="1304"/>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8" name="Rectangle 403"/>
            <p:cNvSpPr>
              <a:spLocks noChangeArrowheads="1"/>
            </p:cNvSpPr>
            <p:nvPr/>
          </p:nvSpPr>
          <p:spPr bwMode="auto">
            <a:xfrm>
              <a:off x="3016" y="1480"/>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69" name="Rectangle 404"/>
            <p:cNvSpPr>
              <a:spLocks noChangeArrowheads="1"/>
            </p:cNvSpPr>
            <p:nvPr/>
          </p:nvSpPr>
          <p:spPr bwMode="auto">
            <a:xfrm>
              <a:off x="3016" y="1646"/>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0" name="Rectangle 405"/>
            <p:cNvSpPr>
              <a:spLocks noChangeArrowheads="1"/>
            </p:cNvSpPr>
            <p:nvPr/>
          </p:nvSpPr>
          <p:spPr bwMode="auto">
            <a:xfrm>
              <a:off x="3016" y="1821"/>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1" name="Rectangle 406"/>
            <p:cNvSpPr>
              <a:spLocks noChangeArrowheads="1"/>
            </p:cNvSpPr>
            <p:nvPr/>
          </p:nvSpPr>
          <p:spPr bwMode="auto">
            <a:xfrm>
              <a:off x="3016" y="1982"/>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2" name="Rectangle 407"/>
            <p:cNvSpPr>
              <a:spLocks noChangeArrowheads="1"/>
            </p:cNvSpPr>
            <p:nvPr/>
          </p:nvSpPr>
          <p:spPr bwMode="auto">
            <a:xfrm>
              <a:off x="3016" y="2158"/>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3" name="Rectangle 408"/>
            <p:cNvSpPr>
              <a:spLocks noChangeArrowheads="1"/>
            </p:cNvSpPr>
            <p:nvPr/>
          </p:nvSpPr>
          <p:spPr bwMode="auto">
            <a:xfrm>
              <a:off x="3016" y="2324"/>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4" name="Rectangle 409"/>
            <p:cNvSpPr>
              <a:spLocks noChangeArrowheads="1"/>
            </p:cNvSpPr>
            <p:nvPr/>
          </p:nvSpPr>
          <p:spPr bwMode="auto">
            <a:xfrm>
              <a:off x="3016" y="2499"/>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5" name="Rectangle 410"/>
            <p:cNvSpPr>
              <a:spLocks noChangeArrowheads="1"/>
            </p:cNvSpPr>
            <p:nvPr/>
          </p:nvSpPr>
          <p:spPr bwMode="auto">
            <a:xfrm>
              <a:off x="3016" y="2668"/>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6" name="Rectangle 411"/>
            <p:cNvSpPr>
              <a:spLocks noChangeArrowheads="1"/>
            </p:cNvSpPr>
            <p:nvPr/>
          </p:nvSpPr>
          <p:spPr bwMode="auto">
            <a:xfrm>
              <a:off x="3016" y="2844"/>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7" name="Rectangle 412"/>
            <p:cNvSpPr>
              <a:spLocks noChangeArrowheads="1"/>
            </p:cNvSpPr>
            <p:nvPr/>
          </p:nvSpPr>
          <p:spPr bwMode="auto">
            <a:xfrm>
              <a:off x="3016" y="3010"/>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8" name="Rectangle 413"/>
            <p:cNvSpPr>
              <a:spLocks noChangeArrowheads="1"/>
            </p:cNvSpPr>
            <p:nvPr/>
          </p:nvSpPr>
          <p:spPr bwMode="auto">
            <a:xfrm>
              <a:off x="3016" y="3185"/>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79" name="Rectangle 414"/>
            <p:cNvSpPr>
              <a:spLocks noChangeArrowheads="1"/>
            </p:cNvSpPr>
            <p:nvPr/>
          </p:nvSpPr>
          <p:spPr bwMode="auto">
            <a:xfrm>
              <a:off x="3016" y="3351"/>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80" name="Rectangle 415"/>
            <p:cNvSpPr>
              <a:spLocks noChangeArrowheads="1"/>
            </p:cNvSpPr>
            <p:nvPr/>
          </p:nvSpPr>
          <p:spPr bwMode="auto">
            <a:xfrm>
              <a:off x="3016" y="3527"/>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81" name="Rectangle 416"/>
            <p:cNvSpPr>
              <a:spLocks noChangeArrowheads="1"/>
            </p:cNvSpPr>
            <p:nvPr/>
          </p:nvSpPr>
          <p:spPr bwMode="auto">
            <a:xfrm>
              <a:off x="3016" y="3693"/>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82" name="Rectangle 417"/>
            <p:cNvSpPr>
              <a:spLocks noChangeArrowheads="1"/>
            </p:cNvSpPr>
            <p:nvPr/>
          </p:nvSpPr>
          <p:spPr bwMode="auto">
            <a:xfrm>
              <a:off x="3016" y="3868"/>
              <a:ext cx="18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83" name="Oval 25"/>
            <p:cNvSpPr>
              <a:spLocks noChangeArrowheads="1"/>
            </p:cNvSpPr>
            <p:nvPr/>
          </p:nvSpPr>
          <p:spPr bwMode="auto">
            <a:xfrm>
              <a:off x="2205" y="1690"/>
              <a:ext cx="86" cy="89"/>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784" name="AutoShape 419"/>
            <p:cNvCxnSpPr>
              <a:cxnSpLocks noChangeShapeType="1"/>
              <a:stCxn id="199783" idx="0"/>
              <a:endCxn id="199767" idx="1"/>
            </p:cNvCxnSpPr>
            <p:nvPr/>
          </p:nvCxnSpPr>
          <p:spPr bwMode="auto">
            <a:xfrm rot="-5400000">
              <a:off x="2473" y="1147"/>
              <a:ext cx="318" cy="768"/>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85" name="AutoShape 420"/>
            <p:cNvCxnSpPr>
              <a:cxnSpLocks noChangeShapeType="1"/>
              <a:stCxn id="199786" idx="0"/>
              <a:endCxn id="199768" idx="1"/>
            </p:cNvCxnSpPr>
            <p:nvPr/>
          </p:nvCxnSpPr>
          <p:spPr bwMode="auto">
            <a:xfrm rot="-5400000">
              <a:off x="2438" y="1267"/>
              <a:ext cx="297" cy="859"/>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86" name="Oval 26"/>
            <p:cNvSpPr>
              <a:spLocks noChangeArrowheads="1"/>
            </p:cNvSpPr>
            <p:nvPr/>
          </p:nvSpPr>
          <p:spPr bwMode="auto">
            <a:xfrm>
              <a:off x="2114" y="1845"/>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87" name="Oval 27"/>
            <p:cNvSpPr>
              <a:spLocks noChangeArrowheads="1"/>
            </p:cNvSpPr>
            <p:nvPr/>
          </p:nvSpPr>
          <p:spPr bwMode="auto">
            <a:xfrm>
              <a:off x="1978" y="1979"/>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788" name="AutoShape 421"/>
            <p:cNvCxnSpPr>
              <a:cxnSpLocks noChangeShapeType="1"/>
              <a:stCxn id="199787" idx="0"/>
              <a:endCxn id="199769" idx="1"/>
            </p:cNvCxnSpPr>
            <p:nvPr/>
          </p:nvCxnSpPr>
          <p:spPr bwMode="auto">
            <a:xfrm rot="-5400000">
              <a:off x="2386" y="1349"/>
              <a:ext cx="265" cy="995"/>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89" name="Oval 28"/>
            <p:cNvSpPr>
              <a:spLocks noChangeArrowheads="1"/>
            </p:cNvSpPr>
            <p:nvPr/>
          </p:nvSpPr>
          <p:spPr bwMode="auto">
            <a:xfrm>
              <a:off x="753" y="2798"/>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199790" name="Oval 34"/>
            <p:cNvSpPr>
              <a:spLocks noChangeArrowheads="1"/>
            </p:cNvSpPr>
            <p:nvPr/>
          </p:nvSpPr>
          <p:spPr bwMode="auto">
            <a:xfrm>
              <a:off x="1524" y="2798"/>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791" name="AutoShape 425"/>
            <p:cNvCxnSpPr>
              <a:cxnSpLocks noChangeShapeType="1"/>
              <a:stCxn id="199790" idx="0"/>
              <a:endCxn id="199772" idx="1"/>
            </p:cNvCxnSpPr>
            <p:nvPr/>
          </p:nvCxnSpPr>
          <p:spPr bwMode="auto">
            <a:xfrm rot="-5400000">
              <a:off x="2006" y="1787"/>
              <a:ext cx="572" cy="1449"/>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92" name="AutoShape 426"/>
            <p:cNvCxnSpPr>
              <a:cxnSpLocks noChangeShapeType="1"/>
              <a:stCxn id="199793" idx="0"/>
              <a:endCxn id="199773" idx="1"/>
            </p:cNvCxnSpPr>
            <p:nvPr/>
          </p:nvCxnSpPr>
          <p:spPr bwMode="auto">
            <a:xfrm rot="-5400000">
              <a:off x="2236" y="2017"/>
              <a:ext cx="406" cy="1155"/>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93" name="Oval 36"/>
            <p:cNvSpPr>
              <a:spLocks noChangeArrowheads="1"/>
            </p:cNvSpPr>
            <p:nvPr/>
          </p:nvSpPr>
          <p:spPr bwMode="auto">
            <a:xfrm>
              <a:off x="1818" y="2798"/>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794" name="AutoShape 427"/>
            <p:cNvCxnSpPr>
              <a:cxnSpLocks noChangeShapeType="1"/>
              <a:endCxn id="199782" idx="1"/>
            </p:cNvCxnSpPr>
            <p:nvPr/>
          </p:nvCxnSpPr>
          <p:spPr bwMode="auto">
            <a:xfrm rot="16200000" flipH="1">
              <a:off x="2010" y="2930"/>
              <a:ext cx="211" cy="1801"/>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95" name="AutoShape 428"/>
            <p:cNvCxnSpPr>
              <a:cxnSpLocks noChangeShapeType="1"/>
              <a:stCxn id="199808" idx="0"/>
              <a:endCxn id="199781" idx="1"/>
            </p:cNvCxnSpPr>
            <p:nvPr/>
          </p:nvCxnSpPr>
          <p:spPr bwMode="auto">
            <a:xfrm rot="-5400000">
              <a:off x="2249" y="3074"/>
              <a:ext cx="79" cy="1454"/>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96" name="AutoShape 429"/>
            <p:cNvCxnSpPr>
              <a:cxnSpLocks noChangeShapeType="1"/>
              <a:stCxn id="199797" idx="6"/>
              <a:endCxn id="199780" idx="1"/>
            </p:cNvCxnSpPr>
            <p:nvPr/>
          </p:nvCxnSpPr>
          <p:spPr bwMode="auto">
            <a:xfrm>
              <a:off x="1923" y="3568"/>
              <a:ext cx="1093" cy="27"/>
            </a:xfrm>
            <a:prstGeom prst="bentConnector3">
              <a:avLst>
                <a:gd name="adj1" fmla="val 49954"/>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797" name="Oval 37"/>
            <p:cNvSpPr>
              <a:spLocks noChangeArrowheads="1"/>
            </p:cNvSpPr>
            <p:nvPr/>
          </p:nvSpPr>
          <p:spPr bwMode="auto">
            <a:xfrm>
              <a:off x="1837" y="3524"/>
              <a:ext cx="86" cy="88"/>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798" name="AutoShape 430"/>
            <p:cNvCxnSpPr>
              <a:cxnSpLocks noChangeShapeType="1"/>
              <a:stCxn id="199766" idx="6"/>
              <a:endCxn id="199779" idx="1"/>
            </p:cNvCxnSpPr>
            <p:nvPr/>
          </p:nvCxnSpPr>
          <p:spPr bwMode="auto">
            <a:xfrm flipV="1">
              <a:off x="2290" y="3419"/>
              <a:ext cx="726" cy="272"/>
            </a:xfrm>
            <a:prstGeom prst="bentConnector3">
              <a:avLst>
                <a:gd name="adj1" fmla="val 50000"/>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799" name="AutoShape 431"/>
            <p:cNvCxnSpPr>
              <a:cxnSpLocks noChangeShapeType="1"/>
              <a:stCxn id="199800" idx="6"/>
              <a:endCxn id="199778" idx="1"/>
            </p:cNvCxnSpPr>
            <p:nvPr/>
          </p:nvCxnSpPr>
          <p:spPr bwMode="auto">
            <a:xfrm flipV="1">
              <a:off x="2064" y="3253"/>
              <a:ext cx="952" cy="41"/>
            </a:xfrm>
            <a:prstGeom prst="bentConnector3">
              <a:avLst>
                <a:gd name="adj1" fmla="val 50000"/>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800" name="Oval 38"/>
            <p:cNvSpPr>
              <a:spLocks noChangeArrowheads="1"/>
            </p:cNvSpPr>
            <p:nvPr/>
          </p:nvSpPr>
          <p:spPr bwMode="auto">
            <a:xfrm>
              <a:off x="1978" y="3249"/>
              <a:ext cx="86" cy="89"/>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801" name="AutoShape 432"/>
            <p:cNvCxnSpPr>
              <a:cxnSpLocks noChangeShapeType="1"/>
              <a:stCxn id="199802" idx="6"/>
              <a:endCxn id="199777" idx="1"/>
            </p:cNvCxnSpPr>
            <p:nvPr/>
          </p:nvCxnSpPr>
          <p:spPr bwMode="auto">
            <a:xfrm flipV="1">
              <a:off x="2274" y="3078"/>
              <a:ext cx="742" cy="299"/>
            </a:xfrm>
            <a:prstGeom prst="bentConnector3">
              <a:avLst>
                <a:gd name="adj1" fmla="val 50000"/>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802" name="Oval 39"/>
            <p:cNvSpPr>
              <a:spLocks noChangeArrowheads="1"/>
            </p:cNvSpPr>
            <p:nvPr/>
          </p:nvSpPr>
          <p:spPr bwMode="auto">
            <a:xfrm>
              <a:off x="2206" y="3343"/>
              <a:ext cx="68" cy="68"/>
            </a:xfrm>
            <a:prstGeom prst="ellipse">
              <a:avLst/>
            </a:prstGeom>
            <a:noFill/>
            <a:ln>
              <a:noFill/>
            </a:ln>
            <a:effectLst/>
            <a:extLst>
              <a:ext uri="{909E8E84-426E-40DD-AFC4-6F175D3DCCD1}">
                <a14:hiddenFill xmlns:a14="http://schemas.microsoft.com/office/drawing/2010/main">
                  <a:gradFill rotWithShape="1">
                    <a:gsLst>
                      <a:gs pos="0">
                        <a:srgbClr val="FFFFFF"/>
                      </a:gs>
                      <a:gs pos="100000">
                        <a:schemeClr val="tx1"/>
                      </a:gs>
                    </a:gsLst>
                    <a:path path="shape">
                      <a:fillToRect l="50000" t="50000" r="50000" b="50000"/>
                    </a:path>
                  </a:gra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cxnSp>
          <p:nvCxnSpPr>
            <p:cNvPr id="199803" name="AutoShape 433"/>
            <p:cNvCxnSpPr>
              <a:cxnSpLocks noChangeShapeType="1"/>
              <a:stCxn id="199764" idx="0"/>
              <a:endCxn id="199776" idx="1"/>
            </p:cNvCxnSpPr>
            <p:nvPr/>
          </p:nvCxnSpPr>
          <p:spPr bwMode="auto">
            <a:xfrm rot="-5400000">
              <a:off x="1510" y="2207"/>
              <a:ext cx="802" cy="2211"/>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804" name="AutoShape 434"/>
            <p:cNvCxnSpPr>
              <a:cxnSpLocks noChangeShapeType="1"/>
              <a:stCxn id="199765" idx="0"/>
              <a:endCxn id="199775" idx="1"/>
            </p:cNvCxnSpPr>
            <p:nvPr/>
          </p:nvCxnSpPr>
          <p:spPr bwMode="auto">
            <a:xfrm rot="-5400000">
              <a:off x="1720" y="2093"/>
              <a:ext cx="653" cy="1939"/>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805" name="AutoShape 435"/>
            <p:cNvCxnSpPr>
              <a:cxnSpLocks noChangeShapeType="1"/>
              <a:stCxn id="199763" idx="0"/>
              <a:endCxn id="199774" idx="1"/>
            </p:cNvCxnSpPr>
            <p:nvPr/>
          </p:nvCxnSpPr>
          <p:spPr bwMode="auto">
            <a:xfrm rot="-5400000">
              <a:off x="1630" y="1819"/>
              <a:ext cx="638" cy="2134"/>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806" name="AutoShape 436"/>
            <p:cNvCxnSpPr>
              <a:cxnSpLocks noChangeShapeType="1"/>
              <a:stCxn id="199762" idx="0"/>
              <a:endCxn id="199771" idx="1"/>
            </p:cNvCxnSpPr>
            <p:nvPr/>
          </p:nvCxnSpPr>
          <p:spPr bwMode="auto">
            <a:xfrm rot="-5400000">
              <a:off x="1743" y="1522"/>
              <a:ext cx="745" cy="1801"/>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807" name="AutoShape 437"/>
            <p:cNvCxnSpPr>
              <a:cxnSpLocks noChangeShapeType="1"/>
              <a:stCxn id="199789" idx="0"/>
              <a:endCxn id="199770" idx="1"/>
            </p:cNvCxnSpPr>
            <p:nvPr/>
          </p:nvCxnSpPr>
          <p:spPr bwMode="auto">
            <a:xfrm rot="-5400000">
              <a:off x="1451" y="1234"/>
              <a:ext cx="909" cy="2220"/>
            </a:xfrm>
            <a:prstGeom prst="bentConnector2">
              <a:avLst/>
            </a:prstGeom>
            <a:noFill/>
            <a:ln w="9525">
              <a:solidFill>
                <a:srgbClr val="FF0000"/>
              </a:solidFill>
              <a:miter lim="800000"/>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808" name="Oval 438"/>
            <p:cNvSpPr>
              <a:spLocks noChangeArrowheads="1"/>
            </p:cNvSpPr>
            <p:nvPr/>
          </p:nvSpPr>
          <p:spPr bwMode="auto">
            <a:xfrm>
              <a:off x="1519" y="3840"/>
              <a:ext cx="86" cy="89"/>
            </a:xfrm>
            <a:prstGeom prst="ellipse">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grpSp>
      <p:sp>
        <p:nvSpPr>
          <p:cNvPr id="199760" name="Text Box 2"/>
          <p:cNvSpPr txBox="1">
            <a:spLocks noChangeArrowheads="1"/>
          </p:cNvSpPr>
          <p:nvPr/>
        </p:nvSpPr>
        <p:spPr bwMode="auto">
          <a:xfrm>
            <a:off x="0" y="0"/>
            <a:ext cx="1009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슬라이드 번호 개체 틀 1"/>
          <p:cNvSpPr txBox="1">
            <a:spLocks noGrp="1"/>
          </p:cNvSpPr>
          <p:nvPr/>
        </p:nvSpPr>
        <p:spPr bwMode="auto">
          <a:xfrm>
            <a:off x="3527425" y="656748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fld id="{6A7C9EEE-B608-4957-9A2F-EC2C1FF16EC4}" type="slidenum">
              <a:rPr lang="en-US" altLang="ko-KR" sz="1400">
                <a:latin typeface="Times New Roman" pitchFamily="18" charset="0"/>
                <a:cs typeface="Times New Roman" pitchFamily="18" charset="0"/>
              </a:rPr>
              <a:pPr algn="ctr" eaLnBrk="1" latinLnBrk="1" hangingPunct="1">
                <a:lnSpc>
                  <a:spcPct val="100000"/>
                </a:lnSpc>
              </a:pPr>
              <a:t>191</a:t>
            </a:fld>
            <a:endParaRPr lang="en-US" altLang="ko-KR" sz="1400">
              <a:latin typeface="Times New Roman" pitchFamily="18" charset="0"/>
              <a:cs typeface="Times New Roman" pitchFamily="18" charset="0"/>
            </a:endParaRPr>
          </a:p>
        </p:txBody>
      </p:sp>
      <p:sp>
        <p:nvSpPr>
          <p:cNvPr id="200707" name="Text Box 12"/>
          <p:cNvSpPr txBox="1">
            <a:spLocks noChangeArrowheads="1"/>
          </p:cNvSpPr>
          <p:nvPr/>
        </p:nvSpPr>
        <p:spPr bwMode="auto">
          <a:xfrm>
            <a:off x="600075" y="908050"/>
            <a:ext cx="242728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 Chú ý khi thực hiện thao tác đo</a:t>
            </a:r>
            <a:endParaRPr lang="ko-KR" altLang="en-US" b="1">
              <a:latin typeface="Times New Roman" pitchFamily="18" charset="0"/>
              <a:cs typeface="Times New Roman" pitchFamily="18" charset="0"/>
            </a:endParaRPr>
          </a:p>
        </p:txBody>
      </p:sp>
      <p:sp>
        <p:nvSpPr>
          <p:cNvPr id="200708" name="Text Box 13"/>
          <p:cNvSpPr txBox="1">
            <a:spLocks noChangeArrowheads="1"/>
          </p:cNvSpPr>
          <p:nvPr/>
        </p:nvSpPr>
        <p:spPr bwMode="auto">
          <a:xfrm>
            <a:off x="879475" y="1192213"/>
            <a:ext cx="4716463"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Char char="ü"/>
            </a:pPr>
            <a:r>
              <a:rPr lang="en-US" altLang="ko-KR" sz="1000">
                <a:latin typeface="Times New Roman" pitchFamily="18" charset="0"/>
                <a:cs typeface="Times New Roman" pitchFamily="18" charset="0"/>
              </a:rPr>
              <a:t> Khi đo điện áp cao phải tuân thủ các quy tắc an toàn của đồng hồ đo</a:t>
            </a:r>
            <a:endParaRPr lang="ko-KR" altLang="en-US" sz="1000">
              <a:latin typeface="Times New Roman" pitchFamily="18" charset="0"/>
              <a:cs typeface="Times New Roman" pitchFamily="18" charset="0"/>
            </a:endParaRPr>
          </a:p>
          <a:p>
            <a:pPr eaLnBrk="1" latinLnBrk="1" hangingPunct="1">
              <a:lnSpc>
                <a:spcPct val="130000"/>
              </a:lnSpc>
              <a:buFont typeface="Wingdings" pitchFamily="2" charset="2"/>
              <a:buChar char="ü"/>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Trước khi đo phải kiểm tra xem kim có chỉ vào giá trị “0” hay không</a:t>
            </a:r>
            <a:endParaRPr lang="ko-KR" altLang="en-US" sz="1000">
              <a:latin typeface="Times New Roman" pitchFamily="18" charset="0"/>
              <a:cs typeface="Times New Roman" pitchFamily="18" charset="0"/>
            </a:endParaRPr>
          </a:p>
          <a:p>
            <a:pPr eaLnBrk="1" latinLnBrk="1" hangingPunct="1">
              <a:lnSpc>
                <a:spcPct val="130000"/>
              </a:lnSpc>
              <a:buFont typeface="Wingdings" pitchFamily="2" charset="2"/>
              <a:buChar char="ü"/>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Trước khi đo phải kiểm tra xem thang đo và que thử có nằm ở vị trí hợp lý hay không</a:t>
            </a:r>
            <a:endParaRPr lang="ko-KR" altLang="en-US" sz="1000">
              <a:latin typeface="Times New Roman" pitchFamily="18" charset="0"/>
              <a:cs typeface="Times New Roman" pitchFamily="18" charset="0"/>
            </a:endParaRPr>
          </a:p>
          <a:p>
            <a:pPr eaLnBrk="1" latinLnBrk="1" hangingPunct="1">
              <a:lnSpc>
                <a:spcPct val="130000"/>
              </a:lnSpc>
              <a:buFont typeface="Wingdings" pitchFamily="2" charset="2"/>
              <a:buChar char="ü"/>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Nếu không rõ vị trí đo phải đo từ thang đo có giá trị lớn nhất trở lại</a:t>
            </a:r>
            <a:endParaRPr lang="ko-KR" altLang="en-US" sz="1000">
              <a:latin typeface="Times New Roman" pitchFamily="18" charset="0"/>
              <a:cs typeface="Times New Roman" pitchFamily="18" charset="0"/>
            </a:endParaRPr>
          </a:p>
          <a:p>
            <a:pPr eaLnBrk="1" latinLnBrk="1" hangingPunct="1">
              <a:lnSpc>
                <a:spcPct val="130000"/>
              </a:lnSpc>
              <a:buFont typeface="Wingdings" pitchFamily="2" charset="2"/>
              <a:buChar char="ü"/>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Sau khi hoàn thành thao tác đo cần ngắt nguồn điện và chuyển thang đo về vị trí</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Off</a:t>
            </a:r>
            <a:endParaRPr lang="ko-KR" altLang="en-US" sz="1000">
              <a:latin typeface="Times New Roman" pitchFamily="18" charset="0"/>
              <a:cs typeface="Times New Roman" pitchFamily="18" charset="0"/>
            </a:endParaRPr>
          </a:p>
        </p:txBody>
      </p:sp>
      <p:sp>
        <p:nvSpPr>
          <p:cNvPr id="200709" name="Text Box 14"/>
          <p:cNvSpPr txBox="1">
            <a:spLocks noChangeArrowheads="1"/>
          </p:cNvSpPr>
          <p:nvPr/>
        </p:nvSpPr>
        <p:spPr bwMode="auto">
          <a:xfrm>
            <a:off x="600075" y="2578100"/>
            <a:ext cx="16367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b="1">
                <a:latin typeface="Times New Roman" pitchFamily="18" charset="0"/>
                <a:cs typeface="Times New Roman" pitchFamily="18" charset="0"/>
              </a:rPr>
              <a:t>■ Setting về điểm “0”</a:t>
            </a:r>
          </a:p>
        </p:txBody>
      </p:sp>
      <p:sp>
        <p:nvSpPr>
          <p:cNvPr id="200710" name="Text Box 15"/>
          <p:cNvSpPr txBox="1">
            <a:spLocks noChangeArrowheads="1"/>
          </p:cNvSpPr>
          <p:nvPr/>
        </p:nvSpPr>
        <p:spPr bwMode="auto">
          <a:xfrm>
            <a:off x="4211638" y="3213100"/>
            <a:ext cx="394970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pPr>
            <a:r>
              <a:rPr lang="en-US" altLang="ko-KR" sz="1000">
                <a:latin typeface="Times New Roman" pitchFamily="18" charset="0"/>
                <a:cs typeface="Times New Roman" pitchFamily="18" charset="0"/>
              </a:rPr>
              <a:t>▶ Sự quan trọng của việc</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Setting</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về điểm “0”</a:t>
            </a:r>
            <a:endParaRPr lang="ko-KR" altLang="en-US" sz="1000">
              <a:latin typeface="Times New Roman" pitchFamily="18" charset="0"/>
              <a:cs typeface="Times New Roman" pitchFamily="18" charset="0"/>
            </a:endParaRPr>
          </a:p>
          <a:p>
            <a:pPr eaLnBrk="1" latinLnBrk="1" hangingPunct="1">
              <a:lnSpc>
                <a:spcPct val="130000"/>
              </a:lnSpc>
            </a:pP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Nếu không Setting thì giá chị đo không có độ tin cậy.</a:t>
            </a:r>
          </a:p>
          <a:p>
            <a:pPr eaLnBrk="1" latinLnBrk="1" hangingPunct="1">
              <a:lnSpc>
                <a:spcPct val="130000"/>
              </a:lnSpc>
            </a:pPr>
            <a:r>
              <a:rPr lang="en-US" altLang="ko-KR" sz="1000">
                <a:latin typeface="Times New Roman" pitchFamily="18" charset="0"/>
                <a:cs typeface="Times New Roman" pitchFamily="18" charset="0"/>
              </a:rPr>
              <a:t>    - Nếu xảy ra sai sót khi đọc giá trị đo có thể dẫn đến việc mạch chế tác</a:t>
            </a:r>
          </a:p>
          <a:p>
            <a:pPr eaLnBrk="1" latinLnBrk="1" hangingPunct="1">
              <a:lnSpc>
                <a:spcPct val="130000"/>
              </a:lnSpc>
            </a:pPr>
            <a:r>
              <a:rPr lang="en-US" altLang="ko-KR" sz="1000">
                <a:latin typeface="Times New Roman" pitchFamily="18" charset="0"/>
                <a:cs typeface="Times New Roman" pitchFamily="18" charset="0"/>
              </a:rPr>
              <a:t>	bị ngừng hoạt động.</a:t>
            </a:r>
          </a:p>
          <a:p>
            <a:pPr eaLnBrk="1" latinLnBrk="1" hangingPunct="1">
              <a:lnSpc>
                <a:spcPct val="130000"/>
              </a:lnSpc>
            </a:pPr>
            <a:r>
              <a:rPr lang="en-US" altLang="ko-KR" sz="1000">
                <a:latin typeface="Times New Roman" pitchFamily="18" charset="0"/>
                <a:cs typeface="Times New Roman" pitchFamily="18" charset="0"/>
              </a:rPr>
              <a:t>    - Có thể đạt được giá trị đo chính xác hơn.</a:t>
            </a:r>
          </a:p>
          <a:p>
            <a:pPr eaLnBrk="1" latinLnBrk="1" hangingPunct="1">
              <a:lnSpc>
                <a:spcPct val="130000"/>
              </a:lnSpc>
            </a:pPr>
            <a:r>
              <a:rPr lang="en-US" altLang="ko-KR" sz="1000">
                <a:latin typeface="Times New Roman" pitchFamily="18" charset="0"/>
                <a:cs typeface="Times New Roman" pitchFamily="18" charset="0"/>
              </a:rPr>
              <a:t>    - Đảm bảo an toàn trong những công việc nguy hiểm.</a:t>
            </a:r>
          </a:p>
          <a:p>
            <a:pPr eaLnBrk="1" latinLnBrk="1" hangingPunct="1">
              <a:lnSpc>
                <a:spcPct val="130000"/>
              </a:lnSpc>
            </a:pPr>
            <a:r>
              <a:rPr lang="en-US" altLang="ko-KR" sz="1000">
                <a:latin typeface="Times New Roman" pitchFamily="18" charset="0"/>
                <a:cs typeface="Times New Roman" pitchFamily="18" charset="0"/>
              </a:rPr>
              <a:t>       </a:t>
            </a:r>
            <a:r>
              <a:rPr lang="en-US" altLang="ko-KR" sz="1000" b="1">
                <a:solidFill>
                  <a:srgbClr val="FF0000"/>
                </a:solidFill>
                <a:latin typeface="Times New Roman" pitchFamily="18" charset="0"/>
                <a:cs typeface="Times New Roman" pitchFamily="18" charset="0"/>
              </a:rPr>
              <a:t>(Đo AC)</a:t>
            </a:r>
            <a:endParaRPr lang="en-US" altLang="ko-KR" sz="1000">
              <a:latin typeface="Times New Roman" pitchFamily="18" charset="0"/>
              <a:cs typeface="Times New Roman" pitchFamily="18" charset="0"/>
            </a:endParaRPr>
          </a:p>
        </p:txBody>
      </p:sp>
      <p:pic>
        <p:nvPicPr>
          <p:cNvPr id="200711" name="Picture 16" descr="anal_206t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068638"/>
            <a:ext cx="2376487"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712" name="Line 17"/>
          <p:cNvSpPr>
            <a:spLocks noChangeShapeType="1"/>
          </p:cNvSpPr>
          <p:nvPr/>
        </p:nvSpPr>
        <p:spPr bwMode="auto">
          <a:xfrm>
            <a:off x="1042988" y="3429000"/>
            <a:ext cx="576262" cy="36036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0713" name="Text Box 18"/>
          <p:cNvSpPr txBox="1">
            <a:spLocks noChangeArrowheads="1"/>
          </p:cNvSpPr>
          <p:nvPr/>
        </p:nvSpPr>
        <p:spPr bwMode="auto">
          <a:xfrm>
            <a:off x="481013" y="3041650"/>
            <a:ext cx="8985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latin typeface="Times New Roman" pitchFamily="18" charset="0"/>
                <a:cs typeface="Times New Roman" pitchFamily="18" charset="0"/>
              </a:rPr>
              <a:t>    Điểm “0” </a:t>
            </a:r>
          </a:p>
          <a:p>
            <a:pPr eaLnBrk="1" latinLnBrk="1" hangingPunct="1">
              <a:lnSpc>
                <a:spcPct val="100000"/>
              </a:lnSpc>
            </a:pPr>
            <a:r>
              <a:rPr lang="en-US" altLang="ko-KR" sz="1000" b="1">
                <a:latin typeface="Times New Roman" pitchFamily="18" charset="0"/>
                <a:cs typeface="Times New Roman" pitchFamily="18" charset="0"/>
              </a:rPr>
              <a:t> trước khi đo</a:t>
            </a:r>
            <a:endParaRPr lang="ko-KR" altLang="en-US" sz="1000" b="1">
              <a:latin typeface="Times New Roman" pitchFamily="18" charset="0"/>
              <a:cs typeface="Times New Roman" pitchFamily="18" charset="0"/>
            </a:endParaRPr>
          </a:p>
        </p:txBody>
      </p:sp>
      <p:sp>
        <p:nvSpPr>
          <p:cNvPr id="200714" name="Line 19"/>
          <p:cNvSpPr>
            <a:spLocks noChangeShapeType="1"/>
          </p:cNvSpPr>
          <p:nvPr/>
        </p:nvSpPr>
        <p:spPr bwMode="auto">
          <a:xfrm flipV="1">
            <a:off x="2484438" y="4941888"/>
            <a:ext cx="0" cy="3587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0715" name="Text Box 20"/>
          <p:cNvSpPr txBox="1">
            <a:spLocks noChangeArrowheads="1"/>
          </p:cNvSpPr>
          <p:nvPr/>
        </p:nvSpPr>
        <p:spPr bwMode="auto">
          <a:xfrm>
            <a:off x="1311275" y="5348288"/>
            <a:ext cx="6224588"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Trước khi đo mà kim chỉ không nằm ở vị trí “0” thì có thể lấy tô vít xoay nhẹ theo chiều kim đồng hồ để chỉnh lại.</a:t>
            </a:r>
          </a:p>
        </p:txBody>
      </p:sp>
      <p:sp>
        <p:nvSpPr>
          <p:cNvPr id="200716" name="Text Box 21"/>
          <p:cNvSpPr txBox="1">
            <a:spLocks noChangeArrowheads="1"/>
          </p:cNvSpPr>
          <p:nvPr/>
        </p:nvSpPr>
        <p:spPr bwMode="auto">
          <a:xfrm>
            <a:off x="1392238" y="5632450"/>
            <a:ext cx="4043362"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Chú ý</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 nếu quay quá nhiều kim sẽ bị rời ra và không thể chỉnh được nữa.</a:t>
            </a:r>
          </a:p>
        </p:txBody>
      </p:sp>
      <p:sp>
        <p:nvSpPr>
          <p:cNvPr id="200717" name="Text Box 2"/>
          <p:cNvSpPr txBox="1">
            <a:spLocks noChangeArrowheads="1"/>
          </p:cNvSpPr>
          <p:nvPr/>
        </p:nvSpPr>
        <p:spPr bwMode="auto">
          <a:xfrm>
            <a:off x="0" y="0"/>
            <a:ext cx="1009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슬라이드 번호 개체 틀 1"/>
          <p:cNvSpPr txBox="1">
            <a:spLocks noGrp="1"/>
          </p:cNvSpPr>
          <p:nvPr/>
        </p:nvSpPr>
        <p:spPr bwMode="auto">
          <a:xfrm>
            <a:off x="3527425" y="656748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fld id="{82039DAD-D4EE-43AB-A203-3267850B27C6}" type="slidenum">
              <a:rPr lang="en-US" altLang="ko-KR" sz="1400">
                <a:latin typeface="Times New Roman" pitchFamily="18" charset="0"/>
                <a:cs typeface="Times New Roman" pitchFamily="18" charset="0"/>
              </a:rPr>
              <a:pPr algn="ctr" eaLnBrk="1" latinLnBrk="1" hangingPunct="1">
                <a:lnSpc>
                  <a:spcPct val="100000"/>
                </a:lnSpc>
              </a:pPr>
              <a:t>192</a:t>
            </a:fld>
            <a:endParaRPr lang="en-US" altLang="ko-KR" sz="1400">
              <a:latin typeface="Times New Roman" pitchFamily="18" charset="0"/>
              <a:cs typeface="Times New Roman" pitchFamily="18" charset="0"/>
            </a:endParaRPr>
          </a:p>
        </p:txBody>
      </p:sp>
      <p:sp>
        <p:nvSpPr>
          <p:cNvPr id="201731"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2</a:t>
            </a:r>
            <a:r>
              <a:rPr lang="en-US" altLang="en-US" b="1">
                <a:latin typeface="Times New Roman" pitchFamily="18" charset="0"/>
                <a:cs typeface="Times New Roman" pitchFamily="18" charset="0"/>
              </a:rPr>
              <a:t>)  Đo điện áp </a:t>
            </a:r>
            <a:r>
              <a:rPr lang="en-US" altLang="ko-KR" b="1">
                <a:latin typeface="Times New Roman" pitchFamily="18" charset="0"/>
                <a:cs typeface="Times New Roman" pitchFamily="18" charset="0"/>
              </a:rPr>
              <a:t>Analog Tester</a:t>
            </a:r>
            <a:endParaRPr lang="ko-KR" altLang="en-US"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p:txBody>
      </p:sp>
      <p:sp>
        <p:nvSpPr>
          <p:cNvPr id="201732" name="Text Box 5"/>
          <p:cNvSpPr txBox="1">
            <a:spLocks noChangeArrowheads="1"/>
          </p:cNvSpPr>
          <p:nvPr/>
        </p:nvSpPr>
        <p:spPr bwMode="auto">
          <a:xfrm>
            <a:off x="879475" y="1636713"/>
            <a:ext cx="7437438"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Đặt que thử màu đen ở vị trí –COM , que màu đỏ ở vị trí V,Ω,A.</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Cho đầu que thử tiếp xúc với vật cần đo.</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Cấp nguồn điện cho thiết bị cần đo.</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Lúc này nếu kim chỉ dưới vạch 0 thì ngắt nguồn điện của vật đo sau đó đổi đầu que thử và đo tiếp. Đọc chỉ số xuất hiện trên vạch đo dòng điện một chiều màu đen của thang đo.</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Đọc trực tiếp vạch đo phù hợp của thang đo trên khoảng thang đo của 10,50,250.</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2.5</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là kết quả của vạch đo</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250</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chia cho 100,</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1000 là</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10</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vạch đo nhân với</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100.				</a:t>
            </a:r>
          </a:p>
        </p:txBody>
      </p:sp>
      <p:sp>
        <p:nvSpPr>
          <p:cNvPr id="201733" name="Text Box 6"/>
          <p:cNvSpPr txBox="1">
            <a:spLocks noChangeArrowheads="1"/>
          </p:cNvSpPr>
          <p:nvPr/>
        </p:nvSpPr>
        <p:spPr bwMode="auto">
          <a:xfrm>
            <a:off x="827088" y="1341438"/>
            <a:ext cx="23383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Đo điện áp dòng điện một chiều</a:t>
            </a:r>
            <a:endParaRPr lang="ko-KR" altLang="en-US">
              <a:latin typeface="Times New Roman" pitchFamily="18" charset="0"/>
              <a:cs typeface="Times New Roman" pitchFamily="18" charset="0"/>
            </a:endParaRPr>
          </a:p>
        </p:txBody>
      </p:sp>
      <p:sp>
        <p:nvSpPr>
          <p:cNvPr id="201734" name="Text Box 7"/>
          <p:cNvSpPr txBox="1">
            <a:spLocks noChangeArrowheads="1"/>
          </p:cNvSpPr>
          <p:nvPr/>
        </p:nvSpPr>
        <p:spPr bwMode="auto">
          <a:xfrm>
            <a:off x="879475" y="3644900"/>
            <a:ext cx="7292975"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Thứ tự thực hiện giống khi đo dòng điện một chiều.</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Khi đọc chỉ số đo phải đọc chỉ số hiển thị trên vạch đo dành cho</a:t>
            </a:r>
            <a:r>
              <a:rPr lang="ko-KR" altLang="en-US" sz="1000">
                <a:latin typeface="Times New Roman" pitchFamily="18" charset="0"/>
                <a:cs typeface="Times New Roman" pitchFamily="18" charset="0"/>
              </a:rPr>
              <a:t> </a:t>
            </a:r>
            <a:r>
              <a:rPr lang="en-US" altLang="ko-KR" sz="1000">
                <a:latin typeface="Times New Roman" pitchFamily="18" charset="0"/>
                <a:cs typeface="Times New Roman" pitchFamily="18" charset="0"/>
              </a:rPr>
              <a:t>AC.</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Cho đầu que thử tiếp xúc với vật cần đo.</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Cấp nguồn điện cho thiết bị cần đo.</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Đọc chỉ số xuất hiện trên thang đo màu đỏ dành cho dòng điện xoay chiều.</a:t>
            </a:r>
          </a:p>
        </p:txBody>
      </p:sp>
      <p:sp>
        <p:nvSpPr>
          <p:cNvPr id="201735" name="Text Box 8"/>
          <p:cNvSpPr txBox="1">
            <a:spLocks noChangeArrowheads="1"/>
          </p:cNvSpPr>
          <p:nvPr/>
        </p:nvSpPr>
        <p:spPr bwMode="auto">
          <a:xfrm>
            <a:off x="827088" y="3349625"/>
            <a:ext cx="2436812"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Đo điện áp dòng điện xoay chiều</a:t>
            </a:r>
            <a:endParaRPr lang="ko-KR" altLang="en-US">
              <a:latin typeface="Times New Roman" pitchFamily="18" charset="0"/>
              <a:cs typeface="Times New Roman" pitchFamily="18" charset="0"/>
            </a:endParaRPr>
          </a:p>
        </p:txBody>
      </p:sp>
      <p:sp>
        <p:nvSpPr>
          <p:cNvPr id="201736" name="Text Box 9"/>
          <p:cNvSpPr txBox="1">
            <a:spLocks noChangeArrowheads="1"/>
          </p:cNvSpPr>
          <p:nvPr/>
        </p:nvSpPr>
        <p:spPr bwMode="auto">
          <a:xfrm>
            <a:off x="1330325" y="5272088"/>
            <a:ext cx="6929438"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b="1">
                <a:latin typeface="Times New Roman" pitchFamily="18" charset="0"/>
                <a:cs typeface="Times New Roman" pitchFamily="18" charset="0"/>
              </a:rPr>
              <a:t>※ Để đo</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AC12V, AC24V, DC+5V, DC-5V, DC12V Consol đầu ra cần xem xét và đọc giá trị của đầu que thử máy</a:t>
            </a:r>
            <a:r>
              <a:rPr lang="ko-KR" altLang="en-US" sz="1000" b="1">
                <a:latin typeface="Times New Roman" pitchFamily="18" charset="0"/>
                <a:cs typeface="Times New Roman" pitchFamily="18" charset="0"/>
              </a:rPr>
              <a:t> </a:t>
            </a:r>
            <a:r>
              <a:rPr lang="en-US" altLang="ko-KR" sz="1000" b="1">
                <a:latin typeface="Times New Roman" pitchFamily="18" charset="0"/>
                <a:cs typeface="Times New Roman" pitchFamily="18" charset="0"/>
              </a:rPr>
              <a:t>Tester.</a:t>
            </a:r>
          </a:p>
        </p:txBody>
      </p:sp>
      <p:pic>
        <p:nvPicPr>
          <p:cNvPr id="201737" name="Picture 10" descr="MCj023784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8675" y="5229225"/>
            <a:ext cx="5032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8" name="Text Box 2"/>
          <p:cNvSpPr txBox="1">
            <a:spLocks noChangeArrowheads="1"/>
          </p:cNvSpPr>
          <p:nvPr/>
        </p:nvSpPr>
        <p:spPr bwMode="auto">
          <a:xfrm>
            <a:off x="0" y="0"/>
            <a:ext cx="935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Phụ lục</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슬라이드 번호 개체 틀 1"/>
          <p:cNvSpPr txBox="1">
            <a:spLocks noGrp="1"/>
          </p:cNvSpPr>
          <p:nvPr/>
        </p:nvSpPr>
        <p:spPr bwMode="auto">
          <a:xfrm>
            <a:off x="3527425" y="656748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algn="ctr" eaLnBrk="1" latinLnBrk="1" hangingPunct="1">
              <a:lnSpc>
                <a:spcPct val="100000"/>
              </a:lnSpc>
            </a:pPr>
            <a:fld id="{79988CBA-0D73-4F57-8585-D0BA1FC5B213}" type="slidenum">
              <a:rPr lang="en-US" altLang="ko-KR" sz="1400">
                <a:latin typeface="Times New Roman" pitchFamily="18" charset="0"/>
                <a:cs typeface="Times New Roman" pitchFamily="18" charset="0"/>
              </a:rPr>
              <a:pPr algn="ctr" eaLnBrk="1" latinLnBrk="1" hangingPunct="1">
                <a:lnSpc>
                  <a:spcPct val="100000"/>
                </a:lnSpc>
              </a:pPr>
              <a:t>193</a:t>
            </a:fld>
            <a:endParaRPr lang="en-US" altLang="ko-KR" sz="1400">
              <a:latin typeface="Times New Roman" pitchFamily="18" charset="0"/>
              <a:cs typeface="Times New Roman" pitchFamily="18" charset="0"/>
            </a:endParaRPr>
          </a:p>
        </p:txBody>
      </p:sp>
      <p:sp>
        <p:nvSpPr>
          <p:cNvPr id="202755" name="Rectangle 3"/>
          <p:cNvSpPr>
            <a:spLocks noChangeArrowheads="1"/>
          </p:cNvSpPr>
          <p:nvPr/>
        </p:nvSpPr>
        <p:spPr bwMode="auto">
          <a:xfrm>
            <a:off x="827088" y="836613"/>
            <a:ext cx="7489825"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2"/>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r>
              <a:rPr lang="en-US" altLang="en-US" b="1">
                <a:latin typeface="Times New Roman" pitchFamily="18" charset="0"/>
                <a:cs typeface="Times New Roman" pitchFamily="18" charset="0"/>
              </a:rPr>
              <a:t>(</a:t>
            </a:r>
            <a:r>
              <a:rPr lang="en-US" altLang="ko-KR" b="1">
                <a:latin typeface="Times New Roman" pitchFamily="18" charset="0"/>
                <a:cs typeface="Times New Roman" pitchFamily="18" charset="0"/>
              </a:rPr>
              <a:t>3</a:t>
            </a:r>
            <a:r>
              <a:rPr lang="en-US" altLang="en-US" b="1">
                <a:latin typeface="Times New Roman" pitchFamily="18" charset="0"/>
                <a:cs typeface="Times New Roman" pitchFamily="18" charset="0"/>
              </a:rPr>
              <a:t>) Đo cường độ dòng điện </a:t>
            </a:r>
            <a:r>
              <a:rPr lang="en-US" altLang="ko-KR" b="1">
                <a:latin typeface="Times New Roman" pitchFamily="18" charset="0"/>
                <a:cs typeface="Times New Roman" pitchFamily="18" charset="0"/>
              </a:rPr>
              <a:t>Analog Tester</a:t>
            </a:r>
            <a:endParaRPr lang="ko-KR" altLang="en-US" b="1">
              <a:latin typeface="Times New Roman" pitchFamily="18" charset="0"/>
              <a:cs typeface="Times New Roman" pitchFamily="18" charset="0"/>
            </a:endParaRPr>
          </a:p>
          <a:p>
            <a:pPr eaLnBrk="1" hangingPunct="1"/>
            <a:endParaRPr lang="en-US" altLang="ko-KR" b="1">
              <a:latin typeface="Times New Roman" pitchFamily="18" charset="0"/>
              <a:cs typeface="Times New Roman" pitchFamily="18" charset="0"/>
            </a:endParaRPr>
          </a:p>
        </p:txBody>
      </p:sp>
      <p:sp>
        <p:nvSpPr>
          <p:cNvPr id="202756" name="Text Box 5"/>
          <p:cNvSpPr txBox="1">
            <a:spLocks noChangeArrowheads="1"/>
          </p:cNvSpPr>
          <p:nvPr/>
        </p:nvSpPr>
        <p:spPr bwMode="auto">
          <a:xfrm>
            <a:off x="1023938" y="1658938"/>
            <a:ext cx="520382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Đặt que thử đen vào –COM, que màu đỏ ở V,Ω,A.</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Đưa nút chọn thang đo đến thang đo dòng điện.</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Ngắt điện và mắc nối tiếp vật đo.</a:t>
            </a:r>
            <a:endParaRPr lang="en-US" altLang="ko-KR" sz="700">
              <a:latin typeface="Times New Roman" pitchFamily="18" charset="0"/>
              <a:cs typeface="Times New Roman" pitchFamily="18" charset="0"/>
            </a:endParaRPr>
          </a:p>
        </p:txBody>
      </p:sp>
      <p:sp>
        <p:nvSpPr>
          <p:cNvPr id="202757" name="Text Box 6"/>
          <p:cNvSpPr txBox="1">
            <a:spLocks noChangeArrowheads="1"/>
          </p:cNvSpPr>
          <p:nvPr/>
        </p:nvSpPr>
        <p:spPr bwMode="auto">
          <a:xfrm>
            <a:off x="971550" y="1363663"/>
            <a:ext cx="1849438"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Đo dòng điện một chiều</a:t>
            </a:r>
            <a:endParaRPr lang="ko-KR" altLang="en-US">
              <a:latin typeface="Times New Roman" pitchFamily="18" charset="0"/>
              <a:cs typeface="Times New Roman" pitchFamily="18" charset="0"/>
            </a:endParaRPr>
          </a:p>
        </p:txBody>
      </p:sp>
      <p:grpSp>
        <p:nvGrpSpPr>
          <p:cNvPr id="202758" name="Group 7"/>
          <p:cNvGrpSpPr>
            <a:grpSpLocks/>
          </p:cNvGrpSpPr>
          <p:nvPr/>
        </p:nvGrpSpPr>
        <p:grpSpPr bwMode="auto">
          <a:xfrm>
            <a:off x="1787525" y="2493963"/>
            <a:ext cx="2705100" cy="2444750"/>
            <a:chOff x="990" y="1706"/>
            <a:chExt cx="1704" cy="1540"/>
          </a:xfrm>
        </p:grpSpPr>
        <p:pic>
          <p:nvPicPr>
            <p:cNvPr id="202781" name="Picture 8" descr="anal_206t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0" y="1751"/>
              <a:ext cx="35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82" name="Freeform 9"/>
            <p:cNvSpPr>
              <a:spLocks/>
            </p:cNvSpPr>
            <p:nvPr/>
          </p:nvSpPr>
          <p:spPr bwMode="auto">
            <a:xfrm>
              <a:off x="1655" y="2477"/>
              <a:ext cx="227" cy="90"/>
            </a:xfrm>
            <a:custGeom>
              <a:avLst/>
              <a:gdLst>
                <a:gd name="T0" fmla="*/ 0 w 317"/>
                <a:gd name="T1" fmla="*/ 0 h 181"/>
                <a:gd name="T2" fmla="*/ 1 w 317"/>
                <a:gd name="T3" fmla="*/ 0 h 181"/>
                <a:gd name="T4" fmla="*/ 1 w 317"/>
                <a:gd name="T5" fmla="*/ 0 h 181"/>
                <a:gd name="T6" fmla="*/ 1 w 317"/>
                <a:gd name="T7" fmla="*/ 0 h 181"/>
                <a:gd name="T8" fmla="*/ 1 w 317"/>
                <a:gd name="T9" fmla="*/ 0 h 181"/>
                <a:gd name="T10" fmla="*/ 1 w 317"/>
                <a:gd name="T11" fmla="*/ 0 h 181"/>
                <a:gd name="T12" fmla="*/ 1 w 317"/>
                <a:gd name="T13" fmla="*/ 0 h 181"/>
                <a:gd name="T14" fmla="*/ 1 w 317"/>
                <a:gd name="T15" fmla="*/ 0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83" name="Freeform 10"/>
            <p:cNvSpPr>
              <a:spLocks/>
            </p:cNvSpPr>
            <p:nvPr/>
          </p:nvSpPr>
          <p:spPr bwMode="auto">
            <a:xfrm>
              <a:off x="1292" y="2522"/>
              <a:ext cx="454" cy="363"/>
            </a:xfrm>
            <a:custGeom>
              <a:avLst/>
              <a:gdLst>
                <a:gd name="T0" fmla="*/ 363 w 454"/>
                <a:gd name="T1" fmla="*/ 0 h 363"/>
                <a:gd name="T2" fmla="*/ 0 w 454"/>
                <a:gd name="T3" fmla="*/ 0 h 363"/>
                <a:gd name="T4" fmla="*/ 0 w 454"/>
                <a:gd name="T5" fmla="*/ 363 h 363"/>
                <a:gd name="T6" fmla="*/ 454 w 454"/>
                <a:gd name="T7" fmla="*/ 363 h 3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4" h="363">
                  <a:moveTo>
                    <a:pt x="363" y="0"/>
                  </a:moveTo>
                  <a:lnTo>
                    <a:pt x="0" y="0"/>
                  </a:lnTo>
                  <a:lnTo>
                    <a:pt x="0" y="363"/>
                  </a:lnTo>
                  <a:lnTo>
                    <a:pt x="454" y="363"/>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84" name="Line 11"/>
            <p:cNvSpPr>
              <a:spLocks noChangeShapeType="1"/>
            </p:cNvSpPr>
            <p:nvPr/>
          </p:nvSpPr>
          <p:spPr bwMode="auto">
            <a:xfrm>
              <a:off x="1791" y="2794"/>
              <a:ext cx="0" cy="1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85" name="Line 12"/>
            <p:cNvSpPr>
              <a:spLocks noChangeShapeType="1"/>
            </p:cNvSpPr>
            <p:nvPr/>
          </p:nvSpPr>
          <p:spPr bwMode="auto">
            <a:xfrm>
              <a:off x="1747" y="2839"/>
              <a:ext cx="0" cy="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86" name="Freeform 13"/>
            <p:cNvSpPr>
              <a:spLocks/>
            </p:cNvSpPr>
            <p:nvPr/>
          </p:nvSpPr>
          <p:spPr bwMode="auto">
            <a:xfrm>
              <a:off x="1791" y="2523"/>
              <a:ext cx="454" cy="363"/>
            </a:xfrm>
            <a:custGeom>
              <a:avLst/>
              <a:gdLst>
                <a:gd name="T0" fmla="*/ 91 w 454"/>
                <a:gd name="T1" fmla="*/ 0 h 363"/>
                <a:gd name="T2" fmla="*/ 454 w 454"/>
                <a:gd name="T3" fmla="*/ 0 h 363"/>
                <a:gd name="T4" fmla="*/ 454 w 454"/>
                <a:gd name="T5" fmla="*/ 363 h 363"/>
                <a:gd name="T6" fmla="*/ 0 w 454"/>
                <a:gd name="T7" fmla="*/ 363 h 3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4" h="363">
                  <a:moveTo>
                    <a:pt x="91" y="0"/>
                  </a:moveTo>
                  <a:lnTo>
                    <a:pt x="454" y="0"/>
                  </a:lnTo>
                  <a:lnTo>
                    <a:pt x="454" y="363"/>
                  </a:lnTo>
                  <a:lnTo>
                    <a:pt x="0" y="363"/>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202787" name="Group 14"/>
            <p:cNvGrpSpPr>
              <a:grpSpLocks/>
            </p:cNvGrpSpPr>
            <p:nvPr/>
          </p:nvGrpSpPr>
          <p:grpSpPr bwMode="auto">
            <a:xfrm>
              <a:off x="1383" y="2159"/>
              <a:ext cx="45" cy="363"/>
              <a:chOff x="1202" y="1978"/>
              <a:chExt cx="45" cy="363"/>
            </a:xfrm>
          </p:grpSpPr>
          <p:sp>
            <p:nvSpPr>
              <p:cNvPr id="202796" name="Rectangle 15"/>
              <p:cNvSpPr>
                <a:spLocks noChangeArrowheads="1"/>
              </p:cNvSpPr>
              <p:nvPr/>
            </p:nvSpPr>
            <p:spPr bwMode="auto">
              <a:xfrm>
                <a:off x="1202" y="1978"/>
                <a:ext cx="45" cy="22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02797" name="Line 16"/>
              <p:cNvSpPr>
                <a:spLocks noChangeShapeType="1"/>
              </p:cNvSpPr>
              <p:nvPr/>
            </p:nvSpPr>
            <p:spPr bwMode="auto">
              <a:xfrm>
                <a:off x="1220" y="2205"/>
                <a:ext cx="0" cy="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202788" name="Group 17"/>
            <p:cNvGrpSpPr>
              <a:grpSpLocks/>
            </p:cNvGrpSpPr>
            <p:nvPr/>
          </p:nvGrpSpPr>
          <p:grpSpPr bwMode="auto">
            <a:xfrm>
              <a:off x="2154" y="2159"/>
              <a:ext cx="45" cy="363"/>
              <a:chOff x="1973" y="1978"/>
              <a:chExt cx="45" cy="363"/>
            </a:xfrm>
          </p:grpSpPr>
          <p:sp>
            <p:nvSpPr>
              <p:cNvPr id="202794" name="Rectangle 18"/>
              <p:cNvSpPr>
                <a:spLocks noChangeArrowheads="1"/>
              </p:cNvSpPr>
              <p:nvPr/>
            </p:nvSpPr>
            <p:spPr bwMode="auto">
              <a:xfrm>
                <a:off x="1973" y="1978"/>
                <a:ext cx="45" cy="227"/>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02795" name="Line 19"/>
              <p:cNvSpPr>
                <a:spLocks noChangeShapeType="1"/>
              </p:cNvSpPr>
              <p:nvPr/>
            </p:nvSpPr>
            <p:spPr bwMode="auto">
              <a:xfrm>
                <a:off x="1991" y="2205"/>
                <a:ext cx="0" cy="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202789" name="Freeform 20"/>
            <p:cNvSpPr>
              <a:spLocks/>
            </p:cNvSpPr>
            <p:nvPr/>
          </p:nvSpPr>
          <p:spPr bwMode="auto">
            <a:xfrm>
              <a:off x="1393" y="2077"/>
              <a:ext cx="260" cy="148"/>
            </a:xfrm>
            <a:custGeom>
              <a:avLst/>
              <a:gdLst>
                <a:gd name="T0" fmla="*/ 0 w 260"/>
                <a:gd name="T1" fmla="*/ 76 h 148"/>
                <a:gd name="T2" fmla="*/ 32 w 260"/>
                <a:gd name="T3" fmla="*/ 0 h 148"/>
                <a:gd name="T4" fmla="*/ 88 w 260"/>
                <a:gd name="T5" fmla="*/ 16 h 148"/>
                <a:gd name="T6" fmla="*/ 148 w 260"/>
                <a:gd name="T7" fmla="*/ 68 h 148"/>
                <a:gd name="T8" fmla="*/ 172 w 260"/>
                <a:gd name="T9" fmla="*/ 136 h 148"/>
                <a:gd name="T10" fmla="*/ 260 w 260"/>
                <a:gd name="T11" fmla="*/ 140 h 1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0" h="148">
                  <a:moveTo>
                    <a:pt x="0" y="76"/>
                  </a:moveTo>
                  <a:cubicBezTo>
                    <a:pt x="4" y="45"/>
                    <a:pt x="10" y="22"/>
                    <a:pt x="32" y="0"/>
                  </a:cubicBezTo>
                  <a:cubicBezTo>
                    <a:pt x="56" y="3"/>
                    <a:pt x="66" y="11"/>
                    <a:pt x="88" y="16"/>
                  </a:cubicBezTo>
                  <a:cubicBezTo>
                    <a:pt x="111" y="33"/>
                    <a:pt x="138" y="38"/>
                    <a:pt x="148" y="68"/>
                  </a:cubicBezTo>
                  <a:cubicBezTo>
                    <a:pt x="155" y="88"/>
                    <a:pt x="152" y="126"/>
                    <a:pt x="172" y="136"/>
                  </a:cubicBezTo>
                  <a:cubicBezTo>
                    <a:pt x="196" y="148"/>
                    <a:pt x="252" y="140"/>
                    <a:pt x="260" y="14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90" name="Freeform 21"/>
            <p:cNvSpPr>
              <a:spLocks/>
            </p:cNvSpPr>
            <p:nvPr/>
          </p:nvSpPr>
          <p:spPr bwMode="auto">
            <a:xfrm>
              <a:off x="1901" y="2076"/>
              <a:ext cx="295" cy="149"/>
            </a:xfrm>
            <a:custGeom>
              <a:avLst/>
              <a:gdLst>
                <a:gd name="T0" fmla="*/ 0 w 295"/>
                <a:gd name="T1" fmla="*/ 149 h 149"/>
                <a:gd name="T2" fmla="*/ 16 w 295"/>
                <a:gd name="T3" fmla="*/ 141 h 149"/>
                <a:gd name="T4" fmla="*/ 36 w 295"/>
                <a:gd name="T5" fmla="*/ 137 h 149"/>
                <a:gd name="T6" fmla="*/ 52 w 295"/>
                <a:gd name="T7" fmla="*/ 125 h 149"/>
                <a:gd name="T8" fmla="*/ 64 w 295"/>
                <a:gd name="T9" fmla="*/ 121 h 149"/>
                <a:gd name="T10" fmla="*/ 92 w 295"/>
                <a:gd name="T11" fmla="*/ 105 h 149"/>
                <a:gd name="T12" fmla="*/ 120 w 295"/>
                <a:gd name="T13" fmla="*/ 77 h 149"/>
                <a:gd name="T14" fmla="*/ 152 w 295"/>
                <a:gd name="T15" fmla="*/ 41 h 149"/>
                <a:gd name="T16" fmla="*/ 192 w 295"/>
                <a:gd name="T17" fmla="*/ 1 h 149"/>
                <a:gd name="T18" fmla="*/ 268 w 295"/>
                <a:gd name="T19" fmla="*/ 25 h 149"/>
                <a:gd name="T20" fmla="*/ 276 w 295"/>
                <a:gd name="T21" fmla="*/ 37 h 149"/>
                <a:gd name="T22" fmla="*/ 292 w 295"/>
                <a:gd name="T23" fmla="*/ 45 h 149"/>
                <a:gd name="T24" fmla="*/ 284 w 295"/>
                <a:gd name="T25" fmla="*/ 7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5" h="149">
                  <a:moveTo>
                    <a:pt x="0" y="149"/>
                  </a:moveTo>
                  <a:cubicBezTo>
                    <a:pt x="5" y="146"/>
                    <a:pt x="10" y="143"/>
                    <a:pt x="16" y="141"/>
                  </a:cubicBezTo>
                  <a:cubicBezTo>
                    <a:pt x="22" y="139"/>
                    <a:pt x="30" y="140"/>
                    <a:pt x="36" y="137"/>
                  </a:cubicBezTo>
                  <a:cubicBezTo>
                    <a:pt x="42" y="134"/>
                    <a:pt x="46" y="128"/>
                    <a:pt x="52" y="125"/>
                  </a:cubicBezTo>
                  <a:cubicBezTo>
                    <a:pt x="56" y="123"/>
                    <a:pt x="60" y="122"/>
                    <a:pt x="64" y="121"/>
                  </a:cubicBezTo>
                  <a:cubicBezTo>
                    <a:pt x="73" y="115"/>
                    <a:pt x="84" y="112"/>
                    <a:pt x="92" y="105"/>
                  </a:cubicBezTo>
                  <a:cubicBezTo>
                    <a:pt x="102" y="97"/>
                    <a:pt x="120" y="77"/>
                    <a:pt x="120" y="77"/>
                  </a:cubicBezTo>
                  <a:cubicBezTo>
                    <a:pt x="126" y="59"/>
                    <a:pt x="140" y="56"/>
                    <a:pt x="152" y="41"/>
                  </a:cubicBezTo>
                  <a:cubicBezTo>
                    <a:pt x="186" y="0"/>
                    <a:pt x="165" y="10"/>
                    <a:pt x="192" y="1"/>
                  </a:cubicBezTo>
                  <a:cubicBezTo>
                    <a:pt x="228" y="7"/>
                    <a:pt x="241" y="7"/>
                    <a:pt x="268" y="25"/>
                  </a:cubicBezTo>
                  <a:cubicBezTo>
                    <a:pt x="271" y="29"/>
                    <a:pt x="272" y="34"/>
                    <a:pt x="276" y="37"/>
                  </a:cubicBezTo>
                  <a:cubicBezTo>
                    <a:pt x="281" y="41"/>
                    <a:pt x="291" y="39"/>
                    <a:pt x="292" y="45"/>
                  </a:cubicBezTo>
                  <a:cubicBezTo>
                    <a:pt x="295" y="56"/>
                    <a:pt x="284" y="66"/>
                    <a:pt x="284" y="77"/>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91" name="Line 22"/>
            <p:cNvSpPr>
              <a:spLocks noChangeShapeType="1"/>
            </p:cNvSpPr>
            <p:nvPr/>
          </p:nvSpPr>
          <p:spPr bwMode="auto">
            <a:xfrm flipV="1">
              <a:off x="1157" y="1706"/>
              <a:ext cx="1315" cy="136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92" name="Line 23"/>
            <p:cNvSpPr>
              <a:spLocks noChangeShapeType="1"/>
            </p:cNvSpPr>
            <p:nvPr/>
          </p:nvSpPr>
          <p:spPr bwMode="auto">
            <a:xfrm flipH="1" flipV="1">
              <a:off x="1202" y="1706"/>
              <a:ext cx="1134" cy="136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93" name="Text Box 24"/>
            <p:cNvSpPr txBox="1">
              <a:spLocks noChangeArrowheads="1"/>
            </p:cNvSpPr>
            <p:nvPr/>
          </p:nvSpPr>
          <p:spPr bwMode="auto">
            <a:xfrm>
              <a:off x="990" y="3091"/>
              <a:ext cx="1704"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Không được nối song song! (Phát sinh Short)</a:t>
              </a:r>
            </a:p>
          </p:txBody>
        </p:sp>
      </p:grpSp>
      <p:grpSp>
        <p:nvGrpSpPr>
          <p:cNvPr id="202759" name="Group 25"/>
          <p:cNvGrpSpPr>
            <a:grpSpLocks/>
          </p:cNvGrpSpPr>
          <p:nvPr/>
        </p:nvGrpSpPr>
        <p:grpSpPr bwMode="auto">
          <a:xfrm>
            <a:off x="5003800" y="2565400"/>
            <a:ext cx="2443163" cy="2373313"/>
            <a:chOff x="3016" y="1751"/>
            <a:chExt cx="1539" cy="1495"/>
          </a:xfrm>
        </p:grpSpPr>
        <p:pic>
          <p:nvPicPr>
            <p:cNvPr id="202765" name="Picture 26" descr="anal_206t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0" y="1751"/>
              <a:ext cx="35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66" name="Freeform 27"/>
            <p:cNvSpPr>
              <a:spLocks/>
            </p:cNvSpPr>
            <p:nvPr/>
          </p:nvSpPr>
          <p:spPr bwMode="auto">
            <a:xfrm>
              <a:off x="3379" y="2477"/>
              <a:ext cx="227" cy="90"/>
            </a:xfrm>
            <a:custGeom>
              <a:avLst/>
              <a:gdLst>
                <a:gd name="T0" fmla="*/ 0 w 317"/>
                <a:gd name="T1" fmla="*/ 0 h 181"/>
                <a:gd name="T2" fmla="*/ 1 w 317"/>
                <a:gd name="T3" fmla="*/ 0 h 181"/>
                <a:gd name="T4" fmla="*/ 1 w 317"/>
                <a:gd name="T5" fmla="*/ 0 h 181"/>
                <a:gd name="T6" fmla="*/ 1 w 317"/>
                <a:gd name="T7" fmla="*/ 0 h 181"/>
                <a:gd name="T8" fmla="*/ 1 w 317"/>
                <a:gd name="T9" fmla="*/ 0 h 181"/>
                <a:gd name="T10" fmla="*/ 1 w 317"/>
                <a:gd name="T11" fmla="*/ 0 h 181"/>
                <a:gd name="T12" fmla="*/ 1 w 317"/>
                <a:gd name="T13" fmla="*/ 0 h 181"/>
                <a:gd name="T14" fmla="*/ 1 w 317"/>
                <a:gd name="T15" fmla="*/ 0 h 1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181">
                  <a:moveTo>
                    <a:pt x="0" y="90"/>
                  </a:moveTo>
                  <a:lnTo>
                    <a:pt x="45" y="0"/>
                  </a:lnTo>
                  <a:lnTo>
                    <a:pt x="91" y="181"/>
                  </a:lnTo>
                  <a:lnTo>
                    <a:pt x="136" y="0"/>
                  </a:lnTo>
                  <a:lnTo>
                    <a:pt x="181" y="181"/>
                  </a:lnTo>
                  <a:lnTo>
                    <a:pt x="227" y="0"/>
                  </a:lnTo>
                  <a:lnTo>
                    <a:pt x="272" y="181"/>
                  </a:lnTo>
                  <a:lnTo>
                    <a:pt x="317" y="9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67" name="Freeform 28"/>
            <p:cNvSpPr>
              <a:spLocks/>
            </p:cNvSpPr>
            <p:nvPr/>
          </p:nvSpPr>
          <p:spPr bwMode="auto">
            <a:xfrm>
              <a:off x="3016" y="2522"/>
              <a:ext cx="454" cy="363"/>
            </a:xfrm>
            <a:custGeom>
              <a:avLst/>
              <a:gdLst>
                <a:gd name="T0" fmla="*/ 363 w 454"/>
                <a:gd name="T1" fmla="*/ 0 h 363"/>
                <a:gd name="T2" fmla="*/ 0 w 454"/>
                <a:gd name="T3" fmla="*/ 0 h 363"/>
                <a:gd name="T4" fmla="*/ 0 w 454"/>
                <a:gd name="T5" fmla="*/ 363 h 363"/>
                <a:gd name="T6" fmla="*/ 454 w 454"/>
                <a:gd name="T7" fmla="*/ 363 h 3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4" h="363">
                  <a:moveTo>
                    <a:pt x="363" y="0"/>
                  </a:moveTo>
                  <a:lnTo>
                    <a:pt x="0" y="0"/>
                  </a:lnTo>
                  <a:lnTo>
                    <a:pt x="0" y="363"/>
                  </a:lnTo>
                  <a:lnTo>
                    <a:pt x="454" y="363"/>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68" name="Line 29"/>
            <p:cNvSpPr>
              <a:spLocks noChangeShapeType="1"/>
            </p:cNvSpPr>
            <p:nvPr/>
          </p:nvSpPr>
          <p:spPr bwMode="auto">
            <a:xfrm>
              <a:off x="3515" y="2794"/>
              <a:ext cx="0" cy="1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69" name="Line 30"/>
            <p:cNvSpPr>
              <a:spLocks noChangeShapeType="1"/>
            </p:cNvSpPr>
            <p:nvPr/>
          </p:nvSpPr>
          <p:spPr bwMode="auto">
            <a:xfrm>
              <a:off x="3470" y="2839"/>
              <a:ext cx="0" cy="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202770" name="Group 31"/>
            <p:cNvGrpSpPr>
              <a:grpSpLocks/>
            </p:cNvGrpSpPr>
            <p:nvPr/>
          </p:nvGrpSpPr>
          <p:grpSpPr bwMode="auto">
            <a:xfrm>
              <a:off x="3923" y="2159"/>
              <a:ext cx="45" cy="363"/>
              <a:chOff x="1202" y="1978"/>
              <a:chExt cx="45" cy="363"/>
            </a:xfrm>
          </p:grpSpPr>
          <p:sp>
            <p:nvSpPr>
              <p:cNvPr id="202779" name="Rectangle 32"/>
              <p:cNvSpPr>
                <a:spLocks noChangeArrowheads="1"/>
              </p:cNvSpPr>
              <p:nvPr/>
            </p:nvSpPr>
            <p:spPr bwMode="auto">
              <a:xfrm>
                <a:off x="1202" y="1978"/>
                <a:ext cx="45" cy="22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02780" name="Line 33"/>
              <p:cNvSpPr>
                <a:spLocks noChangeShapeType="1"/>
              </p:cNvSpPr>
              <p:nvPr/>
            </p:nvSpPr>
            <p:spPr bwMode="auto">
              <a:xfrm>
                <a:off x="1220" y="2205"/>
                <a:ext cx="0" cy="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grpSp>
          <p:nvGrpSpPr>
            <p:cNvPr id="202771" name="Group 34"/>
            <p:cNvGrpSpPr>
              <a:grpSpLocks/>
            </p:cNvGrpSpPr>
            <p:nvPr/>
          </p:nvGrpSpPr>
          <p:grpSpPr bwMode="auto">
            <a:xfrm rot="1646577">
              <a:off x="4028" y="2547"/>
              <a:ext cx="45" cy="363"/>
              <a:chOff x="1973" y="1978"/>
              <a:chExt cx="45" cy="363"/>
            </a:xfrm>
          </p:grpSpPr>
          <p:sp>
            <p:nvSpPr>
              <p:cNvPr id="202777" name="Rectangle 35"/>
              <p:cNvSpPr>
                <a:spLocks noChangeArrowheads="1"/>
              </p:cNvSpPr>
              <p:nvPr/>
            </p:nvSpPr>
            <p:spPr bwMode="auto">
              <a:xfrm>
                <a:off x="1973" y="1978"/>
                <a:ext cx="45" cy="227"/>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latin typeface="Times New Roman" pitchFamily="18" charset="0"/>
                  <a:cs typeface="Times New Roman" pitchFamily="18" charset="0"/>
                </a:endParaRPr>
              </a:p>
            </p:txBody>
          </p:sp>
          <p:sp>
            <p:nvSpPr>
              <p:cNvPr id="202778" name="Line 36"/>
              <p:cNvSpPr>
                <a:spLocks noChangeShapeType="1"/>
              </p:cNvSpPr>
              <p:nvPr/>
            </p:nvSpPr>
            <p:spPr bwMode="auto">
              <a:xfrm>
                <a:off x="1991" y="2205"/>
                <a:ext cx="0" cy="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202772" name="Freeform 37"/>
            <p:cNvSpPr>
              <a:spLocks/>
            </p:cNvSpPr>
            <p:nvPr/>
          </p:nvSpPr>
          <p:spPr bwMode="auto">
            <a:xfrm>
              <a:off x="3933" y="2077"/>
              <a:ext cx="260" cy="148"/>
            </a:xfrm>
            <a:custGeom>
              <a:avLst/>
              <a:gdLst>
                <a:gd name="T0" fmla="*/ 0 w 260"/>
                <a:gd name="T1" fmla="*/ 76 h 148"/>
                <a:gd name="T2" fmla="*/ 32 w 260"/>
                <a:gd name="T3" fmla="*/ 0 h 148"/>
                <a:gd name="T4" fmla="*/ 88 w 260"/>
                <a:gd name="T5" fmla="*/ 16 h 148"/>
                <a:gd name="T6" fmla="*/ 148 w 260"/>
                <a:gd name="T7" fmla="*/ 68 h 148"/>
                <a:gd name="T8" fmla="*/ 172 w 260"/>
                <a:gd name="T9" fmla="*/ 136 h 148"/>
                <a:gd name="T10" fmla="*/ 260 w 260"/>
                <a:gd name="T11" fmla="*/ 140 h 1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0" h="148">
                  <a:moveTo>
                    <a:pt x="0" y="76"/>
                  </a:moveTo>
                  <a:cubicBezTo>
                    <a:pt x="4" y="45"/>
                    <a:pt x="10" y="22"/>
                    <a:pt x="32" y="0"/>
                  </a:cubicBezTo>
                  <a:cubicBezTo>
                    <a:pt x="56" y="3"/>
                    <a:pt x="66" y="11"/>
                    <a:pt x="88" y="16"/>
                  </a:cubicBezTo>
                  <a:cubicBezTo>
                    <a:pt x="111" y="33"/>
                    <a:pt x="138" y="38"/>
                    <a:pt x="148" y="68"/>
                  </a:cubicBezTo>
                  <a:cubicBezTo>
                    <a:pt x="155" y="88"/>
                    <a:pt x="152" y="126"/>
                    <a:pt x="172" y="136"/>
                  </a:cubicBezTo>
                  <a:cubicBezTo>
                    <a:pt x="196" y="148"/>
                    <a:pt x="252" y="140"/>
                    <a:pt x="260" y="14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73" name="Line 38"/>
            <p:cNvSpPr>
              <a:spLocks noChangeShapeType="1"/>
            </p:cNvSpPr>
            <p:nvPr/>
          </p:nvSpPr>
          <p:spPr bwMode="auto">
            <a:xfrm>
              <a:off x="3606" y="2523"/>
              <a:ext cx="3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74" name="Line 39"/>
            <p:cNvSpPr>
              <a:spLocks noChangeShapeType="1"/>
            </p:cNvSpPr>
            <p:nvPr/>
          </p:nvSpPr>
          <p:spPr bwMode="auto">
            <a:xfrm>
              <a:off x="3515" y="2886"/>
              <a:ext cx="45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75" name="Freeform 40"/>
            <p:cNvSpPr>
              <a:spLocks/>
            </p:cNvSpPr>
            <p:nvPr/>
          </p:nvSpPr>
          <p:spPr bwMode="auto">
            <a:xfrm>
              <a:off x="4139" y="2222"/>
              <a:ext cx="416" cy="346"/>
            </a:xfrm>
            <a:custGeom>
              <a:avLst/>
              <a:gdLst>
                <a:gd name="T0" fmla="*/ 315 w 416"/>
                <a:gd name="T1" fmla="*/ 0 h 346"/>
                <a:gd name="T2" fmla="*/ 383 w 416"/>
                <a:gd name="T3" fmla="*/ 20 h 346"/>
                <a:gd name="T4" fmla="*/ 416 w 416"/>
                <a:gd name="T5" fmla="*/ 72 h 346"/>
                <a:gd name="T6" fmla="*/ 407 w 416"/>
                <a:gd name="T7" fmla="*/ 144 h 346"/>
                <a:gd name="T8" fmla="*/ 383 w 416"/>
                <a:gd name="T9" fmla="*/ 173 h 346"/>
                <a:gd name="T10" fmla="*/ 282 w 416"/>
                <a:gd name="T11" fmla="*/ 236 h 346"/>
                <a:gd name="T12" fmla="*/ 47 w 416"/>
                <a:gd name="T13" fmla="*/ 264 h 346"/>
                <a:gd name="T14" fmla="*/ 13 w 416"/>
                <a:gd name="T15" fmla="*/ 293 h 346"/>
                <a:gd name="T16" fmla="*/ 3 w 416"/>
                <a:gd name="T17" fmla="*/ 346 h 3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16" h="346">
                  <a:moveTo>
                    <a:pt x="315" y="0"/>
                  </a:moveTo>
                  <a:cubicBezTo>
                    <a:pt x="338" y="7"/>
                    <a:pt x="360" y="14"/>
                    <a:pt x="383" y="20"/>
                  </a:cubicBezTo>
                  <a:cubicBezTo>
                    <a:pt x="400" y="46"/>
                    <a:pt x="409" y="38"/>
                    <a:pt x="416" y="72"/>
                  </a:cubicBezTo>
                  <a:cubicBezTo>
                    <a:pt x="413" y="96"/>
                    <a:pt x="412" y="120"/>
                    <a:pt x="407" y="144"/>
                  </a:cubicBezTo>
                  <a:cubicBezTo>
                    <a:pt x="405" y="154"/>
                    <a:pt x="389" y="166"/>
                    <a:pt x="383" y="173"/>
                  </a:cubicBezTo>
                  <a:cubicBezTo>
                    <a:pt x="357" y="205"/>
                    <a:pt x="322" y="228"/>
                    <a:pt x="282" y="236"/>
                  </a:cubicBezTo>
                  <a:cubicBezTo>
                    <a:pt x="227" y="262"/>
                    <a:pt x="109" y="259"/>
                    <a:pt x="47" y="264"/>
                  </a:cubicBezTo>
                  <a:cubicBezTo>
                    <a:pt x="40" y="284"/>
                    <a:pt x="31" y="282"/>
                    <a:pt x="13" y="293"/>
                  </a:cubicBezTo>
                  <a:cubicBezTo>
                    <a:pt x="0" y="330"/>
                    <a:pt x="3" y="312"/>
                    <a:pt x="3" y="346"/>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202776" name="Text Box 41"/>
            <p:cNvSpPr txBox="1">
              <a:spLocks noChangeArrowheads="1"/>
            </p:cNvSpPr>
            <p:nvPr/>
          </p:nvSpPr>
          <p:spPr bwMode="auto">
            <a:xfrm>
              <a:off x="3107" y="3091"/>
              <a:ext cx="10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000">
                  <a:latin typeface="Times New Roman" pitchFamily="18" charset="0"/>
                  <a:cs typeface="Times New Roman" pitchFamily="18" charset="0"/>
                </a:rPr>
                <a:t>★ Phải là mạch mắc nối tiếp!</a:t>
              </a:r>
            </a:p>
          </p:txBody>
        </p:sp>
      </p:grpSp>
      <p:sp>
        <p:nvSpPr>
          <p:cNvPr id="202760" name="Text Box 42"/>
          <p:cNvSpPr txBox="1">
            <a:spLocks noChangeArrowheads="1"/>
          </p:cNvSpPr>
          <p:nvPr/>
        </p:nvSpPr>
        <p:spPr bwMode="auto">
          <a:xfrm>
            <a:off x="1023938" y="5819775"/>
            <a:ext cx="700405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Que thử màu đen đặt ở –COM, màu đỏ đặt vở vị trí DC10A.</a:t>
            </a:r>
          </a:p>
          <a:p>
            <a:pPr eaLnBrk="1" latinLnBrk="1" hangingPunct="1">
              <a:lnSpc>
                <a:spcPct val="130000"/>
              </a:lnSpc>
              <a:buFont typeface="Wingdings" pitchFamily="2" charset="2"/>
              <a:buAutoNum type="circleNumDbPlain"/>
            </a:pPr>
            <a:r>
              <a:rPr lang="en-US" altLang="ko-KR" sz="1000">
                <a:latin typeface="Times New Roman" pitchFamily="18" charset="0"/>
                <a:cs typeface="Times New Roman" pitchFamily="18" charset="0"/>
              </a:rPr>
              <a:t>Chỉnh thang đo đến 10A. Thực hiện như cách đo dòng diện 1 chiều, xoay chiều thấp hơn.</a:t>
            </a:r>
            <a:endParaRPr lang="en-US" altLang="ko-KR" sz="700">
              <a:latin typeface="Times New Roman" pitchFamily="18" charset="0"/>
              <a:cs typeface="Times New Roman" pitchFamily="18" charset="0"/>
            </a:endParaRPr>
          </a:p>
        </p:txBody>
      </p:sp>
      <p:sp>
        <p:nvSpPr>
          <p:cNvPr id="202761" name="Text Box 43"/>
          <p:cNvSpPr txBox="1">
            <a:spLocks noChangeArrowheads="1"/>
          </p:cNvSpPr>
          <p:nvPr/>
        </p:nvSpPr>
        <p:spPr bwMode="auto">
          <a:xfrm>
            <a:off x="971550" y="5524500"/>
            <a:ext cx="11144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a:latin typeface="Times New Roman" pitchFamily="18" charset="0"/>
                <a:cs typeface="Times New Roman" pitchFamily="18" charset="0"/>
              </a:rPr>
              <a:t>■ Đo DC 10A</a:t>
            </a:r>
            <a:endParaRPr lang="ko-KR" altLang="en-US">
              <a:latin typeface="Times New Roman" pitchFamily="18" charset="0"/>
              <a:cs typeface="Times New Roman" pitchFamily="18" charset="0"/>
            </a:endParaRPr>
          </a:p>
        </p:txBody>
      </p:sp>
      <p:pic>
        <p:nvPicPr>
          <p:cNvPr id="202762" name="Picture 44" descr="MCj023784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6313" y="4975225"/>
            <a:ext cx="5032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63" name="Text Box 45"/>
          <p:cNvSpPr txBox="1">
            <a:spLocks noChangeArrowheads="1"/>
          </p:cNvSpPr>
          <p:nvPr/>
        </p:nvSpPr>
        <p:spPr bwMode="auto">
          <a:xfrm>
            <a:off x="1474788" y="5053013"/>
            <a:ext cx="3727450"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10000"/>
              </a:lnSpc>
            </a:pPr>
            <a:r>
              <a:rPr lang="en-US" altLang="ko-KR" sz="1000" b="1">
                <a:latin typeface="Times New Roman" pitchFamily="18" charset="0"/>
                <a:cs typeface="Times New Roman" pitchFamily="18" charset="0"/>
              </a:rPr>
              <a:t>※ Sử dụng thực nghiệm modul M-1 để thử đo dòng điện 1 chiều.</a:t>
            </a:r>
          </a:p>
        </p:txBody>
      </p:sp>
      <p:sp>
        <p:nvSpPr>
          <p:cNvPr id="202764" name="Text Box 2"/>
          <p:cNvSpPr txBox="1">
            <a:spLocks noChangeArrowheads="1"/>
          </p:cNvSpPr>
          <p:nvPr/>
        </p:nvSpPr>
        <p:spPr bwMode="auto">
          <a:xfrm>
            <a:off x="0" y="0"/>
            <a:ext cx="10096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latinLnBrk="1" hangingPunct="1">
              <a:lnSpc>
                <a:spcPct val="100000"/>
              </a:lnSpc>
            </a:pPr>
            <a:r>
              <a:rPr lang="en-US" altLang="ko-KR" sz="1800" b="1">
                <a:latin typeface="Times New Roman" pitchFamily="18" charset="0"/>
                <a:cs typeface="Times New Roman" pitchFamily="18" charset="0"/>
              </a:rPr>
              <a:t> Phụ lục</a:t>
            </a:r>
            <a:endParaRPr lang="ko-KR" altLang="en-US" sz="1800" b="1">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1774825" y="1808163"/>
            <a:ext cx="5683250" cy="2305050"/>
          </a:xfrm>
          <a:prstGeom prst="rect">
            <a:avLst/>
          </a:prstGeom>
          <a:noFill/>
          <a:ln w="9525" algn="ctr">
            <a:solidFill>
              <a:srgbClr val="808080"/>
            </a:solidFill>
            <a:miter lim="800000"/>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endParaRPr lang="ko-KR" altLang="en-US"/>
          </a:p>
        </p:txBody>
      </p:sp>
      <p:sp>
        <p:nvSpPr>
          <p:cNvPr id="203779" name="Text Box 3"/>
          <p:cNvSpPr txBox="1">
            <a:spLocks noChangeArrowheads="1"/>
          </p:cNvSpPr>
          <p:nvPr/>
        </p:nvSpPr>
        <p:spPr bwMode="auto">
          <a:xfrm>
            <a:off x="1773238" y="1914525"/>
            <a:ext cx="5654675" cy="35378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6623" tIns="58311" rIns="116623" bIns="58311">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lvl="0" algn="ctr" eaLnBrk="1" hangingPunct="1"/>
            <a:r>
              <a:rPr lang="en-US" altLang="ko-KR" sz="1400" kern="10" dirty="0">
                <a:ln w="9525">
                  <a:solidFill>
                    <a:srgbClr val="000000"/>
                  </a:solidFill>
                  <a:round/>
                  <a:headEnd/>
                  <a:tailEnd/>
                </a:ln>
                <a:solidFill>
                  <a:srgbClr val="FFFFFF"/>
                </a:solidFill>
                <a:latin typeface="Times New Roman"/>
                <a:cs typeface="Times New Roman"/>
              </a:rPr>
              <a:t>QUÁ TRÌNH ĐIỆN-ĐIỆN TỬ CĂN BẢN</a:t>
            </a:r>
            <a:endParaRPr lang="ko-KR" altLang="en-US" sz="1400" kern="10" dirty="0">
              <a:ln w="9525">
                <a:solidFill>
                  <a:srgbClr val="000000"/>
                </a:solidFill>
                <a:round/>
                <a:headEnd/>
                <a:tailEnd/>
              </a:ln>
              <a:solidFill>
                <a:srgbClr val="FFFFFF"/>
              </a:solidFill>
              <a:latin typeface="Times New Roman"/>
              <a:cs typeface="Times New Roman"/>
            </a:endParaRPr>
          </a:p>
        </p:txBody>
      </p:sp>
      <p:sp>
        <p:nvSpPr>
          <p:cNvPr id="203780" name="Line 4"/>
          <p:cNvSpPr>
            <a:spLocks noChangeShapeType="1"/>
          </p:cNvSpPr>
          <p:nvPr/>
        </p:nvSpPr>
        <p:spPr bwMode="auto">
          <a:xfrm>
            <a:off x="1768475" y="2405063"/>
            <a:ext cx="5695950"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ko-KR" altLang="en-US"/>
          </a:p>
        </p:txBody>
      </p:sp>
      <p:sp>
        <p:nvSpPr>
          <p:cNvPr id="203781" name="Text Box 5"/>
          <p:cNvSpPr txBox="1">
            <a:spLocks noChangeArrowheads="1"/>
          </p:cNvSpPr>
          <p:nvPr/>
        </p:nvSpPr>
        <p:spPr bwMode="auto">
          <a:xfrm>
            <a:off x="1957388" y="2600325"/>
            <a:ext cx="5278437" cy="1225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6623" tIns="58311" rIns="116623" bIns="58311">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lnSpc>
                <a:spcPct val="140000"/>
              </a:lnSpc>
              <a:spcBef>
                <a:spcPct val="50000"/>
              </a:spcBef>
              <a:buFont typeface="-윤명조220"/>
              <a:buChar char="□"/>
            </a:pPr>
            <a:r>
              <a:rPr lang="en-US" altLang="ko-KR" sz="1400">
                <a:solidFill>
                  <a:srgbClr val="000000"/>
                </a:solidFill>
                <a:latin typeface="HY견고딕" pitchFamily="18" charset="-127"/>
                <a:ea typeface="HY견고딕" pitchFamily="18" charset="-127"/>
              </a:rPr>
              <a:t> </a:t>
            </a:r>
            <a:r>
              <a:rPr lang="ko-KR" altLang="en-US" sz="1400">
                <a:solidFill>
                  <a:srgbClr val="000000"/>
                </a:solidFill>
                <a:latin typeface="HY견고딕" pitchFamily="18" charset="-127"/>
                <a:ea typeface="HY견고딕" pitchFamily="18" charset="-127"/>
              </a:rPr>
              <a:t>발행부서 </a:t>
            </a:r>
            <a:r>
              <a:rPr lang="en-US" altLang="ko-KR" sz="1400">
                <a:solidFill>
                  <a:srgbClr val="000000"/>
                </a:solidFill>
                <a:latin typeface="HY견고딕" pitchFamily="18" charset="-127"/>
                <a:ea typeface="HY견고딕" pitchFamily="18" charset="-127"/>
              </a:rPr>
              <a:t>: LG Display </a:t>
            </a:r>
            <a:r>
              <a:rPr lang="ko-KR" altLang="en-US" sz="1400">
                <a:solidFill>
                  <a:srgbClr val="000000"/>
                </a:solidFill>
                <a:latin typeface="HY견고딕" pitchFamily="18" charset="-127"/>
                <a:ea typeface="HY견고딕" pitchFamily="18" charset="-127"/>
              </a:rPr>
              <a:t>생산기술센터</a:t>
            </a:r>
          </a:p>
          <a:p>
            <a:pPr eaLnBrk="1" hangingPunct="1">
              <a:lnSpc>
                <a:spcPct val="140000"/>
              </a:lnSpc>
              <a:spcBef>
                <a:spcPct val="50000"/>
              </a:spcBef>
              <a:buFont typeface="-윤명조220"/>
              <a:buChar char="□"/>
            </a:pPr>
            <a:r>
              <a:rPr lang="ko-KR" altLang="en-US" sz="1400">
                <a:solidFill>
                  <a:srgbClr val="000000"/>
                </a:solidFill>
                <a:latin typeface="HY견고딕" pitchFamily="18" charset="-127"/>
                <a:ea typeface="HY견고딕" pitchFamily="18" charset="-127"/>
              </a:rPr>
              <a:t> 발행부수 </a:t>
            </a:r>
            <a:r>
              <a:rPr lang="en-US" altLang="ko-KR" sz="1400">
                <a:solidFill>
                  <a:srgbClr val="000000"/>
                </a:solidFill>
                <a:latin typeface="HY견고딕" pitchFamily="18" charset="-127"/>
                <a:ea typeface="HY견고딕" pitchFamily="18" charset="-127"/>
              </a:rPr>
              <a:t>: 00</a:t>
            </a:r>
            <a:r>
              <a:rPr lang="ko-KR" altLang="en-US" sz="1400">
                <a:solidFill>
                  <a:srgbClr val="000000"/>
                </a:solidFill>
                <a:latin typeface="HY견고딕" pitchFamily="18" charset="-127"/>
                <a:ea typeface="HY견고딕" pitchFamily="18" charset="-127"/>
              </a:rPr>
              <a:t>부 </a:t>
            </a:r>
            <a:r>
              <a:rPr lang="en-US" altLang="ko-KR" sz="1400">
                <a:solidFill>
                  <a:srgbClr val="000000"/>
                </a:solidFill>
                <a:latin typeface="HY견고딕" pitchFamily="18" charset="-127"/>
                <a:ea typeface="HY견고딕" pitchFamily="18" charset="-127"/>
              </a:rPr>
              <a:t>&lt;</a:t>
            </a:r>
            <a:r>
              <a:rPr lang="ko-KR" altLang="en-US" sz="1400">
                <a:solidFill>
                  <a:srgbClr val="000000"/>
                </a:solidFill>
                <a:latin typeface="HY견고딕" pitchFamily="18" charset="-127"/>
                <a:ea typeface="HY견고딕" pitchFamily="18" charset="-127"/>
              </a:rPr>
              <a:t>초판</a:t>
            </a:r>
            <a:r>
              <a:rPr lang="en-US" altLang="ko-KR" sz="1400">
                <a:solidFill>
                  <a:srgbClr val="000000"/>
                </a:solidFill>
                <a:latin typeface="HY견고딕" pitchFamily="18" charset="-127"/>
                <a:ea typeface="HY견고딕" pitchFamily="18" charset="-127"/>
              </a:rPr>
              <a:t>&gt; 2015. 00. 00</a:t>
            </a:r>
          </a:p>
          <a:p>
            <a:pPr eaLnBrk="1" hangingPunct="1">
              <a:lnSpc>
                <a:spcPct val="140000"/>
              </a:lnSpc>
              <a:spcBef>
                <a:spcPct val="50000"/>
              </a:spcBef>
              <a:buFont typeface="-윤명조220"/>
              <a:buChar char="□"/>
            </a:pPr>
            <a:r>
              <a:rPr lang="en-US" altLang="ko-KR" sz="1400">
                <a:solidFill>
                  <a:srgbClr val="000000"/>
                </a:solidFill>
                <a:latin typeface="HY견고딕" pitchFamily="18" charset="-127"/>
                <a:ea typeface="HY견고딕" pitchFamily="18" charset="-127"/>
              </a:rPr>
              <a:t> </a:t>
            </a:r>
            <a:r>
              <a:rPr lang="ko-KR" altLang="en-US" sz="1400">
                <a:solidFill>
                  <a:srgbClr val="000000"/>
                </a:solidFill>
                <a:latin typeface="HY견고딕" pitchFamily="18" charset="-127"/>
                <a:ea typeface="HY견고딕" pitchFamily="18" charset="-127"/>
              </a:rPr>
              <a:t>발행일자 </a:t>
            </a:r>
            <a:r>
              <a:rPr lang="en-US" altLang="ko-KR" sz="1400">
                <a:solidFill>
                  <a:srgbClr val="000000"/>
                </a:solidFill>
                <a:latin typeface="HY견고딕" pitchFamily="18" charset="-127"/>
                <a:ea typeface="HY견고딕" pitchFamily="18" charset="-127"/>
              </a:rPr>
              <a:t>: 2015. 00. 00</a:t>
            </a:r>
          </a:p>
        </p:txBody>
      </p:sp>
      <p:sp>
        <p:nvSpPr>
          <p:cNvPr id="203782" name="Text Box 6"/>
          <p:cNvSpPr txBox="1">
            <a:spLocks noChangeArrowheads="1"/>
          </p:cNvSpPr>
          <p:nvPr/>
        </p:nvSpPr>
        <p:spPr bwMode="auto">
          <a:xfrm>
            <a:off x="1766888" y="4157663"/>
            <a:ext cx="5948362" cy="31591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6623" tIns="58311" rIns="116623" bIns="58311">
            <a:spAutoFit/>
          </a:bodyPr>
          <a:lstStyle>
            <a:lvl1pPr eaLnBrk="0" hangingPunct="0">
              <a:defRPr kumimoji="1" sz="1200">
                <a:solidFill>
                  <a:schemeClr val="tx1"/>
                </a:solidFill>
                <a:latin typeface="굴림" pitchFamily="50" charset="-127"/>
                <a:ea typeface="굴림" pitchFamily="50" charset="-127"/>
              </a:defRPr>
            </a:lvl1pPr>
            <a:lvl2pPr marL="742950" indent="-285750" eaLnBrk="0" hangingPunct="0">
              <a:defRPr kumimoji="1" sz="1200">
                <a:solidFill>
                  <a:schemeClr val="tx1"/>
                </a:solidFill>
                <a:latin typeface="굴림" pitchFamily="50" charset="-127"/>
                <a:ea typeface="굴림" pitchFamily="50" charset="-127"/>
              </a:defRPr>
            </a:lvl2pPr>
            <a:lvl3pPr marL="1143000" indent="-228600" eaLnBrk="0" hangingPunct="0">
              <a:defRPr kumimoji="1" sz="1200">
                <a:solidFill>
                  <a:schemeClr val="tx1"/>
                </a:solidFill>
                <a:latin typeface="굴림" pitchFamily="50" charset="-127"/>
                <a:ea typeface="굴림" pitchFamily="50" charset="-127"/>
              </a:defRPr>
            </a:lvl3pPr>
            <a:lvl4pPr marL="1600200" indent="-228600" eaLnBrk="0" hangingPunct="0">
              <a:defRPr kumimoji="1" sz="1200">
                <a:solidFill>
                  <a:schemeClr val="tx1"/>
                </a:solidFill>
                <a:latin typeface="굴림" pitchFamily="50" charset="-127"/>
                <a:ea typeface="굴림" pitchFamily="50" charset="-127"/>
              </a:defRPr>
            </a:lvl4pPr>
            <a:lvl5pPr marL="2057400" indent="-228600" eaLnBrk="0" hangingPunct="0">
              <a:defRPr kumimoji="1" sz="1200">
                <a:solidFill>
                  <a:schemeClr val="tx1"/>
                </a:solidFill>
                <a:latin typeface="굴림" pitchFamily="50" charset="-127"/>
                <a:ea typeface="굴림" pitchFamily="50" charset="-127"/>
              </a:defRPr>
            </a:lvl5pPr>
            <a:lvl6pPr marL="25146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lnSpc>
                <a:spcPct val="120000"/>
              </a:lnSpc>
              <a:spcBef>
                <a:spcPct val="0"/>
              </a:spcBef>
              <a:spcAft>
                <a:spcPct val="0"/>
              </a:spcAft>
              <a:defRPr kumimoji="1" sz="1200">
                <a:solidFill>
                  <a:schemeClr val="tx1"/>
                </a:solidFill>
                <a:latin typeface="굴림" pitchFamily="50" charset="-127"/>
                <a:ea typeface="굴림" pitchFamily="50" charset="-127"/>
              </a:defRPr>
            </a:lvl9pPr>
          </a:lstStyle>
          <a:p>
            <a:pPr eaLnBrk="1" hangingPunct="1">
              <a:spcBef>
                <a:spcPct val="50000"/>
              </a:spcBef>
            </a:pPr>
            <a:r>
              <a:rPr lang="en-US" altLang="ko-KR" sz="1300">
                <a:solidFill>
                  <a:srgbClr val="000000"/>
                </a:solidFill>
                <a:latin typeface="HY견고딕" pitchFamily="18" charset="-127"/>
                <a:ea typeface="HY견고딕" pitchFamily="18" charset="-127"/>
              </a:rPr>
              <a:t>※ </a:t>
            </a:r>
            <a:r>
              <a:rPr lang="ko-KR" altLang="en-US" sz="1300">
                <a:solidFill>
                  <a:srgbClr val="000000"/>
                </a:solidFill>
                <a:latin typeface="HY견고딕" pitchFamily="18" charset="-127"/>
                <a:ea typeface="HY견고딕" pitchFamily="18" charset="-127"/>
              </a:rPr>
              <a:t>이 책의 일부 또는 전부를 허가 없이 임의로 복제하는 것을 금합니다</a:t>
            </a:r>
            <a:r>
              <a:rPr lang="en-US" altLang="ko-KR" sz="1300">
                <a:solidFill>
                  <a:srgbClr val="000000"/>
                </a:solidFill>
                <a:latin typeface="HY견고딕" pitchFamily="18" charset="-127"/>
                <a:ea typeface="HY견고딕" pitchFamily="18" charset="-127"/>
              </a:rPr>
              <a:t>. </a:t>
            </a:r>
          </a:p>
        </p:txBody>
      </p:sp>
      <p:pic>
        <p:nvPicPr>
          <p:cNvPr id="20378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200" y="6057900"/>
            <a:ext cx="2844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0"/>
          </a:spcBef>
          <a:spcAft>
            <a:spcPct val="0"/>
          </a:spcAft>
          <a:buClrTx/>
          <a:buSzTx/>
          <a:buFontTx/>
          <a:buNone/>
          <a:tabLst/>
          <a:defRPr kumimoji="1" lang="ko-KR" altLang="en-US" sz="12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0"/>
          </a:spcBef>
          <a:spcAft>
            <a:spcPct val="0"/>
          </a:spcAft>
          <a:buClrTx/>
          <a:buSzTx/>
          <a:buFontTx/>
          <a:buNone/>
          <a:tabLst/>
          <a:defRPr kumimoji="1" lang="ko-KR" altLang="en-US" sz="12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기본 디자인">
  <a:themeElements>
    <a:clrScheme name="1_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0"/>
          </a:spcBef>
          <a:spcAft>
            <a:spcPct val="0"/>
          </a:spcAft>
          <a:buClrTx/>
          <a:buSzTx/>
          <a:buFontTx/>
          <a:buNone/>
          <a:tabLst/>
          <a:defRPr kumimoji="1" lang="ko-KR" altLang="en-US" sz="12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0"/>
          </a:spcBef>
          <a:spcAft>
            <a:spcPct val="0"/>
          </a:spcAft>
          <a:buClrTx/>
          <a:buSzTx/>
          <a:buFontTx/>
          <a:buNone/>
          <a:tabLst/>
          <a:defRPr kumimoji="1" lang="ko-KR" altLang="en-US" sz="12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1_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13111</TotalTime>
  <Words>36149</Words>
  <Application>Microsoft Office PowerPoint</Application>
  <PresentationFormat>On-screen Show (4:3)</PresentationFormat>
  <Paragraphs>4577</Paragraphs>
  <Slides>194</Slides>
  <Notes>166</Notes>
  <HiddenSlides>0</HiddenSlides>
  <MMClips>0</MMClips>
  <ScaleCrop>false</ScaleCrop>
  <HeadingPairs>
    <vt:vector size="4" baseType="variant">
      <vt:variant>
        <vt:lpstr>Theme</vt:lpstr>
      </vt:variant>
      <vt:variant>
        <vt:i4>2</vt:i4>
      </vt:variant>
      <vt:variant>
        <vt:lpstr>Slide Titles</vt:lpstr>
      </vt:variant>
      <vt:variant>
        <vt:i4>194</vt:i4>
      </vt:variant>
    </vt:vector>
  </HeadingPairs>
  <TitlesOfParts>
    <vt:vector size="196" baseType="lpstr">
      <vt:lpstr>디자인 사용자 지정</vt:lpstr>
      <vt:lpstr>1_기본 디자인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LG.PHILIPS LCD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LCD</dc:creator>
  <cp:lastModifiedBy>nguyenvanthang</cp:lastModifiedBy>
  <cp:revision>1071</cp:revision>
  <cp:lastPrinted>2014-10-22T00:38:15Z</cp:lastPrinted>
  <dcterms:created xsi:type="dcterms:W3CDTF">2004-02-11T02:08:35Z</dcterms:created>
  <dcterms:modified xsi:type="dcterms:W3CDTF">2018-10-18T06:22:57Z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0008008830000000000001024110</vt:lpwstr>
  </property>
</Properties>
</file>