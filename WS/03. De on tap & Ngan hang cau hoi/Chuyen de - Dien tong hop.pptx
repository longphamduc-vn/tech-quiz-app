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21"/>
  </p:notesMasterIdLst>
  <p:sldIdLst>
    <p:sldId id="257" r:id="rId6"/>
    <p:sldId id="258" r:id="rId7"/>
    <p:sldId id="260" r:id="rId8"/>
    <p:sldId id="261" r:id="rId9"/>
    <p:sldId id="262" r:id="rId10"/>
    <p:sldId id="263" r:id="rId11"/>
    <p:sldId id="284" r:id="rId12"/>
    <p:sldId id="264" r:id="rId13"/>
    <p:sldId id="265" r:id="rId14"/>
    <p:sldId id="272" r:id="rId15"/>
    <p:sldId id="273" r:id="rId16"/>
    <p:sldId id="268" r:id="rId17"/>
    <p:sldId id="269" r:id="rId18"/>
    <p:sldId id="274" r:id="rId19"/>
    <p:sldId id="275" r:id="rId20"/>
  </p:sldIdLst>
  <p:sldSz cx="6858000" cy="9144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99" autoAdjust="0"/>
  </p:normalViewPr>
  <p:slideViewPr>
    <p:cSldViewPr>
      <p:cViewPr varScale="1">
        <p:scale>
          <a:sx n="80" d="100"/>
          <a:sy n="80" d="100"/>
        </p:scale>
        <p:origin x="-3186" y="-9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140F53-6F55-4CD6-8343-FD120BA1CCE5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2B9B1-F921-433B-AF19-40E8307EA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7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="" xmlns:a16="http://schemas.microsoft.com/office/drawing/2014/main" id="{8936D5A6-80B8-48AF-B851-4906DB6232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30A72DB-1353-4A57-BBA8-51B2B0EBCCEA}" type="slidenum">
              <a:rPr lang="en-US" altLang="ko-KR"/>
              <a:pPr eaLnBrk="1" hangingPunct="1">
                <a:spcBef>
                  <a:spcPct val="0"/>
                </a:spcBef>
              </a:pPr>
              <a:t>1</a:t>
            </a:fld>
            <a:endParaRPr lang="en-US" altLang="ko-KR"/>
          </a:p>
        </p:txBody>
      </p:sp>
      <p:sp>
        <p:nvSpPr>
          <p:cNvPr id="11267" name="Rectangle 2">
            <a:extLst>
              <a:ext uri="{FF2B5EF4-FFF2-40B4-BE49-F238E27FC236}">
                <a16:creationId xmlns="" xmlns:a16="http://schemas.microsoft.com/office/drawing/2014/main" id="{008A3384-AA1E-421C-9D4E-B01058B8A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03425" y="744538"/>
            <a:ext cx="2790825" cy="3722687"/>
          </a:xfrm>
          <a:ln/>
        </p:spPr>
      </p:sp>
      <p:sp>
        <p:nvSpPr>
          <p:cNvPr id="11268" name="Rectangle 3">
            <a:extLst>
              <a:ext uri="{FF2B5EF4-FFF2-40B4-BE49-F238E27FC236}">
                <a16:creationId xmlns="" xmlns:a16="http://schemas.microsoft.com/office/drawing/2014/main" id="{A463B40C-04D9-40AD-A646-C164ACC08C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="" xmlns:a16="http://schemas.microsoft.com/office/drawing/2014/main" id="{D6F69397-9539-48BD-96D0-15BF1A225B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C2E65AA7-D278-4C79-A658-89ABAA04E941}" type="slidenum">
              <a:rPr lang="en-US" altLang="ko-KR"/>
              <a:pPr eaLnBrk="1" hangingPunct="1">
                <a:spcBef>
                  <a:spcPct val="0"/>
                </a:spcBef>
              </a:pPr>
              <a:t>2</a:t>
            </a:fld>
            <a:endParaRPr lang="en-US" altLang="ko-KR"/>
          </a:p>
        </p:txBody>
      </p:sp>
      <p:sp>
        <p:nvSpPr>
          <p:cNvPr id="12291" name="Rectangle 2">
            <a:extLst>
              <a:ext uri="{FF2B5EF4-FFF2-40B4-BE49-F238E27FC236}">
                <a16:creationId xmlns="" xmlns:a16="http://schemas.microsoft.com/office/drawing/2014/main" id="{8DB29B49-C526-4603-924D-C3B9FD2F12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03425" y="744538"/>
            <a:ext cx="2790825" cy="3722687"/>
          </a:xfrm>
          <a:ln/>
        </p:spPr>
      </p:sp>
      <p:sp>
        <p:nvSpPr>
          <p:cNvPr id="12292" name="Rectangle 3">
            <a:extLst>
              <a:ext uri="{FF2B5EF4-FFF2-40B4-BE49-F238E27FC236}">
                <a16:creationId xmlns="" xmlns:a16="http://schemas.microsoft.com/office/drawing/2014/main" id="{D4B3ED07-638D-4E57-BE73-7468569A14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fld id="{9589899F-2D50-44F1-95A0-03124E1335AF}" type="slidenum">
              <a:rPr kumimoji="1" lang="en-US" altLang="ko-KR" sz="1200">
                <a:solidFill>
                  <a:prstClr val="black"/>
                </a:solidFill>
                <a:ea typeface="굴림" pitchFamily="50" charset="-127"/>
              </a:rPr>
              <a:pPr/>
              <a:t>3</a:t>
            </a:fld>
            <a:endParaRPr kumimoji="1" lang="en-US" altLang="ko-KR" sz="1200">
              <a:solidFill>
                <a:prstClr val="black"/>
              </a:solidFill>
              <a:ea typeface="굴림" pitchFamily="50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2003425" y="744538"/>
            <a:ext cx="2790825" cy="3722687"/>
          </a:xfrm>
          <a:noFill/>
          <a:ln cap="flat">
            <a:headEnd type="none" w="med" len="med"/>
            <a:tailEnd type="none" w="med" len="med"/>
          </a:ln>
        </p:spPr>
      </p:sp>
      <p:sp>
        <p:nvSpPr>
          <p:cNvPr id="13316" name="Rectangle 3"/>
          <p:cNvSpPr>
            <a:spLocks noGrp="1" noChangeArrowheads="1"/>
          </p:cNvSpPr>
          <p:nvPr>
            <p:ph type="body" idx="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1" hangingPunct="1"/>
            <a:endParaRPr kumimoji="1" lang="ko-KR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fld id="{EFB95C7E-C33A-48BC-9762-2227BC4B181D}" type="slidenum">
              <a:rPr kumimoji="1" lang="en-US" altLang="ko-KR" sz="1200">
                <a:solidFill>
                  <a:prstClr val="black"/>
                </a:solidFill>
                <a:ea typeface="굴림" pitchFamily="50" charset="-127"/>
              </a:rPr>
              <a:pPr/>
              <a:t>4</a:t>
            </a:fld>
            <a:endParaRPr kumimoji="1" lang="en-US" altLang="ko-KR" sz="1200">
              <a:solidFill>
                <a:prstClr val="black"/>
              </a:solidFill>
              <a:ea typeface="굴림" pitchFamily="50" charset="-127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2003425" y="744538"/>
            <a:ext cx="2790825" cy="3722687"/>
          </a:xfrm>
          <a:noFill/>
          <a:ln cap="flat">
            <a:headEnd type="none" w="med" len="med"/>
            <a:tailEnd type="none" w="med" len="med"/>
          </a:ln>
        </p:spPr>
      </p:sp>
      <p:sp>
        <p:nvSpPr>
          <p:cNvPr id="14340" name="Rectangle 3"/>
          <p:cNvSpPr>
            <a:spLocks noGrp="1" noChangeArrowheads="1"/>
          </p:cNvSpPr>
          <p:nvPr>
            <p:ph type="body" idx="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1" hangingPunct="1"/>
            <a:endParaRPr kumimoji="1" lang="ko-KR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fld id="{56A180C9-2C7C-47E5-9FAB-59FC4468650E}" type="slidenum">
              <a:rPr kumimoji="1" lang="en-US" altLang="ko-KR" sz="1200">
                <a:solidFill>
                  <a:prstClr val="black"/>
                </a:solidFill>
                <a:ea typeface="굴림" pitchFamily="50" charset="-127"/>
              </a:rPr>
              <a:pPr/>
              <a:t>5</a:t>
            </a:fld>
            <a:endParaRPr kumimoji="1" lang="en-US" altLang="ko-KR" sz="1200">
              <a:solidFill>
                <a:prstClr val="black"/>
              </a:solidFill>
              <a:ea typeface="굴림" pitchFamily="50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2003425" y="744538"/>
            <a:ext cx="2790825" cy="3722687"/>
          </a:xfrm>
          <a:noFill/>
          <a:ln cap="flat">
            <a:headEnd type="none" w="med" len="med"/>
            <a:tailEnd type="none" w="med" len="med"/>
          </a:ln>
        </p:spPr>
      </p:sp>
      <p:sp>
        <p:nvSpPr>
          <p:cNvPr id="13316" name="Rectangle 3"/>
          <p:cNvSpPr>
            <a:spLocks noGrp="1" noChangeArrowheads="1"/>
          </p:cNvSpPr>
          <p:nvPr>
            <p:ph type="body" idx="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1" hangingPunct="1"/>
            <a:endParaRPr kumimoji="1" lang="ko-KR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fld id="{D0F6E77B-3EB3-45A2-BB80-D8191C357C41}" type="slidenum">
              <a:rPr kumimoji="1" lang="en-US" altLang="ko-KR" sz="1200">
                <a:solidFill>
                  <a:prstClr val="black"/>
                </a:solidFill>
                <a:ea typeface="굴림" pitchFamily="50" charset="-127"/>
              </a:rPr>
              <a:pPr/>
              <a:t>6</a:t>
            </a:fld>
            <a:endParaRPr kumimoji="1" lang="en-US" altLang="ko-KR" sz="1200">
              <a:solidFill>
                <a:prstClr val="black"/>
              </a:solidFill>
              <a:ea typeface="굴림" pitchFamily="50" charset="-127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2003425" y="744538"/>
            <a:ext cx="2790825" cy="3722687"/>
          </a:xfrm>
          <a:noFill/>
          <a:ln cap="flat">
            <a:headEnd type="none" w="med" len="med"/>
            <a:tailEnd type="none" w="med" len="med"/>
          </a:ln>
        </p:spPr>
      </p:sp>
      <p:sp>
        <p:nvSpPr>
          <p:cNvPr id="14340" name="Rectangle 3"/>
          <p:cNvSpPr>
            <a:spLocks noGrp="1" noChangeArrowheads="1"/>
          </p:cNvSpPr>
          <p:nvPr>
            <p:ph type="body" idx="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1" hangingPunct="1"/>
            <a:endParaRPr kumimoji="1" lang="ko-KR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7705" indent="-287579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50315" indent="-2300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10441" indent="-2300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70567" indent="-2300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30693" indent="-23006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90820" indent="-23006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50946" indent="-23006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911072" indent="-23006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F77D66E5-29C4-4BE3-9710-249E3DEEF8E9}" type="slidenum">
              <a:rPr lang="en-US" altLang="ko-KR" smtClean="0">
                <a:solidFill>
                  <a:srgbClr val="000000"/>
                </a:solidFill>
              </a:rPr>
              <a:pPr eaLnBrk="1" hangingPunct="1"/>
              <a:t>7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05013" y="744538"/>
            <a:ext cx="2789237" cy="37211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358" y="4715155"/>
            <a:ext cx="4984962" cy="44669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/>
            <a:fld id="{2B348D20-BD08-4962-8F14-D5E8A74A4766}" type="slidenum">
              <a:rPr lang="en-US" altLang="ko-KR" sz="120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8</a:t>
            </a:fld>
            <a:endParaRPr lang="en-US" altLang="ko-KR" sz="1200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03425" y="744538"/>
            <a:ext cx="2790825" cy="3722687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/>
            <a:fld id="{6EFDB151-127B-4A9A-ADB7-F89029F34191}" type="slidenum">
              <a:rPr lang="en-US" altLang="ko-KR" sz="120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9</a:t>
            </a:fld>
            <a:endParaRPr lang="en-US" altLang="ko-KR" sz="1200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03425" y="744538"/>
            <a:ext cx="2790825" cy="3722687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/>
            <a:fld id="{F631AD1D-F766-41EF-97E7-97E4F9DAC9FA}" type="slidenum">
              <a:rPr lang="en-US" altLang="ko-KR" sz="120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10</a:t>
            </a:fld>
            <a:endParaRPr lang="en-US" altLang="ko-KR" sz="1200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03425" y="744538"/>
            <a:ext cx="2790825" cy="3722687"/>
          </a:xfrm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/>
            <a:fld id="{6565CFD9-9DC5-47BC-9BA6-89B54BDF7CD9}" type="slidenum">
              <a:rPr lang="en-US" altLang="ko-KR" sz="120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11</a:t>
            </a:fld>
            <a:endParaRPr lang="en-US" altLang="ko-KR" sz="1200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03425" y="744538"/>
            <a:ext cx="2790825" cy="3722687"/>
          </a:xfrm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/>
            <a:fld id="{80E40DAD-A6E7-4516-B9C0-FA9E2220D511}" type="slidenum">
              <a:rPr lang="en-US" altLang="ko-KR" sz="120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12</a:t>
            </a:fld>
            <a:endParaRPr lang="en-US" altLang="ko-KR" sz="1200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03425" y="744538"/>
            <a:ext cx="2790825" cy="3722687"/>
          </a:xfrm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/>
            <a:fld id="{96C328A6-8BF0-4BFF-AA01-A2EA36A51C86}" type="slidenum">
              <a:rPr lang="en-US" altLang="ko-KR" sz="120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13</a:t>
            </a:fld>
            <a:endParaRPr lang="en-US" altLang="ko-KR" sz="1200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03425" y="744538"/>
            <a:ext cx="2790825" cy="3722687"/>
          </a:xfrm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/>
            <a:fld id="{35E2AE9F-DB85-499C-A620-F439DDFECC2B}" type="slidenum">
              <a:rPr lang="en-US" altLang="ko-KR" sz="120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14</a:t>
            </a:fld>
            <a:endParaRPr lang="en-US" altLang="ko-KR" sz="1200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03425" y="744538"/>
            <a:ext cx="2790825" cy="3722687"/>
          </a:xfrm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/>
            <a:fld id="{67C8973A-D04C-410F-8BCE-BEE81E24E77F}" type="slidenum">
              <a:rPr lang="en-US" altLang="ko-KR" sz="120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15</a:t>
            </a:fld>
            <a:endParaRPr lang="en-US" altLang="ko-KR" sz="1200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03425" y="744538"/>
            <a:ext cx="2790825" cy="3722687"/>
          </a:xfrm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615"/>
            <a:ext cx="58293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36AD-4395-46B7-BA75-88FD627D05DE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0A26F-D8B4-4C5A-8252-13CA95B14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050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36AD-4395-46B7-BA75-88FD627D05DE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0A26F-D8B4-4C5A-8252-13CA95B14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74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20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36AD-4395-46B7-BA75-88FD627D05DE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0A26F-D8B4-4C5A-8252-13CA95B14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9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311" y="2844868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28908" y="2844868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36AD-4395-46B7-BA75-88FD627D05DE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0A26F-D8B4-4C5A-8252-13CA95B14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25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8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905" y="2046818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905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36AD-4395-46B7-BA75-88FD627D05DE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0A26F-D8B4-4C5A-8252-13CA95B14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76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36AD-4395-46B7-BA75-88FD627D05DE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0A26F-D8B4-4C5A-8252-13CA95B14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3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36AD-4395-46B7-BA75-88FD627D05DE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0A26F-D8B4-4C5A-8252-13CA95B14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217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036" y="364070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423" y="364135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3036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36AD-4395-46B7-BA75-88FD627D05DE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0A26F-D8B4-4C5A-8252-13CA95B14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299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7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8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36AD-4395-46B7-BA75-88FD627D05DE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0A26F-D8B4-4C5A-8252-13CA95B14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46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36AD-4395-46B7-BA75-88FD627D05DE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0A26F-D8B4-4C5A-8252-13CA95B14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154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037" y="488952"/>
            <a:ext cx="1157288" cy="10401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6" y="488952"/>
            <a:ext cx="3357563" cy="10401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36AD-4395-46B7-BA75-88FD627D05DE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0A26F-D8B4-4C5A-8252-13CA95B14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74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제목 1"/>
          <p:cNvSpPr>
            <a:spLocks noGrp="1" noChangeArrowheads="1"/>
          </p:cNvSpPr>
          <p:nvPr>
            <p:ph type="ctrTitle"/>
          </p:nvPr>
        </p:nvSpPr>
        <p:spPr>
          <a:xfrm>
            <a:off x="514350" y="2839984"/>
            <a:ext cx="5829300" cy="196068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ko-KR" altLang="en-US" noProof="0"/>
              <a:t>마스터 제목 스타일 편집</a:t>
            </a:r>
          </a:p>
        </p:txBody>
      </p:sp>
      <p:sp>
        <p:nvSpPr>
          <p:cNvPr id="2058" name="부제목 2"/>
          <p:cNvSpPr>
            <a:spLocks noGrp="1" noChangeArrowheads="1"/>
          </p:cNvSpPr>
          <p:nvPr>
            <p:ph type="subTitle" idx="1"/>
          </p:nvPr>
        </p:nvSpPr>
        <p:spPr>
          <a:xfrm>
            <a:off x="1028700" y="5181647"/>
            <a:ext cx="4800600" cy="2337289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ko-KR" altLang="en-US" noProof="0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4282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053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8450" y="2280139"/>
            <a:ext cx="5915025" cy="380267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8450" y="6119446"/>
            <a:ext cx="5915025" cy="200025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328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14350" y="2642089"/>
            <a:ext cx="2838450" cy="5486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642089"/>
            <a:ext cx="2838450" cy="5486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383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3075" y="486508"/>
            <a:ext cx="5915025" cy="176725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3078" y="2242038"/>
            <a:ext cx="2900363" cy="109757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078" y="3339613"/>
            <a:ext cx="2900363" cy="491343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2000" y="2242038"/>
            <a:ext cx="2916237" cy="109757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2000" y="3339613"/>
            <a:ext cx="2916237" cy="491343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809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2791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7112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3075" y="609600"/>
            <a:ext cx="221138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6238" y="1315984"/>
            <a:ext cx="3471862" cy="649898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3075" y="2743200"/>
            <a:ext cx="2211388" cy="508195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5499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3075" y="609600"/>
            <a:ext cx="221138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6238" y="1315984"/>
            <a:ext cx="3471862" cy="64989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3075" y="2743200"/>
            <a:ext cx="2211388" cy="508195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582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4193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886462" y="813289"/>
            <a:ext cx="1457325" cy="73152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14487" y="813289"/>
            <a:ext cx="4219575" cy="7315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2544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제목 1"/>
          <p:cNvSpPr>
            <a:spLocks noGrp="1" noChangeArrowheads="1"/>
          </p:cNvSpPr>
          <p:nvPr>
            <p:ph type="ctrTitle"/>
          </p:nvPr>
        </p:nvSpPr>
        <p:spPr>
          <a:xfrm>
            <a:off x="514350" y="2839982"/>
            <a:ext cx="5829300" cy="196068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ko-KR" altLang="en-US" noProof="0"/>
              <a:t>마스터 제목 스타일 편집</a:t>
            </a:r>
          </a:p>
        </p:txBody>
      </p:sp>
      <p:sp>
        <p:nvSpPr>
          <p:cNvPr id="2058" name="부제목 2"/>
          <p:cNvSpPr>
            <a:spLocks noGrp="1" noChangeArrowheads="1"/>
          </p:cNvSpPr>
          <p:nvPr>
            <p:ph type="subTitle" idx="1"/>
          </p:nvPr>
        </p:nvSpPr>
        <p:spPr>
          <a:xfrm>
            <a:off x="1028700" y="5181647"/>
            <a:ext cx="4800600" cy="2337289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ko-KR" altLang="en-US" noProof="0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63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1302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8446" y="2280139"/>
            <a:ext cx="5915025" cy="380267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8446" y="6119446"/>
            <a:ext cx="5915025" cy="200025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941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14350" y="2642089"/>
            <a:ext cx="2838450" cy="5486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642089"/>
            <a:ext cx="2838450" cy="5486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9325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3075" y="486508"/>
            <a:ext cx="5915025" cy="176725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3078" y="2242038"/>
            <a:ext cx="2900363" cy="109757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078" y="3339613"/>
            <a:ext cx="2900363" cy="491343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996" y="2242038"/>
            <a:ext cx="2916237" cy="109757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996" y="3339613"/>
            <a:ext cx="2916237" cy="491343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29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2980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3171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3075" y="609600"/>
            <a:ext cx="221138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6238" y="1315982"/>
            <a:ext cx="3471862" cy="649898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3075" y="2743200"/>
            <a:ext cx="2211388" cy="508195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8997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3075" y="609600"/>
            <a:ext cx="221138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6238" y="1315982"/>
            <a:ext cx="3471862" cy="64989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3075" y="2743200"/>
            <a:ext cx="2211388" cy="508195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9817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7251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886458" y="813289"/>
            <a:ext cx="1457325" cy="73152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14483" y="813289"/>
            <a:ext cx="4219575" cy="7315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0556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39980"/>
            <a:ext cx="5829300" cy="196068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47"/>
            <a:ext cx="4800600" cy="233728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5618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8625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338" y="5876196"/>
            <a:ext cx="5829300" cy="18156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338" y="3875943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2380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14350" y="2642089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642089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2476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346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7143"/>
            <a:ext cx="3030538" cy="85285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900000"/>
            <a:ext cx="3030538" cy="526805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692" y="2047143"/>
            <a:ext cx="3030537" cy="85285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692" y="2900000"/>
            <a:ext cx="3030537" cy="526805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133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769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4238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3480"/>
            <a:ext cx="2255838" cy="15503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63416"/>
            <a:ext cx="3833812" cy="78046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792"/>
            <a:ext cx="2255838" cy="62542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2096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61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613" y="817685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613" y="7156938"/>
            <a:ext cx="4114800" cy="10726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9836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0284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886454" y="813289"/>
            <a:ext cx="1457325" cy="73152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14479" y="813289"/>
            <a:ext cx="4219575" cy="73152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4838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39968"/>
            <a:ext cx="5829300" cy="196068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47"/>
            <a:ext cx="4800600" cy="233728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8797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10925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338" y="5876196"/>
            <a:ext cx="5829300" cy="18156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338" y="3875943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4155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14350" y="2642089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642089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95834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346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7143"/>
            <a:ext cx="3030538" cy="85285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900000"/>
            <a:ext cx="3030538" cy="526805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668" y="2047143"/>
            <a:ext cx="3030537" cy="85285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668" y="2900000"/>
            <a:ext cx="3030537" cy="526805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3419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3514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69589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3468"/>
            <a:ext cx="2255838" cy="15503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63416"/>
            <a:ext cx="3833812" cy="78046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792"/>
            <a:ext cx="2255838" cy="62542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8132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61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613" y="817685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613" y="7156938"/>
            <a:ext cx="4114800" cy="10726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37763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1552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886430" y="813289"/>
            <a:ext cx="1457325" cy="73152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14455" y="813289"/>
            <a:ext cx="4219575" cy="73152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07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8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6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036AD-4395-46B7-BA75-88FD627D05DE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6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6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0A26F-D8B4-4C5A-8252-13CA95B14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62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3289"/>
            <a:ext cx="58293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ko-KR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2089"/>
            <a:ext cx="58293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ko-KR" smtClean="0"/>
              <a:t>마스터 텍스트 스타일을 편집합니다</a:t>
            </a:r>
          </a:p>
          <a:p>
            <a:pPr lvl="1"/>
            <a:r>
              <a:rPr lang="ko-KR" altLang="ko-KR" smtClean="0"/>
              <a:t>둘째 수준</a:t>
            </a:r>
          </a:p>
          <a:p>
            <a:pPr lvl="2"/>
            <a:r>
              <a:rPr lang="ko-KR" altLang="ko-KR" smtClean="0"/>
              <a:t>셋째 수준</a:t>
            </a:r>
          </a:p>
          <a:p>
            <a:pPr lvl="3"/>
            <a:r>
              <a:rPr lang="ko-KR" altLang="ko-KR" smtClean="0"/>
              <a:t>넷째 수준</a:t>
            </a:r>
          </a:p>
          <a:p>
            <a:pPr lvl="4"/>
            <a:r>
              <a:rPr lang="ko-KR" altLang="ko-KR" smtClean="0"/>
              <a:t>다섯째 수준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0712"/>
            <a:ext cx="142875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SzPct val="100000"/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0712"/>
            <a:ext cx="21717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SzPct val="100000"/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386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buSzPct val="100000"/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buSzPct val="100000"/>
        <a:defRPr kumimoji="1" sz="4400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hangingPunct="0">
        <a:spcBef>
          <a:spcPct val="0"/>
        </a:spcBef>
        <a:spcAft>
          <a:spcPct val="0"/>
        </a:spcAft>
        <a:buSzPct val="100000"/>
        <a:defRPr kumimoji="1" sz="4400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hangingPunct="0">
        <a:spcBef>
          <a:spcPct val="0"/>
        </a:spcBef>
        <a:spcAft>
          <a:spcPct val="0"/>
        </a:spcAft>
        <a:buSzPct val="100000"/>
        <a:defRPr kumimoji="1" sz="4400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hangingPunct="0">
        <a:spcBef>
          <a:spcPct val="0"/>
        </a:spcBef>
        <a:spcAft>
          <a:spcPct val="0"/>
        </a:spcAft>
        <a:buSzPct val="100000"/>
        <a:defRPr kumimoji="1" sz="4400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buSzPct val="100000"/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buSzPct val="100000"/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buSzPct val="100000"/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buSzPct val="100000"/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3289"/>
            <a:ext cx="58293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ko-KR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2089"/>
            <a:ext cx="58293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ko-KR" smtClean="0"/>
              <a:t>마스터 텍스트 스타일을 편집합니다</a:t>
            </a:r>
          </a:p>
          <a:p>
            <a:pPr lvl="1"/>
            <a:r>
              <a:rPr lang="ko-KR" altLang="ko-KR" smtClean="0"/>
              <a:t>둘째 수준</a:t>
            </a:r>
          </a:p>
          <a:p>
            <a:pPr lvl="2"/>
            <a:r>
              <a:rPr lang="ko-KR" altLang="ko-KR" smtClean="0"/>
              <a:t>셋째 수준</a:t>
            </a:r>
          </a:p>
          <a:p>
            <a:pPr lvl="3"/>
            <a:r>
              <a:rPr lang="ko-KR" altLang="ko-KR" smtClean="0"/>
              <a:t>넷째 수준</a:t>
            </a:r>
          </a:p>
          <a:p>
            <a:pPr lvl="4"/>
            <a:r>
              <a:rPr lang="ko-KR" altLang="ko-KR" smtClean="0"/>
              <a:t>다섯째 수준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0712"/>
            <a:ext cx="142875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SzPct val="100000"/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0712"/>
            <a:ext cx="21717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SzPct val="100000"/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410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buSzPct val="100000"/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buSzPct val="100000"/>
        <a:defRPr kumimoji="1" sz="4400">
          <a:solidFill>
            <a:schemeClr val="tx2"/>
          </a:solidFill>
          <a:latin typeface="Arial" charset="0"/>
          <a:ea typeface="굴림" panose="020B0600000101010101" pitchFamily="50" charset="-127"/>
        </a:defRPr>
      </a:lvl2pPr>
      <a:lvl3pPr algn="ctr" rtl="0" eaLnBrk="0" fontAlgn="base" hangingPunct="0">
        <a:spcBef>
          <a:spcPct val="0"/>
        </a:spcBef>
        <a:spcAft>
          <a:spcPct val="0"/>
        </a:spcAft>
        <a:buSzPct val="100000"/>
        <a:defRPr kumimoji="1" sz="4400">
          <a:solidFill>
            <a:schemeClr val="tx2"/>
          </a:solidFill>
          <a:latin typeface="Arial" charset="0"/>
          <a:ea typeface="굴림" panose="020B0600000101010101" pitchFamily="50" charset="-127"/>
        </a:defRPr>
      </a:lvl3pPr>
      <a:lvl4pPr algn="ctr" rtl="0" eaLnBrk="0" fontAlgn="base" hangingPunct="0">
        <a:spcBef>
          <a:spcPct val="0"/>
        </a:spcBef>
        <a:spcAft>
          <a:spcPct val="0"/>
        </a:spcAft>
        <a:buSzPct val="100000"/>
        <a:defRPr kumimoji="1" sz="4400">
          <a:solidFill>
            <a:schemeClr val="tx2"/>
          </a:solidFill>
          <a:latin typeface="Arial" charset="0"/>
          <a:ea typeface="굴림" panose="020B0600000101010101" pitchFamily="50" charset="-127"/>
        </a:defRPr>
      </a:lvl4pPr>
      <a:lvl5pPr algn="ctr" rtl="0" eaLnBrk="0" fontAlgn="base" hangingPunct="0">
        <a:spcBef>
          <a:spcPct val="0"/>
        </a:spcBef>
        <a:spcAft>
          <a:spcPct val="0"/>
        </a:spcAft>
        <a:buSzPct val="100000"/>
        <a:defRPr kumimoji="1" sz="4400">
          <a:solidFill>
            <a:schemeClr val="tx2"/>
          </a:solidFill>
          <a:latin typeface="Arial" charset="0"/>
          <a:ea typeface="굴림" panose="020B0600000101010101" pitchFamily="50" charset="-127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buSzPct val="100000"/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buSzPct val="100000"/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buSzPct val="100000"/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buSzPct val="100000"/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3289"/>
            <a:ext cx="58293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2089"/>
            <a:ext cx="58293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546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0712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 fontAlgn="base" latinLnBrk="1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srgbClr val="000000"/>
              </a:solidFill>
            </a:endParaRPr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0712"/>
            <a:ext cx="21717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 fontAlgn="base" latinLnBrk="1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454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3289"/>
            <a:ext cx="58293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2089"/>
            <a:ext cx="58293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546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0712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 fontAlgn="base" latinLnBrk="1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srgbClr val="000000"/>
              </a:solidFill>
            </a:endParaRPr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0712"/>
            <a:ext cx="21717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 fontAlgn="base" latinLnBrk="1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23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>
            <a:extLst>
              <a:ext uri="{FF2B5EF4-FFF2-40B4-BE49-F238E27FC236}">
                <a16:creationId xmlns="" xmlns:a16="http://schemas.microsoft.com/office/drawing/2014/main" id="{EDF6792C-8CC5-4145-9D7D-32C3307CB0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400" y="562708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atinLnBrk="0"/>
            <a:endParaRPr lang="ko-KR" altLang="en-US"/>
          </a:p>
        </p:txBody>
      </p:sp>
      <p:sp>
        <p:nvSpPr>
          <p:cNvPr id="50" name="Text Box 6">
            <a:extLst>
              <a:ext uri="{FF2B5EF4-FFF2-40B4-BE49-F238E27FC236}">
                <a16:creationId xmlns="" xmlns:a16="http://schemas.microsoft.com/office/drawing/2014/main" id="{1F61F020-7640-4C6B-89B2-CB136DEF9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62" y="211017"/>
            <a:ext cx="395324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vi-VN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[ Đánh </a:t>
            </a:r>
            <a:r>
              <a:rPr lang="vi-VN" sz="1600" b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giá </a:t>
            </a:r>
            <a:r>
              <a:rPr lang="vi-VN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WS</a:t>
            </a:r>
            <a:r>
              <a:rPr lang="en-US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1</a:t>
            </a:r>
            <a:r>
              <a:rPr lang="vi-VN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</a:t>
            </a:r>
            <a:r>
              <a:rPr lang="vi-VN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– Điện tử điện cơ ]</a:t>
            </a:r>
          </a:p>
        </p:txBody>
      </p:sp>
      <p:sp>
        <p:nvSpPr>
          <p:cNvPr id="2052" name="Rectangle 3">
            <a:extLst>
              <a:ext uri="{FF2B5EF4-FFF2-40B4-BE49-F238E27FC236}">
                <a16:creationId xmlns="" xmlns:a16="http://schemas.microsoft.com/office/drawing/2014/main" id="{46BC55DC-0DC3-431B-A913-A53210FE4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716575"/>
            <a:ext cx="3124200" cy="82164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0"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053" name="Rectangle 4">
            <a:extLst>
              <a:ext uri="{FF2B5EF4-FFF2-40B4-BE49-F238E27FC236}">
                <a16:creationId xmlns="" xmlns:a16="http://schemas.microsoft.com/office/drawing/2014/main" id="{D8CFD6AA-9923-45DF-BD0D-ADAAA1B97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716575"/>
            <a:ext cx="3124200" cy="82164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90000"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054" name="Rectangle 139">
            <a:extLst>
              <a:ext uri="{FF2B5EF4-FFF2-40B4-BE49-F238E27FC236}">
                <a16:creationId xmlns="" xmlns:a16="http://schemas.microsoft.com/office/drawing/2014/main" id="{3980B22A-BBCA-4BD3-A163-9FF7E9D8B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783981"/>
            <a:ext cx="31242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1. Giải thích nào không đúng về cấu tạo của nguyên tử?     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144000" indent="-144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① Hạt nhân nguyên tử: Cấu thành bởi hạt proton và hạt neutron.</a:t>
            </a:r>
          </a:p>
          <a:p>
            <a:pPr marL="144000" indent="-144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② Khối lượng của hạt proton và hạt neutron gần như giống nhau và gấp khoảng 1.840 lần khối lượng hạt electron.</a:t>
            </a:r>
          </a:p>
          <a:p>
            <a:pPr marL="144000" indent="-144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③ </a:t>
            </a: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Số </a:t>
            </a:r>
            <a:r>
              <a:rPr lang="en-US" sz="900" smtClean="0">
                <a:latin typeface="Arial" panose="020B0600000101010101" pitchFamily="50" charset="-127"/>
                <a:ea typeface="돋움" panose="020B0600000101010101" pitchFamily="50" charset="-127"/>
              </a:rPr>
              <a:t>điện tích </a:t>
            </a:r>
            <a:r>
              <a:rPr lang="vi-VN" sz="900" smtClean="0">
                <a:latin typeface="Arial" panose="020B0600000101010101" pitchFamily="50" charset="-127"/>
                <a:ea typeface="돋움" panose="020B0600000101010101" pitchFamily="50" charset="-127"/>
              </a:rPr>
              <a:t>hạt </a:t>
            </a:r>
            <a:r>
              <a:rPr lang="en-US" sz="900" smtClean="0">
                <a:latin typeface="Arial" panose="020B0600000101010101" pitchFamily="50" charset="-127"/>
                <a:ea typeface="돋움" panose="020B0600000101010101" pitchFamily="50" charset="-127"/>
              </a:rPr>
              <a:t>nhân </a:t>
            </a:r>
            <a:r>
              <a:rPr lang="vi-VN" sz="900" smtClean="0">
                <a:latin typeface="Arial" panose="020B0600000101010101" pitchFamily="50" charset="-127"/>
                <a:ea typeface="돋움" panose="020B0600000101010101" pitchFamily="50" charset="-127"/>
              </a:rPr>
              <a:t>Z </a:t>
            </a: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= Số điện tích dương = Số nguyên tử =&gt; Đồng nhất với số electron.</a:t>
            </a:r>
          </a:p>
          <a:p>
            <a:pPr marL="144000" indent="-144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④ Số proton và số neutron có thể có một vài giá trị.</a:t>
            </a:r>
          </a:p>
        </p:txBody>
      </p:sp>
      <p:sp>
        <p:nvSpPr>
          <p:cNvPr id="2055" name="Rectangle 140">
            <a:extLst>
              <a:ext uri="{FF2B5EF4-FFF2-40B4-BE49-F238E27FC236}">
                <a16:creationId xmlns="" xmlns:a16="http://schemas.microsoft.com/office/drawing/2014/main" id="{25A3F406-6EC2-45D1-AF06-D095840B6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698141"/>
            <a:ext cx="31242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26000" indent="-126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4. Nếu số nguyên tử của Titan là 22 thì số electron của góc N trong số electron của mỗi quỹ đạo là bao nhiêu?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   </a:t>
            </a:r>
          </a:p>
          <a:p>
            <a:pPr marL="1440000" indent="-1440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  ① 0</a:t>
            </a:r>
            <a:r>
              <a:rPr lang="en-US" sz="900" dirty="0">
                <a:latin typeface="Arial" panose="020B0600000101010101" pitchFamily="50" charset="-127"/>
                <a:ea typeface="돋움" panose="020B0600000101010101" pitchFamily="50" charset="-127"/>
              </a:rPr>
              <a:t>	</a:t>
            </a: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② 10</a:t>
            </a:r>
          </a:p>
          <a:p>
            <a:pPr marL="1440000" indent="-1440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  ③ 12</a:t>
            </a:r>
            <a:r>
              <a:rPr lang="en-US" sz="900" dirty="0">
                <a:latin typeface="Arial" panose="020B0600000101010101" pitchFamily="50" charset="-127"/>
                <a:ea typeface="돋움" panose="020B0600000101010101" pitchFamily="50" charset="-127"/>
              </a:rPr>
              <a:t>	</a:t>
            </a: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④ 2</a:t>
            </a:r>
          </a:p>
        </p:txBody>
      </p:sp>
      <p:sp>
        <p:nvSpPr>
          <p:cNvPr id="2056" name="Rectangle 143">
            <a:extLst>
              <a:ext uri="{FF2B5EF4-FFF2-40B4-BE49-F238E27FC236}">
                <a16:creationId xmlns="" xmlns:a16="http://schemas.microsoft.com/office/drawing/2014/main" id="{6DB7E204-29EF-42BF-9E56-2217F5243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550" y="2704674"/>
            <a:ext cx="3170237" cy="9233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98000" indent="-198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10. Khi nút kiểm tra màu xanh dương hoặc xanh lá cây của cầu dao chống dò điện (ELB) không hoạt động thì đó là hiện tượng gì?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1440000" indent="-1440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① Rò rỉ điện</a:t>
            </a:r>
            <a:r>
              <a:rPr lang="en-US" sz="900" dirty="0">
                <a:latin typeface="Arial" panose="020B0600000101010101" pitchFamily="50" charset="-127"/>
                <a:ea typeface="돋움" panose="020B0600000101010101" pitchFamily="50" charset="-127"/>
              </a:rPr>
              <a:t>	</a:t>
            </a: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② Chập điện  </a:t>
            </a:r>
          </a:p>
          <a:p>
            <a:pPr marL="1440000" indent="-1440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③ Tiếp địa</a:t>
            </a:r>
            <a:r>
              <a:rPr lang="en-US" sz="900" dirty="0">
                <a:latin typeface="Arial" panose="020B0600000101010101" pitchFamily="50" charset="-127"/>
                <a:ea typeface="돋움" panose="020B0600000101010101" pitchFamily="50" charset="-127"/>
              </a:rPr>
              <a:t>	</a:t>
            </a: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④ Quá tải</a:t>
            </a:r>
          </a:p>
        </p:txBody>
      </p:sp>
      <p:sp>
        <p:nvSpPr>
          <p:cNvPr id="2057" name="Rectangle 145">
            <a:extLst>
              <a:ext uri="{FF2B5EF4-FFF2-40B4-BE49-F238E27FC236}">
                <a16:creationId xmlns="" xmlns:a16="http://schemas.microsoft.com/office/drawing/2014/main" id="{567454D9-E993-4834-B766-7935623F2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550" y="748812"/>
            <a:ext cx="317023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26000" indent="-126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8. Khi bị điện giật, chỉ số dòng điện “làm sốc mạnh nhưng có thể gây rung thất” trong các phản ứng sinh lý của cơ thể là gì?       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1440000" indent="-1440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① 5~30mA</a:t>
            </a:r>
            <a:r>
              <a:rPr lang="en-US" sz="900" dirty="0">
                <a:latin typeface="Arial" panose="020B0600000101010101" pitchFamily="50" charset="-127"/>
                <a:ea typeface="돋움" panose="020B0600000101010101" pitchFamily="50" charset="-127"/>
              </a:rPr>
              <a:t>	</a:t>
            </a: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② 30~50mA</a:t>
            </a:r>
          </a:p>
          <a:p>
            <a:pPr marL="1440000" indent="-1440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③ 50~100mA</a:t>
            </a:r>
            <a:r>
              <a:rPr lang="en-US" sz="900" dirty="0">
                <a:latin typeface="Arial" panose="020B0600000101010101" pitchFamily="50" charset="-127"/>
                <a:ea typeface="돋움" panose="020B0600000101010101" pitchFamily="50" charset="-127"/>
              </a:rPr>
              <a:t>	</a:t>
            </a: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④ Trên 100mA</a:t>
            </a:r>
          </a:p>
        </p:txBody>
      </p:sp>
      <p:sp>
        <p:nvSpPr>
          <p:cNvPr id="2058" name="Rectangle 146">
            <a:extLst>
              <a:ext uri="{FF2B5EF4-FFF2-40B4-BE49-F238E27FC236}">
                <a16:creationId xmlns="" xmlns:a16="http://schemas.microsoft.com/office/drawing/2014/main" id="{4B8B253C-BE39-4592-B634-95485B3FA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618683"/>
            <a:ext cx="31686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11. Đâu không phải là mục đích của việc </a:t>
            </a: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tiếp </a:t>
            </a:r>
            <a:r>
              <a:rPr lang="vi-VN" sz="900" smtClean="0">
                <a:latin typeface="Arial" panose="020B0600000101010101" pitchFamily="50" charset="-127"/>
                <a:ea typeface="돋움" panose="020B0600000101010101" pitchFamily="50" charset="-127"/>
              </a:rPr>
              <a:t>đ</a:t>
            </a:r>
            <a:r>
              <a:rPr lang="en-US" sz="900" smtClean="0">
                <a:latin typeface="Arial" panose="020B0600000101010101" pitchFamily="50" charset="-127"/>
                <a:ea typeface="돋움" panose="020B0600000101010101" pitchFamily="50" charset="-127"/>
              </a:rPr>
              <a:t>ịa</a:t>
            </a:r>
            <a:r>
              <a:rPr lang="vi-VN" sz="900" smtClean="0">
                <a:latin typeface="Arial" panose="020B0600000101010101" pitchFamily="50" charset="-127"/>
                <a:ea typeface="돋움" panose="020B0600000101010101" pitchFamily="50" charset="-127"/>
              </a:rPr>
              <a:t>?      </a:t>
            </a:r>
            <a:endParaRPr lang="vi-VN" sz="900" dirty="0">
              <a:latin typeface="Arial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① Phòng ngừa thương tích cho người (điện giật)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② Bảo vệ thiết bị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③ Bảo vệ thiết bị khi điện áp tăng vọt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④ Cung cấp tiêu chuẩn của điện áp nguồn</a:t>
            </a:r>
          </a:p>
        </p:txBody>
      </p:sp>
      <p:sp>
        <p:nvSpPr>
          <p:cNvPr id="2059" name="Rectangle 147">
            <a:extLst>
              <a:ext uri="{FF2B5EF4-FFF2-40B4-BE49-F238E27FC236}">
                <a16:creationId xmlns="" xmlns:a16="http://schemas.microsoft.com/office/drawing/2014/main" id="{8CE37466-C5D9-4565-A294-A4741D65F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193887"/>
            <a:ext cx="312420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26000" indent="-126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2. Yếu tố nào không phải là yếu tố quyết định điện trở của vật chất?      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① Hằng số theo chủng loại của vật chất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② Chiều dài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③ Mặt cắt ngang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④ Cân nặng</a:t>
            </a:r>
          </a:p>
        </p:txBody>
      </p:sp>
      <p:sp>
        <p:nvSpPr>
          <p:cNvPr id="2061" name="Rectangle 172">
            <a:extLst>
              <a:ext uri="{FF2B5EF4-FFF2-40B4-BE49-F238E27FC236}">
                <a16:creationId xmlns="" xmlns:a16="http://schemas.microsoft.com/office/drawing/2014/main" id="{37E5FB6D-2032-44AF-A2D8-E884A74D1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6495179"/>
            <a:ext cx="3122612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26000" indent="-126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6. Trong công tác nối đất, điện trở nối đất của công tác nối đất loại </a:t>
            </a: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3 </a:t>
            </a:r>
            <a:r>
              <a:rPr lang="en-US" sz="900" smtClean="0">
                <a:latin typeface="Arial" panose="020B0600000101010101" pitchFamily="50" charset="-127"/>
                <a:ea typeface="돋움" panose="020B0600000101010101" pitchFamily="50" charset="-127"/>
              </a:rPr>
              <a:t> đặc biệt </a:t>
            </a:r>
            <a:r>
              <a:rPr lang="vi-VN" sz="900" smtClean="0">
                <a:latin typeface="Arial" panose="020B0600000101010101" pitchFamily="50" charset="-127"/>
                <a:ea typeface="돋움" panose="020B0600000101010101" pitchFamily="50" charset="-127"/>
              </a:rPr>
              <a:t>là </a:t>
            </a: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bao nhiêu?      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① Dưới 100 Ohm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② Dưới 10 Ohm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③ Dưới 1 Ohm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④ Dưới 1000 Ohm</a:t>
            </a:r>
          </a:p>
        </p:txBody>
      </p:sp>
      <p:sp>
        <p:nvSpPr>
          <p:cNvPr id="2062" name="Rectangle 173">
            <a:extLst>
              <a:ext uri="{FF2B5EF4-FFF2-40B4-BE49-F238E27FC236}">
                <a16:creationId xmlns="" xmlns:a16="http://schemas.microsoft.com/office/drawing/2014/main" id="{81F7C695-B38A-4462-957A-C24A87FA8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468819"/>
            <a:ext cx="312420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26000" indent="-126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5. Giá trị đo được khi đo điện áp ổ cắm bằng đồng hồ đo điện (DVM) là gì?       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① Giá trị tối đa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② Giá trị hiệu dụng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③ Giá trị tức thời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④ Giá trị trung bình</a:t>
            </a:r>
          </a:p>
        </p:txBody>
      </p:sp>
      <p:sp>
        <p:nvSpPr>
          <p:cNvPr id="2063" name="Rectangle 175">
            <a:extLst>
              <a:ext uri="{FF2B5EF4-FFF2-40B4-BE49-F238E27FC236}">
                <a16:creationId xmlns="" xmlns:a16="http://schemas.microsoft.com/office/drawing/2014/main" id="{C11B51B3-CB81-4811-BD02-3C2F0C813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550" y="4533251"/>
            <a:ext cx="3170237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98000" indent="-198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12. Thiết bị nào dùng để đo điện trở cách điện khi dòng điện rò rỉ?    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① Máy đo </a:t>
            </a: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điện </a:t>
            </a:r>
            <a:r>
              <a:rPr lang="vi-VN" sz="900" smtClean="0">
                <a:latin typeface="Arial" panose="020B0600000101010101" pitchFamily="50" charset="-127"/>
                <a:ea typeface="돋움" panose="020B0600000101010101" pitchFamily="50" charset="-127"/>
              </a:rPr>
              <a:t>trở</a:t>
            </a:r>
            <a:r>
              <a:rPr lang="en-US" sz="900" smtClean="0">
                <a:latin typeface="Arial" panose="020B0600000101010101" pitchFamily="50" charset="-127"/>
                <a:ea typeface="돋움" panose="020B0600000101010101" pitchFamily="50" charset="-127"/>
              </a:rPr>
              <a:t> cách điện(Mega tester)</a:t>
            </a:r>
            <a:endParaRPr lang="vi-VN" sz="900" dirty="0">
              <a:latin typeface="Arial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② Đồng hồ kẹp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③ Đồng hồ đo điện (DVM)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④ Đồng hồ đo LCR</a:t>
            </a:r>
          </a:p>
        </p:txBody>
      </p:sp>
      <p:sp>
        <p:nvSpPr>
          <p:cNvPr id="2064" name="Rectangle 176">
            <a:extLst>
              <a:ext uri="{FF2B5EF4-FFF2-40B4-BE49-F238E27FC236}">
                <a16:creationId xmlns="" xmlns:a16="http://schemas.microsoft.com/office/drawing/2014/main" id="{71D7274E-37E8-4718-B691-5E7B401D3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2650" y="1662827"/>
            <a:ext cx="317500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26000" indent="-126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9. Trong cảm biến quang, bộ lọc phân cực được chèn vào là gì?     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① Loại phản xạ hồi quy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② Loại điện dung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③ Loại truyền qua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④ Loại phản xạ khuếch tán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="" xmlns:a16="http://schemas.microsoft.com/office/drawing/2014/main" id="{A96AF056-3E2B-4512-AF41-67ED52DDFC4E}"/>
              </a:ext>
            </a:extLst>
          </p:cNvPr>
          <p:cNvGrpSpPr/>
          <p:nvPr/>
        </p:nvGrpSpPr>
        <p:grpSpPr>
          <a:xfrm>
            <a:off x="3429000" y="5575170"/>
            <a:ext cx="3168650" cy="1338828"/>
            <a:chOff x="3429000" y="6096000"/>
            <a:chExt cx="3168650" cy="1450397"/>
          </a:xfrm>
        </p:grpSpPr>
        <p:sp>
          <p:nvSpPr>
            <p:cNvPr id="2065" name="Rectangle 177">
              <a:extLst>
                <a:ext uri="{FF2B5EF4-FFF2-40B4-BE49-F238E27FC236}">
                  <a16:creationId xmlns="" xmlns:a16="http://schemas.microsoft.com/office/drawing/2014/main" id="{32905DC7-B12C-40A1-837D-1321C7FE1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6096000"/>
              <a:ext cx="3168650" cy="1450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98000" indent="-198000" eaLnBrk="1" latinLnBrk="0" hangingPunct="1">
                <a:spcBef>
                  <a:spcPct val="0"/>
                </a:spcBef>
                <a:buFontTx/>
                <a:buNone/>
              </a:pPr>
              <a:r>
                <a:rPr lang="vi-VN" sz="900" dirty="0">
                  <a:latin typeface="Arial" panose="020B0600000101010101" pitchFamily="50" charset="-127"/>
                  <a:ea typeface="돋움" panose="020B0600000101010101" pitchFamily="50" charset="-127"/>
                </a:rPr>
                <a:t>13. Trong các chức năng của Oscilloscope, chức năng nào tương ứng với hình vẽ dưới đây?       </a:t>
              </a:r>
            </a:p>
            <a:p>
              <a:pPr eaLnBrk="1" latinLnBrk="0" hangingPunct="1">
                <a:spcBef>
                  <a:spcPct val="0"/>
                </a:spcBef>
                <a:buFontTx/>
                <a:buNone/>
              </a:pPr>
              <a:endParaRPr lang="en-US" altLang="ko-KR" sz="900" dirty="0">
                <a:latin typeface="돋움" panose="020B0600000101010101" pitchFamily="50" charset="-127"/>
                <a:ea typeface="돋움" panose="020B0600000101010101" pitchFamily="50" charset="-127"/>
              </a:endParaRPr>
            </a:p>
            <a:p>
              <a:pPr marL="144000" indent="-144000" eaLnBrk="1" latinLnBrk="0" hangingPunct="1">
                <a:spcBef>
                  <a:spcPct val="0"/>
                </a:spcBef>
                <a:buFontTx/>
                <a:buNone/>
              </a:pPr>
              <a:r>
                <a:rPr lang="vi-VN" sz="900" dirty="0">
                  <a:latin typeface="Arial" panose="020B0600000101010101" pitchFamily="50" charset="-127"/>
                  <a:ea typeface="돋움" panose="020B0600000101010101" pitchFamily="50" charset="-127"/>
                </a:rPr>
                <a:t>① Aliasing </a:t>
              </a:r>
              <a:r>
                <a:rPr lang="en-US" sz="900" dirty="0">
                  <a:latin typeface="Arial" panose="020B0600000101010101" pitchFamily="50" charset="-127"/>
                  <a:ea typeface="돋움" panose="020B0600000101010101" pitchFamily="50" charset="-127"/>
                </a:rPr>
                <a:t/>
              </a:r>
              <a:br>
                <a:rPr lang="en-US" sz="900" dirty="0">
                  <a:latin typeface="Arial" panose="020B0600000101010101" pitchFamily="50" charset="-127"/>
                  <a:ea typeface="돋움" panose="020B0600000101010101" pitchFamily="50" charset="-127"/>
                </a:rPr>
              </a:br>
              <a:r>
                <a:rPr lang="vi-VN" sz="900" spc="-20" dirty="0">
                  <a:latin typeface="Arial" panose="020B0600000101010101" pitchFamily="50" charset="-127"/>
                  <a:ea typeface="돋움" panose="020B0600000101010101" pitchFamily="50" charset="-127"/>
                </a:rPr>
                <a:t>(Hiệu ứng răng cưa)</a:t>
              </a:r>
            </a:p>
            <a:p>
              <a:pPr marL="144000" indent="-144000" eaLnBrk="1" latinLnBrk="0" hangingPunct="1">
                <a:spcBef>
                  <a:spcPct val="0"/>
                </a:spcBef>
                <a:buFontTx/>
                <a:buNone/>
              </a:pPr>
              <a:r>
                <a:rPr lang="vi-VN" sz="900" dirty="0">
                  <a:latin typeface="Arial" panose="020B0600000101010101" pitchFamily="50" charset="-127"/>
                  <a:ea typeface="돋움" panose="020B0600000101010101" pitchFamily="50" charset="-127"/>
                </a:rPr>
                <a:t>② Coupling </a:t>
              </a:r>
              <a:r>
                <a:rPr lang="en-US" sz="900" dirty="0">
                  <a:latin typeface="Arial" panose="020B0600000101010101" pitchFamily="50" charset="-127"/>
                  <a:ea typeface="돋움" panose="020B0600000101010101" pitchFamily="50" charset="-127"/>
                </a:rPr>
                <a:t/>
              </a:r>
              <a:br>
                <a:rPr lang="en-US" sz="900" dirty="0">
                  <a:latin typeface="Arial" panose="020B0600000101010101" pitchFamily="50" charset="-127"/>
                  <a:ea typeface="돋움" panose="020B0600000101010101" pitchFamily="50" charset="-127"/>
                </a:rPr>
              </a:br>
              <a:r>
                <a:rPr lang="vi-VN" sz="900" dirty="0">
                  <a:latin typeface="Arial" panose="020B0600000101010101" pitchFamily="50" charset="-127"/>
                  <a:ea typeface="돋움" panose="020B0600000101010101" pitchFamily="50" charset="-127"/>
                </a:rPr>
                <a:t>(Khớp nối)</a:t>
              </a:r>
            </a:p>
            <a:p>
              <a:pPr marL="144000" indent="-144000" eaLnBrk="1" latinLnBrk="0" hangingPunct="1">
                <a:spcBef>
                  <a:spcPct val="0"/>
                </a:spcBef>
                <a:buFontTx/>
                <a:buNone/>
              </a:pPr>
              <a:r>
                <a:rPr lang="vi-VN" sz="900" dirty="0">
                  <a:latin typeface="Arial" panose="020B0600000101010101" pitchFamily="50" charset="-127"/>
                  <a:ea typeface="돋움" panose="020B0600000101010101" pitchFamily="50" charset="-127"/>
                </a:rPr>
                <a:t>③ Trigger</a:t>
              </a:r>
            </a:p>
            <a:p>
              <a:pPr marL="144000" indent="-144000" eaLnBrk="1" latinLnBrk="0" hangingPunct="1">
                <a:spcBef>
                  <a:spcPct val="0"/>
                </a:spcBef>
                <a:buFontTx/>
                <a:buNone/>
              </a:pPr>
              <a:r>
                <a:rPr lang="vi-VN" sz="900" dirty="0">
                  <a:latin typeface="Arial" panose="020B0600000101010101" pitchFamily="50" charset="-127"/>
                  <a:ea typeface="돋움" panose="020B0600000101010101" pitchFamily="50" charset="-127"/>
                </a:rPr>
                <a:t>④ MEASURE</a:t>
              </a:r>
            </a:p>
          </p:txBody>
        </p:sp>
        <p:grpSp>
          <p:nvGrpSpPr>
            <p:cNvPr id="2066" name="그룹 58">
              <a:extLst>
                <a:ext uri="{FF2B5EF4-FFF2-40B4-BE49-F238E27FC236}">
                  <a16:creationId xmlns="" xmlns:a16="http://schemas.microsoft.com/office/drawing/2014/main" id="{D643AE77-ADBC-4AEF-B947-DC728179E0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7656" y="6422874"/>
              <a:ext cx="1817688" cy="746125"/>
              <a:chOff x="4643446" y="8739214"/>
              <a:chExt cx="1816434" cy="746776"/>
            </a:xfrm>
          </p:grpSpPr>
          <p:pic>
            <p:nvPicPr>
              <p:cNvPr id="2113" name="Picture 6">
                <a:extLst>
                  <a:ext uri="{FF2B5EF4-FFF2-40B4-BE49-F238E27FC236}">
                    <a16:creationId xmlns="" xmlns:a16="http://schemas.microsoft.com/office/drawing/2014/main" id="{614708A6-35C4-4550-B3A4-0A58427836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8690" b="17897"/>
              <a:stretch>
                <a:fillRect/>
              </a:stretch>
            </p:blipFill>
            <p:spPr bwMode="auto">
              <a:xfrm>
                <a:off x="4643446" y="8739214"/>
                <a:ext cx="761984" cy="732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14" name="Picture 6">
                <a:extLst>
                  <a:ext uri="{FF2B5EF4-FFF2-40B4-BE49-F238E27FC236}">
                    <a16:creationId xmlns="" xmlns:a16="http://schemas.microsoft.com/office/drawing/2014/main" id="{8CD084A9-3DEA-401D-9E2B-80FB81524E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3" r="67709" b="16296"/>
              <a:stretch>
                <a:fillRect/>
              </a:stretch>
            </p:blipFill>
            <p:spPr bwMode="auto">
              <a:xfrm>
                <a:off x="5715016" y="8739214"/>
                <a:ext cx="744864" cy="746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15" name="오른쪽 화살표 57">
                <a:extLst>
                  <a:ext uri="{FF2B5EF4-FFF2-40B4-BE49-F238E27FC236}">
                    <a16:creationId xmlns="" xmlns:a16="http://schemas.microsoft.com/office/drawing/2014/main" id="{D6CFF34C-FA30-446D-BE2D-C93C9DB53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3560" y="8882090"/>
                <a:ext cx="127620" cy="428628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FontTx/>
                  <a:buNone/>
                </a:pPr>
                <a:endParaRPr lang="ko-KR" altLang="en-US" sz="900">
                  <a:latin typeface="돋움" panose="020B0600000101010101" pitchFamily="50" charset="-127"/>
                  <a:ea typeface="돋움" panose="020B0600000101010101" pitchFamily="50" charset="-127"/>
                </a:endParaRPr>
              </a:p>
            </p:txBody>
          </p:sp>
        </p:grpSp>
      </p:grpSp>
      <p:sp>
        <p:nvSpPr>
          <p:cNvPr id="2067" name="Rectangle 142">
            <a:extLst>
              <a:ext uri="{FF2B5EF4-FFF2-40B4-BE49-F238E27FC236}">
                <a16:creationId xmlns="" xmlns:a16="http://schemas.microsoft.com/office/drawing/2014/main" id="{97986819-9DB5-47A2-8D2C-821DB0CB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6" y="7521540"/>
            <a:ext cx="317023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7. Hiện tượng giống như hình trong quá trình nhiễu là gì?         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① Sụt áp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② Chattering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③ Tăng áp do sét 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④ Nhảy nút</a:t>
            </a:r>
          </a:p>
        </p:txBody>
      </p:sp>
      <p:sp>
        <p:nvSpPr>
          <p:cNvPr id="2069" name="Rectangle 71">
            <a:extLst>
              <a:ext uri="{FF2B5EF4-FFF2-40B4-BE49-F238E27FC236}">
                <a16:creationId xmlns="" xmlns:a16="http://schemas.microsoft.com/office/drawing/2014/main" id="{EFFF5FE0-2F23-46A5-A44C-D6BA00112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6872640"/>
            <a:ext cx="3124200" cy="106182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98000" indent="-198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14. Điện trở dưới đây là gì? </a:t>
            </a:r>
            <a:r>
              <a:rPr lang="en-US" sz="900" dirty="0">
                <a:latin typeface="Arial" panose="020B0600000101010101" pitchFamily="50" charset="-127"/>
                <a:ea typeface="돋움" panose="020B0600000101010101" pitchFamily="50" charset="-127"/>
              </a:rPr>
              <a:t/>
            </a:r>
            <a:br>
              <a:rPr lang="en-US" sz="900" dirty="0">
                <a:latin typeface="Arial" panose="020B0600000101010101" pitchFamily="50" charset="-127"/>
                <a:ea typeface="돋움" panose="020B0600000101010101" pitchFamily="50" charset="-127"/>
              </a:rPr>
            </a:b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“Được phủ một lớp nhựa không cháy vì vậy không bắt lửa ngay ở nhiệt độ cao và dễ dàng lắp đặt nhờ khả năng cách điện tốt”.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1440000" indent="-1440000" eaLnBrk="1" hangingPunct="1">
              <a:spcBef>
                <a:spcPct val="0"/>
              </a:spcBef>
              <a:buNone/>
            </a:pPr>
            <a:r>
              <a:rPr lang="vi-VN" sz="900" smtClean="0">
                <a:latin typeface="Arial" panose="020B0600000101010101" pitchFamily="50" charset="-127"/>
                <a:ea typeface="돋움" panose="020B0600000101010101" pitchFamily="50" charset="-127"/>
              </a:rPr>
              <a:t>① Điện trở màng kim loại</a:t>
            </a:r>
            <a:r>
              <a:rPr lang="en-US" sz="900" smtClean="0">
                <a:latin typeface="Arial" panose="020B0600000101010101" pitchFamily="50" charset="-127"/>
                <a:ea typeface="돋움" panose="020B0600000101010101" pitchFamily="50" charset="-127"/>
              </a:rPr>
              <a:t>	</a:t>
            </a:r>
            <a:r>
              <a:rPr lang="vi-VN" sz="900" smtClean="0">
                <a:latin typeface="Arial" panose="020B0600000101010101" pitchFamily="50" charset="-127"/>
                <a:ea typeface="돋움" panose="020B0600000101010101" pitchFamily="50" charset="-127"/>
              </a:rPr>
              <a:t>② Điện trở sứ xi măng</a:t>
            </a:r>
            <a:endParaRPr lang="en-US" sz="900" smtClean="0">
              <a:latin typeface="Arial" panose="020B0600000101010101" pitchFamily="50" charset="-127"/>
              <a:ea typeface="돋움" panose="020B0600000101010101" pitchFamily="50" charset="-127"/>
            </a:endParaRPr>
          </a:p>
          <a:p>
            <a:pPr marL="1440000" indent="-1440000" eaLnBrk="1" hangingPunct="1">
              <a:spcBef>
                <a:spcPct val="0"/>
              </a:spcBef>
              <a:buNone/>
            </a:pP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③ Điện trở cacbon loại </a:t>
            </a:r>
            <a:r>
              <a:rPr lang="vi-VN" sz="900" smtClean="0">
                <a:latin typeface="Arial" panose="020B0600000101010101" pitchFamily="50" charset="-127"/>
                <a:ea typeface="돋움" panose="020B0600000101010101" pitchFamily="50" charset="-127"/>
              </a:rPr>
              <a:t>nhỏ</a:t>
            </a:r>
            <a:r>
              <a:rPr lang="en-US" sz="900" smtClean="0">
                <a:latin typeface="Arial" panose="020B0600000101010101" pitchFamily="50" charset="-127"/>
                <a:ea typeface="돋움" panose="020B0600000101010101" pitchFamily="50" charset="-127"/>
              </a:rPr>
              <a:t>	</a:t>
            </a:r>
            <a:r>
              <a:rPr lang="vi-VN" sz="900" smtClean="0">
                <a:latin typeface="Arial" panose="020B0600000101010101" pitchFamily="50" charset="-127"/>
                <a:ea typeface="돋움" panose="020B0600000101010101" pitchFamily="50" charset="-127"/>
              </a:rPr>
              <a:t>④ Điện trở rắn</a:t>
            </a:r>
            <a:endParaRPr lang="vi-VN" sz="900" dirty="0">
              <a:latin typeface="Arial" panose="020B0600000101010101" pitchFamily="50" charset="-127"/>
              <a:ea typeface="돋움" panose="020B0600000101010101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="" xmlns:a16="http://schemas.microsoft.com/office/drawing/2014/main" id="{05C0E9A9-3086-4113-A883-66F3569631A3}"/>
              </a:ext>
            </a:extLst>
          </p:cNvPr>
          <p:cNvGrpSpPr/>
          <p:nvPr/>
        </p:nvGrpSpPr>
        <p:grpSpPr>
          <a:xfrm>
            <a:off x="304800" y="3220250"/>
            <a:ext cx="3429000" cy="1431680"/>
            <a:chOff x="304800" y="3286628"/>
            <a:chExt cx="3429000" cy="1550987"/>
          </a:xfrm>
        </p:grpSpPr>
        <p:sp>
          <p:nvSpPr>
            <p:cNvPr id="2060" name="Rectangle 148">
              <a:extLst>
                <a:ext uri="{FF2B5EF4-FFF2-40B4-BE49-F238E27FC236}">
                  <a16:creationId xmlns="" xmlns:a16="http://schemas.microsoft.com/office/drawing/2014/main" id="{7E5A49BE-8DFF-4422-9F4D-84736FDDD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3286628"/>
              <a:ext cx="3429000" cy="1000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 hangingPunct="1">
                <a:spcBef>
                  <a:spcPct val="0"/>
                </a:spcBef>
                <a:buFontTx/>
                <a:buNone/>
              </a:pPr>
              <a:r>
                <a:rPr lang="vi-VN" sz="900" dirty="0">
                  <a:latin typeface="Arial" panose="020B0600000101010101" pitchFamily="50" charset="-127"/>
                  <a:ea typeface="돋움" panose="020B0600000101010101" pitchFamily="50" charset="-127"/>
                </a:rPr>
                <a:t>3. Điện áp được mắc ở </a:t>
              </a:r>
              <a:r>
                <a:rPr lang="vi-VN" sz="900" b="1" dirty="0">
                  <a:latin typeface="Arial" panose="020B0600000101010101" pitchFamily="50" charset="-127"/>
                  <a:ea typeface="돋움" panose="020B0600000101010101" pitchFamily="50" charset="-127"/>
                </a:rPr>
                <a:t>Ⓐ-Ⓑ </a:t>
              </a:r>
              <a:r>
                <a:rPr lang="vi-VN" sz="900" dirty="0">
                  <a:latin typeface="Arial" panose="020B0600000101010101" pitchFamily="50" charset="-127"/>
                  <a:ea typeface="돋움" panose="020B0600000101010101" pitchFamily="50" charset="-127"/>
                </a:rPr>
                <a:t>trong hình</a:t>
              </a:r>
              <a:r>
                <a:rPr lang="vi-VN" sz="900" b="1" dirty="0">
                  <a:latin typeface="Arial" panose="020B0600000101010101" pitchFamily="50" charset="-127"/>
                  <a:ea typeface="돋움" panose="020B0600000101010101" pitchFamily="50" charset="-127"/>
                </a:rPr>
                <a:t> </a:t>
              </a:r>
              <a:r>
                <a:rPr lang="vi-VN" sz="900" dirty="0">
                  <a:latin typeface="Arial" panose="020B0600000101010101" pitchFamily="50" charset="-127"/>
                  <a:ea typeface="돋움" panose="020B0600000101010101" pitchFamily="50" charset="-127"/>
                </a:rPr>
                <a:t>dưới là bao nhiêu?      </a:t>
              </a:r>
            </a:p>
            <a:p>
              <a:pPr eaLnBrk="1" latinLnBrk="0" hangingPunct="1">
                <a:spcBef>
                  <a:spcPct val="0"/>
                </a:spcBef>
                <a:buFontTx/>
                <a:buNone/>
              </a:pPr>
              <a:endParaRPr lang="en-US" altLang="ko-KR" sz="900" dirty="0">
                <a:latin typeface="돋움" panose="020B0600000101010101" pitchFamily="50" charset="-127"/>
                <a:ea typeface="돋움" panose="020B0600000101010101" pitchFamily="50" charset="-127"/>
              </a:endParaRPr>
            </a:p>
            <a:p>
              <a:pPr eaLnBrk="1" latinLnBrk="0" hangingPunct="1">
                <a:spcBef>
                  <a:spcPct val="0"/>
                </a:spcBef>
                <a:buFontTx/>
                <a:buNone/>
              </a:pPr>
              <a:r>
                <a:rPr lang="vi-VN" sz="900" dirty="0">
                  <a:latin typeface="Arial" panose="020B0600000101010101" pitchFamily="50" charset="-127"/>
                  <a:ea typeface="돋움" panose="020B0600000101010101" pitchFamily="50" charset="-127"/>
                </a:rPr>
                <a:t>① 0[V]</a:t>
              </a:r>
            </a:p>
            <a:p>
              <a:pPr eaLnBrk="1" latinLnBrk="0" hangingPunct="1">
                <a:spcBef>
                  <a:spcPct val="0"/>
                </a:spcBef>
                <a:buFontTx/>
                <a:buNone/>
              </a:pPr>
              <a:r>
                <a:rPr lang="vi-VN" sz="900" dirty="0">
                  <a:latin typeface="Arial" panose="020B0600000101010101" pitchFamily="50" charset="-127"/>
                  <a:ea typeface="돋움" panose="020B0600000101010101" pitchFamily="50" charset="-127"/>
                </a:rPr>
                <a:t>② 4.3[V]</a:t>
              </a:r>
            </a:p>
            <a:p>
              <a:pPr eaLnBrk="1" latinLnBrk="0" hangingPunct="1">
                <a:spcBef>
                  <a:spcPct val="0"/>
                </a:spcBef>
                <a:buFontTx/>
                <a:buNone/>
              </a:pPr>
              <a:r>
                <a:rPr lang="vi-VN" sz="900" dirty="0">
                  <a:latin typeface="Arial" panose="020B0600000101010101" pitchFamily="50" charset="-127"/>
                  <a:ea typeface="돋움" panose="020B0600000101010101" pitchFamily="50" charset="-127"/>
                </a:rPr>
                <a:t>③ 5[V]</a:t>
              </a:r>
            </a:p>
            <a:p>
              <a:pPr eaLnBrk="1" latinLnBrk="0" hangingPunct="1">
                <a:spcBef>
                  <a:spcPct val="0"/>
                </a:spcBef>
                <a:buFontTx/>
                <a:buNone/>
              </a:pPr>
              <a:r>
                <a:rPr lang="vi-VN" sz="900" dirty="0">
                  <a:latin typeface="Arial" panose="020B0600000101010101" pitchFamily="50" charset="-127"/>
                  <a:ea typeface="돋움" panose="020B0600000101010101" pitchFamily="50" charset="-127"/>
                </a:rPr>
                <a:t>④ 0,7[V]</a:t>
              </a:r>
            </a:p>
          </p:txBody>
        </p:sp>
        <p:grpSp>
          <p:nvGrpSpPr>
            <p:cNvPr id="2070" name="그룹 68">
              <a:extLst>
                <a:ext uri="{FF2B5EF4-FFF2-40B4-BE49-F238E27FC236}">
                  <a16:creationId xmlns="" xmlns:a16="http://schemas.microsoft.com/office/drawing/2014/main" id="{8FC4EBB0-DBCB-444D-B9E8-5F87713B53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7775" y="3567615"/>
              <a:ext cx="1747854" cy="1270000"/>
              <a:chOff x="1247760" y="3543291"/>
              <a:chExt cx="1747865" cy="1270008"/>
            </a:xfrm>
          </p:grpSpPr>
          <p:sp>
            <p:nvSpPr>
              <p:cNvPr id="2072" name="Line 150">
                <a:extLst>
                  <a:ext uri="{FF2B5EF4-FFF2-40B4-BE49-F238E27FC236}">
                    <a16:creationId xmlns="" xmlns:a16="http://schemas.microsoft.com/office/drawing/2014/main" id="{7256793C-4E9A-425F-81DB-8DC86E070A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69433" y="3543291"/>
                <a:ext cx="0" cy="60325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latinLnBrk="0"/>
                <a:endParaRPr lang="ko-KR" altLang="en-US"/>
              </a:p>
            </p:txBody>
          </p:sp>
          <p:sp>
            <p:nvSpPr>
              <p:cNvPr id="2073" name="Line 151">
                <a:extLst>
                  <a:ext uri="{FF2B5EF4-FFF2-40B4-BE49-F238E27FC236}">
                    <a16:creationId xmlns="" xmlns:a16="http://schemas.microsoft.com/office/drawing/2014/main" id="{52D9224C-F7D1-408B-A912-60A8407D20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64007" y="3543291"/>
                <a:ext cx="834717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latinLnBrk="0"/>
                <a:endParaRPr lang="ko-KR" altLang="en-US"/>
              </a:p>
            </p:txBody>
          </p:sp>
          <p:sp>
            <p:nvSpPr>
              <p:cNvPr id="2074" name="Line 152">
                <a:extLst>
                  <a:ext uri="{FF2B5EF4-FFF2-40B4-BE49-F238E27FC236}">
                    <a16:creationId xmlns="" xmlns:a16="http://schemas.microsoft.com/office/drawing/2014/main" id="{B45E0EFA-6297-4AA7-B19C-0E741C6464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9583" y="3543291"/>
                <a:ext cx="0" cy="18768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latinLnBrk="0"/>
                <a:endParaRPr lang="ko-KR" altLang="en-US"/>
              </a:p>
            </p:txBody>
          </p:sp>
          <p:grpSp>
            <p:nvGrpSpPr>
              <p:cNvPr id="2075" name="Group 153">
                <a:extLst>
                  <a:ext uri="{FF2B5EF4-FFF2-40B4-BE49-F238E27FC236}">
                    <a16:creationId xmlns="" xmlns:a16="http://schemas.microsoft.com/office/drawing/2014/main" id="{122673D6-EDA1-4D50-BB6A-4AE30DB8AD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6455" y="3730971"/>
                <a:ext cx="166256" cy="234599"/>
                <a:chOff x="1488" y="1152"/>
                <a:chExt cx="192" cy="336"/>
              </a:xfrm>
            </p:grpSpPr>
            <p:sp>
              <p:nvSpPr>
                <p:cNvPr id="2106" name="Line 154">
                  <a:extLst>
                    <a:ext uri="{FF2B5EF4-FFF2-40B4-BE49-F238E27FC236}">
                      <a16:creationId xmlns="" xmlns:a16="http://schemas.microsoft.com/office/drawing/2014/main" id="{D8D8880B-674C-433C-A86B-7BCF1DFC7D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84" y="1152"/>
                  <a:ext cx="96" cy="48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latinLnBrk="0"/>
                  <a:endParaRPr lang="ko-KR" altLang="en-US"/>
                </a:p>
              </p:txBody>
            </p:sp>
            <p:sp>
              <p:nvSpPr>
                <p:cNvPr id="2107" name="Line 155">
                  <a:extLst>
                    <a:ext uri="{FF2B5EF4-FFF2-40B4-BE49-F238E27FC236}">
                      <a16:creationId xmlns="" xmlns:a16="http://schemas.microsoft.com/office/drawing/2014/main" id="{3FD137A2-6741-4E52-B288-51AF1E2078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88" y="1200"/>
                  <a:ext cx="192" cy="48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latinLnBrk="0"/>
                  <a:endParaRPr lang="ko-KR" altLang="en-US"/>
                </a:p>
              </p:txBody>
            </p:sp>
            <p:sp>
              <p:nvSpPr>
                <p:cNvPr id="2108" name="Line 156">
                  <a:extLst>
                    <a:ext uri="{FF2B5EF4-FFF2-40B4-BE49-F238E27FC236}">
                      <a16:creationId xmlns="" xmlns:a16="http://schemas.microsoft.com/office/drawing/2014/main" id="{E50FE767-8825-4A8A-B8CF-961D346C21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1248"/>
                  <a:ext cx="192" cy="48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latinLnBrk="0"/>
                  <a:endParaRPr lang="ko-KR" altLang="en-US"/>
                </a:p>
              </p:txBody>
            </p:sp>
            <p:sp>
              <p:nvSpPr>
                <p:cNvPr id="2109" name="Line 157">
                  <a:extLst>
                    <a:ext uri="{FF2B5EF4-FFF2-40B4-BE49-F238E27FC236}">
                      <a16:creationId xmlns="" xmlns:a16="http://schemas.microsoft.com/office/drawing/2014/main" id="{99A3BC48-03EC-4913-AF35-4D0E224AB4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88" y="1296"/>
                  <a:ext cx="192" cy="48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latinLnBrk="0"/>
                  <a:endParaRPr lang="ko-KR" altLang="en-US"/>
                </a:p>
              </p:txBody>
            </p:sp>
            <p:sp>
              <p:nvSpPr>
                <p:cNvPr id="2110" name="Line 158">
                  <a:extLst>
                    <a:ext uri="{FF2B5EF4-FFF2-40B4-BE49-F238E27FC236}">
                      <a16:creationId xmlns="" xmlns:a16="http://schemas.microsoft.com/office/drawing/2014/main" id="{A86CE43F-B89C-4E4E-8EDE-038C150557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1344"/>
                  <a:ext cx="192" cy="48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latinLnBrk="0"/>
                  <a:endParaRPr lang="ko-KR" altLang="en-US"/>
                </a:p>
              </p:txBody>
            </p:sp>
            <p:sp>
              <p:nvSpPr>
                <p:cNvPr id="2111" name="Line 159">
                  <a:extLst>
                    <a:ext uri="{FF2B5EF4-FFF2-40B4-BE49-F238E27FC236}">
                      <a16:creationId xmlns="" xmlns:a16="http://schemas.microsoft.com/office/drawing/2014/main" id="{8D56A737-246E-4EB1-AA29-C62764FC81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88" y="1392"/>
                  <a:ext cx="192" cy="48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latinLnBrk="0"/>
                  <a:endParaRPr lang="ko-KR" altLang="en-US"/>
                </a:p>
              </p:txBody>
            </p:sp>
            <p:sp>
              <p:nvSpPr>
                <p:cNvPr id="2112" name="Line 160">
                  <a:extLst>
                    <a:ext uri="{FF2B5EF4-FFF2-40B4-BE49-F238E27FC236}">
                      <a16:creationId xmlns="" xmlns:a16="http://schemas.microsoft.com/office/drawing/2014/main" id="{A934D2BC-B0FF-467B-B043-B5DB47051F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1440"/>
                  <a:ext cx="96" cy="48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latinLnBrk="0"/>
                  <a:endParaRPr lang="ko-KR" altLang="en-US"/>
                </a:p>
              </p:txBody>
            </p:sp>
          </p:grpSp>
          <p:sp>
            <p:nvSpPr>
              <p:cNvPr id="2076" name="Line 161">
                <a:extLst>
                  <a:ext uri="{FF2B5EF4-FFF2-40B4-BE49-F238E27FC236}">
                    <a16:creationId xmlns="" xmlns:a16="http://schemas.microsoft.com/office/drawing/2014/main" id="{2D3BD9ED-D08A-42D9-A3B4-CA08628287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9583" y="3965569"/>
                <a:ext cx="0" cy="43987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latinLnBrk="0"/>
                <a:endParaRPr lang="ko-KR" altLang="en-US"/>
              </a:p>
            </p:txBody>
          </p:sp>
          <p:sp>
            <p:nvSpPr>
              <p:cNvPr id="2077" name="AutoShape 162">
                <a:extLst>
                  <a:ext uri="{FF2B5EF4-FFF2-40B4-BE49-F238E27FC236}">
                    <a16:creationId xmlns="" xmlns:a16="http://schemas.microsoft.com/office/drawing/2014/main" id="{A07CF1D2-A3E2-4410-A66B-92F68673AA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2389224" y="4393711"/>
                <a:ext cx="220718" cy="93839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158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FontTx/>
                  <a:buNone/>
                </a:pPr>
                <a:endParaRPr lang="ko-KR" altLang="en-US" sz="900">
                  <a:latin typeface="돋움" panose="020B0600000101010101" pitchFamily="50" charset="-127"/>
                  <a:ea typeface="돋움" panose="020B0600000101010101" pitchFamily="50" charset="-127"/>
                </a:endParaRPr>
              </a:p>
            </p:txBody>
          </p:sp>
          <p:sp>
            <p:nvSpPr>
              <p:cNvPr id="2078" name="Line 163">
                <a:extLst>
                  <a:ext uri="{FF2B5EF4-FFF2-40B4-BE49-F238E27FC236}">
                    <a16:creationId xmlns="" xmlns:a16="http://schemas.microsoft.com/office/drawing/2014/main" id="{57158252-EA5B-4669-B1F2-966BA13C3D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9224" y="4392357"/>
                <a:ext cx="22071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latinLnBrk="0"/>
                <a:endParaRPr lang="ko-KR" altLang="en-US"/>
              </a:p>
            </p:txBody>
          </p:sp>
          <p:sp>
            <p:nvSpPr>
              <p:cNvPr id="2079" name="Line 164">
                <a:extLst>
                  <a:ext uri="{FF2B5EF4-FFF2-40B4-BE49-F238E27FC236}">
                    <a16:creationId xmlns="" xmlns:a16="http://schemas.microsoft.com/office/drawing/2014/main" id="{0DD90FF3-6C40-4E68-A7F4-1E8BBC6456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66875" y="4810124"/>
                <a:ext cx="835884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latinLnBrk="0"/>
                <a:endParaRPr lang="ko-KR" altLang="en-US"/>
              </a:p>
            </p:txBody>
          </p:sp>
          <p:sp>
            <p:nvSpPr>
              <p:cNvPr id="2080" name="Line 165">
                <a:extLst>
                  <a:ext uri="{FF2B5EF4-FFF2-40B4-BE49-F238E27FC236}">
                    <a16:creationId xmlns="" xmlns:a16="http://schemas.microsoft.com/office/drawing/2014/main" id="{60758240-BED4-4C7C-8A65-840C530646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9583" y="4481686"/>
                <a:ext cx="0" cy="32843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latinLnBrk="0"/>
                <a:endParaRPr lang="ko-KR" altLang="en-US"/>
              </a:p>
            </p:txBody>
          </p:sp>
          <p:sp>
            <p:nvSpPr>
              <p:cNvPr id="2081" name="Text Box 166">
                <a:extLst>
                  <a:ext uri="{FF2B5EF4-FFF2-40B4-BE49-F238E27FC236}">
                    <a16:creationId xmlns="" xmlns:a16="http://schemas.microsoft.com/office/drawing/2014/main" id="{F8D97DEF-EA67-4967-85A8-505620A331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3772" y="3761739"/>
                <a:ext cx="273748" cy="2815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vi-VN" sz="900">
                    <a:latin typeface="Arial" panose="020B0600000101010101" pitchFamily="50" charset="-127"/>
                    <a:ea typeface="돋움" panose="020B0600000101010101" pitchFamily="50" charset="-127"/>
                  </a:rPr>
                  <a:t>R</a:t>
                </a:r>
              </a:p>
            </p:txBody>
          </p:sp>
          <p:sp>
            <p:nvSpPr>
              <p:cNvPr id="2082" name="Text Box 167">
                <a:extLst>
                  <a:ext uri="{FF2B5EF4-FFF2-40B4-BE49-F238E27FC236}">
                    <a16:creationId xmlns="" xmlns:a16="http://schemas.microsoft.com/office/drawing/2014/main" id="{F190B383-A240-4CD1-A96F-464D818D78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5437" y="4452404"/>
                <a:ext cx="521697" cy="2815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vi-VN" sz="900">
                    <a:latin typeface="Arial" panose="020B0600000101010101" pitchFamily="50" charset="-127"/>
                    <a:ea typeface="돋움" panose="020B0600000101010101" pitchFamily="50" charset="-127"/>
                  </a:rPr>
                  <a:t>D(Si)</a:t>
                </a:r>
              </a:p>
            </p:txBody>
          </p:sp>
          <p:sp>
            <p:nvSpPr>
              <p:cNvPr id="2083" name="Line 168">
                <a:extLst>
                  <a:ext uri="{FF2B5EF4-FFF2-40B4-BE49-F238E27FC236}">
                    <a16:creationId xmlns="" xmlns:a16="http://schemas.microsoft.com/office/drawing/2014/main" id="{241F58B7-1E3B-4288-BD18-81928DFC0A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2608" y="4201379"/>
                <a:ext cx="0" cy="607025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latinLnBrk="0"/>
                <a:endParaRPr lang="ko-KR" altLang="en-US"/>
              </a:p>
            </p:txBody>
          </p:sp>
          <p:sp>
            <p:nvSpPr>
              <p:cNvPr id="2084" name="Line 169">
                <a:extLst>
                  <a:ext uri="{FF2B5EF4-FFF2-40B4-BE49-F238E27FC236}">
                    <a16:creationId xmlns="" xmlns:a16="http://schemas.microsoft.com/office/drawing/2014/main" id="{B81E2042-B3DB-44FF-A4DC-6F6E101546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9415" y="4150316"/>
                <a:ext cx="214985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latinLnBrk="0"/>
                <a:endParaRPr lang="ko-KR" altLang="en-US"/>
              </a:p>
            </p:txBody>
          </p:sp>
          <p:sp>
            <p:nvSpPr>
              <p:cNvPr id="2085" name="Line 170">
                <a:extLst>
                  <a:ext uri="{FF2B5EF4-FFF2-40B4-BE49-F238E27FC236}">
                    <a16:creationId xmlns="" xmlns:a16="http://schemas.microsoft.com/office/drawing/2014/main" id="{571E0B91-A73A-46EA-A2AE-E4C99317B9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3813" y="4194303"/>
                <a:ext cx="137590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latinLnBrk="0"/>
                <a:endParaRPr lang="ko-KR" altLang="en-US"/>
              </a:p>
            </p:txBody>
          </p:sp>
          <p:sp>
            <p:nvSpPr>
              <p:cNvPr id="2086" name="Text Box 171">
                <a:extLst>
                  <a:ext uri="{FF2B5EF4-FFF2-40B4-BE49-F238E27FC236}">
                    <a16:creationId xmlns="" xmlns:a16="http://schemas.microsoft.com/office/drawing/2014/main" id="{B7F18D44-AF2A-40E0-8918-36DFCA25C6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7760" y="4035948"/>
                <a:ext cx="494465" cy="2536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ysDot"/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vi-VN" sz="900">
                    <a:latin typeface="Arial" panose="020B0600000101010101" pitchFamily="50" charset="-127"/>
                    <a:ea typeface="돋움" panose="020B0600000101010101" pitchFamily="50" charset="-127"/>
                  </a:rPr>
                  <a:t>5[V]</a:t>
                </a:r>
              </a:p>
            </p:txBody>
          </p:sp>
          <p:cxnSp>
            <p:nvCxnSpPr>
              <p:cNvPr id="2087" name="직선 화살표 연결선 44">
                <a:extLst>
                  <a:ext uri="{FF2B5EF4-FFF2-40B4-BE49-F238E27FC236}">
                    <a16:creationId xmlns="" xmlns:a16="http://schemas.microsoft.com/office/drawing/2014/main" id="{51FF9673-B1F0-406A-BC18-2D7F18F8579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V="1">
                <a:off x="2500014" y="3987551"/>
                <a:ext cx="291832" cy="180965"/>
              </a:xfrm>
              <a:prstGeom prst="straightConnector1">
                <a:avLst/>
              </a:prstGeom>
              <a:noFill/>
              <a:ln w="15875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88" name="직선 화살표 연결선 45">
                <a:extLst>
                  <a:ext uri="{FF2B5EF4-FFF2-40B4-BE49-F238E27FC236}">
                    <a16:creationId xmlns="" xmlns:a16="http://schemas.microsoft.com/office/drawing/2014/main" id="{B910B77B-1F5B-4961-AFB6-1A2F361DAB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V="1">
                <a:off x="2500015" y="4598027"/>
                <a:ext cx="291832" cy="180965"/>
              </a:xfrm>
              <a:prstGeom prst="straightConnector1">
                <a:avLst/>
              </a:prstGeom>
              <a:noFill/>
              <a:ln w="15875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089" name="TextBox 46">
                <a:extLst>
                  <a:ext uri="{FF2B5EF4-FFF2-40B4-BE49-F238E27FC236}">
                    <a16:creationId xmlns="" xmlns:a16="http://schemas.microsoft.com/office/drawing/2014/main" id="{B43617DB-8E38-4135-85DF-AE8B8EF818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689" y="3818987"/>
                <a:ext cx="300084" cy="2500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vi-VN" sz="900" b="1">
                    <a:latin typeface="Arial" panose="020B0600000101010101" pitchFamily="50" charset="-127"/>
                    <a:ea typeface="돋움" panose="020B0600000101010101" pitchFamily="50" charset="-127"/>
                  </a:rPr>
                  <a:t>Ⓐ</a:t>
                </a:r>
              </a:p>
            </p:txBody>
          </p:sp>
          <p:sp>
            <p:nvSpPr>
              <p:cNvPr id="2090" name="TextBox 47">
                <a:extLst>
                  <a:ext uri="{FF2B5EF4-FFF2-40B4-BE49-F238E27FC236}">
                    <a16:creationId xmlns="" xmlns:a16="http://schemas.microsoft.com/office/drawing/2014/main" id="{2E15B5C5-6254-4F17-9615-EAA6A29331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5541" y="4423071"/>
                <a:ext cx="300084" cy="2500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vi-VN" sz="900" b="1">
                    <a:latin typeface="Arial" panose="020B0600000101010101" pitchFamily="50" charset="-127"/>
                    <a:ea typeface="돋움" panose="020B0600000101010101" pitchFamily="50" charset="-127"/>
                  </a:rPr>
                  <a:t>Ⓑ</a:t>
                </a:r>
              </a:p>
            </p:txBody>
          </p:sp>
          <p:sp>
            <p:nvSpPr>
              <p:cNvPr id="2091" name="Line 152">
                <a:extLst>
                  <a:ext uri="{FF2B5EF4-FFF2-40B4-BE49-F238E27FC236}">
                    <a16:creationId xmlns="" xmlns:a16="http://schemas.microsoft.com/office/drawing/2014/main" id="{825FB7F3-A8DC-47C8-8BC6-051C85D120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2025" y="3546466"/>
                <a:ext cx="0" cy="18768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latinLnBrk="0"/>
                <a:endParaRPr lang="ko-KR" altLang="en-US"/>
              </a:p>
            </p:txBody>
          </p:sp>
          <p:grpSp>
            <p:nvGrpSpPr>
              <p:cNvPr id="2092" name="Group 153">
                <a:extLst>
                  <a:ext uri="{FF2B5EF4-FFF2-40B4-BE49-F238E27FC236}">
                    <a16:creationId xmlns="" xmlns:a16="http://schemas.microsoft.com/office/drawing/2014/main" id="{F166D09E-4B5D-4F5A-A8E5-4AA63F5559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98897" y="3734146"/>
                <a:ext cx="166256" cy="234599"/>
                <a:chOff x="1488" y="1152"/>
                <a:chExt cx="192" cy="336"/>
              </a:xfrm>
            </p:grpSpPr>
            <p:sp>
              <p:nvSpPr>
                <p:cNvPr id="2099" name="Line 154">
                  <a:extLst>
                    <a:ext uri="{FF2B5EF4-FFF2-40B4-BE49-F238E27FC236}">
                      <a16:creationId xmlns="" xmlns:a16="http://schemas.microsoft.com/office/drawing/2014/main" id="{80CAE46C-65D4-42A4-8C8D-F214AB75B0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84" y="1152"/>
                  <a:ext cx="96" cy="48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latinLnBrk="0"/>
                  <a:endParaRPr lang="ko-KR" altLang="en-US"/>
                </a:p>
              </p:txBody>
            </p:sp>
            <p:sp>
              <p:nvSpPr>
                <p:cNvPr id="2100" name="Line 155">
                  <a:extLst>
                    <a:ext uri="{FF2B5EF4-FFF2-40B4-BE49-F238E27FC236}">
                      <a16:creationId xmlns="" xmlns:a16="http://schemas.microsoft.com/office/drawing/2014/main" id="{A2739495-26D6-426C-A8C2-A3BB7A1A4B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88" y="1200"/>
                  <a:ext cx="192" cy="48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latinLnBrk="0"/>
                  <a:endParaRPr lang="ko-KR" altLang="en-US"/>
                </a:p>
              </p:txBody>
            </p:sp>
            <p:sp>
              <p:nvSpPr>
                <p:cNvPr id="2101" name="Line 156">
                  <a:extLst>
                    <a:ext uri="{FF2B5EF4-FFF2-40B4-BE49-F238E27FC236}">
                      <a16:creationId xmlns="" xmlns:a16="http://schemas.microsoft.com/office/drawing/2014/main" id="{755059D9-B905-4DBC-96B6-FE0E91AED9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1248"/>
                  <a:ext cx="192" cy="48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latinLnBrk="0"/>
                  <a:endParaRPr lang="ko-KR" altLang="en-US"/>
                </a:p>
              </p:txBody>
            </p:sp>
            <p:sp>
              <p:nvSpPr>
                <p:cNvPr id="2102" name="Line 157">
                  <a:extLst>
                    <a:ext uri="{FF2B5EF4-FFF2-40B4-BE49-F238E27FC236}">
                      <a16:creationId xmlns="" xmlns:a16="http://schemas.microsoft.com/office/drawing/2014/main" id="{A3DAF926-D6E5-4683-8A4E-4CD538B8A8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88" y="1296"/>
                  <a:ext cx="192" cy="48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latinLnBrk="0"/>
                  <a:endParaRPr lang="ko-KR" altLang="en-US"/>
                </a:p>
              </p:txBody>
            </p:sp>
            <p:sp>
              <p:nvSpPr>
                <p:cNvPr id="2103" name="Line 158">
                  <a:extLst>
                    <a:ext uri="{FF2B5EF4-FFF2-40B4-BE49-F238E27FC236}">
                      <a16:creationId xmlns="" xmlns:a16="http://schemas.microsoft.com/office/drawing/2014/main" id="{7EA7CF0B-00B5-4F44-94A5-A49B7F7EF7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1344"/>
                  <a:ext cx="192" cy="48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latinLnBrk="0"/>
                  <a:endParaRPr lang="ko-KR" altLang="en-US"/>
                </a:p>
              </p:txBody>
            </p:sp>
            <p:sp>
              <p:nvSpPr>
                <p:cNvPr id="2104" name="Line 159">
                  <a:extLst>
                    <a:ext uri="{FF2B5EF4-FFF2-40B4-BE49-F238E27FC236}">
                      <a16:creationId xmlns="" xmlns:a16="http://schemas.microsoft.com/office/drawing/2014/main" id="{0F8C1D08-5876-44F6-A7CE-D1E04DD4E3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88" y="1392"/>
                  <a:ext cx="192" cy="48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latinLnBrk="0"/>
                  <a:endParaRPr lang="ko-KR" altLang="en-US"/>
                </a:p>
              </p:txBody>
            </p:sp>
            <p:sp>
              <p:nvSpPr>
                <p:cNvPr id="2105" name="Line 160">
                  <a:extLst>
                    <a:ext uri="{FF2B5EF4-FFF2-40B4-BE49-F238E27FC236}">
                      <a16:creationId xmlns="" xmlns:a16="http://schemas.microsoft.com/office/drawing/2014/main" id="{D6010FC1-FDA0-4868-A636-3CDF65E36B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1440"/>
                  <a:ext cx="96" cy="48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pPr latinLnBrk="0"/>
                  <a:endParaRPr lang="ko-KR" altLang="en-US"/>
                </a:p>
              </p:txBody>
            </p:sp>
          </p:grpSp>
          <p:sp>
            <p:nvSpPr>
              <p:cNvPr id="2093" name="Line 161">
                <a:extLst>
                  <a:ext uri="{FF2B5EF4-FFF2-40B4-BE49-F238E27FC236}">
                    <a16:creationId xmlns="" xmlns:a16="http://schemas.microsoft.com/office/drawing/2014/main" id="{9FA6B8DF-CC34-44C4-BCDA-CFF0DE7AB5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2025" y="3968744"/>
                <a:ext cx="0" cy="43987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latinLnBrk="0"/>
                <a:endParaRPr lang="ko-KR" altLang="en-US"/>
              </a:p>
            </p:txBody>
          </p:sp>
          <p:sp>
            <p:nvSpPr>
              <p:cNvPr id="2094" name="AutoShape 162">
                <a:extLst>
                  <a:ext uri="{FF2B5EF4-FFF2-40B4-BE49-F238E27FC236}">
                    <a16:creationId xmlns="" xmlns:a16="http://schemas.microsoft.com/office/drawing/2014/main" id="{728320E8-7F65-43EC-8EEF-4C747640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1971666" y="4396886"/>
                <a:ext cx="220718" cy="93839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158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FontTx/>
                  <a:buNone/>
                </a:pPr>
                <a:endParaRPr lang="ko-KR" altLang="en-US" sz="900">
                  <a:latin typeface="돋움" panose="020B0600000101010101" pitchFamily="50" charset="-127"/>
                  <a:ea typeface="돋움" panose="020B0600000101010101" pitchFamily="50" charset="-127"/>
                </a:endParaRPr>
              </a:p>
            </p:txBody>
          </p:sp>
          <p:sp>
            <p:nvSpPr>
              <p:cNvPr id="2095" name="Line 163">
                <a:extLst>
                  <a:ext uri="{FF2B5EF4-FFF2-40B4-BE49-F238E27FC236}">
                    <a16:creationId xmlns="" xmlns:a16="http://schemas.microsoft.com/office/drawing/2014/main" id="{502AB90C-26C5-48EB-B99B-B94E810B47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1666" y="4392609"/>
                <a:ext cx="22071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latinLnBrk="0"/>
                <a:endParaRPr lang="ko-KR" altLang="en-US"/>
              </a:p>
            </p:txBody>
          </p:sp>
          <p:sp>
            <p:nvSpPr>
              <p:cNvPr id="2096" name="Line 165">
                <a:extLst>
                  <a:ext uri="{FF2B5EF4-FFF2-40B4-BE49-F238E27FC236}">
                    <a16:creationId xmlns="" xmlns:a16="http://schemas.microsoft.com/office/drawing/2014/main" id="{791FA2E0-B61F-4384-B12C-DF36D0A2FA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2025" y="4484861"/>
                <a:ext cx="0" cy="32843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latinLnBrk="0"/>
                <a:endParaRPr lang="ko-KR" altLang="en-US"/>
              </a:p>
            </p:txBody>
          </p:sp>
          <p:sp>
            <p:nvSpPr>
              <p:cNvPr id="2097" name="Text Box 166">
                <a:extLst>
                  <a:ext uri="{FF2B5EF4-FFF2-40B4-BE49-F238E27FC236}">
                    <a16:creationId xmlns="" xmlns:a16="http://schemas.microsoft.com/office/drawing/2014/main" id="{6436F529-B262-4706-A05D-36BEE4E1EC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6343" y="3763425"/>
                <a:ext cx="273748" cy="2815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vi-VN" sz="900">
                    <a:latin typeface="Arial" panose="020B0600000101010101" pitchFamily="50" charset="-127"/>
                    <a:ea typeface="돋움" panose="020B0600000101010101" pitchFamily="50" charset="-127"/>
                  </a:rPr>
                  <a:t>R</a:t>
                </a:r>
              </a:p>
            </p:txBody>
          </p:sp>
          <p:sp>
            <p:nvSpPr>
              <p:cNvPr id="2098" name="Text Box 167">
                <a:extLst>
                  <a:ext uri="{FF2B5EF4-FFF2-40B4-BE49-F238E27FC236}">
                    <a16:creationId xmlns="" xmlns:a16="http://schemas.microsoft.com/office/drawing/2014/main" id="{FFEFBD49-7F0D-4DF7-825C-026F4D7F77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4541" y="4452934"/>
                <a:ext cx="521697" cy="2815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vi-VN" sz="900" dirty="0">
                    <a:latin typeface="Arial" panose="020B0600000101010101" pitchFamily="50" charset="-127"/>
                    <a:ea typeface="돋움" panose="020B0600000101010101" pitchFamily="50" charset="-127"/>
                  </a:rPr>
                  <a:t>D(Si)</a:t>
                </a:r>
              </a:p>
            </p:txBody>
          </p:sp>
        </p:grpSp>
      </p:grpSp>
      <p:sp>
        <p:nvSpPr>
          <p:cNvPr id="2071" name="Rectangle 78">
            <a:extLst>
              <a:ext uri="{FF2B5EF4-FFF2-40B4-BE49-F238E27FC236}">
                <a16:creationId xmlns="" xmlns:a16="http://schemas.microsoft.com/office/drawing/2014/main" id="{944D36CA-4F00-4315-923C-FEEF89ABF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837" y="7914492"/>
            <a:ext cx="3121025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98000" indent="-198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15. Vật liệu trở kháng nào không được sử dụng trong biến trở?         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① Màng cacbon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② Màng kim loại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③ Dây cuốn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④ Màng gốm sứ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0759E772-342E-4278-B7E0-61C58870F827}"/>
              </a:ext>
            </a:extLst>
          </p:cNvPr>
          <p:cNvGrpSpPr/>
          <p:nvPr/>
        </p:nvGrpSpPr>
        <p:grpSpPr>
          <a:xfrm>
            <a:off x="1440359" y="7808757"/>
            <a:ext cx="1820863" cy="997927"/>
            <a:chOff x="1346200" y="8337550"/>
            <a:chExt cx="1820863" cy="1081088"/>
          </a:xfrm>
        </p:grpSpPr>
        <p:pic>
          <p:nvPicPr>
            <p:cNvPr id="2068" name="Picture 6">
              <a:extLst>
                <a:ext uri="{FF2B5EF4-FFF2-40B4-BE49-F238E27FC236}">
                  <a16:creationId xmlns="" xmlns:a16="http://schemas.microsoft.com/office/drawing/2014/main" id="{E2D8306F-3A57-463B-A96F-0D0B82B9211F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6200" y="8337550"/>
              <a:ext cx="1820863" cy="1081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="" xmlns:a16="http://schemas.microsoft.com/office/drawing/2014/main" id="{97C25632-AC2D-43B9-8A93-B6BD0EE038C5}"/>
                </a:ext>
              </a:extLst>
            </p:cNvPr>
            <p:cNvSpPr txBox="1"/>
            <p:nvPr/>
          </p:nvSpPr>
          <p:spPr>
            <a:xfrm>
              <a:off x="1700808" y="9214438"/>
              <a:ext cx="270868" cy="582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noAutofit/>
            </a:bodyPr>
            <a:lstStyle/>
            <a:p>
              <a:pPr latinLnBrk="0"/>
              <a:r>
                <a:rPr lang="vi-VN" sz="300" b="1"/>
                <a:t>Phóng điện nhiễu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="" xmlns:a16="http://schemas.microsoft.com/office/drawing/2014/main" id="{2F8137FE-54A1-4833-99B5-E068D5B71559}"/>
                </a:ext>
              </a:extLst>
            </p:cNvPr>
            <p:cNvSpPr txBox="1"/>
            <p:nvPr/>
          </p:nvSpPr>
          <p:spPr>
            <a:xfrm>
              <a:off x="2636245" y="9214938"/>
              <a:ext cx="270868" cy="582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noAutofit/>
            </a:bodyPr>
            <a:lstStyle/>
            <a:p>
              <a:pPr latinLnBrk="0"/>
              <a:r>
                <a:rPr lang="vi-VN" sz="300" b="1"/>
                <a:t>Phóng điện nhiễu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="" xmlns:a16="http://schemas.microsoft.com/office/drawing/2014/main" id="{AE10A4E5-8247-4033-A762-3514D58912BA}"/>
                </a:ext>
              </a:extLst>
            </p:cNvPr>
            <p:cNvSpPr txBox="1"/>
            <p:nvPr/>
          </p:nvSpPr>
          <p:spPr>
            <a:xfrm>
              <a:off x="2448219" y="9214438"/>
              <a:ext cx="174034" cy="582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noAutofit/>
            </a:bodyPr>
            <a:lstStyle/>
            <a:p>
              <a:pPr latinLnBrk="0"/>
              <a:r>
                <a:rPr lang="vi-VN" sz="300" b="1"/>
                <a:t>Chattering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="" xmlns:a16="http://schemas.microsoft.com/office/drawing/2014/main" id="{D96CEDA0-DFE4-4884-9DD8-5C9ED6185030}"/>
                </a:ext>
              </a:extLst>
            </p:cNvPr>
            <p:cNvSpPr txBox="1"/>
            <p:nvPr/>
          </p:nvSpPr>
          <p:spPr>
            <a:xfrm>
              <a:off x="1986732" y="9208044"/>
              <a:ext cx="174034" cy="582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noAutofit/>
            </a:bodyPr>
            <a:lstStyle/>
            <a:p>
              <a:pPr latinLnBrk="0"/>
              <a:r>
                <a:rPr lang="vi-VN" sz="300" b="1" dirty="0"/>
                <a:t>Chattering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2743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2">
            <a:extLst>
              <a:ext uri="{FF2B5EF4-FFF2-40B4-BE49-F238E27FC236}">
                <a16:creationId xmlns="" xmlns:a16="http://schemas.microsoft.com/office/drawing/2014/main" id="{7A28004F-A88F-4B27-A482-279A71CF13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400" y="562708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atinLnBrk="0"/>
            <a:endParaRPr lang="ko-KR" altLang="en-US"/>
          </a:p>
        </p:txBody>
      </p:sp>
      <p:sp>
        <p:nvSpPr>
          <p:cNvPr id="3075" name="Rectangle 3">
            <a:extLst>
              <a:ext uri="{FF2B5EF4-FFF2-40B4-BE49-F238E27FC236}">
                <a16:creationId xmlns="" xmlns:a16="http://schemas.microsoft.com/office/drawing/2014/main" id="{29357DB8-648F-4B8F-A583-885445EE1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716575"/>
            <a:ext cx="3124200" cy="82164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90000"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Arial" panose="020B0604020202020204" pitchFamily="34" charset="0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Arial" panose="020B0604020202020204" pitchFamily="34" charset="0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Arial" panose="020B0604020202020204" pitchFamily="34" charset="0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Arial" panose="020B0604020202020204" pitchFamily="34" charset="0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Arial" panose="020B0604020202020204" pitchFamily="34" charset="0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Arial" panose="020B0604020202020204" pitchFamily="34" charset="0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Arial" panose="020B0604020202020204" pitchFamily="34" charset="0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Arial" panose="020B0604020202020204" pitchFamily="34" charset="0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Arial" panose="020B0604020202020204" pitchFamily="34" charset="0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Arial" panose="020B0604020202020204" pitchFamily="34" charset="0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Arial" panose="020B0604020202020204" pitchFamily="34" charset="0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Arial" panose="020B0604020202020204" pitchFamily="34" charset="0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b="1">
              <a:latin typeface="Arial" panose="020B0604020202020204" pitchFamily="34" charset="0"/>
              <a:ea typeface="돋움" panose="020B0600000101010101" pitchFamily="50" charset="-127"/>
            </a:endParaRPr>
          </a:p>
        </p:txBody>
      </p:sp>
      <p:sp>
        <p:nvSpPr>
          <p:cNvPr id="3076" name="Rectangle 4">
            <a:extLst>
              <a:ext uri="{FF2B5EF4-FFF2-40B4-BE49-F238E27FC236}">
                <a16:creationId xmlns="" xmlns:a16="http://schemas.microsoft.com/office/drawing/2014/main" id="{1BA629D9-3AE0-47EE-BC59-5000FAD45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716575"/>
            <a:ext cx="3124200" cy="82164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90000"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endParaRPr lang="ko-KR" altLang="ko-KR" sz="900">
              <a:latin typeface="Arial" panose="020B0604020202020204" pitchFamily="34" charset="0"/>
              <a:ea typeface="돋움" panose="020B0600000101010101" pitchFamily="50" charset="-127"/>
            </a:endParaRPr>
          </a:p>
        </p:txBody>
      </p:sp>
      <p:sp>
        <p:nvSpPr>
          <p:cNvPr id="3077" name="Rectangle 72">
            <a:extLst>
              <a:ext uri="{FF2B5EF4-FFF2-40B4-BE49-F238E27FC236}">
                <a16:creationId xmlns="" xmlns:a16="http://schemas.microsoft.com/office/drawing/2014/main" id="{6F367684-C694-400C-B531-125F880C3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295043"/>
            <a:ext cx="31242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19. C trong hình sau tương ứng với hiện tượng gì?       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① Phục hồi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② Phóng bức xạ điện từ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③ Điện ly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④ Kích thích</a:t>
            </a:r>
          </a:p>
        </p:txBody>
      </p:sp>
      <p:sp>
        <p:nvSpPr>
          <p:cNvPr id="3079" name="Rectangle 80">
            <a:extLst>
              <a:ext uri="{FF2B5EF4-FFF2-40B4-BE49-F238E27FC236}">
                <a16:creationId xmlns="" xmlns:a16="http://schemas.microsoft.com/office/drawing/2014/main" id="{1125D510-6AEC-4FB0-9C3D-04F1A2CA9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783983"/>
            <a:ext cx="3124200" cy="106182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98000" indent="-198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16. Tụ điện nào được sử dụng như bình ngưng dòng của nguồn điện?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    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① Tụ Tantalum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② Tụ điện Styrene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③ Tụ gốm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④ Tụ điện điện phân</a:t>
            </a:r>
          </a:p>
        </p:txBody>
      </p:sp>
      <p:sp>
        <p:nvSpPr>
          <p:cNvPr id="3080" name="Rectangle 81">
            <a:extLst>
              <a:ext uri="{FF2B5EF4-FFF2-40B4-BE49-F238E27FC236}">
                <a16:creationId xmlns="" xmlns:a16="http://schemas.microsoft.com/office/drawing/2014/main" id="{D2BBC6A6-8F9C-4EA0-BB7B-E7CE6AA80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6" y="1846384"/>
            <a:ext cx="312102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17. Mạch nào không thể tạo nên bởi tụ điện?       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① Mạch lọc điện (Smoothing circuit)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② Mạch trễ thời gian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③ Mạch Filter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④ Mạch điện áp không đổi</a:t>
            </a:r>
          </a:p>
        </p:txBody>
      </p:sp>
      <p:sp>
        <p:nvSpPr>
          <p:cNvPr id="3081" name="Rectangle 82">
            <a:extLst>
              <a:ext uri="{FF2B5EF4-FFF2-40B4-BE49-F238E27FC236}">
                <a16:creationId xmlns="" xmlns:a16="http://schemas.microsoft.com/office/drawing/2014/main" id="{D1151C1B-DBE6-48FE-AF29-238F62FFE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2976203"/>
            <a:ext cx="3122612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98000" indent="-198000"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18. Hiện tượng lực điện động xảy ra khi thay đổi từ thông đi qua cuộn dây là gì?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① Hiện tượng tự cảm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② Cảm ứng điện từ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③ Suất điện động cảm ứng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④ Định luật Lenz</a:t>
            </a:r>
          </a:p>
        </p:txBody>
      </p:sp>
      <p:sp>
        <p:nvSpPr>
          <p:cNvPr id="3082" name="Rectangle 84">
            <a:extLst>
              <a:ext uri="{FF2B5EF4-FFF2-40B4-BE49-F238E27FC236}">
                <a16:creationId xmlns="" xmlns:a16="http://schemas.microsoft.com/office/drawing/2014/main" id="{580CBC22-F47E-43B9-A32B-4C9631886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6100463"/>
            <a:ext cx="31686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98000" indent="-198000" eaLnBrk="1" hangingPunct="1">
              <a:spcBef>
                <a:spcPct val="0"/>
              </a:spcBef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20. Giá trị Vrms của dạng sóng </a:t>
            </a: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có </a:t>
            </a:r>
            <a:r>
              <a:rPr lang="vi-VN" altLang="ko-KR" sz="900">
                <a:latin typeface="Arial" panose="020B0600000101010101" pitchFamily="50" charset="-127"/>
                <a:ea typeface="돋움" panose="020B0600000101010101" pitchFamily="50" charset="-127"/>
              </a:rPr>
              <a:t>giá trị đỉnh đến </a:t>
            </a:r>
            <a:r>
              <a:rPr lang="vi-VN" altLang="ko-KR" sz="900" smtClean="0">
                <a:latin typeface="Arial" panose="020B0600000101010101" pitchFamily="50" charset="-127"/>
                <a:ea typeface="돋움" panose="020B0600000101010101" pitchFamily="50" charset="-127"/>
              </a:rPr>
              <a:t>đỉnh</a:t>
            </a:r>
            <a:r>
              <a:rPr lang="vi-VN" sz="900" smtClean="0">
                <a:latin typeface="Arial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là 10 V, 500 Hz </a:t>
            </a: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là </a:t>
            </a:r>
            <a:r>
              <a:rPr lang="en-US" sz="900">
                <a:latin typeface="Arial" panose="020B0600000101010101" pitchFamily="50" charset="-127"/>
                <a:ea typeface="돋움" panose="020B0600000101010101" pitchFamily="50" charset="-127"/>
              </a:rPr>
              <a:t>bao nhiêu</a:t>
            </a: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?       </a:t>
            </a:r>
            <a:endParaRPr lang="vi-VN" sz="900" dirty="0">
              <a:latin typeface="Arial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en-US" altLang="ko-KR" sz="9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① 3,5 V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② 5,3V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 dirty="0">
                <a:latin typeface="Arial" panose="020B0600000101010101" pitchFamily="50" charset="-127"/>
                <a:ea typeface="돋움" panose="020B0600000101010101" pitchFamily="50" charset="-127"/>
              </a:rPr>
              <a:t>③ 7,07V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vi-VN" sz="900">
                <a:latin typeface="Arial" panose="020B0600000101010101" pitchFamily="50" charset="-127"/>
                <a:ea typeface="돋움" panose="020B0600000101010101" pitchFamily="50" charset="-127"/>
              </a:rPr>
              <a:t>④ </a:t>
            </a:r>
            <a:r>
              <a:rPr lang="vi-VN" sz="900" smtClean="0">
                <a:latin typeface="Arial" panose="020B0600000101010101" pitchFamily="50" charset="-127"/>
                <a:ea typeface="돋움" panose="020B0600000101010101" pitchFamily="50" charset="-127"/>
              </a:rPr>
              <a:t>0,7V</a:t>
            </a:r>
            <a:endParaRPr lang="en-US" sz="900" smtClean="0">
              <a:latin typeface="Arial" panose="020B0600000101010101" pitchFamily="50" charset="-127"/>
              <a:ea typeface="돋움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FontTx/>
              <a:buNone/>
            </a:pPr>
            <a:endParaRPr lang="vi-VN" sz="900" dirty="0">
              <a:latin typeface="Arial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6" name="Text Box 6">
            <a:extLst>
              <a:ext uri="{FF2B5EF4-FFF2-40B4-BE49-F238E27FC236}">
                <a16:creationId xmlns="" xmlns:a16="http://schemas.microsoft.com/office/drawing/2014/main" id="{CFE15A46-EB8D-438A-8C62-006A6235A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211017"/>
            <a:ext cx="32314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>
              <a:defRPr/>
            </a:pPr>
            <a:r>
              <a:rPr lang="vi-VN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[ Đánh </a:t>
            </a:r>
            <a:r>
              <a:rPr lang="vi-VN" sz="1600" b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giá </a:t>
            </a:r>
            <a:r>
              <a:rPr lang="vi-VN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WS</a:t>
            </a:r>
            <a:r>
              <a:rPr lang="en-US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1</a:t>
            </a:r>
            <a:r>
              <a:rPr lang="vi-VN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</a:t>
            </a:r>
            <a:r>
              <a:rPr lang="vi-VN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– Điện tử điện cơ ]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="" xmlns:a16="http://schemas.microsoft.com/office/drawing/2014/main" id="{A0FC101B-9713-4B87-8DA6-97E4229BE8DB}"/>
              </a:ext>
            </a:extLst>
          </p:cNvPr>
          <p:cNvGrpSpPr/>
          <p:nvPr/>
        </p:nvGrpSpPr>
        <p:grpSpPr>
          <a:xfrm>
            <a:off x="1772953" y="4548554"/>
            <a:ext cx="1470423" cy="1195754"/>
            <a:chOff x="1429940" y="5002213"/>
            <a:chExt cx="1470423" cy="1295400"/>
          </a:xfrm>
        </p:grpSpPr>
        <p:grpSp>
          <p:nvGrpSpPr>
            <p:cNvPr id="3078" name="Group 73">
              <a:extLst>
                <a:ext uri="{FF2B5EF4-FFF2-40B4-BE49-F238E27FC236}">
                  <a16:creationId xmlns="" xmlns:a16="http://schemas.microsoft.com/office/drawing/2014/main" id="{C61BFC05-E3F0-43AD-A511-4DD62AE219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0500" y="5002213"/>
              <a:ext cx="1439863" cy="1295400"/>
              <a:chOff x="1071" y="580"/>
              <a:chExt cx="907" cy="816"/>
            </a:xfrm>
          </p:grpSpPr>
          <p:pic>
            <p:nvPicPr>
              <p:cNvPr id="3084" name="Picture 74">
                <a:extLst>
                  <a:ext uri="{FF2B5EF4-FFF2-40B4-BE49-F238E27FC236}">
                    <a16:creationId xmlns="" xmlns:a16="http://schemas.microsoft.com/office/drawing/2014/main" id="{7CBB11DD-3C94-4D01-B015-21B2837CC5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1" y="580"/>
                <a:ext cx="907" cy="8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85" name="Text Box 75">
                <a:extLst>
                  <a:ext uri="{FF2B5EF4-FFF2-40B4-BE49-F238E27FC236}">
                    <a16:creationId xmlns="" xmlns:a16="http://schemas.microsoft.com/office/drawing/2014/main" id="{809658D7-E9BC-4889-B0FF-61A85307AB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3" y="600"/>
                <a:ext cx="169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vi-VN" sz="900" b="1">
                    <a:latin typeface="Arial" panose="020B0600000101010101" pitchFamily="50" charset="-127"/>
                    <a:ea typeface="돋움" panose="020B0600000101010101" pitchFamily="50" charset="-127"/>
                  </a:rPr>
                  <a:t>A</a:t>
                </a:r>
              </a:p>
            </p:txBody>
          </p:sp>
          <p:sp>
            <p:nvSpPr>
              <p:cNvPr id="3086" name="Text Box 76">
                <a:extLst>
                  <a:ext uri="{FF2B5EF4-FFF2-40B4-BE49-F238E27FC236}">
                    <a16:creationId xmlns="" xmlns:a16="http://schemas.microsoft.com/office/drawing/2014/main" id="{58E9E1BC-0D2A-43A9-A638-7377073136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3" y="716"/>
                <a:ext cx="169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vi-VN" sz="900" b="1">
                    <a:latin typeface="Arial" panose="020B0600000101010101" pitchFamily="50" charset="-127"/>
                    <a:ea typeface="돋움" panose="020B0600000101010101" pitchFamily="50" charset="-127"/>
                  </a:rPr>
                  <a:t>B</a:t>
                </a:r>
              </a:p>
            </p:txBody>
          </p:sp>
          <p:sp>
            <p:nvSpPr>
              <p:cNvPr id="3087" name="Text Box 77">
                <a:extLst>
                  <a:ext uri="{FF2B5EF4-FFF2-40B4-BE49-F238E27FC236}">
                    <a16:creationId xmlns="" xmlns:a16="http://schemas.microsoft.com/office/drawing/2014/main" id="{4905B990-E288-4D35-AA05-CF4E3DC74E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7" y="1021"/>
                <a:ext cx="169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vi-VN" sz="900" b="1">
                    <a:latin typeface="Arial" panose="020B0600000101010101" pitchFamily="50" charset="-127"/>
                    <a:ea typeface="돋움" panose="020B0600000101010101" pitchFamily="50" charset="-127"/>
                  </a:rPr>
                  <a:t>C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8BDB2ECF-FE0A-4FDD-9FC7-53F47747B127}"/>
                </a:ext>
              </a:extLst>
            </p:cNvPr>
            <p:cNvSpPr txBox="1"/>
            <p:nvPr/>
          </p:nvSpPr>
          <p:spPr>
            <a:xfrm>
              <a:off x="2399804" y="5105625"/>
              <a:ext cx="270868" cy="633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noAutofit/>
            </a:bodyPr>
            <a:lstStyle/>
            <a:p>
              <a:pPr latinLnBrk="0"/>
              <a:r>
                <a:rPr lang="vi-VN" sz="300" b="1"/>
                <a:t>Phản xạ ánh sáng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39FD7139-828A-427C-8601-D8856143B37E}"/>
                </a:ext>
              </a:extLst>
            </p:cNvPr>
            <p:cNvSpPr txBox="1"/>
            <p:nvPr/>
          </p:nvSpPr>
          <p:spPr>
            <a:xfrm>
              <a:off x="1556792" y="5303889"/>
              <a:ext cx="288032" cy="856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noAutofit/>
            </a:bodyPr>
            <a:lstStyle/>
            <a:p>
              <a:pPr latinLnBrk="0"/>
              <a:r>
                <a:rPr lang="vi-VN" sz="300" b="1"/>
                <a:t>Va chạm điện tử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1ABBE2BE-70E2-4BCD-8B41-00D10EA49808}"/>
                </a:ext>
              </a:extLst>
            </p:cNvPr>
            <p:cNvSpPr txBox="1"/>
            <p:nvPr/>
          </p:nvSpPr>
          <p:spPr>
            <a:xfrm>
              <a:off x="1429940" y="5996933"/>
              <a:ext cx="270868" cy="10819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noAutofit/>
            </a:bodyPr>
            <a:lstStyle/>
            <a:p>
              <a:pPr latinLnBrk="0"/>
              <a:r>
                <a:rPr lang="vi-VN" sz="300" b="1"/>
                <a:t>Electron tự do</a:t>
              </a:r>
            </a:p>
          </p:txBody>
        </p:sp>
      </p:grpSp>
      <p:pic>
        <p:nvPicPr>
          <p:cNvPr id="2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324"/>
          <a:stretch/>
        </p:blipFill>
        <p:spPr bwMode="auto">
          <a:xfrm>
            <a:off x="3553106" y="757604"/>
            <a:ext cx="3116391" cy="8175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689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4" name="Line 2"/>
          <p:cNvCxnSpPr>
            <a:cxnSpLocks noChangeShapeType="1"/>
          </p:cNvCxnSpPr>
          <p:nvPr/>
        </p:nvCxnSpPr>
        <p:spPr bwMode="auto">
          <a:xfrm>
            <a:off x="279400" y="562708"/>
            <a:ext cx="6324600" cy="0"/>
          </a:xfrm>
          <a:prstGeom prst="line">
            <a:avLst/>
          </a:prstGeom>
          <a:noFill/>
          <a:ln w="57150" cmpd="thinThick" algn="ctr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123" name="Text Box 6"/>
          <p:cNvSpPr>
            <a:spLocks noChangeArrowheads="1"/>
          </p:cNvSpPr>
          <p:nvPr/>
        </p:nvSpPr>
        <p:spPr bwMode="auto">
          <a:xfrm>
            <a:off x="195263" y="211085"/>
            <a:ext cx="3449637" cy="3091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/>
          <a:lstStyle>
            <a:lvl1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SzPct val="100000"/>
              <a:defRPr/>
            </a:pPr>
            <a:r>
              <a:rPr lang="vi-VN" altLang="ko-K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[Đánh </a:t>
            </a:r>
            <a:r>
              <a:rPr lang="vi-VN" altLang="ko-KR" sz="1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giá 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WS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2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</a:t>
            </a:r>
            <a:r>
              <a:rPr lang="vi-VN" altLang="ko-KR" sz="1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– 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Điện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- Đ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iện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tử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]</a:t>
            </a:r>
            <a:endParaRPr lang="vi-VN" altLang="ko-KR" sz="16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/>
            </a:endParaRPr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304800" y="716575"/>
            <a:ext cx="3124200" cy="8216411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0"/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</p:txBody>
      </p:sp>
      <p:sp>
        <p:nvSpPr>
          <p:cNvPr id="3077" name="Rectangle 4"/>
          <p:cNvSpPr>
            <a:spLocks noChangeArrowheads="1"/>
          </p:cNvSpPr>
          <p:nvPr/>
        </p:nvSpPr>
        <p:spPr bwMode="auto">
          <a:xfrm>
            <a:off x="3429000" y="716575"/>
            <a:ext cx="3124200" cy="8216411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90000"/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</p:txBody>
      </p:sp>
      <p:sp>
        <p:nvSpPr>
          <p:cNvPr id="3078" name="Rectangle 139"/>
          <p:cNvSpPr>
            <a:spLocks noChangeArrowheads="1"/>
          </p:cNvSpPr>
          <p:nvPr/>
        </p:nvSpPr>
        <p:spPr bwMode="auto">
          <a:xfrm>
            <a:off x="304800" y="716577"/>
            <a:ext cx="3124200" cy="973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1. Nếu số hiệu nguyên tử của Germanium (Ge) là 32 thì số electron trong mỗi quỹ đạo</a:t>
            </a:r>
            <a:r>
              <a:rPr kumimoji="1" lang="en-US" altLang="ko-KR" sz="900">
                <a:ea typeface="돋움" pitchFamily="50" charset="-127"/>
              </a:rPr>
              <a:t> </a:t>
            </a:r>
            <a:r>
              <a:rPr kumimoji="1" lang="vi-VN" altLang="ko-KR" sz="900">
                <a:ea typeface="돋움" pitchFamily="50" charset="-127"/>
              </a:rPr>
              <a:t>là bao nhiêu?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K = 3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L = 9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M = 16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N = 4</a:t>
            </a:r>
          </a:p>
        </p:txBody>
      </p:sp>
      <p:sp>
        <p:nvSpPr>
          <p:cNvPr id="3079" name="Rectangle 140"/>
          <p:cNvSpPr>
            <a:spLocks noChangeArrowheads="1"/>
          </p:cNvSpPr>
          <p:nvPr/>
        </p:nvSpPr>
        <p:spPr bwMode="auto">
          <a:xfrm>
            <a:off x="304800" y="4508989"/>
            <a:ext cx="3124200" cy="967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4. Giải thích dưới đây mô tả hiện tượng gì?</a:t>
            </a:r>
            <a:r>
              <a:rPr kumimoji="1" lang="en-US" altLang="ko-KR" sz="900">
                <a:ea typeface="돋움" pitchFamily="50" charset="-127"/>
              </a:rPr>
              <a:t/>
            </a:r>
            <a:br>
              <a:rPr kumimoji="1" lang="en-US" altLang="ko-KR" sz="900">
                <a:ea typeface="돋움" pitchFamily="50" charset="-127"/>
              </a:rPr>
            </a:br>
            <a:r>
              <a:rPr kumimoji="1" lang="vi-VN" altLang="ko-KR" sz="900">
                <a:ea typeface="돋움" pitchFamily="50" charset="-127"/>
              </a:rPr>
              <a:t>[Các electron của quỹ đạo nhận năng lượng mạnh hơn nên các electron quỹ đạo trong nguyên tử trở thành electron tự do]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  ① Sự kích thích</a:t>
            </a:r>
            <a:r>
              <a:rPr kumimoji="1" lang="en-US" altLang="ko-KR" sz="900">
                <a:ea typeface="돋움" pitchFamily="50" charset="-127"/>
              </a:rPr>
              <a:t>		</a:t>
            </a:r>
            <a:r>
              <a:rPr kumimoji="1" lang="vi-VN" altLang="ko-KR" sz="900">
                <a:ea typeface="돋움" pitchFamily="50" charset="-127"/>
              </a:rPr>
              <a:t>② Điện ly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  ③ Phóng bức xạ điện từ</a:t>
            </a:r>
            <a:r>
              <a:rPr kumimoji="1" lang="en-US" altLang="ko-KR" sz="900">
                <a:ea typeface="돋움" pitchFamily="50" charset="-127"/>
              </a:rPr>
              <a:t>	</a:t>
            </a:r>
            <a:r>
              <a:rPr kumimoji="1" lang="vi-VN" altLang="ko-KR" sz="900">
                <a:ea typeface="돋움" pitchFamily="50" charset="-127"/>
              </a:rPr>
              <a:t>④ Quang tử</a:t>
            </a:r>
          </a:p>
        </p:txBody>
      </p:sp>
      <p:sp>
        <p:nvSpPr>
          <p:cNvPr id="3080" name="Rectangle 143"/>
          <p:cNvSpPr>
            <a:spLocks noChangeArrowheads="1"/>
          </p:cNvSpPr>
          <p:nvPr/>
        </p:nvSpPr>
        <p:spPr bwMode="auto">
          <a:xfrm>
            <a:off x="3427413" y="2759320"/>
            <a:ext cx="3263900" cy="73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10. Hiện tượng nào làm xuất hiện suất điện động</a:t>
            </a:r>
            <a:r>
              <a:rPr kumimoji="1" lang="en-US" altLang="ko-KR" sz="900">
                <a:ea typeface="돋움" pitchFamily="50" charset="-127"/>
              </a:rPr>
              <a:t> </a:t>
            </a:r>
            <a:r>
              <a:rPr kumimoji="1" lang="vi-VN" altLang="ko-KR" sz="900">
                <a:ea typeface="돋움" pitchFamily="50" charset="-127"/>
              </a:rPr>
              <a:t>khi thay đổi từ thông đi qua cuộn dây?       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Cảm ứng điện từ</a:t>
            </a:r>
            <a:r>
              <a:rPr kumimoji="1" lang="en-US" altLang="ko-KR" sz="900">
                <a:ea typeface="돋움" pitchFamily="50" charset="-127"/>
              </a:rPr>
              <a:t>   </a:t>
            </a:r>
            <a:r>
              <a:rPr kumimoji="1" lang="vi-VN" altLang="ko-KR" sz="900">
                <a:ea typeface="돋움" pitchFamily="50" charset="-127"/>
              </a:rPr>
              <a:t>② Suất điện động cảm ứng  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Định luật Lenz</a:t>
            </a:r>
            <a:r>
              <a:rPr kumimoji="1" lang="en-US" altLang="ko-KR" sz="900">
                <a:ea typeface="돋움" pitchFamily="50" charset="-127"/>
              </a:rPr>
              <a:t>	      </a:t>
            </a:r>
            <a:r>
              <a:rPr kumimoji="1" lang="vi-VN" altLang="ko-KR" sz="900">
                <a:ea typeface="돋움" pitchFamily="50" charset="-127"/>
              </a:rPr>
              <a:t>④ Chiều của suất điện động cảm ứng</a:t>
            </a:r>
          </a:p>
        </p:txBody>
      </p:sp>
      <p:sp>
        <p:nvSpPr>
          <p:cNvPr id="3081" name="Rectangle 145"/>
          <p:cNvSpPr>
            <a:spLocks noChangeArrowheads="1"/>
          </p:cNvSpPr>
          <p:nvPr/>
        </p:nvSpPr>
        <p:spPr bwMode="auto">
          <a:xfrm>
            <a:off x="3427552" y="704920"/>
            <a:ext cx="3170237" cy="763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8. Khi Mylar Capacitor có kích cỡ là 203K thì dung lượng là bao nhiêu?       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200.000㎊</a:t>
            </a:r>
            <a:r>
              <a:rPr kumimoji="1" lang="en-US" altLang="ko-KR" sz="900">
                <a:ea typeface="돋움" pitchFamily="50" charset="-127"/>
              </a:rPr>
              <a:t>		</a:t>
            </a:r>
            <a:r>
              <a:rPr kumimoji="1" lang="vi-VN" altLang="ko-KR" sz="900">
                <a:ea typeface="돋움" pitchFamily="50" charset="-127"/>
              </a:rPr>
              <a:t>② 2.000.000㎊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0,02㎌</a:t>
            </a:r>
            <a:r>
              <a:rPr kumimoji="1" lang="en-US" altLang="ko-KR" sz="900">
                <a:ea typeface="돋움" pitchFamily="50" charset="-127"/>
              </a:rPr>
              <a:t>		</a:t>
            </a:r>
            <a:r>
              <a:rPr kumimoji="1" lang="vi-VN" altLang="ko-KR" sz="900">
                <a:ea typeface="돋움" pitchFamily="50" charset="-127"/>
              </a:rPr>
              <a:t>④ 2㎊</a:t>
            </a:r>
          </a:p>
        </p:txBody>
      </p:sp>
      <p:sp>
        <p:nvSpPr>
          <p:cNvPr id="3082" name="Rectangle 146"/>
          <p:cNvSpPr>
            <a:spLocks noChangeArrowheads="1"/>
          </p:cNvSpPr>
          <p:nvPr/>
        </p:nvSpPr>
        <p:spPr bwMode="auto">
          <a:xfrm>
            <a:off x="3429000" y="3853961"/>
            <a:ext cx="3168650" cy="967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11. Loại cuộn dây nào được sử dụng trong bộ lọc tần số cao?      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Variable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FCZ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RFC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IFT</a:t>
            </a:r>
          </a:p>
        </p:txBody>
      </p:sp>
      <p:sp>
        <p:nvSpPr>
          <p:cNvPr id="3083" name="Rectangle 147"/>
          <p:cNvSpPr>
            <a:spLocks noChangeArrowheads="1"/>
          </p:cNvSpPr>
          <p:nvPr/>
        </p:nvSpPr>
        <p:spPr bwMode="auto">
          <a:xfrm>
            <a:off x="304800" y="1833200"/>
            <a:ext cx="3124200" cy="949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2. Đâu là giải thích đúng về [Điện tích]?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Tính chất điện thay đổi từ 0 thành +, –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Vật nhiễm điện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Electron ra khỏi vùng cấm, năng lượng tăng lên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Điện sinh ra do các eletron tự do chuyển động giữa các nguyên tử</a:t>
            </a:r>
          </a:p>
        </p:txBody>
      </p:sp>
      <p:sp>
        <p:nvSpPr>
          <p:cNvPr id="3084" name="Rectangle 172"/>
          <p:cNvSpPr>
            <a:spLocks noChangeArrowheads="1"/>
          </p:cNvSpPr>
          <p:nvPr/>
        </p:nvSpPr>
        <p:spPr bwMode="auto">
          <a:xfrm>
            <a:off x="306388" y="6616219"/>
            <a:ext cx="3122612" cy="977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6. Đâu không phải là chế độ thu nhận sóng của máy hiện sóng?      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Trigger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Peak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Average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Sample</a:t>
            </a:r>
          </a:p>
        </p:txBody>
      </p:sp>
      <p:sp>
        <p:nvSpPr>
          <p:cNvPr id="3085" name="Rectangle 173"/>
          <p:cNvSpPr>
            <a:spLocks noChangeArrowheads="1"/>
          </p:cNvSpPr>
          <p:nvPr/>
        </p:nvSpPr>
        <p:spPr bwMode="auto">
          <a:xfrm>
            <a:off x="304800" y="5619755"/>
            <a:ext cx="3124200" cy="852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5. Chu kỳ (T) của dạng sóng 3V/500Hz là bao nhiêu?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0,5 ms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2 ms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500 ms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1,5 s</a:t>
            </a:r>
          </a:p>
        </p:txBody>
      </p:sp>
      <p:sp>
        <p:nvSpPr>
          <p:cNvPr id="3086" name="Rectangle 175"/>
          <p:cNvSpPr>
            <a:spLocks noChangeArrowheads="1"/>
          </p:cNvSpPr>
          <p:nvPr/>
        </p:nvSpPr>
        <p:spPr bwMode="auto">
          <a:xfrm>
            <a:off x="3427552" y="4976448"/>
            <a:ext cx="3132137" cy="97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12. Thiết bị nào dùng để đo điện trở cách điện khi dòng điện bị rò rỉ?    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Máy đo điện trở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Đồng hồ kẹp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Đồng hồ đo điện (DVM)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Đồng hồ đo LCR</a:t>
            </a:r>
          </a:p>
        </p:txBody>
      </p:sp>
      <p:sp>
        <p:nvSpPr>
          <p:cNvPr id="3087" name="Rectangle 176"/>
          <p:cNvSpPr>
            <a:spLocks noChangeArrowheads="1"/>
          </p:cNvSpPr>
          <p:nvPr/>
        </p:nvSpPr>
        <p:spPr bwMode="auto">
          <a:xfrm>
            <a:off x="3422650" y="1623653"/>
            <a:ext cx="3175000" cy="98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9. Tụ điện dưới đây thuộc chủng loại gì?</a:t>
            </a:r>
            <a:r>
              <a:rPr kumimoji="1" lang="en-US" altLang="ko-KR" sz="900">
                <a:ea typeface="돋움" pitchFamily="50" charset="-127"/>
              </a:rPr>
              <a:t/>
            </a:r>
            <a:br>
              <a:rPr kumimoji="1" lang="en-US" altLang="ko-KR" sz="900">
                <a:ea typeface="돋움" pitchFamily="50" charset="-127"/>
              </a:rPr>
            </a:br>
            <a:r>
              <a:rPr kumimoji="1" lang="vi-VN" altLang="ko-KR" sz="900">
                <a:ea typeface="돋움" pitchFamily="50" charset="-127"/>
              </a:rPr>
              <a:t>[Dùng để phản hồi mạch điện yêu cầu dao động ổn định]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 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Tantal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Ceramic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Styrol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Mylar</a:t>
            </a:r>
          </a:p>
        </p:txBody>
      </p:sp>
      <p:sp>
        <p:nvSpPr>
          <p:cNvPr id="3088" name="Rectangle 177"/>
          <p:cNvSpPr>
            <a:spLocks noChangeArrowheads="1"/>
          </p:cNvSpPr>
          <p:nvPr/>
        </p:nvSpPr>
        <p:spPr bwMode="auto">
          <a:xfrm>
            <a:off x="3429000" y="6109189"/>
            <a:ext cx="3136900" cy="852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13. TR [C1815] thuộc loại nào dưới đây?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NPN dùng cho tần số cao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NPN dùng cho tần số thấp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PNP dùng cho tần số cao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PNP dùng cho tần số thấp</a:t>
            </a:r>
          </a:p>
        </p:txBody>
      </p:sp>
      <p:sp>
        <p:nvSpPr>
          <p:cNvPr id="3089" name="Rectangle 142"/>
          <p:cNvSpPr>
            <a:spLocks noChangeArrowheads="1"/>
          </p:cNvSpPr>
          <p:nvPr/>
        </p:nvSpPr>
        <p:spPr bwMode="auto">
          <a:xfrm>
            <a:off x="303216" y="7735766"/>
            <a:ext cx="3170237" cy="1113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7. Khi mã màu điện trở màng kim loại có màu nâu, màu xanh lá, màu đen, màu nâu, màu bạc thì sai số là bao nhiêu?         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5%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10%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15% </a:t>
            </a:r>
          </a:p>
          <a:p>
            <a:pPr marL="128588" indent="-128588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20%</a:t>
            </a:r>
          </a:p>
        </p:txBody>
      </p:sp>
      <p:sp>
        <p:nvSpPr>
          <p:cNvPr id="3090" name="Rectangle 71"/>
          <p:cNvSpPr>
            <a:spLocks noChangeArrowheads="1"/>
          </p:cNvSpPr>
          <p:nvPr/>
        </p:nvSpPr>
        <p:spPr bwMode="auto">
          <a:xfrm>
            <a:off x="3441700" y="7118844"/>
            <a:ext cx="3124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14. Loại linh kiện nào được mô tảdưới đây?</a:t>
            </a:r>
            <a:r>
              <a:rPr kumimoji="1" lang="en-US" altLang="ko-KR" sz="900">
                <a:ea typeface="돋움" pitchFamily="50" charset="-127"/>
              </a:rPr>
              <a:t/>
            </a:r>
            <a:br>
              <a:rPr kumimoji="1" lang="en-US" altLang="ko-KR" sz="900">
                <a:ea typeface="돋움" pitchFamily="50" charset="-127"/>
              </a:rPr>
            </a:br>
            <a:r>
              <a:rPr kumimoji="1" lang="vi-VN" altLang="ko-KR" sz="900">
                <a:ea typeface="돋움" pitchFamily="50" charset="-127"/>
              </a:rPr>
              <a:t>[Điều khiển dòng điện xoay chiều bằng 3 cực] 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Diode</a:t>
            </a:r>
            <a:r>
              <a:rPr kumimoji="1" lang="en-US" altLang="ko-KR" sz="900">
                <a:ea typeface="돋움" pitchFamily="50" charset="-127"/>
              </a:rPr>
              <a:t>		</a:t>
            </a:r>
            <a:r>
              <a:rPr kumimoji="1" lang="vi-VN" altLang="ko-KR" sz="900">
                <a:ea typeface="돋움" pitchFamily="50" charset="-127"/>
              </a:rPr>
              <a:t>② SCR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Transistor</a:t>
            </a:r>
            <a:r>
              <a:rPr kumimoji="1" lang="en-US" altLang="ko-KR" sz="900">
                <a:ea typeface="돋움" pitchFamily="50" charset="-127"/>
              </a:rPr>
              <a:t>		</a:t>
            </a:r>
            <a:r>
              <a:rPr kumimoji="1" lang="vi-VN" altLang="ko-KR" sz="900">
                <a:ea typeface="돋움" pitchFamily="50" charset="-127"/>
              </a:rPr>
              <a:t>④ Triac</a:t>
            </a:r>
          </a:p>
        </p:txBody>
      </p:sp>
      <p:sp>
        <p:nvSpPr>
          <p:cNvPr id="3091" name="Rectangle 78"/>
          <p:cNvSpPr>
            <a:spLocks noChangeArrowheads="1"/>
          </p:cNvSpPr>
          <p:nvPr/>
        </p:nvSpPr>
        <p:spPr bwMode="auto">
          <a:xfrm>
            <a:off x="3441839" y="7998069"/>
            <a:ext cx="3121025" cy="851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15. Đặc điểm nào sai khi nói về SSR?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Độ tin cậy cao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Dòng điện rò rỉ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Tính chống thấm cao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Tính năng cao</a:t>
            </a:r>
          </a:p>
        </p:txBody>
      </p:sp>
      <p:grpSp>
        <p:nvGrpSpPr>
          <p:cNvPr id="3092" name="그룹 1"/>
          <p:cNvGrpSpPr>
            <a:grpSpLocks/>
          </p:cNvGrpSpPr>
          <p:nvPr/>
        </p:nvGrpSpPr>
        <p:grpSpPr bwMode="auto">
          <a:xfrm>
            <a:off x="304800" y="2924908"/>
            <a:ext cx="3124200" cy="1440474"/>
            <a:chOff x="304800" y="3128963"/>
            <a:chExt cx="3124200" cy="1560512"/>
          </a:xfrm>
        </p:grpSpPr>
        <p:sp>
          <p:nvSpPr>
            <p:cNvPr id="3093" name="Rectangle 148"/>
            <p:cNvSpPr>
              <a:spLocks noChangeArrowheads="1"/>
            </p:cNvSpPr>
            <p:nvPr/>
          </p:nvSpPr>
          <p:spPr bwMode="auto">
            <a:xfrm>
              <a:off x="304800" y="3128963"/>
              <a:ext cx="3124200" cy="922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128588" indent="-128588"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kumimoji="1" lang="vi-VN" altLang="ko-KR" sz="900">
                  <a:ea typeface="돋움" pitchFamily="50" charset="-127"/>
                </a:rPr>
                <a:t>3. Điện áp được mắc ở </a:t>
              </a:r>
              <a:r>
                <a:rPr kumimoji="1" lang="vi-VN" altLang="ko-KR" sz="900" b="1">
                  <a:ea typeface="돋움" pitchFamily="50" charset="-127"/>
                </a:rPr>
                <a:t>Ⓐ–Ⓑ</a:t>
              </a:r>
              <a:r>
                <a:rPr kumimoji="1" lang="vi-VN" altLang="ko-KR" sz="900">
                  <a:ea typeface="돋움" pitchFamily="50" charset="-127"/>
                </a:rPr>
                <a:t> trong hình</a:t>
              </a:r>
              <a:r>
                <a:rPr kumimoji="1" lang="vi-VN" altLang="ko-KR" sz="900" b="1">
                  <a:ea typeface="돋움" pitchFamily="50" charset="-127"/>
                </a:rPr>
                <a:t> </a:t>
              </a:r>
              <a:r>
                <a:rPr kumimoji="1" lang="vi-VN" altLang="ko-KR" sz="900">
                  <a:ea typeface="돋움" pitchFamily="50" charset="-127"/>
                </a:rPr>
                <a:t>dưới là bao nhiêu?      </a:t>
              </a:r>
            </a:p>
            <a:p>
              <a:pPr marL="128588" indent="-128588"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kumimoji="1" lang="en-US" altLang="ko-KR" sz="900">
                <a:ea typeface="돋움" pitchFamily="50" charset="-127"/>
              </a:endParaRPr>
            </a:p>
            <a:p>
              <a:pPr marL="128588" indent="-128588"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kumimoji="1" lang="vi-VN" altLang="ko-KR" sz="900">
                  <a:ea typeface="돋움" pitchFamily="50" charset="-127"/>
                </a:rPr>
                <a:t>① 0[V]</a:t>
              </a:r>
            </a:p>
            <a:p>
              <a:pPr marL="128588" indent="-128588"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kumimoji="1" lang="vi-VN" altLang="ko-KR" sz="900">
                  <a:ea typeface="돋움" pitchFamily="50" charset="-127"/>
                </a:rPr>
                <a:t>② 3[V]</a:t>
              </a:r>
            </a:p>
            <a:p>
              <a:pPr marL="128588" indent="-128588"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kumimoji="1" lang="vi-VN" altLang="ko-KR" sz="900">
                  <a:ea typeface="돋움" pitchFamily="50" charset="-127"/>
                </a:rPr>
                <a:t>③ 6[V]</a:t>
              </a:r>
            </a:p>
            <a:p>
              <a:pPr marL="128588" indent="-128588"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kumimoji="1" lang="vi-VN" altLang="ko-KR" sz="900">
                  <a:ea typeface="돋움" pitchFamily="50" charset="-127"/>
                </a:rPr>
                <a:t>④ 9[V]</a:t>
              </a:r>
            </a:p>
          </p:txBody>
        </p:sp>
        <p:grpSp>
          <p:nvGrpSpPr>
            <p:cNvPr id="3094" name="그룹 5"/>
            <p:cNvGrpSpPr>
              <a:grpSpLocks/>
            </p:cNvGrpSpPr>
            <p:nvPr/>
          </p:nvGrpSpPr>
          <p:grpSpPr bwMode="auto">
            <a:xfrm>
              <a:off x="1247775" y="3419475"/>
              <a:ext cx="1747838" cy="1270000"/>
              <a:chOff x="1247775" y="3305175"/>
              <a:chExt cx="1747929" cy="1270000"/>
            </a:xfrm>
          </p:grpSpPr>
          <p:grpSp>
            <p:nvGrpSpPr>
              <p:cNvPr id="3095" name="그룹 68"/>
              <p:cNvGrpSpPr>
                <a:grpSpLocks/>
              </p:cNvGrpSpPr>
              <p:nvPr/>
            </p:nvGrpSpPr>
            <p:grpSpPr bwMode="auto">
              <a:xfrm>
                <a:off x="1247775" y="3305175"/>
                <a:ext cx="1747929" cy="1270000"/>
                <a:chOff x="1247760" y="3543291"/>
                <a:chExt cx="1747849" cy="1270008"/>
              </a:xfrm>
            </p:grpSpPr>
            <p:sp>
              <p:nvSpPr>
                <p:cNvPr id="4143" name="Line 150"/>
                <p:cNvSpPr>
                  <a:spLocks noChangeShapeType="1"/>
                </p:cNvSpPr>
                <p:nvPr/>
              </p:nvSpPr>
              <p:spPr bwMode="auto">
                <a:xfrm flipH="1">
                  <a:off x="1670038" y="3543292"/>
                  <a:ext cx="0" cy="603253"/>
                </a:xfrm>
                <a:prstGeom prst="line">
                  <a:avLst/>
                </a:prstGeom>
                <a:noFill/>
                <a:ln w="158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endParaRPr lang="ko-KR" altLang="en-US" sz="900">
                    <a:ea typeface="돋움" pitchFamily="50" charset="-127"/>
                  </a:endParaRPr>
                </a:p>
              </p:txBody>
            </p:sp>
            <p:sp>
              <p:nvSpPr>
                <p:cNvPr id="4144" name="Line 151"/>
                <p:cNvSpPr>
                  <a:spLocks noChangeShapeType="1"/>
                </p:cNvSpPr>
                <p:nvPr/>
              </p:nvSpPr>
              <p:spPr bwMode="auto">
                <a:xfrm>
                  <a:off x="1663688" y="3543292"/>
                  <a:ext cx="835030" cy="0"/>
                </a:xfrm>
                <a:prstGeom prst="line">
                  <a:avLst/>
                </a:prstGeom>
                <a:noFill/>
                <a:ln w="158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endParaRPr lang="ko-KR" altLang="en-US" sz="900">
                    <a:ea typeface="돋움" pitchFamily="50" charset="-127"/>
                  </a:endParaRPr>
                </a:p>
              </p:txBody>
            </p:sp>
            <p:sp>
              <p:nvSpPr>
                <p:cNvPr id="4145" name="Line 152"/>
                <p:cNvSpPr>
                  <a:spLocks noChangeShapeType="1"/>
                </p:cNvSpPr>
                <p:nvPr/>
              </p:nvSpPr>
              <p:spPr bwMode="auto">
                <a:xfrm flipH="1">
                  <a:off x="2500306" y="3543292"/>
                  <a:ext cx="0" cy="187326"/>
                </a:xfrm>
                <a:prstGeom prst="line">
                  <a:avLst/>
                </a:prstGeom>
                <a:noFill/>
                <a:ln w="158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endParaRPr lang="ko-KR" altLang="en-US" sz="900">
                    <a:ea typeface="돋움" pitchFamily="50" charset="-127"/>
                  </a:endParaRPr>
                </a:p>
              </p:txBody>
            </p:sp>
            <p:grpSp>
              <p:nvGrpSpPr>
                <p:cNvPr id="3101" name="Group 153"/>
                <p:cNvGrpSpPr>
                  <a:grpSpLocks/>
                </p:cNvGrpSpPr>
                <p:nvPr/>
              </p:nvGrpSpPr>
              <p:grpSpPr bwMode="auto">
                <a:xfrm>
                  <a:off x="2416455" y="3730971"/>
                  <a:ext cx="166256" cy="234599"/>
                  <a:chOff x="1488" y="1152"/>
                  <a:chExt cx="192" cy="336"/>
                </a:xfrm>
              </p:grpSpPr>
              <p:sp>
                <p:nvSpPr>
                  <p:cNvPr id="4147" name="Line 154"/>
                  <p:cNvSpPr>
                    <a:spLocks noChangeShapeType="1"/>
                  </p:cNvSpPr>
                  <p:nvPr/>
                </p:nvSpPr>
                <p:spPr bwMode="auto">
                  <a:xfrm>
                    <a:off x="1585" y="1151"/>
                    <a:ext cx="95" cy="48"/>
                  </a:xfrm>
                  <a:prstGeom prst="line">
                    <a:avLst/>
                  </a:prstGeom>
                  <a:noFill/>
                  <a:ln w="1587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/>
                    </a:pPr>
                    <a:endParaRPr lang="ko-KR" altLang="en-US" sz="900">
                      <a:ea typeface="돋움" pitchFamily="50" charset="-127"/>
                    </a:endParaRPr>
                  </a:p>
                </p:txBody>
              </p:sp>
              <p:sp>
                <p:nvSpPr>
                  <p:cNvPr id="4148" name="Line 15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488" y="1199"/>
                    <a:ext cx="194" cy="48"/>
                  </a:xfrm>
                  <a:prstGeom prst="line">
                    <a:avLst/>
                  </a:prstGeom>
                  <a:noFill/>
                  <a:ln w="1587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/>
                    </a:pPr>
                    <a:endParaRPr lang="ko-KR" altLang="en-US" sz="900">
                      <a:ea typeface="돋움" pitchFamily="50" charset="-127"/>
                    </a:endParaRPr>
                  </a:p>
                </p:txBody>
              </p:sp>
              <p:sp>
                <p:nvSpPr>
                  <p:cNvPr id="4149" name="Line 156"/>
                  <p:cNvSpPr>
                    <a:spLocks noChangeShapeType="1"/>
                  </p:cNvSpPr>
                  <p:nvPr/>
                </p:nvSpPr>
                <p:spPr bwMode="auto">
                  <a:xfrm>
                    <a:off x="1488" y="1247"/>
                    <a:ext cx="194" cy="48"/>
                  </a:xfrm>
                  <a:prstGeom prst="line">
                    <a:avLst/>
                  </a:prstGeom>
                  <a:noFill/>
                  <a:ln w="1587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/>
                    </a:pPr>
                    <a:endParaRPr lang="ko-KR" altLang="en-US" sz="900">
                      <a:ea typeface="돋움" pitchFamily="50" charset="-127"/>
                    </a:endParaRPr>
                  </a:p>
                </p:txBody>
              </p:sp>
              <p:sp>
                <p:nvSpPr>
                  <p:cNvPr id="4150" name="Line 15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488" y="1295"/>
                    <a:ext cx="194" cy="50"/>
                  </a:xfrm>
                  <a:prstGeom prst="line">
                    <a:avLst/>
                  </a:prstGeom>
                  <a:noFill/>
                  <a:ln w="1587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/>
                    </a:pPr>
                    <a:endParaRPr lang="ko-KR" altLang="en-US" sz="900">
                      <a:ea typeface="돋움" pitchFamily="50" charset="-127"/>
                    </a:endParaRPr>
                  </a:p>
                </p:txBody>
              </p:sp>
              <p:sp>
                <p:nvSpPr>
                  <p:cNvPr id="4151" name="Line 158"/>
                  <p:cNvSpPr>
                    <a:spLocks noChangeShapeType="1"/>
                  </p:cNvSpPr>
                  <p:nvPr/>
                </p:nvSpPr>
                <p:spPr bwMode="auto">
                  <a:xfrm>
                    <a:off x="1488" y="1345"/>
                    <a:ext cx="194" cy="48"/>
                  </a:xfrm>
                  <a:prstGeom prst="line">
                    <a:avLst/>
                  </a:prstGeom>
                  <a:noFill/>
                  <a:ln w="1587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/>
                    </a:pPr>
                    <a:endParaRPr lang="ko-KR" altLang="en-US" sz="900">
                      <a:ea typeface="돋움" pitchFamily="50" charset="-127"/>
                    </a:endParaRPr>
                  </a:p>
                </p:txBody>
              </p:sp>
              <p:sp>
                <p:nvSpPr>
                  <p:cNvPr id="4152" name="Line 15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488" y="1393"/>
                    <a:ext cx="194" cy="48"/>
                  </a:xfrm>
                  <a:prstGeom prst="line">
                    <a:avLst/>
                  </a:prstGeom>
                  <a:noFill/>
                  <a:ln w="1587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/>
                    </a:pPr>
                    <a:endParaRPr lang="ko-KR" altLang="en-US" sz="900">
                      <a:ea typeface="돋움" pitchFamily="50" charset="-127"/>
                    </a:endParaRPr>
                  </a:p>
                </p:txBody>
              </p:sp>
              <p:sp>
                <p:nvSpPr>
                  <p:cNvPr id="4153" name="Line 160"/>
                  <p:cNvSpPr>
                    <a:spLocks noChangeShapeType="1"/>
                  </p:cNvSpPr>
                  <p:nvPr/>
                </p:nvSpPr>
                <p:spPr bwMode="auto">
                  <a:xfrm>
                    <a:off x="1488" y="1440"/>
                    <a:ext cx="97" cy="48"/>
                  </a:xfrm>
                  <a:prstGeom prst="line">
                    <a:avLst/>
                  </a:prstGeom>
                  <a:noFill/>
                  <a:ln w="1587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/>
                    </a:pPr>
                    <a:endParaRPr lang="ko-KR" altLang="en-US" sz="900">
                      <a:ea typeface="돋움" pitchFamily="50" charset="-127"/>
                    </a:endParaRPr>
                  </a:p>
                </p:txBody>
              </p:sp>
            </p:grpSp>
            <p:sp>
              <p:nvSpPr>
                <p:cNvPr id="4154" name="Line 161"/>
                <p:cNvSpPr>
                  <a:spLocks noChangeShapeType="1"/>
                </p:cNvSpPr>
                <p:nvPr/>
              </p:nvSpPr>
              <p:spPr bwMode="auto">
                <a:xfrm flipH="1">
                  <a:off x="2500306" y="3965569"/>
                  <a:ext cx="0" cy="439739"/>
                </a:xfrm>
                <a:prstGeom prst="line">
                  <a:avLst/>
                </a:prstGeom>
                <a:noFill/>
                <a:ln w="158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endParaRPr lang="ko-KR" altLang="en-US" sz="900">
                    <a:ea typeface="돋움" pitchFamily="50" charset="-127"/>
                  </a:endParaRPr>
                </a:p>
              </p:txBody>
            </p:sp>
            <p:sp>
              <p:nvSpPr>
                <p:cNvPr id="3103" name="AutoShape 162"/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2389180" y="4394197"/>
                  <a:ext cx="220663" cy="93663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 w="15875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</a:pPr>
                  <a:endParaRPr kumimoji="1" lang="ko-KR" altLang="en-US" sz="900">
                    <a:ea typeface="돋움" pitchFamily="50" charset="-127"/>
                  </a:endParaRPr>
                </a:p>
              </p:txBody>
            </p:sp>
            <p:sp>
              <p:nvSpPr>
                <p:cNvPr id="4156" name="Line 163"/>
                <p:cNvSpPr>
                  <a:spLocks noChangeShapeType="1"/>
                </p:cNvSpPr>
                <p:nvPr/>
              </p:nvSpPr>
              <p:spPr bwMode="auto">
                <a:xfrm flipV="1">
                  <a:off x="2389180" y="4392609"/>
                  <a:ext cx="220663" cy="0"/>
                </a:xfrm>
                <a:prstGeom prst="line">
                  <a:avLst/>
                </a:prstGeom>
                <a:noFill/>
                <a:ln w="158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endParaRPr lang="ko-KR" altLang="en-US" sz="900">
                    <a:ea typeface="돋움" pitchFamily="50" charset="-127"/>
                  </a:endParaRPr>
                </a:p>
              </p:txBody>
            </p:sp>
            <p:sp>
              <p:nvSpPr>
                <p:cNvPr id="4157" name="Line 164"/>
                <p:cNvSpPr>
                  <a:spLocks noChangeShapeType="1"/>
                </p:cNvSpPr>
                <p:nvPr/>
              </p:nvSpPr>
              <p:spPr bwMode="auto">
                <a:xfrm>
                  <a:off x="1666863" y="4810124"/>
                  <a:ext cx="836618" cy="0"/>
                </a:xfrm>
                <a:prstGeom prst="line">
                  <a:avLst/>
                </a:prstGeom>
                <a:noFill/>
                <a:ln w="158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endParaRPr lang="ko-KR" altLang="en-US" sz="900">
                    <a:ea typeface="돋움" pitchFamily="50" charset="-127"/>
                  </a:endParaRPr>
                </a:p>
              </p:txBody>
            </p:sp>
            <p:sp>
              <p:nvSpPr>
                <p:cNvPr id="4158" name="Line 165"/>
                <p:cNvSpPr>
                  <a:spLocks noChangeShapeType="1"/>
                </p:cNvSpPr>
                <p:nvPr/>
              </p:nvSpPr>
              <p:spPr bwMode="auto">
                <a:xfrm flipH="1">
                  <a:off x="2500306" y="4481509"/>
                  <a:ext cx="0" cy="328615"/>
                </a:xfrm>
                <a:prstGeom prst="line">
                  <a:avLst/>
                </a:prstGeom>
                <a:noFill/>
                <a:ln w="158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endParaRPr lang="ko-KR" altLang="en-US" sz="900">
                    <a:ea typeface="돋움" pitchFamily="50" charset="-127"/>
                  </a:endParaRPr>
                </a:p>
              </p:txBody>
            </p:sp>
            <p:sp>
              <p:nvSpPr>
                <p:cNvPr id="4159" name="Text Box 166"/>
                <p:cNvSpPr>
                  <a:spLocks noChangeArrowheads="1"/>
                </p:cNvSpPr>
                <p:nvPr/>
              </p:nvSpPr>
              <p:spPr bwMode="auto">
                <a:xfrm>
                  <a:off x="2214554" y="3762368"/>
                  <a:ext cx="273052" cy="2809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1pPr>
                  <a:lvl2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2pPr>
                  <a:lvl3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3pPr>
                  <a:lvl4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4pPr>
                  <a:lvl5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r>
                    <a:rPr lang="vi-VN" altLang="ko-KR" sz="800">
                      <a:latin typeface="Arial"/>
                    </a:rPr>
                    <a:t>R</a:t>
                  </a:r>
                </a:p>
              </p:txBody>
            </p:sp>
            <p:sp>
              <p:nvSpPr>
                <p:cNvPr id="4160" name="Text Box 167"/>
                <p:cNvSpPr>
                  <a:spLocks noChangeArrowheads="1"/>
                </p:cNvSpPr>
                <p:nvPr/>
              </p:nvSpPr>
              <p:spPr bwMode="auto">
                <a:xfrm>
                  <a:off x="1695438" y="4452934"/>
                  <a:ext cx="522291" cy="2809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1pPr>
                  <a:lvl2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2pPr>
                  <a:lvl3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3pPr>
                  <a:lvl4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4pPr>
                  <a:lvl5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r>
                    <a:rPr lang="vi-VN" altLang="ko-KR" sz="800">
                      <a:latin typeface="Arial"/>
                    </a:rPr>
                    <a:t>D(Si)</a:t>
                  </a:r>
                </a:p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r>
                    <a:rPr lang="vi-VN" altLang="ko-KR" sz="800">
                      <a:latin typeface="Arial"/>
                    </a:rPr>
                    <a:t>  6V</a:t>
                  </a:r>
                </a:p>
              </p:txBody>
            </p:sp>
            <p:sp>
              <p:nvSpPr>
                <p:cNvPr id="4161" name="Line 168"/>
                <p:cNvSpPr>
                  <a:spLocks noChangeShapeType="1"/>
                </p:cNvSpPr>
                <p:nvPr/>
              </p:nvSpPr>
              <p:spPr bwMode="auto">
                <a:xfrm flipH="1" flipV="1">
                  <a:off x="1673213" y="4202108"/>
                  <a:ext cx="0" cy="606428"/>
                </a:xfrm>
                <a:prstGeom prst="line">
                  <a:avLst/>
                </a:prstGeom>
                <a:noFill/>
                <a:ln w="158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endParaRPr lang="ko-KR" altLang="en-US" sz="900">
                    <a:ea typeface="돋움" pitchFamily="50" charset="-127"/>
                  </a:endParaRPr>
                </a:p>
              </p:txBody>
            </p:sp>
            <p:sp>
              <p:nvSpPr>
                <p:cNvPr id="4162" name="Line 169"/>
                <p:cNvSpPr>
                  <a:spLocks noChangeShapeType="1"/>
                </p:cNvSpPr>
                <p:nvPr/>
              </p:nvSpPr>
              <p:spPr bwMode="auto">
                <a:xfrm>
                  <a:off x="1570025" y="4149720"/>
                  <a:ext cx="214313" cy="0"/>
                </a:xfrm>
                <a:prstGeom prst="line">
                  <a:avLst/>
                </a:prstGeom>
                <a:noFill/>
                <a:ln w="158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endParaRPr lang="ko-KR" altLang="en-US" sz="900">
                    <a:ea typeface="돋움" pitchFamily="50" charset="-127"/>
                  </a:endParaRPr>
                </a:p>
              </p:txBody>
            </p:sp>
            <p:sp>
              <p:nvSpPr>
                <p:cNvPr id="4163" name="Line 170"/>
                <p:cNvSpPr>
                  <a:spLocks noChangeShapeType="1"/>
                </p:cNvSpPr>
                <p:nvPr/>
              </p:nvSpPr>
              <p:spPr bwMode="auto">
                <a:xfrm>
                  <a:off x="1603362" y="4194171"/>
                  <a:ext cx="138114" cy="0"/>
                </a:xfrm>
                <a:prstGeom prst="line">
                  <a:avLst/>
                </a:prstGeom>
                <a:noFill/>
                <a:ln w="158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endParaRPr lang="ko-KR" altLang="en-US" sz="900">
                    <a:ea typeface="돋움" pitchFamily="50" charset="-127"/>
                  </a:endParaRPr>
                </a:p>
              </p:txBody>
            </p:sp>
            <p:sp>
              <p:nvSpPr>
                <p:cNvPr id="4164" name="Text Box 171"/>
                <p:cNvSpPr>
                  <a:spLocks noChangeArrowheads="1"/>
                </p:cNvSpPr>
                <p:nvPr/>
              </p:nvSpPr>
              <p:spPr bwMode="auto">
                <a:xfrm>
                  <a:off x="1247760" y="4035420"/>
                  <a:ext cx="493716" cy="25400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1pPr>
                  <a:lvl2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2pPr>
                  <a:lvl3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3pPr>
                  <a:lvl4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4pPr>
                  <a:lvl5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r>
                    <a:rPr lang="vi-VN" altLang="ko-KR" sz="800">
                      <a:latin typeface="Arial"/>
                    </a:rPr>
                    <a:t>9[V]</a:t>
                  </a:r>
                </a:p>
              </p:txBody>
            </p:sp>
            <p:sp>
              <p:nvSpPr>
                <p:cNvPr id="4165" name="직선 화살표 연결선 44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2500306" y="3987794"/>
                  <a:ext cx="292102" cy="180976"/>
                </a:xfrm>
                <a:prstGeom prst="line">
                  <a:avLst/>
                </a:prstGeom>
                <a:noFill/>
                <a:ln w="158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endParaRPr lang="ko-KR" altLang="en-US" sz="900">
                    <a:ea typeface="돋움" pitchFamily="50" charset="-127"/>
                  </a:endParaRPr>
                </a:p>
              </p:txBody>
            </p:sp>
            <p:sp>
              <p:nvSpPr>
                <p:cNvPr id="4166" name="직선 화살표 연결선 45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2500306" y="4597398"/>
                  <a:ext cx="292102" cy="180976"/>
                </a:xfrm>
                <a:prstGeom prst="line">
                  <a:avLst/>
                </a:prstGeom>
                <a:noFill/>
                <a:ln w="158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endParaRPr lang="ko-KR" altLang="en-US" sz="900">
                    <a:ea typeface="돋움" pitchFamily="50" charset="-127"/>
                  </a:endParaRPr>
                </a:p>
              </p:txBody>
            </p:sp>
            <p:sp>
              <p:nvSpPr>
                <p:cNvPr id="3115" name="TextBox 46"/>
                <p:cNvSpPr>
                  <a:spLocks noChangeArrowheads="1"/>
                </p:cNvSpPr>
                <p:nvPr/>
              </p:nvSpPr>
              <p:spPr bwMode="auto">
                <a:xfrm>
                  <a:off x="2689219" y="3819519"/>
                  <a:ext cx="300040" cy="230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</a:pPr>
                  <a:r>
                    <a:rPr kumimoji="1" lang="vi-VN" altLang="ko-KR" sz="900" b="1">
                      <a:ea typeface="돋움" pitchFamily="50" charset="-127"/>
                    </a:rPr>
                    <a:t>Ⓐ</a:t>
                  </a:r>
                </a:p>
              </p:txBody>
            </p:sp>
            <p:sp>
              <p:nvSpPr>
                <p:cNvPr id="3116" name="TextBox 47"/>
                <p:cNvSpPr>
                  <a:spLocks noChangeArrowheads="1"/>
                </p:cNvSpPr>
                <p:nvPr/>
              </p:nvSpPr>
              <p:spPr bwMode="auto">
                <a:xfrm>
                  <a:off x="2695569" y="4422772"/>
                  <a:ext cx="300040" cy="2317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</a:pPr>
                  <a:r>
                    <a:rPr kumimoji="1" lang="vi-VN" altLang="ko-KR" sz="900" b="1">
                      <a:ea typeface="돋움" pitchFamily="50" charset="-127"/>
                    </a:rPr>
                    <a:t>Ⓑ</a:t>
                  </a:r>
                </a:p>
              </p:txBody>
            </p:sp>
            <p:sp>
              <p:nvSpPr>
                <p:cNvPr id="4169" name="Line 152"/>
                <p:cNvSpPr>
                  <a:spLocks noChangeShapeType="1"/>
                </p:cNvSpPr>
                <p:nvPr/>
              </p:nvSpPr>
              <p:spPr bwMode="auto">
                <a:xfrm flipH="1">
                  <a:off x="2082790" y="3546467"/>
                  <a:ext cx="0" cy="187326"/>
                </a:xfrm>
                <a:prstGeom prst="line">
                  <a:avLst/>
                </a:prstGeom>
                <a:noFill/>
                <a:ln w="158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endParaRPr lang="ko-KR" altLang="en-US" sz="900">
                    <a:ea typeface="돋움" pitchFamily="50" charset="-127"/>
                  </a:endParaRPr>
                </a:p>
              </p:txBody>
            </p:sp>
            <p:grpSp>
              <p:nvGrpSpPr>
                <p:cNvPr id="3118" name="Group 153"/>
                <p:cNvGrpSpPr>
                  <a:grpSpLocks/>
                </p:cNvGrpSpPr>
                <p:nvPr/>
              </p:nvGrpSpPr>
              <p:grpSpPr bwMode="auto">
                <a:xfrm>
                  <a:off x="1998897" y="3734146"/>
                  <a:ext cx="166256" cy="234599"/>
                  <a:chOff x="1488" y="1152"/>
                  <a:chExt cx="192" cy="336"/>
                </a:xfrm>
              </p:grpSpPr>
              <p:sp>
                <p:nvSpPr>
                  <p:cNvPr id="4171" name="Line 154"/>
                  <p:cNvSpPr>
                    <a:spLocks noChangeShapeType="1"/>
                  </p:cNvSpPr>
                  <p:nvPr/>
                </p:nvSpPr>
                <p:spPr bwMode="auto">
                  <a:xfrm>
                    <a:off x="1585" y="1151"/>
                    <a:ext cx="95" cy="48"/>
                  </a:xfrm>
                  <a:prstGeom prst="line">
                    <a:avLst/>
                  </a:prstGeom>
                  <a:noFill/>
                  <a:ln w="1587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/>
                    </a:pPr>
                    <a:endParaRPr lang="ko-KR" altLang="en-US" sz="900">
                      <a:ea typeface="돋움" pitchFamily="50" charset="-127"/>
                    </a:endParaRPr>
                  </a:p>
                </p:txBody>
              </p:sp>
              <p:sp>
                <p:nvSpPr>
                  <p:cNvPr id="4172" name="Line 15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488" y="1199"/>
                    <a:ext cx="192" cy="48"/>
                  </a:xfrm>
                  <a:prstGeom prst="line">
                    <a:avLst/>
                  </a:prstGeom>
                  <a:noFill/>
                  <a:ln w="1587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/>
                    </a:pPr>
                    <a:endParaRPr lang="ko-KR" altLang="en-US" sz="900">
                      <a:ea typeface="돋움" pitchFamily="50" charset="-127"/>
                    </a:endParaRPr>
                  </a:p>
                </p:txBody>
              </p:sp>
              <p:sp>
                <p:nvSpPr>
                  <p:cNvPr id="4173" name="Line 156"/>
                  <p:cNvSpPr>
                    <a:spLocks noChangeShapeType="1"/>
                  </p:cNvSpPr>
                  <p:nvPr/>
                </p:nvSpPr>
                <p:spPr bwMode="auto">
                  <a:xfrm>
                    <a:off x="1488" y="1247"/>
                    <a:ext cx="192" cy="48"/>
                  </a:xfrm>
                  <a:prstGeom prst="line">
                    <a:avLst/>
                  </a:prstGeom>
                  <a:noFill/>
                  <a:ln w="1587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/>
                    </a:pPr>
                    <a:endParaRPr lang="ko-KR" altLang="en-US" sz="900">
                      <a:ea typeface="돋움" pitchFamily="50" charset="-127"/>
                    </a:endParaRPr>
                  </a:p>
                </p:txBody>
              </p:sp>
              <p:sp>
                <p:nvSpPr>
                  <p:cNvPr id="4174" name="Line 15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488" y="1295"/>
                    <a:ext cx="192" cy="50"/>
                  </a:xfrm>
                  <a:prstGeom prst="line">
                    <a:avLst/>
                  </a:prstGeom>
                  <a:noFill/>
                  <a:ln w="1587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/>
                    </a:pPr>
                    <a:endParaRPr lang="ko-KR" altLang="en-US" sz="900">
                      <a:ea typeface="돋움" pitchFamily="50" charset="-127"/>
                    </a:endParaRPr>
                  </a:p>
                </p:txBody>
              </p:sp>
              <p:sp>
                <p:nvSpPr>
                  <p:cNvPr id="4175" name="Line 158"/>
                  <p:cNvSpPr>
                    <a:spLocks noChangeShapeType="1"/>
                  </p:cNvSpPr>
                  <p:nvPr/>
                </p:nvSpPr>
                <p:spPr bwMode="auto">
                  <a:xfrm>
                    <a:off x="1488" y="1345"/>
                    <a:ext cx="192" cy="48"/>
                  </a:xfrm>
                  <a:prstGeom prst="line">
                    <a:avLst/>
                  </a:prstGeom>
                  <a:noFill/>
                  <a:ln w="1587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/>
                    </a:pPr>
                    <a:endParaRPr lang="ko-KR" altLang="en-US" sz="900">
                      <a:ea typeface="돋움" pitchFamily="50" charset="-127"/>
                    </a:endParaRPr>
                  </a:p>
                </p:txBody>
              </p:sp>
              <p:sp>
                <p:nvSpPr>
                  <p:cNvPr id="4176" name="Line 15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488" y="1393"/>
                    <a:ext cx="192" cy="48"/>
                  </a:xfrm>
                  <a:prstGeom prst="line">
                    <a:avLst/>
                  </a:prstGeom>
                  <a:noFill/>
                  <a:ln w="1587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/>
                    </a:pPr>
                    <a:endParaRPr lang="ko-KR" altLang="en-US" sz="900">
                      <a:ea typeface="돋움" pitchFamily="50" charset="-127"/>
                    </a:endParaRPr>
                  </a:p>
                </p:txBody>
              </p:sp>
              <p:sp>
                <p:nvSpPr>
                  <p:cNvPr id="4177" name="Line 160"/>
                  <p:cNvSpPr>
                    <a:spLocks noChangeShapeType="1"/>
                  </p:cNvSpPr>
                  <p:nvPr/>
                </p:nvSpPr>
                <p:spPr bwMode="auto">
                  <a:xfrm>
                    <a:off x="1488" y="1440"/>
                    <a:ext cx="97" cy="48"/>
                  </a:xfrm>
                  <a:prstGeom prst="line">
                    <a:avLst/>
                  </a:prstGeom>
                  <a:noFill/>
                  <a:ln w="1587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/>
                    </a:pPr>
                    <a:endParaRPr lang="ko-KR" altLang="en-US" sz="900">
                      <a:ea typeface="돋움" pitchFamily="50" charset="-127"/>
                    </a:endParaRPr>
                  </a:p>
                </p:txBody>
              </p:sp>
            </p:grpSp>
            <p:sp>
              <p:nvSpPr>
                <p:cNvPr id="4178" name="Line 161"/>
                <p:cNvSpPr>
                  <a:spLocks noChangeShapeType="1"/>
                </p:cNvSpPr>
                <p:nvPr/>
              </p:nvSpPr>
              <p:spPr bwMode="auto">
                <a:xfrm flipH="1">
                  <a:off x="2082790" y="3968744"/>
                  <a:ext cx="0" cy="439739"/>
                </a:xfrm>
                <a:prstGeom prst="line">
                  <a:avLst/>
                </a:prstGeom>
                <a:noFill/>
                <a:ln w="158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endParaRPr lang="ko-KR" altLang="en-US" sz="900">
                    <a:ea typeface="돋움" pitchFamily="50" charset="-127"/>
                  </a:endParaRPr>
                </a:p>
              </p:txBody>
            </p:sp>
            <p:sp>
              <p:nvSpPr>
                <p:cNvPr id="3120" name="AutoShape 162"/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1971665" y="4397372"/>
                  <a:ext cx="220664" cy="93663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 w="15875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</a:pPr>
                  <a:endParaRPr kumimoji="1" lang="ko-KR" altLang="en-US" sz="900">
                    <a:ea typeface="돋움" pitchFamily="50" charset="-127"/>
                  </a:endParaRPr>
                </a:p>
              </p:txBody>
            </p:sp>
            <p:sp>
              <p:nvSpPr>
                <p:cNvPr id="4180" name="Line 163"/>
                <p:cNvSpPr>
                  <a:spLocks noChangeShapeType="1"/>
                </p:cNvSpPr>
                <p:nvPr/>
              </p:nvSpPr>
              <p:spPr bwMode="auto">
                <a:xfrm flipV="1">
                  <a:off x="1971665" y="4392609"/>
                  <a:ext cx="220664" cy="0"/>
                </a:xfrm>
                <a:prstGeom prst="line">
                  <a:avLst/>
                </a:prstGeom>
                <a:noFill/>
                <a:ln w="158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endParaRPr lang="ko-KR" altLang="en-US" sz="900">
                    <a:ea typeface="돋움" pitchFamily="50" charset="-127"/>
                  </a:endParaRPr>
                </a:p>
              </p:txBody>
            </p:sp>
            <p:sp>
              <p:nvSpPr>
                <p:cNvPr id="4181" name="Line 165"/>
                <p:cNvSpPr>
                  <a:spLocks noChangeShapeType="1"/>
                </p:cNvSpPr>
                <p:nvPr/>
              </p:nvSpPr>
              <p:spPr bwMode="auto">
                <a:xfrm flipH="1">
                  <a:off x="2082790" y="4484684"/>
                  <a:ext cx="0" cy="328615"/>
                </a:xfrm>
                <a:prstGeom prst="line">
                  <a:avLst/>
                </a:prstGeom>
                <a:noFill/>
                <a:ln w="158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endParaRPr lang="ko-KR" altLang="en-US" sz="900">
                    <a:ea typeface="돋움" pitchFamily="50" charset="-127"/>
                  </a:endParaRPr>
                </a:p>
              </p:txBody>
            </p:sp>
            <p:sp>
              <p:nvSpPr>
                <p:cNvPr id="4182" name="Text Box 166"/>
                <p:cNvSpPr>
                  <a:spLocks noChangeArrowheads="1"/>
                </p:cNvSpPr>
                <p:nvPr/>
              </p:nvSpPr>
              <p:spPr bwMode="auto">
                <a:xfrm>
                  <a:off x="1797038" y="3763955"/>
                  <a:ext cx="273052" cy="2809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1pPr>
                  <a:lvl2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2pPr>
                  <a:lvl3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3pPr>
                  <a:lvl4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4pPr>
                  <a:lvl5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r>
                    <a:rPr lang="vi-VN" altLang="ko-KR" sz="800">
                      <a:latin typeface="Arial"/>
                    </a:rPr>
                    <a:t>R</a:t>
                  </a:r>
                </a:p>
              </p:txBody>
            </p:sp>
            <p:sp>
              <p:nvSpPr>
                <p:cNvPr id="4183" name="Text Box 167"/>
                <p:cNvSpPr>
                  <a:spLocks noChangeArrowheads="1"/>
                </p:cNvSpPr>
                <p:nvPr/>
              </p:nvSpPr>
              <p:spPr bwMode="auto">
                <a:xfrm>
                  <a:off x="2114540" y="4452934"/>
                  <a:ext cx="522291" cy="2809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1pPr>
                  <a:lvl2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2pPr>
                  <a:lvl3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3pPr>
                  <a:lvl4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4pPr>
                  <a:lvl5pPr eaLnBrk="0" hangingPunct="0"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900">
                      <a:solidFill>
                        <a:schemeClr val="tx1"/>
                      </a:solidFill>
                      <a:latin typeface="돋움" panose="020B0600000101010101" pitchFamily="50" charset="-127"/>
                      <a:ea typeface="돋움" panose="020B0600000101010101" pitchFamily="50" charset="-127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r>
                    <a:rPr lang="vi-VN" altLang="ko-KR" sz="800">
                      <a:latin typeface="Arial"/>
                    </a:rPr>
                    <a:t>D(Si)</a:t>
                  </a:r>
                </a:p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/>
                  </a:pPr>
                  <a:r>
                    <a:rPr lang="vi-VN" altLang="ko-KR" sz="800">
                      <a:latin typeface="Arial"/>
                    </a:rPr>
                    <a:t>  6V</a:t>
                  </a:r>
                </a:p>
              </p:txBody>
            </p:sp>
          </p:grpSp>
          <p:sp>
            <p:nvSpPr>
              <p:cNvPr id="4184" name="직선 연결선 2"/>
              <p:cNvSpPr>
                <a:spLocks noChangeShapeType="1"/>
              </p:cNvSpPr>
              <p:nvPr/>
            </p:nvSpPr>
            <p:spPr bwMode="auto">
              <a:xfrm flipH="1">
                <a:off x="2374959" y="4154487"/>
                <a:ext cx="14289" cy="60325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/>
                </a:pPr>
                <a:endParaRPr lang="ko-KR" altLang="en-US" sz="900">
                  <a:ea typeface="돋움" pitchFamily="50" charset="-127"/>
                </a:endParaRPr>
              </a:p>
            </p:txBody>
          </p:sp>
          <p:sp>
            <p:nvSpPr>
              <p:cNvPr id="4185" name="직선 연결선 4"/>
              <p:cNvSpPr>
                <a:spLocks noChangeShapeType="1"/>
              </p:cNvSpPr>
              <p:nvPr/>
            </p:nvSpPr>
            <p:spPr bwMode="auto">
              <a:xfrm flipV="1">
                <a:off x="2609921" y="4089400"/>
                <a:ext cx="26989" cy="65087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/>
                </a:pPr>
                <a:endParaRPr lang="ko-KR" altLang="en-US" sz="900">
                  <a:ea typeface="돋움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75683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98" name="Line 2"/>
          <p:cNvCxnSpPr>
            <a:cxnSpLocks noChangeShapeType="1"/>
          </p:cNvCxnSpPr>
          <p:nvPr/>
        </p:nvCxnSpPr>
        <p:spPr bwMode="auto">
          <a:xfrm>
            <a:off x="279400" y="562708"/>
            <a:ext cx="6324600" cy="0"/>
          </a:xfrm>
          <a:prstGeom prst="line">
            <a:avLst/>
          </a:prstGeom>
          <a:noFill/>
          <a:ln w="57150" cmpd="thinThick" algn="ctr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304800" y="716575"/>
            <a:ext cx="3124200" cy="8216411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90000"/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 b="1">
              <a:ea typeface="돋움" pitchFamily="50" charset="-127"/>
            </a:endParaRP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3429000" y="716575"/>
            <a:ext cx="3124200" cy="8216411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90000"/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ko-KR" altLang="ko-KR" sz="900">
              <a:ea typeface="돋움" pitchFamily="50" charset="-127"/>
            </a:endParaRPr>
          </a:p>
        </p:txBody>
      </p:sp>
      <p:sp>
        <p:nvSpPr>
          <p:cNvPr id="4101" name="Rectangle 72"/>
          <p:cNvSpPr>
            <a:spLocks noChangeArrowheads="1"/>
          </p:cNvSpPr>
          <p:nvPr/>
        </p:nvSpPr>
        <p:spPr bwMode="auto">
          <a:xfrm>
            <a:off x="304800" y="4835769"/>
            <a:ext cx="3124200" cy="1101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19. Trong số các AD Card dùng để kết nối với cảm biến đầu ra Analog, loại nào được dùng sử dụng chung điện áp, </a:t>
            </a:r>
            <a:r>
              <a:rPr kumimoji="1" lang="en-US" altLang="ko-KR" sz="900" smtClean="0">
                <a:ea typeface="돋움" pitchFamily="50" charset="-127"/>
              </a:rPr>
              <a:t>dòng </a:t>
            </a:r>
            <a:r>
              <a:rPr kumimoji="1" lang="vi-VN" altLang="ko-KR" sz="900" smtClean="0">
                <a:ea typeface="돋움" pitchFamily="50" charset="-127"/>
              </a:rPr>
              <a:t>điện?       </a:t>
            </a:r>
            <a:endParaRPr kumimoji="1" lang="vi-VN" altLang="ko-KR" sz="900">
              <a:ea typeface="돋움" pitchFamily="50" charset="-127"/>
            </a:endParaRP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Q64AD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Q64ADV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Q68ADI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Q68ADV</a:t>
            </a:r>
          </a:p>
        </p:txBody>
      </p:sp>
      <p:sp>
        <p:nvSpPr>
          <p:cNvPr id="4102" name="Rectangle 80"/>
          <p:cNvSpPr>
            <a:spLocks noChangeArrowheads="1"/>
          </p:cNvSpPr>
          <p:nvPr/>
        </p:nvSpPr>
        <p:spPr bwMode="auto">
          <a:xfrm>
            <a:off x="304800" y="783983"/>
            <a:ext cx="3124200" cy="980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16. Đâu không phải là đặc tính của điện trở nhiệt?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Hệ số nhiệt điện trở về nhiệt độ nhỏ nên tốt cho nhiệt độ thấp và thuận tiện cho việc đo đạc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Cấu trúc đơn giản và có thể thu nhỏ lại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Độ bền cơ học và khả năng gia công ưu việt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Không nhạy với áp suất, từ trường và các yếu tố khác</a:t>
            </a:r>
          </a:p>
        </p:txBody>
      </p:sp>
      <p:sp>
        <p:nvSpPr>
          <p:cNvPr id="4103" name="Rectangle 81"/>
          <p:cNvSpPr>
            <a:spLocks noChangeArrowheads="1"/>
          </p:cNvSpPr>
          <p:nvPr/>
        </p:nvSpPr>
        <p:spPr bwMode="auto">
          <a:xfrm>
            <a:off x="307976" y="2060333"/>
            <a:ext cx="3121025" cy="98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17. Chủng loại của cảm biến quang điện loại nhỏ dùng để gắn PCB là gì?       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Loại phản xạ micro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Loại phản xạ hồi quy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Loại móng ngựa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Photo Interrupter</a:t>
            </a:r>
          </a:p>
        </p:txBody>
      </p:sp>
      <p:sp>
        <p:nvSpPr>
          <p:cNvPr id="4104" name="Rectangle 82"/>
          <p:cNvSpPr>
            <a:spLocks noChangeArrowheads="1"/>
          </p:cNvSpPr>
          <p:nvPr/>
        </p:nvSpPr>
        <p:spPr bwMode="auto">
          <a:xfrm>
            <a:off x="306388" y="3335220"/>
            <a:ext cx="3122612" cy="120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18. Loại cảm biến quang điện nào tương ứng với nội dung dưới đây?</a:t>
            </a:r>
            <a:r>
              <a:rPr kumimoji="1" lang="en-US" altLang="ko-KR" sz="900">
                <a:ea typeface="돋움" pitchFamily="50" charset="-127"/>
              </a:rPr>
              <a:t/>
            </a:r>
            <a:br>
              <a:rPr kumimoji="1" lang="en-US" altLang="ko-KR" sz="900">
                <a:ea typeface="돋움" pitchFamily="50" charset="-127"/>
              </a:rPr>
            </a:br>
            <a:r>
              <a:rPr kumimoji="1" lang="vi-VN" altLang="ko-KR" sz="900">
                <a:ea typeface="돋움" pitchFamily="50" charset="-127"/>
              </a:rPr>
              <a:t>[Không cần điều chỉnh trục quang học, không gian lắp đặt nhỏ, chỉ cần đi dây dẫn</a:t>
            </a:r>
            <a:r>
              <a:rPr kumimoji="1" lang="en-US" altLang="ko-KR" sz="900">
                <a:ea typeface="돋움" pitchFamily="50" charset="-127"/>
              </a:rPr>
              <a:t> </a:t>
            </a:r>
            <a:r>
              <a:rPr kumimoji="1" lang="vi-VN" altLang="ko-KR" sz="900">
                <a:ea typeface="돋움" pitchFamily="50" charset="-127"/>
              </a:rPr>
              <a:t>ở một phía]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Loại truyền qua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Photo coupler (Phần tử cách ly quang)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Loại phản xạ hồi quy</a:t>
            </a:r>
          </a:p>
          <a:p>
            <a:pPr marL="193675" indent="-193675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Loại phản xạ khuếch tán</a:t>
            </a:r>
          </a:p>
        </p:txBody>
      </p:sp>
      <p:sp>
        <p:nvSpPr>
          <p:cNvPr id="4105" name="Rectangle 84"/>
          <p:cNvSpPr>
            <a:spLocks noChangeArrowheads="1"/>
          </p:cNvSpPr>
          <p:nvPr/>
        </p:nvSpPr>
        <p:spPr bwMode="auto">
          <a:xfrm>
            <a:off x="306388" y="6233746"/>
            <a:ext cx="3168650" cy="137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20. Đặc điểm nào đúng khi nói về Photo Coupler?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Được sử dụng để truyền tín hiệu giữa hai mạch điện có cùng hiệu điện thế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Vì tín hiệu truyền theo cả hai hướng nên ảnh hưởng tới đầu vào từ đầu ra là rất ít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Dễ dàng giao tiếp với yếu tố logic và tốc độ phản hồi nhanh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Do kích thước nhỏ và nhẹ nên có thể giảm thấp mật độ gắn</a:t>
            </a:r>
          </a:p>
        </p:txBody>
      </p:sp>
      <p:sp>
        <p:nvSpPr>
          <p:cNvPr id="2" name="Text Box 6"/>
          <p:cNvSpPr>
            <a:spLocks noChangeArrowheads="1"/>
          </p:cNvSpPr>
          <p:nvPr/>
        </p:nvSpPr>
        <p:spPr bwMode="auto">
          <a:xfrm>
            <a:off x="195263" y="211085"/>
            <a:ext cx="3449637" cy="3091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/>
          <a:lstStyle>
            <a:lvl1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SzPct val="100000"/>
              <a:defRPr/>
            </a:pPr>
            <a:r>
              <a:rPr lang="vi-VN" altLang="ko-K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[Đánh </a:t>
            </a:r>
            <a:r>
              <a:rPr lang="vi-VN" altLang="ko-KR" sz="1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giá 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WS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2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</a:t>
            </a:r>
            <a:r>
              <a:rPr lang="vi-VN" altLang="ko-KR" sz="1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– 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Điện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- Điện tử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]</a:t>
            </a:r>
            <a:endParaRPr lang="vi-VN" altLang="ko-KR" sz="16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111"/>
          <a:stretch/>
        </p:blipFill>
        <p:spPr bwMode="auto">
          <a:xfrm>
            <a:off x="3475038" y="765528"/>
            <a:ext cx="3078162" cy="8060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3"/>
          <p:cNvSpPr txBox="1"/>
          <p:nvPr/>
        </p:nvSpPr>
        <p:spPr>
          <a:xfrm>
            <a:off x="316403" y="7668344"/>
            <a:ext cx="3148619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r>
              <a:rPr lang="en-US" sz="1200" b="1" u="sng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900" smtClean="0">
                <a:latin typeface="Times New Roman" pitchFamily="18" charset="0"/>
                <a:cs typeface="Times New Roman" pitchFamily="18" charset="0"/>
              </a:rPr>
              <a:t>Nhôm ( Al ) có số proton là 13, nguyên tử khối là 27 vậy lớp</a:t>
            </a:r>
          </a:p>
          <a:p>
            <a:r>
              <a:rPr lang="en-US" sz="900" smtClean="0">
                <a:latin typeface="Times New Roman" pitchFamily="18" charset="0"/>
                <a:cs typeface="Times New Roman" pitchFamily="18" charset="0"/>
              </a:rPr>
              <a:t>Electron tự do ngoài cùng là bao nhiêu electron?</a:t>
            </a:r>
          </a:p>
          <a:p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① 1 electron                             ②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2 electron </a:t>
            </a:r>
          </a:p>
          <a:p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③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electron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                             ④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4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electron </a:t>
            </a:r>
            <a:endParaRPr lang="en-US" sz="90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57"/>
          <p:cNvSpPr>
            <a:spLocks noChangeArrowheads="1"/>
          </p:cNvSpPr>
          <p:nvPr/>
        </p:nvSpPr>
        <p:spPr bwMode="auto">
          <a:xfrm>
            <a:off x="288925" y="8388424"/>
            <a:ext cx="31321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Trong  các chất sau, đâu không phải là chất cách điện ?</a:t>
            </a:r>
            <a:endParaRPr lang="en-US" altLang="ko-KR" sz="7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①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praffin        ② lưu huỳnh            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③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serium              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④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plastic</a:t>
            </a:r>
            <a:endParaRPr lang="ko-KR" altLang="en-US" sz="9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089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4" name="Line 2"/>
          <p:cNvCxnSpPr>
            <a:cxnSpLocks noChangeShapeType="1"/>
          </p:cNvCxnSpPr>
          <p:nvPr/>
        </p:nvCxnSpPr>
        <p:spPr bwMode="auto">
          <a:xfrm>
            <a:off x="279400" y="562708"/>
            <a:ext cx="6324600" cy="0"/>
          </a:xfrm>
          <a:prstGeom prst="line">
            <a:avLst/>
          </a:prstGeom>
          <a:noFill/>
          <a:ln w="57150" cmpd="thinThick" algn="ctr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304800" y="716575"/>
            <a:ext cx="3124200" cy="8216411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Ins="54000"/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3429000" y="716575"/>
            <a:ext cx="3124200" cy="8216411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ko-KR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077" name="Rectangle 7"/>
          <p:cNvSpPr>
            <a:spLocks noChangeArrowheads="1"/>
          </p:cNvSpPr>
          <p:nvPr/>
        </p:nvSpPr>
        <p:spPr bwMode="auto">
          <a:xfrm>
            <a:off x="255588" y="740024"/>
            <a:ext cx="3186112" cy="7883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1. Điều nào không đúng với giải thích về cấu tạo của nguyên tử?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① Hạt nhân nguyên tử: Cấu thành bởi hạt proton và hạt neutron. 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② Khối lượng của hạt proton và hạt neutron gần như giống nhau và gấp khoảng 1.840 lần khối lượng hạt electron.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③ Số proton Z = Số điện tích = Số hiệu nguyên tử =&gt; Đồng nhất với số electron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④ Số lượng proton là không đổi, nhưng số lượng neutron có thể có một số giá trị.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2. Điện năng sinh ra khi các electron tự do chuyển động giữa các nguyên tử là gì?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① Hóa trị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② Ion hóa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③ Điện tích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④ Vỏ điện tử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 latinLnBrk="1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3. Trong số nhiễu dao động điện áp, hiện tượng biến mất 1 sóng điện xoay chiều thông thường là gì?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 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① Chattering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② Giảm điện áp tức thời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③ Phát ra tia điện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④ Mất điện tức thời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4. </a:t>
            </a:r>
            <a:r>
              <a:rPr kumimoji="1" lang="en-US" altLang="ko-KR" sz="900" smtClean="0">
                <a:ea typeface="돋움" pitchFamily="50" charset="-127"/>
              </a:rPr>
              <a:t>Giá trị điện áp trung bình</a:t>
            </a:r>
            <a:r>
              <a:rPr kumimoji="1" lang="vi-VN" altLang="ko-KR" sz="900" smtClean="0">
                <a:ea typeface="돋움" pitchFamily="50" charset="-127"/>
              </a:rPr>
              <a:t> </a:t>
            </a:r>
            <a:r>
              <a:rPr kumimoji="1" lang="vi-VN" altLang="ko-KR" sz="900">
                <a:ea typeface="돋움" pitchFamily="50" charset="-127"/>
              </a:rPr>
              <a:t>của một dạng sóng có giá trị đỉnh đến đỉnh là 20V là bao nhiêu?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① 6,37V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② 7,07V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③ 12,74V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④ 14,14V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5. Đâu không phải là chế độ thu nhận của máy dao động ký?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① Mẫu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② Peak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③ Average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④ Pulse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6. Loại điện trở nào được mô tả tiếp theo?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   [Bởi vì nó được làm bằng nhựa không cháy, không bắt lửa ngay cả ở nhiệt độ cao và rất dễ lắp đặt do đặc tính cách nhiệt đa dạng] 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① Điện trở cố định màng carbon nhỏ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② Điện trở màng kim loại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③ Điện trở xi măng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④ Điện trở cuộn dây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7. Đâu không phải là loại biến trở của trở kháng khả biến?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8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① Hệ thống màng carbon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② Hệ thống màng kim loại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③ Hệ thống màng phủ gốm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r>
              <a:rPr kumimoji="1" lang="vi-VN" altLang="ko-KR" sz="900">
                <a:ea typeface="돋움" pitchFamily="50" charset="-127"/>
              </a:rPr>
              <a:t>④ Coil (Cuộn dây)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82563" algn="l"/>
              </a:tabLs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078" name="Rectangle 7"/>
          <p:cNvSpPr>
            <a:spLocks noChangeArrowheads="1"/>
          </p:cNvSpPr>
          <p:nvPr/>
        </p:nvSpPr>
        <p:spPr bwMode="auto">
          <a:xfrm>
            <a:off x="3363913" y="728299"/>
            <a:ext cx="3186112" cy="8140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8. Tụ điện nào được sử dụng cho mạch ghép (General coupling circuit) hoặc mạch hằng số thời gian (time constant)?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Tụ điện phân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Tụ Mylar 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Tụ gốm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Tụ điện Tantalum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9. Suất điện động xảy ra khi từ thông đi qua cuộn dây bị</a:t>
            </a:r>
            <a:r>
              <a:rPr kumimoji="1" lang="en-US" altLang="ko-KR" sz="900">
                <a:ea typeface="돋움" pitchFamily="50" charset="-127"/>
              </a:rPr>
              <a:t> </a:t>
            </a:r>
            <a:r>
              <a:rPr kumimoji="1" lang="vi-VN" altLang="ko-KR" sz="900">
                <a:ea typeface="돋움" pitchFamily="50" charset="-127"/>
              </a:rPr>
              <a:t>thay đổi Hiện tượng đó được gọi là gì?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Cảm ứng điện từ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Cảm ứng điện động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Định luật Lenz (Len xơ)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Độ tự cảm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 latinLnBrk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10. Cuộn dây (coil) có các tụ điện được nối song song là loại gì?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RFC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FCZ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IFT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Cuộn cảm dùng cho nguồn điện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11. Những loại thiết bị nào là điện áp ngược lớn, chuyển đổi công suất lớn và đơn hướng?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TR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SCR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TRIAC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SSR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12. Đâu không phải là đặc trưng của SSR?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Tiếng ồn thấp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Không gây ra âm thanh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Có tính năng cao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Chịu nhiệt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13. Đáp án nào phù hợp với cấu tạo của Photo Coupler?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LED + Diode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LED + Photo Diode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Light Emitting Diode + Photo TR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Light Emitting Diode + Photo Diode 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14. Trong số các loại nhiệt điện trở, loại nào có giá trị điện trở giảm khi nhiệt độ tăng?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NTC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PTC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CTR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PPT 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8" name="Text Box 6"/>
          <p:cNvSpPr>
            <a:spLocks noChangeArrowheads="1"/>
          </p:cNvSpPr>
          <p:nvPr/>
        </p:nvSpPr>
        <p:spPr bwMode="auto">
          <a:xfrm>
            <a:off x="195263" y="211085"/>
            <a:ext cx="3449637" cy="3091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/>
          <a:lstStyle>
            <a:lvl1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SzPct val="100000"/>
              <a:defRPr/>
            </a:pPr>
            <a:r>
              <a:rPr lang="vi-VN" altLang="ko-K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[Đánh </a:t>
            </a:r>
            <a:r>
              <a:rPr lang="vi-VN" altLang="ko-KR" sz="1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giá 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WS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3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</a:t>
            </a:r>
            <a:r>
              <a:rPr lang="vi-VN" altLang="ko-KR" sz="1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– 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Điện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- Đ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iện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tử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]</a:t>
            </a:r>
            <a:endParaRPr lang="vi-VN" altLang="ko-KR" sz="16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4221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98" name="Line 2"/>
          <p:cNvCxnSpPr>
            <a:cxnSpLocks noChangeShapeType="1"/>
          </p:cNvCxnSpPr>
          <p:nvPr/>
        </p:nvCxnSpPr>
        <p:spPr bwMode="auto">
          <a:xfrm>
            <a:off x="279400" y="562708"/>
            <a:ext cx="6324600" cy="0"/>
          </a:xfrm>
          <a:prstGeom prst="line">
            <a:avLst/>
          </a:prstGeom>
          <a:noFill/>
          <a:ln w="57150" cmpd="thinThick" algn="ctr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304800" y="716575"/>
            <a:ext cx="3124200" cy="8216411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Ins="54000"/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ko-KR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3429000" y="716575"/>
            <a:ext cx="3124200" cy="8216411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Ins="72000"/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ko-KR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101" name="Rectangle 7"/>
          <p:cNvSpPr>
            <a:spLocks noChangeArrowheads="1"/>
          </p:cNvSpPr>
          <p:nvPr/>
        </p:nvSpPr>
        <p:spPr bwMode="auto">
          <a:xfrm>
            <a:off x="255588" y="767862"/>
            <a:ext cx="3173412" cy="5326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15. Trong các loại cảm biến quang điện siêu nhỏ, loại nào dùng để gắn vào PCB?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Cảm biến quang chữ U     ② Cảm biến phản xạ gương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Cảm biến phản xạ             ④ Cảm biến ảnh gián đoạn </a:t>
            </a:r>
            <a:r>
              <a:rPr kumimoji="1" lang="en-US" altLang="ko-KR" sz="900">
                <a:ea typeface="돋움" pitchFamily="50" charset="-127"/>
              </a:rPr>
              <a:t>	</a:t>
            </a:r>
            <a:r>
              <a:rPr kumimoji="1" lang="en-US" altLang="ko-KR" sz="1000">
                <a:ea typeface="돋움" pitchFamily="50" charset="-127"/>
              </a:rPr>
              <a:t> </a:t>
            </a:r>
            <a:r>
              <a:rPr kumimoji="1" lang="en-US" altLang="ko-KR" sz="900">
                <a:ea typeface="돋움" pitchFamily="50" charset="-127"/>
              </a:rPr>
              <a:t>                  </a:t>
            </a:r>
            <a:r>
              <a:rPr kumimoji="1" lang="en-US" altLang="ko-KR" sz="1000">
                <a:ea typeface="돋움" pitchFamily="50" charset="-127"/>
              </a:rPr>
              <a:t>   </a:t>
            </a:r>
            <a:r>
              <a:rPr kumimoji="1" lang="vi-VN" altLang="ko-KR" sz="900">
                <a:ea typeface="돋움" pitchFamily="50" charset="-127"/>
              </a:rPr>
              <a:t>(Photo Interrupter)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16. Loại AD Card nào phải nối dây nhảy jumper giữa I + và V + khi kết nối cảm biến đầu ra dòng điện tương tự?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Q64AD        </a:t>
            </a:r>
            <a:r>
              <a:rPr kumimoji="1" lang="en-US" altLang="ko-KR" sz="900">
                <a:ea typeface="돋움" pitchFamily="50" charset="-127"/>
              </a:rPr>
              <a:t> </a:t>
            </a:r>
            <a:r>
              <a:rPr kumimoji="1" lang="vi-VN" altLang="ko-KR" sz="900">
                <a:ea typeface="돋움" pitchFamily="50" charset="-127"/>
              </a:rPr>
              <a:t>  ② Q68ADV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Q68ADI          ④ Q61P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17. Điện áp cutin của Ge Diode là bao nhiêu?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0,2V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0,7V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0,5V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1,4V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18. Điểm nào không đúng với phương pháp tắt SCR đang trong trạng thái bật?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Chuyển điện áp anode về âm (-)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Tắt điện áp anode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Chuyển điện áp anode đến dương (+)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Chuyển điện áp anode về 0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19. Điện áp của phần Ⓐ là bao nhiêu?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0V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0,7V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4,3V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5V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20. Điện áp của phần Ⓐ là bao nhiêu?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① 0V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② 2,9V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③ 9,1V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vi-VN" altLang="ko-KR" sz="900">
                <a:ea typeface="돋움" pitchFamily="50" charset="-127"/>
              </a:rPr>
              <a:t>④ 12V</a:t>
            </a:r>
          </a:p>
          <a:p>
            <a:pPr marL="177800" indent="-17780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4102" name="그룹 1"/>
          <p:cNvGrpSpPr>
            <a:grpSpLocks/>
          </p:cNvGrpSpPr>
          <p:nvPr/>
        </p:nvGrpSpPr>
        <p:grpSpPr bwMode="auto">
          <a:xfrm>
            <a:off x="1279525" y="5580112"/>
            <a:ext cx="1601788" cy="970085"/>
            <a:chOff x="1440317" y="4229472"/>
            <a:chExt cx="2005411" cy="1383623"/>
          </a:xfrm>
        </p:grpSpPr>
        <p:sp>
          <p:nvSpPr>
            <p:cNvPr id="4133" name="Line 36"/>
            <p:cNvSpPr>
              <a:spLocks noChangeShapeType="1"/>
            </p:cNvSpPr>
            <p:nvPr/>
          </p:nvSpPr>
          <p:spPr bwMode="auto">
            <a:xfrm flipH="1">
              <a:off x="1970534" y="4229472"/>
              <a:ext cx="0" cy="66675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34" name="Line 37"/>
            <p:cNvSpPr>
              <a:spLocks noChangeShapeType="1"/>
            </p:cNvSpPr>
            <p:nvPr/>
          </p:nvSpPr>
          <p:spPr bwMode="auto">
            <a:xfrm>
              <a:off x="1961009" y="4229472"/>
              <a:ext cx="915988" cy="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35" name="Line 38"/>
            <p:cNvSpPr>
              <a:spLocks noChangeShapeType="1"/>
            </p:cNvSpPr>
            <p:nvPr/>
          </p:nvSpPr>
          <p:spPr bwMode="auto">
            <a:xfrm flipH="1">
              <a:off x="2886522" y="4229472"/>
              <a:ext cx="0" cy="20320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grpSp>
          <p:nvGrpSpPr>
            <p:cNvPr id="4136" name="Group 39"/>
            <p:cNvGrpSpPr>
              <a:grpSpLocks/>
            </p:cNvGrpSpPr>
            <p:nvPr/>
          </p:nvGrpSpPr>
          <p:grpSpPr bwMode="auto">
            <a:xfrm>
              <a:off x="2794447" y="4432672"/>
              <a:ext cx="184150" cy="254000"/>
              <a:chOff x="1488" y="1152"/>
              <a:chExt cx="192" cy="336"/>
            </a:xfrm>
          </p:grpSpPr>
          <p:sp>
            <p:nvSpPr>
              <p:cNvPr id="4151" name="Line 40"/>
              <p:cNvSpPr>
                <a:spLocks noChangeShapeType="1"/>
              </p:cNvSpPr>
              <p:nvPr/>
            </p:nvSpPr>
            <p:spPr bwMode="auto">
              <a:xfrm>
                <a:off x="1584" y="1152"/>
                <a:ext cx="96" cy="4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4152" name="Line 41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92" cy="4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4153" name="Line 42"/>
              <p:cNvSpPr>
                <a:spLocks noChangeShapeType="1"/>
              </p:cNvSpPr>
              <p:nvPr/>
            </p:nvSpPr>
            <p:spPr bwMode="auto">
              <a:xfrm>
                <a:off x="1488" y="1248"/>
                <a:ext cx="192" cy="4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4154" name="Line 43"/>
              <p:cNvSpPr>
                <a:spLocks noChangeShapeType="1"/>
              </p:cNvSpPr>
              <p:nvPr/>
            </p:nvSpPr>
            <p:spPr bwMode="auto">
              <a:xfrm flipH="1">
                <a:off x="1488" y="1296"/>
                <a:ext cx="192" cy="4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4155" name="Line 44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192" cy="4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4156" name="Line 45"/>
              <p:cNvSpPr>
                <a:spLocks noChangeShapeType="1"/>
              </p:cNvSpPr>
              <p:nvPr/>
            </p:nvSpPr>
            <p:spPr bwMode="auto">
              <a:xfrm flipH="1">
                <a:off x="1488" y="1392"/>
                <a:ext cx="192" cy="4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4157" name="Line 46"/>
              <p:cNvSpPr>
                <a:spLocks noChangeShapeType="1"/>
              </p:cNvSpPr>
              <p:nvPr/>
            </p:nvSpPr>
            <p:spPr bwMode="auto">
              <a:xfrm>
                <a:off x="1488" y="1440"/>
                <a:ext cx="96" cy="4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4137" name="Line 47"/>
            <p:cNvSpPr>
              <a:spLocks noChangeShapeType="1"/>
            </p:cNvSpPr>
            <p:nvPr/>
          </p:nvSpPr>
          <p:spPr bwMode="auto">
            <a:xfrm flipH="1">
              <a:off x="2886522" y="4686672"/>
              <a:ext cx="0" cy="47625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38" name="AutoShape 48"/>
            <p:cNvSpPr>
              <a:spLocks noChangeArrowheads="1"/>
            </p:cNvSpPr>
            <p:nvPr/>
          </p:nvSpPr>
          <p:spPr bwMode="auto">
            <a:xfrm rot="10800000" flipV="1">
              <a:off x="2764284" y="5169024"/>
              <a:ext cx="244475" cy="101600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587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kumimoji="1" lang="ko-KR" alt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39" name="Line 49"/>
            <p:cNvSpPr>
              <a:spLocks noChangeShapeType="1"/>
            </p:cNvSpPr>
            <p:nvPr/>
          </p:nvSpPr>
          <p:spPr bwMode="auto">
            <a:xfrm flipV="1">
              <a:off x="2764284" y="5173656"/>
              <a:ext cx="244475" cy="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40" name="Line 50"/>
            <p:cNvSpPr>
              <a:spLocks noChangeShapeType="1"/>
            </p:cNvSpPr>
            <p:nvPr/>
          </p:nvSpPr>
          <p:spPr bwMode="auto">
            <a:xfrm>
              <a:off x="1970534" y="5601072"/>
              <a:ext cx="915988" cy="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41" name="Line 51"/>
            <p:cNvSpPr>
              <a:spLocks noChangeShapeType="1"/>
            </p:cNvSpPr>
            <p:nvPr/>
          </p:nvSpPr>
          <p:spPr bwMode="auto">
            <a:xfrm flipH="1">
              <a:off x="2886522" y="5245472"/>
              <a:ext cx="0" cy="35560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42" name="Text Box 52"/>
            <p:cNvSpPr>
              <a:spLocks noChangeArrowheads="1"/>
            </p:cNvSpPr>
            <p:nvPr/>
          </p:nvSpPr>
          <p:spPr bwMode="auto">
            <a:xfrm>
              <a:off x="2398409" y="4366177"/>
              <a:ext cx="303213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kumimoji="1" lang="vi-VN" altLang="ko-KR" sz="1400">
                  <a:ea typeface="돋움" pitchFamily="50" charset="-127"/>
                </a:rPr>
                <a:t>R</a:t>
              </a:r>
            </a:p>
          </p:txBody>
        </p:sp>
        <p:sp>
          <p:nvSpPr>
            <p:cNvPr id="4143" name="Text Box 53"/>
            <p:cNvSpPr>
              <a:spLocks noChangeArrowheads="1"/>
            </p:cNvSpPr>
            <p:nvPr/>
          </p:nvSpPr>
          <p:spPr bwMode="auto">
            <a:xfrm>
              <a:off x="2225389" y="5000708"/>
              <a:ext cx="467933" cy="522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kumimoji="1" lang="vi-VN" altLang="ko-KR" sz="1000">
                  <a:latin typeface="Times New Roman" pitchFamily="18" charset="0"/>
                  <a:ea typeface="돋움" pitchFamily="50" charset="-127"/>
                </a:rPr>
                <a:t>D2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kumimoji="1" lang="vi-VN" altLang="ko-KR" sz="1000">
                  <a:latin typeface="Times New Roman" pitchFamily="18" charset="0"/>
                  <a:ea typeface="돋움" pitchFamily="50" charset="-127"/>
                </a:rPr>
                <a:t>(Si)</a:t>
              </a:r>
            </a:p>
          </p:txBody>
        </p:sp>
        <p:sp>
          <p:nvSpPr>
            <p:cNvPr id="4144" name="Line 54"/>
            <p:cNvSpPr>
              <a:spLocks noChangeShapeType="1"/>
            </p:cNvSpPr>
            <p:nvPr/>
          </p:nvSpPr>
          <p:spPr bwMode="auto">
            <a:xfrm flipH="1" flipV="1">
              <a:off x="1970534" y="4924795"/>
              <a:ext cx="0" cy="68830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45" name="Line 55"/>
            <p:cNvSpPr>
              <a:spLocks noChangeShapeType="1"/>
            </p:cNvSpPr>
            <p:nvPr/>
          </p:nvSpPr>
          <p:spPr bwMode="auto">
            <a:xfrm>
              <a:off x="1856234" y="4886697"/>
              <a:ext cx="238125" cy="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46" name="Line 56"/>
            <p:cNvSpPr>
              <a:spLocks noChangeShapeType="1"/>
            </p:cNvSpPr>
            <p:nvPr/>
          </p:nvSpPr>
          <p:spPr bwMode="auto">
            <a:xfrm>
              <a:off x="1894334" y="4934322"/>
              <a:ext cx="152400" cy="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47" name="Line 59"/>
            <p:cNvSpPr>
              <a:spLocks noChangeShapeType="1"/>
            </p:cNvSpPr>
            <p:nvPr/>
          </p:nvSpPr>
          <p:spPr bwMode="auto">
            <a:xfrm flipH="1" flipV="1">
              <a:off x="2980184" y="4894635"/>
              <a:ext cx="230188" cy="230187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48" name="Line 60"/>
            <p:cNvSpPr>
              <a:spLocks noChangeShapeType="1"/>
            </p:cNvSpPr>
            <p:nvPr/>
          </p:nvSpPr>
          <p:spPr bwMode="auto">
            <a:xfrm flipH="1">
              <a:off x="2980184" y="5372472"/>
              <a:ext cx="230188" cy="15240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49" name="Text Box 61"/>
            <p:cNvSpPr>
              <a:spLocks noChangeArrowheads="1"/>
            </p:cNvSpPr>
            <p:nvPr/>
          </p:nvSpPr>
          <p:spPr bwMode="auto">
            <a:xfrm>
              <a:off x="1440317" y="4746141"/>
              <a:ext cx="47148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kumimoji="1" lang="vi-VN" altLang="ko-KR" sz="900">
                  <a:ea typeface="돋움" pitchFamily="50" charset="-127"/>
                </a:rPr>
                <a:t>5[V]</a:t>
              </a:r>
            </a:p>
          </p:txBody>
        </p:sp>
        <p:sp>
          <p:nvSpPr>
            <p:cNvPr id="4150" name="Text Box 52"/>
            <p:cNvSpPr>
              <a:spLocks noChangeArrowheads="1"/>
            </p:cNvSpPr>
            <p:nvPr/>
          </p:nvSpPr>
          <p:spPr bwMode="auto">
            <a:xfrm>
              <a:off x="3021861" y="5065360"/>
              <a:ext cx="423867" cy="3649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kumimoji="1" lang="vi-VN" altLang="ko-KR" sz="1200">
                  <a:ea typeface="돋움" pitchFamily="50" charset="-127"/>
                </a:rPr>
                <a:t>Ⓐ</a:t>
              </a:r>
            </a:p>
          </p:txBody>
        </p:sp>
      </p:grpSp>
      <p:grpSp>
        <p:nvGrpSpPr>
          <p:cNvPr id="4103" name="그룹 2"/>
          <p:cNvGrpSpPr>
            <a:grpSpLocks/>
          </p:cNvGrpSpPr>
          <p:nvPr/>
        </p:nvGrpSpPr>
        <p:grpSpPr bwMode="auto">
          <a:xfrm>
            <a:off x="1196976" y="6982420"/>
            <a:ext cx="1757363" cy="1003789"/>
            <a:chOff x="1156926" y="5957664"/>
            <a:chExt cx="2041752" cy="1376591"/>
          </a:xfrm>
        </p:grpSpPr>
        <p:sp>
          <p:nvSpPr>
            <p:cNvPr id="4105" name="Line 75"/>
            <p:cNvSpPr>
              <a:spLocks noChangeShapeType="1"/>
            </p:cNvSpPr>
            <p:nvPr/>
          </p:nvSpPr>
          <p:spPr bwMode="auto">
            <a:xfrm flipH="1">
              <a:off x="1715071" y="5957664"/>
              <a:ext cx="0" cy="66675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06" name="Line 76"/>
            <p:cNvSpPr>
              <a:spLocks noChangeShapeType="1"/>
            </p:cNvSpPr>
            <p:nvPr/>
          </p:nvSpPr>
          <p:spPr bwMode="auto">
            <a:xfrm>
              <a:off x="1705546" y="5957664"/>
              <a:ext cx="915987" cy="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07" name="Line 77"/>
            <p:cNvSpPr>
              <a:spLocks noChangeShapeType="1"/>
            </p:cNvSpPr>
            <p:nvPr/>
          </p:nvSpPr>
          <p:spPr bwMode="auto">
            <a:xfrm flipH="1">
              <a:off x="2631058" y="5957664"/>
              <a:ext cx="0" cy="20320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grpSp>
          <p:nvGrpSpPr>
            <p:cNvPr id="4108" name="Group 78"/>
            <p:cNvGrpSpPr>
              <a:grpSpLocks/>
            </p:cNvGrpSpPr>
            <p:nvPr/>
          </p:nvGrpSpPr>
          <p:grpSpPr bwMode="auto">
            <a:xfrm>
              <a:off x="2538983" y="6160864"/>
              <a:ext cx="184150" cy="254000"/>
              <a:chOff x="1488" y="1152"/>
              <a:chExt cx="192" cy="336"/>
            </a:xfrm>
          </p:grpSpPr>
          <p:sp>
            <p:nvSpPr>
              <p:cNvPr id="4126" name="Line 79"/>
              <p:cNvSpPr>
                <a:spLocks noChangeShapeType="1"/>
              </p:cNvSpPr>
              <p:nvPr/>
            </p:nvSpPr>
            <p:spPr bwMode="auto">
              <a:xfrm>
                <a:off x="1584" y="1152"/>
                <a:ext cx="96" cy="4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4127" name="Line 80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92" cy="4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4128" name="Line 81"/>
              <p:cNvSpPr>
                <a:spLocks noChangeShapeType="1"/>
              </p:cNvSpPr>
              <p:nvPr/>
            </p:nvSpPr>
            <p:spPr bwMode="auto">
              <a:xfrm>
                <a:off x="1488" y="1248"/>
                <a:ext cx="192" cy="4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4129" name="Line 82"/>
              <p:cNvSpPr>
                <a:spLocks noChangeShapeType="1"/>
              </p:cNvSpPr>
              <p:nvPr/>
            </p:nvSpPr>
            <p:spPr bwMode="auto">
              <a:xfrm flipH="1">
                <a:off x="1488" y="1296"/>
                <a:ext cx="192" cy="4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4130" name="Line 83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192" cy="4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4131" name="Line 84"/>
              <p:cNvSpPr>
                <a:spLocks noChangeShapeType="1"/>
              </p:cNvSpPr>
              <p:nvPr/>
            </p:nvSpPr>
            <p:spPr bwMode="auto">
              <a:xfrm flipH="1">
                <a:off x="1488" y="1392"/>
                <a:ext cx="192" cy="4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4132" name="Line 85"/>
              <p:cNvSpPr>
                <a:spLocks noChangeShapeType="1"/>
              </p:cNvSpPr>
              <p:nvPr/>
            </p:nvSpPr>
            <p:spPr bwMode="auto">
              <a:xfrm>
                <a:off x="1488" y="1440"/>
                <a:ext cx="96" cy="4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4109" name="Line 86"/>
            <p:cNvSpPr>
              <a:spLocks noChangeShapeType="1"/>
            </p:cNvSpPr>
            <p:nvPr/>
          </p:nvSpPr>
          <p:spPr bwMode="auto">
            <a:xfrm flipH="1">
              <a:off x="2631058" y="6414864"/>
              <a:ext cx="0" cy="43815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10" name="AutoShape 87"/>
            <p:cNvSpPr>
              <a:spLocks noChangeArrowheads="1"/>
            </p:cNvSpPr>
            <p:nvPr/>
          </p:nvSpPr>
          <p:spPr bwMode="auto">
            <a:xfrm>
              <a:off x="2508821" y="6853014"/>
              <a:ext cx="244475" cy="127000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587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kumimoji="1" lang="ko-KR" alt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11" name="Line 88"/>
            <p:cNvSpPr>
              <a:spLocks noChangeShapeType="1"/>
            </p:cNvSpPr>
            <p:nvPr/>
          </p:nvSpPr>
          <p:spPr bwMode="auto">
            <a:xfrm>
              <a:off x="2508821" y="6980014"/>
              <a:ext cx="244475" cy="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12" name="Line 89"/>
            <p:cNvSpPr>
              <a:spLocks noChangeShapeType="1"/>
            </p:cNvSpPr>
            <p:nvPr/>
          </p:nvSpPr>
          <p:spPr bwMode="auto">
            <a:xfrm>
              <a:off x="1715071" y="7329264"/>
              <a:ext cx="915987" cy="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13" name="Line 90"/>
            <p:cNvSpPr>
              <a:spLocks noChangeShapeType="1"/>
            </p:cNvSpPr>
            <p:nvPr/>
          </p:nvSpPr>
          <p:spPr bwMode="auto">
            <a:xfrm flipH="1">
              <a:off x="2631058" y="6973664"/>
              <a:ext cx="0" cy="35560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14" name="Text Box 91"/>
            <p:cNvSpPr>
              <a:spLocks noChangeArrowheads="1"/>
            </p:cNvSpPr>
            <p:nvPr/>
          </p:nvSpPr>
          <p:spPr bwMode="auto">
            <a:xfrm>
              <a:off x="2272283" y="6152927"/>
              <a:ext cx="303213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kumimoji="1" lang="vi-VN" altLang="ko-KR" sz="1400">
                  <a:ea typeface="돋움" pitchFamily="50" charset="-127"/>
                </a:rPr>
                <a:t>R</a:t>
              </a:r>
            </a:p>
          </p:txBody>
        </p:sp>
        <p:sp>
          <p:nvSpPr>
            <p:cNvPr id="4115" name="Line 92"/>
            <p:cNvSpPr>
              <a:spLocks noChangeShapeType="1"/>
            </p:cNvSpPr>
            <p:nvPr/>
          </p:nvSpPr>
          <p:spPr bwMode="auto">
            <a:xfrm flipH="1" flipV="1">
              <a:off x="1715071" y="6652988"/>
              <a:ext cx="0" cy="681267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16" name="Line 93"/>
            <p:cNvSpPr>
              <a:spLocks noChangeShapeType="1"/>
            </p:cNvSpPr>
            <p:nvPr/>
          </p:nvSpPr>
          <p:spPr bwMode="auto">
            <a:xfrm>
              <a:off x="1600771" y="6614889"/>
              <a:ext cx="238125" cy="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17" name="Line 94"/>
            <p:cNvSpPr>
              <a:spLocks noChangeShapeType="1"/>
            </p:cNvSpPr>
            <p:nvPr/>
          </p:nvSpPr>
          <p:spPr bwMode="auto">
            <a:xfrm>
              <a:off x="1638871" y="6662514"/>
              <a:ext cx="152400" cy="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18" name="Line 96"/>
            <p:cNvSpPr>
              <a:spLocks noChangeShapeType="1"/>
            </p:cNvSpPr>
            <p:nvPr/>
          </p:nvSpPr>
          <p:spPr bwMode="auto">
            <a:xfrm>
              <a:off x="2505646" y="6853014"/>
              <a:ext cx="247650" cy="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19" name="Line 97"/>
            <p:cNvSpPr>
              <a:spLocks noChangeShapeType="1"/>
            </p:cNvSpPr>
            <p:nvPr/>
          </p:nvSpPr>
          <p:spPr bwMode="auto">
            <a:xfrm>
              <a:off x="2753296" y="6853014"/>
              <a:ext cx="76200" cy="7620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20" name="Line 98"/>
            <p:cNvSpPr>
              <a:spLocks noChangeShapeType="1"/>
            </p:cNvSpPr>
            <p:nvPr/>
          </p:nvSpPr>
          <p:spPr bwMode="auto">
            <a:xfrm flipH="1" flipV="1">
              <a:off x="2419921" y="6776814"/>
              <a:ext cx="76200" cy="76200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21" name="Text Box 99"/>
            <p:cNvSpPr>
              <a:spLocks noChangeArrowheads="1"/>
            </p:cNvSpPr>
            <p:nvPr/>
          </p:nvSpPr>
          <p:spPr bwMode="auto">
            <a:xfrm>
              <a:off x="1943671" y="6681564"/>
              <a:ext cx="58578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kumimoji="1" lang="vi-VN" altLang="ko-KR" sz="900">
                  <a:ea typeface="돋움" pitchFamily="50" charset="-127"/>
                </a:rPr>
                <a:t>  ZD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kumimoji="1" lang="vi-VN" altLang="ko-KR" sz="900">
                  <a:ea typeface="돋움" pitchFamily="50" charset="-127"/>
                </a:rPr>
                <a:t>(9,1V)</a:t>
              </a:r>
            </a:p>
          </p:txBody>
        </p:sp>
        <p:sp>
          <p:nvSpPr>
            <p:cNvPr id="4122" name="Text Box 100"/>
            <p:cNvSpPr>
              <a:spLocks noChangeArrowheads="1"/>
            </p:cNvSpPr>
            <p:nvPr/>
          </p:nvSpPr>
          <p:spPr bwMode="auto">
            <a:xfrm>
              <a:off x="1156926" y="6496394"/>
              <a:ext cx="547689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kumimoji="1" lang="vi-VN" altLang="ko-KR" sz="900">
                  <a:ea typeface="돋움" pitchFamily="50" charset="-127"/>
                </a:rPr>
                <a:t>12[V]</a:t>
              </a:r>
            </a:p>
          </p:txBody>
        </p:sp>
        <p:sp>
          <p:nvSpPr>
            <p:cNvPr id="4123" name="Line 101"/>
            <p:cNvSpPr>
              <a:spLocks noChangeShapeType="1"/>
            </p:cNvSpPr>
            <p:nvPr/>
          </p:nvSpPr>
          <p:spPr bwMode="auto">
            <a:xfrm flipH="1" flipV="1">
              <a:off x="2705671" y="5983064"/>
              <a:ext cx="230187" cy="230188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24" name="Line 102"/>
            <p:cNvSpPr>
              <a:spLocks noChangeShapeType="1"/>
            </p:cNvSpPr>
            <p:nvPr/>
          </p:nvSpPr>
          <p:spPr bwMode="auto">
            <a:xfrm flipH="1">
              <a:off x="2694757" y="6445027"/>
              <a:ext cx="230187" cy="166687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25" name="Text Box 103"/>
            <p:cNvSpPr>
              <a:spLocks noChangeArrowheads="1"/>
            </p:cNvSpPr>
            <p:nvPr/>
          </p:nvSpPr>
          <p:spPr bwMode="auto">
            <a:xfrm>
              <a:off x="2805211" y="6149295"/>
              <a:ext cx="393467" cy="3506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kumimoji="1" lang="vi-VN" altLang="ko-KR" sz="1200">
                  <a:ea typeface="돋움" pitchFamily="50" charset="-127"/>
                </a:rPr>
                <a:t>Ⓐ</a:t>
              </a:r>
            </a:p>
          </p:txBody>
        </p:sp>
      </p:grpSp>
      <p:pic>
        <p:nvPicPr>
          <p:cNvPr id="63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541"/>
          <a:stretch/>
        </p:blipFill>
        <p:spPr bwMode="auto">
          <a:xfrm>
            <a:off x="7677472" y="562708"/>
            <a:ext cx="2952328" cy="810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Text Box 6"/>
          <p:cNvSpPr>
            <a:spLocks noChangeArrowheads="1"/>
          </p:cNvSpPr>
          <p:nvPr/>
        </p:nvSpPr>
        <p:spPr bwMode="auto">
          <a:xfrm>
            <a:off x="195263" y="211085"/>
            <a:ext cx="3449637" cy="3091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/>
          <a:lstStyle>
            <a:lvl1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SzPct val="100000"/>
              <a:defRPr/>
            </a:pPr>
            <a:r>
              <a:rPr lang="vi-VN" altLang="ko-K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[Đánh </a:t>
            </a:r>
            <a:r>
              <a:rPr lang="vi-VN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giá 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WS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3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</a:t>
            </a:r>
            <a:r>
              <a:rPr lang="vi-VN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– 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Điện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- Đ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iện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tử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]</a:t>
            </a:r>
            <a:endParaRPr lang="vi-VN" altLang="ko-KR" sz="1600" b="1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</a:endParaRPr>
          </a:p>
        </p:txBody>
      </p:sp>
      <p:sp>
        <p:nvSpPr>
          <p:cNvPr id="191" name="Rectangle 4"/>
          <p:cNvSpPr>
            <a:spLocks noChangeArrowheads="1"/>
          </p:cNvSpPr>
          <p:nvPr/>
        </p:nvSpPr>
        <p:spPr bwMode="auto">
          <a:xfrm>
            <a:off x="-6784087" y="791433"/>
            <a:ext cx="3124200" cy="810116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57200" indent="-4572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ko-KR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돋움" pitchFamily="50" charset="-127"/>
              <a:cs typeface="Arial" panose="020B0604020202020204" pitchFamily="34" charset="0"/>
            </a:endParaRPr>
          </a:p>
        </p:txBody>
      </p:sp>
      <p:sp>
        <p:nvSpPr>
          <p:cNvPr id="192" name="Rectangle 5"/>
          <p:cNvSpPr>
            <a:spLocks noChangeArrowheads="1"/>
          </p:cNvSpPr>
          <p:nvPr/>
        </p:nvSpPr>
        <p:spPr bwMode="auto">
          <a:xfrm>
            <a:off x="-3659887" y="791433"/>
            <a:ext cx="3124200" cy="810116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57200" indent="-4572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돋움" pitchFamily="50" charset="-127"/>
              <a:cs typeface="Arial" panose="020B0604020202020204" pitchFamily="34" charset="0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돋움" pitchFamily="50" charset="-127"/>
              <a:cs typeface="Arial" panose="020B0604020202020204" pitchFamily="34" charset="0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돋움" pitchFamily="50" charset="-127"/>
              <a:cs typeface="Arial" panose="020B0604020202020204" pitchFamily="34" charset="0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돋움" pitchFamily="50" charset="-127"/>
              <a:cs typeface="Arial" panose="020B0604020202020204" pitchFamily="34" charset="0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돋움" pitchFamily="50" charset="-127"/>
              <a:cs typeface="Arial" panose="020B0604020202020204" pitchFamily="34" charset="0"/>
            </a:endParaRPr>
          </a:p>
        </p:txBody>
      </p:sp>
      <p:sp>
        <p:nvSpPr>
          <p:cNvPr id="193" name="Rectangle 82"/>
          <p:cNvSpPr>
            <a:spLocks noChangeArrowheads="1"/>
          </p:cNvSpPr>
          <p:nvPr/>
        </p:nvSpPr>
        <p:spPr bwMode="auto">
          <a:xfrm>
            <a:off x="3442408" y="3114125"/>
            <a:ext cx="3442976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Times New Roman" pitchFamily="18" charset="0"/>
                <a:cs typeface="Times New Roman" pitchFamily="18" charset="0"/>
              </a:rPr>
              <a:t>※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Nhìn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dao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kí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trả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lời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err="1" smtClean="0">
                <a:latin typeface="Times New Roman" pitchFamily="18" charset="0"/>
                <a:cs typeface="Times New Roman" pitchFamily="18" charset="0"/>
              </a:rPr>
              <a:t>hỏi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bên</a:t>
            </a: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err="1" smtClean="0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( 6 </a:t>
            </a:r>
            <a:r>
              <a:rPr lang="en-US" altLang="ko-KR" sz="9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trung bình là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bao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nhiêu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? </a:t>
            </a: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① </a:t>
            </a:r>
            <a:r>
              <a:rPr lang="en-US" altLang="ko-KR" sz="900" dirty="0">
                <a:latin typeface="Times New Roman" pitchFamily="18" charset="0"/>
                <a:cs typeface="Times New Roman" pitchFamily="18" charset="0"/>
              </a:rPr>
              <a:t>4.242[V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] 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  ② </a:t>
            </a:r>
            <a:r>
              <a:rPr lang="en-US" altLang="ko-KR" sz="900" dirty="0">
                <a:latin typeface="Times New Roman" pitchFamily="18" charset="0"/>
                <a:cs typeface="Times New Roman" pitchFamily="18" charset="0"/>
              </a:rPr>
              <a:t>3.822[V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ko-KR" sz="900" dirty="0">
                <a:latin typeface="Times New Roman" pitchFamily="18" charset="0"/>
                <a:cs typeface="Times New Roman" pitchFamily="18" charset="0"/>
              </a:rPr>
              <a:t>③ 4.2[V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]  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ko-KR" sz="900" dirty="0">
                <a:latin typeface="Times New Roman" pitchFamily="18" charset="0"/>
                <a:cs typeface="Times New Roman" pitchFamily="18" charset="0"/>
              </a:rPr>
              <a:t>④ 3.8[V]</a:t>
            </a:r>
          </a:p>
        </p:txBody>
      </p:sp>
      <p:grpSp>
        <p:nvGrpSpPr>
          <p:cNvPr id="194" name="Group 83"/>
          <p:cNvGrpSpPr>
            <a:grpSpLocks/>
          </p:cNvGrpSpPr>
          <p:nvPr/>
        </p:nvGrpSpPr>
        <p:grpSpPr bwMode="auto">
          <a:xfrm>
            <a:off x="4212407" y="3375419"/>
            <a:ext cx="1664865" cy="866741"/>
            <a:chOff x="3154" y="3456"/>
            <a:chExt cx="890" cy="802"/>
          </a:xfrm>
        </p:grpSpPr>
        <p:graphicFrame>
          <p:nvGraphicFramePr>
            <p:cNvPr id="195" name="Object 84"/>
            <p:cNvGraphicFramePr>
              <a:graphicFrameLocks noChangeAspect="1"/>
            </p:cNvGraphicFramePr>
            <p:nvPr/>
          </p:nvGraphicFramePr>
          <p:xfrm>
            <a:off x="3168" y="3456"/>
            <a:ext cx="876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" name="비트맵 이미지" r:id="rId5" imgW="2781688" imgH="1980952" progId="Paint.Picture">
                    <p:embed/>
                  </p:oleObj>
                </mc:Choice>
                <mc:Fallback>
                  <p:oleObj name="비트맵 이미지" r:id="rId5" imgW="2781688" imgH="1980952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3456"/>
                          <a:ext cx="876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6" name="Text Box 85"/>
            <p:cNvSpPr txBox="1">
              <a:spLocks noChangeArrowheads="1"/>
            </p:cNvSpPr>
            <p:nvPr/>
          </p:nvSpPr>
          <p:spPr bwMode="auto">
            <a:xfrm>
              <a:off x="3154" y="4044"/>
              <a:ext cx="383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돋움" pitchFamily="50" charset="-127"/>
                  <a:cs typeface="Times New Roman" pitchFamily="18" charset="0"/>
                </a:rPr>
                <a:t>CH1 2.00V</a:t>
              </a:r>
            </a:p>
          </p:txBody>
        </p:sp>
        <p:sp>
          <p:nvSpPr>
            <p:cNvPr id="197" name="Text Box 86"/>
            <p:cNvSpPr txBox="1">
              <a:spLocks noChangeArrowheads="1"/>
            </p:cNvSpPr>
            <p:nvPr/>
          </p:nvSpPr>
          <p:spPr bwMode="auto">
            <a:xfrm>
              <a:off x="3636" y="4037"/>
              <a:ext cx="319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돋움" pitchFamily="50" charset="-127"/>
                  <a:cs typeface="Times New Roman" pitchFamily="18" charset="0"/>
                </a:rPr>
                <a:t>M 250μs</a:t>
              </a:r>
            </a:p>
          </p:txBody>
        </p:sp>
      </p:grpSp>
      <p:sp>
        <p:nvSpPr>
          <p:cNvPr id="198" name="Rectangle 173"/>
          <p:cNvSpPr>
            <a:spLocks noChangeArrowheads="1"/>
          </p:cNvSpPr>
          <p:nvPr/>
        </p:nvSpPr>
        <p:spPr bwMode="auto">
          <a:xfrm>
            <a:off x="3433074" y="7663077"/>
            <a:ext cx="31242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10.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Hãy tìm điện dung của tụ Mylar ?</a:t>
            </a:r>
            <a:r>
              <a:rPr lang="en-US" altLang="ko-KR" sz="120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eaLnBrk="1" hangingPunct="1"/>
            <a:endParaRPr lang="en-US" altLang="ko-KR" sz="9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① 425   [ nF]    ② 0.42 [ </a:t>
            </a:r>
            <a:r>
              <a:rPr lang="el-GR" altLang="ko-KR" sz="900" smtClean="0">
                <a:latin typeface="Times New Roman" pitchFamily="18" charset="0"/>
                <a:cs typeface="Times New Roman" pitchFamily="18" charset="0"/>
              </a:rPr>
              <a:t>μ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F ]   ③ 42 [ pF ]     ④  4.2    [ </a:t>
            </a:r>
            <a:r>
              <a:rPr lang="el-GR" altLang="ko-KR" sz="900" smtClean="0">
                <a:latin typeface="Times New Roman" pitchFamily="18" charset="0"/>
                <a:cs typeface="Times New Roman" pitchFamily="18" charset="0"/>
              </a:rPr>
              <a:t>μ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F ]</a:t>
            </a:r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9" name="Rectangle 157"/>
          <p:cNvSpPr>
            <a:spLocks noChangeArrowheads="1"/>
          </p:cNvSpPr>
          <p:nvPr/>
        </p:nvSpPr>
        <p:spPr bwMode="auto">
          <a:xfrm>
            <a:off x="3441700" y="738463"/>
            <a:ext cx="31321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Trong  các chất sau, đâu không phải là chất cách điện ?</a:t>
            </a:r>
            <a:endParaRPr lang="en-US" altLang="ko-KR" sz="7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①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praffin        ② lưu huỳnh            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③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serium              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④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plastic</a:t>
            </a:r>
            <a:endParaRPr lang="ko-KR" alt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0" name="Rectangle 173"/>
          <p:cNvSpPr>
            <a:spLocks noChangeArrowheads="1"/>
          </p:cNvSpPr>
          <p:nvPr/>
        </p:nvSpPr>
        <p:spPr bwMode="auto">
          <a:xfrm>
            <a:off x="3429000" y="1345192"/>
            <a:ext cx="3124200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phần tử nào được sử dụng với mục đích truyền tín hiệu với thiết bị bên ngoài như máy tính, PLC … bằng cách để diode phát quang và photo TR đối mặt nhau rồi phần tử hóa?</a:t>
            </a:r>
          </a:p>
          <a:p>
            <a:pPr eaLnBrk="1" hangingPunct="1"/>
            <a:endParaRPr lang="en-US" altLang="ko-KR" sz="9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① Phototransistor                           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②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diode quang điện </a:t>
            </a: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③ </a:t>
            </a:r>
            <a:r>
              <a:rPr lang="en-US" altLang="ko-KR" sz="900" err="1" smtClean="0">
                <a:latin typeface="Times New Roman" pitchFamily="18" charset="0"/>
                <a:cs typeface="Times New Roman" pitchFamily="18" charset="0"/>
              </a:rPr>
              <a:t>Photocoupler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                              ④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SCR</a:t>
            </a:r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1" name="Rectangle 211"/>
          <p:cNvSpPr>
            <a:spLocks noChangeArrowheads="1"/>
          </p:cNvSpPr>
          <p:nvPr/>
        </p:nvSpPr>
        <p:spPr bwMode="auto">
          <a:xfrm>
            <a:off x="-6767170" y="4211950"/>
            <a:ext cx="3124200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ko-KR" sz="1200" b="1" u="sng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ko-KR" sz="9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Trong mạch làm trơn( chỉnh lưu ) biến đổi dòng điện xoay chiều sang dòng điện một chiều, người ta sử dụng linh kiện nào để lấy điện áp 0V DC ?</a:t>
            </a:r>
          </a:p>
          <a:p>
            <a:pPr eaLnBrk="1" hangingPunct="1"/>
            <a:r>
              <a:rPr lang="en-US" altLang="ko-KR" sz="9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ko-KR" sz="9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①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Quộn cảm</a:t>
            </a:r>
            <a:endParaRPr lang="ko-KR" altLang="en-US" sz="9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ko-KR" altLang="en-US" sz="9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② </a:t>
            </a:r>
            <a:r>
              <a:rPr lang="en-US" altLang="ko-KR" sz="9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Tụ điện</a:t>
            </a:r>
            <a:endParaRPr lang="ko-KR" altLang="en-US" sz="9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ko-KR" altLang="en-US" sz="900">
                <a:latin typeface="Times New Roman" pitchFamily="18" charset="0"/>
                <a:cs typeface="Times New Roman" pitchFamily="18" charset="0"/>
              </a:rPr>
              <a:t>③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diode chỉnh lưu</a:t>
            </a:r>
            <a:endParaRPr lang="ko-KR" altLang="en-US" sz="9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ko-KR" altLang="en-US" sz="900">
                <a:latin typeface="Times New Roman" pitchFamily="18" charset="0"/>
                <a:cs typeface="Times New Roman" pitchFamily="18" charset="0"/>
              </a:rPr>
              <a:t>④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điện trở</a:t>
            </a:r>
            <a:endParaRPr lang="ko-KR" alt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2" name="Rectangle 216"/>
          <p:cNvSpPr>
            <a:spLocks noChangeArrowheads="1"/>
          </p:cNvSpPr>
          <p:nvPr/>
        </p:nvSpPr>
        <p:spPr bwMode="auto">
          <a:xfrm>
            <a:off x="3429000" y="2333926"/>
            <a:ext cx="3124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Themistor là linh kiện có đặc điểm giá trị điện trở theo nhiệt độ. Được phân loại nhiệt độ tăng thì giá trị điện trở giảm là gì???</a:t>
            </a:r>
          </a:p>
          <a:p>
            <a:pPr eaLnBrk="1" hangingPunct="1"/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①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NTC       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②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PTC            </a:t>
            </a:r>
            <a:r>
              <a:rPr lang="ko-KR" altLang="en-US" sz="900">
                <a:latin typeface="Times New Roman" pitchFamily="18" charset="0"/>
                <a:cs typeface="Times New Roman" pitchFamily="18" charset="0"/>
              </a:rPr>
              <a:t>③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TCR              </a:t>
            </a:r>
            <a:r>
              <a:rPr lang="ko-KR" altLang="en-US" sz="900">
                <a:latin typeface="Times New Roman" pitchFamily="18" charset="0"/>
                <a:cs typeface="Times New Roman" pitchFamily="18" charset="0"/>
              </a:rPr>
              <a:t>④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TSC</a:t>
            </a:r>
            <a:endParaRPr lang="ko-KR" altLang="en-US" sz="90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3" name="Rectangle 172"/>
          <p:cNvSpPr>
            <a:spLocks noChangeArrowheads="1"/>
          </p:cNvSpPr>
          <p:nvPr/>
        </p:nvSpPr>
        <p:spPr bwMode="auto">
          <a:xfrm>
            <a:off x="3441700" y="4610616"/>
            <a:ext cx="3132138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Ở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mạch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err="1" smtClean="0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đây.</a:t>
            </a: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Điện áp </a:t>
            </a:r>
            <a:r>
              <a:rPr lang="en-US" altLang="ko-KR" sz="90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R  là bao nhiêu  ? </a:t>
            </a:r>
          </a:p>
          <a:p>
            <a:pPr eaLnBrk="1" hangingPunct="1"/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①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0.7 V            ② 9.1 V</a:t>
            </a:r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③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11.3 V            ④ 2.9  V</a:t>
            </a:r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4" name="Group 173"/>
          <p:cNvGrpSpPr>
            <a:grpSpLocks/>
          </p:cNvGrpSpPr>
          <p:nvPr/>
        </p:nvGrpSpPr>
        <p:grpSpPr bwMode="auto">
          <a:xfrm>
            <a:off x="4797152" y="4734782"/>
            <a:ext cx="1474946" cy="845330"/>
            <a:chOff x="888" y="2224"/>
            <a:chExt cx="924" cy="656"/>
          </a:xfrm>
        </p:grpSpPr>
        <p:sp>
          <p:nvSpPr>
            <p:cNvPr id="205" name="Line 174"/>
            <p:cNvSpPr>
              <a:spLocks noChangeShapeType="1"/>
            </p:cNvSpPr>
            <p:nvPr/>
          </p:nvSpPr>
          <p:spPr bwMode="auto">
            <a:xfrm>
              <a:off x="1170" y="2233"/>
              <a:ext cx="1" cy="30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Line 175"/>
            <p:cNvSpPr>
              <a:spLocks noChangeShapeType="1"/>
            </p:cNvSpPr>
            <p:nvPr/>
          </p:nvSpPr>
          <p:spPr bwMode="auto">
            <a:xfrm>
              <a:off x="1171" y="2236"/>
              <a:ext cx="44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Line 176"/>
            <p:cNvSpPr>
              <a:spLocks noChangeShapeType="1"/>
            </p:cNvSpPr>
            <p:nvPr/>
          </p:nvSpPr>
          <p:spPr bwMode="auto">
            <a:xfrm>
              <a:off x="1617" y="2233"/>
              <a:ext cx="0" cy="9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08" name="Group 177"/>
            <p:cNvGrpSpPr>
              <a:grpSpLocks/>
            </p:cNvGrpSpPr>
            <p:nvPr/>
          </p:nvGrpSpPr>
          <p:grpSpPr bwMode="auto">
            <a:xfrm>
              <a:off x="1572" y="2329"/>
              <a:ext cx="90" cy="120"/>
              <a:chOff x="1488" y="1152"/>
              <a:chExt cx="192" cy="336"/>
            </a:xfrm>
          </p:grpSpPr>
          <p:sp>
            <p:nvSpPr>
              <p:cNvPr id="226" name="Line 178"/>
              <p:cNvSpPr>
                <a:spLocks noChangeShapeType="1"/>
              </p:cNvSpPr>
              <p:nvPr/>
            </p:nvSpPr>
            <p:spPr bwMode="auto">
              <a:xfrm>
                <a:off x="1584" y="115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7" name="Line 179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8" name="Line 180"/>
              <p:cNvSpPr>
                <a:spLocks noChangeShapeType="1"/>
              </p:cNvSpPr>
              <p:nvPr/>
            </p:nvSpPr>
            <p:spPr bwMode="auto">
              <a:xfrm>
                <a:off x="1488" y="1248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9" name="Line 181"/>
              <p:cNvSpPr>
                <a:spLocks noChangeShapeType="1"/>
              </p:cNvSpPr>
              <p:nvPr/>
            </p:nvSpPr>
            <p:spPr bwMode="auto">
              <a:xfrm flipH="1">
                <a:off x="1488" y="1296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0" name="Line 182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1" name="Line 183"/>
              <p:cNvSpPr>
                <a:spLocks noChangeShapeType="1"/>
              </p:cNvSpPr>
              <p:nvPr/>
            </p:nvSpPr>
            <p:spPr bwMode="auto">
              <a:xfrm flipH="1">
                <a:off x="1488" y="1392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2" name="Line 184"/>
              <p:cNvSpPr>
                <a:spLocks noChangeShapeType="1"/>
              </p:cNvSpPr>
              <p:nvPr/>
            </p:nvSpPr>
            <p:spPr bwMode="auto">
              <a:xfrm>
                <a:off x="1488" y="144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09" name="Line 185"/>
            <p:cNvSpPr>
              <a:spLocks noChangeShapeType="1"/>
            </p:cNvSpPr>
            <p:nvPr/>
          </p:nvSpPr>
          <p:spPr bwMode="auto">
            <a:xfrm>
              <a:off x="1617" y="2449"/>
              <a:ext cx="0" cy="20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AutoShape 186"/>
            <p:cNvSpPr>
              <a:spLocks noChangeArrowheads="1"/>
            </p:cNvSpPr>
            <p:nvPr/>
          </p:nvSpPr>
          <p:spPr bwMode="auto">
            <a:xfrm>
              <a:off x="1557" y="2655"/>
              <a:ext cx="120" cy="60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endParaRPr lang="ko-KR" alt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Line 187"/>
            <p:cNvSpPr>
              <a:spLocks noChangeShapeType="1"/>
            </p:cNvSpPr>
            <p:nvPr/>
          </p:nvSpPr>
          <p:spPr bwMode="auto">
            <a:xfrm>
              <a:off x="1557" y="2715"/>
              <a:ext cx="12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Line 188"/>
            <p:cNvSpPr>
              <a:spLocks noChangeShapeType="1"/>
            </p:cNvSpPr>
            <p:nvPr/>
          </p:nvSpPr>
          <p:spPr bwMode="auto">
            <a:xfrm>
              <a:off x="1170" y="2874"/>
              <a:ext cx="447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Line 189"/>
            <p:cNvSpPr>
              <a:spLocks noChangeShapeType="1"/>
            </p:cNvSpPr>
            <p:nvPr/>
          </p:nvSpPr>
          <p:spPr bwMode="auto">
            <a:xfrm>
              <a:off x="1617" y="2712"/>
              <a:ext cx="0" cy="16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4" name="Text Box 190"/>
            <p:cNvSpPr txBox="1">
              <a:spLocks noChangeArrowheads="1"/>
            </p:cNvSpPr>
            <p:nvPr/>
          </p:nvSpPr>
          <p:spPr bwMode="auto">
            <a:xfrm>
              <a:off x="1431" y="2291"/>
              <a:ext cx="168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900" b="1">
                  <a:latin typeface="Times New Roman" pitchFamily="18" charset="0"/>
                  <a:cs typeface="Times New Roman" pitchFamily="18" charset="0"/>
                </a:rPr>
                <a:t>R</a:t>
              </a:r>
            </a:p>
          </p:txBody>
        </p:sp>
        <p:sp>
          <p:nvSpPr>
            <p:cNvPr id="215" name="Line 191"/>
            <p:cNvSpPr>
              <a:spLocks noChangeShapeType="1"/>
            </p:cNvSpPr>
            <p:nvPr/>
          </p:nvSpPr>
          <p:spPr bwMode="auto">
            <a:xfrm flipH="1" flipV="1">
              <a:off x="1171" y="2571"/>
              <a:ext cx="0" cy="29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Line 192"/>
            <p:cNvSpPr>
              <a:spLocks noChangeShapeType="1"/>
            </p:cNvSpPr>
            <p:nvPr/>
          </p:nvSpPr>
          <p:spPr bwMode="auto">
            <a:xfrm>
              <a:off x="1111" y="2571"/>
              <a:ext cx="11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Line 193"/>
            <p:cNvSpPr>
              <a:spLocks noChangeShapeType="1"/>
            </p:cNvSpPr>
            <p:nvPr/>
          </p:nvSpPr>
          <p:spPr bwMode="auto">
            <a:xfrm>
              <a:off x="1130" y="2545"/>
              <a:ext cx="7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" name="Text Box 194"/>
            <p:cNvSpPr txBox="1">
              <a:spLocks noChangeArrowheads="1"/>
            </p:cNvSpPr>
            <p:nvPr/>
          </p:nvSpPr>
          <p:spPr bwMode="auto">
            <a:xfrm>
              <a:off x="1037" y="2569"/>
              <a:ext cx="14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219" name="Line 195"/>
            <p:cNvSpPr>
              <a:spLocks noChangeShapeType="1"/>
            </p:cNvSpPr>
            <p:nvPr/>
          </p:nvSpPr>
          <p:spPr bwMode="auto">
            <a:xfrm>
              <a:off x="1556" y="2655"/>
              <a:ext cx="121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Line 196"/>
            <p:cNvSpPr>
              <a:spLocks noChangeShapeType="1"/>
            </p:cNvSpPr>
            <p:nvPr/>
          </p:nvSpPr>
          <p:spPr bwMode="auto">
            <a:xfrm>
              <a:off x="1677" y="2655"/>
              <a:ext cx="37" cy="3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Line 197"/>
            <p:cNvSpPr>
              <a:spLocks noChangeShapeType="1"/>
            </p:cNvSpPr>
            <p:nvPr/>
          </p:nvSpPr>
          <p:spPr bwMode="auto">
            <a:xfrm flipH="1" flipV="1">
              <a:off x="1514" y="2619"/>
              <a:ext cx="37" cy="3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Text Box 198"/>
            <p:cNvSpPr txBox="1">
              <a:spLocks noChangeArrowheads="1"/>
            </p:cNvSpPr>
            <p:nvPr/>
          </p:nvSpPr>
          <p:spPr bwMode="auto">
            <a:xfrm>
              <a:off x="1281" y="2600"/>
              <a:ext cx="269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  ZD</a:t>
              </a:r>
            </a:p>
            <a:p>
              <a:pPr eaLnBrk="1" hangingPunct="1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(9.1V)</a:t>
              </a:r>
            </a:p>
          </p:txBody>
        </p:sp>
        <p:sp>
          <p:nvSpPr>
            <p:cNvPr id="223" name="Text Box 199"/>
            <p:cNvSpPr txBox="1">
              <a:spLocks noChangeArrowheads="1"/>
            </p:cNvSpPr>
            <p:nvPr/>
          </p:nvSpPr>
          <p:spPr bwMode="auto">
            <a:xfrm>
              <a:off x="888" y="2469"/>
              <a:ext cx="288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900">
                  <a:latin typeface="Times New Roman" pitchFamily="18" charset="0"/>
                  <a:cs typeface="Times New Roman" pitchFamily="18" charset="0"/>
                </a:rPr>
                <a:t>12[V]</a:t>
              </a:r>
            </a:p>
          </p:txBody>
        </p:sp>
        <p:sp>
          <p:nvSpPr>
            <p:cNvPr id="224" name="Line 200"/>
            <p:cNvSpPr>
              <a:spLocks noChangeShapeType="1"/>
            </p:cNvSpPr>
            <p:nvPr/>
          </p:nvSpPr>
          <p:spPr bwMode="auto">
            <a:xfrm flipH="1" flipV="1">
              <a:off x="1663" y="2224"/>
              <a:ext cx="112" cy="1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" name="Line 201"/>
            <p:cNvSpPr>
              <a:spLocks noChangeShapeType="1"/>
            </p:cNvSpPr>
            <p:nvPr/>
          </p:nvSpPr>
          <p:spPr bwMode="auto">
            <a:xfrm flipH="1">
              <a:off x="1663" y="2476"/>
              <a:ext cx="149" cy="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3" name="Rectangle 287"/>
          <p:cNvSpPr>
            <a:spLocks noChangeArrowheads="1"/>
          </p:cNvSpPr>
          <p:nvPr/>
        </p:nvSpPr>
        <p:spPr bwMode="auto">
          <a:xfrm>
            <a:off x="3461649" y="6657369"/>
            <a:ext cx="30956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Chip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err="1" smtClean="0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err="1" smtClean="0">
                <a:latin typeface="Times New Roman" pitchFamily="18" charset="0"/>
                <a:cs typeface="Times New Roman" pitchFamily="18" charset="0"/>
              </a:rPr>
              <a:t>bao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nhiêu ?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(     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eaLnBrk="1" hangingPunct="1"/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 dirty="0">
                <a:latin typeface="Times New Roman" pitchFamily="18" charset="0"/>
                <a:cs typeface="Times New Roman" pitchFamily="18" charset="0"/>
              </a:rPr>
              <a:t>① 106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Ω  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altLang="ko-KR" sz="900" dirty="0">
                <a:latin typeface="Times New Roman" pitchFamily="18" charset="0"/>
                <a:cs typeface="Times New Roman" pitchFamily="18" charset="0"/>
              </a:rPr>
              <a:t>②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106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kΩ</a:t>
            </a: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③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10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kΩ          </a:t>
            </a:r>
            <a:r>
              <a:rPr lang="en-US" altLang="ko-KR" sz="900" dirty="0">
                <a:latin typeface="Times New Roman" pitchFamily="18" charset="0"/>
                <a:cs typeface="Times New Roman" pitchFamily="18" charset="0"/>
              </a:rPr>
              <a:t>④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10 M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Ω</a:t>
            </a:r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34" name="Group 293"/>
          <p:cNvGrpSpPr>
            <a:grpSpLocks/>
          </p:cNvGrpSpPr>
          <p:nvPr/>
        </p:nvGrpSpPr>
        <p:grpSpPr bwMode="auto">
          <a:xfrm>
            <a:off x="5144374" y="7017493"/>
            <a:ext cx="1149350" cy="314325"/>
            <a:chOff x="3174" y="1850"/>
            <a:chExt cx="724" cy="342"/>
          </a:xfrm>
        </p:grpSpPr>
        <p:pic>
          <p:nvPicPr>
            <p:cNvPr id="235" name="Picture 29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4" y="1850"/>
              <a:ext cx="724" cy="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36" name="Rectangle 295"/>
            <p:cNvSpPr>
              <a:spLocks noChangeArrowheads="1"/>
            </p:cNvSpPr>
            <p:nvPr/>
          </p:nvSpPr>
          <p:spPr bwMode="auto">
            <a:xfrm>
              <a:off x="3354" y="1930"/>
              <a:ext cx="363" cy="181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7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굴림" pitchFamily="50" charset="-127"/>
                  <a:cs typeface="Arial" panose="020B0604020202020204" pitchFamily="34" charset="0"/>
                </a:rPr>
                <a:t>106</a:t>
              </a:r>
            </a:p>
          </p:txBody>
        </p:sp>
      </p:grpSp>
      <p:sp>
        <p:nvSpPr>
          <p:cNvPr id="237" name="Rectangle 283"/>
          <p:cNvSpPr>
            <a:spLocks noChangeArrowheads="1"/>
          </p:cNvSpPr>
          <p:nvPr/>
        </p:nvSpPr>
        <p:spPr bwMode="auto">
          <a:xfrm>
            <a:off x="3429000" y="5642417"/>
            <a:ext cx="3124200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Nếu Ic= 1[mA], Ib=30 [</a:t>
            </a:r>
            <a:r>
              <a:rPr lang="el-GR" altLang="ko-KR" sz="900" smtClean="0">
                <a:latin typeface="Times New Roman" pitchFamily="18" charset="0"/>
                <a:cs typeface="Times New Roman" pitchFamily="18" charset="0"/>
              </a:rPr>
              <a:t>μ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A] thì Ie [mA] bằng bao nhiêu ?</a:t>
            </a:r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altLang="ko-KR" sz="9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①  29 [mA]</a:t>
            </a:r>
            <a:endParaRPr lang="ko-KR" altLang="en-US" sz="9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ko-KR" altLang="en-US" sz="900">
                <a:latin typeface="Times New Roman" pitchFamily="18" charset="0"/>
                <a:cs typeface="Times New Roman" pitchFamily="18" charset="0"/>
              </a:rPr>
              <a:t>② 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31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[mA]</a:t>
            </a:r>
            <a:endParaRPr lang="ko-KR" altLang="en-US" sz="90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③ 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1.003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[mA]</a:t>
            </a:r>
            <a:endParaRPr lang="ko-KR" altLang="en-US" sz="90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④ 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1.03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[mA]</a:t>
            </a:r>
            <a:endParaRPr lang="ko-KR" alt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313350" y="8200104"/>
            <a:ext cx="3148619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900" smtClean="0">
                <a:latin typeface="Times New Roman" pitchFamily="18" charset="0"/>
                <a:cs typeface="Times New Roman" pitchFamily="18" charset="0"/>
              </a:rPr>
              <a:t>Nhôm ( Al ) có số proton là 13, nguyên tử khối là 27 vậy lớp</a:t>
            </a:r>
          </a:p>
          <a:p>
            <a:r>
              <a:rPr lang="en-US" sz="900" smtClean="0">
                <a:latin typeface="Times New Roman" pitchFamily="18" charset="0"/>
                <a:cs typeface="Times New Roman" pitchFamily="18" charset="0"/>
              </a:rPr>
              <a:t>Electron tự do ngoài cùng là bao nhiêu electron?</a:t>
            </a:r>
          </a:p>
          <a:p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① 1 electron                             ②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2 electron </a:t>
            </a:r>
          </a:p>
          <a:p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③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electron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                             ④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4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electron </a:t>
            </a:r>
            <a:endParaRPr lang="en-US" sz="90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9" name="Picture 6" descr="coli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6975" y="4617786"/>
            <a:ext cx="1728240" cy="741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0" name="Group 16"/>
          <p:cNvGrpSpPr>
            <a:grpSpLocks/>
          </p:cNvGrpSpPr>
          <p:nvPr/>
        </p:nvGrpSpPr>
        <p:grpSpPr bwMode="auto">
          <a:xfrm>
            <a:off x="5595363" y="6112908"/>
            <a:ext cx="179750" cy="197826"/>
            <a:chOff x="1425" y="2164"/>
            <a:chExt cx="264" cy="270"/>
          </a:xfrm>
        </p:grpSpPr>
        <p:sp>
          <p:nvSpPr>
            <p:cNvPr id="241" name="Oval 12"/>
            <p:cNvSpPr>
              <a:spLocks noChangeArrowheads="1"/>
            </p:cNvSpPr>
            <p:nvPr/>
          </p:nvSpPr>
          <p:spPr bwMode="auto">
            <a:xfrm>
              <a:off x="1425" y="2164"/>
              <a:ext cx="264" cy="270"/>
            </a:xfrm>
            <a:prstGeom prst="ellips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Times New Roman" pitchFamily="18" charset="0"/>
              </a:endParaRPr>
            </a:p>
          </p:txBody>
        </p:sp>
        <p:sp>
          <p:nvSpPr>
            <p:cNvPr id="242" name="Line 13"/>
            <p:cNvSpPr>
              <a:spLocks noChangeShapeType="1"/>
            </p:cNvSpPr>
            <p:nvPr/>
          </p:nvSpPr>
          <p:spPr bwMode="auto">
            <a:xfrm>
              <a:off x="1489" y="2208"/>
              <a:ext cx="0" cy="16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3" name="Line 14"/>
            <p:cNvSpPr>
              <a:spLocks noChangeShapeType="1"/>
            </p:cNvSpPr>
            <p:nvPr/>
          </p:nvSpPr>
          <p:spPr bwMode="auto">
            <a:xfrm flipH="1">
              <a:off x="1489" y="2190"/>
              <a:ext cx="132" cy="9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4" name="Line 15"/>
            <p:cNvSpPr>
              <a:spLocks noChangeShapeType="1"/>
            </p:cNvSpPr>
            <p:nvPr/>
          </p:nvSpPr>
          <p:spPr bwMode="auto">
            <a:xfrm>
              <a:off x="1489" y="2310"/>
              <a:ext cx="144" cy="9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45" name="Line 17"/>
          <p:cNvSpPr>
            <a:spLocks noChangeShapeType="1"/>
          </p:cNvSpPr>
          <p:nvPr/>
        </p:nvSpPr>
        <p:spPr bwMode="auto">
          <a:xfrm>
            <a:off x="5361143" y="6206692"/>
            <a:ext cx="277796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6" name="Line 18"/>
          <p:cNvSpPr>
            <a:spLocks noChangeShapeType="1"/>
          </p:cNvSpPr>
          <p:nvPr/>
        </p:nvSpPr>
        <p:spPr bwMode="auto">
          <a:xfrm flipV="1">
            <a:off x="5736984" y="6281758"/>
            <a:ext cx="0" cy="25489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7" name="Line 19"/>
          <p:cNvSpPr>
            <a:spLocks noChangeShapeType="1"/>
          </p:cNvSpPr>
          <p:nvPr/>
        </p:nvSpPr>
        <p:spPr bwMode="auto">
          <a:xfrm flipV="1">
            <a:off x="5727643" y="5858134"/>
            <a:ext cx="9341" cy="27382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8" name="Rectangle 21"/>
          <p:cNvSpPr>
            <a:spLocks noChangeArrowheads="1"/>
          </p:cNvSpPr>
          <p:nvPr/>
        </p:nvSpPr>
        <p:spPr bwMode="auto">
          <a:xfrm>
            <a:off x="5760739" y="6255050"/>
            <a:ext cx="42077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b="1" baseline="-2500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ko-KR" b="1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ko-KR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9" name="Line 22"/>
          <p:cNvSpPr>
            <a:spLocks noChangeShapeType="1"/>
          </p:cNvSpPr>
          <p:nvPr/>
        </p:nvSpPr>
        <p:spPr bwMode="auto">
          <a:xfrm>
            <a:off x="5314845" y="6124475"/>
            <a:ext cx="18519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0" name="Line 23"/>
          <p:cNvSpPr>
            <a:spLocks noChangeShapeType="1"/>
          </p:cNvSpPr>
          <p:nvPr/>
        </p:nvSpPr>
        <p:spPr bwMode="auto">
          <a:xfrm>
            <a:off x="5786337" y="6491551"/>
            <a:ext cx="0" cy="133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1" name="Rectangle 26"/>
          <p:cNvSpPr>
            <a:spLocks noChangeArrowheads="1"/>
          </p:cNvSpPr>
          <p:nvPr/>
        </p:nvSpPr>
        <p:spPr bwMode="auto">
          <a:xfrm>
            <a:off x="5177635" y="5892744"/>
            <a:ext cx="322406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b="1" baseline="-25000" smtClean="0">
                <a:latin typeface="Times New Roman" pitchFamily="18" charset="0"/>
                <a:cs typeface="Times New Roman" pitchFamily="18" charset="0"/>
              </a:rPr>
              <a:t>IB</a:t>
            </a:r>
            <a:endParaRPr lang="en-US" altLang="ko-KR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2" name="Rectangle 27"/>
          <p:cNvSpPr>
            <a:spLocks noChangeArrowheads="1"/>
          </p:cNvSpPr>
          <p:nvPr/>
        </p:nvSpPr>
        <p:spPr bwMode="auto">
          <a:xfrm>
            <a:off x="5685238" y="5849373"/>
            <a:ext cx="483406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b="1" baseline="-25000" smtClean="0">
                <a:latin typeface="Times New Roman" pitchFamily="18" charset="0"/>
                <a:cs typeface="Times New Roman" pitchFamily="18" charset="0"/>
              </a:rPr>
              <a:t>IC</a:t>
            </a:r>
            <a:endParaRPr lang="en-US" altLang="ko-KR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3" name="Rectangle 252"/>
          <p:cNvSpPr/>
          <p:nvPr/>
        </p:nvSpPr>
        <p:spPr>
          <a:xfrm>
            <a:off x="5408121" y="7660946"/>
            <a:ext cx="998287" cy="23346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  <a:cs typeface="Times New Roman" pitchFamily="18" charset="0"/>
              </a:rPr>
              <a:t>[   425 </a:t>
            </a:r>
            <a:r>
              <a:rPr kumimoji="0" lang="en-US" altLang="ko-KR" sz="9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  <a:cs typeface="Times New Roman" pitchFamily="18" charset="0"/>
              </a:rPr>
              <a:t>  k  100V  </a:t>
            </a: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  <a:cs typeface="Times New Roman" pitchFamily="18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535302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2"/>
          <p:cNvSpPr>
            <a:spLocks noChangeShapeType="1"/>
          </p:cNvSpPr>
          <p:nvPr/>
        </p:nvSpPr>
        <p:spPr bwMode="auto">
          <a:xfrm>
            <a:off x="205408" y="307439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243827" y="473295"/>
            <a:ext cx="324960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phận</a:t>
            </a:r>
            <a:r>
              <a:rPr lang="ko-KR" altLang="en-US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>
                <a:latin typeface="Times New Roman" pitchFamily="18" charset="0"/>
                <a:cs typeface="Times New Roman" pitchFamily="18" charset="0"/>
              </a:rPr>
              <a:t>:                                                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ID</a:t>
            </a:r>
            <a:r>
              <a:rPr lang="ko-KR" altLang="en-US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:             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ko-KR" altLang="en-US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>
                <a:latin typeface="Times New Roman" pitchFamily="18" charset="0"/>
                <a:cs typeface="Times New Roman" pitchFamily="18" charset="0"/>
              </a:rPr>
              <a:t>: 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296863" y="791433"/>
            <a:ext cx="3124200" cy="81011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57200" indent="-4572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10000"/>
              </a:lnSpc>
            </a:pPr>
            <a:endParaRPr lang="ko-KR" altLang="ko-KR" sz="700">
              <a:latin typeface="Arial" panose="020B0604020202020204" pitchFamily="34" charset="0"/>
              <a:ea typeface="돋움" pitchFamily="50" charset="-127"/>
              <a:cs typeface="Arial" panose="020B0604020202020204" pitchFamily="34" charset="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3421063" y="791433"/>
            <a:ext cx="3124200" cy="81011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57200" indent="-4572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en-US" altLang="ko-KR" sz="700">
              <a:latin typeface="Arial" panose="020B0604020202020204" pitchFamily="34" charset="0"/>
              <a:ea typeface="돋움" pitchFamily="50" charset="-127"/>
              <a:cs typeface="Arial" panose="020B0604020202020204" pitchFamily="34" charset="0"/>
            </a:endParaRPr>
          </a:p>
          <a:p>
            <a:pPr eaLnBrk="1" hangingPunct="1"/>
            <a:endParaRPr lang="en-US" altLang="ko-KR" sz="700">
              <a:latin typeface="Arial" panose="020B0604020202020204" pitchFamily="34" charset="0"/>
              <a:ea typeface="돋움" pitchFamily="50" charset="-127"/>
              <a:cs typeface="Arial" panose="020B0604020202020204" pitchFamily="34" charset="0"/>
            </a:endParaRPr>
          </a:p>
          <a:p>
            <a:pPr eaLnBrk="1" hangingPunct="1"/>
            <a:endParaRPr lang="en-US" altLang="ko-KR" sz="700">
              <a:latin typeface="Arial" panose="020B0604020202020204" pitchFamily="34" charset="0"/>
              <a:ea typeface="돋움" pitchFamily="50" charset="-127"/>
              <a:cs typeface="Arial" panose="020B0604020202020204" pitchFamily="34" charset="0"/>
            </a:endParaRPr>
          </a:p>
          <a:p>
            <a:pPr eaLnBrk="1" hangingPunct="1"/>
            <a:endParaRPr lang="en-US" altLang="ko-KR" sz="700">
              <a:latin typeface="Arial" panose="020B0604020202020204" pitchFamily="34" charset="0"/>
              <a:ea typeface="돋움" pitchFamily="50" charset="-127"/>
              <a:cs typeface="Arial" panose="020B0604020202020204" pitchFamily="34" charset="0"/>
            </a:endParaRPr>
          </a:p>
          <a:p>
            <a:pPr eaLnBrk="1" hangingPunct="1"/>
            <a:endParaRPr lang="en-US" altLang="ko-KR" sz="700">
              <a:latin typeface="Arial" panose="020B0604020202020204" pitchFamily="34" charset="0"/>
              <a:ea typeface="돋움" pitchFamily="50" charset="-127"/>
              <a:cs typeface="Arial" panose="020B0604020202020204" pitchFamily="34" charset="0"/>
            </a:endParaRP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266949" y="23338"/>
            <a:ext cx="20211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굴림" charset="-127"/>
                <a:cs typeface="Times New Roman" pitchFamily="18" charset="0"/>
              </a:rPr>
              <a:t>Điện</a:t>
            </a:r>
            <a:r>
              <a:rPr lang="en-US" altLang="ko-KR" sz="1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굴림" charset="-127"/>
                <a:cs typeface="Times New Roman" pitchFamily="18" charset="0"/>
              </a:rPr>
              <a:t> </a:t>
            </a:r>
            <a:r>
              <a:rPr lang="en-US" altLang="ko-KR" sz="1400" b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굴림" charset="-127"/>
                <a:cs typeface="Times New Roman" pitchFamily="18" charset="0"/>
              </a:rPr>
              <a:t>điện</a:t>
            </a:r>
            <a:r>
              <a:rPr lang="en-US" altLang="ko-KR" sz="1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굴림" charset="-127"/>
                <a:cs typeface="Times New Roman" pitchFamily="18" charset="0"/>
              </a:rPr>
              <a:t> </a:t>
            </a:r>
            <a:r>
              <a:rPr lang="en-US" altLang="ko-KR" sz="1400" b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굴림" charset="-127"/>
                <a:cs typeface="Times New Roman" pitchFamily="18" charset="0"/>
              </a:rPr>
              <a:t>tử</a:t>
            </a:r>
            <a:r>
              <a:rPr lang="en-US" altLang="ko-KR" sz="1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굴림" charset="-127"/>
                <a:cs typeface="Times New Roman" pitchFamily="18" charset="0"/>
              </a:rPr>
              <a:t> </a:t>
            </a:r>
            <a:r>
              <a:rPr lang="en-US" altLang="ko-KR" sz="1400" b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굴림" charset="-127"/>
                <a:cs typeface="Times New Roman" pitchFamily="18" charset="0"/>
              </a:rPr>
              <a:t>cơ</a:t>
            </a:r>
            <a:r>
              <a:rPr lang="en-US" altLang="ko-KR" sz="1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굴림" charset="-127"/>
                <a:cs typeface="Times New Roman" pitchFamily="18" charset="0"/>
              </a:rPr>
              <a:t> </a:t>
            </a:r>
            <a:r>
              <a:rPr lang="en-US" altLang="ko-KR" sz="1400" b="1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굴림" charset="-127"/>
                <a:cs typeface="Times New Roman" pitchFamily="18" charset="0"/>
              </a:rPr>
              <a:t>bản</a:t>
            </a:r>
            <a:r>
              <a:rPr lang="ko-KR" altLang="en-US" sz="1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굴림" charset="-127"/>
                <a:cs typeface="Times New Roman" pitchFamily="18" charset="0"/>
              </a:rPr>
              <a:t>  </a:t>
            </a:r>
            <a:r>
              <a:rPr lang="en-US" altLang="ko-KR" sz="1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굴림" charset="-127"/>
                <a:cs typeface="Times New Roman" pitchFamily="18" charset="0"/>
              </a:rPr>
              <a:t>A</a:t>
            </a:r>
            <a:r>
              <a:rPr lang="ko-KR" altLang="en-US" sz="1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굴림" charset="-127"/>
                <a:cs typeface="Times New Roman" pitchFamily="18" charset="0"/>
              </a:rPr>
              <a:t>   </a:t>
            </a:r>
            <a:endParaRPr lang="ko-KR" altLang="en-US" sz="1400" b="1" dirty="0">
              <a:latin typeface="Times New Roman" pitchFamily="18" charset="0"/>
              <a:ea typeface="굴림" charset="-127"/>
              <a:cs typeface="Times New Roman" pitchFamily="18" charset="0"/>
            </a:endParaRPr>
          </a:p>
        </p:txBody>
      </p:sp>
      <p:sp>
        <p:nvSpPr>
          <p:cNvPr id="8209" name="Rectangle 82"/>
          <p:cNvSpPr>
            <a:spLocks noChangeArrowheads="1"/>
          </p:cNvSpPr>
          <p:nvPr/>
        </p:nvSpPr>
        <p:spPr bwMode="auto">
          <a:xfrm>
            <a:off x="3429000" y="3779890"/>
            <a:ext cx="3153166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9.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Tần số của kết </a:t>
            </a:r>
            <a:r>
              <a:rPr lang="en-US" altLang="ko-KR" sz="900" err="1" smtClean="0"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máy hiện sóng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err="1" smtClean="0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là bao nhiêu?</a:t>
            </a:r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① 100[Hz]         ② 1[KHz]         ③ 10[KHz]           ④ 1[MHz]</a:t>
            </a:r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210" name="Group 83"/>
          <p:cNvGrpSpPr>
            <a:grpSpLocks/>
          </p:cNvGrpSpPr>
          <p:nvPr/>
        </p:nvGrpSpPr>
        <p:grpSpPr bwMode="auto">
          <a:xfrm>
            <a:off x="4122730" y="4101436"/>
            <a:ext cx="1664865" cy="866741"/>
            <a:chOff x="3154" y="3456"/>
            <a:chExt cx="890" cy="802"/>
          </a:xfrm>
        </p:grpSpPr>
        <p:graphicFrame>
          <p:nvGraphicFramePr>
            <p:cNvPr id="8285" name="Object 84"/>
            <p:cNvGraphicFramePr>
              <a:graphicFrameLocks noChangeAspect="1"/>
            </p:cNvGraphicFramePr>
            <p:nvPr/>
          </p:nvGraphicFramePr>
          <p:xfrm>
            <a:off x="3168" y="3456"/>
            <a:ext cx="876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비트맵 이미지" r:id="rId4" imgW="2781688" imgH="1980952" progId="Paint.Picture">
                    <p:embed/>
                  </p:oleObj>
                </mc:Choice>
                <mc:Fallback>
                  <p:oleObj name="비트맵 이미지" r:id="rId4" imgW="2781688" imgH="1980952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3456"/>
                          <a:ext cx="876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86" name="Text Box 85"/>
            <p:cNvSpPr txBox="1">
              <a:spLocks noChangeArrowheads="1"/>
            </p:cNvSpPr>
            <p:nvPr/>
          </p:nvSpPr>
          <p:spPr bwMode="auto">
            <a:xfrm>
              <a:off x="3154" y="4044"/>
              <a:ext cx="383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900">
                  <a:latin typeface="Times New Roman" pitchFamily="18" charset="0"/>
                  <a:ea typeface="돋움" pitchFamily="50" charset="-127"/>
                  <a:cs typeface="Times New Roman" pitchFamily="18" charset="0"/>
                </a:rPr>
                <a:t>CH1 2.00V</a:t>
              </a:r>
            </a:p>
          </p:txBody>
        </p:sp>
        <p:sp>
          <p:nvSpPr>
            <p:cNvPr id="8287" name="Text Box 86"/>
            <p:cNvSpPr txBox="1">
              <a:spLocks noChangeArrowheads="1"/>
            </p:cNvSpPr>
            <p:nvPr/>
          </p:nvSpPr>
          <p:spPr bwMode="auto">
            <a:xfrm>
              <a:off x="3636" y="4037"/>
              <a:ext cx="319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900">
                  <a:latin typeface="Times New Roman" pitchFamily="18" charset="0"/>
                  <a:ea typeface="돋움" pitchFamily="50" charset="-127"/>
                  <a:cs typeface="Times New Roman" pitchFamily="18" charset="0"/>
                </a:rPr>
                <a:t>M 250μs</a:t>
              </a:r>
            </a:p>
          </p:txBody>
        </p:sp>
      </p:grpSp>
      <p:sp>
        <p:nvSpPr>
          <p:cNvPr id="8211" name="Rectangle 173"/>
          <p:cNvSpPr>
            <a:spLocks noChangeArrowheads="1"/>
          </p:cNvSpPr>
          <p:nvPr/>
        </p:nvSpPr>
        <p:spPr bwMode="auto">
          <a:xfrm>
            <a:off x="3430360" y="6034282"/>
            <a:ext cx="31242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10.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Hãy tìm điện dung của tụ Mylar ?</a:t>
            </a:r>
            <a:r>
              <a:rPr lang="en-US" altLang="ko-KR" sz="120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eaLnBrk="1" hangingPunct="1"/>
            <a:endParaRPr lang="en-US" altLang="ko-KR" sz="9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① 473   [ pF]    ② 0.47[ </a:t>
            </a:r>
            <a:r>
              <a:rPr lang="el-GR" altLang="ko-KR" sz="900" smtClean="0">
                <a:latin typeface="Times New Roman" pitchFamily="18" charset="0"/>
                <a:cs typeface="Times New Roman" pitchFamily="18" charset="0"/>
              </a:rPr>
              <a:t>μ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F ]   ③ 47 [ nF ]     ④  4.7    [ </a:t>
            </a:r>
            <a:r>
              <a:rPr lang="el-GR" altLang="ko-KR" sz="900" smtClean="0">
                <a:latin typeface="Times New Roman" pitchFamily="18" charset="0"/>
                <a:cs typeface="Times New Roman" pitchFamily="18" charset="0"/>
              </a:rPr>
              <a:t>μ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F ]</a:t>
            </a:r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18" name="Rectangle 157"/>
          <p:cNvSpPr>
            <a:spLocks noChangeArrowheads="1"/>
          </p:cNvSpPr>
          <p:nvPr/>
        </p:nvSpPr>
        <p:spPr bwMode="auto">
          <a:xfrm>
            <a:off x="288925" y="1763610"/>
            <a:ext cx="313213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Chọn đáp án đúng cho khái niệm dưới đây?</a:t>
            </a:r>
          </a:p>
          <a:p>
            <a:pPr eaLnBrk="1" hangingPunct="1"/>
            <a:endParaRPr lang="en-US" altLang="ko-KR" sz="900" smtClean="0">
              <a:latin typeface="Times New Roman" pitchFamily="18" charset="0"/>
              <a:cs typeface="Times New Roman" pitchFamily="18" charset="0"/>
            </a:endParaRPr>
          </a:p>
          <a:p>
            <a:pPr lvl="0" eaLnBrk="1" hangingPunct="1"/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Là vật mà bên trong vật ấy hầu như không chứa hạt electron tự do nên có điện trở lớn  khiến cho dòng điện gần như không thể chạy qua</a:t>
            </a:r>
            <a:endParaRPr lang="ko-KR" alt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① sillicon(Si)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       ② Sắt            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③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Serium(Se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④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plastic</a:t>
            </a:r>
            <a:endParaRPr lang="ko-KR" alt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19" name="Rectangle 173"/>
          <p:cNvSpPr>
            <a:spLocks noChangeArrowheads="1"/>
          </p:cNvSpPr>
          <p:nvPr/>
        </p:nvSpPr>
        <p:spPr bwMode="auto">
          <a:xfrm>
            <a:off x="300832" y="2915770"/>
            <a:ext cx="3124200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phần tử nào được sử dụng với mục đích truyền tín hiệu với thiết bị bên ngoài như máy tính, PLC … bằng cách để diode phát quang và photo TR đối mặt nhau rồi phần tử hóa?</a:t>
            </a:r>
          </a:p>
          <a:p>
            <a:pPr eaLnBrk="1" hangingPunct="1"/>
            <a:endParaRPr lang="en-US" altLang="ko-KR" sz="9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① Phototransistor                           	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②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Photocoupler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ko-KR" sz="9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③ diode quang điện 	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④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SCR</a:t>
            </a:r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21" name="Rectangle 211"/>
          <p:cNvSpPr>
            <a:spLocks noChangeArrowheads="1"/>
          </p:cNvSpPr>
          <p:nvPr/>
        </p:nvSpPr>
        <p:spPr bwMode="auto">
          <a:xfrm>
            <a:off x="313780" y="4211950"/>
            <a:ext cx="3124200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Chọn đáp án đúng cho khái niệm dưới đây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eaLnBrk="1" hangingPunct="1"/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Là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hiện tượng khi dòng điện của 1 cuộn cảm thay đổi thì phát sinh lực điện động cảm ứng ở cuộn cảm còn lại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/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①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Cảm ứng điện từ                         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ko-KR" altLang="en-US" sz="900">
                <a:latin typeface="Times New Roman" pitchFamily="18" charset="0"/>
                <a:cs typeface="Times New Roman" pitchFamily="18" charset="0"/>
              </a:rPr>
              <a:t>②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ự cảm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③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Hỗ cảm	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ko-KR" altLang="en-US" sz="900">
                <a:latin typeface="Times New Roman" pitchFamily="18" charset="0"/>
                <a:cs typeface="Times New Roman" pitchFamily="18" charset="0"/>
              </a:rPr>
              <a:t>④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Điện từ cảm ứng</a:t>
            </a:r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ko-KR" alt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22" name="Rectangle 216"/>
          <p:cNvSpPr>
            <a:spLocks noChangeArrowheads="1"/>
          </p:cNvSpPr>
          <p:nvPr/>
        </p:nvSpPr>
        <p:spPr bwMode="auto">
          <a:xfrm>
            <a:off x="303376" y="5940190"/>
            <a:ext cx="31242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Trong công tác nối đất, điện trở nối đất của công tác nối đất loại 3  đặc biệt là bao nhiêu?      </a:t>
            </a:r>
          </a:p>
          <a:p>
            <a:pPr eaLnBrk="1" hangingPunct="1"/>
            <a:endParaRPr lang="vi-VN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① Dưới 100 Ohm</a:t>
            </a:r>
          </a:p>
          <a:p>
            <a:pPr eaLnBrk="1" hangingPunct="1"/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② Dưới 10 Ohm</a:t>
            </a:r>
          </a:p>
          <a:p>
            <a:pPr eaLnBrk="1" hangingPunct="1"/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③ Dưới 1 Ohm</a:t>
            </a:r>
          </a:p>
          <a:p>
            <a:pPr eaLnBrk="1" hangingPunct="1"/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④ Dưới 1000 </a:t>
            </a:r>
            <a:r>
              <a:rPr lang="vi-VN" altLang="ko-KR" sz="900" smtClean="0">
                <a:latin typeface="Times New Roman" pitchFamily="18" charset="0"/>
                <a:cs typeface="Times New Roman" pitchFamily="18" charset="0"/>
              </a:rPr>
              <a:t>Ohm</a:t>
            </a:r>
            <a:endParaRPr lang="vi-VN" altLang="ko-KR" sz="9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23" name="Rectangle 172"/>
          <p:cNvSpPr>
            <a:spLocks noChangeArrowheads="1"/>
          </p:cNvSpPr>
          <p:nvPr/>
        </p:nvSpPr>
        <p:spPr bwMode="auto">
          <a:xfrm>
            <a:off x="3422422" y="907014"/>
            <a:ext cx="3132138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Ở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mạch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err="1" smtClean="0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đây.</a:t>
            </a: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Điện áp </a:t>
            </a:r>
            <a:r>
              <a:rPr lang="en-US" altLang="ko-KR" sz="90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R  là bao nhiêu  ? </a:t>
            </a:r>
          </a:p>
          <a:p>
            <a:pPr eaLnBrk="1" hangingPunct="1"/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①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0.7 V            	② 9.1 V</a:t>
            </a:r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③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11.3 V            	④ 2.9  V</a:t>
            </a:r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224" name="Group 173"/>
          <p:cNvGrpSpPr>
            <a:grpSpLocks/>
          </p:cNvGrpSpPr>
          <p:nvPr/>
        </p:nvGrpSpPr>
        <p:grpSpPr bwMode="auto">
          <a:xfrm>
            <a:off x="5013220" y="984609"/>
            <a:ext cx="1474946" cy="845330"/>
            <a:chOff x="888" y="2224"/>
            <a:chExt cx="924" cy="656"/>
          </a:xfrm>
        </p:grpSpPr>
        <p:sp>
          <p:nvSpPr>
            <p:cNvPr id="8233" name="Line 174"/>
            <p:cNvSpPr>
              <a:spLocks noChangeShapeType="1"/>
            </p:cNvSpPr>
            <p:nvPr/>
          </p:nvSpPr>
          <p:spPr bwMode="auto">
            <a:xfrm>
              <a:off x="1170" y="2233"/>
              <a:ext cx="1" cy="30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4" name="Line 175"/>
            <p:cNvSpPr>
              <a:spLocks noChangeShapeType="1"/>
            </p:cNvSpPr>
            <p:nvPr/>
          </p:nvSpPr>
          <p:spPr bwMode="auto">
            <a:xfrm>
              <a:off x="1171" y="2236"/>
              <a:ext cx="44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5" name="Line 176"/>
            <p:cNvSpPr>
              <a:spLocks noChangeShapeType="1"/>
            </p:cNvSpPr>
            <p:nvPr/>
          </p:nvSpPr>
          <p:spPr bwMode="auto">
            <a:xfrm>
              <a:off x="1617" y="2233"/>
              <a:ext cx="0" cy="9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236" name="Group 177"/>
            <p:cNvGrpSpPr>
              <a:grpSpLocks/>
            </p:cNvGrpSpPr>
            <p:nvPr/>
          </p:nvGrpSpPr>
          <p:grpSpPr bwMode="auto">
            <a:xfrm>
              <a:off x="1572" y="2329"/>
              <a:ext cx="90" cy="120"/>
              <a:chOff x="1488" y="1152"/>
              <a:chExt cx="192" cy="336"/>
            </a:xfrm>
          </p:grpSpPr>
          <p:sp>
            <p:nvSpPr>
              <p:cNvPr id="8258" name="Line 178"/>
              <p:cNvSpPr>
                <a:spLocks noChangeShapeType="1"/>
              </p:cNvSpPr>
              <p:nvPr/>
            </p:nvSpPr>
            <p:spPr bwMode="auto">
              <a:xfrm>
                <a:off x="1584" y="115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59" name="Line 179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60" name="Line 180"/>
              <p:cNvSpPr>
                <a:spLocks noChangeShapeType="1"/>
              </p:cNvSpPr>
              <p:nvPr/>
            </p:nvSpPr>
            <p:spPr bwMode="auto">
              <a:xfrm>
                <a:off x="1488" y="1248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61" name="Line 181"/>
              <p:cNvSpPr>
                <a:spLocks noChangeShapeType="1"/>
              </p:cNvSpPr>
              <p:nvPr/>
            </p:nvSpPr>
            <p:spPr bwMode="auto">
              <a:xfrm flipH="1">
                <a:off x="1488" y="1296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62" name="Line 182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63" name="Line 183"/>
              <p:cNvSpPr>
                <a:spLocks noChangeShapeType="1"/>
              </p:cNvSpPr>
              <p:nvPr/>
            </p:nvSpPr>
            <p:spPr bwMode="auto">
              <a:xfrm flipH="1">
                <a:off x="1488" y="1392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64" name="Line 184"/>
              <p:cNvSpPr>
                <a:spLocks noChangeShapeType="1"/>
              </p:cNvSpPr>
              <p:nvPr/>
            </p:nvSpPr>
            <p:spPr bwMode="auto">
              <a:xfrm>
                <a:off x="1488" y="144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237" name="Line 185"/>
            <p:cNvSpPr>
              <a:spLocks noChangeShapeType="1"/>
            </p:cNvSpPr>
            <p:nvPr/>
          </p:nvSpPr>
          <p:spPr bwMode="auto">
            <a:xfrm>
              <a:off x="1617" y="2449"/>
              <a:ext cx="0" cy="20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8" name="AutoShape 186"/>
            <p:cNvSpPr>
              <a:spLocks noChangeArrowheads="1"/>
            </p:cNvSpPr>
            <p:nvPr/>
          </p:nvSpPr>
          <p:spPr bwMode="auto">
            <a:xfrm flipV="1">
              <a:off x="1557" y="2661"/>
              <a:ext cx="120" cy="81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endParaRPr lang="ko-KR" alt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0" name="Line 188"/>
            <p:cNvSpPr>
              <a:spLocks noChangeShapeType="1"/>
            </p:cNvSpPr>
            <p:nvPr/>
          </p:nvSpPr>
          <p:spPr bwMode="auto">
            <a:xfrm>
              <a:off x="1170" y="2874"/>
              <a:ext cx="447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1" name="Line 189"/>
            <p:cNvSpPr>
              <a:spLocks noChangeShapeType="1"/>
            </p:cNvSpPr>
            <p:nvPr/>
          </p:nvSpPr>
          <p:spPr bwMode="auto">
            <a:xfrm>
              <a:off x="1617" y="2712"/>
              <a:ext cx="0" cy="16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2" name="Text Box 190"/>
            <p:cNvSpPr txBox="1">
              <a:spLocks noChangeArrowheads="1"/>
            </p:cNvSpPr>
            <p:nvPr/>
          </p:nvSpPr>
          <p:spPr bwMode="auto">
            <a:xfrm>
              <a:off x="1431" y="2291"/>
              <a:ext cx="168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900" b="1">
                  <a:latin typeface="Times New Roman" pitchFamily="18" charset="0"/>
                  <a:cs typeface="Times New Roman" pitchFamily="18" charset="0"/>
                </a:rPr>
                <a:t>R</a:t>
              </a:r>
            </a:p>
          </p:txBody>
        </p:sp>
        <p:sp>
          <p:nvSpPr>
            <p:cNvPr id="8243" name="Line 191"/>
            <p:cNvSpPr>
              <a:spLocks noChangeShapeType="1"/>
            </p:cNvSpPr>
            <p:nvPr/>
          </p:nvSpPr>
          <p:spPr bwMode="auto">
            <a:xfrm flipH="1" flipV="1">
              <a:off x="1171" y="2571"/>
              <a:ext cx="0" cy="29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4" name="Line 192"/>
            <p:cNvSpPr>
              <a:spLocks noChangeShapeType="1"/>
            </p:cNvSpPr>
            <p:nvPr/>
          </p:nvSpPr>
          <p:spPr bwMode="auto">
            <a:xfrm>
              <a:off x="1111" y="2571"/>
              <a:ext cx="11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5" name="Line 193"/>
            <p:cNvSpPr>
              <a:spLocks noChangeShapeType="1"/>
            </p:cNvSpPr>
            <p:nvPr/>
          </p:nvSpPr>
          <p:spPr bwMode="auto">
            <a:xfrm>
              <a:off x="1130" y="2545"/>
              <a:ext cx="7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6" name="Text Box 194"/>
            <p:cNvSpPr txBox="1">
              <a:spLocks noChangeArrowheads="1"/>
            </p:cNvSpPr>
            <p:nvPr/>
          </p:nvSpPr>
          <p:spPr bwMode="auto">
            <a:xfrm>
              <a:off x="1037" y="2569"/>
              <a:ext cx="14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8247" name="Line 195"/>
            <p:cNvSpPr>
              <a:spLocks noChangeShapeType="1"/>
            </p:cNvSpPr>
            <p:nvPr/>
          </p:nvSpPr>
          <p:spPr bwMode="auto">
            <a:xfrm>
              <a:off x="1556" y="2737"/>
              <a:ext cx="121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8" name="Line 196"/>
            <p:cNvSpPr>
              <a:spLocks noChangeShapeType="1"/>
            </p:cNvSpPr>
            <p:nvPr/>
          </p:nvSpPr>
          <p:spPr bwMode="auto">
            <a:xfrm>
              <a:off x="1673" y="2737"/>
              <a:ext cx="37" cy="3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9" name="Line 197"/>
            <p:cNvSpPr>
              <a:spLocks noChangeShapeType="1"/>
            </p:cNvSpPr>
            <p:nvPr/>
          </p:nvSpPr>
          <p:spPr bwMode="auto">
            <a:xfrm flipH="1" flipV="1">
              <a:off x="1518" y="2701"/>
              <a:ext cx="37" cy="3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50" name="Text Box 198"/>
            <p:cNvSpPr txBox="1">
              <a:spLocks noChangeArrowheads="1"/>
            </p:cNvSpPr>
            <p:nvPr/>
          </p:nvSpPr>
          <p:spPr bwMode="auto">
            <a:xfrm>
              <a:off x="1243" y="2600"/>
              <a:ext cx="269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  ZD</a:t>
              </a:r>
            </a:p>
            <a:p>
              <a:pPr eaLnBrk="1" hangingPunct="1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(9.1V)</a:t>
              </a:r>
            </a:p>
          </p:txBody>
        </p:sp>
        <p:sp>
          <p:nvSpPr>
            <p:cNvPr id="8251" name="Text Box 199"/>
            <p:cNvSpPr txBox="1">
              <a:spLocks noChangeArrowheads="1"/>
            </p:cNvSpPr>
            <p:nvPr/>
          </p:nvSpPr>
          <p:spPr bwMode="auto">
            <a:xfrm>
              <a:off x="888" y="2469"/>
              <a:ext cx="288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900">
                  <a:latin typeface="Times New Roman" pitchFamily="18" charset="0"/>
                  <a:cs typeface="Times New Roman" pitchFamily="18" charset="0"/>
                </a:rPr>
                <a:t>12[V]</a:t>
              </a:r>
            </a:p>
          </p:txBody>
        </p:sp>
        <p:sp>
          <p:nvSpPr>
            <p:cNvPr id="8252" name="Line 200"/>
            <p:cNvSpPr>
              <a:spLocks noChangeShapeType="1"/>
            </p:cNvSpPr>
            <p:nvPr/>
          </p:nvSpPr>
          <p:spPr bwMode="auto">
            <a:xfrm flipH="1" flipV="1">
              <a:off x="1663" y="2224"/>
              <a:ext cx="112" cy="1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53" name="Line 201"/>
            <p:cNvSpPr>
              <a:spLocks noChangeShapeType="1"/>
            </p:cNvSpPr>
            <p:nvPr/>
          </p:nvSpPr>
          <p:spPr bwMode="auto">
            <a:xfrm flipH="1">
              <a:off x="1663" y="2476"/>
              <a:ext cx="149" cy="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230" name="Rectangle 283"/>
          <p:cNvSpPr>
            <a:spLocks noChangeArrowheads="1"/>
          </p:cNvSpPr>
          <p:nvPr/>
        </p:nvSpPr>
        <p:spPr bwMode="auto">
          <a:xfrm>
            <a:off x="3422422" y="1979640"/>
            <a:ext cx="3124200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Chọn đáp ký hiệu đúng của Thyristor (SCR)?</a:t>
            </a:r>
          </a:p>
          <a:p>
            <a:pPr eaLnBrk="1" hangingPunct="1"/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altLang="ko-KR" sz="9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     K                         K                           A                            A</a:t>
            </a:r>
          </a:p>
          <a:p>
            <a:pPr eaLnBrk="1" hangingPunct="1"/>
            <a:endParaRPr lang="en-US" altLang="ko-KR" sz="9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altLang="ko-KR" sz="9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G                         G                           G                            G</a:t>
            </a:r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altLang="ko-KR" sz="9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     A                        A                           K                            K</a:t>
            </a:r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altLang="ko-KR" sz="9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     ①	    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②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③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④</a:t>
            </a:r>
            <a:endParaRPr lang="ko-KR" alt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925" y="927093"/>
            <a:ext cx="2949846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900" smtClean="0">
                <a:latin typeface="Times New Roman" pitchFamily="18" charset="0"/>
                <a:cs typeface="Times New Roman" pitchFamily="18" charset="0"/>
              </a:rPr>
              <a:t>Sắt (Fe) có số proton là 26, nguyên tử khối là 56 vậy lớp</a:t>
            </a:r>
          </a:p>
          <a:p>
            <a:r>
              <a:rPr lang="en-US" sz="900" smtClean="0">
                <a:latin typeface="Times New Roman" pitchFamily="18" charset="0"/>
                <a:cs typeface="Times New Roman" pitchFamily="18" charset="0"/>
              </a:rPr>
              <a:t>Electron tự do ngoài cùng là bao nhiêu electron?</a:t>
            </a:r>
          </a:p>
          <a:p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① 16 electron                             ② 18 electron </a:t>
            </a:r>
          </a:p>
          <a:p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③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26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electron</a:t>
            </a:r>
            <a:r>
              <a:rPr lang="ko-KR" altLang="en-US" sz="900" smtClean="0">
                <a:latin typeface="Times New Roman" pitchFamily="18" charset="0"/>
                <a:cs typeface="Times New Roman" pitchFamily="18" charset="0"/>
              </a:rPr>
              <a:t>                             ④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28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electron </a:t>
            </a:r>
            <a:endParaRPr lang="en-US" sz="90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05407" y="6032151"/>
            <a:ext cx="998287" cy="2334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eaLnBrk="1" hangingPunct="1"/>
            <a:r>
              <a:rPr lang="en-US" altLang="ko-KR" sz="9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[   </a:t>
            </a:r>
            <a:r>
              <a:rPr lang="en-US" altLang="ko-KR" sz="9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473K  100V  </a:t>
            </a:r>
            <a:r>
              <a:rPr lang="en-US" altLang="ko-KR" sz="9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p:sp>
        <p:nvSpPr>
          <p:cNvPr id="3" name="Rectangle 2"/>
          <p:cNvSpPr/>
          <p:nvPr/>
        </p:nvSpPr>
        <p:spPr>
          <a:xfrm>
            <a:off x="332570" y="2083400"/>
            <a:ext cx="3053928" cy="5018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332570" y="4529837"/>
            <a:ext cx="3053928" cy="40221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2" name="Rectangle 287"/>
          <p:cNvSpPr>
            <a:spLocks noChangeArrowheads="1"/>
          </p:cNvSpPr>
          <p:nvPr/>
        </p:nvSpPr>
        <p:spPr bwMode="auto">
          <a:xfrm>
            <a:off x="308625" y="7740440"/>
            <a:ext cx="30956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u="sng" smtClean="0"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Chip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err="1" smtClean="0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ko-KR" sz="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 err="1" smtClean="0">
                <a:latin typeface="Times New Roman" pitchFamily="18" charset="0"/>
                <a:cs typeface="Times New Roman" pitchFamily="18" charset="0"/>
              </a:rPr>
              <a:t>bao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nhiêu ?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(     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eaLnBrk="1" hangingPunct="1"/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①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104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Ω  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         ② 104 kΩ</a:t>
            </a:r>
          </a:p>
          <a:p>
            <a:pPr eaLnBrk="1" hangingPunct="1"/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③ 100 kΩ         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④ 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10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ko-KR" sz="900" smtClean="0">
                <a:latin typeface="Times New Roman" pitchFamily="18" charset="0"/>
                <a:cs typeface="Times New Roman" pitchFamily="18" charset="0"/>
              </a:rPr>
              <a:t>Ω</a:t>
            </a:r>
            <a:endParaRPr lang="en-US" altLang="ko-KR" sz="9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73" name="Group 293"/>
          <p:cNvGrpSpPr>
            <a:grpSpLocks/>
          </p:cNvGrpSpPr>
          <p:nvPr/>
        </p:nvGrpSpPr>
        <p:grpSpPr bwMode="auto">
          <a:xfrm>
            <a:off x="1991350" y="8100564"/>
            <a:ext cx="1149350" cy="314325"/>
            <a:chOff x="3174" y="1850"/>
            <a:chExt cx="724" cy="342"/>
          </a:xfrm>
        </p:grpSpPr>
        <p:pic>
          <p:nvPicPr>
            <p:cNvPr id="74" name="Picture 29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4" y="1850"/>
              <a:ext cx="724" cy="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5" name="Rectangle 295"/>
            <p:cNvSpPr>
              <a:spLocks noChangeArrowheads="1"/>
            </p:cNvSpPr>
            <p:nvPr/>
          </p:nvSpPr>
          <p:spPr bwMode="auto">
            <a:xfrm>
              <a:off x="3354" y="1930"/>
              <a:ext cx="363" cy="18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700" b="1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104</a:t>
              </a:r>
              <a:endParaRPr lang="en-US" altLang="ko-KR"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7" name="Line 185"/>
          <p:cNvSpPr>
            <a:spLocks noChangeShapeType="1"/>
          </p:cNvSpPr>
          <p:nvPr/>
        </p:nvSpPr>
        <p:spPr bwMode="auto">
          <a:xfrm>
            <a:off x="3784617" y="2504398"/>
            <a:ext cx="0" cy="265454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AutoShape 186"/>
          <p:cNvSpPr>
            <a:spLocks noChangeArrowheads="1"/>
          </p:cNvSpPr>
          <p:nvPr/>
        </p:nvSpPr>
        <p:spPr bwMode="auto">
          <a:xfrm flipV="1">
            <a:off x="3688841" y="2777584"/>
            <a:ext cx="191551" cy="104378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Line 189"/>
          <p:cNvSpPr>
            <a:spLocks noChangeShapeType="1"/>
          </p:cNvSpPr>
          <p:nvPr/>
        </p:nvSpPr>
        <p:spPr bwMode="auto">
          <a:xfrm flipH="1">
            <a:off x="3783819" y="2843303"/>
            <a:ext cx="798" cy="43251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Line 195"/>
          <p:cNvSpPr>
            <a:spLocks noChangeShapeType="1"/>
          </p:cNvSpPr>
          <p:nvPr/>
        </p:nvSpPr>
        <p:spPr bwMode="auto">
          <a:xfrm>
            <a:off x="3687245" y="2875518"/>
            <a:ext cx="193148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Line 196"/>
          <p:cNvSpPr>
            <a:spLocks noChangeShapeType="1"/>
          </p:cNvSpPr>
          <p:nvPr/>
        </p:nvSpPr>
        <p:spPr bwMode="auto">
          <a:xfrm>
            <a:off x="3874008" y="2875518"/>
            <a:ext cx="59062" cy="4639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Line 197"/>
          <p:cNvSpPr>
            <a:spLocks noChangeShapeType="1"/>
          </p:cNvSpPr>
          <p:nvPr/>
        </p:nvSpPr>
        <p:spPr bwMode="auto">
          <a:xfrm flipH="1" flipV="1">
            <a:off x="3626587" y="2829128"/>
            <a:ext cx="59062" cy="4639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Line 185"/>
          <p:cNvSpPr>
            <a:spLocks noChangeShapeType="1"/>
          </p:cNvSpPr>
          <p:nvPr/>
        </p:nvSpPr>
        <p:spPr bwMode="auto">
          <a:xfrm>
            <a:off x="6304967" y="2504398"/>
            <a:ext cx="0" cy="265454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AutoShape 186"/>
          <p:cNvSpPr>
            <a:spLocks noChangeArrowheads="1"/>
          </p:cNvSpPr>
          <p:nvPr/>
        </p:nvSpPr>
        <p:spPr bwMode="auto">
          <a:xfrm flipV="1">
            <a:off x="6209191" y="2777584"/>
            <a:ext cx="191551" cy="104378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Line 189"/>
          <p:cNvSpPr>
            <a:spLocks noChangeShapeType="1"/>
          </p:cNvSpPr>
          <p:nvPr/>
        </p:nvSpPr>
        <p:spPr bwMode="auto">
          <a:xfrm>
            <a:off x="6304966" y="2843303"/>
            <a:ext cx="8227" cy="43251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Line 195"/>
          <p:cNvSpPr>
            <a:spLocks noChangeShapeType="1"/>
          </p:cNvSpPr>
          <p:nvPr/>
        </p:nvSpPr>
        <p:spPr bwMode="auto">
          <a:xfrm>
            <a:off x="6207595" y="2875518"/>
            <a:ext cx="193148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Line 196"/>
          <p:cNvSpPr>
            <a:spLocks noChangeShapeType="1"/>
          </p:cNvSpPr>
          <p:nvPr/>
        </p:nvSpPr>
        <p:spPr bwMode="auto">
          <a:xfrm>
            <a:off x="6394358" y="2875518"/>
            <a:ext cx="59062" cy="4639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Line 197"/>
          <p:cNvSpPr>
            <a:spLocks noChangeShapeType="1"/>
          </p:cNvSpPr>
          <p:nvPr/>
        </p:nvSpPr>
        <p:spPr bwMode="auto">
          <a:xfrm flipH="1" flipV="1">
            <a:off x="6146937" y="2829128"/>
            <a:ext cx="59062" cy="4639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Line 196"/>
          <p:cNvSpPr>
            <a:spLocks noChangeShapeType="1"/>
          </p:cNvSpPr>
          <p:nvPr/>
        </p:nvSpPr>
        <p:spPr bwMode="auto">
          <a:xfrm flipH="1">
            <a:off x="3732899" y="2884020"/>
            <a:ext cx="50408" cy="10376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Line 195"/>
          <p:cNvSpPr>
            <a:spLocks noChangeShapeType="1"/>
          </p:cNvSpPr>
          <p:nvPr/>
        </p:nvSpPr>
        <p:spPr bwMode="auto">
          <a:xfrm>
            <a:off x="3607984" y="2987780"/>
            <a:ext cx="128713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Line 185"/>
          <p:cNvSpPr>
            <a:spLocks noChangeShapeType="1"/>
          </p:cNvSpPr>
          <p:nvPr/>
        </p:nvSpPr>
        <p:spPr bwMode="auto">
          <a:xfrm>
            <a:off x="4576727" y="2504398"/>
            <a:ext cx="0" cy="265454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AutoShape 186"/>
          <p:cNvSpPr>
            <a:spLocks noChangeArrowheads="1"/>
          </p:cNvSpPr>
          <p:nvPr/>
        </p:nvSpPr>
        <p:spPr bwMode="auto">
          <a:xfrm flipV="1">
            <a:off x="4480951" y="2777584"/>
            <a:ext cx="191551" cy="104378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Line 189"/>
          <p:cNvSpPr>
            <a:spLocks noChangeShapeType="1"/>
          </p:cNvSpPr>
          <p:nvPr/>
        </p:nvSpPr>
        <p:spPr bwMode="auto">
          <a:xfrm flipH="1">
            <a:off x="4575929" y="2843303"/>
            <a:ext cx="798" cy="43251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Line 195"/>
          <p:cNvSpPr>
            <a:spLocks noChangeShapeType="1"/>
          </p:cNvSpPr>
          <p:nvPr/>
        </p:nvSpPr>
        <p:spPr bwMode="auto">
          <a:xfrm>
            <a:off x="4479355" y="2875518"/>
            <a:ext cx="193148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Line 196"/>
          <p:cNvSpPr>
            <a:spLocks noChangeShapeType="1"/>
          </p:cNvSpPr>
          <p:nvPr/>
        </p:nvSpPr>
        <p:spPr bwMode="auto">
          <a:xfrm flipH="1">
            <a:off x="4525009" y="2884020"/>
            <a:ext cx="50408" cy="10376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Line 195"/>
          <p:cNvSpPr>
            <a:spLocks noChangeShapeType="1"/>
          </p:cNvSpPr>
          <p:nvPr/>
        </p:nvSpPr>
        <p:spPr bwMode="auto">
          <a:xfrm>
            <a:off x="4400094" y="2987780"/>
            <a:ext cx="128713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Line 185"/>
          <p:cNvSpPr>
            <a:spLocks noChangeShapeType="1"/>
          </p:cNvSpPr>
          <p:nvPr/>
        </p:nvSpPr>
        <p:spPr bwMode="auto">
          <a:xfrm>
            <a:off x="5421514" y="2504398"/>
            <a:ext cx="0" cy="265454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AutoShape 186"/>
          <p:cNvSpPr>
            <a:spLocks noChangeArrowheads="1"/>
          </p:cNvSpPr>
          <p:nvPr/>
        </p:nvSpPr>
        <p:spPr bwMode="auto">
          <a:xfrm flipV="1">
            <a:off x="5325738" y="2777584"/>
            <a:ext cx="191551" cy="104378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Line 189"/>
          <p:cNvSpPr>
            <a:spLocks noChangeShapeType="1"/>
          </p:cNvSpPr>
          <p:nvPr/>
        </p:nvSpPr>
        <p:spPr bwMode="auto">
          <a:xfrm flipH="1">
            <a:off x="5420716" y="2843303"/>
            <a:ext cx="798" cy="43251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Line 195"/>
          <p:cNvSpPr>
            <a:spLocks noChangeShapeType="1"/>
          </p:cNvSpPr>
          <p:nvPr/>
        </p:nvSpPr>
        <p:spPr bwMode="auto">
          <a:xfrm>
            <a:off x="5324142" y="2875518"/>
            <a:ext cx="193148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Line 196"/>
          <p:cNvSpPr>
            <a:spLocks noChangeShapeType="1"/>
          </p:cNvSpPr>
          <p:nvPr/>
        </p:nvSpPr>
        <p:spPr bwMode="auto">
          <a:xfrm flipH="1">
            <a:off x="5369796" y="2884020"/>
            <a:ext cx="50408" cy="10376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Line 195"/>
          <p:cNvSpPr>
            <a:spLocks noChangeShapeType="1"/>
          </p:cNvSpPr>
          <p:nvPr/>
        </p:nvSpPr>
        <p:spPr bwMode="auto">
          <a:xfrm>
            <a:off x="5244881" y="2987780"/>
            <a:ext cx="128713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Line 185"/>
          <p:cNvSpPr>
            <a:spLocks noChangeShapeType="1"/>
          </p:cNvSpPr>
          <p:nvPr/>
        </p:nvSpPr>
        <p:spPr bwMode="auto">
          <a:xfrm>
            <a:off x="6304967" y="2504398"/>
            <a:ext cx="0" cy="265454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AutoShape 186"/>
          <p:cNvSpPr>
            <a:spLocks noChangeArrowheads="1"/>
          </p:cNvSpPr>
          <p:nvPr/>
        </p:nvSpPr>
        <p:spPr bwMode="auto">
          <a:xfrm flipV="1">
            <a:off x="6209191" y="2777584"/>
            <a:ext cx="191551" cy="104378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Line 189"/>
          <p:cNvSpPr>
            <a:spLocks noChangeShapeType="1"/>
          </p:cNvSpPr>
          <p:nvPr/>
        </p:nvSpPr>
        <p:spPr bwMode="auto">
          <a:xfrm flipH="1">
            <a:off x="6304169" y="2843303"/>
            <a:ext cx="798" cy="43251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Line 195"/>
          <p:cNvSpPr>
            <a:spLocks noChangeShapeType="1"/>
          </p:cNvSpPr>
          <p:nvPr/>
        </p:nvSpPr>
        <p:spPr bwMode="auto">
          <a:xfrm>
            <a:off x="6207595" y="2875518"/>
            <a:ext cx="193148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Line 196"/>
          <p:cNvSpPr>
            <a:spLocks noChangeShapeType="1"/>
          </p:cNvSpPr>
          <p:nvPr/>
        </p:nvSpPr>
        <p:spPr bwMode="auto">
          <a:xfrm>
            <a:off x="6394358" y="2875518"/>
            <a:ext cx="59062" cy="4639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Line 197"/>
          <p:cNvSpPr>
            <a:spLocks noChangeShapeType="1"/>
          </p:cNvSpPr>
          <p:nvPr/>
        </p:nvSpPr>
        <p:spPr bwMode="auto">
          <a:xfrm flipH="1" flipV="1">
            <a:off x="6146937" y="2829128"/>
            <a:ext cx="59062" cy="4639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Line 196"/>
          <p:cNvSpPr>
            <a:spLocks noChangeShapeType="1"/>
          </p:cNvSpPr>
          <p:nvPr/>
        </p:nvSpPr>
        <p:spPr bwMode="auto">
          <a:xfrm flipH="1">
            <a:off x="6253249" y="2884020"/>
            <a:ext cx="50408" cy="10376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Line 195"/>
          <p:cNvSpPr>
            <a:spLocks noChangeShapeType="1"/>
          </p:cNvSpPr>
          <p:nvPr/>
        </p:nvSpPr>
        <p:spPr bwMode="auto">
          <a:xfrm>
            <a:off x="6128334" y="2987780"/>
            <a:ext cx="128713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30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>
            <a:spLocks noChangeShapeType="1"/>
          </p:cNvSpPr>
          <p:nvPr/>
        </p:nvSpPr>
        <p:spPr bwMode="auto">
          <a:xfrm>
            <a:off x="279400" y="562708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95265" y="716639"/>
            <a:ext cx="3233737" cy="83087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54000"/>
          <a:lstStyle/>
          <a:p>
            <a:pPr marL="457200" indent="-457200"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457200" indent="-457200"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3429000" y="716639"/>
            <a:ext cx="3124200" cy="83087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ko-KR" sz="90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2055" name="Group 1"/>
          <p:cNvGrpSpPr>
            <a:grpSpLocks/>
          </p:cNvGrpSpPr>
          <p:nvPr/>
        </p:nvGrpSpPr>
        <p:grpSpPr bwMode="auto">
          <a:xfrm>
            <a:off x="255719" y="611567"/>
            <a:ext cx="6294437" cy="8817799"/>
            <a:chOff x="255588" y="662533"/>
            <a:chExt cx="6294437" cy="9551803"/>
          </a:xfrm>
        </p:grpSpPr>
        <p:sp>
          <p:nvSpPr>
            <p:cNvPr id="2057" name="Rectangle 7"/>
            <p:cNvSpPr>
              <a:spLocks noChangeArrowheads="1"/>
            </p:cNvSpPr>
            <p:nvPr/>
          </p:nvSpPr>
          <p:spPr bwMode="auto">
            <a:xfrm>
              <a:off x="255588" y="662533"/>
              <a:ext cx="3186112" cy="95518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1. Điều nào không đúng với cách giải thích về cấu tạo của nguyên tử?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① Hạt nhân nguyên tử: gồm proton và nơtron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② Các proton và neutron có khối lượng gần như bằng nhau, và các electron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    Các hạt lớn hơn khoảng 1840 lần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③ Số proton Z = số điện tích = số hiệu nguyên tử =&gt; giống số electron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④ Số proton không đổi, nhưng số nơtron có một số giá trị.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    Có thể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2. Điện năng do các êlectron tự do chuyển động giữa các nguyên tử tạo ra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  Đó là những gì được gọi là?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① Thiết bị gia dụng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② Ion hóa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③ </a:t>
              </a:r>
              <a:r>
                <a:rPr kumimoji="1" lang="en-US" altLang="ko-KR" sz="900">
                  <a:latin typeface="Times New Roman" pitchFamily="18" charset="0"/>
                  <a:ea typeface="돋움" pitchFamily="50" charset="-127"/>
                  <a:cs typeface="Times New Roman" pitchFamily="18" charset="0"/>
                </a:rPr>
                <a:t>điện tích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④ Góc điện tử</a:t>
              </a: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3. Trong số nhiễu dao động điện áp, số lượng sóng từ 1 sóng điện xoay chiều thương mại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fr-FR" sz="900">
                  <a:latin typeface="돋움" pitchFamily="50" charset="-127"/>
                  <a:ea typeface="돋움" pitchFamily="50" charset="-127"/>
                </a:rPr>
                <a:t>   Sự biến mất là gì?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① Luyên thuyên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② Giảm điện áp tức thời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③ sấm sét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④ Mất điện tức thời</a:t>
              </a: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4. Vave của dạng sóng có giá trị đỉnh-đỉnh là 20V là bao nhiêu?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① 6,37V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② 7,07V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③ 12,74V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④ 14,14V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5. Đâu không phải là chế độ thu nhận của máy hiện sóng?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① Mẫu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② Đỉnh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③ trung bình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④ Xung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6. Loại điện trở nào được mô tả tiếp theo?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  [Bởi vì nó là một loại nhựa không cháy, nó không bắt lửa ngay cả ở nhiệt độ cao</a:t>
              </a:r>
              <a:r>
                <a:rPr kumimoji="1" lang="vi-VN" sz="900" smtClean="0">
                  <a:ea typeface="돋움" pitchFamily="50" charset="-127"/>
                </a:rPr>
                <a:t>.   </a:t>
              </a:r>
              <a:r>
                <a:rPr kumimoji="1" lang="vi-VN" sz="900">
                  <a:ea typeface="돋움" pitchFamily="50" charset="-127"/>
                </a:rPr>
                <a:t>Nó rất dễ lắp đặt do đặc tính cách nhiệt phong phú]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① Cổng cố định màng carbon nhỏ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② Chống phim kim loại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③ Chống xi măng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④ Chống quanh co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7. Đâu không phải là loại biến trở của biến trở?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① Hệ thống màng carbon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② Hệ thống phim kim loại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③ Hệ thống phủ gốm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④ cuộn dây</a:t>
              </a: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3363913" y="788988"/>
              <a:ext cx="3186112" cy="94017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8. Những tụ điện nào được sử dụng trong mạch ghép chung hoặc mạch không đổi thời gian?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① Tụ điện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② Tụ điện Mylar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③ Tụ gốm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④ Tụ tantali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9. Suất điện động sinh ra khi từ thông đi qua cuộn dây bị thay đổi.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   Hiện tượng được gọi là gì?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① cảm ứng điện từ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② Suất điện động cảm ứng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③ Định luật Lenz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④ Điện cảm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10. Tụ điện mắc song song trước sau là loại cuộn dây nào?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① RFC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② FCZ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③ IFT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④ Cuộn cảm cho nguồn điện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11. Loại thiết bị điện áp ngược cao, chuyển mạch công suất cao, thiết bị một chiều là gì?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① TR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② SCR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③ TRIAC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④ SSR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12. Điều gì không phải là đặc điểm của SSR?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① Tiếng ồn thấp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② Không ồn ào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③ Chức năng cao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④ Khả năng chịu nhiệt</a:t>
              </a: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13. Thành phần phù hợp của Photo Coupler là gì?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① LED + Diode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② LED + Diode hình ảnh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③ Điốt phát sáng + Ảnh TR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④ Diode phát sáng + Diode ảnh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14. Trong số các loại nhiệt điện trở, khi nhiệt độ tăng thì giá trị điện trở giảm.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   Đi kiểu gì?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① NTC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② PTC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③ CTR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④ PPT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15. Trong số các loại cảm biến quang điện loại nhỏ, loại nào là lắp PCB?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vi-VN" sz="900">
                  <a:ea typeface="돋움" pitchFamily="50" charset="-127"/>
                </a:rPr>
                <a:t> ① Kiểu móng ngựa </a:t>
              </a: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    </a:t>
              </a:r>
              <a:r>
                <a:rPr kumimoji="1" lang="vi-VN" sz="900">
                  <a:ea typeface="돋움" pitchFamily="50" charset="-127"/>
                </a:rPr>
                <a:t>② Kiểu phản chiếu ngược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sz="900">
                  <a:latin typeface="돋움" pitchFamily="50" charset="-127"/>
                  <a:ea typeface="돋움" pitchFamily="50" charset="-127"/>
                </a:rPr>
                <a:t> ③ Loại phản xạ           ④ Bộ ngắt ảnh</a:t>
              </a:r>
            </a:p>
          </p:txBody>
        </p:sp>
      </p:grpSp>
      <p:pic>
        <p:nvPicPr>
          <p:cNvPr id="205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113" y="2710961"/>
            <a:ext cx="1200150" cy="3903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 Box 6"/>
          <p:cNvSpPr>
            <a:spLocks noChangeArrowheads="1"/>
          </p:cNvSpPr>
          <p:nvPr/>
        </p:nvSpPr>
        <p:spPr bwMode="auto">
          <a:xfrm>
            <a:off x="195263" y="211085"/>
            <a:ext cx="3449637" cy="3091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/>
          <a:lstStyle>
            <a:lvl1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SzPct val="100000"/>
              <a:defRPr/>
            </a:pPr>
            <a:r>
              <a:rPr lang="vi-VN" altLang="ko-K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[Đánh </a:t>
            </a:r>
            <a:r>
              <a:rPr lang="vi-VN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giá 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WS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4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</a:t>
            </a:r>
            <a:r>
              <a:rPr lang="vi-VN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– 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Điện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- Đ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iện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tử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]</a:t>
            </a:r>
            <a:endParaRPr lang="vi-VN" altLang="ko-KR" sz="1600" b="1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128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2"/>
          <p:cNvSpPr>
            <a:spLocks noChangeShapeType="1"/>
          </p:cNvSpPr>
          <p:nvPr/>
        </p:nvSpPr>
        <p:spPr bwMode="auto">
          <a:xfrm>
            <a:off x="279400" y="562708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304800" y="716575"/>
            <a:ext cx="3124200" cy="82164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54000"/>
          <a:lstStyle/>
          <a:p>
            <a:pPr marL="457200" indent="-457200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3429000" y="716575"/>
            <a:ext cx="3124200" cy="82164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72000"/>
          <a:lstStyle/>
          <a:p>
            <a:pPr marL="457200" indent="-457200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078" name="Rectangle 7"/>
          <p:cNvSpPr>
            <a:spLocks noChangeArrowheads="1"/>
          </p:cNvSpPr>
          <p:nvPr/>
        </p:nvSpPr>
        <p:spPr bwMode="auto">
          <a:xfrm>
            <a:off x="255588" y="767933"/>
            <a:ext cx="3429000" cy="577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16. Khi kết nối cảm biến đầu ra dòng điện tương tự, các</a:t>
            </a: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jumper I + và V + phải được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  Bạn sử dụng loại thẻ AD nào?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① Q64AD ② Q68ADV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③ Q68ADI ④ Q61P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fr-FR" sz="900">
                <a:latin typeface="돋움" pitchFamily="50" charset="-127"/>
                <a:ea typeface="돋움" pitchFamily="50" charset="-127"/>
              </a:rPr>
              <a:t>17. Điện áp cutin của Diode Ge là gì?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① 0,2V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② 0,7V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③ 0,5V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④ 1,4V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18. Điều gì sai với phương pháp tắt SCR đã bật?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① Điều khiển điện áp cực dương đến-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② Tắt điện áp cực dương bằng công tắc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③ Điều khiển điện áp cực dương đến +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④ Đưa điện áp cực dương về 0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19. Hiệu điện thế của Ⓐ là bao nhiêu?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① 0V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② 0,7V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③ 4.3V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④ 5V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20. Hiệu điện thế của Ⓐ là bao nhiêu?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① 0V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② 2,9V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③ 9.1V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④ 12V</a:t>
            </a:r>
          </a:p>
        </p:txBody>
      </p:sp>
      <p:grpSp>
        <p:nvGrpSpPr>
          <p:cNvPr id="3079" name="그룹 1"/>
          <p:cNvGrpSpPr>
            <a:grpSpLocks/>
          </p:cNvGrpSpPr>
          <p:nvPr/>
        </p:nvGrpSpPr>
        <p:grpSpPr bwMode="auto">
          <a:xfrm>
            <a:off x="1279527" y="4092885"/>
            <a:ext cx="1601785" cy="970085"/>
            <a:chOff x="1440317" y="4229472"/>
            <a:chExt cx="2005407" cy="1383623"/>
          </a:xfrm>
        </p:grpSpPr>
        <p:sp>
          <p:nvSpPr>
            <p:cNvPr id="3110" name="Line 36"/>
            <p:cNvSpPr>
              <a:spLocks noChangeShapeType="1"/>
            </p:cNvSpPr>
            <p:nvPr/>
          </p:nvSpPr>
          <p:spPr bwMode="auto">
            <a:xfrm>
              <a:off x="1970534" y="4229472"/>
              <a:ext cx="0" cy="6667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11" name="Line 37"/>
            <p:cNvSpPr>
              <a:spLocks noChangeShapeType="1"/>
            </p:cNvSpPr>
            <p:nvPr/>
          </p:nvSpPr>
          <p:spPr bwMode="auto">
            <a:xfrm>
              <a:off x="1961009" y="4229472"/>
              <a:ext cx="91598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12" name="Line 38"/>
            <p:cNvSpPr>
              <a:spLocks noChangeShapeType="1"/>
            </p:cNvSpPr>
            <p:nvPr/>
          </p:nvSpPr>
          <p:spPr bwMode="auto">
            <a:xfrm>
              <a:off x="2886522" y="4229472"/>
              <a:ext cx="0" cy="2032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grpSp>
          <p:nvGrpSpPr>
            <p:cNvPr id="3113" name="Group 39"/>
            <p:cNvGrpSpPr>
              <a:grpSpLocks/>
            </p:cNvGrpSpPr>
            <p:nvPr/>
          </p:nvGrpSpPr>
          <p:grpSpPr bwMode="auto">
            <a:xfrm>
              <a:off x="2794447" y="4432672"/>
              <a:ext cx="184150" cy="254000"/>
              <a:chOff x="1488" y="1152"/>
              <a:chExt cx="192" cy="336"/>
            </a:xfrm>
          </p:grpSpPr>
          <p:sp>
            <p:nvSpPr>
              <p:cNvPr id="3128" name="Line 40"/>
              <p:cNvSpPr>
                <a:spLocks noChangeShapeType="1"/>
              </p:cNvSpPr>
              <p:nvPr/>
            </p:nvSpPr>
            <p:spPr bwMode="auto">
              <a:xfrm>
                <a:off x="1584" y="115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29" name="Line 41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30" name="Line 42"/>
              <p:cNvSpPr>
                <a:spLocks noChangeShapeType="1"/>
              </p:cNvSpPr>
              <p:nvPr/>
            </p:nvSpPr>
            <p:spPr bwMode="auto">
              <a:xfrm>
                <a:off x="1488" y="1248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31" name="Line 43"/>
              <p:cNvSpPr>
                <a:spLocks noChangeShapeType="1"/>
              </p:cNvSpPr>
              <p:nvPr/>
            </p:nvSpPr>
            <p:spPr bwMode="auto">
              <a:xfrm flipH="1">
                <a:off x="1488" y="1296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32" name="Line 44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33" name="Line 45"/>
              <p:cNvSpPr>
                <a:spLocks noChangeShapeType="1"/>
              </p:cNvSpPr>
              <p:nvPr/>
            </p:nvSpPr>
            <p:spPr bwMode="auto">
              <a:xfrm flipH="1">
                <a:off x="1488" y="1392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34" name="Line 46"/>
              <p:cNvSpPr>
                <a:spLocks noChangeShapeType="1"/>
              </p:cNvSpPr>
              <p:nvPr/>
            </p:nvSpPr>
            <p:spPr bwMode="auto">
              <a:xfrm>
                <a:off x="1488" y="144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3114" name="Line 47"/>
            <p:cNvSpPr>
              <a:spLocks noChangeShapeType="1"/>
            </p:cNvSpPr>
            <p:nvPr/>
          </p:nvSpPr>
          <p:spPr bwMode="auto">
            <a:xfrm>
              <a:off x="2886522" y="4686672"/>
              <a:ext cx="0" cy="4762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15" name="AutoShape 48"/>
            <p:cNvSpPr>
              <a:spLocks noChangeArrowheads="1"/>
            </p:cNvSpPr>
            <p:nvPr/>
          </p:nvSpPr>
          <p:spPr bwMode="auto">
            <a:xfrm rot="10800000" flipV="1">
              <a:off x="2764284" y="5169024"/>
              <a:ext cx="244475" cy="101600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16" name="Line 49"/>
            <p:cNvSpPr>
              <a:spLocks noChangeShapeType="1"/>
            </p:cNvSpPr>
            <p:nvPr/>
          </p:nvSpPr>
          <p:spPr bwMode="auto">
            <a:xfrm flipV="1">
              <a:off x="2764284" y="5173656"/>
              <a:ext cx="24447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17" name="Line 50"/>
            <p:cNvSpPr>
              <a:spLocks noChangeShapeType="1"/>
            </p:cNvSpPr>
            <p:nvPr/>
          </p:nvSpPr>
          <p:spPr bwMode="auto">
            <a:xfrm>
              <a:off x="1970534" y="5601072"/>
              <a:ext cx="91598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18" name="Line 51"/>
            <p:cNvSpPr>
              <a:spLocks noChangeShapeType="1"/>
            </p:cNvSpPr>
            <p:nvPr/>
          </p:nvSpPr>
          <p:spPr bwMode="auto">
            <a:xfrm>
              <a:off x="2886522" y="5245472"/>
              <a:ext cx="0" cy="3556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19" name="Text Box 52"/>
            <p:cNvSpPr txBox="1">
              <a:spLocks noChangeArrowheads="1"/>
            </p:cNvSpPr>
            <p:nvPr/>
          </p:nvSpPr>
          <p:spPr bwMode="auto">
            <a:xfrm>
              <a:off x="2398409" y="4366178"/>
              <a:ext cx="381719" cy="438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25" name="Text Box 53"/>
            <p:cNvSpPr txBox="1">
              <a:spLocks noChangeArrowheads="1"/>
            </p:cNvSpPr>
            <p:nvPr/>
          </p:nvSpPr>
          <p:spPr bwMode="auto">
            <a:xfrm>
              <a:off x="2225389" y="5000704"/>
              <a:ext cx="484072" cy="5926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1050" dirty="0">
                  <a:latin typeface="Times New Roman" pitchFamily="18" charset="0"/>
                  <a:ea typeface="돋움" pitchFamily="50" charset="-127"/>
                </a:rPr>
                <a:t>D2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1050" dirty="0">
                  <a:latin typeface="Times New Roman" pitchFamily="18" charset="0"/>
                  <a:ea typeface="돋움" pitchFamily="50" charset="-127"/>
                </a:rPr>
                <a:t>(Si)</a:t>
              </a:r>
            </a:p>
          </p:txBody>
        </p:sp>
        <p:sp>
          <p:nvSpPr>
            <p:cNvPr id="3121" name="Line 54"/>
            <p:cNvSpPr>
              <a:spLocks noChangeShapeType="1"/>
            </p:cNvSpPr>
            <p:nvPr/>
          </p:nvSpPr>
          <p:spPr bwMode="auto">
            <a:xfrm flipV="1">
              <a:off x="1970534" y="4924795"/>
              <a:ext cx="0" cy="6883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22" name="Line 55"/>
            <p:cNvSpPr>
              <a:spLocks noChangeShapeType="1"/>
            </p:cNvSpPr>
            <p:nvPr/>
          </p:nvSpPr>
          <p:spPr bwMode="auto">
            <a:xfrm>
              <a:off x="1856234" y="4886697"/>
              <a:ext cx="23812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23" name="Line 56"/>
            <p:cNvSpPr>
              <a:spLocks noChangeShapeType="1"/>
            </p:cNvSpPr>
            <p:nvPr/>
          </p:nvSpPr>
          <p:spPr bwMode="auto">
            <a:xfrm>
              <a:off x="1894334" y="4934322"/>
              <a:ext cx="15240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24" name="Line 59"/>
            <p:cNvSpPr>
              <a:spLocks noChangeShapeType="1"/>
            </p:cNvSpPr>
            <p:nvPr/>
          </p:nvSpPr>
          <p:spPr bwMode="auto">
            <a:xfrm flipH="1" flipV="1">
              <a:off x="2980184" y="4894635"/>
              <a:ext cx="230188" cy="230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25" name="Line 60"/>
            <p:cNvSpPr>
              <a:spLocks noChangeShapeType="1"/>
            </p:cNvSpPr>
            <p:nvPr/>
          </p:nvSpPr>
          <p:spPr bwMode="auto">
            <a:xfrm flipH="1">
              <a:off x="2980184" y="5372472"/>
              <a:ext cx="230188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26" name="Text Box 61"/>
            <p:cNvSpPr txBox="1">
              <a:spLocks noChangeArrowheads="1"/>
            </p:cNvSpPr>
            <p:nvPr/>
          </p:nvSpPr>
          <p:spPr bwMode="auto">
            <a:xfrm>
              <a:off x="1440317" y="4746141"/>
              <a:ext cx="504141" cy="329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>
                  <a:latin typeface="Times New Roman" pitchFamily="18" charset="0"/>
                </a:rPr>
                <a:t>5[V]</a:t>
              </a:r>
            </a:p>
          </p:txBody>
        </p:sp>
        <p:sp>
          <p:nvSpPr>
            <p:cNvPr id="3127" name="Text Box 52"/>
            <p:cNvSpPr txBox="1">
              <a:spLocks noChangeArrowheads="1"/>
            </p:cNvSpPr>
            <p:nvPr/>
          </p:nvSpPr>
          <p:spPr bwMode="auto">
            <a:xfrm>
              <a:off x="3021860" y="5065360"/>
              <a:ext cx="423864" cy="3950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200">
                  <a:latin typeface="Times New Roman" pitchFamily="18" charset="0"/>
                </a:rPr>
                <a:t>Ⓐ</a:t>
              </a:r>
              <a:endParaRPr lang="en-US" altLang="ko-KR" sz="1200">
                <a:latin typeface="Times New Roman" pitchFamily="18" charset="0"/>
              </a:endParaRPr>
            </a:p>
          </p:txBody>
        </p:sp>
      </p:grpSp>
      <p:grpSp>
        <p:nvGrpSpPr>
          <p:cNvPr id="3080" name="그룹 2"/>
          <p:cNvGrpSpPr>
            <a:grpSpLocks/>
          </p:cNvGrpSpPr>
          <p:nvPr/>
        </p:nvGrpSpPr>
        <p:grpSpPr bwMode="auto">
          <a:xfrm>
            <a:off x="1196976" y="5495192"/>
            <a:ext cx="1757255" cy="1003789"/>
            <a:chOff x="1156926" y="5957664"/>
            <a:chExt cx="2041626" cy="1376591"/>
          </a:xfrm>
        </p:grpSpPr>
        <p:sp>
          <p:nvSpPr>
            <p:cNvPr id="3082" name="Line 75"/>
            <p:cNvSpPr>
              <a:spLocks noChangeShapeType="1"/>
            </p:cNvSpPr>
            <p:nvPr/>
          </p:nvSpPr>
          <p:spPr bwMode="auto">
            <a:xfrm>
              <a:off x="1715071" y="5957664"/>
              <a:ext cx="0" cy="6667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083" name="Line 76"/>
            <p:cNvSpPr>
              <a:spLocks noChangeShapeType="1"/>
            </p:cNvSpPr>
            <p:nvPr/>
          </p:nvSpPr>
          <p:spPr bwMode="auto">
            <a:xfrm>
              <a:off x="1705546" y="5957664"/>
              <a:ext cx="915987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084" name="Line 77"/>
            <p:cNvSpPr>
              <a:spLocks noChangeShapeType="1"/>
            </p:cNvSpPr>
            <p:nvPr/>
          </p:nvSpPr>
          <p:spPr bwMode="auto">
            <a:xfrm>
              <a:off x="2631058" y="5957664"/>
              <a:ext cx="0" cy="2032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grpSp>
          <p:nvGrpSpPr>
            <p:cNvPr id="3085" name="Group 78"/>
            <p:cNvGrpSpPr>
              <a:grpSpLocks/>
            </p:cNvGrpSpPr>
            <p:nvPr/>
          </p:nvGrpSpPr>
          <p:grpSpPr bwMode="auto">
            <a:xfrm>
              <a:off x="2538983" y="6160864"/>
              <a:ext cx="184150" cy="254000"/>
              <a:chOff x="1488" y="1152"/>
              <a:chExt cx="192" cy="336"/>
            </a:xfrm>
          </p:grpSpPr>
          <p:sp>
            <p:nvSpPr>
              <p:cNvPr id="3103" name="Line 79"/>
              <p:cNvSpPr>
                <a:spLocks noChangeShapeType="1"/>
              </p:cNvSpPr>
              <p:nvPr/>
            </p:nvSpPr>
            <p:spPr bwMode="auto">
              <a:xfrm>
                <a:off x="1584" y="115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04" name="Line 80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05" name="Line 81"/>
              <p:cNvSpPr>
                <a:spLocks noChangeShapeType="1"/>
              </p:cNvSpPr>
              <p:nvPr/>
            </p:nvSpPr>
            <p:spPr bwMode="auto">
              <a:xfrm>
                <a:off x="1488" y="1248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06" name="Line 82"/>
              <p:cNvSpPr>
                <a:spLocks noChangeShapeType="1"/>
              </p:cNvSpPr>
              <p:nvPr/>
            </p:nvSpPr>
            <p:spPr bwMode="auto">
              <a:xfrm flipH="1">
                <a:off x="1488" y="1296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07" name="Line 83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08" name="Line 84"/>
              <p:cNvSpPr>
                <a:spLocks noChangeShapeType="1"/>
              </p:cNvSpPr>
              <p:nvPr/>
            </p:nvSpPr>
            <p:spPr bwMode="auto">
              <a:xfrm flipH="1">
                <a:off x="1488" y="1392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09" name="Line 85"/>
              <p:cNvSpPr>
                <a:spLocks noChangeShapeType="1"/>
              </p:cNvSpPr>
              <p:nvPr/>
            </p:nvSpPr>
            <p:spPr bwMode="auto">
              <a:xfrm>
                <a:off x="1488" y="144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3086" name="Line 86"/>
            <p:cNvSpPr>
              <a:spLocks noChangeShapeType="1"/>
            </p:cNvSpPr>
            <p:nvPr/>
          </p:nvSpPr>
          <p:spPr bwMode="auto">
            <a:xfrm>
              <a:off x="2631058" y="6414864"/>
              <a:ext cx="0" cy="4381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087" name="AutoShape 87"/>
            <p:cNvSpPr>
              <a:spLocks noChangeArrowheads="1"/>
            </p:cNvSpPr>
            <p:nvPr/>
          </p:nvSpPr>
          <p:spPr bwMode="auto">
            <a:xfrm>
              <a:off x="2508821" y="6853014"/>
              <a:ext cx="244475" cy="127000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088" name="Line 88"/>
            <p:cNvSpPr>
              <a:spLocks noChangeShapeType="1"/>
            </p:cNvSpPr>
            <p:nvPr/>
          </p:nvSpPr>
          <p:spPr bwMode="auto">
            <a:xfrm>
              <a:off x="2508821" y="6980014"/>
              <a:ext cx="24447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089" name="Line 89"/>
            <p:cNvSpPr>
              <a:spLocks noChangeShapeType="1"/>
            </p:cNvSpPr>
            <p:nvPr/>
          </p:nvSpPr>
          <p:spPr bwMode="auto">
            <a:xfrm>
              <a:off x="1715071" y="7329264"/>
              <a:ext cx="915987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090" name="Line 90"/>
            <p:cNvSpPr>
              <a:spLocks noChangeShapeType="1"/>
            </p:cNvSpPr>
            <p:nvPr/>
          </p:nvSpPr>
          <p:spPr bwMode="auto">
            <a:xfrm>
              <a:off x="2631058" y="6973664"/>
              <a:ext cx="0" cy="3556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091" name="Text Box 91"/>
            <p:cNvSpPr txBox="1">
              <a:spLocks noChangeArrowheads="1"/>
            </p:cNvSpPr>
            <p:nvPr/>
          </p:nvSpPr>
          <p:spPr bwMode="auto">
            <a:xfrm>
              <a:off x="2272284" y="6152927"/>
              <a:ext cx="354232" cy="4220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3092" name="Line 92"/>
            <p:cNvSpPr>
              <a:spLocks noChangeShapeType="1"/>
            </p:cNvSpPr>
            <p:nvPr/>
          </p:nvSpPr>
          <p:spPr bwMode="auto">
            <a:xfrm flipV="1">
              <a:off x="1715071" y="6652988"/>
              <a:ext cx="0" cy="68126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093" name="Line 93"/>
            <p:cNvSpPr>
              <a:spLocks noChangeShapeType="1"/>
            </p:cNvSpPr>
            <p:nvPr/>
          </p:nvSpPr>
          <p:spPr bwMode="auto">
            <a:xfrm>
              <a:off x="1600771" y="6614889"/>
              <a:ext cx="23812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094" name="Line 94"/>
            <p:cNvSpPr>
              <a:spLocks noChangeShapeType="1"/>
            </p:cNvSpPr>
            <p:nvPr/>
          </p:nvSpPr>
          <p:spPr bwMode="auto">
            <a:xfrm>
              <a:off x="1638871" y="6662514"/>
              <a:ext cx="15240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095" name="Line 96"/>
            <p:cNvSpPr>
              <a:spLocks noChangeShapeType="1"/>
            </p:cNvSpPr>
            <p:nvPr/>
          </p:nvSpPr>
          <p:spPr bwMode="auto">
            <a:xfrm>
              <a:off x="2505646" y="6853014"/>
              <a:ext cx="24765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096" name="Line 97"/>
            <p:cNvSpPr>
              <a:spLocks noChangeShapeType="1"/>
            </p:cNvSpPr>
            <p:nvPr/>
          </p:nvSpPr>
          <p:spPr bwMode="auto">
            <a:xfrm>
              <a:off x="2753296" y="6853014"/>
              <a:ext cx="76200" cy="762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097" name="Line 98"/>
            <p:cNvSpPr>
              <a:spLocks noChangeShapeType="1"/>
            </p:cNvSpPr>
            <p:nvPr/>
          </p:nvSpPr>
          <p:spPr bwMode="auto">
            <a:xfrm flipH="1" flipV="1">
              <a:off x="2419921" y="6776814"/>
              <a:ext cx="76200" cy="762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098" name="Text Box 99"/>
            <p:cNvSpPr txBox="1">
              <a:spLocks noChangeArrowheads="1"/>
            </p:cNvSpPr>
            <p:nvPr/>
          </p:nvSpPr>
          <p:spPr bwMode="auto">
            <a:xfrm>
              <a:off x="1943671" y="6681564"/>
              <a:ext cx="568408" cy="506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>
                  <a:latin typeface="Times New Roman" pitchFamily="18" charset="0"/>
                </a:rPr>
                <a:t>  ZD</a:t>
              </a:r>
            </a:p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>
                  <a:latin typeface="Times New Roman" pitchFamily="18" charset="0"/>
                </a:rPr>
                <a:t>(9.1V)</a:t>
              </a:r>
            </a:p>
          </p:txBody>
        </p:sp>
        <p:sp>
          <p:nvSpPr>
            <p:cNvPr id="3099" name="Text Box 100"/>
            <p:cNvSpPr txBox="1">
              <a:spLocks noChangeArrowheads="1"/>
            </p:cNvSpPr>
            <p:nvPr/>
          </p:nvSpPr>
          <p:spPr bwMode="auto">
            <a:xfrm>
              <a:off x="1156926" y="6496394"/>
              <a:ext cx="534884" cy="316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>
                  <a:latin typeface="Times New Roman" pitchFamily="18" charset="0"/>
                </a:rPr>
                <a:t>12[V]</a:t>
              </a:r>
            </a:p>
          </p:txBody>
        </p:sp>
        <p:sp>
          <p:nvSpPr>
            <p:cNvPr id="3100" name="Line 101"/>
            <p:cNvSpPr>
              <a:spLocks noChangeShapeType="1"/>
            </p:cNvSpPr>
            <p:nvPr/>
          </p:nvSpPr>
          <p:spPr bwMode="auto">
            <a:xfrm flipH="1" flipV="1">
              <a:off x="2705671" y="5983064"/>
              <a:ext cx="230187" cy="2301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01" name="Line 102"/>
            <p:cNvSpPr>
              <a:spLocks noChangeShapeType="1"/>
            </p:cNvSpPr>
            <p:nvPr/>
          </p:nvSpPr>
          <p:spPr bwMode="auto">
            <a:xfrm flipH="1">
              <a:off x="2694757" y="6445027"/>
              <a:ext cx="230187" cy="1666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02" name="Text Box 103"/>
            <p:cNvSpPr txBox="1">
              <a:spLocks noChangeArrowheads="1"/>
            </p:cNvSpPr>
            <p:nvPr/>
          </p:nvSpPr>
          <p:spPr bwMode="auto">
            <a:xfrm>
              <a:off x="2805211" y="6149294"/>
              <a:ext cx="393341" cy="37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200">
                  <a:latin typeface="Times New Roman" pitchFamily="18" charset="0"/>
                </a:rPr>
                <a:t>Ⓐ</a:t>
              </a:r>
              <a:endParaRPr lang="en-US" altLang="ko-KR" sz="1200">
                <a:latin typeface="Times New Roman" pitchFamily="18" charset="0"/>
              </a:endParaRPr>
            </a:p>
          </p:txBody>
        </p:sp>
      </p:grpSp>
      <p:pic>
        <p:nvPicPr>
          <p:cNvPr id="3081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888" y="759070"/>
            <a:ext cx="3078262" cy="8165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" name="Text Box 6"/>
          <p:cNvSpPr>
            <a:spLocks noChangeArrowheads="1"/>
          </p:cNvSpPr>
          <p:nvPr/>
        </p:nvSpPr>
        <p:spPr bwMode="auto">
          <a:xfrm>
            <a:off x="195263" y="211085"/>
            <a:ext cx="3449637" cy="3091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/>
          <a:lstStyle>
            <a:lvl1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SzPct val="100000"/>
              <a:defRPr/>
            </a:pPr>
            <a:r>
              <a:rPr lang="vi-VN" altLang="ko-K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[Đánh </a:t>
            </a:r>
            <a:r>
              <a:rPr lang="vi-VN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giá 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WS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4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</a:t>
            </a:r>
            <a:r>
              <a:rPr lang="vi-VN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– 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Điện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- Đ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iện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tử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]</a:t>
            </a:r>
            <a:endParaRPr lang="vi-VN" altLang="ko-KR" sz="1600" b="1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5736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"/>
          <p:cNvSpPr>
            <a:spLocks noChangeShapeType="1"/>
          </p:cNvSpPr>
          <p:nvPr/>
        </p:nvSpPr>
        <p:spPr bwMode="auto">
          <a:xfrm>
            <a:off x="279400" y="562708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100" name="Rectangle 3"/>
          <p:cNvSpPr>
            <a:spLocks noChangeArrowheads="1"/>
          </p:cNvSpPr>
          <p:nvPr/>
        </p:nvSpPr>
        <p:spPr bwMode="auto">
          <a:xfrm>
            <a:off x="304800" y="716575"/>
            <a:ext cx="3124200" cy="82164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54000"/>
          <a:lstStyle/>
          <a:p>
            <a:pPr marL="457200" indent="-457200"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marL="457200" indent="-457200"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101" name="Rectangle 4"/>
          <p:cNvSpPr>
            <a:spLocks noChangeArrowheads="1"/>
          </p:cNvSpPr>
          <p:nvPr/>
        </p:nvSpPr>
        <p:spPr bwMode="auto">
          <a:xfrm>
            <a:off x="3429000" y="716575"/>
            <a:ext cx="3124200" cy="82164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292100" y="754734"/>
            <a:ext cx="157767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fontAlgn="base" latin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ko-KR" sz="1000" b="1">
                <a:latin typeface="Arial" charset="0"/>
              </a:rPr>
              <a:t>※ </a:t>
            </a:r>
            <a:r>
              <a:rPr lang="ko-KR" altLang="en-US" sz="1000" b="1">
                <a:latin typeface="Arial" charset="0"/>
              </a:rPr>
              <a:t>전기전자 </a:t>
            </a:r>
            <a:r>
              <a:rPr lang="en-US" altLang="ko-KR" sz="1000" b="1">
                <a:latin typeface="Arial" charset="0"/>
              </a:rPr>
              <a:t>: 1</a:t>
            </a:r>
            <a:r>
              <a:rPr lang="ko-KR" altLang="en-US" sz="1000" b="1">
                <a:latin typeface="Arial" charset="0"/>
              </a:rPr>
              <a:t>번 </a:t>
            </a:r>
            <a:r>
              <a:rPr lang="en-US" altLang="ko-KR" sz="1000" b="1">
                <a:latin typeface="Arial" charset="0"/>
              </a:rPr>
              <a:t>~ 20</a:t>
            </a:r>
            <a:r>
              <a:rPr lang="ko-KR" altLang="en-US" sz="1000" b="1">
                <a:latin typeface="Arial" charset="0"/>
              </a:rPr>
              <a:t>번</a:t>
            </a: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255588" y="927597"/>
            <a:ext cx="3186112" cy="8679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1. Điều nào không đúng với cách giải thích về cấu tạo của nguyên tử?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① Hạt nhân nguyên tử: gồm proton và nơtron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② Các proton và neutron có khối lượng gần như bằng nhau, và các electron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   Các hạt lớn hơn khoảng 1840 lần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③ Số proton Z = số điện tích = số hiệu nguyên tử =&gt; giống số electron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④ Số proton không đổi, nhưng số nơtron có một số giá trị.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   Có thể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2. Điện năng do các êlectron tự do chuyển động giữa các nguyên tử tạo ra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 Đó là những gì được gọi là?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① Thiết bị gia dụng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② Ion hóa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③ </a:t>
            </a:r>
            <a:r>
              <a:rPr kumimoji="1" lang="en-US" sz="900">
                <a:latin typeface="돋움" pitchFamily="50" charset="-127"/>
                <a:ea typeface="돋움" pitchFamily="50" charset="-127"/>
              </a:rPr>
              <a:t>Điện tích</a:t>
            </a:r>
            <a:endParaRPr kumimoji="1" lang="vi-VN" sz="900"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④ Góc điện tử</a:t>
            </a: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3. Trong số nhiễu dao động điện áp, số lượng sóng từ 1 sóng điện xoay chiều thương mại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fr-FR" sz="900">
                <a:latin typeface="돋움" pitchFamily="50" charset="-127"/>
                <a:ea typeface="돋움" pitchFamily="50" charset="-127"/>
              </a:rPr>
              <a:t>   Sự biến mất là gì?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① Luyên thuyên        </a:t>
            </a:r>
            <a:r>
              <a:rPr kumimoji="1" lang="vi-VN" sz="900">
                <a:ea typeface="돋움" pitchFamily="50" charset="-127"/>
              </a:rPr>
              <a:t>② Giảm điện áp tức thời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③ sấm sét              </a:t>
            </a:r>
            <a:r>
              <a:rPr kumimoji="1" lang="vi-VN" sz="900">
                <a:ea typeface="돋움" pitchFamily="50" charset="-127"/>
              </a:rPr>
              <a:t> ④ Mất điện tức thời</a:t>
            </a: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4. Vave của dạng sóng có giá trị đỉnh-đỉnh là 20V là </a:t>
            </a: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bao nhiêu?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① 6,37V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② 7,07V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③ 12,74V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④ 14,14V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5. Đâu không phải là chế độ thu nhận của máy hiện </a:t>
            </a: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sóng?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① Mẫu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② Đỉnh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③ trung bình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④ Xung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6. Loại điện trở nào được mô tả tiếp theo?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 [Bởi vì nó là một loại nhựa không cháy, nó không bắt lửa ngay cả ở nhiệt độ cao.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   Nó rất dễ lắp đặt do đặc tính cách nhiệt phong phú]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① Cổng cố định màng carbon nhỏ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② Chống phim kim loại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③ Chống xi măng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④ Chống quanh co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7. Đâu không phải là loại biến trở của biến trở?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① Hệ thống màng carbon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② Hệ thống phim kim loại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③ Hệ thống phủ gốm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④ cuộn dây</a:t>
            </a:r>
          </a:p>
        </p:txBody>
      </p:sp>
      <p:sp>
        <p:nvSpPr>
          <p:cNvPr id="4104" name="Rectangle 7"/>
          <p:cNvSpPr>
            <a:spLocks noChangeArrowheads="1"/>
          </p:cNvSpPr>
          <p:nvPr/>
        </p:nvSpPr>
        <p:spPr bwMode="auto">
          <a:xfrm>
            <a:off x="3363913" y="728301"/>
            <a:ext cx="3186112" cy="854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8. Những tụ điện nào được sử dụng trong mạch ghép chung hoặc mạch không đổi thời gian?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① Tụ điện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② Tụ điện Mylar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③ Tụ gốm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④ Tụ tantali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9. Suất điện động sinh ra khi từ thông đi qua cuộn dây bị thay đổi.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  Hiện tượng được gọi là gì?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① cảm ứng điện từ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② Suất điện động cảm ứng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③ Định luật Lenz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④ Điện cảm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10. Tụ điện mắc song song trước sau là loại cuộn dây nào?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① RFC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② FCZ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③ IFT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④ Cuộn cảm cho nguồn điện</a:t>
            </a: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11. Loại thiết bị điện áp ngược cao, chuyển mạch công suất cao, thiết bị một chiều là gì?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① TR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② SCR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③ TRIAC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④ SSR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12. Điều gì không phải là đặc điểm của SSR?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① Tiếng ồn thấp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② Không ồn ào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③ Chức năng cao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④ Khả năng chịu nhiệt</a:t>
            </a: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13. Thành phần phù hợp của Photo Coupler là gì?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① LED + Diode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② LED + Diode hình ảnh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③ Điốt phát sáng + Ảnh TR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④ Diode phát sáng + Diode ảnh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14. Trong số các loại nhiệt điện trở, khi nhiệt độ tăng thì giá trị điện trở giảm.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  Đi kiểu gì?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① NTC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② PTC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③ CTR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④ PPT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15. Trong số các loại cảm biến quang điện loại nhỏ, </a:t>
            </a: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loại nào là lắp PCB?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① Kiểu móng ngựa </a:t>
            </a:r>
            <a:r>
              <a:rPr kumimoji="1" lang="en-US" sz="900">
                <a:latin typeface="돋움" pitchFamily="50" charset="-127"/>
                <a:ea typeface="돋움" pitchFamily="50" charset="-127"/>
              </a:rPr>
              <a:t>    </a:t>
            </a:r>
            <a:r>
              <a:rPr kumimoji="1" lang="vi-VN" sz="900">
                <a:ea typeface="돋움" pitchFamily="50" charset="-127"/>
              </a:rPr>
              <a:t>② Kiểu phản chiếu ngược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③ Loại phản xạ           ④ Bộ ngắt ảnh</a:t>
            </a:r>
          </a:p>
        </p:txBody>
      </p: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2338" y="2511673"/>
            <a:ext cx="1181100" cy="3719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Box 6"/>
          <p:cNvSpPr>
            <a:spLocks noChangeArrowheads="1"/>
          </p:cNvSpPr>
          <p:nvPr/>
        </p:nvSpPr>
        <p:spPr bwMode="auto">
          <a:xfrm>
            <a:off x="195263" y="211085"/>
            <a:ext cx="3449637" cy="3091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/>
          <a:lstStyle>
            <a:lvl1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SzPct val="100000"/>
              <a:defRPr/>
            </a:pPr>
            <a:r>
              <a:rPr lang="vi-VN" altLang="ko-K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[Đánh </a:t>
            </a:r>
            <a:r>
              <a:rPr lang="vi-VN" altLang="ko-KR" sz="1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giá 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WS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5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</a:t>
            </a:r>
            <a:r>
              <a:rPr lang="vi-VN" altLang="ko-KR" sz="1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– 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Điện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- Đ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iện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tử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]</a:t>
            </a:r>
            <a:endParaRPr lang="vi-VN" altLang="ko-KR" sz="16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345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279400" y="562708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304800" y="716575"/>
            <a:ext cx="3124200" cy="82164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54000"/>
          <a:lstStyle/>
          <a:p>
            <a:pPr marL="457200" indent="-457200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ko-KR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3429000" y="716575"/>
            <a:ext cx="3124200" cy="82164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72000"/>
          <a:lstStyle/>
          <a:p>
            <a:pPr marL="457200" indent="-457200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ko-KR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125" name="Rectangle 7"/>
          <p:cNvSpPr>
            <a:spLocks noChangeArrowheads="1"/>
          </p:cNvSpPr>
          <p:nvPr/>
        </p:nvSpPr>
        <p:spPr bwMode="auto">
          <a:xfrm>
            <a:off x="255588" y="767922"/>
            <a:ext cx="3429000" cy="577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solidFill>
                  <a:srgbClr val="000000"/>
                </a:solidFill>
                <a:ea typeface="돋움" pitchFamily="50" charset="-127"/>
              </a:rPr>
              <a:t>16. Khi kết nối cảm biến đầu ra dòng điện tương tự, các jumper I + và V + phải được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    Bạn sử dụng loại thẻ AD nào?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solidFill>
                  <a:srgbClr val="FF0000"/>
                </a:solidFill>
                <a:latin typeface="돋움" pitchFamily="50" charset="-127"/>
                <a:ea typeface="돋움" pitchFamily="50" charset="-127"/>
              </a:rPr>
              <a:t> ① Q64AD       </a:t>
            </a:r>
            <a:r>
              <a: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② Q68ADV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 ③ Q68ADI      ④ Q61P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fr-FR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17. Điện áp cutin của Diode Ge là gì?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solidFill>
                  <a:srgbClr val="FF0000"/>
                </a:solidFill>
                <a:latin typeface="돋움" pitchFamily="50" charset="-127"/>
                <a:ea typeface="돋움" pitchFamily="50" charset="-127"/>
              </a:rPr>
              <a:t> ① 0,2V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 ② 0,7V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 ③ 0,5V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 ④ 1,4V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solidFill>
                  <a:srgbClr val="000000"/>
                </a:solidFill>
                <a:ea typeface="돋움" pitchFamily="50" charset="-127"/>
              </a:rPr>
              <a:t>18. Điều gì sai với phương pháp tắt SCR đã bật?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solidFill>
                  <a:srgbClr val="000000"/>
                </a:solidFill>
                <a:ea typeface="돋움" pitchFamily="50" charset="-127"/>
              </a:rPr>
              <a:t> ① Điều khiển điện áp cực dương đến-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solidFill>
                  <a:srgbClr val="000000"/>
                </a:solidFill>
                <a:ea typeface="돋움" pitchFamily="50" charset="-127"/>
              </a:rPr>
              <a:t> ② Tắt điện áp cực dương bằng công tắc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solidFill>
                  <a:srgbClr val="000000"/>
                </a:solidFill>
                <a:ea typeface="돋움" pitchFamily="50" charset="-127"/>
              </a:rPr>
              <a:t> </a:t>
            </a:r>
            <a:r>
              <a:rPr kumimoji="1" lang="vi-VN" sz="900">
                <a:solidFill>
                  <a:srgbClr val="FF0000"/>
                </a:solidFill>
                <a:ea typeface="돋움" pitchFamily="50" charset="-127"/>
              </a:rPr>
              <a:t>③ Điều khiển điện áp cực dương đến +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solidFill>
                  <a:srgbClr val="000000"/>
                </a:solidFill>
                <a:ea typeface="돋움" pitchFamily="50" charset="-127"/>
              </a:rPr>
              <a:t> ④ Đưa điện áp cực dương về 0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solidFill>
                  <a:srgbClr val="000000"/>
                </a:solidFill>
                <a:ea typeface="돋움" pitchFamily="50" charset="-127"/>
              </a:rPr>
              <a:t>19. Hiệu điện thế của Ⓐ là bao nhiêu?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 ① 0V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 ② 0,7V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 ③ 4.3V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solidFill>
                  <a:srgbClr val="FF0000"/>
                </a:solidFill>
                <a:latin typeface="돋움" pitchFamily="50" charset="-127"/>
                <a:ea typeface="돋움" pitchFamily="50" charset="-127"/>
              </a:rPr>
              <a:t> ④ 5V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solidFill>
                  <a:srgbClr val="000000"/>
                </a:solidFill>
                <a:ea typeface="돋움" pitchFamily="50" charset="-127"/>
              </a:rPr>
              <a:t>20. Hiệu điện thế của Ⓐ là bao nhiêu?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 ① 0V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solidFill>
                  <a:srgbClr val="FF0000"/>
                </a:solidFill>
                <a:latin typeface="돋움" pitchFamily="50" charset="-127"/>
                <a:ea typeface="돋움" pitchFamily="50" charset="-127"/>
              </a:rPr>
              <a:t> ② 2,9V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 ③ 9.1V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 ④ 12V</a:t>
            </a:r>
          </a:p>
        </p:txBody>
      </p:sp>
      <p:grpSp>
        <p:nvGrpSpPr>
          <p:cNvPr id="5126" name="그룹 1"/>
          <p:cNvGrpSpPr>
            <a:grpSpLocks/>
          </p:cNvGrpSpPr>
          <p:nvPr/>
        </p:nvGrpSpPr>
        <p:grpSpPr bwMode="auto">
          <a:xfrm>
            <a:off x="1279527" y="4067963"/>
            <a:ext cx="1601785" cy="970085"/>
            <a:chOff x="1440317" y="4229472"/>
            <a:chExt cx="2005407" cy="1383623"/>
          </a:xfrm>
        </p:grpSpPr>
        <p:sp>
          <p:nvSpPr>
            <p:cNvPr id="5158" name="Line 36"/>
            <p:cNvSpPr>
              <a:spLocks noChangeShapeType="1"/>
            </p:cNvSpPr>
            <p:nvPr/>
          </p:nvSpPr>
          <p:spPr bwMode="auto">
            <a:xfrm>
              <a:off x="1970534" y="4229472"/>
              <a:ext cx="0" cy="6667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59" name="Line 37"/>
            <p:cNvSpPr>
              <a:spLocks noChangeShapeType="1"/>
            </p:cNvSpPr>
            <p:nvPr/>
          </p:nvSpPr>
          <p:spPr bwMode="auto">
            <a:xfrm>
              <a:off x="1961009" y="4229472"/>
              <a:ext cx="91598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60" name="Line 38"/>
            <p:cNvSpPr>
              <a:spLocks noChangeShapeType="1"/>
            </p:cNvSpPr>
            <p:nvPr/>
          </p:nvSpPr>
          <p:spPr bwMode="auto">
            <a:xfrm>
              <a:off x="2886522" y="4229472"/>
              <a:ext cx="0" cy="2032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grpSp>
          <p:nvGrpSpPr>
            <p:cNvPr id="5161" name="Group 39"/>
            <p:cNvGrpSpPr>
              <a:grpSpLocks/>
            </p:cNvGrpSpPr>
            <p:nvPr/>
          </p:nvGrpSpPr>
          <p:grpSpPr bwMode="auto">
            <a:xfrm>
              <a:off x="2794447" y="4432672"/>
              <a:ext cx="184150" cy="254000"/>
              <a:chOff x="1488" y="1152"/>
              <a:chExt cx="192" cy="336"/>
            </a:xfrm>
          </p:grpSpPr>
          <p:sp>
            <p:nvSpPr>
              <p:cNvPr id="5176" name="Line 40"/>
              <p:cNvSpPr>
                <a:spLocks noChangeShapeType="1"/>
              </p:cNvSpPr>
              <p:nvPr/>
            </p:nvSpPr>
            <p:spPr bwMode="auto">
              <a:xfrm>
                <a:off x="1584" y="115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77" name="Line 41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78" name="Line 42"/>
              <p:cNvSpPr>
                <a:spLocks noChangeShapeType="1"/>
              </p:cNvSpPr>
              <p:nvPr/>
            </p:nvSpPr>
            <p:spPr bwMode="auto">
              <a:xfrm>
                <a:off x="1488" y="1248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79" name="Line 43"/>
              <p:cNvSpPr>
                <a:spLocks noChangeShapeType="1"/>
              </p:cNvSpPr>
              <p:nvPr/>
            </p:nvSpPr>
            <p:spPr bwMode="auto">
              <a:xfrm flipH="1">
                <a:off x="1488" y="1296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80" name="Line 44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81" name="Line 45"/>
              <p:cNvSpPr>
                <a:spLocks noChangeShapeType="1"/>
              </p:cNvSpPr>
              <p:nvPr/>
            </p:nvSpPr>
            <p:spPr bwMode="auto">
              <a:xfrm flipH="1">
                <a:off x="1488" y="1392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82" name="Line 46"/>
              <p:cNvSpPr>
                <a:spLocks noChangeShapeType="1"/>
              </p:cNvSpPr>
              <p:nvPr/>
            </p:nvSpPr>
            <p:spPr bwMode="auto">
              <a:xfrm>
                <a:off x="1488" y="144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5162" name="Line 47"/>
            <p:cNvSpPr>
              <a:spLocks noChangeShapeType="1"/>
            </p:cNvSpPr>
            <p:nvPr/>
          </p:nvSpPr>
          <p:spPr bwMode="auto">
            <a:xfrm>
              <a:off x="2886522" y="4686672"/>
              <a:ext cx="0" cy="4762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63" name="AutoShape 48"/>
            <p:cNvSpPr>
              <a:spLocks noChangeArrowheads="1"/>
            </p:cNvSpPr>
            <p:nvPr/>
          </p:nvSpPr>
          <p:spPr bwMode="auto">
            <a:xfrm rot="10800000" flipV="1">
              <a:off x="2764284" y="5169024"/>
              <a:ext cx="244475" cy="101600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64" name="Line 49"/>
            <p:cNvSpPr>
              <a:spLocks noChangeShapeType="1"/>
            </p:cNvSpPr>
            <p:nvPr/>
          </p:nvSpPr>
          <p:spPr bwMode="auto">
            <a:xfrm flipV="1">
              <a:off x="2764284" y="5173656"/>
              <a:ext cx="24447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65" name="Line 50"/>
            <p:cNvSpPr>
              <a:spLocks noChangeShapeType="1"/>
            </p:cNvSpPr>
            <p:nvPr/>
          </p:nvSpPr>
          <p:spPr bwMode="auto">
            <a:xfrm>
              <a:off x="1970534" y="5601072"/>
              <a:ext cx="91598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66" name="Line 51"/>
            <p:cNvSpPr>
              <a:spLocks noChangeShapeType="1"/>
            </p:cNvSpPr>
            <p:nvPr/>
          </p:nvSpPr>
          <p:spPr bwMode="auto">
            <a:xfrm>
              <a:off x="2886522" y="5245472"/>
              <a:ext cx="0" cy="3556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67" name="Text Box 52"/>
            <p:cNvSpPr txBox="1">
              <a:spLocks noChangeArrowheads="1"/>
            </p:cNvSpPr>
            <p:nvPr/>
          </p:nvSpPr>
          <p:spPr bwMode="auto">
            <a:xfrm>
              <a:off x="2398409" y="4366178"/>
              <a:ext cx="381719" cy="438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18" name="Text Box 53"/>
            <p:cNvSpPr txBox="1">
              <a:spLocks noChangeArrowheads="1"/>
            </p:cNvSpPr>
            <p:nvPr/>
          </p:nvSpPr>
          <p:spPr bwMode="auto">
            <a:xfrm>
              <a:off x="2225389" y="5000707"/>
              <a:ext cx="484072" cy="5926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1050" dirty="0">
                  <a:solidFill>
                    <a:srgbClr val="000000"/>
                  </a:solidFill>
                  <a:latin typeface="Times New Roman" pitchFamily="18" charset="0"/>
                  <a:ea typeface="돋움" pitchFamily="50" charset="-127"/>
                </a:rPr>
                <a:t>D2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1050" dirty="0">
                  <a:solidFill>
                    <a:srgbClr val="000000"/>
                  </a:solidFill>
                  <a:latin typeface="Times New Roman" pitchFamily="18" charset="0"/>
                  <a:ea typeface="돋움" pitchFamily="50" charset="-127"/>
                </a:rPr>
                <a:t>(Si)</a:t>
              </a:r>
            </a:p>
          </p:txBody>
        </p:sp>
        <p:sp>
          <p:nvSpPr>
            <p:cNvPr id="5169" name="Line 54"/>
            <p:cNvSpPr>
              <a:spLocks noChangeShapeType="1"/>
            </p:cNvSpPr>
            <p:nvPr/>
          </p:nvSpPr>
          <p:spPr bwMode="auto">
            <a:xfrm flipV="1">
              <a:off x="1970534" y="4924795"/>
              <a:ext cx="0" cy="6883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70" name="Line 55"/>
            <p:cNvSpPr>
              <a:spLocks noChangeShapeType="1"/>
            </p:cNvSpPr>
            <p:nvPr/>
          </p:nvSpPr>
          <p:spPr bwMode="auto">
            <a:xfrm>
              <a:off x="1856234" y="4886697"/>
              <a:ext cx="23812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71" name="Line 56"/>
            <p:cNvSpPr>
              <a:spLocks noChangeShapeType="1"/>
            </p:cNvSpPr>
            <p:nvPr/>
          </p:nvSpPr>
          <p:spPr bwMode="auto">
            <a:xfrm>
              <a:off x="1894334" y="4934322"/>
              <a:ext cx="15240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72" name="Line 59"/>
            <p:cNvSpPr>
              <a:spLocks noChangeShapeType="1"/>
            </p:cNvSpPr>
            <p:nvPr/>
          </p:nvSpPr>
          <p:spPr bwMode="auto">
            <a:xfrm flipH="1" flipV="1">
              <a:off x="2980184" y="4894635"/>
              <a:ext cx="230188" cy="230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73" name="Line 60"/>
            <p:cNvSpPr>
              <a:spLocks noChangeShapeType="1"/>
            </p:cNvSpPr>
            <p:nvPr/>
          </p:nvSpPr>
          <p:spPr bwMode="auto">
            <a:xfrm flipH="1">
              <a:off x="2980184" y="5372472"/>
              <a:ext cx="230188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74" name="Text Box 61"/>
            <p:cNvSpPr txBox="1">
              <a:spLocks noChangeArrowheads="1"/>
            </p:cNvSpPr>
            <p:nvPr/>
          </p:nvSpPr>
          <p:spPr bwMode="auto">
            <a:xfrm>
              <a:off x="1440317" y="4746141"/>
              <a:ext cx="504141" cy="329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>
                  <a:solidFill>
                    <a:srgbClr val="000000"/>
                  </a:solidFill>
                  <a:latin typeface="Times New Roman" pitchFamily="18" charset="0"/>
                </a:rPr>
                <a:t>5[V]</a:t>
              </a:r>
            </a:p>
          </p:txBody>
        </p:sp>
        <p:sp>
          <p:nvSpPr>
            <p:cNvPr id="5175" name="Text Box 52"/>
            <p:cNvSpPr txBox="1">
              <a:spLocks noChangeArrowheads="1"/>
            </p:cNvSpPr>
            <p:nvPr/>
          </p:nvSpPr>
          <p:spPr bwMode="auto">
            <a:xfrm>
              <a:off x="3021860" y="5065360"/>
              <a:ext cx="423864" cy="3950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200">
                  <a:solidFill>
                    <a:srgbClr val="000000"/>
                  </a:solidFill>
                  <a:latin typeface="Times New Roman" pitchFamily="18" charset="0"/>
                </a:rPr>
                <a:t>Ⓐ</a:t>
              </a:r>
              <a:endParaRPr lang="en-US" altLang="ko-KR" sz="12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5127" name="그룹 2"/>
          <p:cNvGrpSpPr>
            <a:grpSpLocks/>
          </p:cNvGrpSpPr>
          <p:nvPr/>
        </p:nvGrpSpPr>
        <p:grpSpPr bwMode="auto">
          <a:xfrm>
            <a:off x="1196976" y="5495192"/>
            <a:ext cx="1757255" cy="1003789"/>
            <a:chOff x="1156926" y="5957664"/>
            <a:chExt cx="2041626" cy="1376591"/>
          </a:xfrm>
        </p:grpSpPr>
        <p:sp>
          <p:nvSpPr>
            <p:cNvPr id="5130" name="Line 75"/>
            <p:cNvSpPr>
              <a:spLocks noChangeShapeType="1"/>
            </p:cNvSpPr>
            <p:nvPr/>
          </p:nvSpPr>
          <p:spPr bwMode="auto">
            <a:xfrm>
              <a:off x="1715071" y="5957664"/>
              <a:ext cx="0" cy="6667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31" name="Line 76"/>
            <p:cNvSpPr>
              <a:spLocks noChangeShapeType="1"/>
            </p:cNvSpPr>
            <p:nvPr/>
          </p:nvSpPr>
          <p:spPr bwMode="auto">
            <a:xfrm>
              <a:off x="1705546" y="5957664"/>
              <a:ext cx="915987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32" name="Line 77"/>
            <p:cNvSpPr>
              <a:spLocks noChangeShapeType="1"/>
            </p:cNvSpPr>
            <p:nvPr/>
          </p:nvSpPr>
          <p:spPr bwMode="auto">
            <a:xfrm>
              <a:off x="2631058" y="5957664"/>
              <a:ext cx="0" cy="2032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grpSp>
          <p:nvGrpSpPr>
            <p:cNvPr id="5133" name="Group 78"/>
            <p:cNvGrpSpPr>
              <a:grpSpLocks/>
            </p:cNvGrpSpPr>
            <p:nvPr/>
          </p:nvGrpSpPr>
          <p:grpSpPr bwMode="auto">
            <a:xfrm>
              <a:off x="2538983" y="6160864"/>
              <a:ext cx="184150" cy="254000"/>
              <a:chOff x="1488" y="1152"/>
              <a:chExt cx="192" cy="336"/>
            </a:xfrm>
          </p:grpSpPr>
          <p:sp>
            <p:nvSpPr>
              <p:cNvPr id="5151" name="Line 79"/>
              <p:cNvSpPr>
                <a:spLocks noChangeShapeType="1"/>
              </p:cNvSpPr>
              <p:nvPr/>
            </p:nvSpPr>
            <p:spPr bwMode="auto">
              <a:xfrm>
                <a:off x="1584" y="115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52" name="Line 80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53" name="Line 81"/>
              <p:cNvSpPr>
                <a:spLocks noChangeShapeType="1"/>
              </p:cNvSpPr>
              <p:nvPr/>
            </p:nvSpPr>
            <p:spPr bwMode="auto">
              <a:xfrm>
                <a:off x="1488" y="1248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54" name="Line 82"/>
              <p:cNvSpPr>
                <a:spLocks noChangeShapeType="1"/>
              </p:cNvSpPr>
              <p:nvPr/>
            </p:nvSpPr>
            <p:spPr bwMode="auto">
              <a:xfrm flipH="1">
                <a:off x="1488" y="1296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55" name="Line 83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56" name="Line 84"/>
              <p:cNvSpPr>
                <a:spLocks noChangeShapeType="1"/>
              </p:cNvSpPr>
              <p:nvPr/>
            </p:nvSpPr>
            <p:spPr bwMode="auto">
              <a:xfrm flipH="1">
                <a:off x="1488" y="1392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57" name="Line 85"/>
              <p:cNvSpPr>
                <a:spLocks noChangeShapeType="1"/>
              </p:cNvSpPr>
              <p:nvPr/>
            </p:nvSpPr>
            <p:spPr bwMode="auto">
              <a:xfrm>
                <a:off x="1488" y="144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5134" name="Line 86"/>
            <p:cNvSpPr>
              <a:spLocks noChangeShapeType="1"/>
            </p:cNvSpPr>
            <p:nvPr/>
          </p:nvSpPr>
          <p:spPr bwMode="auto">
            <a:xfrm>
              <a:off x="2631058" y="6414864"/>
              <a:ext cx="0" cy="4381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35" name="AutoShape 87"/>
            <p:cNvSpPr>
              <a:spLocks noChangeArrowheads="1"/>
            </p:cNvSpPr>
            <p:nvPr/>
          </p:nvSpPr>
          <p:spPr bwMode="auto">
            <a:xfrm>
              <a:off x="2508821" y="6853014"/>
              <a:ext cx="244475" cy="127000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36" name="Line 88"/>
            <p:cNvSpPr>
              <a:spLocks noChangeShapeType="1"/>
            </p:cNvSpPr>
            <p:nvPr/>
          </p:nvSpPr>
          <p:spPr bwMode="auto">
            <a:xfrm>
              <a:off x="2508821" y="6980014"/>
              <a:ext cx="24447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37" name="Line 89"/>
            <p:cNvSpPr>
              <a:spLocks noChangeShapeType="1"/>
            </p:cNvSpPr>
            <p:nvPr/>
          </p:nvSpPr>
          <p:spPr bwMode="auto">
            <a:xfrm>
              <a:off x="1715071" y="7329264"/>
              <a:ext cx="915987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38" name="Line 90"/>
            <p:cNvSpPr>
              <a:spLocks noChangeShapeType="1"/>
            </p:cNvSpPr>
            <p:nvPr/>
          </p:nvSpPr>
          <p:spPr bwMode="auto">
            <a:xfrm>
              <a:off x="2631058" y="6973664"/>
              <a:ext cx="0" cy="3556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39" name="Text Box 91"/>
            <p:cNvSpPr txBox="1">
              <a:spLocks noChangeArrowheads="1"/>
            </p:cNvSpPr>
            <p:nvPr/>
          </p:nvSpPr>
          <p:spPr bwMode="auto">
            <a:xfrm>
              <a:off x="2272284" y="6152927"/>
              <a:ext cx="354232" cy="4220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5140" name="Line 92"/>
            <p:cNvSpPr>
              <a:spLocks noChangeShapeType="1"/>
            </p:cNvSpPr>
            <p:nvPr/>
          </p:nvSpPr>
          <p:spPr bwMode="auto">
            <a:xfrm flipV="1">
              <a:off x="1715071" y="6652988"/>
              <a:ext cx="0" cy="68126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41" name="Line 93"/>
            <p:cNvSpPr>
              <a:spLocks noChangeShapeType="1"/>
            </p:cNvSpPr>
            <p:nvPr/>
          </p:nvSpPr>
          <p:spPr bwMode="auto">
            <a:xfrm>
              <a:off x="1600771" y="6614889"/>
              <a:ext cx="23812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42" name="Line 94"/>
            <p:cNvSpPr>
              <a:spLocks noChangeShapeType="1"/>
            </p:cNvSpPr>
            <p:nvPr/>
          </p:nvSpPr>
          <p:spPr bwMode="auto">
            <a:xfrm>
              <a:off x="1638871" y="6662514"/>
              <a:ext cx="15240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43" name="Line 96"/>
            <p:cNvSpPr>
              <a:spLocks noChangeShapeType="1"/>
            </p:cNvSpPr>
            <p:nvPr/>
          </p:nvSpPr>
          <p:spPr bwMode="auto">
            <a:xfrm>
              <a:off x="2505646" y="6853014"/>
              <a:ext cx="24765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44" name="Line 97"/>
            <p:cNvSpPr>
              <a:spLocks noChangeShapeType="1"/>
            </p:cNvSpPr>
            <p:nvPr/>
          </p:nvSpPr>
          <p:spPr bwMode="auto">
            <a:xfrm>
              <a:off x="2753296" y="6853014"/>
              <a:ext cx="76200" cy="762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45" name="Line 98"/>
            <p:cNvSpPr>
              <a:spLocks noChangeShapeType="1"/>
            </p:cNvSpPr>
            <p:nvPr/>
          </p:nvSpPr>
          <p:spPr bwMode="auto">
            <a:xfrm flipH="1" flipV="1">
              <a:off x="2419921" y="6776814"/>
              <a:ext cx="76200" cy="762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46" name="Text Box 99"/>
            <p:cNvSpPr txBox="1">
              <a:spLocks noChangeArrowheads="1"/>
            </p:cNvSpPr>
            <p:nvPr/>
          </p:nvSpPr>
          <p:spPr bwMode="auto">
            <a:xfrm>
              <a:off x="1943671" y="6681564"/>
              <a:ext cx="568408" cy="506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>
                  <a:solidFill>
                    <a:srgbClr val="000000"/>
                  </a:solidFill>
                  <a:latin typeface="Times New Roman" pitchFamily="18" charset="0"/>
                </a:rPr>
                <a:t>  ZD</a:t>
              </a:r>
            </a:p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>
                  <a:solidFill>
                    <a:srgbClr val="000000"/>
                  </a:solidFill>
                  <a:latin typeface="Times New Roman" pitchFamily="18" charset="0"/>
                </a:rPr>
                <a:t>(9.1V)</a:t>
              </a:r>
            </a:p>
          </p:txBody>
        </p:sp>
        <p:sp>
          <p:nvSpPr>
            <p:cNvPr id="5147" name="Text Box 100"/>
            <p:cNvSpPr txBox="1">
              <a:spLocks noChangeArrowheads="1"/>
            </p:cNvSpPr>
            <p:nvPr/>
          </p:nvSpPr>
          <p:spPr bwMode="auto">
            <a:xfrm>
              <a:off x="1156926" y="6496394"/>
              <a:ext cx="534884" cy="316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>
                  <a:solidFill>
                    <a:srgbClr val="000000"/>
                  </a:solidFill>
                  <a:latin typeface="Times New Roman" pitchFamily="18" charset="0"/>
                </a:rPr>
                <a:t>12[V]</a:t>
              </a:r>
            </a:p>
          </p:txBody>
        </p:sp>
        <p:sp>
          <p:nvSpPr>
            <p:cNvPr id="5148" name="Line 101"/>
            <p:cNvSpPr>
              <a:spLocks noChangeShapeType="1"/>
            </p:cNvSpPr>
            <p:nvPr/>
          </p:nvSpPr>
          <p:spPr bwMode="auto">
            <a:xfrm flipH="1" flipV="1">
              <a:off x="2705671" y="5983064"/>
              <a:ext cx="230187" cy="2301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49" name="Line 102"/>
            <p:cNvSpPr>
              <a:spLocks noChangeShapeType="1"/>
            </p:cNvSpPr>
            <p:nvPr/>
          </p:nvSpPr>
          <p:spPr bwMode="auto">
            <a:xfrm flipH="1">
              <a:off x="2694757" y="6445027"/>
              <a:ext cx="230187" cy="1666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50" name="Text Box 103"/>
            <p:cNvSpPr txBox="1">
              <a:spLocks noChangeArrowheads="1"/>
            </p:cNvSpPr>
            <p:nvPr/>
          </p:nvSpPr>
          <p:spPr bwMode="auto">
            <a:xfrm>
              <a:off x="2805211" y="6149294"/>
              <a:ext cx="393341" cy="37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200">
                  <a:solidFill>
                    <a:srgbClr val="000000"/>
                  </a:solidFill>
                  <a:latin typeface="Times New Roman" pitchFamily="18" charset="0"/>
                </a:rPr>
                <a:t>Ⓐ</a:t>
              </a:r>
              <a:endParaRPr lang="en-US" altLang="ko-KR" sz="12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016" y="730710"/>
            <a:ext cx="2880320" cy="816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" name="Text Box 6"/>
          <p:cNvSpPr>
            <a:spLocks noChangeArrowheads="1"/>
          </p:cNvSpPr>
          <p:nvPr/>
        </p:nvSpPr>
        <p:spPr bwMode="auto">
          <a:xfrm>
            <a:off x="195263" y="211085"/>
            <a:ext cx="3449637" cy="3091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/>
          <a:lstStyle>
            <a:lvl1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SzPct val="100000"/>
              <a:defRPr/>
            </a:pPr>
            <a:r>
              <a:rPr lang="vi-VN" altLang="ko-K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[Đánh </a:t>
            </a:r>
            <a:r>
              <a:rPr lang="vi-VN" altLang="ko-KR" sz="1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giá 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WS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5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</a:t>
            </a:r>
            <a:r>
              <a:rPr lang="vi-VN" altLang="ko-KR" sz="1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– 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Điện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- Đ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iện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tử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]</a:t>
            </a:r>
            <a:endParaRPr lang="vi-VN" altLang="ko-KR" sz="16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096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>
            <a:spLocks noChangeShapeType="1"/>
          </p:cNvSpPr>
          <p:nvPr/>
        </p:nvSpPr>
        <p:spPr bwMode="auto">
          <a:xfrm>
            <a:off x="279400" y="562708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052" name="Rectangle 3"/>
          <p:cNvSpPr>
            <a:spLocks noChangeArrowheads="1"/>
          </p:cNvSpPr>
          <p:nvPr/>
        </p:nvSpPr>
        <p:spPr bwMode="auto">
          <a:xfrm>
            <a:off x="304800" y="716633"/>
            <a:ext cx="3124200" cy="83087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1. Giải thích tiếp theo là gì?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 [Các electron ở quỹ đạo ngoài cùng của nguyên tử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    Tốc độ yếu. ]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① Điện tử tự do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② Điện tử gia dụng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③ hạt nhân nguyên tử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④ Bệ hạ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2. Điều nào không đúng với số êlectron trong </a:t>
            </a:r>
            <a:r>
              <a:rPr kumimoji="1" lang="en-US" sz="900">
                <a:latin typeface="돋움" pitchFamily="50" charset="-127"/>
                <a:ea typeface="돋움" pitchFamily="50" charset="-127"/>
              </a:rPr>
              <a:t>quý đạo điện tử</a:t>
            </a:r>
            <a:r>
              <a:rPr kumimoji="1" lang="vi-VN" sz="900">
                <a:ea typeface="돋움" pitchFamily="50" charset="-127"/>
              </a:rPr>
              <a:t>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① Góc M = 18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② góc K = 4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③ góc N = 32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④ Góc L = 8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3. Điều gì được mô tả tiếp theo?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 [Năng lượng được tăng lên để trở thành một cấp độ cao hơn]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</a:t>
            </a:r>
            <a:r>
              <a:rPr kumimoji="1" lang="en-US" sz="900">
                <a:latin typeface="돋움" pitchFamily="50" charset="-127"/>
                <a:ea typeface="돋움" pitchFamily="50" charset="-127"/>
              </a:rPr>
              <a:t> ① </a:t>
            </a:r>
            <a:r>
              <a:rPr kumimoji="1" lang="vi-VN" sz="900">
                <a:ea typeface="돋움" pitchFamily="50" charset="-127"/>
              </a:rPr>
              <a:t> </a:t>
            </a:r>
            <a:r>
              <a:rPr kumimoji="1" lang="en-US" sz="900">
                <a:latin typeface="돋움" pitchFamily="50" charset="-127"/>
                <a:ea typeface="돋움" pitchFamily="50" charset="-127"/>
              </a:rPr>
              <a:t>Kích thích</a:t>
            </a:r>
            <a:endParaRPr kumimoji="1" lang="vi-VN" sz="900"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② photon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③ ion hóa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④ Truyền giáo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4. Độ lệch pha trong trường hợp 3 pha 220V 60㎐ là bao nhiêu?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① 90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② 120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③ 180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④ 240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5. Dòng điện gây ra co giật mạnh trong điện giật là gì?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① 5 ~ 30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② 30 ~ 50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③ 50 ~ 100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④ Hơn 100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6. Vrms ở giá trị đỉnh đến đỉnh là 10V là bao nhiêu?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① 7,07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② 6,37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③ 3.535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④ 3,185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7. Đâu không phải là chế độ thu nhận tín hiệu của máy hiện sóng?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① Đỉnh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② Trung bình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③ xung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④ Mẫu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8. Khi mã màu của điện trở là [Đỏ Đỏ Nâu Bạc]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 Giá trị là gì?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l-GR" sz="900">
                <a:latin typeface="돋움" pitchFamily="50" charset="-127"/>
                <a:ea typeface="돋움" pitchFamily="50" charset="-127"/>
              </a:rPr>
              <a:t>  ① 220Ω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l-GR" sz="900">
                <a:latin typeface="돋움" pitchFamily="50" charset="-127"/>
                <a:ea typeface="돋움" pitchFamily="50" charset="-127"/>
              </a:rPr>
              <a:t>  ② 330Ω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l-GR" sz="900">
                <a:latin typeface="돋움" pitchFamily="50" charset="-127"/>
                <a:ea typeface="돋움" pitchFamily="50" charset="-127"/>
              </a:rPr>
              <a:t>  ③ 2200Ω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l-GR" sz="900">
                <a:latin typeface="돋움" pitchFamily="50" charset="-127"/>
                <a:ea typeface="돋움" pitchFamily="50" charset="-127"/>
              </a:rPr>
              <a:t>  ④ 3300Ω</a:t>
            </a:r>
          </a:p>
        </p:txBody>
      </p:sp>
      <p:sp>
        <p:nvSpPr>
          <p:cNvPr id="2053" name="Rectangle 4"/>
          <p:cNvSpPr>
            <a:spLocks noChangeArrowheads="1"/>
          </p:cNvSpPr>
          <p:nvPr/>
        </p:nvSpPr>
        <p:spPr bwMode="auto">
          <a:xfrm>
            <a:off x="3429000" y="716633"/>
            <a:ext cx="3124200" cy="83087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9. Điện trở nào được sử dụng cho các mạch tương tự nói chung yêu cầu độ chính xác?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     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① Khả năng chống màng kim loại (loại sơn)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② Chống xi măng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③ Chống màng kim loại (màng mỏng)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④ Khả năng chống màng carbon nhỏ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10. Trường hợp nào sau đây không phải của đoạn mạch sử dụng chức năng của tụ điện?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① Làm trơn mạch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② Mạch chỉnh lưu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③ Mạch hẹn giờ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④ Mạch lọc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11. Tụ điện nào sau đây được dùng ở dải tần cao?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① Tụ điện Mylar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② Tụ gốm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③ Tụ Tantal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④ Tụ điện Styrol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12. Nêu việc xác định chiều của suất điện động cảm ứng bằng sự thay đổi từ thông?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   Làm đi?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① cảm ứng điện từ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② Suất điện động cảm ứng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③ Định luật Lenz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④ Điện cảm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13. Loại cuộn dây nào có tụ điện mắc song song trước?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① FCZ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② FFC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③ RFC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④ IFT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14. Điện áp ngưỡng thuận của diode Zener 6.2V / Si là bao nhiêu?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    Là nó?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① 0,2V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② 0,7V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③ 5,8V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④ 6.2V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15. Dòng hoạt động của bóng bán dẫn tín hiệu nhỏ là gì?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① Dưới 100㎃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② 200㎃ trở xuống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③ 300㎃ trở xuống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④ 400㎃ trở xuống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16. Điều gì không phải là đặc điểm của Photo Coupler?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① Tốc độ phản hồi nhanh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② Đầu vào và đầu ra được cách điện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③ Có độ tin cậy cao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④ Chống rung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288926" y="699053"/>
            <a:ext cx="157767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fontAlgn="base" latin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ko-KR" sz="1000" b="1">
                <a:latin typeface="Arial" charset="0"/>
              </a:rPr>
              <a:t>※ </a:t>
            </a:r>
            <a:r>
              <a:rPr lang="ko-KR" altLang="en-US" sz="1000" b="1">
                <a:latin typeface="Arial" charset="0"/>
              </a:rPr>
              <a:t>전기전자</a:t>
            </a:r>
            <a:r>
              <a:rPr lang="en-US" altLang="ko-KR" sz="1000" b="1">
                <a:latin typeface="Arial" charset="0"/>
              </a:rPr>
              <a:t> : 1</a:t>
            </a:r>
            <a:r>
              <a:rPr lang="ko-KR" altLang="en-US" sz="1000" b="1">
                <a:latin typeface="Arial" charset="0"/>
              </a:rPr>
              <a:t>번 </a:t>
            </a:r>
            <a:r>
              <a:rPr lang="en-US" altLang="ko-KR" sz="1000" b="1">
                <a:latin typeface="Arial" charset="0"/>
              </a:rPr>
              <a:t>~ 20</a:t>
            </a:r>
            <a:r>
              <a:rPr lang="ko-KR" altLang="en-US" sz="1000" b="1">
                <a:latin typeface="Arial" charset="0"/>
              </a:rPr>
              <a:t>번</a:t>
            </a:r>
          </a:p>
        </p:txBody>
      </p:sp>
      <p:sp>
        <p:nvSpPr>
          <p:cNvPr id="7" name="Text Box 6"/>
          <p:cNvSpPr>
            <a:spLocks noChangeArrowheads="1"/>
          </p:cNvSpPr>
          <p:nvPr/>
        </p:nvSpPr>
        <p:spPr bwMode="auto">
          <a:xfrm>
            <a:off x="195263" y="211085"/>
            <a:ext cx="3449637" cy="3091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/>
          <a:lstStyle>
            <a:lvl1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SzPct val="100000"/>
              <a:defRPr/>
            </a:pPr>
            <a:r>
              <a:rPr lang="vi-VN" altLang="ko-K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[Đánh </a:t>
            </a:r>
            <a:r>
              <a:rPr lang="vi-VN" altLang="ko-KR" sz="1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giá 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WS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6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</a:t>
            </a:r>
            <a:r>
              <a:rPr lang="vi-VN" altLang="ko-KR" sz="1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– 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Điện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- Đ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iện</a:t>
            </a:r>
            <a:r>
              <a:rPr lang="en-US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tử</a:t>
            </a:r>
            <a:r>
              <a:rPr lang="vi-VN" altLang="ko-KR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]</a:t>
            </a:r>
            <a:endParaRPr lang="vi-VN" altLang="ko-KR" sz="16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114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2"/>
          <p:cNvSpPr>
            <a:spLocks noChangeShapeType="1"/>
          </p:cNvSpPr>
          <p:nvPr/>
        </p:nvSpPr>
        <p:spPr bwMode="auto">
          <a:xfrm>
            <a:off x="279400" y="562708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304800" y="716575"/>
            <a:ext cx="3124200" cy="82164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54000"/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17. Đâu không phải là đặc điểm của Nhiệt điện trở?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① Do hệ số nhiệt độ điện trở nhỏ so với nhiệt độ,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    Đo lường chính xác là tốt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② Cấu trúc đơn giản cho phép thu nhỏ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③ Sản xuất hàng loạt tuyệt vời, cho phép cung cấp hàng loạt với giá ổn định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    Làm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④ áp suất. Không nhạy cảm với bản thân và các yếu tố khác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18. Hiệu điện thế qua điện trở trong đoạn mạch sau là bao nhiêu?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① 0V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② 0,2V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③ 0,7V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④ 4,8V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>
                <a:ea typeface="돋움" pitchFamily="50" charset="-127"/>
              </a:rPr>
              <a:t>19. Hiệu điện thế qua điện trở trong đoạn mạch sau đây là bao nhiêu?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① 0V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② 2,9V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③ 9.1V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④ 11,3V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>
                <a:latin typeface="돋움" pitchFamily="50" charset="-127"/>
                <a:ea typeface="돋움" pitchFamily="50" charset="-127"/>
              </a:rPr>
              <a:t>20. Tần số của dạng sóng tiếp theo là bao nhiêu?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altLang="ko-KR" sz="90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900">
                <a:latin typeface="돋움" pitchFamily="50" charset="-127"/>
                <a:ea typeface="돋움" pitchFamily="50" charset="-127"/>
              </a:rPr>
              <a:t>① 200 hz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900">
                <a:latin typeface="돋움" pitchFamily="50" charset="-127"/>
                <a:ea typeface="돋움" pitchFamily="50" charset="-127"/>
              </a:rPr>
              <a:t>② 250 hz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900">
                <a:latin typeface="돋움" pitchFamily="50" charset="-127"/>
                <a:ea typeface="돋움" pitchFamily="50" charset="-127"/>
              </a:rPr>
              <a:t>③ 500 hz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900">
                <a:latin typeface="돋움" pitchFamily="50" charset="-127"/>
                <a:ea typeface="돋움" pitchFamily="50" charset="-127"/>
              </a:rPr>
              <a:t>④ 1khz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077" name="Rectangle 4"/>
          <p:cNvSpPr>
            <a:spLocks noChangeArrowheads="1"/>
          </p:cNvSpPr>
          <p:nvPr/>
        </p:nvSpPr>
        <p:spPr bwMode="auto">
          <a:xfrm>
            <a:off x="3429000" y="716575"/>
            <a:ext cx="3124200" cy="82164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72000"/>
          <a:lstStyle/>
          <a:p>
            <a:pPr marL="457200" indent="-457200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ko-KR" sz="90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3078" name="그룹 1"/>
          <p:cNvGrpSpPr>
            <a:grpSpLocks/>
          </p:cNvGrpSpPr>
          <p:nvPr/>
        </p:nvGrpSpPr>
        <p:grpSpPr bwMode="auto">
          <a:xfrm>
            <a:off x="1431925" y="2464779"/>
            <a:ext cx="1104900" cy="834599"/>
            <a:chOff x="1431826" y="2263304"/>
            <a:chExt cx="1105654" cy="904658"/>
          </a:xfrm>
        </p:grpSpPr>
        <p:sp>
          <p:nvSpPr>
            <p:cNvPr id="3209" name="Line 62"/>
            <p:cNvSpPr>
              <a:spLocks noChangeShapeType="1"/>
            </p:cNvSpPr>
            <p:nvPr/>
          </p:nvSpPr>
          <p:spPr bwMode="auto">
            <a:xfrm>
              <a:off x="1858680" y="2263304"/>
              <a:ext cx="0" cy="42004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210" name="Line 63"/>
            <p:cNvSpPr>
              <a:spLocks noChangeShapeType="1"/>
            </p:cNvSpPr>
            <p:nvPr/>
          </p:nvSpPr>
          <p:spPr bwMode="auto">
            <a:xfrm>
              <a:off x="1856617" y="2263304"/>
              <a:ext cx="59524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211" name="Line 64"/>
            <p:cNvSpPr>
              <a:spLocks noChangeShapeType="1"/>
            </p:cNvSpPr>
            <p:nvPr/>
          </p:nvSpPr>
          <p:spPr bwMode="auto">
            <a:xfrm>
              <a:off x="2458046" y="2263304"/>
              <a:ext cx="0" cy="12801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grpSp>
          <p:nvGrpSpPr>
            <p:cNvPr id="3212" name="Group 65"/>
            <p:cNvGrpSpPr>
              <a:grpSpLocks/>
            </p:cNvGrpSpPr>
            <p:nvPr/>
          </p:nvGrpSpPr>
          <p:grpSpPr bwMode="auto">
            <a:xfrm>
              <a:off x="2398213" y="2391318"/>
              <a:ext cx="119667" cy="160018"/>
              <a:chOff x="1488" y="1152"/>
              <a:chExt cx="192" cy="336"/>
            </a:xfrm>
          </p:grpSpPr>
          <p:sp>
            <p:nvSpPr>
              <p:cNvPr id="3225" name="Line 66"/>
              <p:cNvSpPr>
                <a:spLocks noChangeShapeType="1"/>
              </p:cNvSpPr>
              <p:nvPr/>
            </p:nvSpPr>
            <p:spPr bwMode="auto">
              <a:xfrm>
                <a:off x="1584" y="115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226" name="Line 67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227" name="Line 68"/>
              <p:cNvSpPr>
                <a:spLocks noChangeShapeType="1"/>
              </p:cNvSpPr>
              <p:nvPr/>
            </p:nvSpPr>
            <p:spPr bwMode="auto">
              <a:xfrm>
                <a:off x="1488" y="1248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228" name="Line 69"/>
              <p:cNvSpPr>
                <a:spLocks noChangeShapeType="1"/>
              </p:cNvSpPr>
              <p:nvPr/>
            </p:nvSpPr>
            <p:spPr bwMode="auto">
              <a:xfrm flipH="1">
                <a:off x="1488" y="1296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229" name="Line 70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230" name="Line 71"/>
              <p:cNvSpPr>
                <a:spLocks noChangeShapeType="1"/>
              </p:cNvSpPr>
              <p:nvPr/>
            </p:nvSpPr>
            <p:spPr bwMode="auto">
              <a:xfrm flipH="1">
                <a:off x="1488" y="1392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231" name="Line 72"/>
              <p:cNvSpPr>
                <a:spLocks noChangeShapeType="1"/>
              </p:cNvSpPr>
              <p:nvPr/>
            </p:nvSpPr>
            <p:spPr bwMode="auto">
              <a:xfrm>
                <a:off x="1488" y="144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3213" name="Line 73"/>
            <p:cNvSpPr>
              <a:spLocks noChangeShapeType="1"/>
            </p:cNvSpPr>
            <p:nvPr/>
          </p:nvSpPr>
          <p:spPr bwMode="auto">
            <a:xfrm>
              <a:off x="2458046" y="2551336"/>
              <a:ext cx="0" cy="30003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214" name="AutoShape 74"/>
            <p:cNvSpPr>
              <a:spLocks noChangeArrowheads="1"/>
            </p:cNvSpPr>
            <p:nvPr/>
          </p:nvSpPr>
          <p:spPr bwMode="auto">
            <a:xfrm flipV="1">
              <a:off x="2378612" y="2843368"/>
              <a:ext cx="158868" cy="64007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215" name="Line 75"/>
            <p:cNvSpPr>
              <a:spLocks noChangeShapeType="1"/>
            </p:cNvSpPr>
            <p:nvPr/>
          </p:nvSpPr>
          <p:spPr bwMode="auto">
            <a:xfrm flipV="1">
              <a:off x="2378612" y="2907376"/>
              <a:ext cx="15886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216" name="Line 76"/>
            <p:cNvSpPr>
              <a:spLocks noChangeShapeType="1"/>
            </p:cNvSpPr>
            <p:nvPr/>
          </p:nvSpPr>
          <p:spPr bwMode="auto">
            <a:xfrm>
              <a:off x="1862807" y="3127400"/>
              <a:ext cx="59524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217" name="Line 77"/>
            <p:cNvSpPr>
              <a:spLocks noChangeShapeType="1"/>
            </p:cNvSpPr>
            <p:nvPr/>
          </p:nvSpPr>
          <p:spPr bwMode="auto">
            <a:xfrm>
              <a:off x="2458046" y="2903375"/>
              <a:ext cx="0" cy="22402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218" name="Text Box 78"/>
            <p:cNvSpPr txBox="1">
              <a:spLocks noChangeArrowheads="1"/>
            </p:cNvSpPr>
            <p:nvPr/>
          </p:nvSpPr>
          <p:spPr bwMode="auto">
            <a:xfrm>
              <a:off x="2152396" y="2351186"/>
              <a:ext cx="279435" cy="2835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100"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18" name="Text Box 79"/>
            <p:cNvSpPr txBox="1">
              <a:spLocks noChangeArrowheads="1"/>
            </p:cNvSpPr>
            <p:nvPr/>
          </p:nvSpPr>
          <p:spPr bwMode="auto">
            <a:xfrm>
              <a:off x="2079968" y="2717586"/>
              <a:ext cx="393324" cy="450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1050" dirty="0">
                  <a:latin typeface="Times New Roman" pitchFamily="18" charset="0"/>
                  <a:ea typeface="돋움" pitchFamily="50" charset="-127"/>
                </a:rPr>
                <a:t>  D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1050" dirty="0">
                  <a:latin typeface="Times New Roman" pitchFamily="18" charset="0"/>
                  <a:ea typeface="돋움" pitchFamily="50" charset="-127"/>
                </a:rPr>
                <a:t>(</a:t>
              </a:r>
              <a:r>
                <a:rPr kumimoji="1" lang="en-US" altLang="ko-KR" sz="800" dirty="0" err="1">
                  <a:latin typeface="Times New Roman" pitchFamily="18" charset="0"/>
                  <a:ea typeface="돋움" pitchFamily="50" charset="-127"/>
                </a:rPr>
                <a:t>Ge</a:t>
              </a:r>
              <a:r>
                <a:rPr kumimoji="1" lang="en-US" altLang="ko-KR" sz="1050" dirty="0">
                  <a:latin typeface="Times New Roman" pitchFamily="18" charset="0"/>
                  <a:ea typeface="돋움" pitchFamily="50" charset="-127"/>
                </a:rPr>
                <a:t>)</a:t>
              </a:r>
            </a:p>
          </p:txBody>
        </p:sp>
        <p:sp>
          <p:nvSpPr>
            <p:cNvPr id="3220" name="Line 80"/>
            <p:cNvSpPr>
              <a:spLocks noChangeShapeType="1"/>
            </p:cNvSpPr>
            <p:nvPr/>
          </p:nvSpPr>
          <p:spPr bwMode="auto">
            <a:xfrm flipV="1">
              <a:off x="1858680" y="2701352"/>
              <a:ext cx="0" cy="42604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grpSp>
          <p:nvGrpSpPr>
            <p:cNvPr id="3221" name="Group 81"/>
            <p:cNvGrpSpPr>
              <a:grpSpLocks/>
            </p:cNvGrpSpPr>
            <p:nvPr/>
          </p:nvGrpSpPr>
          <p:grpSpPr bwMode="auto">
            <a:xfrm rot="10800000" flipV="1">
              <a:off x="1782341" y="2677350"/>
              <a:ext cx="154742" cy="30003"/>
              <a:chOff x="636" y="3360"/>
              <a:chExt cx="150" cy="30"/>
            </a:xfrm>
          </p:grpSpPr>
          <p:sp>
            <p:nvSpPr>
              <p:cNvPr id="3223" name="Line 82"/>
              <p:cNvSpPr>
                <a:spLocks noChangeShapeType="1"/>
              </p:cNvSpPr>
              <p:nvPr/>
            </p:nvSpPr>
            <p:spPr bwMode="auto">
              <a:xfrm>
                <a:off x="636" y="3360"/>
                <a:ext cx="150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224" name="Line 83"/>
              <p:cNvSpPr>
                <a:spLocks noChangeShapeType="1"/>
              </p:cNvSpPr>
              <p:nvPr/>
            </p:nvSpPr>
            <p:spPr bwMode="auto">
              <a:xfrm>
                <a:off x="660" y="3390"/>
                <a:ext cx="9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21" name="Text Box 85"/>
            <p:cNvSpPr txBox="1">
              <a:spLocks noChangeArrowheads="1"/>
            </p:cNvSpPr>
            <p:nvPr/>
          </p:nvSpPr>
          <p:spPr bwMode="auto">
            <a:xfrm>
              <a:off x="1431826" y="2553981"/>
              <a:ext cx="439844" cy="275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1050" dirty="0">
                  <a:latin typeface="Times New Roman" pitchFamily="18" charset="0"/>
                  <a:ea typeface="돋움" pitchFamily="50" charset="-127"/>
                </a:rPr>
                <a:t>5[V]</a:t>
              </a:r>
            </a:p>
          </p:txBody>
        </p:sp>
      </p:grpSp>
      <p:grpSp>
        <p:nvGrpSpPr>
          <p:cNvPr id="3079" name="그룹 2"/>
          <p:cNvGrpSpPr>
            <a:grpSpLocks/>
          </p:cNvGrpSpPr>
          <p:nvPr/>
        </p:nvGrpSpPr>
        <p:grpSpPr bwMode="auto">
          <a:xfrm>
            <a:off x="1404938" y="3631283"/>
            <a:ext cx="1193800" cy="807427"/>
            <a:chOff x="1405633" y="3862786"/>
            <a:chExt cx="1193183" cy="874190"/>
          </a:xfrm>
        </p:grpSpPr>
        <p:sp>
          <p:nvSpPr>
            <p:cNvPr id="3185" name="Line 75"/>
            <p:cNvSpPr>
              <a:spLocks noChangeShapeType="1"/>
            </p:cNvSpPr>
            <p:nvPr/>
          </p:nvSpPr>
          <p:spPr bwMode="auto">
            <a:xfrm>
              <a:off x="1854814" y="3862786"/>
              <a:ext cx="0" cy="42495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86" name="Line 76"/>
            <p:cNvSpPr>
              <a:spLocks noChangeShapeType="1"/>
            </p:cNvSpPr>
            <p:nvPr/>
          </p:nvSpPr>
          <p:spPr bwMode="auto">
            <a:xfrm>
              <a:off x="1848402" y="3862786"/>
              <a:ext cx="61657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87" name="Line 77"/>
            <p:cNvSpPr>
              <a:spLocks noChangeShapeType="1"/>
            </p:cNvSpPr>
            <p:nvPr/>
          </p:nvSpPr>
          <p:spPr bwMode="auto">
            <a:xfrm>
              <a:off x="2471388" y="3862786"/>
              <a:ext cx="0" cy="12951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grpSp>
          <p:nvGrpSpPr>
            <p:cNvPr id="3188" name="Group 78"/>
            <p:cNvGrpSpPr>
              <a:grpSpLocks/>
            </p:cNvGrpSpPr>
            <p:nvPr/>
          </p:nvGrpSpPr>
          <p:grpSpPr bwMode="auto">
            <a:xfrm>
              <a:off x="2409410" y="3992296"/>
              <a:ext cx="123956" cy="161887"/>
              <a:chOff x="1488" y="1152"/>
              <a:chExt cx="192" cy="336"/>
            </a:xfrm>
          </p:grpSpPr>
          <p:sp>
            <p:nvSpPr>
              <p:cNvPr id="3202" name="Line 79"/>
              <p:cNvSpPr>
                <a:spLocks noChangeShapeType="1"/>
              </p:cNvSpPr>
              <p:nvPr/>
            </p:nvSpPr>
            <p:spPr bwMode="auto">
              <a:xfrm>
                <a:off x="1584" y="115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203" name="Line 80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204" name="Line 81"/>
              <p:cNvSpPr>
                <a:spLocks noChangeShapeType="1"/>
              </p:cNvSpPr>
              <p:nvPr/>
            </p:nvSpPr>
            <p:spPr bwMode="auto">
              <a:xfrm>
                <a:off x="1488" y="1248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205" name="Line 82"/>
              <p:cNvSpPr>
                <a:spLocks noChangeShapeType="1"/>
              </p:cNvSpPr>
              <p:nvPr/>
            </p:nvSpPr>
            <p:spPr bwMode="auto">
              <a:xfrm flipH="1">
                <a:off x="1488" y="1296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206" name="Line 83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207" name="Line 84"/>
              <p:cNvSpPr>
                <a:spLocks noChangeShapeType="1"/>
              </p:cNvSpPr>
              <p:nvPr/>
            </p:nvSpPr>
            <p:spPr bwMode="auto">
              <a:xfrm flipH="1">
                <a:off x="1488" y="1392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208" name="Line 85"/>
              <p:cNvSpPr>
                <a:spLocks noChangeShapeType="1"/>
              </p:cNvSpPr>
              <p:nvPr/>
            </p:nvSpPr>
            <p:spPr bwMode="auto">
              <a:xfrm>
                <a:off x="1488" y="144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3189" name="Line 86"/>
            <p:cNvSpPr>
              <a:spLocks noChangeShapeType="1"/>
            </p:cNvSpPr>
            <p:nvPr/>
          </p:nvSpPr>
          <p:spPr bwMode="auto">
            <a:xfrm>
              <a:off x="2471388" y="4154183"/>
              <a:ext cx="0" cy="27925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90" name="AutoShape 87"/>
            <p:cNvSpPr>
              <a:spLocks noChangeArrowheads="1"/>
            </p:cNvSpPr>
            <p:nvPr/>
          </p:nvSpPr>
          <p:spPr bwMode="auto">
            <a:xfrm rot="10800000">
              <a:off x="2389107" y="4433438"/>
              <a:ext cx="164563" cy="80944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91" name="Line 88"/>
            <p:cNvSpPr>
              <a:spLocks noChangeShapeType="1"/>
            </p:cNvSpPr>
            <p:nvPr/>
          </p:nvSpPr>
          <p:spPr bwMode="auto">
            <a:xfrm rot="10800000">
              <a:off x="2389107" y="4514381"/>
              <a:ext cx="164563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92" name="Line 89"/>
            <p:cNvSpPr>
              <a:spLocks noChangeShapeType="1"/>
            </p:cNvSpPr>
            <p:nvPr/>
          </p:nvSpPr>
          <p:spPr bwMode="auto">
            <a:xfrm>
              <a:off x="1854814" y="4736976"/>
              <a:ext cx="61657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93" name="Line 90"/>
            <p:cNvSpPr>
              <a:spLocks noChangeShapeType="1"/>
            </p:cNvSpPr>
            <p:nvPr/>
          </p:nvSpPr>
          <p:spPr bwMode="auto">
            <a:xfrm>
              <a:off x="2471388" y="4510334"/>
              <a:ext cx="0" cy="22664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94" name="Text Box 91"/>
            <p:cNvSpPr txBox="1">
              <a:spLocks noChangeArrowheads="1"/>
            </p:cNvSpPr>
            <p:nvPr/>
          </p:nvSpPr>
          <p:spPr bwMode="auto">
            <a:xfrm>
              <a:off x="2120373" y="3924595"/>
              <a:ext cx="304734" cy="333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3195" name="Line 92"/>
            <p:cNvSpPr>
              <a:spLocks noChangeShapeType="1"/>
            </p:cNvSpPr>
            <p:nvPr/>
          </p:nvSpPr>
          <p:spPr bwMode="auto">
            <a:xfrm flipV="1">
              <a:off x="1854814" y="4318093"/>
              <a:ext cx="0" cy="41888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96" name="Line 93"/>
            <p:cNvSpPr>
              <a:spLocks noChangeShapeType="1"/>
            </p:cNvSpPr>
            <p:nvPr/>
          </p:nvSpPr>
          <p:spPr bwMode="auto">
            <a:xfrm>
              <a:off x="1775738" y="4283692"/>
              <a:ext cx="16028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97" name="Line 94"/>
            <p:cNvSpPr>
              <a:spLocks noChangeShapeType="1"/>
            </p:cNvSpPr>
            <p:nvPr/>
          </p:nvSpPr>
          <p:spPr bwMode="auto">
            <a:xfrm>
              <a:off x="1801384" y="4314046"/>
              <a:ext cx="102584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98" name="Line 98"/>
            <p:cNvSpPr>
              <a:spLocks noChangeShapeType="1"/>
            </p:cNvSpPr>
            <p:nvPr/>
          </p:nvSpPr>
          <p:spPr bwMode="auto">
            <a:xfrm rot="10800000" flipH="1" flipV="1">
              <a:off x="2341172" y="4467992"/>
              <a:ext cx="51292" cy="4856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99" name="Text Box 99"/>
            <p:cNvSpPr txBox="1">
              <a:spLocks noChangeArrowheads="1"/>
            </p:cNvSpPr>
            <p:nvPr/>
          </p:nvSpPr>
          <p:spPr bwMode="auto">
            <a:xfrm>
              <a:off x="2008690" y="4324164"/>
              <a:ext cx="488983" cy="3998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>
                  <a:latin typeface="Times New Roman" pitchFamily="18" charset="0"/>
                </a:rPr>
                <a:t>  ZD</a:t>
              </a:r>
            </a:p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>
                  <a:latin typeface="Times New Roman" pitchFamily="18" charset="0"/>
                </a:rPr>
                <a:t>(9.1V)</a:t>
              </a:r>
            </a:p>
          </p:txBody>
        </p:sp>
        <p:sp>
          <p:nvSpPr>
            <p:cNvPr id="3200" name="Text Box 100"/>
            <p:cNvSpPr txBox="1">
              <a:spLocks noChangeArrowheads="1"/>
            </p:cNvSpPr>
            <p:nvPr/>
          </p:nvSpPr>
          <p:spPr bwMode="auto">
            <a:xfrm>
              <a:off x="1405633" y="4171317"/>
              <a:ext cx="460144" cy="2499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>
                  <a:latin typeface="Times New Roman" pitchFamily="18" charset="0"/>
                </a:rPr>
                <a:t>12[V]</a:t>
              </a:r>
            </a:p>
          </p:txBody>
        </p:sp>
        <p:sp>
          <p:nvSpPr>
            <p:cNvPr id="3201" name="Line 98"/>
            <p:cNvSpPr>
              <a:spLocks noChangeShapeType="1"/>
            </p:cNvSpPr>
            <p:nvPr/>
          </p:nvSpPr>
          <p:spPr bwMode="auto">
            <a:xfrm rot="10800000" flipH="1" flipV="1">
              <a:off x="2547524" y="4514368"/>
              <a:ext cx="51292" cy="4566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3080" name="그룹 185"/>
          <p:cNvGrpSpPr>
            <a:grpSpLocks/>
          </p:cNvGrpSpPr>
          <p:nvPr/>
        </p:nvGrpSpPr>
        <p:grpSpPr bwMode="auto">
          <a:xfrm>
            <a:off x="380991" y="4970581"/>
            <a:ext cx="2679713" cy="1599498"/>
            <a:chOff x="381431" y="4615820"/>
            <a:chExt cx="2679756" cy="1732587"/>
          </a:xfrm>
        </p:grpSpPr>
        <p:grpSp>
          <p:nvGrpSpPr>
            <p:cNvPr id="3081" name="Group 45"/>
            <p:cNvGrpSpPr>
              <a:grpSpLocks/>
            </p:cNvGrpSpPr>
            <p:nvPr/>
          </p:nvGrpSpPr>
          <p:grpSpPr bwMode="auto">
            <a:xfrm>
              <a:off x="694412" y="4615820"/>
              <a:ext cx="2366775" cy="1489977"/>
              <a:chOff x="815" y="998"/>
              <a:chExt cx="2305" cy="1760"/>
            </a:xfrm>
          </p:grpSpPr>
          <p:sp>
            <p:nvSpPr>
              <p:cNvPr id="3084" name="Rectangle 46"/>
              <p:cNvSpPr>
                <a:spLocks noChangeArrowheads="1"/>
              </p:cNvSpPr>
              <p:nvPr/>
            </p:nvSpPr>
            <p:spPr bwMode="auto">
              <a:xfrm>
                <a:off x="2890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085" name="Rectangle 47"/>
              <p:cNvSpPr>
                <a:spLocks noChangeArrowheads="1"/>
              </p:cNvSpPr>
              <p:nvPr/>
            </p:nvSpPr>
            <p:spPr bwMode="auto">
              <a:xfrm>
                <a:off x="2659" y="25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086" name="Rectangle 48"/>
              <p:cNvSpPr>
                <a:spLocks noChangeArrowheads="1"/>
              </p:cNvSpPr>
              <p:nvPr/>
            </p:nvSpPr>
            <p:spPr bwMode="auto">
              <a:xfrm>
                <a:off x="2429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087" name="Rectangle 49"/>
              <p:cNvSpPr>
                <a:spLocks noChangeArrowheads="1"/>
              </p:cNvSpPr>
              <p:nvPr/>
            </p:nvSpPr>
            <p:spPr bwMode="auto">
              <a:xfrm>
                <a:off x="2198" y="25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088" name="Rectangle 50"/>
              <p:cNvSpPr>
                <a:spLocks noChangeArrowheads="1"/>
              </p:cNvSpPr>
              <p:nvPr/>
            </p:nvSpPr>
            <p:spPr bwMode="auto">
              <a:xfrm>
                <a:off x="1968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089" name="Rectangle 51"/>
              <p:cNvSpPr>
                <a:spLocks noChangeArrowheads="1"/>
              </p:cNvSpPr>
              <p:nvPr/>
            </p:nvSpPr>
            <p:spPr bwMode="auto">
              <a:xfrm>
                <a:off x="1738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090" name="Rectangle 52"/>
              <p:cNvSpPr>
                <a:spLocks noChangeArrowheads="1"/>
              </p:cNvSpPr>
              <p:nvPr/>
            </p:nvSpPr>
            <p:spPr bwMode="auto">
              <a:xfrm>
                <a:off x="1507" y="25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091" name="Rectangle 53"/>
              <p:cNvSpPr>
                <a:spLocks noChangeArrowheads="1"/>
              </p:cNvSpPr>
              <p:nvPr/>
            </p:nvSpPr>
            <p:spPr bwMode="auto">
              <a:xfrm>
                <a:off x="1277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092" name="Rectangle 54"/>
              <p:cNvSpPr>
                <a:spLocks noChangeArrowheads="1"/>
              </p:cNvSpPr>
              <p:nvPr/>
            </p:nvSpPr>
            <p:spPr bwMode="auto">
              <a:xfrm>
                <a:off x="1046" y="25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093" name="Rectangle 55"/>
              <p:cNvSpPr>
                <a:spLocks noChangeArrowheads="1"/>
              </p:cNvSpPr>
              <p:nvPr/>
            </p:nvSpPr>
            <p:spPr bwMode="auto">
              <a:xfrm>
                <a:off x="816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094" name="Rectangle 56"/>
              <p:cNvSpPr>
                <a:spLocks noChangeArrowheads="1"/>
              </p:cNvSpPr>
              <p:nvPr/>
            </p:nvSpPr>
            <p:spPr bwMode="auto">
              <a:xfrm>
                <a:off x="2890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095" name="Rectangle 57"/>
              <p:cNvSpPr>
                <a:spLocks noChangeArrowheads="1"/>
              </p:cNvSpPr>
              <p:nvPr/>
            </p:nvSpPr>
            <p:spPr bwMode="auto">
              <a:xfrm>
                <a:off x="2659" y="23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096" name="Rectangle 58"/>
              <p:cNvSpPr>
                <a:spLocks noChangeArrowheads="1"/>
              </p:cNvSpPr>
              <p:nvPr/>
            </p:nvSpPr>
            <p:spPr bwMode="auto">
              <a:xfrm>
                <a:off x="2429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097" name="Rectangle 59"/>
              <p:cNvSpPr>
                <a:spLocks noChangeArrowheads="1"/>
              </p:cNvSpPr>
              <p:nvPr/>
            </p:nvSpPr>
            <p:spPr bwMode="auto">
              <a:xfrm>
                <a:off x="2198" y="23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098" name="Rectangle 60"/>
              <p:cNvSpPr>
                <a:spLocks noChangeArrowheads="1"/>
              </p:cNvSpPr>
              <p:nvPr/>
            </p:nvSpPr>
            <p:spPr bwMode="auto">
              <a:xfrm>
                <a:off x="1968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099" name="Rectangle 61"/>
              <p:cNvSpPr>
                <a:spLocks noChangeArrowheads="1"/>
              </p:cNvSpPr>
              <p:nvPr/>
            </p:nvSpPr>
            <p:spPr bwMode="auto">
              <a:xfrm>
                <a:off x="1738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00" name="Rectangle 62"/>
              <p:cNvSpPr>
                <a:spLocks noChangeArrowheads="1"/>
              </p:cNvSpPr>
              <p:nvPr/>
            </p:nvSpPr>
            <p:spPr bwMode="auto">
              <a:xfrm>
                <a:off x="1507" y="23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01" name="Rectangle 63"/>
              <p:cNvSpPr>
                <a:spLocks noChangeArrowheads="1"/>
              </p:cNvSpPr>
              <p:nvPr/>
            </p:nvSpPr>
            <p:spPr bwMode="auto">
              <a:xfrm>
                <a:off x="1277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02" name="Rectangle 64"/>
              <p:cNvSpPr>
                <a:spLocks noChangeArrowheads="1"/>
              </p:cNvSpPr>
              <p:nvPr/>
            </p:nvSpPr>
            <p:spPr bwMode="auto">
              <a:xfrm>
                <a:off x="1046" y="23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03" name="Rectangle 65"/>
              <p:cNvSpPr>
                <a:spLocks noChangeArrowheads="1"/>
              </p:cNvSpPr>
              <p:nvPr/>
            </p:nvSpPr>
            <p:spPr bwMode="auto">
              <a:xfrm>
                <a:off x="816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04" name="Rectangle 66"/>
              <p:cNvSpPr>
                <a:spLocks noChangeArrowheads="1"/>
              </p:cNvSpPr>
              <p:nvPr/>
            </p:nvSpPr>
            <p:spPr bwMode="auto">
              <a:xfrm>
                <a:off x="2890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05" name="Rectangle 67"/>
              <p:cNvSpPr>
                <a:spLocks noChangeArrowheads="1"/>
              </p:cNvSpPr>
              <p:nvPr/>
            </p:nvSpPr>
            <p:spPr bwMode="auto">
              <a:xfrm>
                <a:off x="2659" y="20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06" name="Rectangle 68"/>
              <p:cNvSpPr>
                <a:spLocks noChangeArrowheads="1"/>
              </p:cNvSpPr>
              <p:nvPr/>
            </p:nvSpPr>
            <p:spPr bwMode="auto">
              <a:xfrm>
                <a:off x="2429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07" name="Rectangle 69"/>
              <p:cNvSpPr>
                <a:spLocks noChangeArrowheads="1"/>
              </p:cNvSpPr>
              <p:nvPr/>
            </p:nvSpPr>
            <p:spPr bwMode="auto">
              <a:xfrm>
                <a:off x="2198" y="20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08" name="Rectangle 70"/>
              <p:cNvSpPr>
                <a:spLocks noChangeArrowheads="1"/>
              </p:cNvSpPr>
              <p:nvPr/>
            </p:nvSpPr>
            <p:spPr bwMode="auto">
              <a:xfrm>
                <a:off x="1968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09" name="Rectangle 71"/>
              <p:cNvSpPr>
                <a:spLocks noChangeArrowheads="1"/>
              </p:cNvSpPr>
              <p:nvPr/>
            </p:nvSpPr>
            <p:spPr bwMode="auto">
              <a:xfrm>
                <a:off x="1738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10" name="Rectangle 72"/>
              <p:cNvSpPr>
                <a:spLocks noChangeArrowheads="1"/>
              </p:cNvSpPr>
              <p:nvPr/>
            </p:nvSpPr>
            <p:spPr bwMode="auto">
              <a:xfrm>
                <a:off x="1507" y="20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11" name="Rectangle 73"/>
              <p:cNvSpPr>
                <a:spLocks noChangeArrowheads="1"/>
              </p:cNvSpPr>
              <p:nvPr/>
            </p:nvSpPr>
            <p:spPr bwMode="auto">
              <a:xfrm>
                <a:off x="1277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12" name="Rectangle 74"/>
              <p:cNvSpPr>
                <a:spLocks noChangeArrowheads="1"/>
              </p:cNvSpPr>
              <p:nvPr/>
            </p:nvSpPr>
            <p:spPr bwMode="auto">
              <a:xfrm>
                <a:off x="1046" y="20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13" name="Rectangle 75"/>
              <p:cNvSpPr>
                <a:spLocks noChangeArrowheads="1"/>
              </p:cNvSpPr>
              <p:nvPr/>
            </p:nvSpPr>
            <p:spPr bwMode="auto">
              <a:xfrm>
                <a:off x="816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14" name="Rectangle 76"/>
              <p:cNvSpPr>
                <a:spLocks noChangeArrowheads="1"/>
              </p:cNvSpPr>
              <p:nvPr/>
            </p:nvSpPr>
            <p:spPr bwMode="auto">
              <a:xfrm>
                <a:off x="2890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15" name="Rectangle 77"/>
              <p:cNvSpPr>
                <a:spLocks noChangeArrowheads="1"/>
              </p:cNvSpPr>
              <p:nvPr/>
            </p:nvSpPr>
            <p:spPr bwMode="auto">
              <a:xfrm>
                <a:off x="2659" y="187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16" name="Rectangle 78"/>
              <p:cNvSpPr>
                <a:spLocks noChangeArrowheads="1"/>
              </p:cNvSpPr>
              <p:nvPr/>
            </p:nvSpPr>
            <p:spPr bwMode="auto">
              <a:xfrm>
                <a:off x="2429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17" name="Rectangle 79"/>
              <p:cNvSpPr>
                <a:spLocks noChangeArrowheads="1"/>
              </p:cNvSpPr>
              <p:nvPr/>
            </p:nvSpPr>
            <p:spPr bwMode="auto">
              <a:xfrm>
                <a:off x="2198" y="187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18" name="Rectangle 80"/>
              <p:cNvSpPr>
                <a:spLocks noChangeArrowheads="1"/>
              </p:cNvSpPr>
              <p:nvPr/>
            </p:nvSpPr>
            <p:spPr bwMode="auto">
              <a:xfrm>
                <a:off x="1968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19" name="Rectangle 81"/>
              <p:cNvSpPr>
                <a:spLocks noChangeArrowheads="1"/>
              </p:cNvSpPr>
              <p:nvPr/>
            </p:nvSpPr>
            <p:spPr bwMode="auto">
              <a:xfrm>
                <a:off x="1738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20" name="Rectangle 82"/>
              <p:cNvSpPr>
                <a:spLocks noChangeArrowheads="1"/>
              </p:cNvSpPr>
              <p:nvPr/>
            </p:nvSpPr>
            <p:spPr bwMode="auto">
              <a:xfrm>
                <a:off x="1507" y="187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21" name="Rectangle 83"/>
              <p:cNvSpPr>
                <a:spLocks noChangeArrowheads="1"/>
              </p:cNvSpPr>
              <p:nvPr/>
            </p:nvSpPr>
            <p:spPr bwMode="auto">
              <a:xfrm>
                <a:off x="1277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22" name="Rectangle 84"/>
              <p:cNvSpPr>
                <a:spLocks noChangeArrowheads="1"/>
              </p:cNvSpPr>
              <p:nvPr/>
            </p:nvSpPr>
            <p:spPr bwMode="auto">
              <a:xfrm>
                <a:off x="1046" y="187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23" name="Rectangle 85"/>
              <p:cNvSpPr>
                <a:spLocks noChangeArrowheads="1"/>
              </p:cNvSpPr>
              <p:nvPr/>
            </p:nvSpPr>
            <p:spPr bwMode="auto">
              <a:xfrm>
                <a:off x="816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24" name="Rectangle 86"/>
              <p:cNvSpPr>
                <a:spLocks noChangeArrowheads="1"/>
              </p:cNvSpPr>
              <p:nvPr/>
            </p:nvSpPr>
            <p:spPr bwMode="auto">
              <a:xfrm>
                <a:off x="2890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25" name="Rectangle 87"/>
              <p:cNvSpPr>
                <a:spLocks noChangeArrowheads="1"/>
              </p:cNvSpPr>
              <p:nvPr/>
            </p:nvSpPr>
            <p:spPr bwMode="auto">
              <a:xfrm>
                <a:off x="2659" y="165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26" name="Rectangle 88"/>
              <p:cNvSpPr>
                <a:spLocks noChangeArrowheads="1"/>
              </p:cNvSpPr>
              <p:nvPr/>
            </p:nvSpPr>
            <p:spPr bwMode="auto">
              <a:xfrm>
                <a:off x="2429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27" name="Rectangle 89"/>
              <p:cNvSpPr>
                <a:spLocks noChangeArrowheads="1"/>
              </p:cNvSpPr>
              <p:nvPr/>
            </p:nvSpPr>
            <p:spPr bwMode="auto">
              <a:xfrm>
                <a:off x="2198" y="165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28" name="Rectangle 90"/>
              <p:cNvSpPr>
                <a:spLocks noChangeArrowheads="1"/>
              </p:cNvSpPr>
              <p:nvPr/>
            </p:nvSpPr>
            <p:spPr bwMode="auto">
              <a:xfrm>
                <a:off x="1968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29" name="Rectangle 91"/>
              <p:cNvSpPr>
                <a:spLocks noChangeArrowheads="1"/>
              </p:cNvSpPr>
              <p:nvPr/>
            </p:nvSpPr>
            <p:spPr bwMode="auto">
              <a:xfrm>
                <a:off x="1738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30" name="Rectangle 92"/>
              <p:cNvSpPr>
                <a:spLocks noChangeArrowheads="1"/>
              </p:cNvSpPr>
              <p:nvPr/>
            </p:nvSpPr>
            <p:spPr bwMode="auto">
              <a:xfrm>
                <a:off x="1507" y="165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31" name="Rectangle 93"/>
              <p:cNvSpPr>
                <a:spLocks noChangeArrowheads="1"/>
              </p:cNvSpPr>
              <p:nvPr/>
            </p:nvSpPr>
            <p:spPr bwMode="auto">
              <a:xfrm>
                <a:off x="1277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32" name="Rectangle 94"/>
              <p:cNvSpPr>
                <a:spLocks noChangeArrowheads="1"/>
              </p:cNvSpPr>
              <p:nvPr/>
            </p:nvSpPr>
            <p:spPr bwMode="auto">
              <a:xfrm>
                <a:off x="1046" y="165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33" name="Rectangle 95"/>
              <p:cNvSpPr>
                <a:spLocks noChangeArrowheads="1"/>
              </p:cNvSpPr>
              <p:nvPr/>
            </p:nvSpPr>
            <p:spPr bwMode="auto">
              <a:xfrm>
                <a:off x="816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34" name="Rectangle 96"/>
              <p:cNvSpPr>
                <a:spLocks noChangeArrowheads="1"/>
              </p:cNvSpPr>
              <p:nvPr/>
            </p:nvSpPr>
            <p:spPr bwMode="auto">
              <a:xfrm>
                <a:off x="2890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35" name="Rectangle 97"/>
              <p:cNvSpPr>
                <a:spLocks noChangeArrowheads="1"/>
              </p:cNvSpPr>
              <p:nvPr/>
            </p:nvSpPr>
            <p:spPr bwMode="auto">
              <a:xfrm>
                <a:off x="2659" y="14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36" name="Rectangle 98"/>
              <p:cNvSpPr>
                <a:spLocks noChangeArrowheads="1"/>
              </p:cNvSpPr>
              <p:nvPr/>
            </p:nvSpPr>
            <p:spPr bwMode="auto">
              <a:xfrm>
                <a:off x="2429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37" name="Rectangle 99"/>
              <p:cNvSpPr>
                <a:spLocks noChangeArrowheads="1"/>
              </p:cNvSpPr>
              <p:nvPr/>
            </p:nvSpPr>
            <p:spPr bwMode="auto">
              <a:xfrm>
                <a:off x="2198" y="14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38" name="Rectangle 100"/>
              <p:cNvSpPr>
                <a:spLocks noChangeArrowheads="1"/>
              </p:cNvSpPr>
              <p:nvPr/>
            </p:nvSpPr>
            <p:spPr bwMode="auto">
              <a:xfrm>
                <a:off x="1968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39" name="Rectangle 101"/>
              <p:cNvSpPr>
                <a:spLocks noChangeArrowheads="1"/>
              </p:cNvSpPr>
              <p:nvPr/>
            </p:nvSpPr>
            <p:spPr bwMode="auto">
              <a:xfrm>
                <a:off x="1738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40" name="Rectangle 102"/>
              <p:cNvSpPr>
                <a:spLocks noChangeArrowheads="1"/>
              </p:cNvSpPr>
              <p:nvPr/>
            </p:nvSpPr>
            <p:spPr bwMode="auto">
              <a:xfrm>
                <a:off x="1507" y="14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41" name="Rectangle 103"/>
              <p:cNvSpPr>
                <a:spLocks noChangeArrowheads="1"/>
              </p:cNvSpPr>
              <p:nvPr/>
            </p:nvSpPr>
            <p:spPr bwMode="auto">
              <a:xfrm>
                <a:off x="1277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42" name="Rectangle 104"/>
              <p:cNvSpPr>
                <a:spLocks noChangeArrowheads="1"/>
              </p:cNvSpPr>
              <p:nvPr/>
            </p:nvSpPr>
            <p:spPr bwMode="auto">
              <a:xfrm>
                <a:off x="1046" y="14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43" name="Rectangle 105"/>
              <p:cNvSpPr>
                <a:spLocks noChangeArrowheads="1"/>
              </p:cNvSpPr>
              <p:nvPr/>
            </p:nvSpPr>
            <p:spPr bwMode="auto">
              <a:xfrm>
                <a:off x="816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44" name="Rectangle 106"/>
              <p:cNvSpPr>
                <a:spLocks noChangeArrowheads="1"/>
              </p:cNvSpPr>
              <p:nvPr/>
            </p:nvSpPr>
            <p:spPr bwMode="auto">
              <a:xfrm>
                <a:off x="2890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45" name="Rectangle 107"/>
              <p:cNvSpPr>
                <a:spLocks noChangeArrowheads="1"/>
              </p:cNvSpPr>
              <p:nvPr/>
            </p:nvSpPr>
            <p:spPr bwMode="auto">
              <a:xfrm>
                <a:off x="2659" y="12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46" name="Rectangle 108"/>
              <p:cNvSpPr>
                <a:spLocks noChangeArrowheads="1"/>
              </p:cNvSpPr>
              <p:nvPr/>
            </p:nvSpPr>
            <p:spPr bwMode="auto">
              <a:xfrm>
                <a:off x="2429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47" name="Rectangle 109"/>
              <p:cNvSpPr>
                <a:spLocks noChangeArrowheads="1"/>
              </p:cNvSpPr>
              <p:nvPr/>
            </p:nvSpPr>
            <p:spPr bwMode="auto">
              <a:xfrm>
                <a:off x="2198" y="12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48" name="Rectangle 110"/>
              <p:cNvSpPr>
                <a:spLocks noChangeArrowheads="1"/>
              </p:cNvSpPr>
              <p:nvPr/>
            </p:nvSpPr>
            <p:spPr bwMode="auto">
              <a:xfrm>
                <a:off x="1968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49" name="Rectangle 111"/>
              <p:cNvSpPr>
                <a:spLocks noChangeArrowheads="1"/>
              </p:cNvSpPr>
              <p:nvPr/>
            </p:nvSpPr>
            <p:spPr bwMode="auto">
              <a:xfrm>
                <a:off x="1738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50" name="Rectangle 112"/>
              <p:cNvSpPr>
                <a:spLocks noChangeArrowheads="1"/>
              </p:cNvSpPr>
              <p:nvPr/>
            </p:nvSpPr>
            <p:spPr bwMode="auto">
              <a:xfrm>
                <a:off x="1507" y="12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51" name="Rectangle 113"/>
              <p:cNvSpPr>
                <a:spLocks noChangeArrowheads="1"/>
              </p:cNvSpPr>
              <p:nvPr/>
            </p:nvSpPr>
            <p:spPr bwMode="auto">
              <a:xfrm>
                <a:off x="1277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52" name="Rectangle 114"/>
              <p:cNvSpPr>
                <a:spLocks noChangeArrowheads="1"/>
              </p:cNvSpPr>
              <p:nvPr/>
            </p:nvSpPr>
            <p:spPr bwMode="auto">
              <a:xfrm>
                <a:off x="1046" y="12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53" name="Rectangle 115"/>
              <p:cNvSpPr>
                <a:spLocks noChangeArrowheads="1"/>
              </p:cNvSpPr>
              <p:nvPr/>
            </p:nvSpPr>
            <p:spPr bwMode="auto">
              <a:xfrm>
                <a:off x="816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54" name="Rectangle 116"/>
              <p:cNvSpPr>
                <a:spLocks noChangeArrowheads="1"/>
              </p:cNvSpPr>
              <p:nvPr/>
            </p:nvSpPr>
            <p:spPr bwMode="auto">
              <a:xfrm>
                <a:off x="2890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55" name="Rectangle 117"/>
              <p:cNvSpPr>
                <a:spLocks noChangeArrowheads="1"/>
              </p:cNvSpPr>
              <p:nvPr/>
            </p:nvSpPr>
            <p:spPr bwMode="auto">
              <a:xfrm>
                <a:off x="2659" y="9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56" name="Rectangle 118"/>
              <p:cNvSpPr>
                <a:spLocks noChangeArrowheads="1"/>
              </p:cNvSpPr>
              <p:nvPr/>
            </p:nvSpPr>
            <p:spPr bwMode="auto">
              <a:xfrm>
                <a:off x="2429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57" name="Rectangle 119"/>
              <p:cNvSpPr>
                <a:spLocks noChangeArrowheads="1"/>
              </p:cNvSpPr>
              <p:nvPr/>
            </p:nvSpPr>
            <p:spPr bwMode="auto">
              <a:xfrm>
                <a:off x="2198" y="9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58" name="Rectangle 120"/>
              <p:cNvSpPr>
                <a:spLocks noChangeArrowheads="1"/>
              </p:cNvSpPr>
              <p:nvPr/>
            </p:nvSpPr>
            <p:spPr bwMode="auto">
              <a:xfrm>
                <a:off x="1968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59" name="Rectangle 121"/>
              <p:cNvSpPr>
                <a:spLocks noChangeArrowheads="1"/>
              </p:cNvSpPr>
              <p:nvPr/>
            </p:nvSpPr>
            <p:spPr bwMode="auto">
              <a:xfrm>
                <a:off x="1738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60" name="Rectangle 122"/>
              <p:cNvSpPr>
                <a:spLocks noChangeArrowheads="1"/>
              </p:cNvSpPr>
              <p:nvPr/>
            </p:nvSpPr>
            <p:spPr bwMode="auto">
              <a:xfrm>
                <a:off x="1507" y="9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61" name="Rectangle 123"/>
              <p:cNvSpPr>
                <a:spLocks noChangeArrowheads="1"/>
              </p:cNvSpPr>
              <p:nvPr/>
            </p:nvSpPr>
            <p:spPr bwMode="auto">
              <a:xfrm>
                <a:off x="1277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62" name="Rectangle 124"/>
              <p:cNvSpPr>
                <a:spLocks noChangeArrowheads="1"/>
              </p:cNvSpPr>
              <p:nvPr/>
            </p:nvSpPr>
            <p:spPr bwMode="auto">
              <a:xfrm>
                <a:off x="1046" y="9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63" name="Rectangle 125"/>
              <p:cNvSpPr>
                <a:spLocks noChangeArrowheads="1"/>
              </p:cNvSpPr>
              <p:nvPr/>
            </p:nvSpPr>
            <p:spPr bwMode="auto">
              <a:xfrm>
                <a:off x="816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/>
              </a:p>
            </p:txBody>
          </p:sp>
          <p:sp>
            <p:nvSpPr>
              <p:cNvPr id="3164" name="Line 126"/>
              <p:cNvSpPr>
                <a:spLocks noChangeShapeType="1"/>
              </p:cNvSpPr>
              <p:nvPr/>
            </p:nvSpPr>
            <p:spPr bwMode="auto">
              <a:xfrm>
                <a:off x="816" y="998"/>
                <a:ext cx="2304" cy="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65" name="Line 127"/>
              <p:cNvSpPr>
                <a:spLocks noChangeShapeType="1"/>
              </p:cNvSpPr>
              <p:nvPr/>
            </p:nvSpPr>
            <p:spPr bwMode="auto">
              <a:xfrm>
                <a:off x="816" y="121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66" name="Line 128"/>
              <p:cNvSpPr>
                <a:spLocks noChangeShapeType="1"/>
              </p:cNvSpPr>
              <p:nvPr/>
            </p:nvSpPr>
            <p:spPr bwMode="auto">
              <a:xfrm>
                <a:off x="816" y="143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67" name="Line 129"/>
              <p:cNvSpPr>
                <a:spLocks noChangeShapeType="1"/>
              </p:cNvSpPr>
              <p:nvPr/>
            </p:nvSpPr>
            <p:spPr bwMode="auto">
              <a:xfrm>
                <a:off x="816" y="187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68" name="Line 130"/>
              <p:cNvSpPr>
                <a:spLocks noChangeShapeType="1"/>
              </p:cNvSpPr>
              <p:nvPr/>
            </p:nvSpPr>
            <p:spPr bwMode="auto">
              <a:xfrm>
                <a:off x="816" y="231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69" name="Line 131"/>
              <p:cNvSpPr>
                <a:spLocks noChangeShapeType="1"/>
              </p:cNvSpPr>
              <p:nvPr/>
            </p:nvSpPr>
            <p:spPr bwMode="auto">
              <a:xfrm>
                <a:off x="816" y="253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70" name="Line 132"/>
              <p:cNvSpPr>
                <a:spLocks noChangeShapeType="1"/>
              </p:cNvSpPr>
              <p:nvPr/>
            </p:nvSpPr>
            <p:spPr bwMode="auto">
              <a:xfrm>
                <a:off x="816" y="2758"/>
                <a:ext cx="2304" cy="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71" name="Line 133"/>
              <p:cNvSpPr>
                <a:spLocks noChangeShapeType="1"/>
              </p:cNvSpPr>
              <p:nvPr/>
            </p:nvSpPr>
            <p:spPr bwMode="auto">
              <a:xfrm>
                <a:off x="816" y="998"/>
                <a:ext cx="0" cy="176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72" name="Line 134"/>
              <p:cNvSpPr>
                <a:spLocks noChangeShapeType="1"/>
              </p:cNvSpPr>
              <p:nvPr/>
            </p:nvSpPr>
            <p:spPr bwMode="auto">
              <a:xfrm>
                <a:off x="1046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73" name="Line 135"/>
              <p:cNvSpPr>
                <a:spLocks noChangeShapeType="1"/>
              </p:cNvSpPr>
              <p:nvPr/>
            </p:nvSpPr>
            <p:spPr bwMode="auto">
              <a:xfrm>
                <a:off x="1277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74" name="Line 136"/>
              <p:cNvSpPr>
                <a:spLocks noChangeShapeType="1"/>
              </p:cNvSpPr>
              <p:nvPr/>
            </p:nvSpPr>
            <p:spPr bwMode="auto">
              <a:xfrm>
                <a:off x="1507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75" name="Line 137"/>
              <p:cNvSpPr>
                <a:spLocks noChangeShapeType="1"/>
              </p:cNvSpPr>
              <p:nvPr/>
            </p:nvSpPr>
            <p:spPr bwMode="auto">
              <a:xfrm>
                <a:off x="1968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76" name="Line 138"/>
              <p:cNvSpPr>
                <a:spLocks noChangeShapeType="1"/>
              </p:cNvSpPr>
              <p:nvPr/>
            </p:nvSpPr>
            <p:spPr bwMode="auto">
              <a:xfrm>
                <a:off x="2429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77" name="Line 139"/>
              <p:cNvSpPr>
                <a:spLocks noChangeShapeType="1"/>
              </p:cNvSpPr>
              <p:nvPr/>
            </p:nvSpPr>
            <p:spPr bwMode="auto">
              <a:xfrm>
                <a:off x="2659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78" name="Line 140"/>
              <p:cNvSpPr>
                <a:spLocks noChangeShapeType="1"/>
              </p:cNvSpPr>
              <p:nvPr/>
            </p:nvSpPr>
            <p:spPr bwMode="auto">
              <a:xfrm>
                <a:off x="2890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79" name="Line 141"/>
              <p:cNvSpPr>
                <a:spLocks noChangeShapeType="1"/>
              </p:cNvSpPr>
              <p:nvPr/>
            </p:nvSpPr>
            <p:spPr bwMode="auto">
              <a:xfrm>
                <a:off x="3120" y="998"/>
                <a:ext cx="0" cy="176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80" name="Line 142"/>
              <p:cNvSpPr>
                <a:spLocks noChangeShapeType="1"/>
              </p:cNvSpPr>
              <p:nvPr/>
            </p:nvSpPr>
            <p:spPr bwMode="auto">
              <a:xfrm>
                <a:off x="816" y="1658"/>
                <a:ext cx="2304" cy="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81" name="Line 143"/>
              <p:cNvSpPr>
                <a:spLocks noChangeShapeType="1"/>
              </p:cNvSpPr>
              <p:nvPr/>
            </p:nvSpPr>
            <p:spPr bwMode="auto">
              <a:xfrm>
                <a:off x="816" y="2098"/>
                <a:ext cx="2304" cy="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82" name="Line 144"/>
              <p:cNvSpPr>
                <a:spLocks noChangeShapeType="1"/>
              </p:cNvSpPr>
              <p:nvPr/>
            </p:nvSpPr>
            <p:spPr bwMode="auto">
              <a:xfrm>
                <a:off x="1738" y="998"/>
                <a:ext cx="0" cy="176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83" name="Line 145"/>
              <p:cNvSpPr>
                <a:spLocks noChangeShapeType="1"/>
              </p:cNvSpPr>
              <p:nvPr/>
            </p:nvSpPr>
            <p:spPr bwMode="auto">
              <a:xfrm>
                <a:off x="2198" y="998"/>
                <a:ext cx="0" cy="176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184" name="Freeform 146"/>
              <p:cNvSpPr>
                <a:spLocks/>
              </p:cNvSpPr>
              <p:nvPr/>
            </p:nvSpPr>
            <p:spPr bwMode="auto">
              <a:xfrm>
                <a:off x="815" y="1116"/>
                <a:ext cx="2305" cy="1418"/>
              </a:xfrm>
              <a:custGeom>
                <a:avLst/>
                <a:gdLst>
                  <a:gd name="T0" fmla="*/ 0 w 2305"/>
                  <a:gd name="T1" fmla="*/ 3 h 1910"/>
                  <a:gd name="T2" fmla="*/ 270 w 2305"/>
                  <a:gd name="T3" fmla="*/ 1 h 1910"/>
                  <a:gd name="T4" fmla="*/ 696 w 2305"/>
                  <a:gd name="T5" fmla="*/ 5 h 1910"/>
                  <a:gd name="T6" fmla="*/ 1160 w 2305"/>
                  <a:gd name="T7" fmla="*/ 1 h 1910"/>
                  <a:gd name="T8" fmla="*/ 1609 w 2305"/>
                  <a:gd name="T9" fmla="*/ 5 h 1910"/>
                  <a:gd name="T10" fmla="*/ 2035 w 2305"/>
                  <a:gd name="T11" fmla="*/ 1 h 1910"/>
                  <a:gd name="T12" fmla="*/ 2305 w 2305"/>
                  <a:gd name="T13" fmla="*/ 3 h 19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05"/>
                  <a:gd name="T22" fmla="*/ 0 h 1910"/>
                  <a:gd name="T23" fmla="*/ 2305 w 2305"/>
                  <a:gd name="T24" fmla="*/ 1910 h 19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05" h="1910">
                    <a:moveTo>
                      <a:pt x="0" y="1006"/>
                    </a:moveTo>
                    <a:cubicBezTo>
                      <a:pt x="45" y="864"/>
                      <a:pt x="154" y="0"/>
                      <a:pt x="270" y="151"/>
                    </a:cubicBezTo>
                    <a:cubicBezTo>
                      <a:pt x="386" y="302"/>
                      <a:pt x="548" y="1910"/>
                      <a:pt x="696" y="1909"/>
                    </a:cubicBezTo>
                    <a:cubicBezTo>
                      <a:pt x="844" y="1908"/>
                      <a:pt x="1008" y="145"/>
                      <a:pt x="1160" y="143"/>
                    </a:cubicBezTo>
                    <a:cubicBezTo>
                      <a:pt x="1312" y="141"/>
                      <a:pt x="1463" y="1892"/>
                      <a:pt x="1609" y="1894"/>
                    </a:cubicBezTo>
                    <a:cubicBezTo>
                      <a:pt x="1755" y="1896"/>
                      <a:pt x="1919" y="301"/>
                      <a:pt x="2035" y="158"/>
                    </a:cubicBezTo>
                    <a:cubicBezTo>
                      <a:pt x="2151" y="15"/>
                      <a:pt x="2249" y="851"/>
                      <a:pt x="2305" y="1033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3082" name="Text Box 147"/>
            <p:cNvSpPr txBox="1">
              <a:spLocks noChangeArrowheads="1"/>
            </p:cNvSpPr>
            <p:nvPr/>
          </p:nvSpPr>
          <p:spPr bwMode="auto">
            <a:xfrm>
              <a:off x="381431" y="6048360"/>
              <a:ext cx="813056" cy="300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algn="r" eaLnBrk="1" fontAlgn="base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000" b="1">
                  <a:latin typeface="굴림" pitchFamily="50" charset="-127"/>
                  <a:ea typeface="굴림" pitchFamily="50" charset="-127"/>
                </a:rPr>
                <a:t>CH1 2.00V</a:t>
              </a:r>
            </a:p>
          </p:txBody>
        </p:sp>
        <p:sp>
          <p:nvSpPr>
            <p:cNvPr id="3083" name="Text Box 148"/>
            <p:cNvSpPr txBox="1">
              <a:spLocks noChangeArrowheads="1"/>
            </p:cNvSpPr>
            <p:nvPr/>
          </p:nvSpPr>
          <p:spPr bwMode="auto">
            <a:xfrm>
              <a:off x="1525778" y="6048172"/>
              <a:ext cx="684814" cy="300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algn="r" eaLnBrk="1" fontAlgn="base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000" b="1">
                  <a:latin typeface="굴림" pitchFamily="50" charset="-127"/>
                  <a:ea typeface="굴림" pitchFamily="50" charset="-127"/>
                </a:rPr>
                <a:t>M 500μs</a:t>
              </a:r>
            </a:p>
          </p:txBody>
        </p:sp>
      </p:grpSp>
      <p:sp>
        <p:nvSpPr>
          <p:cNvPr id="160" name="Text Box 6"/>
          <p:cNvSpPr>
            <a:spLocks noChangeArrowheads="1"/>
          </p:cNvSpPr>
          <p:nvPr/>
        </p:nvSpPr>
        <p:spPr bwMode="auto">
          <a:xfrm>
            <a:off x="195263" y="211085"/>
            <a:ext cx="3449637" cy="3091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/>
          <a:lstStyle>
            <a:lvl1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SzPct val="100000"/>
              <a:defRPr/>
            </a:pPr>
            <a:r>
              <a:rPr lang="vi-VN" altLang="ko-K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[Đánh </a:t>
            </a:r>
            <a:r>
              <a:rPr lang="vi-VN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giá 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WS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6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</a:t>
            </a:r>
            <a:r>
              <a:rPr lang="vi-VN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– 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Điện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- Đ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iện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tử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]</a:t>
            </a:r>
            <a:endParaRPr lang="vi-VN" altLang="ko-KR" sz="1600" b="1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16522"/>
              </p:ext>
            </p:extLst>
          </p:nvPr>
        </p:nvGraphicFramePr>
        <p:xfrm>
          <a:off x="3501008" y="827591"/>
          <a:ext cx="2952328" cy="7992873"/>
        </p:xfrm>
        <a:graphic>
          <a:graphicData uri="http://schemas.openxmlformats.org/drawingml/2006/table">
            <a:tbl>
              <a:tblPr/>
              <a:tblGrid>
                <a:gridCol w="1476164"/>
                <a:gridCol w="1476164"/>
              </a:tblGrid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Đề 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Đáp án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7464" marR="7464" marT="7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800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"/>
          <p:cNvSpPr>
            <a:spLocks noChangeShapeType="1"/>
          </p:cNvSpPr>
          <p:nvPr/>
        </p:nvSpPr>
        <p:spPr bwMode="auto">
          <a:xfrm>
            <a:off x="279400" y="562708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100" name="Rectangle 3"/>
          <p:cNvSpPr>
            <a:spLocks noChangeArrowheads="1"/>
          </p:cNvSpPr>
          <p:nvPr/>
        </p:nvSpPr>
        <p:spPr bwMode="auto">
          <a:xfrm>
            <a:off x="304800" y="737089"/>
            <a:ext cx="3124200" cy="81958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1. Điều gì được mô tả tiếp theo?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 [Khi electron nhận được năng lượng và năng lượng tăng lên, vùng cấm là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   Các êlectron tự do và êlectron tự do chuyển động giữa các nguyên tử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   Nó được thực hiện. Điện năng được tạo ra theo cách này được gọi là (). ]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① Daejeon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② Toàn bộ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1000" smtClean="0">
                <a:ea typeface="돋움" pitchFamily="50" charset="-127"/>
              </a:rPr>
              <a:t>  ③ </a:t>
            </a:r>
            <a:r>
              <a:rPr kumimoji="1" lang="en-US" altLang="ko-KR" sz="1000" smtClean="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điện tích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④ Điện tử tự do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2. Điều nào không đúng với số êlectron trong góc của êlectron?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① Góc M = 16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② góc K = 2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③ góc N = 32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④ Góc L = 8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3. Điều gì được mô tả tiếp theo?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 [Các electron quỹ đạo trong nguyên tử trở thành các electron tự do. ]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① photon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Tôi ở đây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③ ion hóa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④ Truyền giáo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4. Độ lệch pha trong trường hợp 3 pha 220V 60㎐ là bao nhiêu?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① 90     ② 120     ③ 180    ④ 240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5. Loại nhiễu như trong hình là gì?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① Tĩnh điện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② Biến động điện áp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③ Sự lan truyền giao thoa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④ Chuyển </a:t>
            </a:r>
            <a:r>
              <a:rPr kumimoji="1" lang="en-US" sz="900" smtClean="0">
                <a:ea typeface="돋움" pitchFamily="50" charset="-127"/>
              </a:rPr>
              <a:t>mạch</a:t>
            </a:r>
            <a:endParaRPr kumimoji="1" lang="vi-VN" sz="900" smtClean="0"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6. Loại nút kiểm tra ELCB cho bảo vệ chống rò rỉ đất là gì?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① màu vàng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② xanh lam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③ đen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④ đỏ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7. Vave ở giá trị đỉnh đến đỉnh là 10V là bao nhiêu?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① 7,07    ② 6,37   ③ 3.535    ④ 3,185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8. Khi mã màu của điện trở là [Đỏ Đỏ Nâu Bạc]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  thì sai số là gì?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① 5%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② 10%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③ 15%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④ 20%</a:t>
            </a:r>
          </a:p>
        </p:txBody>
      </p:sp>
      <p:sp>
        <p:nvSpPr>
          <p:cNvPr id="4101" name="Rectangle 4"/>
          <p:cNvSpPr>
            <a:spLocks noChangeArrowheads="1"/>
          </p:cNvSpPr>
          <p:nvPr/>
        </p:nvSpPr>
        <p:spPr bwMode="auto">
          <a:xfrm>
            <a:off x="3429000" y="737089"/>
            <a:ext cx="3124200" cy="81958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9. Sự phản kháng của lời giải thích tiếp theo là gì?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 [Bởi vì nó là một loại nhựa không cháy, nó không bắt lửa ngay cả ở nhiệt độ cao.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   Không có lớp cách nhiệt và giàu chất cách nhiệt. ]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① Khả năng chống màng kim loại (loại sơn)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② Chống xi măng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③ Chống màng kim loại (màng mỏng)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④ Khả năng chống màng carbon nhỏ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10. Trường hợp nào sau đây không phải là điện trở </a:t>
            </a: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của biến trở?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① Màng carbon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② Phim kim loại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③ cuộn dây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④ silicone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11. Tụ điện nào sau đây có cực tính?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① Tụ điện Mylar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② Tụ gốm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③ Tụ Tantal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④ Tụ điện Styrol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12. Suất điện động sinh ra khi từ thông đi qua cuộn </a:t>
            </a: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dây bị thay đổi.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    Hiện tượng được gọi là gì?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① cảm ứng điện từ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② Suất điện động cảm ứng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③ Định luật Lenz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④ Điện cảm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13. Loại cuộn dây nào có tụ điện mắc song song </a:t>
            </a: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trước?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① FCZ                ② IFT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③ RFC                ④ FFC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14. Điện áp ngưỡng thuận của diode Zener 9.1V / Si</a:t>
            </a: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là bao nhiêu?</a:t>
            </a: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① 0,2V               ② 0,7V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③ 2,9V               ④ 9.1V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15. Các loại NPN tần số thấp TR?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① A XXX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② B XXX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③ C XXX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④ D XXX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16. Điều gì không phải là đặc điểm của Photo </a:t>
            </a: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Coupler?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① Tốc độ phản hồi nhanh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② Truyền tín hiệu là hai chiều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③ Có độ tin cậy cao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  ④ Chống ồn</a:t>
            </a:r>
          </a:p>
        </p:txBody>
      </p:sp>
      <p:pic>
        <p:nvPicPr>
          <p:cNvPr id="4102" name="Picture 6"/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767807"/>
            <a:ext cx="1066800" cy="531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03" name="Text Box 6"/>
          <p:cNvSpPr txBox="1">
            <a:spLocks noChangeArrowheads="1"/>
          </p:cNvSpPr>
          <p:nvPr/>
        </p:nvSpPr>
        <p:spPr bwMode="auto">
          <a:xfrm>
            <a:off x="292207" y="754732"/>
            <a:ext cx="164339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fontAlgn="base" latin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ko-KR" sz="1000" b="1" smtClean="0"/>
              <a:t>※ </a:t>
            </a:r>
            <a:r>
              <a:rPr lang="ko-KR" altLang="en-US" sz="1000" b="1" smtClean="0"/>
              <a:t>전기전자 </a:t>
            </a:r>
            <a:r>
              <a:rPr lang="en-US" altLang="ko-KR" sz="1000" b="1" smtClean="0"/>
              <a:t>: 1</a:t>
            </a:r>
            <a:r>
              <a:rPr lang="ko-KR" altLang="en-US" sz="1000" b="1" smtClean="0"/>
              <a:t>번 </a:t>
            </a:r>
            <a:r>
              <a:rPr lang="en-US" altLang="ko-KR" sz="1000" b="1" smtClean="0"/>
              <a:t>~ 20</a:t>
            </a:r>
            <a:r>
              <a:rPr lang="ko-KR" altLang="en-US" sz="1000" b="1" smtClean="0"/>
              <a:t>번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151" y="2716823"/>
            <a:ext cx="1171575" cy="3710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 Box 6"/>
          <p:cNvSpPr>
            <a:spLocks noChangeArrowheads="1"/>
          </p:cNvSpPr>
          <p:nvPr/>
        </p:nvSpPr>
        <p:spPr bwMode="auto">
          <a:xfrm>
            <a:off x="195263" y="211085"/>
            <a:ext cx="3449637" cy="3091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/>
          <a:lstStyle>
            <a:lvl1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SzPct val="100000"/>
              <a:defRPr/>
            </a:pPr>
            <a:r>
              <a:rPr lang="vi-VN" altLang="ko-K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[Đánh </a:t>
            </a:r>
            <a:r>
              <a:rPr lang="vi-VN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giá 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WS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7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</a:t>
            </a:r>
            <a:r>
              <a:rPr lang="vi-VN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– 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Điện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- Đ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iện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tử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]</a:t>
            </a:r>
            <a:endParaRPr lang="vi-VN" altLang="ko-KR" sz="1600" b="1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504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279400" y="562708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124" name="Rectangle 3"/>
          <p:cNvSpPr>
            <a:spLocks noChangeArrowheads="1"/>
          </p:cNvSpPr>
          <p:nvPr/>
        </p:nvSpPr>
        <p:spPr bwMode="auto">
          <a:xfrm>
            <a:off x="304800" y="716575"/>
            <a:ext cx="3124200" cy="82164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54000"/>
          <a:lstStyle/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17. Nếu tăng nhiệt độ giữa các nhiệt điện trở thì giá trị điện trở tăng.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      Loại nào?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① NTC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② PTC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③ CTR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④ RTS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18. Hiệu điện thế </a:t>
            </a:r>
            <a:r>
              <a:rPr kumimoji="1" lang="en-US" sz="900" smtClean="0">
                <a:ea typeface="돋움" pitchFamily="50" charset="-127"/>
              </a:rPr>
              <a:t>đặt trên</a:t>
            </a:r>
            <a:r>
              <a:rPr kumimoji="1" lang="vi-VN" sz="900" smtClean="0">
                <a:ea typeface="돋움" pitchFamily="50" charset="-127"/>
              </a:rPr>
              <a:t> điện trở trong đoạn mạch </a:t>
            </a:r>
            <a:r>
              <a:rPr kumimoji="1" lang="en-US" sz="900" smtClean="0">
                <a:ea typeface="돋움" pitchFamily="50" charset="-127"/>
              </a:rPr>
              <a:t>   </a:t>
            </a:r>
            <a:r>
              <a:rPr kumimoji="1" lang="vi-VN" sz="900" smtClean="0">
                <a:ea typeface="돋움" pitchFamily="50" charset="-127"/>
              </a:rPr>
              <a:t>sau là bao nhiêu?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① 0V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② 0,2V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③ 0,7V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④ 4.3V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19. Hiệu điện thế </a:t>
            </a:r>
            <a:r>
              <a:rPr kumimoji="1" lang="en-US" sz="900" smtClean="0">
                <a:ea typeface="돋움" pitchFamily="50" charset="-127"/>
              </a:rPr>
              <a:t>đặt trên</a:t>
            </a:r>
            <a:r>
              <a:rPr kumimoji="1" lang="vi-VN" sz="900" smtClean="0">
                <a:ea typeface="돋움" pitchFamily="50" charset="-127"/>
              </a:rPr>
              <a:t> điện trở trong đoạn mạch </a:t>
            </a:r>
            <a:r>
              <a:rPr kumimoji="1" lang="en-US" sz="900" smtClean="0">
                <a:ea typeface="돋움" pitchFamily="50" charset="-127"/>
              </a:rPr>
              <a:t>   </a:t>
            </a:r>
            <a:r>
              <a:rPr kumimoji="1" lang="vi-VN" sz="900" smtClean="0">
                <a:ea typeface="돋움" pitchFamily="50" charset="-127"/>
              </a:rPr>
              <a:t>sau </a:t>
            </a: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vi-VN" sz="900" smtClean="0">
                <a:ea typeface="돋움" pitchFamily="50" charset="-127"/>
              </a:rPr>
              <a:t>đây là bao nhiêu?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① 0V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② 0,7V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③ 2,9V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④ 12V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20. Tần số của dạng sóng tiếp theo là bao nhiêu?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900" smtClean="0">
              <a:latin typeface="돋움" pitchFamily="50" charset="-127"/>
              <a:ea typeface="돋움" pitchFamily="50" charset="-127"/>
            </a:endParaRP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① 200 hz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② 250 hz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③ 500 hz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sz="900" smtClean="0">
                <a:latin typeface="돋움" pitchFamily="50" charset="-127"/>
                <a:ea typeface="돋움" pitchFamily="50" charset="-127"/>
              </a:rPr>
              <a:t>④ 1khz</a:t>
            </a:r>
          </a:p>
        </p:txBody>
      </p:sp>
      <p:sp>
        <p:nvSpPr>
          <p:cNvPr id="5125" name="Rectangle 4"/>
          <p:cNvSpPr>
            <a:spLocks noChangeArrowheads="1"/>
          </p:cNvSpPr>
          <p:nvPr/>
        </p:nvSpPr>
        <p:spPr bwMode="auto">
          <a:xfrm>
            <a:off x="3429000" y="716575"/>
            <a:ext cx="3124200" cy="82164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72000"/>
          <a:lstStyle/>
          <a:p>
            <a:pPr marL="457200" indent="-457200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ko-KR" sz="900" smtClean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5126" name="그룹 4"/>
          <p:cNvGrpSpPr>
            <a:grpSpLocks/>
          </p:cNvGrpSpPr>
          <p:nvPr/>
        </p:nvGrpSpPr>
        <p:grpSpPr bwMode="auto">
          <a:xfrm>
            <a:off x="479669" y="5168159"/>
            <a:ext cx="2605064" cy="1688018"/>
            <a:chOff x="456198" y="4615820"/>
            <a:chExt cx="2604989" cy="1829129"/>
          </a:xfrm>
        </p:grpSpPr>
        <p:grpSp>
          <p:nvGrpSpPr>
            <p:cNvPr id="5178" name="Group 45"/>
            <p:cNvGrpSpPr>
              <a:grpSpLocks/>
            </p:cNvGrpSpPr>
            <p:nvPr/>
          </p:nvGrpSpPr>
          <p:grpSpPr bwMode="auto">
            <a:xfrm>
              <a:off x="694412" y="4615820"/>
              <a:ext cx="2366775" cy="1489977"/>
              <a:chOff x="815" y="998"/>
              <a:chExt cx="2305" cy="1760"/>
            </a:xfrm>
          </p:grpSpPr>
          <p:sp>
            <p:nvSpPr>
              <p:cNvPr id="5181" name="Rectangle 46"/>
              <p:cNvSpPr>
                <a:spLocks noChangeArrowheads="1"/>
              </p:cNvSpPr>
              <p:nvPr/>
            </p:nvSpPr>
            <p:spPr bwMode="auto">
              <a:xfrm>
                <a:off x="2890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82" name="Rectangle 47"/>
              <p:cNvSpPr>
                <a:spLocks noChangeArrowheads="1"/>
              </p:cNvSpPr>
              <p:nvPr/>
            </p:nvSpPr>
            <p:spPr bwMode="auto">
              <a:xfrm>
                <a:off x="2659" y="25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83" name="Rectangle 48"/>
              <p:cNvSpPr>
                <a:spLocks noChangeArrowheads="1"/>
              </p:cNvSpPr>
              <p:nvPr/>
            </p:nvSpPr>
            <p:spPr bwMode="auto">
              <a:xfrm>
                <a:off x="2429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84" name="Rectangle 49"/>
              <p:cNvSpPr>
                <a:spLocks noChangeArrowheads="1"/>
              </p:cNvSpPr>
              <p:nvPr/>
            </p:nvSpPr>
            <p:spPr bwMode="auto">
              <a:xfrm>
                <a:off x="2198" y="25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85" name="Rectangle 50"/>
              <p:cNvSpPr>
                <a:spLocks noChangeArrowheads="1"/>
              </p:cNvSpPr>
              <p:nvPr/>
            </p:nvSpPr>
            <p:spPr bwMode="auto">
              <a:xfrm>
                <a:off x="1968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86" name="Rectangle 51"/>
              <p:cNvSpPr>
                <a:spLocks noChangeArrowheads="1"/>
              </p:cNvSpPr>
              <p:nvPr/>
            </p:nvSpPr>
            <p:spPr bwMode="auto">
              <a:xfrm>
                <a:off x="1738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87" name="Rectangle 52"/>
              <p:cNvSpPr>
                <a:spLocks noChangeArrowheads="1"/>
              </p:cNvSpPr>
              <p:nvPr/>
            </p:nvSpPr>
            <p:spPr bwMode="auto">
              <a:xfrm>
                <a:off x="1507" y="25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88" name="Rectangle 53"/>
              <p:cNvSpPr>
                <a:spLocks noChangeArrowheads="1"/>
              </p:cNvSpPr>
              <p:nvPr/>
            </p:nvSpPr>
            <p:spPr bwMode="auto">
              <a:xfrm>
                <a:off x="1277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89" name="Rectangle 54"/>
              <p:cNvSpPr>
                <a:spLocks noChangeArrowheads="1"/>
              </p:cNvSpPr>
              <p:nvPr/>
            </p:nvSpPr>
            <p:spPr bwMode="auto">
              <a:xfrm>
                <a:off x="1046" y="25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90" name="Rectangle 55"/>
              <p:cNvSpPr>
                <a:spLocks noChangeArrowheads="1"/>
              </p:cNvSpPr>
              <p:nvPr/>
            </p:nvSpPr>
            <p:spPr bwMode="auto">
              <a:xfrm>
                <a:off x="816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91" name="Rectangle 56"/>
              <p:cNvSpPr>
                <a:spLocks noChangeArrowheads="1"/>
              </p:cNvSpPr>
              <p:nvPr/>
            </p:nvSpPr>
            <p:spPr bwMode="auto">
              <a:xfrm>
                <a:off x="2890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92" name="Rectangle 57"/>
              <p:cNvSpPr>
                <a:spLocks noChangeArrowheads="1"/>
              </p:cNvSpPr>
              <p:nvPr/>
            </p:nvSpPr>
            <p:spPr bwMode="auto">
              <a:xfrm>
                <a:off x="2659" y="23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93" name="Rectangle 58"/>
              <p:cNvSpPr>
                <a:spLocks noChangeArrowheads="1"/>
              </p:cNvSpPr>
              <p:nvPr/>
            </p:nvSpPr>
            <p:spPr bwMode="auto">
              <a:xfrm>
                <a:off x="2429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94" name="Rectangle 59"/>
              <p:cNvSpPr>
                <a:spLocks noChangeArrowheads="1"/>
              </p:cNvSpPr>
              <p:nvPr/>
            </p:nvSpPr>
            <p:spPr bwMode="auto">
              <a:xfrm>
                <a:off x="2198" y="23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95" name="Rectangle 60"/>
              <p:cNvSpPr>
                <a:spLocks noChangeArrowheads="1"/>
              </p:cNvSpPr>
              <p:nvPr/>
            </p:nvSpPr>
            <p:spPr bwMode="auto">
              <a:xfrm>
                <a:off x="1968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96" name="Rectangle 61"/>
              <p:cNvSpPr>
                <a:spLocks noChangeArrowheads="1"/>
              </p:cNvSpPr>
              <p:nvPr/>
            </p:nvSpPr>
            <p:spPr bwMode="auto">
              <a:xfrm>
                <a:off x="1738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97" name="Rectangle 62"/>
              <p:cNvSpPr>
                <a:spLocks noChangeArrowheads="1"/>
              </p:cNvSpPr>
              <p:nvPr/>
            </p:nvSpPr>
            <p:spPr bwMode="auto">
              <a:xfrm>
                <a:off x="1507" y="23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98" name="Rectangle 63"/>
              <p:cNvSpPr>
                <a:spLocks noChangeArrowheads="1"/>
              </p:cNvSpPr>
              <p:nvPr/>
            </p:nvSpPr>
            <p:spPr bwMode="auto">
              <a:xfrm>
                <a:off x="1277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199" name="Rectangle 64"/>
              <p:cNvSpPr>
                <a:spLocks noChangeArrowheads="1"/>
              </p:cNvSpPr>
              <p:nvPr/>
            </p:nvSpPr>
            <p:spPr bwMode="auto">
              <a:xfrm>
                <a:off x="1046" y="23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00" name="Rectangle 65"/>
              <p:cNvSpPr>
                <a:spLocks noChangeArrowheads="1"/>
              </p:cNvSpPr>
              <p:nvPr/>
            </p:nvSpPr>
            <p:spPr bwMode="auto">
              <a:xfrm>
                <a:off x="816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01" name="Rectangle 66"/>
              <p:cNvSpPr>
                <a:spLocks noChangeArrowheads="1"/>
              </p:cNvSpPr>
              <p:nvPr/>
            </p:nvSpPr>
            <p:spPr bwMode="auto">
              <a:xfrm>
                <a:off x="2890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02" name="Rectangle 67"/>
              <p:cNvSpPr>
                <a:spLocks noChangeArrowheads="1"/>
              </p:cNvSpPr>
              <p:nvPr/>
            </p:nvSpPr>
            <p:spPr bwMode="auto">
              <a:xfrm>
                <a:off x="2659" y="20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03" name="Rectangle 68"/>
              <p:cNvSpPr>
                <a:spLocks noChangeArrowheads="1"/>
              </p:cNvSpPr>
              <p:nvPr/>
            </p:nvSpPr>
            <p:spPr bwMode="auto">
              <a:xfrm>
                <a:off x="2429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04" name="Rectangle 69"/>
              <p:cNvSpPr>
                <a:spLocks noChangeArrowheads="1"/>
              </p:cNvSpPr>
              <p:nvPr/>
            </p:nvSpPr>
            <p:spPr bwMode="auto">
              <a:xfrm>
                <a:off x="2198" y="20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05" name="Rectangle 70"/>
              <p:cNvSpPr>
                <a:spLocks noChangeArrowheads="1"/>
              </p:cNvSpPr>
              <p:nvPr/>
            </p:nvSpPr>
            <p:spPr bwMode="auto">
              <a:xfrm>
                <a:off x="1968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06" name="Rectangle 71"/>
              <p:cNvSpPr>
                <a:spLocks noChangeArrowheads="1"/>
              </p:cNvSpPr>
              <p:nvPr/>
            </p:nvSpPr>
            <p:spPr bwMode="auto">
              <a:xfrm>
                <a:off x="1738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07" name="Rectangle 72"/>
              <p:cNvSpPr>
                <a:spLocks noChangeArrowheads="1"/>
              </p:cNvSpPr>
              <p:nvPr/>
            </p:nvSpPr>
            <p:spPr bwMode="auto">
              <a:xfrm>
                <a:off x="1507" y="20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08" name="Rectangle 73"/>
              <p:cNvSpPr>
                <a:spLocks noChangeArrowheads="1"/>
              </p:cNvSpPr>
              <p:nvPr/>
            </p:nvSpPr>
            <p:spPr bwMode="auto">
              <a:xfrm>
                <a:off x="1277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09" name="Rectangle 74"/>
              <p:cNvSpPr>
                <a:spLocks noChangeArrowheads="1"/>
              </p:cNvSpPr>
              <p:nvPr/>
            </p:nvSpPr>
            <p:spPr bwMode="auto">
              <a:xfrm>
                <a:off x="1046" y="20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10" name="Rectangle 75"/>
              <p:cNvSpPr>
                <a:spLocks noChangeArrowheads="1"/>
              </p:cNvSpPr>
              <p:nvPr/>
            </p:nvSpPr>
            <p:spPr bwMode="auto">
              <a:xfrm>
                <a:off x="816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11" name="Rectangle 76"/>
              <p:cNvSpPr>
                <a:spLocks noChangeArrowheads="1"/>
              </p:cNvSpPr>
              <p:nvPr/>
            </p:nvSpPr>
            <p:spPr bwMode="auto">
              <a:xfrm>
                <a:off x="2890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12" name="Rectangle 77"/>
              <p:cNvSpPr>
                <a:spLocks noChangeArrowheads="1"/>
              </p:cNvSpPr>
              <p:nvPr/>
            </p:nvSpPr>
            <p:spPr bwMode="auto">
              <a:xfrm>
                <a:off x="2659" y="187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13" name="Rectangle 78"/>
              <p:cNvSpPr>
                <a:spLocks noChangeArrowheads="1"/>
              </p:cNvSpPr>
              <p:nvPr/>
            </p:nvSpPr>
            <p:spPr bwMode="auto">
              <a:xfrm>
                <a:off x="2429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14" name="Rectangle 79"/>
              <p:cNvSpPr>
                <a:spLocks noChangeArrowheads="1"/>
              </p:cNvSpPr>
              <p:nvPr/>
            </p:nvSpPr>
            <p:spPr bwMode="auto">
              <a:xfrm>
                <a:off x="2198" y="187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15" name="Rectangle 80"/>
              <p:cNvSpPr>
                <a:spLocks noChangeArrowheads="1"/>
              </p:cNvSpPr>
              <p:nvPr/>
            </p:nvSpPr>
            <p:spPr bwMode="auto">
              <a:xfrm>
                <a:off x="1968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16" name="Rectangle 81"/>
              <p:cNvSpPr>
                <a:spLocks noChangeArrowheads="1"/>
              </p:cNvSpPr>
              <p:nvPr/>
            </p:nvSpPr>
            <p:spPr bwMode="auto">
              <a:xfrm>
                <a:off x="1738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17" name="Rectangle 82"/>
              <p:cNvSpPr>
                <a:spLocks noChangeArrowheads="1"/>
              </p:cNvSpPr>
              <p:nvPr/>
            </p:nvSpPr>
            <p:spPr bwMode="auto">
              <a:xfrm>
                <a:off x="1507" y="187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18" name="Rectangle 83"/>
              <p:cNvSpPr>
                <a:spLocks noChangeArrowheads="1"/>
              </p:cNvSpPr>
              <p:nvPr/>
            </p:nvSpPr>
            <p:spPr bwMode="auto">
              <a:xfrm>
                <a:off x="1277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19" name="Rectangle 84"/>
              <p:cNvSpPr>
                <a:spLocks noChangeArrowheads="1"/>
              </p:cNvSpPr>
              <p:nvPr/>
            </p:nvSpPr>
            <p:spPr bwMode="auto">
              <a:xfrm>
                <a:off x="1046" y="187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20" name="Rectangle 85"/>
              <p:cNvSpPr>
                <a:spLocks noChangeArrowheads="1"/>
              </p:cNvSpPr>
              <p:nvPr/>
            </p:nvSpPr>
            <p:spPr bwMode="auto">
              <a:xfrm>
                <a:off x="816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21" name="Rectangle 86"/>
              <p:cNvSpPr>
                <a:spLocks noChangeArrowheads="1"/>
              </p:cNvSpPr>
              <p:nvPr/>
            </p:nvSpPr>
            <p:spPr bwMode="auto">
              <a:xfrm>
                <a:off x="2890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22" name="Rectangle 87"/>
              <p:cNvSpPr>
                <a:spLocks noChangeArrowheads="1"/>
              </p:cNvSpPr>
              <p:nvPr/>
            </p:nvSpPr>
            <p:spPr bwMode="auto">
              <a:xfrm>
                <a:off x="2659" y="165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23" name="Rectangle 88"/>
              <p:cNvSpPr>
                <a:spLocks noChangeArrowheads="1"/>
              </p:cNvSpPr>
              <p:nvPr/>
            </p:nvSpPr>
            <p:spPr bwMode="auto">
              <a:xfrm>
                <a:off x="2429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24" name="Rectangle 89"/>
              <p:cNvSpPr>
                <a:spLocks noChangeArrowheads="1"/>
              </p:cNvSpPr>
              <p:nvPr/>
            </p:nvSpPr>
            <p:spPr bwMode="auto">
              <a:xfrm>
                <a:off x="2198" y="165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25" name="Rectangle 90"/>
              <p:cNvSpPr>
                <a:spLocks noChangeArrowheads="1"/>
              </p:cNvSpPr>
              <p:nvPr/>
            </p:nvSpPr>
            <p:spPr bwMode="auto">
              <a:xfrm>
                <a:off x="1968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26" name="Rectangle 91"/>
              <p:cNvSpPr>
                <a:spLocks noChangeArrowheads="1"/>
              </p:cNvSpPr>
              <p:nvPr/>
            </p:nvSpPr>
            <p:spPr bwMode="auto">
              <a:xfrm>
                <a:off x="1738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27" name="Rectangle 92"/>
              <p:cNvSpPr>
                <a:spLocks noChangeArrowheads="1"/>
              </p:cNvSpPr>
              <p:nvPr/>
            </p:nvSpPr>
            <p:spPr bwMode="auto">
              <a:xfrm>
                <a:off x="1507" y="165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28" name="Rectangle 93"/>
              <p:cNvSpPr>
                <a:spLocks noChangeArrowheads="1"/>
              </p:cNvSpPr>
              <p:nvPr/>
            </p:nvSpPr>
            <p:spPr bwMode="auto">
              <a:xfrm>
                <a:off x="1277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29" name="Rectangle 94"/>
              <p:cNvSpPr>
                <a:spLocks noChangeArrowheads="1"/>
              </p:cNvSpPr>
              <p:nvPr/>
            </p:nvSpPr>
            <p:spPr bwMode="auto">
              <a:xfrm>
                <a:off x="1046" y="165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30" name="Rectangle 95"/>
              <p:cNvSpPr>
                <a:spLocks noChangeArrowheads="1"/>
              </p:cNvSpPr>
              <p:nvPr/>
            </p:nvSpPr>
            <p:spPr bwMode="auto">
              <a:xfrm>
                <a:off x="816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31" name="Rectangle 96"/>
              <p:cNvSpPr>
                <a:spLocks noChangeArrowheads="1"/>
              </p:cNvSpPr>
              <p:nvPr/>
            </p:nvSpPr>
            <p:spPr bwMode="auto">
              <a:xfrm>
                <a:off x="2890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32" name="Rectangle 97"/>
              <p:cNvSpPr>
                <a:spLocks noChangeArrowheads="1"/>
              </p:cNvSpPr>
              <p:nvPr/>
            </p:nvSpPr>
            <p:spPr bwMode="auto">
              <a:xfrm>
                <a:off x="2659" y="14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33" name="Rectangle 98"/>
              <p:cNvSpPr>
                <a:spLocks noChangeArrowheads="1"/>
              </p:cNvSpPr>
              <p:nvPr/>
            </p:nvSpPr>
            <p:spPr bwMode="auto">
              <a:xfrm>
                <a:off x="2429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34" name="Rectangle 99"/>
              <p:cNvSpPr>
                <a:spLocks noChangeArrowheads="1"/>
              </p:cNvSpPr>
              <p:nvPr/>
            </p:nvSpPr>
            <p:spPr bwMode="auto">
              <a:xfrm>
                <a:off x="2198" y="14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35" name="Rectangle 100"/>
              <p:cNvSpPr>
                <a:spLocks noChangeArrowheads="1"/>
              </p:cNvSpPr>
              <p:nvPr/>
            </p:nvSpPr>
            <p:spPr bwMode="auto">
              <a:xfrm>
                <a:off x="1968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36" name="Rectangle 101"/>
              <p:cNvSpPr>
                <a:spLocks noChangeArrowheads="1"/>
              </p:cNvSpPr>
              <p:nvPr/>
            </p:nvSpPr>
            <p:spPr bwMode="auto">
              <a:xfrm>
                <a:off x="1738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37" name="Rectangle 102"/>
              <p:cNvSpPr>
                <a:spLocks noChangeArrowheads="1"/>
              </p:cNvSpPr>
              <p:nvPr/>
            </p:nvSpPr>
            <p:spPr bwMode="auto">
              <a:xfrm>
                <a:off x="1507" y="14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38" name="Rectangle 103"/>
              <p:cNvSpPr>
                <a:spLocks noChangeArrowheads="1"/>
              </p:cNvSpPr>
              <p:nvPr/>
            </p:nvSpPr>
            <p:spPr bwMode="auto">
              <a:xfrm>
                <a:off x="1277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39" name="Rectangle 104"/>
              <p:cNvSpPr>
                <a:spLocks noChangeArrowheads="1"/>
              </p:cNvSpPr>
              <p:nvPr/>
            </p:nvSpPr>
            <p:spPr bwMode="auto">
              <a:xfrm>
                <a:off x="1046" y="14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40" name="Rectangle 105"/>
              <p:cNvSpPr>
                <a:spLocks noChangeArrowheads="1"/>
              </p:cNvSpPr>
              <p:nvPr/>
            </p:nvSpPr>
            <p:spPr bwMode="auto">
              <a:xfrm>
                <a:off x="816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41" name="Rectangle 106"/>
              <p:cNvSpPr>
                <a:spLocks noChangeArrowheads="1"/>
              </p:cNvSpPr>
              <p:nvPr/>
            </p:nvSpPr>
            <p:spPr bwMode="auto">
              <a:xfrm>
                <a:off x="2890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42" name="Rectangle 107"/>
              <p:cNvSpPr>
                <a:spLocks noChangeArrowheads="1"/>
              </p:cNvSpPr>
              <p:nvPr/>
            </p:nvSpPr>
            <p:spPr bwMode="auto">
              <a:xfrm>
                <a:off x="2659" y="12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43" name="Rectangle 108"/>
              <p:cNvSpPr>
                <a:spLocks noChangeArrowheads="1"/>
              </p:cNvSpPr>
              <p:nvPr/>
            </p:nvSpPr>
            <p:spPr bwMode="auto">
              <a:xfrm>
                <a:off x="2429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44" name="Rectangle 109"/>
              <p:cNvSpPr>
                <a:spLocks noChangeArrowheads="1"/>
              </p:cNvSpPr>
              <p:nvPr/>
            </p:nvSpPr>
            <p:spPr bwMode="auto">
              <a:xfrm>
                <a:off x="2198" y="12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45" name="Rectangle 110"/>
              <p:cNvSpPr>
                <a:spLocks noChangeArrowheads="1"/>
              </p:cNvSpPr>
              <p:nvPr/>
            </p:nvSpPr>
            <p:spPr bwMode="auto">
              <a:xfrm>
                <a:off x="1968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46" name="Rectangle 111"/>
              <p:cNvSpPr>
                <a:spLocks noChangeArrowheads="1"/>
              </p:cNvSpPr>
              <p:nvPr/>
            </p:nvSpPr>
            <p:spPr bwMode="auto">
              <a:xfrm>
                <a:off x="1738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47" name="Rectangle 112"/>
              <p:cNvSpPr>
                <a:spLocks noChangeArrowheads="1"/>
              </p:cNvSpPr>
              <p:nvPr/>
            </p:nvSpPr>
            <p:spPr bwMode="auto">
              <a:xfrm>
                <a:off x="1507" y="12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48" name="Rectangle 113"/>
              <p:cNvSpPr>
                <a:spLocks noChangeArrowheads="1"/>
              </p:cNvSpPr>
              <p:nvPr/>
            </p:nvSpPr>
            <p:spPr bwMode="auto">
              <a:xfrm>
                <a:off x="1277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49" name="Rectangle 114"/>
              <p:cNvSpPr>
                <a:spLocks noChangeArrowheads="1"/>
              </p:cNvSpPr>
              <p:nvPr/>
            </p:nvSpPr>
            <p:spPr bwMode="auto">
              <a:xfrm>
                <a:off x="1046" y="12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50" name="Rectangle 115"/>
              <p:cNvSpPr>
                <a:spLocks noChangeArrowheads="1"/>
              </p:cNvSpPr>
              <p:nvPr/>
            </p:nvSpPr>
            <p:spPr bwMode="auto">
              <a:xfrm>
                <a:off x="816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51" name="Rectangle 116"/>
              <p:cNvSpPr>
                <a:spLocks noChangeArrowheads="1"/>
              </p:cNvSpPr>
              <p:nvPr/>
            </p:nvSpPr>
            <p:spPr bwMode="auto">
              <a:xfrm>
                <a:off x="2890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52" name="Rectangle 117"/>
              <p:cNvSpPr>
                <a:spLocks noChangeArrowheads="1"/>
              </p:cNvSpPr>
              <p:nvPr/>
            </p:nvSpPr>
            <p:spPr bwMode="auto">
              <a:xfrm>
                <a:off x="2659" y="9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53" name="Rectangle 118"/>
              <p:cNvSpPr>
                <a:spLocks noChangeArrowheads="1"/>
              </p:cNvSpPr>
              <p:nvPr/>
            </p:nvSpPr>
            <p:spPr bwMode="auto">
              <a:xfrm>
                <a:off x="2429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54" name="Rectangle 119"/>
              <p:cNvSpPr>
                <a:spLocks noChangeArrowheads="1"/>
              </p:cNvSpPr>
              <p:nvPr/>
            </p:nvSpPr>
            <p:spPr bwMode="auto">
              <a:xfrm>
                <a:off x="2198" y="9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55" name="Rectangle 120"/>
              <p:cNvSpPr>
                <a:spLocks noChangeArrowheads="1"/>
              </p:cNvSpPr>
              <p:nvPr/>
            </p:nvSpPr>
            <p:spPr bwMode="auto">
              <a:xfrm>
                <a:off x="1968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56" name="Rectangle 121"/>
              <p:cNvSpPr>
                <a:spLocks noChangeArrowheads="1"/>
              </p:cNvSpPr>
              <p:nvPr/>
            </p:nvSpPr>
            <p:spPr bwMode="auto">
              <a:xfrm>
                <a:off x="1738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57" name="Rectangle 122"/>
              <p:cNvSpPr>
                <a:spLocks noChangeArrowheads="1"/>
              </p:cNvSpPr>
              <p:nvPr/>
            </p:nvSpPr>
            <p:spPr bwMode="auto">
              <a:xfrm>
                <a:off x="1507" y="9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58" name="Rectangle 123"/>
              <p:cNvSpPr>
                <a:spLocks noChangeArrowheads="1"/>
              </p:cNvSpPr>
              <p:nvPr/>
            </p:nvSpPr>
            <p:spPr bwMode="auto">
              <a:xfrm>
                <a:off x="1277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59" name="Rectangle 124"/>
              <p:cNvSpPr>
                <a:spLocks noChangeArrowheads="1"/>
              </p:cNvSpPr>
              <p:nvPr/>
            </p:nvSpPr>
            <p:spPr bwMode="auto">
              <a:xfrm>
                <a:off x="1046" y="9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60" name="Rectangle 125"/>
              <p:cNvSpPr>
                <a:spLocks noChangeArrowheads="1"/>
              </p:cNvSpPr>
              <p:nvPr/>
            </p:nvSpPr>
            <p:spPr bwMode="auto">
              <a:xfrm>
                <a:off x="816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r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smtClean="0"/>
              </a:p>
            </p:txBody>
          </p:sp>
          <p:sp>
            <p:nvSpPr>
              <p:cNvPr id="5261" name="Line 126"/>
              <p:cNvSpPr>
                <a:spLocks noChangeShapeType="1"/>
              </p:cNvSpPr>
              <p:nvPr/>
            </p:nvSpPr>
            <p:spPr bwMode="auto">
              <a:xfrm>
                <a:off x="816" y="998"/>
                <a:ext cx="2304" cy="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62" name="Line 127"/>
              <p:cNvSpPr>
                <a:spLocks noChangeShapeType="1"/>
              </p:cNvSpPr>
              <p:nvPr/>
            </p:nvSpPr>
            <p:spPr bwMode="auto">
              <a:xfrm>
                <a:off x="816" y="121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63" name="Line 128"/>
              <p:cNvSpPr>
                <a:spLocks noChangeShapeType="1"/>
              </p:cNvSpPr>
              <p:nvPr/>
            </p:nvSpPr>
            <p:spPr bwMode="auto">
              <a:xfrm>
                <a:off x="816" y="143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64" name="Line 129"/>
              <p:cNvSpPr>
                <a:spLocks noChangeShapeType="1"/>
              </p:cNvSpPr>
              <p:nvPr/>
            </p:nvSpPr>
            <p:spPr bwMode="auto">
              <a:xfrm>
                <a:off x="816" y="187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65" name="Line 130"/>
              <p:cNvSpPr>
                <a:spLocks noChangeShapeType="1"/>
              </p:cNvSpPr>
              <p:nvPr/>
            </p:nvSpPr>
            <p:spPr bwMode="auto">
              <a:xfrm>
                <a:off x="816" y="231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66" name="Line 131"/>
              <p:cNvSpPr>
                <a:spLocks noChangeShapeType="1"/>
              </p:cNvSpPr>
              <p:nvPr/>
            </p:nvSpPr>
            <p:spPr bwMode="auto">
              <a:xfrm>
                <a:off x="816" y="253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67" name="Line 132"/>
              <p:cNvSpPr>
                <a:spLocks noChangeShapeType="1"/>
              </p:cNvSpPr>
              <p:nvPr/>
            </p:nvSpPr>
            <p:spPr bwMode="auto">
              <a:xfrm>
                <a:off x="816" y="2758"/>
                <a:ext cx="2304" cy="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68" name="Line 133"/>
              <p:cNvSpPr>
                <a:spLocks noChangeShapeType="1"/>
              </p:cNvSpPr>
              <p:nvPr/>
            </p:nvSpPr>
            <p:spPr bwMode="auto">
              <a:xfrm>
                <a:off x="816" y="998"/>
                <a:ext cx="0" cy="176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69" name="Line 134"/>
              <p:cNvSpPr>
                <a:spLocks noChangeShapeType="1"/>
              </p:cNvSpPr>
              <p:nvPr/>
            </p:nvSpPr>
            <p:spPr bwMode="auto">
              <a:xfrm>
                <a:off x="1046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70" name="Line 135"/>
              <p:cNvSpPr>
                <a:spLocks noChangeShapeType="1"/>
              </p:cNvSpPr>
              <p:nvPr/>
            </p:nvSpPr>
            <p:spPr bwMode="auto">
              <a:xfrm>
                <a:off x="1277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71" name="Line 136"/>
              <p:cNvSpPr>
                <a:spLocks noChangeShapeType="1"/>
              </p:cNvSpPr>
              <p:nvPr/>
            </p:nvSpPr>
            <p:spPr bwMode="auto">
              <a:xfrm>
                <a:off x="1507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72" name="Line 137"/>
              <p:cNvSpPr>
                <a:spLocks noChangeShapeType="1"/>
              </p:cNvSpPr>
              <p:nvPr/>
            </p:nvSpPr>
            <p:spPr bwMode="auto">
              <a:xfrm>
                <a:off x="1968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73" name="Line 138"/>
              <p:cNvSpPr>
                <a:spLocks noChangeShapeType="1"/>
              </p:cNvSpPr>
              <p:nvPr/>
            </p:nvSpPr>
            <p:spPr bwMode="auto">
              <a:xfrm>
                <a:off x="2429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74" name="Line 139"/>
              <p:cNvSpPr>
                <a:spLocks noChangeShapeType="1"/>
              </p:cNvSpPr>
              <p:nvPr/>
            </p:nvSpPr>
            <p:spPr bwMode="auto">
              <a:xfrm>
                <a:off x="2659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75" name="Line 140"/>
              <p:cNvSpPr>
                <a:spLocks noChangeShapeType="1"/>
              </p:cNvSpPr>
              <p:nvPr/>
            </p:nvSpPr>
            <p:spPr bwMode="auto">
              <a:xfrm>
                <a:off x="2890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76" name="Line 141"/>
              <p:cNvSpPr>
                <a:spLocks noChangeShapeType="1"/>
              </p:cNvSpPr>
              <p:nvPr/>
            </p:nvSpPr>
            <p:spPr bwMode="auto">
              <a:xfrm>
                <a:off x="3120" y="998"/>
                <a:ext cx="0" cy="176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77" name="Line 142"/>
              <p:cNvSpPr>
                <a:spLocks noChangeShapeType="1"/>
              </p:cNvSpPr>
              <p:nvPr/>
            </p:nvSpPr>
            <p:spPr bwMode="auto">
              <a:xfrm>
                <a:off x="816" y="1658"/>
                <a:ext cx="2304" cy="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78" name="Line 143"/>
              <p:cNvSpPr>
                <a:spLocks noChangeShapeType="1"/>
              </p:cNvSpPr>
              <p:nvPr/>
            </p:nvSpPr>
            <p:spPr bwMode="auto">
              <a:xfrm>
                <a:off x="816" y="2098"/>
                <a:ext cx="2304" cy="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79" name="Line 144"/>
              <p:cNvSpPr>
                <a:spLocks noChangeShapeType="1"/>
              </p:cNvSpPr>
              <p:nvPr/>
            </p:nvSpPr>
            <p:spPr bwMode="auto">
              <a:xfrm>
                <a:off x="1738" y="998"/>
                <a:ext cx="0" cy="176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80" name="Line 145"/>
              <p:cNvSpPr>
                <a:spLocks noChangeShapeType="1"/>
              </p:cNvSpPr>
              <p:nvPr/>
            </p:nvSpPr>
            <p:spPr bwMode="auto">
              <a:xfrm>
                <a:off x="2198" y="998"/>
                <a:ext cx="0" cy="176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281" name="Freeform 146"/>
              <p:cNvSpPr>
                <a:spLocks/>
              </p:cNvSpPr>
              <p:nvPr/>
            </p:nvSpPr>
            <p:spPr bwMode="auto">
              <a:xfrm>
                <a:off x="815" y="1116"/>
                <a:ext cx="2305" cy="1418"/>
              </a:xfrm>
              <a:custGeom>
                <a:avLst/>
                <a:gdLst>
                  <a:gd name="T0" fmla="*/ 0 w 2305"/>
                  <a:gd name="T1" fmla="*/ 5 h 1910"/>
                  <a:gd name="T2" fmla="*/ 270 w 2305"/>
                  <a:gd name="T3" fmla="*/ 1 h 1910"/>
                  <a:gd name="T4" fmla="*/ 696 w 2305"/>
                  <a:gd name="T5" fmla="*/ 9 h 1910"/>
                  <a:gd name="T6" fmla="*/ 1160 w 2305"/>
                  <a:gd name="T7" fmla="*/ 1 h 1910"/>
                  <a:gd name="T8" fmla="*/ 1609 w 2305"/>
                  <a:gd name="T9" fmla="*/ 9 h 1910"/>
                  <a:gd name="T10" fmla="*/ 2035 w 2305"/>
                  <a:gd name="T11" fmla="*/ 1 h 1910"/>
                  <a:gd name="T12" fmla="*/ 2305 w 2305"/>
                  <a:gd name="T13" fmla="*/ 5 h 19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05"/>
                  <a:gd name="T22" fmla="*/ 0 h 1910"/>
                  <a:gd name="T23" fmla="*/ 2305 w 2305"/>
                  <a:gd name="T24" fmla="*/ 1910 h 19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05" h="1910">
                    <a:moveTo>
                      <a:pt x="0" y="1006"/>
                    </a:moveTo>
                    <a:cubicBezTo>
                      <a:pt x="45" y="864"/>
                      <a:pt x="154" y="0"/>
                      <a:pt x="270" y="151"/>
                    </a:cubicBezTo>
                    <a:cubicBezTo>
                      <a:pt x="386" y="302"/>
                      <a:pt x="548" y="1910"/>
                      <a:pt x="696" y="1909"/>
                    </a:cubicBezTo>
                    <a:cubicBezTo>
                      <a:pt x="844" y="1908"/>
                      <a:pt x="1008" y="145"/>
                      <a:pt x="1160" y="143"/>
                    </a:cubicBezTo>
                    <a:cubicBezTo>
                      <a:pt x="1312" y="141"/>
                      <a:pt x="1463" y="1892"/>
                      <a:pt x="1609" y="1894"/>
                    </a:cubicBezTo>
                    <a:cubicBezTo>
                      <a:pt x="1755" y="1896"/>
                      <a:pt x="1919" y="301"/>
                      <a:pt x="2035" y="158"/>
                    </a:cubicBezTo>
                    <a:cubicBezTo>
                      <a:pt x="2151" y="15"/>
                      <a:pt x="2249" y="851"/>
                      <a:pt x="2305" y="1033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5179" name="Text Box 147"/>
            <p:cNvSpPr txBox="1">
              <a:spLocks noChangeArrowheads="1"/>
            </p:cNvSpPr>
            <p:nvPr/>
          </p:nvSpPr>
          <p:spPr bwMode="auto">
            <a:xfrm>
              <a:off x="456198" y="6120426"/>
              <a:ext cx="813020" cy="300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algn="r" eaLnBrk="1" fontAlgn="base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000" b="1" smtClean="0">
                  <a:latin typeface="굴림" pitchFamily="50" charset="-127"/>
                  <a:ea typeface="굴림" pitchFamily="50" charset="-127"/>
                </a:rPr>
                <a:t>CH1 2.00V</a:t>
              </a:r>
            </a:p>
          </p:txBody>
        </p:sp>
        <p:sp>
          <p:nvSpPr>
            <p:cNvPr id="5180" name="Text Box 148"/>
            <p:cNvSpPr txBox="1">
              <a:spLocks noChangeArrowheads="1"/>
            </p:cNvSpPr>
            <p:nvPr/>
          </p:nvSpPr>
          <p:spPr bwMode="auto">
            <a:xfrm>
              <a:off x="1520431" y="6144794"/>
              <a:ext cx="756915" cy="300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algn="r" eaLnBrk="1" fontAlgn="base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000" b="1" smtClean="0">
                  <a:latin typeface="굴림" pitchFamily="50" charset="-127"/>
                  <a:ea typeface="굴림" pitchFamily="50" charset="-127"/>
                </a:rPr>
                <a:t>M 1000μs</a:t>
              </a:r>
            </a:p>
          </p:txBody>
        </p:sp>
      </p:grpSp>
      <p:grpSp>
        <p:nvGrpSpPr>
          <p:cNvPr id="5127" name="그룹 1"/>
          <p:cNvGrpSpPr>
            <a:grpSpLocks/>
          </p:cNvGrpSpPr>
          <p:nvPr/>
        </p:nvGrpSpPr>
        <p:grpSpPr bwMode="auto">
          <a:xfrm>
            <a:off x="1431925" y="2310915"/>
            <a:ext cx="1104900" cy="834599"/>
            <a:chOff x="1412117" y="2216696"/>
            <a:chExt cx="1701442" cy="1435973"/>
          </a:xfrm>
        </p:grpSpPr>
        <p:sp>
          <p:nvSpPr>
            <p:cNvPr id="5155" name="Line 62"/>
            <p:cNvSpPr>
              <a:spLocks noChangeShapeType="1"/>
            </p:cNvSpPr>
            <p:nvPr/>
          </p:nvSpPr>
          <p:spPr bwMode="auto">
            <a:xfrm>
              <a:off x="2068984" y="2216696"/>
              <a:ext cx="0" cy="6667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56" name="Line 63"/>
            <p:cNvSpPr>
              <a:spLocks noChangeShapeType="1"/>
            </p:cNvSpPr>
            <p:nvPr/>
          </p:nvSpPr>
          <p:spPr bwMode="auto">
            <a:xfrm>
              <a:off x="2065809" y="2216696"/>
              <a:ext cx="91598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57" name="Line 64"/>
            <p:cNvSpPr>
              <a:spLocks noChangeShapeType="1"/>
            </p:cNvSpPr>
            <p:nvPr/>
          </p:nvSpPr>
          <p:spPr bwMode="auto">
            <a:xfrm>
              <a:off x="2991322" y="2216696"/>
              <a:ext cx="0" cy="2032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grpSp>
          <p:nvGrpSpPr>
            <p:cNvPr id="5158" name="Group 65"/>
            <p:cNvGrpSpPr>
              <a:grpSpLocks/>
            </p:cNvGrpSpPr>
            <p:nvPr/>
          </p:nvGrpSpPr>
          <p:grpSpPr bwMode="auto">
            <a:xfrm>
              <a:off x="2899247" y="2419896"/>
              <a:ext cx="184150" cy="254000"/>
              <a:chOff x="1488" y="1152"/>
              <a:chExt cx="192" cy="336"/>
            </a:xfrm>
          </p:grpSpPr>
          <p:sp>
            <p:nvSpPr>
              <p:cNvPr id="5171" name="Line 66"/>
              <p:cNvSpPr>
                <a:spLocks noChangeShapeType="1"/>
              </p:cNvSpPr>
              <p:nvPr/>
            </p:nvSpPr>
            <p:spPr bwMode="auto">
              <a:xfrm>
                <a:off x="1584" y="115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72" name="Line 67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73" name="Line 68"/>
              <p:cNvSpPr>
                <a:spLocks noChangeShapeType="1"/>
              </p:cNvSpPr>
              <p:nvPr/>
            </p:nvSpPr>
            <p:spPr bwMode="auto">
              <a:xfrm>
                <a:off x="1488" y="1248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74" name="Line 69"/>
              <p:cNvSpPr>
                <a:spLocks noChangeShapeType="1"/>
              </p:cNvSpPr>
              <p:nvPr/>
            </p:nvSpPr>
            <p:spPr bwMode="auto">
              <a:xfrm flipH="1">
                <a:off x="1488" y="1296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75" name="Line 70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76" name="Line 71"/>
              <p:cNvSpPr>
                <a:spLocks noChangeShapeType="1"/>
              </p:cNvSpPr>
              <p:nvPr/>
            </p:nvSpPr>
            <p:spPr bwMode="auto">
              <a:xfrm flipH="1">
                <a:off x="1488" y="1392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77" name="Line 72"/>
              <p:cNvSpPr>
                <a:spLocks noChangeShapeType="1"/>
              </p:cNvSpPr>
              <p:nvPr/>
            </p:nvSpPr>
            <p:spPr bwMode="auto">
              <a:xfrm>
                <a:off x="1488" y="144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5159" name="Line 73"/>
            <p:cNvSpPr>
              <a:spLocks noChangeShapeType="1"/>
            </p:cNvSpPr>
            <p:nvPr/>
          </p:nvSpPr>
          <p:spPr bwMode="auto">
            <a:xfrm>
              <a:off x="2991322" y="2673896"/>
              <a:ext cx="0" cy="4762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60" name="AutoShape 74"/>
            <p:cNvSpPr>
              <a:spLocks noChangeArrowheads="1"/>
            </p:cNvSpPr>
            <p:nvPr/>
          </p:nvSpPr>
          <p:spPr bwMode="auto">
            <a:xfrm flipV="1">
              <a:off x="2869084" y="3137446"/>
              <a:ext cx="244475" cy="101600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61" name="Line 75"/>
            <p:cNvSpPr>
              <a:spLocks noChangeShapeType="1"/>
            </p:cNvSpPr>
            <p:nvPr/>
          </p:nvSpPr>
          <p:spPr bwMode="auto">
            <a:xfrm flipV="1">
              <a:off x="2869084" y="3239046"/>
              <a:ext cx="24447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62" name="Line 76"/>
            <p:cNvSpPr>
              <a:spLocks noChangeShapeType="1"/>
            </p:cNvSpPr>
            <p:nvPr/>
          </p:nvSpPr>
          <p:spPr bwMode="auto">
            <a:xfrm>
              <a:off x="2075334" y="3588296"/>
              <a:ext cx="91598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63" name="Line 77"/>
            <p:cNvSpPr>
              <a:spLocks noChangeShapeType="1"/>
            </p:cNvSpPr>
            <p:nvPr/>
          </p:nvSpPr>
          <p:spPr bwMode="auto">
            <a:xfrm>
              <a:off x="2991322" y="3232696"/>
              <a:ext cx="0" cy="3556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64" name="Text Box 78"/>
            <p:cNvSpPr txBox="1">
              <a:spLocks noChangeArrowheads="1"/>
            </p:cNvSpPr>
            <p:nvPr/>
          </p:nvSpPr>
          <p:spPr bwMode="auto">
            <a:xfrm>
              <a:off x="2520969" y="2356193"/>
              <a:ext cx="430009" cy="450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100" smtClean="0"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123" name="Text Box 79"/>
            <p:cNvSpPr txBox="1">
              <a:spLocks noChangeArrowheads="1"/>
            </p:cNvSpPr>
            <p:nvPr/>
          </p:nvSpPr>
          <p:spPr bwMode="auto">
            <a:xfrm>
              <a:off x="2409514" y="2937782"/>
              <a:ext cx="605269" cy="714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1050" dirty="0">
                  <a:latin typeface="Times New Roman" pitchFamily="18" charset="0"/>
                  <a:ea typeface="돋움" pitchFamily="50" charset="-127"/>
                </a:rPr>
                <a:t>  D</a:t>
              </a:r>
            </a:p>
            <a:p>
              <a:pPr fontAlgn="base" latinLnBrk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1050" dirty="0">
                  <a:latin typeface="Times New Roman" pitchFamily="18" charset="0"/>
                  <a:ea typeface="돋움" pitchFamily="50" charset="-127"/>
                </a:rPr>
                <a:t>(</a:t>
              </a:r>
              <a:r>
                <a:rPr kumimoji="1" lang="en-US" altLang="ko-KR" sz="800" dirty="0" err="1">
                  <a:latin typeface="Times New Roman" pitchFamily="18" charset="0"/>
                  <a:ea typeface="돋움" pitchFamily="50" charset="-127"/>
                </a:rPr>
                <a:t>Ge</a:t>
              </a:r>
              <a:r>
                <a:rPr kumimoji="1" lang="en-US" altLang="ko-KR" sz="1050" dirty="0">
                  <a:latin typeface="Times New Roman" pitchFamily="18" charset="0"/>
                  <a:ea typeface="돋움" pitchFamily="50" charset="-127"/>
                </a:rPr>
                <a:t>)</a:t>
              </a:r>
            </a:p>
          </p:txBody>
        </p:sp>
        <p:sp>
          <p:nvSpPr>
            <p:cNvPr id="5166" name="Line 80"/>
            <p:cNvSpPr>
              <a:spLocks noChangeShapeType="1"/>
            </p:cNvSpPr>
            <p:nvPr/>
          </p:nvSpPr>
          <p:spPr bwMode="auto">
            <a:xfrm flipV="1">
              <a:off x="2068984" y="2912020"/>
              <a:ext cx="0" cy="67627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grpSp>
          <p:nvGrpSpPr>
            <p:cNvPr id="5167" name="Group 81"/>
            <p:cNvGrpSpPr>
              <a:grpSpLocks/>
            </p:cNvGrpSpPr>
            <p:nvPr/>
          </p:nvGrpSpPr>
          <p:grpSpPr bwMode="auto">
            <a:xfrm flipV="1">
              <a:off x="1951509" y="2873921"/>
              <a:ext cx="238125" cy="47625"/>
              <a:chOff x="636" y="3360"/>
              <a:chExt cx="150" cy="30"/>
            </a:xfrm>
          </p:grpSpPr>
          <p:sp>
            <p:nvSpPr>
              <p:cNvPr id="5169" name="Line 82"/>
              <p:cNvSpPr>
                <a:spLocks noChangeShapeType="1"/>
              </p:cNvSpPr>
              <p:nvPr/>
            </p:nvSpPr>
            <p:spPr bwMode="auto">
              <a:xfrm>
                <a:off x="636" y="3360"/>
                <a:ext cx="150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70" name="Line 83"/>
              <p:cNvSpPr>
                <a:spLocks noChangeShapeType="1"/>
              </p:cNvSpPr>
              <p:nvPr/>
            </p:nvSpPr>
            <p:spPr bwMode="auto">
              <a:xfrm>
                <a:off x="660" y="3390"/>
                <a:ext cx="9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126" name="Text Box 85"/>
            <p:cNvSpPr txBox="1">
              <a:spLocks noChangeArrowheads="1"/>
            </p:cNvSpPr>
            <p:nvPr/>
          </p:nvSpPr>
          <p:spPr bwMode="auto">
            <a:xfrm>
              <a:off x="1412117" y="2678088"/>
              <a:ext cx="676856" cy="436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1050" dirty="0">
                  <a:latin typeface="Times New Roman" pitchFamily="18" charset="0"/>
                  <a:ea typeface="돋움" pitchFamily="50" charset="-127"/>
                </a:rPr>
                <a:t>5[V]</a:t>
              </a:r>
            </a:p>
          </p:txBody>
        </p:sp>
      </p:grpSp>
      <p:grpSp>
        <p:nvGrpSpPr>
          <p:cNvPr id="5128" name="그룹 3"/>
          <p:cNvGrpSpPr>
            <a:grpSpLocks/>
          </p:cNvGrpSpPr>
          <p:nvPr/>
        </p:nvGrpSpPr>
        <p:grpSpPr bwMode="auto">
          <a:xfrm>
            <a:off x="1507183" y="3622022"/>
            <a:ext cx="1201737" cy="805962"/>
            <a:chOff x="1405633" y="3323681"/>
            <a:chExt cx="1200326" cy="874190"/>
          </a:xfrm>
        </p:grpSpPr>
        <p:sp>
          <p:nvSpPr>
            <p:cNvPr id="5130" name="Line 75"/>
            <p:cNvSpPr>
              <a:spLocks noChangeShapeType="1"/>
            </p:cNvSpPr>
            <p:nvPr/>
          </p:nvSpPr>
          <p:spPr bwMode="auto">
            <a:xfrm>
              <a:off x="1854814" y="3323681"/>
              <a:ext cx="0" cy="42495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31" name="Line 76"/>
            <p:cNvSpPr>
              <a:spLocks noChangeShapeType="1"/>
            </p:cNvSpPr>
            <p:nvPr/>
          </p:nvSpPr>
          <p:spPr bwMode="auto">
            <a:xfrm>
              <a:off x="1848402" y="3323681"/>
              <a:ext cx="61657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32" name="Line 77"/>
            <p:cNvSpPr>
              <a:spLocks noChangeShapeType="1"/>
            </p:cNvSpPr>
            <p:nvPr/>
          </p:nvSpPr>
          <p:spPr bwMode="auto">
            <a:xfrm>
              <a:off x="2471388" y="3323681"/>
              <a:ext cx="0" cy="12951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grpSp>
          <p:nvGrpSpPr>
            <p:cNvPr id="5133" name="Group 78"/>
            <p:cNvGrpSpPr>
              <a:grpSpLocks/>
            </p:cNvGrpSpPr>
            <p:nvPr/>
          </p:nvGrpSpPr>
          <p:grpSpPr bwMode="auto">
            <a:xfrm>
              <a:off x="2409410" y="3453191"/>
              <a:ext cx="123956" cy="161887"/>
              <a:chOff x="1488" y="1152"/>
              <a:chExt cx="192" cy="336"/>
            </a:xfrm>
          </p:grpSpPr>
          <p:sp>
            <p:nvSpPr>
              <p:cNvPr id="5148" name="Line 79"/>
              <p:cNvSpPr>
                <a:spLocks noChangeShapeType="1"/>
              </p:cNvSpPr>
              <p:nvPr/>
            </p:nvSpPr>
            <p:spPr bwMode="auto">
              <a:xfrm>
                <a:off x="1584" y="115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49" name="Line 80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50" name="Line 81"/>
              <p:cNvSpPr>
                <a:spLocks noChangeShapeType="1"/>
              </p:cNvSpPr>
              <p:nvPr/>
            </p:nvSpPr>
            <p:spPr bwMode="auto">
              <a:xfrm>
                <a:off x="1488" y="1248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51" name="Line 82"/>
              <p:cNvSpPr>
                <a:spLocks noChangeShapeType="1"/>
              </p:cNvSpPr>
              <p:nvPr/>
            </p:nvSpPr>
            <p:spPr bwMode="auto">
              <a:xfrm flipH="1">
                <a:off x="1488" y="1296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52" name="Line 83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53" name="Line 84"/>
              <p:cNvSpPr>
                <a:spLocks noChangeShapeType="1"/>
              </p:cNvSpPr>
              <p:nvPr/>
            </p:nvSpPr>
            <p:spPr bwMode="auto">
              <a:xfrm flipH="1">
                <a:off x="1488" y="1392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5154" name="Line 85"/>
              <p:cNvSpPr>
                <a:spLocks noChangeShapeType="1"/>
              </p:cNvSpPr>
              <p:nvPr/>
            </p:nvSpPr>
            <p:spPr bwMode="auto">
              <a:xfrm>
                <a:off x="1488" y="144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 latinLnBrk="1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900" smtClean="0"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5134" name="Line 86"/>
            <p:cNvSpPr>
              <a:spLocks noChangeShapeType="1"/>
            </p:cNvSpPr>
            <p:nvPr/>
          </p:nvSpPr>
          <p:spPr bwMode="auto">
            <a:xfrm>
              <a:off x="2471388" y="3615078"/>
              <a:ext cx="0" cy="27925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35" name="AutoShape 87"/>
            <p:cNvSpPr>
              <a:spLocks noChangeArrowheads="1"/>
            </p:cNvSpPr>
            <p:nvPr/>
          </p:nvSpPr>
          <p:spPr bwMode="auto">
            <a:xfrm>
              <a:off x="2389107" y="3894333"/>
              <a:ext cx="164563" cy="80944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36" name="Line 88"/>
            <p:cNvSpPr>
              <a:spLocks noChangeShapeType="1"/>
            </p:cNvSpPr>
            <p:nvPr/>
          </p:nvSpPr>
          <p:spPr bwMode="auto">
            <a:xfrm>
              <a:off x="2389107" y="3975276"/>
              <a:ext cx="164563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37" name="Line 89"/>
            <p:cNvSpPr>
              <a:spLocks noChangeShapeType="1"/>
            </p:cNvSpPr>
            <p:nvPr/>
          </p:nvSpPr>
          <p:spPr bwMode="auto">
            <a:xfrm>
              <a:off x="1854814" y="4197871"/>
              <a:ext cx="61657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38" name="Line 90"/>
            <p:cNvSpPr>
              <a:spLocks noChangeShapeType="1"/>
            </p:cNvSpPr>
            <p:nvPr/>
          </p:nvSpPr>
          <p:spPr bwMode="auto">
            <a:xfrm>
              <a:off x="2471388" y="3971229"/>
              <a:ext cx="0" cy="22664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39" name="Text Box 91"/>
            <p:cNvSpPr txBox="1">
              <a:spLocks noChangeArrowheads="1"/>
            </p:cNvSpPr>
            <p:nvPr/>
          </p:nvSpPr>
          <p:spPr bwMode="auto">
            <a:xfrm>
              <a:off x="2120373" y="3385491"/>
              <a:ext cx="304534" cy="333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 smtClean="0"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5140" name="Line 92"/>
            <p:cNvSpPr>
              <a:spLocks noChangeShapeType="1"/>
            </p:cNvSpPr>
            <p:nvPr/>
          </p:nvSpPr>
          <p:spPr bwMode="auto">
            <a:xfrm flipV="1">
              <a:off x="1854814" y="3778988"/>
              <a:ext cx="0" cy="41888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41" name="Line 93"/>
            <p:cNvSpPr>
              <a:spLocks noChangeShapeType="1"/>
            </p:cNvSpPr>
            <p:nvPr/>
          </p:nvSpPr>
          <p:spPr bwMode="auto">
            <a:xfrm>
              <a:off x="1775738" y="3744587"/>
              <a:ext cx="16028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42" name="Line 94"/>
            <p:cNvSpPr>
              <a:spLocks noChangeShapeType="1"/>
            </p:cNvSpPr>
            <p:nvPr/>
          </p:nvSpPr>
          <p:spPr bwMode="auto">
            <a:xfrm>
              <a:off x="1801384" y="3774941"/>
              <a:ext cx="102584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43" name="Line 96"/>
            <p:cNvSpPr>
              <a:spLocks noChangeShapeType="1"/>
            </p:cNvSpPr>
            <p:nvPr/>
          </p:nvSpPr>
          <p:spPr bwMode="auto">
            <a:xfrm>
              <a:off x="2386970" y="3894333"/>
              <a:ext cx="16670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44" name="Line 98"/>
            <p:cNvSpPr>
              <a:spLocks noChangeShapeType="1"/>
            </p:cNvSpPr>
            <p:nvPr/>
          </p:nvSpPr>
          <p:spPr bwMode="auto">
            <a:xfrm flipH="1" flipV="1">
              <a:off x="2329267" y="3845767"/>
              <a:ext cx="51292" cy="4856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145" name="Text Box 99"/>
            <p:cNvSpPr txBox="1">
              <a:spLocks noChangeArrowheads="1"/>
            </p:cNvSpPr>
            <p:nvPr/>
          </p:nvSpPr>
          <p:spPr bwMode="auto">
            <a:xfrm>
              <a:off x="2008690" y="3785059"/>
              <a:ext cx="488662" cy="4005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mtClean="0">
                  <a:latin typeface="Times New Roman" pitchFamily="18" charset="0"/>
                </a:rPr>
                <a:t>  ZD</a:t>
              </a:r>
            </a:p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mtClean="0">
                  <a:latin typeface="Times New Roman" pitchFamily="18" charset="0"/>
                </a:rPr>
                <a:t>(9.1V)</a:t>
              </a:r>
            </a:p>
          </p:txBody>
        </p:sp>
        <p:sp>
          <p:nvSpPr>
            <p:cNvPr id="5146" name="Text Box 100"/>
            <p:cNvSpPr txBox="1">
              <a:spLocks noChangeArrowheads="1"/>
            </p:cNvSpPr>
            <p:nvPr/>
          </p:nvSpPr>
          <p:spPr bwMode="auto">
            <a:xfrm>
              <a:off x="1405633" y="3632212"/>
              <a:ext cx="459841" cy="2503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</a:defRPr>
              </a:lvl9pPr>
            </a:lstStyle>
            <a:p>
              <a:pPr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mtClean="0">
                  <a:latin typeface="Times New Roman" pitchFamily="18" charset="0"/>
                </a:rPr>
                <a:t>12[V]</a:t>
              </a:r>
            </a:p>
          </p:txBody>
        </p:sp>
        <p:sp>
          <p:nvSpPr>
            <p:cNvPr id="5147" name="Line 98"/>
            <p:cNvSpPr>
              <a:spLocks noChangeShapeType="1"/>
            </p:cNvSpPr>
            <p:nvPr/>
          </p:nvSpPr>
          <p:spPr bwMode="auto">
            <a:xfrm flipH="1" flipV="1">
              <a:off x="2554667" y="3891928"/>
              <a:ext cx="51292" cy="4566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900" smtClean="0">
                <a:latin typeface="돋움" pitchFamily="50" charset="-127"/>
                <a:ea typeface="돋움" pitchFamily="50" charset="-127"/>
              </a:endParaRPr>
            </a:p>
          </p:txBody>
        </p:sp>
      </p:grpSp>
      <p:pic>
        <p:nvPicPr>
          <p:cNvPr id="512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708" y="723903"/>
            <a:ext cx="3011636" cy="8209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2" name="Text Box 6"/>
          <p:cNvSpPr>
            <a:spLocks noChangeArrowheads="1"/>
          </p:cNvSpPr>
          <p:nvPr/>
        </p:nvSpPr>
        <p:spPr bwMode="auto">
          <a:xfrm>
            <a:off x="195263" y="211085"/>
            <a:ext cx="3449637" cy="3091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/>
          <a:lstStyle>
            <a:lvl1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eaLnBrk="0" hangingPunct="0"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9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SzPct val="100000"/>
              <a:defRPr/>
            </a:pPr>
            <a:r>
              <a:rPr lang="vi-VN" altLang="ko-K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[Đánh </a:t>
            </a:r>
            <a:r>
              <a:rPr lang="vi-VN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giá 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WS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7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</a:t>
            </a:r>
            <a:r>
              <a:rPr lang="vi-VN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– 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Điện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- Đ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iện</a:t>
            </a: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 tử</a:t>
            </a:r>
            <a:r>
              <a:rPr lang="vi-VN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]</a:t>
            </a:r>
            <a:endParaRPr lang="vi-VN" altLang="ko-KR" sz="1600" b="1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3196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WS12차_1회_051119">
  <a:themeElements>
    <a:clrScheme name="1_WS12차_1회_051119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WS12차_1회_051119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Pct val="100000"/>
          <a:buFontTx/>
          <a:buNone/>
          <a:tabLst/>
          <a:defRPr kumimoji="0" lang="ko-KR" altLang="ko-KR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anose="020B0600000101010101" pitchFamily="50" charset="-127"/>
            <a:ea typeface="돋움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Pct val="100000"/>
          <a:buFontTx/>
          <a:buNone/>
          <a:tabLst/>
          <a:defRPr kumimoji="0" lang="ko-KR" altLang="ko-KR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anose="020B0600000101010101" pitchFamily="50" charset="-127"/>
            <a:ea typeface="돋움" panose="020B0600000101010101" pitchFamily="50" charset="-127"/>
          </a:defRPr>
        </a:defPPr>
      </a:lstStyle>
    </a:lnDef>
  </a:objectDefaults>
  <a:extraClrSchemeLst>
    <a:extraClrScheme>
      <a:clrScheme name="1_WS12차_1회_051119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S12차_1회_051119">
  <a:themeElements>
    <a:clrScheme name="1_WS12차_1회_051119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WS12차_1회_051119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Pct val="100000"/>
          <a:buFontTx/>
          <a:buNone/>
          <a:tabLst/>
          <a:defRPr kumimoji="0" lang="ko-KR" altLang="ko-KR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anose="020B0600000101010101" pitchFamily="50" charset="-127"/>
            <a:ea typeface="돋움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Pct val="100000"/>
          <a:buFontTx/>
          <a:buNone/>
          <a:tabLst/>
          <a:defRPr kumimoji="0" lang="ko-KR" altLang="ko-KR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anose="020B0600000101010101" pitchFamily="50" charset="-127"/>
            <a:ea typeface="돋움" panose="020B0600000101010101" pitchFamily="50" charset="-127"/>
          </a:defRPr>
        </a:defPPr>
      </a:lstStyle>
    </a:lnDef>
  </a:objectDefaults>
  <a:extraClrSchemeLst>
    <a:extraClrScheme>
      <a:clrScheme name="1_WS12차_1회_051119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S12차_1회_051119">
  <a:themeElements>
    <a:clrScheme name="1_WS12차_1회_051119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WS12차_1회_051119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</a:objectDefaults>
  <a:extraClrSchemeLst>
    <a:extraClrScheme>
      <a:clrScheme name="1_WS12차_1회_051119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S12차_1회_051119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WS12차_1회_051119">
  <a:themeElements>
    <a:clrScheme name="1_WS12차_1회_051119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WS12차_1회_051119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</a:objectDefaults>
  <a:extraClrSchemeLst>
    <a:extraClrScheme>
      <a:clrScheme name="1_WS12차_1회_051119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S12차_1회_051119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6401</Words>
  <Application>Microsoft Office PowerPoint</Application>
  <PresentationFormat>On-screen Show (4:3)</PresentationFormat>
  <Paragraphs>1401</Paragraphs>
  <Slides>15</Slides>
  <Notes>15</Notes>
  <HiddenSlides>0</HiddenSlides>
  <MMClips>0</MMClips>
  <ScaleCrop>false</ScaleCrop>
  <HeadingPairs>
    <vt:vector size="6" baseType="variant"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Office Theme</vt:lpstr>
      <vt:lpstr>1_WS12차_1회_051119</vt:lpstr>
      <vt:lpstr>2_WS12차_1회_051119</vt:lpstr>
      <vt:lpstr>3_WS12차_1회_051119</vt:lpstr>
      <vt:lpstr>4_WS12차_1회_051119</vt:lpstr>
      <vt:lpstr>비트맵 이미지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LGDVH</dc:creator>
  <cp:lastModifiedBy>LGDVH</cp:lastModifiedBy>
  <cp:revision>25</cp:revision>
  <cp:lastPrinted>2021-08-21T04:29:30Z</cp:lastPrinted>
  <dcterms:created xsi:type="dcterms:W3CDTF">2021-08-21T01:23:41Z</dcterms:created>
  <dcterms:modified xsi:type="dcterms:W3CDTF">2022-03-24T07:44:43Z</dcterms:modified>
</cp:coreProperties>
</file>