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68"/>
  </p:notesMasterIdLst>
  <p:sldIdLst>
    <p:sldId id="280" r:id="rId4"/>
    <p:sldId id="281" r:id="rId5"/>
    <p:sldId id="282" r:id="rId6"/>
    <p:sldId id="283" r:id="rId7"/>
    <p:sldId id="260" r:id="rId8"/>
    <p:sldId id="261"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 id="341" r:id="rId67"/>
  </p:sldIdLst>
  <p:sldSz cx="6858000" cy="9906000" type="A4"/>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02" autoAdjust="0"/>
    <p:restoredTop sz="94660"/>
  </p:normalViewPr>
  <p:slideViewPr>
    <p:cSldViewPr>
      <p:cViewPr varScale="1">
        <p:scale>
          <a:sx n="81" d="100"/>
          <a:sy n="81" d="100"/>
        </p:scale>
        <p:origin x="2898" y="84"/>
      </p:cViewPr>
      <p:guideLst>
        <p:guide orient="horz" pos="3120"/>
        <p:guide pos="216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image" Target="../media/image12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image" Target="../media/image1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8F459F4F-D87C-4373-9D51-4A683C6D4DE9}" type="datetimeFigureOut">
              <a:rPr lang="ko-KR" altLang="en-US" smtClean="0"/>
              <a:t>2025-12-29</a:t>
            </a:fld>
            <a:endParaRPr lang="ko-KR" altLang="en-US"/>
          </a:p>
        </p:txBody>
      </p:sp>
      <p:sp>
        <p:nvSpPr>
          <p:cNvPr id="4" name="슬라이드 이미지 개체 틀 3"/>
          <p:cNvSpPr>
            <a:spLocks noGrp="1" noRot="1" noChangeAspect="1"/>
          </p:cNvSpPr>
          <p:nvPr>
            <p:ph type="sldImg" idx="2"/>
          </p:nvPr>
        </p:nvSpPr>
        <p:spPr>
          <a:xfrm>
            <a:off x="2111375" y="744538"/>
            <a:ext cx="25749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87EBFD4-6F2A-453D-A87C-FDB992512203}" type="slidenum">
              <a:rPr lang="ko-KR" altLang="en-US" smtClean="0"/>
              <a:t>‹#›</a:t>
            </a:fld>
            <a:endParaRPr lang="ko-KR" altLang="en-US"/>
          </a:p>
        </p:txBody>
      </p:sp>
    </p:spTree>
    <p:extLst>
      <p:ext uri="{BB962C8B-B14F-4D97-AF65-F5344CB8AC3E}">
        <p14:creationId xmlns:p14="http://schemas.microsoft.com/office/powerpoint/2010/main" val="14834605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1</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2</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3</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4</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5</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6</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7</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8</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9</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10</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11</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12</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13</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14</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15</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16</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17</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18</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19</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20</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21</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22</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23</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24</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25</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26</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27</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28</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29</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30</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31</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32</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33</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34</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35</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36</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37</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38</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39</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40</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41</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42</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43</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44</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45</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46</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47</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48</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49</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50</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51</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52</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53</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54</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55</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56</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57</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58</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59</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60</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61</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62</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63</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64</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7282"/>
            <a:ext cx="5829300" cy="2123369"/>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153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16717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03753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6365523"/>
            <a:ext cx="5829300" cy="1967442"/>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735" y="4198586"/>
            <a:ext cx="5829300" cy="21669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2087875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342900" y="2311401"/>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486150" y="2311401"/>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25921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385"/>
            <a:ext cx="303014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486"/>
            <a:ext cx="303014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3769" y="2217385"/>
            <a:ext cx="303133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3769" y="3141486"/>
            <a:ext cx="303133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411026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840847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384278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4405"/>
            <a:ext cx="2256235" cy="1678517"/>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7" y="394406"/>
            <a:ext cx="3833813" cy="845449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2923"/>
            <a:ext cx="2256235" cy="67759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17284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934200"/>
            <a:ext cx="4114800" cy="818622"/>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216" y="885119"/>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344216" y="7752822"/>
            <a:ext cx="4114800" cy="11625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70479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928543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972050" y="396700"/>
            <a:ext cx="1543050" cy="8452203"/>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342900" y="396700"/>
            <a:ext cx="4514850" cy="8452203"/>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049846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939015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609846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1577303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99347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242324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7232588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744983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125261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717142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833651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2305593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29320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0947020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47331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27062631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8100975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4080152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5825794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177080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7782657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4032370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4122912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311401"/>
            <a:ext cx="6172200" cy="6537502"/>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342900" y="9181395"/>
            <a:ext cx="1600200" cy="527403"/>
          </a:xfrm>
          <a:prstGeom prst="rect">
            <a:avLst/>
          </a:prstGeom>
        </p:spPr>
        <p:txBody>
          <a:bodyPr vert="horz" lIns="91440" tIns="45720" rIns="91440" bIns="45720" rtlCol="0" anchor="ctr"/>
          <a:lstStyle>
            <a:lvl1pPr algn="l">
              <a:defRPr sz="1200">
                <a:solidFill>
                  <a:schemeClr val="tx1">
                    <a:tint val="75000"/>
                  </a:schemeClr>
                </a:solidFill>
              </a:defRPr>
            </a:lvl1pPr>
          </a:lstStyle>
          <a:p>
            <a:fld id="{B95CB5C2-294B-4C29-B16A-99572685E4B0}" type="datetimeFigureOut">
              <a:rPr lang="ko-KR" altLang="en-US" smtClean="0"/>
              <a:t>2025-12-29</a:t>
            </a:fld>
            <a:endParaRPr lang="ko-KR" altLang="en-US"/>
          </a:p>
        </p:txBody>
      </p:sp>
      <p:sp>
        <p:nvSpPr>
          <p:cNvPr id="5" name="바닥글 개체 틀 4"/>
          <p:cNvSpPr>
            <a:spLocks noGrp="1"/>
          </p:cNvSpPr>
          <p:nvPr>
            <p:ph type="ftr" sz="quarter" idx="3"/>
          </p:nvPr>
        </p:nvSpPr>
        <p:spPr>
          <a:xfrm>
            <a:off x="2343150" y="9181395"/>
            <a:ext cx="2171700" cy="52740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4914900" y="9181395"/>
            <a:ext cx="1600200" cy="527403"/>
          </a:xfrm>
          <a:prstGeom prst="rect">
            <a:avLst/>
          </a:prstGeom>
        </p:spPr>
        <p:txBody>
          <a:bodyPr vert="horz" lIns="91440" tIns="45720" rIns="91440" bIns="45720" rtlCol="0" anchor="ctr"/>
          <a:lstStyle>
            <a:lvl1pPr algn="r">
              <a:defRPr sz="1200">
                <a:solidFill>
                  <a:schemeClr val="tx1">
                    <a:tint val="75000"/>
                  </a:schemeClr>
                </a:solidFill>
              </a:defRPr>
            </a:lvl1p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245486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atin typeface="+mn-lt"/>
                <a:ea typeface="+mn-ea"/>
              </a:defRPr>
            </a:lvl1pPr>
          </a:lstStyle>
          <a:p>
            <a:pPr fontAlgn="base">
              <a:spcBef>
                <a:spcPct val="0"/>
              </a:spcBef>
              <a:spcAft>
                <a:spcPct val="0"/>
              </a:spcAft>
              <a:defRPr/>
            </a:pPr>
            <a:endParaRPr kumimoji="1" lang="en-US" altLang="ko-KR">
              <a:solidFill>
                <a:srgbClr val="000000"/>
              </a:solidFill>
            </a:endParaRP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atin typeface="+mn-lt"/>
                <a:ea typeface="+mn-ea"/>
              </a:defRPr>
            </a:lvl1pPr>
          </a:lstStyle>
          <a:p>
            <a:pPr fontAlgn="base">
              <a:spcBef>
                <a:spcPct val="0"/>
              </a:spcBef>
              <a:spcAft>
                <a:spcPct val="0"/>
              </a:spcAft>
              <a:defRPr/>
            </a:pPr>
            <a:endParaRPr kumimoji="1" lang="en-US" altLang="ko-KR">
              <a:solidFill>
                <a:srgbClr val="000000"/>
              </a:solidFill>
            </a:endParaRPr>
          </a:p>
        </p:txBody>
      </p:sp>
    </p:spTree>
    <p:extLst>
      <p:ext uri="{BB962C8B-B14F-4D97-AF65-F5344CB8AC3E}">
        <p14:creationId xmlns:p14="http://schemas.microsoft.com/office/powerpoint/2010/main" val="1086638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2279486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9.xml"/><Relationship Id="rId5" Type="http://schemas.openxmlformats.org/officeDocument/2006/relationships/image" Target="../media/image19.JP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emf"/><Relationship Id="rId7" Type="http://schemas.openxmlformats.org/officeDocument/2006/relationships/image" Target="../media/image24.wmf"/><Relationship Id="rId2" Type="http://schemas.openxmlformats.org/officeDocument/2006/relationships/notesSlide" Target="../notesSlides/notesSlide10.xml"/><Relationship Id="rId1" Type="http://schemas.openxmlformats.org/officeDocument/2006/relationships/slideLayout" Target="../slideLayouts/slideLayout29.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9.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9.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6.xml"/><Relationship Id="rId1" Type="http://schemas.openxmlformats.org/officeDocument/2006/relationships/slideLayout" Target="../slideLayouts/slideLayout29.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image" Target="../media/image54.jpg"/><Relationship Id="rId5" Type="http://schemas.openxmlformats.org/officeDocument/2006/relationships/image" Target="../media/image53.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9.png"/><Relationship Id="rId7"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9.xml"/><Relationship Id="rId6" Type="http://schemas.openxmlformats.org/officeDocument/2006/relationships/image" Target="../media/image36.png"/><Relationship Id="rId5" Type="http://schemas.openxmlformats.org/officeDocument/2006/relationships/image" Target="../media/image61.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emf"/><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emf"/><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image" Target="../media/image66.png"/><Relationship Id="rId11" Type="http://schemas.openxmlformats.org/officeDocument/2006/relationships/image" Target="../media/image71.emf"/><Relationship Id="rId5" Type="http://schemas.openxmlformats.org/officeDocument/2006/relationships/image" Target="../media/image65.png"/><Relationship Id="rId10" Type="http://schemas.openxmlformats.org/officeDocument/2006/relationships/image" Target="../media/image70.emf"/><Relationship Id="rId4" Type="http://schemas.openxmlformats.org/officeDocument/2006/relationships/image" Target="../media/image64.png"/><Relationship Id="rId9"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3.xml"/><Relationship Id="rId1" Type="http://schemas.openxmlformats.org/officeDocument/2006/relationships/slideLayout" Target="../slideLayouts/slideLayout29.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jpeg"/><Relationship Id="rId2" Type="http://schemas.openxmlformats.org/officeDocument/2006/relationships/notesSlide" Target="../notesSlides/notesSlide24.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5.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8.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29.xml"/><Relationship Id="rId16" Type="http://schemas.openxmlformats.org/officeDocument/2006/relationships/image" Target="../media/image106.png"/><Relationship Id="rId1" Type="http://schemas.openxmlformats.org/officeDocument/2006/relationships/slideLayout" Target="../slideLayouts/slideLayout29.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3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31.xml"/><Relationship Id="rId1" Type="http://schemas.openxmlformats.org/officeDocument/2006/relationships/slideLayout" Target="../slideLayouts/slideLayout29.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32.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32.xml"/><Relationship Id="rId1" Type="http://schemas.openxmlformats.org/officeDocument/2006/relationships/slideLayout" Target="../slideLayouts/slideLayout29.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9.xml"/><Relationship Id="rId5" Type="http://schemas.openxmlformats.org/officeDocument/2006/relationships/image" Target="../media/image122.png"/><Relationship Id="rId4" Type="http://schemas.openxmlformats.org/officeDocument/2006/relationships/image" Target="../media/image121.JP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4.xml"/><Relationship Id="rId7" Type="http://schemas.openxmlformats.org/officeDocument/2006/relationships/image" Target="../media/image124.png"/><Relationship Id="rId2" Type="http://schemas.openxmlformats.org/officeDocument/2006/relationships/slideLayout" Target="../slideLayouts/slideLayout2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23.png"/><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5.xml"/><Relationship Id="rId1" Type="http://schemas.openxmlformats.org/officeDocument/2006/relationships/slideLayout" Target="../slideLayouts/slideLayout29.xml"/><Relationship Id="rId4" Type="http://schemas.openxmlformats.org/officeDocument/2006/relationships/image" Target="../media/image126.png"/></Relationships>
</file>

<file path=ppt/slides/_rels/slide3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6.xml"/><Relationship Id="rId1" Type="http://schemas.openxmlformats.org/officeDocument/2006/relationships/slideLayout" Target="../slideLayouts/slideLayout29.xml"/><Relationship Id="rId4" Type="http://schemas.openxmlformats.org/officeDocument/2006/relationships/image" Target="../media/image128.png"/></Relationships>
</file>

<file path=ppt/slides/_rels/slide37.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61.png"/><Relationship Id="rId7"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29.xml"/><Relationship Id="rId6" Type="http://schemas.openxmlformats.org/officeDocument/2006/relationships/image" Target="../media/image62.png"/><Relationship Id="rId5" Type="http://schemas.openxmlformats.org/officeDocument/2006/relationships/image" Target="../media/image35.png"/><Relationship Id="rId4" Type="http://schemas.openxmlformats.org/officeDocument/2006/relationships/image" Target="../media/image36.png"/><Relationship Id="rId9" Type="http://schemas.openxmlformats.org/officeDocument/2006/relationships/image" Target="../media/image130.png"/></Relationships>
</file>

<file path=ppt/slides/_rels/slide38.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jpeg"/><Relationship Id="rId2" Type="http://schemas.openxmlformats.org/officeDocument/2006/relationships/notesSlide" Target="../notesSlides/notesSlide39.xml"/><Relationship Id="rId1" Type="http://schemas.openxmlformats.org/officeDocument/2006/relationships/slideLayout" Target="../slideLayouts/slideLayout29.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0.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1.xml"/><Relationship Id="rId1" Type="http://schemas.openxmlformats.org/officeDocument/2006/relationships/slideLayout" Target="../slideLayouts/slideLayout29.xml"/><Relationship Id="rId5" Type="http://schemas.openxmlformats.org/officeDocument/2006/relationships/image" Target="../media/image139.png"/><Relationship Id="rId4" Type="http://schemas.openxmlformats.org/officeDocument/2006/relationships/image" Target="../media/image138.png"/></Relationships>
</file>

<file path=ppt/slides/_rels/slide4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29.xml"/><Relationship Id="rId5" Type="http://schemas.openxmlformats.org/officeDocument/2006/relationships/image" Target="../media/image143.png"/><Relationship Id="rId4" Type="http://schemas.openxmlformats.org/officeDocument/2006/relationships/image" Target="../media/image142.png"/></Relationships>
</file>

<file path=ppt/slides/_rels/slide4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4.xml"/><Relationship Id="rId1" Type="http://schemas.openxmlformats.org/officeDocument/2006/relationships/slideLayout" Target="../slideLayouts/slideLayout29.xml"/><Relationship Id="rId4" Type="http://schemas.openxmlformats.org/officeDocument/2006/relationships/image" Target="../media/image145.png"/></Relationships>
</file>

<file path=ppt/slides/_rels/slide4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46.png"/><Relationship Id="rId7"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9.xml"/><Relationship Id="rId6" Type="http://schemas.openxmlformats.org/officeDocument/2006/relationships/image" Target="../media/image149.png"/><Relationship Id="rId11" Type="http://schemas.openxmlformats.org/officeDocument/2006/relationships/image" Target="../media/image129.png"/><Relationship Id="rId5" Type="http://schemas.openxmlformats.org/officeDocument/2006/relationships/image" Target="../media/image148.png"/><Relationship Id="rId10" Type="http://schemas.openxmlformats.org/officeDocument/2006/relationships/image" Target="../media/image150.png"/><Relationship Id="rId4" Type="http://schemas.openxmlformats.org/officeDocument/2006/relationships/image" Target="../media/image147.png"/><Relationship Id="rId9"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6.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52.png"/><Relationship Id="rId7" Type="http://schemas.openxmlformats.org/officeDocument/2006/relationships/image" Target="../media/image156.png"/><Relationship Id="rId2" Type="http://schemas.openxmlformats.org/officeDocument/2006/relationships/notesSlide" Target="../notesSlides/notesSlide47.xml"/><Relationship Id="rId1" Type="http://schemas.openxmlformats.org/officeDocument/2006/relationships/slideLayout" Target="../slideLayouts/slideLayout29.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9" Type="http://schemas.openxmlformats.org/officeDocument/2006/relationships/image" Target="../media/image158.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8.xml"/><Relationship Id="rId1" Type="http://schemas.openxmlformats.org/officeDocument/2006/relationships/slideLayout" Target="../slideLayouts/slideLayout29.xml"/><Relationship Id="rId4" Type="http://schemas.openxmlformats.org/officeDocument/2006/relationships/image" Target="../media/image159.pn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29.xml"/><Relationship Id="rId5" Type="http://schemas.openxmlformats.org/officeDocument/2006/relationships/image" Target="../media/image122.png"/><Relationship Id="rId4" Type="http://schemas.openxmlformats.org/officeDocument/2006/relationships/image" Target="../media/image121.JP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50.xml"/><Relationship Id="rId7" Type="http://schemas.openxmlformats.org/officeDocument/2006/relationships/image" Target="../media/image124.png"/><Relationship Id="rId2" Type="http://schemas.openxmlformats.org/officeDocument/2006/relationships/slideLayout" Target="../slideLayouts/slideLayout29.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23.png"/><Relationship Id="rId4" Type="http://schemas.openxmlformats.org/officeDocument/2006/relationships/oleObject" Target="../embeddings/oleObject4.bin"/></Relationships>
</file>

<file path=ppt/slides/_rels/slide5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1.xml"/><Relationship Id="rId1" Type="http://schemas.openxmlformats.org/officeDocument/2006/relationships/slideLayout" Target="../slideLayouts/slideLayout29.xml"/><Relationship Id="rId4" Type="http://schemas.openxmlformats.org/officeDocument/2006/relationships/image" Target="../media/image126.png"/></Relationships>
</file>

<file path=ppt/slides/_rels/slide5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2.xml"/><Relationship Id="rId1" Type="http://schemas.openxmlformats.org/officeDocument/2006/relationships/slideLayout" Target="../slideLayouts/slideLayout29.xml"/><Relationship Id="rId4" Type="http://schemas.openxmlformats.org/officeDocument/2006/relationships/image" Target="../media/image128.png"/></Relationships>
</file>

<file path=ppt/slides/_rels/slide53.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61.png"/><Relationship Id="rId7" Type="http://schemas.openxmlformats.org/officeDocument/2006/relationships/image" Target="../media/image94.png"/><Relationship Id="rId2" Type="http://schemas.openxmlformats.org/officeDocument/2006/relationships/notesSlide" Target="../notesSlides/notesSlide53.xml"/><Relationship Id="rId1" Type="http://schemas.openxmlformats.org/officeDocument/2006/relationships/slideLayout" Target="../slideLayouts/slideLayout29.xml"/><Relationship Id="rId6" Type="http://schemas.openxmlformats.org/officeDocument/2006/relationships/image" Target="../media/image62.png"/><Relationship Id="rId5" Type="http://schemas.openxmlformats.org/officeDocument/2006/relationships/image" Target="../media/image35.png"/><Relationship Id="rId4" Type="http://schemas.openxmlformats.org/officeDocument/2006/relationships/image" Target="../media/image36.png"/><Relationship Id="rId9" Type="http://schemas.openxmlformats.org/officeDocument/2006/relationships/image" Target="../media/image130.png"/></Relationships>
</file>

<file path=ppt/slides/_rels/slide54.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54.xml"/><Relationship Id="rId1" Type="http://schemas.openxmlformats.org/officeDocument/2006/relationships/slideLayout" Target="../slideLayouts/slideLayout29.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jpeg"/><Relationship Id="rId2" Type="http://schemas.openxmlformats.org/officeDocument/2006/relationships/notesSlide" Target="../notesSlides/notesSlide55.xml"/><Relationship Id="rId1" Type="http://schemas.openxmlformats.org/officeDocument/2006/relationships/slideLayout" Target="../slideLayouts/slideLayout29.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6.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8.xml"/><Relationship Id="rId1" Type="http://schemas.openxmlformats.org/officeDocument/2006/relationships/slideLayout" Target="../slideLayouts/slideLayout2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0.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61.xml"/><Relationship Id="rId16" Type="http://schemas.openxmlformats.org/officeDocument/2006/relationships/image" Target="../media/image106.png"/><Relationship Id="rId1" Type="http://schemas.openxmlformats.org/officeDocument/2006/relationships/slideLayout" Target="../slideLayouts/slideLayout29.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62.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70.emf"/><Relationship Id="rId7" Type="http://schemas.openxmlformats.org/officeDocument/2006/relationships/image" Target="../media/image69.png"/><Relationship Id="rId2" Type="http://schemas.openxmlformats.org/officeDocument/2006/relationships/notesSlide" Target="../notesSlides/notesSlide62.xml"/><Relationship Id="rId1" Type="http://schemas.openxmlformats.org/officeDocument/2006/relationships/slideLayout" Target="../slideLayouts/slideLayout29.xml"/><Relationship Id="rId6" Type="http://schemas.openxmlformats.org/officeDocument/2006/relationships/image" Target="../media/image73.emf"/><Relationship Id="rId5" Type="http://schemas.openxmlformats.org/officeDocument/2006/relationships/image" Target="../media/image72.emf"/><Relationship Id="rId4" Type="http://schemas.openxmlformats.org/officeDocument/2006/relationships/image" Target="../media/image71.emf"/></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3.xml"/><Relationship Id="rId1" Type="http://schemas.openxmlformats.org/officeDocument/2006/relationships/slideLayout" Target="../slideLayouts/slideLayout29.xml"/><Relationship Id="rId4" Type="http://schemas.openxmlformats.org/officeDocument/2006/relationships/image" Target="../media/image110.png"/></Relationships>
</file>

<file path=ppt/slides/_rels/slide64.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64.xml"/><Relationship Id="rId1" Type="http://schemas.openxmlformats.org/officeDocument/2006/relationships/slideLayout" Target="../slideLayouts/slideLayout29.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3445715"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mất đi 1 phần pha của dòng điện xoay chiều là loại nào sau </a:t>
            </a:r>
            <a:r>
              <a:rPr lang="vi-VN" altLang="ko-KR" sz="950" smtClean="0">
                <a:latin typeface="Times New Roman" pitchFamily="18" charset="0"/>
                <a:ea typeface="LG Smart_H Regular" panose="020B0600000101010101" pitchFamily="34" charset="-127"/>
                <a:cs typeface="Times New Roman" pitchFamily="18" charset="0"/>
              </a:rPr>
              <a:t>đây</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Nhiễu </a:t>
            </a:r>
            <a:r>
              <a:rPr lang="en-US" altLang="ko-KR" sz="950" smtClean="0">
                <a:latin typeface="Times New Roman" pitchFamily="18" charset="0"/>
                <a:ea typeface="LG Smart_H Regular" panose="020B0600000101010101" pitchFamily="34" charset="-127"/>
                <a:cs typeface="Times New Roman" pitchFamily="18" charset="0"/>
              </a:rPr>
              <a:t>sét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Nhiễu chuyển mạch(switching noise)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3416474" y="4448944"/>
            <a:ext cx="3227834"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8</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Quấn dây điện vào thước kẹp và nó có chức năng như một loại máy biến áp. Dòng điện chạy qua vào trong lõi ấy thì nó biến thành cuộn cảm thứ nhất và cuộn cảm thứ 2, biểu thị lên màn hình theo tỷ lệ đó. Là loại đồng hồ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Mega </a:t>
            </a:r>
            <a:r>
              <a:rPr lang="vi-VN" altLang="ko-KR" sz="950" smtClean="0">
                <a:latin typeface="Times New Roman" pitchFamily="18" charset="0"/>
                <a:ea typeface="LG Smart_H Regular" panose="020B0600000101010101" pitchFamily="34" charset="-127"/>
                <a:cs typeface="Times New Roman" pitchFamily="18" charset="0"/>
              </a:rPr>
              <a:t>Tester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Thước kẹp </a:t>
            </a:r>
            <a:r>
              <a:rPr lang="vi-VN" altLang="ko-KR" sz="950" smtClean="0">
                <a:latin typeface="Times New Roman" pitchFamily="18" charset="0"/>
                <a:ea typeface="LG Smart_H Regular" panose="020B0600000101010101" pitchFamily="34" charset="-127"/>
                <a:cs typeface="Times New Roman" pitchFamily="18" charset="0"/>
              </a:rPr>
              <a:t>mét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DVM (Digital Volts Meter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Thước đo mét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151249" y="5608799"/>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Trong những đặc tính sau,đâu không là đặc tính của Photo </a:t>
            </a:r>
            <a:r>
              <a:rPr lang="vi-VN" altLang="ko-KR" sz="950" smtClean="0">
                <a:latin typeface="Times New Roman" pitchFamily="18" charset="0"/>
                <a:ea typeface="LG Smart_H Regular" panose="020B0600000101010101" pitchFamily="34" charset="-127"/>
                <a:cs typeface="Times New Roman" pitchFamily="18" charset="0"/>
              </a:rPr>
              <a:t>Coupler?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loại hạng nhẹ và nhỏ nên có thể tăng mật độ đóng gói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Sử dụng ánh sáng để truyền tín hiệu nên không tiếng </a:t>
            </a:r>
            <a:r>
              <a:rPr lang="vi-VN" altLang="ko-KR" sz="950" smtClean="0">
                <a:latin typeface="Times New Roman" pitchFamily="18" charset="0"/>
                <a:ea typeface="LG Smart_H Regular" panose="020B0600000101010101" pitchFamily="34" charset="-127"/>
                <a:cs typeface="Times New Roman" pitchFamily="18" charset="0"/>
              </a:rPr>
              <a:t>ồn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Giao diện với các phần tử logic dễ và tốc độ phản hồi </a:t>
            </a:r>
            <a:r>
              <a:rPr lang="vi-VN" altLang="ko-KR" sz="950" smtClean="0">
                <a:latin typeface="Times New Roman" pitchFamily="18" charset="0"/>
                <a:ea typeface="LG Smart_H Regular" panose="020B0600000101010101" pitchFamily="34" charset="-127"/>
                <a:cs typeface="Times New Roman" pitchFamily="18" charset="0"/>
              </a:rPr>
              <a:t>nhanh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Cấu tạo đơn giản nên có thể làm nhỏ đi</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Quang phổ của tia hồng ngoại nằm ở khoảng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2000-4000 (Å</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7500-9000 (Å</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6000-7000 (Å</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4000-5000 (Å)</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3448472" y="6804147"/>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Potential </a:t>
            </a:r>
            <a:r>
              <a:rPr lang="vi-VN" altLang="ko-KR" sz="950" smtClean="0">
                <a:latin typeface="Times New Roman" pitchFamily="18" charset="0"/>
                <a:ea typeface="LG Smart_H Regular" panose="020B0600000101010101" pitchFamily="34" charset="-127"/>
                <a:cs typeface="Times New Roman" pitchFamily="18" charset="0"/>
              </a:rPr>
              <a:t>difference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voltage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Dòng điện cung cấp năng lượng không đổi chiều và độ lớn theo thời gian là loại nào sau </a:t>
            </a:r>
            <a:r>
              <a:rPr lang="vi-VN" altLang="ko-KR" sz="950" smtClean="0">
                <a:latin typeface="Times New Roman" pitchFamily="18" charset="0"/>
                <a:ea typeface="LG Smart_H Regular" panose="020B0600000101010101" pitchFamily="34" charset="-127"/>
                <a:cs typeface="Times New Roman" pitchFamily="18" charset="0"/>
              </a:rPr>
              <a:t>đây?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220V </a:t>
            </a:r>
            <a:r>
              <a:rPr lang="en-US" altLang="ko-KR" sz="950" smtClean="0">
                <a:latin typeface="Times New Roman" pitchFamily="18" charset="0"/>
                <a:ea typeface="LG Smart_H Regular" panose="020B0600000101010101" pitchFamily="34" charset="-127"/>
                <a:cs typeface="Times New Roman" pitchFamily="18" charset="0"/>
              </a:rPr>
              <a:t>AC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Dòng điện 1 </a:t>
            </a:r>
            <a:r>
              <a:rPr lang="vi-VN" altLang="ko-KR" sz="950" smtClean="0">
                <a:latin typeface="Times New Roman" pitchFamily="18" charset="0"/>
                <a:ea typeface="LG Smart_H Regular" panose="020B0600000101010101" pitchFamily="34" charset="-127"/>
                <a:cs typeface="Times New Roman" pitchFamily="18" charset="0"/>
              </a:rPr>
              <a:t>chiều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Dòng điện xoay </a:t>
            </a:r>
            <a:r>
              <a:rPr lang="vi-VN" altLang="ko-KR" sz="950" smtClean="0">
                <a:latin typeface="Times New Roman" pitchFamily="18" charset="0"/>
                <a:ea typeface="LG Smart_H Regular" panose="020B0600000101010101" pitchFamily="34" charset="-127"/>
                <a:cs typeface="Times New Roman" pitchFamily="18" charset="0"/>
              </a:rPr>
              <a:t>chiều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110V AC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174625" y="2664786"/>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khái niệm sau: "cản trở dòng chảy của dòng điện và nó mang chức năng làm cho mạch điện hoạt động một cách bình thường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Điot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a:t>
            </a:r>
            <a:r>
              <a:rPr lang="en-US" altLang="ko-KR" sz="950" smtClean="0">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Cuộn cảm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0" name="Rectangle 7"/>
          <p:cNvSpPr>
            <a:spLocks noChangeArrowheads="1"/>
          </p:cNvSpPr>
          <p:nvPr/>
        </p:nvSpPr>
        <p:spPr bwMode="auto">
          <a:xfrm>
            <a:off x="169381" y="4511675"/>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Đặc tính gây cộng hưởng có ở linh kiện 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Cuộn cảm, 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Điot, Điện </a:t>
            </a:r>
            <a:r>
              <a:rPr lang="en-US" altLang="ko-KR" sz="950" smtClean="0">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trở, </a:t>
            </a:r>
            <a:r>
              <a:rPr lang="en-US" altLang="ko-KR" sz="950" smtClean="0">
                <a:latin typeface="Times New Roman" pitchFamily="18" charset="0"/>
                <a:ea typeface="LG Smart_H Regular" panose="020B0600000101010101" pitchFamily="34" charset="-127"/>
                <a:cs typeface="Times New Roman" pitchFamily="18" charset="0"/>
              </a:rPr>
              <a:t>transitor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Transitor, điot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2099" y="7130077"/>
            <a:ext cx="3239810" cy="2431435"/>
            <a:chOff x="162099" y="6969224"/>
            <a:chExt cx="3239810" cy="2431435"/>
          </a:xfrm>
        </p:grpSpPr>
        <p:sp>
          <p:nvSpPr>
            <p:cNvPr id="68" name="Rectangle 7"/>
            <p:cNvSpPr>
              <a:spLocks noChangeArrowheads="1"/>
            </p:cNvSpPr>
            <p:nvPr/>
          </p:nvSpPr>
          <p:spPr bwMode="auto">
            <a:xfrm>
              <a:off x="162099" y="6969224"/>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Giá trị  tần số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500[m].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500[Hz].</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1500[Hz].</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1500[m].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5" name="Group 34"/>
            <p:cNvGrpSpPr/>
            <p:nvPr/>
          </p:nvGrpSpPr>
          <p:grpSpPr>
            <a:xfrm>
              <a:off x="292206" y="7329264"/>
              <a:ext cx="3064786" cy="1416286"/>
              <a:chOff x="-2" y="-1"/>
              <a:chExt cx="3923106" cy="3437166"/>
            </a:xfrm>
          </p:grpSpPr>
          <p:grpSp>
            <p:nvGrpSpPr>
              <p:cNvPr id="36" name="Group 35"/>
              <p:cNvGrpSpPr/>
              <p:nvPr/>
            </p:nvGrpSpPr>
            <p:grpSpPr>
              <a:xfrm>
                <a:off x="-2" y="-1"/>
                <a:ext cx="3652497" cy="3437166"/>
                <a:chOff x="-1" y="-35305"/>
                <a:chExt cx="6090748" cy="4519999"/>
              </a:xfrm>
            </p:grpSpPr>
            <p:sp>
              <p:nvSpPr>
                <p:cNvPr id="38" name="Rectangle 37"/>
                <p:cNvSpPr>
                  <a:spLocks noChangeArrowheads="1"/>
                </p:cNvSpPr>
                <p:nvPr/>
              </p:nvSpPr>
              <p:spPr bwMode="auto">
                <a:xfrm>
                  <a:off x="5311839"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39" name="Rectangle 38"/>
                <p:cNvSpPr>
                  <a:spLocks noChangeArrowheads="1"/>
                </p:cNvSpPr>
                <p:nvPr/>
              </p:nvSpPr>
              <p:spPr bwMode="auto">
                <a:xfrm>
                  <a:off x="4945127" y="3016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0" name="Rectangle 39"/>
                <p:cNvSpPr>
                  <a:spLocks noChangeArrowheads="1"/>
                </p:cNvSpPr>
                <p:nvPr/>
              </p:nvSpPr>
              <p:spPr bwMode="auto">
                <a:xfrm>
                  <a:off x="4580002"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1" name="Rectangle 40"/>
                <p:cNvSpPr>
                  <a:spLocks noChangeArrowheads="1"/>
                </p:cNvSpPr>
                <p:nvPr/>
              </p:nvSpPr>
              <p:spPr bwMode="auto">
                <a:xfrm>
                  <a:off x="4213289" y="3016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2" name="Rectangle 41"/>
                <p:cNvSpPr>
                  <a:spLocks noChangeArrowheads="1"/>
                </p:cNvSpPr>
                <p:nvPr/>
              </p:nvSpPr>
              <p:spPr bwMode="auto">
                <a:xfrm>
                  <a:off x="3848164"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3" name="Rectangle 42"/>
                <p:cNvSpPr>
                  <a:spLocks noChangeArrowheads="1"/>
                </p:cNvSpPr>
                <p:nvPr/>
              </p:nvSpPr>
              <p:spPr bwMode="auto">
                <a:xfrm>
                  <a:off x="3483039"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4" name="Rectangle 43"/>
                <p:cNvSpPr>
                  <a:spLocks noChangeArrowheads="1"/>
                </p:cNvSpPr>
                <p:nvPr/>
              </p:nvSpPr>
              <p:spPr bwMode="auto">
                <a:xfrm>
                  <a:off x="3116327" y="3016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5" name="Rectangle 44"/>
                <p:cNvSpPr>
                  <a:spLocks noChangeArrowheads="1"/>
                </p:cNvSpPr>
                <p:nvPr/>
              </p:nvSpPr>
              <p:spPr bwMode="auto">
                <a:xfrm>
                  <a:off x="2751202"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6" name="Rectangle 45"/>
                <p:cNvSpPr>
                  <a:spLocks noChangeArrowheads="1"/>
                </p:cNvSpPr>
                <p:nvPr/>
              </p:nvSpPr>
              <p:spPr bwMode="auto">
                <a:xfrm>
                  <a:off x="2384489" y="3016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7" name="Rectangle 46"/>
                <p:cNvSpPr>
                  <a:spLocks noChangeArrowheads="1"/>
                </p:cNvSpPr>
                <p:nvPr/>
              </p:nvSpPr>
              <p:spPr bwMode="auto">
                <a:xfrm>
                  <a:off x="2019364"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8" name="Rectangle 47"/>
                <p:cNvSpPr>
                  <a:spLocks noChangeArrowheads="1"/>
                </p:cNvSpPr>
                <p:nvPr/>
              </p:nvSpPr>
              <p:spPr bwMode="auto">
                <a:xfrm>
                  <a:off x="5311839"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9" name="Rectangle 48"/>
                <p:cNvSpPr>
                  <a:spLocks noChangeArrowheads="1"/>
                </p:cNvSpPr>
                <p:nvPr/>
              </p:nvSpPr>
              <p:spPr bwMode="auto">
                <a:xfrm>
                  <a:off x="4945127" y="2667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0" name="Rectangle 49"/>
                <p:cNvSpPr>
                  <a:spLocks noChangeArrowheads="1"/>
                </p:cNvSpPr>
                <p:nvPr/>
              </p:nvSpPr>
              <p:spPr bwMode="auto">
                <a:xfrm>
                  <a:off x="4580002"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1" name="Rectangle 50"/>
                <p:cNvSpPr>
                  <a:spLocks noChangeArrowheads="1"/>
                </p:cNvSpPr>
                <p:nvPr/>
              </p:nvSpPr>
              <p:spPr bwMode="auto">
                <a:xfrm>
                  <a:off x="4213289" y="2667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2" name="Rectangle 51"/>
                <p:cNvSpPr>
                  <a:spLocks noChangeArrowheads="1"/>
                </p:cNvSpPr>
                <p:nvPr/>
              </p:nvSpPr>
              <p:spPr bwMode="auto">
                <a:xfrm>
                  <a:off x="3848164"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3" name="Rectangle 52"/>
                <p:cNvSpPr>
                  <a:spLocks noChangeArrowheads="1"/>
                </p:cNvSpPr>
                <p:nvPr/>
              </p:nvSpPr>
              <p:spPr bwMode="auto">
                <a:xfrm>
                  <a:off x="3483039"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4" name="Rectangle 53"/>
                <p:cNvSpPr>
                  <a:spLocks noChangeArrowheads="1"/>
                </p:cNvSpPr>
                <p:nvPr/>
              </p:nvSpPr>
              <p:spPr bwMode="auto">
                <a:xfrm>
                  <a:off x="3116327" y="2667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5" name="Rectangle 54"/>
                <p:cNvSpPr>
                  <a:spLocks noChangeArrowheads="1"/>
                </p:cNvSpPr>
                <p:nvPr/>
              </p:nvSpPr>
              <p:spPr bwMode="auto">
                <a:xfrm>
                  <a:off x="2751202"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6" name="Rectangle 55"/>
                <p:cNvSpPr>
                  <a:spLocks noChangeArrowheads="1"/>
                </p:cNvSpPr>
                <p:nvPr/>
              </p:nvSpPr>
              <p:spPr bwMode="auto">
                <a:xfrm>
                  <a:off x="2384489" y="2667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8" name="Rectangle 57"/>
                <p:cNvSpPr>
                  <a:spLocks noChangeArrowheads="1"/>
                </p:cNvSpPr>
                <p:nvPr/>
              </p:nvSpPr>
              <p:spPr bwMode="auto">
                <a:xfrm>
                  <a:off x="2019364"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2" name="Rectangle 61"/>
                <p:cNvSpPr>
                  <a:spLocks noChangeArrowheads="1"/>
                </p:cNvSpPr>
                <p:nvPr/>
              </p:nvSpPr>
              <p:spPr bwMode="auto">
                <a:xfrm>
                  <a:off x="5311839"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3" name="Rectangle 62"/>
                <p:cNvSpPr>
                  <a:spLocks noChangeArrowheads="1"/>
                </p:cNvSpPr>
                <p:nvPr/>
              </p:nvSpPr>
              <p:spPr bwMode="auto">
                <a:xfrm>
                  <a:off x="4945127" y="2317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4" name="Rectangle 63"/>
                <p:cNvSpPr>
                  <a:spLocks noChangeArrowheads="1"/>
                </p:cNvSpPr>
                <p:nvPr/>
              </p:nvSpPr>
              <p:spPr bwMode="auto">
                <a:xfrm>
                  <a:off x="4580002"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5" name="Rectangle 64"/>
                <p:cNvSpPr>
                  <a:spLocks noChangeArrowheads="1"/>
                </p:cNvSpPr>
                <p:nvPr/>
              </p:nvSpPr>
              <p:spPr bwMode="auto">
                <a:xfrm>
                  <a:off x="4213289" y="2317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6" name="Rectangle 65"/>
                <p:cNvSpPr>
                  <a:spLocks noChangeArrowheads="1"/>
                </p:cNvSpPr>
                <p:nvPr/>
              </p:nvSpPr>
              <p:spPr bwMode="auto">
                <a:xfrm>
                  <a:off x="3848164"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7" name="Rectangle 66"/>
                <p:cNvSpPr>
                  <a:spLocks noChangeArrowheads="1"/>
                </p:cNvSpPr>
                <p:nvPr/>
              </p:nvSpPr>
              <p:spPr bwMode="auto">
                <a:xfrm>
                  <a:off x="3483039"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2" name="Rectangle 71"/>
                <p:cNvSpPr>
                  <a:spLocks noChangeArrowheads="1"/>
                </p:cNvSpPr>
                <p:nvPr/>
              </p:nvSpPr>
              <p:spPr bwMode="auto">
                <a:xfrm>
                  <a:off x="3116327" y="2317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4" name="Rectangle 73"/>
                <p:cNvSpPr>
                  <a:spLocks noChangeArrowheads="1"/>
                </p:cNvSpPr>
                <p:nvPr/>
              </p:nvSpPr>
              <p:spPr bwMode="auto">
                <a:xfrm>
                  <a:off x="2751202"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5" name="Rectangle 74"/>
                <p:cNvSpPr>
                  <a:spLocks noChangeArrowheads="1"/>
                </p:cNvSpPr>
                <p:nvPr/>
              </p:nvSpPr>
              <p:spPr bwMode="auto">
                <a:xfrm>
                  <a:off x="2384489" y="2317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7" name="Rectangle 76"/>
                <p:cNvSpPr>
                  <a:spLocks noChangeArrowheads="1"/>
                </p:cNvSpPr>
                <p:nvPr/>
              </p:nvSpPr>
              <p:spPr bwMode="auto">
                <a:xfrm>
                  <a:off x="2019364"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8" name="Rectangle 77"/>
                <p:cNvSpPr>
                  <a:spLocks noChangeArrowheads="1"/>
                </p:cNvSpPr>
                <p:nvPr/>
              </p:nvSpPr>
              <p:spPr bwMode="auto">
                <a:xfrm>
                  <a:off x="5311839"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9" name="Rectangle 78"/>
                <p:cNvSpPr>
                  <a:spLocks noChangeArrowheads="1"/>
                </p:cNvSpPr>
                <p:nvPr/>
              </p:nvSpPr>
              <p:spPr bwMode="auto">
                <a:xfrm>
                  <a:off x="4945127" y="1968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0" name="Rectangle 79"/>
                <p:cNvSpPr>
                  <a:spLocks noChangeArrowheads="1"/>
                </p:cNvSpPr>
                <p:nvPr/>
              </p:nvSpPr>
              <p:spPr bwMode="auto">
                <a:xfrm>
                  <a:off x="4580002"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1" name="Rectangle 80"/>
                <p:cNvSpPr>
                  <a:spLocks noChangeArrowheads="1"/>
                </p:cNvSpPr>
                <p:nvPr/>
              </p:nvSpPr>
              <p:spPr bwMode="auto">
                <a:xfrm>
                  <a:off x="4213289" y="1968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2" name="Rectangle 81"/>
                <p:cNvSpPr>
                  <a:spLocks noChangeArrowheads="1"/>
                </p:cNvSpPr>
                <p:nvPr/>
              </p:nvSpPr>
              <p:spPr bwMode="auto">
                <a:xfrm>
                  <a:off x="3848164"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3" name="Rectangle 82"/>
                <p:cNvSpPr>
                  <a:spLocks noChangeArrowheads="1"/>
                </p:cNvSpPr>
                <p:nvPr/>
              </p:nvSpPr>
              <p:spPr bwMode="auto">
                <a:xfrm>
                  <a:off x="3483039"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4" name="Rectangle 83"/>
                <p:cNvSpPr>
                  <a:spLocks noChangeArrowheads="1"/>
                </p:cNvSpPr>
                <p:nvPr/>
              </p:nvSpPr>
              <p:spPr bwMode="auto">
                <a:xfrm>
                  <a:off x="3116327" y="1968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5" name="Rectangle 84"/>
                <p:cNvSpPr>
                  <a:spLocks noChangeArrowheads="1"/>
                </p:cNvSpPr>
                <p:nvPr/>
              </p:nvSpPr>
              <p:spPr bwMode="auto">
                <a:xfrm>
                  <a:off x="2751202"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6" name="Rectangle 85"/>
                <p:cNvSpPr>
                  <a:spLocks noChangeArrowheads="1"/>
                </p:cNvSpPr>
                <p:nvPr/>
              </p:nvSpPr>
              <p:spPr bwMode="auto">
                <a:xfrm>
                  <a:off x="2384489" y="1968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7" name="Rectangle 86"/>
                <p:cNvSpPr>
                  <a:spLocks noChangeArrowheads="1"/>
                </p:cNvSpPr>
                <p:nvPr/>
              </p:nvSpPr>
              <p:spPr bwMode="auto">
                <a:xfrm>
                  <a:off x="2019364"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8" name="Rectangle 87"/>
                <p:cNvSpPr>
                  <a:spLocks noChangeArrowheads="1"/>
                </p:cNvSpPr>
                <p:nvPr/>
              </p:nvSpPr>
              <p:spPr bwMode="auto">
                <a:xfrm>
                  <a:off x="5311839"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9" name="Rectangle 88"/>
                <p:cNvSpPr>
                  <a:spLocks noChangeArrowheads="1"/>
                </p:cNvSpPr>
                <p:nvPr/>
              </p:nvSpPr>
              <p:spPr bwMode="auto">
                <a:xfrm>
                  <a:off x="4945127" y="1619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0" name="Rectangle 89"/>
                <p:cNvSpPr>
                  <a:spLocks noChangeArrowheads="1"/>
                </p:cNvSpPr>
                <p:nvPr/>
              </p:nvSpPr>
              <p:spPr bwMode="auto">
                <a:xfrm>
                  <a:off x="4580002"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1" name="Rectangle 90"/>
                <p:cNvSpPr>
                  <a:spLocks noChangeArrowheads="1"/>
                </p:cNvSpPr>
                <p:nvPr/>
              </p:nvSpPr>
              <p:spPr bwMode="auto">
                <a:xfrm>
                  <a:off x="4213289" y="1619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2" name="Rectangle 91"/>
                <p:cNvSpPr>
                  <a:spLocks noChangeArrowheads="1"/>
                </p:cNvSpPr>
                <p:nvPr/>
              </p:nvSpPr>
              <p:spPr bwMode="auto">
                <a:xfrm>
                  <a:off x="3848164"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3" name="Rectangle 92"/>
                <p:cNvSpPr>
                  <a:spLocks noChangeArrowheads="1"/>
                </p:cNvSpPr>
                <p:nvPr/>
              </p:nvSpPr>
              <p:spPr bwMode="auto">
                <a:xfrm>
                  <a:off x="3483039"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4" name="Rectangle 93"/>
                <p:cNvSpPr>
                  <a:spLocks noChangeArrowheads="1"/>
                </p:cNvSpPr>
                <p:nvPr/>
              </p:nvSpPr>
              <p:spPr bwMode="auto">
                <a:xfrm>
                  <a:off x="3116327" y="1619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5" name="Rectangle 94"/>
                <p:cNvSpPr>
                  <a:spLocks noChangeArrowheads="1"/>
                </p:cNvSpPr>
                <p:nvPr/>
              </p:nvSpPr>
              <p:spPr bwMode="auto">
                <a:xfrm>
                  <a:off x="2751202"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6" name="Rectangle 95"/>
                <p:cNvSpPr>
                  <a:spLocks noChangeArrowheads="1"/>
                </p:cNvSpPr>
                <p:nvPr/>
              </p:nvSpPr>
              <p:spPr bwMode="auto">
                <a:xfrm>
                  <a:off x="2384489" y="1619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7" name="Rectangle 96"/>
                <p:cNvSpPr>
                  <a:spLocks noChangeArrowheads="1"/>
                </p:cNvSpPr>
                <p:nvPr/>
              </p:nvSpPr>
              <p:spPr bwMode="auto">
                <a:xfrm>
                  <a:off x="2019364"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8" name="Rectangle 97"/>
                <p:cNvSpPr>
                  <a:spLocks noChangeArrowheads="1"/>
                </p:cNvSpPr>
                <p:nvPr/>
              </p:nvSpPr>
              <p:spPr bwMode="auto">
                <a:xfrm>
                  <a:off x="5311839"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9" name="Rectangle 98"/>
                <p:cNvSpPr>
                  <a:spLocks noChangeArrowheads="1"/>
                </p:cNvSpPr>
                <p:nvPr/>
              </p:nvSpPr>
              <p:spPr bwMode="auto">
                <a:xfrm>
                  <a:off x="4945127" y="1270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0" name="Rectangle 99"/>
                <p:cNvSpPr>
                  <a:spLocks noChangeArrowheads="1"/>
                </p:cNvSpPr>
                <p:nvPr/>
              </p:nvSpPr>
              <p:spPr bwMode="auto">
                <a:xfrm>
                  <a:off x="4580002"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1" name="Rectangle 100"/>
                <p:cNvSpPr>
                  <a:spLocks noChangeArrowheads="1"/>
                </p:cNvSpPr>
                <p:nvPr/>
              </p:nvSpPr>
              <p:spPr bwMode="auto">
                <a:xfrm>
                  <a:off x="4213289" y="1270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2" name="Rectangle 101"/>
                <p:cNvSpPr>
                  <a:spLocks noChangeArrowheads="1"/>
                </p:cNvSpPr>
                <p:nvPr/>
              </p:nvSpPr>
              <p:spPr bwMode="auto">
                <a:xfrm>
                  <a:off x="3848164"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3" name="Rectangle 102"/>
                <p:cNvSpPr>
                  <a:spLocks noChangeArrowheads="1"/>
                </p:cNvSpPr>
                <p:nvPr/>
              </p:nvSpPr>
              <p:spPr bwMode="auto">
                <a:xfrm>
                  <a:off x="3483039"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4" name="Rectangle 103"/>
                <p:cNvSpPr>
                  <a:spLocks noChangeArrowheads="1"/>
                </p:cNvSpPr>
                <p:nvPr/>
              </p:nvSpPr>
              <p:spPr bwMode="auto">
                <a:xfrm>
                  <a:off x="3116327" y="1270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5" name="Rectangle 104"/>
                <p:cNvSpPr>
                  <a:spLocks noChangeArrowheads="1"/>
                </p:cNvSpPr>
                <p:nvPr/>
              </p:nvSpPr>
              <p:spPr bwMode="auto">
                <a:xfrm>
                  <a:off x="2751202"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6" name="Rectangle 105"/>
                <p:cNvSpPr>
                  <a:spLocks noChangeArrowheads="1"/>
                </p:cNvSpPr>
                <p:nvPr/>
              </p:nvSpPr>
              <p:spPr bwMode="auto">
                <a:xfrm>
                  <a:off x="2384489" y="1270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7" name="Rectangle 106"/>
                <p:cNvSpPr>
                  <a:spLocks noChangeArrowheads="1"/>
                </p:cNvSpPr>
                <p:nvPr/>
              </p:nvSpPr>
              <p:spPr bwMode="auto">
                <a:xfrm>
                  <a:off x="2019364"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8" name="Rectangle 107"/>
                <p:cNvSpPr>
                  <a:spLocks noChangeArrowheads="1"/>
                </p:cNvSpPr>
                <p:nvPr/>
              </p:nvSpPr>
              <p:spPr bwMode="auto">
                <a:xfrm>
                  <a:off x="5311839"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9" name="Rectangle 108"/>
                <p:cNvSpPr>
                  <a:spLocks noChangeArrowheads="1"/>
                </p:cNvSpPr>
                <p:nvPr/>
              </p:nvSpPr>
              <p:spPr bwMode="auto">
                <a:xfrm>
                  <a:off x="4945127" y="920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0" name="Rectangle 109"/>
                <p:cNvSpPr>
                  <a:spLocks noChangeArrowheads="1"/>
                </p:cNvSpPr>
                <p:nvPr/>
              </p:nvSpPr>
              <p:spPr bwMode="auto">
                <a:xfrm>
                  <a:off x="4580002"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1" name="Rectangle 110"/>
                <p:cNvSpPr>
                  <a:spLocks noChangeArrowheads="1"/>
                </p:cNvSpPr>
                <p:nvPr/>
              </p:nvSpPr>
              <p:spPr bwMode="auto">
                <a:xfrm>
                  <a:off x="4213289" y="920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2" name="Rectangle 111"/>
                <p:cNvSpPr>
                  <a:spLocks noChangeArrowheads="1"/>
                </p:cNvSpPr>
                <p:nvPr/>
              </p:nvSpPr>
              <p:spPr bwMode="auto">
                <a:xfrm>
                  <a:off x="3848164"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3" name="Rectangle 112"/>
                <p:cNvSpPr>
                  <a:spLocks noChangeArrowheads="1"/>
                </p:cNvSpPr>
                <p:nvPr/>
              </p:nvSpPr>
              <p:spPr bwMode="auto">
                <a:xfrm>
                  <a:off x="3483039"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4" name="Rectangle 113"/>
                <p:cNvSpPr>
                  <a:spLocks noChangeArrowheads="1"/>
                </p:cNvSpPr>
                <p:nvPr/>
              </p:nvSpPr>
              <p:spPr bwMode="auto">
                <a:xfrm>
                  <a:off x="3116327" y="920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5" name="Rectangle 114"/>
                <p:cNvSpPr>
                  <a:spLocks noChangeArrowheads="1"/>
                </p:cNvSpPr>
                <p:nvPr/>
              </p:nvSpPr>
              <p:spPr bwMode="auto">
                <a:xfrm>
                  <a:off x="2751202"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6" name="Rectangle 115"/>
                <p:cNvSpPr>
                  <a:spLocks noChangeArrowheads="1"/>
                </p:cNvSpPr>
                <p:nvPr/>
              </p:nvSpPr>
              <p:spPr bwMode="auto">
                <a:xfrm>
                  <a:off x="2384489" y="920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7" name="Rectangle 116"/>
                <p:cNvSpPr>
                  <a:spLocks noChangeArrowheads="1"/>
                </p:cNvSpPr>
                <p:nvPr/>
              </p:nvSpPr>
              <p:spPr bwMode="auto">
                <a:xfrm>
                  <a:off x="2019364"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8" name="Rectangle 117"/>
                <p:cNvSpPr>
                  <a:spLocks noChangeArrowheads="1"/>
                </p:cNvSpPr>
                <p:nvPr/>
              </p:nvSpPr>
              <p:spPr bwMode="auto">
                <a:xfrm>
                  <a:off x="5311839"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9" name="Rectangle 118"/>
                <p:cNvSpPr>
                  <a:spLocks noChangeArrowheads="1"/>
                </p:cNvSpPr>
                <p:nvPr/>
              </p:nvSpPr>
              <p:spPr bwMode="auto">
                <a:xfrm>
                  <a:off x="4945127" y="571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0" name="Rectangle 119"/>
                <p:cNvSpPr>
                  <a:spLocks noChangeArrowheads="1"/>
                </p:cNvSpPr>
                <p:nvPr/>
              </p:nvSpPr>
              <p:spPr bwMode="auto">
                <a:xfrm>
                  <a:off x="4580002"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1" name="Rectangle 120"/>
                <p:cNvSpPr>
                  <a:spLocks noChangeArrowheads="1"/>
                </p:cNvSpPr>
                <p:nvPr/>
              </p:nvSpPr>
              <p:spPr bwMode="auto">
                <a:xfrm>
                  <a:off x="4213289" y="571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2" name="Rectangle 121"/>
                <p:cNvSpPr>
                  <a:spLocks noChangeArrowheads="1"/>
                </p:cNvSpPr>
                <p:nvPr/>
              </p:nvSpPr>
              <p:spPr bwMode="auto">
                <a:xfrm>
                  <a:off x="3848164"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3" name="Rectangle 122"/>
                <p:cNvSpPr>
                  <a:spLocks noChangeArrowheads="1"/>
                </p:cNvSpPr>
                <p:nvPr/>
              </p:nvSpPr>
              <p:spPr bwMode="auto">
                <a:xfrm>
                  <a:off x="3483039"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4" name="Rectangle 123"/>
                <p:cNvSpPr>
                  <a:spLocks noChangeArrowheads="1"/>
                </p:cNvSpPr>
                <p:nvPr/>
              </p:nvSpPr>
              <p:spPr bwMode="auto">
                <a:xfrm>
                  <a:off x="3116327" y="571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5" name="Rectangle 124"/>
                <p:cNvSpPr>
                  <a:spLocks noChangeArrowheads="1"/>
                </p:cNvSpPr>
                <p:nvPr/>
              </p:nvSpPr>
              <p:spPr bwMode="auto">
                <a:xfrm>
                  <a:off x="2751202"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6" name="Rectangle 125"/>
                <p:cNvSpPr>
                  <a:spLocks noChangeArrowheads="1"/>
                </p:cNvSpPr>
                <p:nvPr/>
              </p:nvSpPr>
              <p:spPr bwMode="auto">
                <a:xfrm>
                  <a:off x="2384489" y="571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7" name="Rectangle 126"/>
                <p:cNvSpPr>
                  <a:spLocks noChangeArrowheads="1"/>
                </p:cNvSpPr>
                <p:nvPr/>
              </p:nvSpPr>
              <p:spPr bwMode="auto">
                <a:xfrm>
                  <a:off x="2019364"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8" name="Line 85"/>
                <p:cNvSpPr>
                  <a:spLocks noChangeShapeType="1"/>
                </p:cNvSpPr>
                <p:nvPr/>
              </p:nvSpPr>
              <p:spPr bwMode="auto">
                <a:xfrm>
                  <a:off x="2019364" y="57163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29" name="Line 86"/>
                <p:cNvSpPr>
                  <a:spLocks noChangeShapeType="1"/>
                </p:cNvSpPr>
                <p:nvPr/>
              </p:nvSpPr>
              <p:spPr bwMode="auto">
                <a:xfrm>
                  <a:off x="2019364" y="92088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0" name="Line 87"/>
                <p:cNvSpPr>
                  <a:spLocks noChangeShapeType="1"/>
                </p:cNvSpPr>
                <p:nvPr/>
              </p:nvSpPr>
              <p:spPr bwMode="auto">
                <a:xfrm>
                  <a:off x="2019364" y="127013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1" name="Line 88"/>
                <p:cNvSpPr>
                  <a:spLocks noChangeShapeType="1"/>
                </p:cNvSpPr>
                <p:nvPr/>
              </p:nvSpPr>
              <p:spPr bwMode="auto">
                <a:xfrm>
                  <a:off x="2019364" y="1968638"/>
                  <a:ext cx="3657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2" name="Line 89"/>
                <p:cNvSpPr>
                  <a:spLocks noChangeShapeType="1"/>
                </p:cNvSpPr>
                <p:nvPr/>
              </p:nvSpPr>
              <p:spPr bwMode="auto">
                <a:xfrm>
                  <a:off x="2019364" y="266713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3" name="Line 90"/>
                <p:cNvSpPr>
                  <a:spLocks noChangeShapeType="1"/>
                </p:cNvSpPr>
                <p:nvPr/>
              </p:nvSpPr>
              <p:spPr bwMode="auto">
                <a:xfrm>
                  <a:off x="2019364" y="301638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4" name="Line 91"/>
                <p:cNvSpPr>
                  <a:spLocks noChangeShapeType="1"/>
                </p:cNvSpPr>
                <p:nvPr/>
              </p:nvSpPr>
              <p:spPr bwMode="auto">
                <a:xfrm>
                  <a:off x="2019364" y="336563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5" name="Line 92"/>
                <p:cNvSpPr>
                  <a:spLocks noChangeShapeType="1"/>
                </p:cNvSpPr>
                <p:nvPr/>
              </p:nvSpPr>
              <p:spPr bwMode="auto">
                <a:xfrm>
                  <a:off x="2019364"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6" name="Line 93"/>
                <p:cNvSpPr>
                  <a:spLocks noChangeShapeType="1"/>
                </p:cNvSpPr>
                <p:nvPr/>
              </p:nvSpPr>
              <p:spPr bwMode="auto">
                <a:xfrm>
                  <a:off x="2384489"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7" name="Line 94"/>
                <p:cNvSpPr>
                  <a:spLocks noChangeShapeType="1"/>
                </p:cNvSpPr>
                <p:nvPr/>
              </p:nvSpPr>
              <p:spPr bwMode="auto">
                <a:xfrm>
                  <a:off x="2751202"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8" name="Line 95"/>
                <p:cNvSpPr>
                  <a:spLocks noChangeShapeType="1"/>
                </p:cNvSpPr>
                <p:nvPr/>
              </p:nvSpPr>
              <p:spPr bwMode="auto">
                <a:xfrm>
                  <a:off x="3116327"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9" name="Line 96"/>
                <p:cNvSpPr>
                  <a:spLocks noChangeShapeType="1"/>
                </p:cNvSpPr>
                <p:nvPr/>
              </p:nvSpPr>
              <p:spPr bwMode="auto">
                <a:xfrm>
                  <a:off x="3848164" y="571638"/>
                  <a:ext cx="0" cy="2794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0" name="Line 97"/>
                <p:cNvSpPr>
                  <a:spLocks noChangeShapeType="1"/>
                </p:cNvSpPr>
                <p:nvPr/>
              </p:nvSpPr>
              <p:spPr bwMode="auto">
                <a:xfrm>
                  <a:off x="4580002"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1" name="Line 98"/>
                <p:cNvSpPr>
                  <a:spLocks noChangeShapeType="1"/>
                </p:cNvSpPr>
                <p:nvPr/>
              </p:nvSpPr>
              <p:spPr bwMode="auto">
                <a:xfrm>
                  <a:off x="4945127"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2" name="Line 99"/>
                <p:cNvSpPr>
                  <a:spLocks noChangeShapeType="1"/>
                </p:cNvSpPr>
                <p:nvPr/>
              </p:nvSpPr>
              <p:spPr bwMode="auto">
                <a:xfrm>
                  <a:off x="5311839"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3" name="Line 100"/>
                <p:cNvSpPr>
                  <a:spLocks noChangeShapeType="1"/>
                </p:cNvSpPr>
                <p:nvPr/>
              </p:nvSpPr>
              <p:spPr bwMode="auto">
                <a:xfrm>
                  <a:off x="5676964"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4" name="Line 101"/>
                <p:cNvSpPr>
                  <a:spLocks noChangeShapeType="1"/>
                </p:cNvSpPr>
                <p:nvPr/>
              </p:nvSpPr>
              <p:spPr bwMode="auto">
                <a:xfrm>
                  <a:off x="2019364" y="161938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5" name="Line 102"/>
                <p:cNvSpPr>
                  <a:spLocks noChangeShapeType="1"/>
                </p:cNvSpPr>
                <p:nvPr/>
              </p:nvSpPr>
              <p:spPr bwMode="auto">
                <a:xfrm>
                  <a:off x="2019364" y="231788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6" name="Line 103"/>
                <p:cNvSpPr>
                  <a:spLocks noChangeShapeType="1"/>
                </p:cNvSpPr>
                <p:nvPr/>
              </p:nvSpPr>
              <p:spPr bwMode="auto">
                <a:xfrm>
                  <a:off x="3483039"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7" name="Line 104"/>
                <p:cNvSpPr>
                  <a:spLocks noChangeShapeType="1"/>
                </p:cNvSpPr>
                <p:nvPr/>
              </p:nvSpPr>
              <p:spPr bwMode="auto">
                <a:xfrm>
                  <a:off x="4213289"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8" name="Freeform 147"/>
                <p:cNvSpPr>
                  <a:spLocks/>
                </p:cNvSpPr>
                <p:nvPr/>
              </p:nvSpPr>
              <p:spPr bwMode="auto">
                <a:xfrm>
                  <a:off x="2017777" y="758963"/>
                  <a:ext cx="3659187" cy="2251075"/>
                </a:xfrm>
                <a:custGeom>
                  <a:avLst/>
                  <a:gdLst>
                    <a:gd name="T0" fmla="*/ 0 w 2305"/>
                    <a:gd name="T1" fmla="*/ 2147483647 h 1910"/>
                    <a:gd name="T2" fmla="*/ 2147483647 w 2305"/>
                    <a:gd name="T3" fmla="*/ 2147483647 h 1910"/>
                    <a:gd name="T4" fmla="*/ 2147483647 w 2305"/>
                    <a:gd name="T5" fmla="*/ 2147483647 h 1910"/>
                    <a:gd name="T6" fmla="*/ 2147483647 w 2305"/>
                    <a:gd name="T7" fmla="*/ 2147483647 h 1910"/>
                    <a:gd name="T8" fmla="*/ 2147483647 w 2305"/>
                    <a:gd name="T9" fmla="*/ 2147483647 h 1910"/>
                    <a:gd name="T10" fmla="*/ 2147483647 w 2305"/>
                    <a:gd name="T11" fmla="*/ 2147483647 h 1910"/>
                    <a:gd name="T12" fmla="*/ 2147483647 w 2305"/>
                    <a:gd name="T13" fmla="*/ 2147483647 h 19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05" h="1910">
                      <a:moveTo>
                        <a:pt x="0" y="1006"/>
                      </a:moveTo>
                      <a:cubicBezTo>
                        <a:pt x="45" y="864"/>
                        <a:pt x="154" y="0"/>
                        <a:pt x="270" y="151"/>
                      </a:cubicBezTo>
                      <a:cubicBezTo>
                        <a:pt x="386" y="302"/>
                        <a:pt x="548" y="1910"/>
                        <a:pt x="696" y="1909"/>
                      </a:cubicBezTo>
                      <a:cubicBezTo>
                        <a:pt x="844" y="1908"/>
                        <a:pt x="1008" y="145"/>
                        <a:pt x="1160" y="143"/>
                      </a:cubicBezTo>
                      <a:cubicBezTo>
                        <a:pt x="1312" y="141"/>
                        <a:pt x="1463" y="1892"/>
                        <a:pt x="1609" y="1894"/>
                      </a:cubicBezTo>
                      <a:cubicBezTo>
                        <a:pt x="1755" y="1896"/>
                        <a:pt x="1919" y="301"/>
                        <a:pt x="2035" y="158"/>
                      </a:cubicBezTo>
                      <a:cubicBezTo>
                        <a:pt x="2151" y="15"/>
                        <a:pt x="2249" y="851"/>
                        <a:pt x="2305" y="1033"/>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9" name="Text Box 106"/>
                <p:cNvSpPr txBox="1">
                  <a:spLocks noChangeArrowheads="1"/>
                </p:cNvSpPr>
                <p:nvPr/>
              </p:nvSpPr>
              <p:spPr bwMode="auto">
                <a:xfrm>
                  <a:off x="1943165" y="3379927"/>
                  <a:ext cx="1032656" cy="110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b="1">
                      <a:latin typeface="Times New Roman" pitchFamily="18" charset="0"/>
                      <a:cs typeface="Times New Roman" pitchFamily="18" charset="0"/>
                    </a:rPr>
                    <a:t>CH1 1.00V</a:t>
                  </a:r>
                </a:p>
              </p:txBody>
            </p:sp>
            <p:sp>
              <p:nvSpPr>
                <p:cNvPr id="150" name="Text Box 107"/>
                <p:cNvSpPr txBox="1">
                  <a:spLocks noChangeArrowheads="1"/>
                </p:cNvSpPr>
                <p:nvPr/>
              </p:nvSpPr>
              <p:spPr bwMode="auto">
                <a:xfrm>
                  <a:off x="2975822" y="3379927"/>
                  <a:ext cx="1315763"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b="1">
                      <a:latin typeface="Times New Roman" pitchFamily="18" charset="0"/>
                      <a:cs typeface="Times New Roman" pitchFamily="18" charset="0"/>
                    </a:rPr>
                    <a:t>M 500μs</a:t>
                  </a:r>
                </a:p>
              </p:txBody>
            </p:sp>
            <p:sp>
              <p:nvSpPr>
                <p:cNvPr id="151" name="Line 108"/>
                <p:cNvSpPr>
                  <a:spLocks noChangeShapeType="1"/>
                </p:cNvSpPr>
                <p:nvPr/>
              </p:nvSpPr>
              <p:spPr bwMode="auto">
                <a:xfrm>
                  <a:off x="4229164" y="419238"/>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2" name="Text Box 110"/>
                <p:cNvSpPr txBox="1">
                  <a:spLocks noChangeArrowheads="1"/>
                </p:cNvSpPr>
                <p:nvPr/>
              </p:nvSpPr>
              <p:spPr bwMode="auto">
                <a:xfrm>
                  <a:off x="1036701" y="-35305"/>
                  <a:ext cx="2628900"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Độ lớn</a:t>
                  </a:r>
                  <a:r>
                    <a:rPr lang="ko-KR" altLang="en-US" sz="800">
                      <a:latin typeface="Times New Roman" pitchFamily="18" charset="0"/>
                      <a:cs typeface="Times New Roman" pitchFamily="18" charset="0"/>
                    </a:rPr>
                    <a:t> </a:t>
                  </a:r>
                  <a:r>
                    <a:rPr lang="en-US" altLang="ko-KR" sz="800">
                      <a:latin typeface="Times New Roman" pitchFamily="18" charset="0"/>
                      <a:cs typeface="Times New Roman" pitchFamily="18" charset="0"/>
                    </a:rPr>
                    <a:t>: điện áp[v]</a:t>
                  </a:r>
                </a:p>
              </p:txBody>
            </p:sp>
            <p:sp>
              <p:nvSpPr>
                <p:cNvPr id="153" name="Line 111"/>
                <p:cNvSpPr>
                  <a:spLocks noChangeShapeType="1"/>
                </p:cNvSpPr>
                <p:nvPr/>
              </p:nvSpPr>
              <p:spPr bwMode="auto">
                <a:xfrm flipV="1">
                  <a:off x="1866964" y="800238"/>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4" name="Line 112"/>
                <p:cNvSpPr>
                  <a:spLocks noChangeShapeType="1"/>
                </p:cNvSpPr>
                <p:nvPr/>
              </p:nvSpPr>
              <p:spPr bwMode="auto">
                <a:xfrm>
                  <a:off x="1790764" y="2671901"/>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5" name="Line 113"/>
                <p:cNvSpPr>
                  <a:spLocks noChangeShapeType="1"/>
                </p:cNvSpPr>
                <p:nvPr/>
              </p:nvSpPr>
              <p:spPr bwMode="auto">
                <a:xfrm>
                  <a:off x="1790764" y="3021151"/>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6" name="Line 114"/>
                <p:cNvSpPr>
                  <a:spLocks noChangeShapeType="1"/>
                </p:cNvSpPr>
                <p:nvPr/>
              </p:nvSpPr>
              <p:spPr bwMode="auto">
                <a:xfrm>
                  <a:off x="1855852" y="2675076"/>
                  <a:ext cx="0" cy="35718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7" name="Text Box 115"/>
                <p:cNvSpPr txBox="1">
                  <a:spLocks noChangeArrowheads="1"/>
                </p:cNvSpPr>
                <p:nvPr/>
              </p:nvSpPr>
              <p:spPr bwMode="auto">
                <a:xfrm>
                  <a:off x="355830" y="2371868"/>
                  <a:ext cx="1549240"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Độ lớn 1 ô</a:t>
                  </a:r>
                  <a:endParaRPr lang="ko-KR" altLang="en-US" sz="800">
                    <a:latin typeface="Times New Roman" pitchFamily="18" charset="0"/>
                    <a:cs typeface="Times New Roman" pitchFamily="18" charset="0"/>
                  </a:endParaRPr>
                </a:p>
              </p:txBody>
            </p:sp>
            <p:sp>
              <p:nvSpPr>
                <p:cNvPr id="158" name="Freeform 157"/>
                <p:cNvSpPr>
                  <a:spLocks/>
                </p:cNvSpPr>
                <p:nvPr/>
              </p:nvSpPr>
              <p:spPr bwMode="auto">
                <a:xfrm>
                  <a:off x="952564" y="2932251"/>
                  <a:ext cx="1019175" cy="561975"/>
                </a:xfrm>
                <a:custGeom>
                  <a:avLst/>
                  <a:gdLst>
                    <a:gd name="T0" fmla="*/ 0 w 672"/>
                    <a:gd name="T1" fmla="*/ 0 h 384"/>
                    <a:gd name="T2" fmla="*/ 2147483647 w 672"/>
                    <a:gd name="T3" fmla="*/ 0 h 384"/>
                    <a:gd name="T4" fmla="*/ 2147483647 w 672"/>
                    <a:gd name="T5" fmla="*/ 2147483647 h 384"/>
                    <a:gd name="T6" fmla="*/ 0 60000 65536"/>
                    <a:gd name="T7" fmla="*/ 0 60000 65536"/>
                    <a:gd name="T8" fmla="*/ 0 60000 65536"/>
                  </a:gdLst>
                  <a:ahLst/>
                  <a:cxnLst>
                    <a:cxn ang="T6">
                      <a:pos x="T0" y="T1"/>
                    </a:cxn>
                    <a:cxn ang="T7">
                      <a:pos x="T2" y="T3"/>
                    </a:cxn>
                    <a:cxn ang="T8">
                      <a:pos x="T4" y="T5"/>
                    </a:cxn>
                  </a:cxnLst>
                  <a:rect l="0" t="0" r="r" b="b"/>
                  <a:pathLst>
                    <a:path w="672" h="384">
                      <a:moveTo>
                        <a:pt x="0" y="0"/>
                      </a:moveTo>
                      <a:lnTo>
                        <a:pt x="432" y="0"/>
                      </a:lnTo>
                      <a:lnTo>
                        <a:pt x="672" y="384"/>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nvGrpSpPr>
                <p:cNvPr id="159" name="Group 158"/>
                <p:cNvGrpSpPr>
                  <a:grpSpLocks/>
                </p:cNvGrpSpPr>
                <p:nvPr/>
              </p:nvGrpSpPr>
              <p:grpSpPr bwMode="auto">
                <a:xfrm rot="-5400000">
                  <a:off x="-76087" y="3476651"/>
                  <a:ext cx="152400" cy="227"/>
                  <a:chOff x="-76086" y="3476650"/>
                  <a:chExt cx="96" cy="227"/>
                </a:xfrm>
              </p:grpSpPr>
              <p:sp>
                <p:nvSpPr>
                  <p:cNvPr id="162" name="Line 118"/>
                  <p:cNvSpPr>
                    <a:spLocks noChangeShapeType="1"/>
                  </p:cNvSpPr>
                  <p:nvPr/>
                </p:nvSpPr>
                <p:spPr bwMode="auto">
                  <a:xfrm>
                    <a:off x="-76086" y="347665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63" name="Line 119"/>
                  <p:cNvSpPr>
                    <a:spLocks noChangeShapeType="1"/>
                  </p:cNvSpPr>
                  <p:nvPr/>
                </p:nvSpPr>
                <p:spPr bwMode="auto">
                  <a:xfrm>
                    <a:off x="-76086" y="347687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64" name="Line 120"/>
                  <p:cNvSpPr>
                    <a:spLocks noChangeShapeType="1"/>
                  </p:cNvSpPr>
                  <p:nvPr/>
                </p:nvSpPr>
                <p:spPr bwMode="auto">
                  <a:xfrm>
                    <a:off x="-76045" y="3476652"/>
                    <a:ext cx="0" cy="2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sp>
              <p:nvSpPr>
                <p:cNvPr id="160" name="Text Box 121"/>
                <p:cNvSpPr txBox="1">
                  <a:spLocks noChangeArrowheads="1"/>
                </p:cNvSpPr>
                <p:nvPr/>
              </p:nvSpPr>
              <p:spPr bwMode="auto">
                <a:xfrm>
                  <a:off x="4390119" y="3520916"/>
                  <a:ext cx="1700628"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Chiều dài 1 ô</a:t>
                  </a:r>
                  <a:endParaRPr lang="ko-KR" altLang="en-US" sz="800">
                    <a:latin typeface="Times New Roman" pitchFamily="18" charset="0"/>
                    <a:cs typeface="Times New Roman" pitchFamily="18" charset="0"/>
                  </a:endParaRPr>
                </a:p>
              </p:txBody>
            </p:sp>
            <p:sp>
              <p:nvSpPr>
                <p:cNvPr id="161" name="Freeform 160"/>
                <p:cNvSpPr>
                  <a:spLocks/>
                </p:cNvSpPr>
                <p:nvPr/>
              </p:nvSpPr>
              <p:spPr bwMode="auto">
                <a:xfrm>
                  <a:off x="4076764" y="3872667"/>
                  <a:ext cx="1371601" cy="228600"/>
                </a:xfrm>
                <a:custGeom>
                  <a:avLst/>
                  <a:gdLst>
                    <a:gd name="T0" fmla="*/ 2147483647 w 864"/>
                    <a:gd name="T1" fmla="*/ 2147483647 h 144"/>
                    <a:gd name="T2" fmla="*/ 2147483647 w 864"/>
                    <a:gd name="T3" fmla="*/ 2147483647 h 144"/>
                    <a:gd name="T4" fmla="*/ 0 w 864"/>
                    <a:gd name="T5" fmla="*/ 0 h 144"/>
                    <a:gd name="T6" fmla="*/ 0 60000 65536"/>
                    <a:gd name="T7" fmla="*/ 0 60000 65536"/>
                    <a:gd name="T8" fmla="*/ 0 60000 65536"/>
                  </a:gdLst>
                  <a:ahLst/>
                  <a:cxnLst>
                    <a:cxn ang="T6">
                      <a:pos x="T0" y="T1"/>
                    </a:cxn>
                    <a:cxn ang="T7">
                      <a:pos x="T2" y="T3"/>
                    </a:cxn>
                    <a:cxn ang="T8">
                      <a:pos x="T4" y="T5"/>
                    </a:cxn>
                  </a:cxnLst>
                  <a:rect l="0" t="0" r="r" b="b"/>
                  <a:pathLst>
                    <a:path w="864" h="144">
                      <a:moveTo>
                        <a:pt x="864" y="144"/>
                      </a:moveTo>
                      <a:lnTo>
                        <a:pt x="336" y="144"/>
                      </a:lnTo>
                      <a:lnTo>
                        <a:pt x="0"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sp>
            <p:nvSpPr>
              <p:cNvPr id="37" name="Text Box 109"/>
              <p:cNvSpPr txBox="1">
                <a:spLocks noChangeArrowheads="1"/>
              </p:cNvSpPr>
              <p:nvPr/>
            </p:nvSpPr>
            <p:spPr bwMode="auto">
              <a:xfrm>
                <a:off x="2867304" y="0"/>
                <a:ext cx="1055800" cy="522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Time</a:t>
                </a:r>
                <a:r>
                  <a:rPr lang="ko-KR" altLang="en-US" sz="800">
                    <a:latin typeface="Times New Roman" pitchFamily="18" charset="0"/>
                    <a:cs typeface="Times New Roman" pitchFamily="18" charset="0"/>
                  </a:rPr>
                  <a:t> </a:t>
                </a:r>
                <a:r>
                  <a:rPr lang="en-US" altLang="ko-KR" sz="800">
                    <a:latin typeface="Times New Roman" pitchFamily="18" charset="0"/>
                    <a:cs typeface="Times New Roman" pitchFamily="18" charset="0"/>
                  </a:rPr>
                  <a:t>: giây[s]</a:t>
                </a:r>
              </a:p>
            </p:txBody>
          </p:sp>
        </p:grpSp>
      </p:grpSp>
      <p:grpSp>
        <p:nvGrpSpPr>
          <p:cNvPr id="4" name="Group 3"/>
          <p:cNvGrpSpPr/>
          <p:nvPr/>
        </p:nvGrpSpPr>
        <p:grpSpPr>
          <a:xfrm>
            <a:off x="3448472" y="2685182"/>
            <a:ext cx="3239810" cy="969497"/>
            <a:chOff x="3448472" y="2685182"/>
            <a:chExt cx="3239810" cy="969497"/>
          </a:xfrm>
        </p:grpSpPr>
        <p:sp>
          <p:nvSpPr>
            <p:cNvPr id="69" name="Rectangle 7"/>
            <p:cNvSpPr>
              <a:spLocks noChangeArrowheads="1"/>
            </p:cNvSpPr>
            <p:nvPr/>
          </p:nvSpPr>
          <p:spPr bwMode="auto">
            <a:xfrm>
              <a:off x="3448472" y="268518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Smoothing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Timer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65" name="Picture 164"/>
            <p:cNvPicPr>
              <a:picLocks noChangeAspect="1"/>
            </p:cNvPicPr>
            <p:nvPr/>
          </p:nvPicPr>
          <p:blipFill rotWithShape="1">
            <a:blip r:embed="rId3">
              <a:extLst>
                <a:ext uri="{28A0092B-C50C-407E-A947-70E740481C1C}">
                  <a14:useLocalDpi xmlns:a14="http://schemas.microsoft.com/office/drawing/2010/main" val="0"/>
                </a:ext>
              </a:extLst>
            </a:blip>
            <a:srcRect t="38355"/>
            <a:stretch/>
          </p:blipFill>
          <p:spPr>
            <a:xfrm>
              <a:off x="4709370" y="2936777"/>
              <a:ext cx="1743966" cy="717902"/>
            </a:xfrm>
            <a:prstGeom prst="rect">
              <a:avLst/>
            </a:prstGeom>
          </p:spPr>
        </p:pic>
      </p:grpSp>
    </p:spTree>
    <p:extLst>
      <p:ext uri="{BB962C8B-B14F-4D97-AF65-F5344CB8AC3E}">
        <p14:creationId xmlns:p14="http://schemas.microsoft.com/office/powerpoint/2010/main" val="36581059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7" name="직사각형 5"/>
          <p:cNvSpPr>
            <a:spLocks noChangeArrowheads="1"/>
          </p:cNvSpPr>
          <p:nvPr/>
        </p:nvSpPr>
        <p:spPr bwMode="auto">
          <a:xfrm>
            <a:off x="144016" y="989013"/>
            <a:ext cx="331236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itchFamily="34" charset="0"/>
                <a:ea typeface="돋움" pitchFamily="50" charset="-127"/>
                <a:cs typeface="Arial" panose="020B0604020202020204" pitchFamily="34" charset="0"/>
              </a:rPr>
              <a:t>11.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nội</a:t>
            </a:r>
            <a:r>
              <a:rPr lang="en-US" altLang="ko-KR" sz="900" dirty="0" smtClean="0">
                <a:latin typeface="Arial" panose="020B0604020202020204" pitchFamily="34" charset="0"/>
                <a:ea typeface="돋움" pitchFamily="50" charset="-127"/>
                <a:cs typeface="Arial" panose="020B0604020202020204" pitchFamily="34" charset="0"/>
              </a:rPr>
              <a:t> dung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tiếp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địa</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Cung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cấp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thế</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tiêu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chuẩn</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 </a:t>
            </a:r>
            <a:r>
              <a:rPr lang="en-US" altLang="ko-KR" sz="900" dirty="0" err="1" smtClean="0">
                <a:latin typeface="Arial" panose="020B0604020202020204" pitchFamily="34" charset="0"/>
                <a:ea typeface="돋움" pitchFamily="50" charset="-127"/>
                <a:cs typeface="Arial" panose="020B0604020202020204" pitchFamily="34" charset="0"/>
              </a:rPr>
              <a:t>Đảm</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bảo</a:t>
            </a:r>
            <a:r>
              <a:rPr lang="en-US" altLang="ko-KR" sz="900" dirty="0" smtClean="0">
                <a:latin typeface="Arial" panose="020B0604020202020204" pitchFamily="34" charset="0"/>
                <a:ea typeface="돋움" pitchFamily="50" charset="-127"/>
                <a:cs typeface="Arial" panose="020B0604020202020204" pitchFamily="34" charset="0"/>
              </a:rPr>
              <a:t> an </a:t>
            </a:r>
            <a:r>
              <a:rPr lang="en-US" altLang="ko-KR" sz="900" dirty="0" err="1" smtClean="0">
                <a:latin typeface="Arial" panose="020B0604020202020204" pitchFamily="34" charset="0"/>
                <a:ea typeface="돋움" pitchFamily="50" charset="-127"/>
                <a:cs typeface="Arial" panose="020B0604020202020204" pitchFamily="34" charset="0"/>
              </a:rPr>
              <a:t>toàn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mạng</a:t>
            </a:r>
            <a:r>
              <a:rPr lang="en-US" altLang="ko-KR" sz="900" dirty="0" smtClean="0">
                <a:latin typeface="Arial" panose="020B0604020202020204" pitchFamily="34" charset="0"/>
                <a:ea typeface="돋움" pitchFamily="50" charset="-127"/>
                <a:cs typeface="Arial" panose="020B0604020202020204" pitchFamily="34" charset="0"/>
              </a:rPr>
              <a:t> con </a:t>
            </a:r>
            <a:r>
              <a:rPr lang="en-US" altLang="ko-KR" sz="900" dirty="0" err="1" smtClean="0">
                <a:latin typeface="Arial" panose="020B0604020202020204" pitchFamily="34" charset="0"/>
                <a:ea typeface="돋움" pitchFamily="50" charset="-127"/>
                <a:cs typeface="Arial" panose="020B0604020202020204" pitchFamily="34" charset="0"/>
              </a:rPr>
              <a:t>người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súc</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Kết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nối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thiết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bị</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nền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đất</a:t>
            </a:r>
            <a:r>
              <a:rPr lang="en-US" altLang="ko-KR" sz="900" dirty="0" smtClean="0">
                <a:latin typeface="Arial" panose="020B0604020202020204" pitchFamily="34" charset="0"/>
                <a:ea typeface="돋움" pitchFamily="50" charset="-127"/>
                <a:cs typeface="Arial" panose="020B0604020202020204" pitchFamily="34" charset="0"/>
              </a:rPr>
              <a:t> .</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D.Ngăn được đoản mạch và quá tải</a:t>
            </a:r>
            <a:endParaRPr lang="en-US" altLang="ko-KR" sz="900" dirty="0">
              <a:latin typeface="Arial" panose="020B0604020202020204" pitchFamily="34" charset="0"/>
              <a:ea typeface="돋움" pitchFamily="50" charset="-127"/>
              <a:cs typeface="Arial" panose="020B0604020202020204" pitchFamily="34" charset="0"/>
            </a:endParaRPr>
          </a:p>
        </p:txBody>
      </p:sp>
      <p:sp>
        <p:nvSpPr>
          <p:cNvPr id="8" name="직사각형 10"/>
          <p:cNvSpPr>
            <a:spLocks noChangeArrowheads="1"/>
          </p:cNvSpPr>
          <p:nvPr/>
        </p:nvSpPr>
        <p:spPr bwMode="auto">
          <a:xfrm>
            <a:off x="116632" y="2805534"/>
            <a:ext cx="342682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00" smtClean="0">
                <a:latin typeface="Arial" panose="020B0604020202020204" pitchFamily="34" charset="0"/>
                <a:ea typeface="돋움" pitchFamily="50" charset="-127"/>
                <a:cs typeface="Arial" panose="020B0604020202020204" pitchFamily="34" charset="0"/>
              </a:rPr>
              <a:t>12</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tượng</a:t>
            </a:r>
            <a:r>
              <a:rPr lang="en-US" altLang="ko-KR" sz="900" dirty="0" smtClean="0">
                <a:latin typeface="Arial" panose="020B0604020202020204" pitchFamily="34" charset="0"/>
                <a:ea typeface="돋움" pitchFamily="50" charset="-127"/>
                <a:cs typeface="Arial" panose="020B0604020202020204" pitchFamily="34" charset="0"/>
              </a:rPr>
              <a:t> electron </a:t>
            </a:r>
            <a:r>
              <a:rPr lang="en-US" altLang="ko-KR" sz="900" dirty="0" err="1" smtClean="0">
                <a:latin typeface="Arial" panose="020B0604020202020204" pitchFamily="34" charset="0"/>
                <a:ea typeface="돋움" pitchFamily="50" charset="-127"/>
                <a:cs typeface="Arial" panose="020B0604020202020204" pitchFamily="34" charset="0"/>
              </a:rPr>
              <a:t>quỹ</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đạo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nhận</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lượng</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mạnh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rồi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thành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electron tự </a:t>
            </a:r>
            <a:r>
              <a:rPr lang="en-US" altLang="ko-KR" sz="900" dirty="0" smtClean="0">
                <a:latin typeface="Arial" panose="020B0604020202020204" pitchFamily="34" charset="0"/>
                <a:ea typeface="돋움" pitchFamily="50" charset="-127"/>
                <a:cs typeface="Arial" panose="020B0604020202020204" pitchFamily="34" charset="0"/>
              </a:rPr>
              <a:t>do </a:t>
            </a:r>
            <a:r>
              <a:rPr lang="en-US" altLang="ko-KR" sz="900" err="1" smtClean="0">
                <a:latin typeface="Arial" panose="020B0604020202020204" pitchFamily="34" charset="0"/>
                <a:ea typeface="돋움" pitchFamily="50" charset="-127"/>
                <a:cs typeface="Arial" panose="020B0604020202020204" pitchFamily="34" charset="0"/>
              </a:rPr>
              <a:t>trong</a:t>
            </a:r>
            <a:r>
              <a:rPr lang="en-US" altLang="ko-KR" sz="900" smtClean="0">
                <a:latin typeface="Arial" panose="020B0604020202020204" pitchFamily="34" charset="0"/>
                <a:ea typeface="돋움" pitchFamily="50" charset="-127"/>
                <a:cs typeface="Arial" panose="020B0604020202020204" pitchFamily="34" charset="0"/>
              </a:rPr>
              <a:t> nguyên </a:t>
            </a:r>
            <a:r>
              <a:rPr lang="en-US" altLang="ko-KR" sz="900" err="1" smtClean="0">
                <a:latin typeface="Arial" panose="020B0604020202020204" pitchFamily="34" charset="0"/>
                <a:ea typeface="돋움" pitchFamily="50" charset="-127"/>
                <a:cs typeface="Arial" panose="020B0604020202020204" pitchFamily="34" charset="0"/>
              </a:rPr>
              <a:t>tử</a:t>
            </a:r>
            <a:r>
              <a:rPr lang="en-US" altLang="ko-KR" sz="900" smtClean="0">
                <a:latin typeface="Arial" panose="020B0604020202020204" pitchFamily="34" charset="0"/>
                <a:ea typeface="돋움" pitchFamily="50" charset="-127"/>
                <a:cs typeface="Arial" panose="020B0604020202020204" pitchFamily="34" charset="0"/>
              </a:rPr>
              <a:t> gọi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marL="0" indent="0" eaLnBrk="1" hangingPunct="1"/>
            <a:r>
              <a:rPr lang="en-US" altLang="ko-KR" sz="900" smtClean="0">
                <a:latin typeface="Arial" panose="020B0604020202020204" pitchFamily="34" charset="0"/>
                <a:ea typeface="돋움" pitchFamily="50" charset="-127"/>
                <a:cs typeface="Arial" panose="020B0604020202020204" pitchFamily="34" charset="0"/>
              </a:rPr>
              <a:t>A. Kích </a:t>
            </a:r>
            <a:r>
              <a:rPr lang="en-US" altLang="ko-KR" sz="900" err="1" smtClean="0">
                <a:latin typeface="Arial" panose="020B0604020202020204" pitchFamily="34" charset="0"/>
                <a:ea typeface="돋움" pitchFamily="50" charset="-127"/>
                <a:cs typeface="Arial" panose="020B0604020202020204" pitchFamily="34" charset="0"/>
              </a:rPr>
              <a:t>thích</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smtClean="0">
                <a:latin typeface="Arial" panose="020B0604020202020204" pitchFamily="34" charset="0"/>
                <a:ea typeface="돋움" pitchFamily="50" charset="-127"/>
                <a:cs typeface="Arial" panose="020B0604020202020204" pitchFamily="34" charset="0"/>
              </a:rPr>
              <a:t>Ion </a:t>
            </a:r>
            <a:r>
              <a:rPr lang="en-US" altLang="ko-KR" sz="900" err="1" smtClean="0">
                <a:latin typeface="Arial" panose="020B0604020202020204" pitchFamily="34" charset="0"/>
                <a:ea typeface="돋움" pitchFamily="50" charset="-127"/>
                <a:cs typeface="Arial" panose="020B0604020202020204" pitchFamily="34" charset="0"/>
              </a:rPr>
              <a:t>hóa</a:t>
            </a:r>
            <a:r>
              <a:rPr lang="ko-KR" altLang="en-US" sz="900" smtClean="0">
                <a:latin typeface="Arial" panose="020B0604020202020204" pitchFamily="34" charset="0"/>
                <a:ea typeface="돋움" pitchFamily="50" charset="-127"/>
                <a:cs typeface="Arial" panose="020B0604020202020204" pitchFamily="34" charset="0"/>
              </a:rPr>
              <a:t> </a:t>
            </a:r>
            <a:endParaRPr lang="en-US" altLang="ko-KR" sz="900" smtClean="0">
              <a:latin typeface="Arial" panose="020B0604020202020204" pitchFamily="34" charset="0"/>
              <a:ea typeface="돋움" pitchFamily="50" charset="-127"/>
              <a:cs typeface="Arial" panose="020B0604020202020204" pitchFamily="34" charset="0"/>
            </a:endParaRPr>
          </a:p>
          <a:p>
            <a:pPr marL="0" indent="0" eaLnBrk="1" hangingPunct="1"/>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photon</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phóng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bức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xạ</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điện</a:t>
            </a:r>
            <a:r>
              <a:rPr lang="en-US" altLang="ko-KR" sz="900" smtClean="0">
                <a:latin typeface="Arial" panose="020B0604020202020204" pitchFamily="34" charset="0"/>
                <a:ea typeface="돋움" pitchFamily="50" charset="-127"/>
                <a:cs typeface="Arial" panose="020B0604020202020204" pitchFamily="34" charset="0"/>
              </a:rPr>
              <a:t> từ</a:t>
            </a:r>
            <a:endParaRPr lang="ko-KR" altLang="en-US" sz="900" dirty="0">
              <a:latin typeface="Arial" panose="020B0604020202020204" pitchFamily="34" charset="0"/>
              <a:ea typeface="돋움" pitchFamily="50" charset="-127"/>
              <a:cs typeface="Arial" panose="020B0604020202020204" pitchFamily="34" charset="0"/>
            </a:endParaRPr>
          </a:p>
        </p:txBody>
      </p:sp>
      <p:grpSp>
        <p:nvGrpSpPr>
          <p:cNvPr id="9" name="Group 8"/>
          <p:cNvGrpSpPr/>
          <p:nvPr/>
        </p:nvGrpSpPr>
        <p:grpSpPr>
          <a:xfrm>
            <a:off x="260649" y="4520952"/>
            <a:ext cx="3168351" cy="1152128"/>
            <a:chOff x="304800" y="3347862"/>
            <a:chExt cx="3429000" cy="1152128"/>
          </a:xfrm>
        </p:grpSpPr>
        <p:sp>
          <p:nvSpPr>
            <p:cNvPr id="10" name="직사각형 17"/>
            <p:cNvSpPr>
              <a:spLocks noChangeArrowheads="1"/>
            </p:cNvSpPr>
            <p:nvPr/>
          </p:nvSpPr>
          <p:spPr bwMode="auto">
            <a:xfrm>
              <a:off x="304800" y="3438161"/>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13</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giải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thích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tụ</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p>
            <a:p>
              <a:pPr eaLnBrk="1" hangingPunct="1"/>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trong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hình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tụ</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phân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cực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dụng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tần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số</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cao</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dung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47[㎌]</a:t>
              </a: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Sử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dụng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áp</a:t>
              </a:r>
              <a:r>
                <a:rPr lang="en-US" altLang="ko-KR" sz="900" smtClean="0">
                  <a:latin typeface="Arial" panose="020B0604020202020204" pitchFamily="34" charset="0"/>
                  <a:ea typeface="돋움" pitchFamily="50" charset="-127"/>
                  <a:cs typeface="Arial" panose="020B0604020202020204" pitchFamily="34" charset="0"/>
                </a:rPr>
                <a:t> chịu được trong khoảng50[V</a:t>
              </a:r>
              <a:r>
                <a:rPr lang="en-US" altLang="ko-KR" sz="900" dirty="0" smtClean="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Cực</a:t>
              </a:r>
              <a:r>
                <a:rPr lang="en-US" altLang="ko-KR" sz="900" dirty="0" smtClean="0">
                  <a:latin typeface="Arial" panose="020B0604020202020204" pitchFamily="34" charset="0"/>
                  <a:ea typeface="돋움" pitchFamily="50" charset="-127"/>
                  <a:cs typeface="Arial" panose="020B0604020202020204" pitchFamily="34" charset="0"/>
                </a:rPr>
                <a:t> Lead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 </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11"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4929" y="3347862"/>
              <a:ext cx="739019"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 name="직사각형 23"/>
          <p:cNvSpPr>
            <a:spLocks noChangeArrowheads="1"/>
          </p:cNvSpPr>
          <p:nvPr/>
        </p:nvSpPr>
        <p:spPr bwMode="auto">
          <a:xfrm>
            <a:off x="151252" y="6544434"/>
            <a:ext cx="330513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14</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Yếu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hiệu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cao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suất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dòng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điện</a:t>
            </a:r>
            <a:r>
              <a:rPr lang="en-US" altLang="ko-KR" sz="900" smtClean="0">
                <a:latin typeface="Arial" panose="020B0604020202020204" pitchFamily="34" charset="0"/>
                <a:ea typeface="돋움" pitchFamily="50" charset="-127"/>
                <a:cs typeface="Arial" panose="020B0604020202020204" pitchFamily="34" charset="0"/>
              </a:rPr>
              <a:t> thấp,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tiêu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thụ</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nhỏ</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là</a:t>
            </a:r>
            <a:r>
              <a:rPr lang="en-US" altLang="ko-KR" sz="900" smtClean="0">
                <a:latin typeface="Arial" panose="020B0604020202020204" pitchFamily="34" charset="0"/>
                <a:ea typeface="돋움" pitchFamily="50" charset="-127"/>
                <a:cs typeface="Arial" panose="020B0604020202020204" pitchFamily="34" charset="0"/>
              </a:rPr>
              <a:t> gì?</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a:latin typeface="Arial" panose="020B0604020202020204" pitchFamily="34" charset="0"/>
                <a:ea typeface="돋움" pitchFamily="50" charset="-127"/>
                <a:cs typeface="Arial" panose="020B0604020202020204" pitchFamily="34" charset="0"/>
              </a:rPr>
              <a:t>CDS                         </a:t>
            </a:r>
            <a:r>
              <a:rPr lang="en-US" altLang="ko-KR" sz="900" smtClean="0">
                <a:latin typeface="Arial" panose="020B0604020202020204" pitchFamily="34" charset="0"/>
                <a:ea typeface="돋움" pitchFamily="50" charset="-127"/>
                <a:cs typeface="Arial" panose="020B0604020202020204" pitchFamily="34" charset="0"/>
              </a:rPr>
              <a:t> B. </a:t>
            </a:r>
            <a:r>
              <a:rPr lang="en-US" altLang="ko-KR" sz="900" dirty="0" smtClean="0">
                <a:latin typeface="Arial" panose="020B0604020202020204" pitchFamily="34" charset="0"/>
                <a:ea typeface="돋움" pitchFamily="50" charset="-127"/>
                <a:cs typeface="Arial" panose="020B0604020202020204" pitchFamily="34" charset="0"/>
              </a:rPr>
              <a:t>Port</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TR</a:t>
            </a: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a:latin typeface="Arial" panose="020B0604020202020204" pitchFamily="34" charset="0"/>
                <a:ea typeface="돋움" pitchFamily="50" charset="-127"/>
                <a:cs typeface="Arial" panose="020B0604020202020204" pitchFamily="34" charset="0"/>
              </a:rPr>
              <a:t>LED                          </a:t>
            </a:r>
            <a:r>
              <a:rPr lang="en-US" altLang="ko-KR" sz="900" smtClean="0">
                <a:latin typeface="Arial" panose="020B0604020202020204" pitchFamily="34" charset="0"/>
                <a:ea typeface="돋움" pitchFamily="50" charset="-127"/>
                <a:cs typeface="Arial" panose="020B0604020202020204" pitchFamily="34" charset="0"/>
              </a:rPr>
              <a:t>D. </a:t>
            </a:r>
            <a:r>
              <a:rPr lang="en-US" altLang="ko-KR" sz="900" dirty="0" smtClean="0">
                <a:latin typeface="Arial" panose="020B0604020202020204" pitchFamily="34" charset="0"/>
                <a:ea typeface="돋움" pitchFamily="50" charset="-127"/>
                <a:cs typeface="Arial" panose="020B0604020202020204" pitchFamily="34" charset="0"/>
              </a:rPr>
              <a:t>Cable </a:t>
            </a:r>
            <a:r>
              <a:rPr lang="en-US" altLang="ko-KR" sz="900" dirty="0" err="1" smtClean="0">
                <a:latin typeface="Arial" panose="020B0604020202020204" pitchFamily="34" charset="0"/>
                <a:ea typeface="돋움" pitchFamily="50" charset="-127"/>
                <a:cs typeface="Arial" panose="020B0604020202020204" pitchFamily="34" charset="0"/>
              </a:rPr>
              <a:t>quang</a:t>
            </a:r>
            <a:endParaRPr lang="ko-KR" altLang="en-US" sz="900" dirty="0">
              <a:latin typeface="Arial" panose="020B0604020202020204" pitchFamily="34" charset="0"/>
              <a:ea typeface="돋움" pitchFamily="50" charset="-127"/>
              <a:cs typeface="Arial" panose="020B0604020202020204" pitchFamily="34" charset="0"/>
            </a:endParaRPr>
          </a:p>
        </p:txBody>
      </p:sp>
      <p:sp>
        <p:nvSpPr>
          <p:cNvPr id="13" name="Rectangle 103"/>
          <p:cNvSpPr>
            <a:spLocks noChangeArrowheads="1"/>
          </p:cNvSpPr>
          <p:nvPr/>
        </p:nvSpPr>
        <p:spPr bwMode="auto">
          <a:xfrm>
            <a:off x="133797" y="8200618"/>
            <a:ext cx="3295203"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gì?</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B. </a:t>
            </a:r>
            <a:r>
              <a:rPr lang="en-US" altLang="ko-KR" sz="900">
                <a:latin typeface="Arial" panose="020B0604020202020204" pitchFamily="34" charset="0"/>
                <a:cs typeface="Arial" panose="020B0604020202020204" pitchFamily="34" charset="0"/>
              </a:rPr>
              <a:t>NTC  </a:t>
            </a:r>
            <a:r>
              <a:rPr lang="en-US" altLang="ko-KR" sz="900" smtClean="0">
                <a:latin typeface="Arial" panose="020B0604020202020204" pitchFamily="34" charset="0"/>
                <a:cs typeface="Arial" panose="020B0604020202020204" pitchFamily="34" charset="0"/>
              </a:rPr>
              <a:t>C. </a:t>
            </a:r>
            <a:r>
              <a:rPr lang="en-US" altLang="ko-KR" sz="900">
                <a:latin typeface="Arial" panose="020B0604020202020204" pitchFamily="34" charset="0"/>
                <a:cs typeface="Arial" panose="020B0604020202020204" pitchFamily="34" charset="0"/>
              </a:rPr>
              <a:t>PTC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14" name="Rectangle 134"/>
          <p:cNvSpPr>
            <a:spLocks noChangeArrowheads="1"/>
          </p:cNvSpPr>
          <p:nvPr/>
        </p:nvSpPr>
        <p:spPr bwMode="auto">
          <a:xfrm>
            <a:off x="3445270" y="992560"/>
            <a:ext cx="3259521"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16</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án</a:t>
            </a:r>
            <a:r>
              <a:rPr lang="en-US" altLang="ko-KR" sz="900" smtClean="0">
                <a:latin typeface="Arial" panose="020B0604020202020204" pitchFamily="34" charset="0"/>
                <a:ea typeface="돋움" pitchFamily="50" charset="-127"/>
                <a:cs typeface="Arial" panose="020B0604020202020204" pitchFamily="34" charset="0"/>
              </a:rPr>
              <a:t> nào sai </a:t>
            </a:r>
            <a:r>
              <a:rPr lang="en-US" altLang="ko-KR" sz="900" dirty="0" err="1" smtClean="0">
                <a:latin typeface="Arial" panose="020B0604020202020204" pitchFamily="34" charset="0"/>
                <a:ea typeface="돋움" pitchFamily="50" charset="-127"/>
                <a:cs typeface="Arial" panose="020B0604020202020204" pitchFamily="34" charset="0"/>
              </a:rPr>
              <a:t>khi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giải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thích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SSR’?</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dẫn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tiếp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điểm</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ít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chịu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ảnh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hưởng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âm</a:t>
            </a:r>
            <a:r>
              <a:rPr lang="en-US" altLang="ko-KR" sz="900" dirty="0" smtClean="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marL="228600" indent="-228600" eaLnBrk="1" hangingPunct="1"/>
            <a:r>
              <a:rPr lang="ko-KR" altLang="en-US"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Vẫn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động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rung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động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Dù</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dụng</a:t>
            </a:r>
            <a:r>
              <a:rPr lang="en-US" altLang="ko-KR" sz="900" dirty="0" smtClean="0">
                <a:latin typeface="Arial" panose="020B0604020202020204" pitchFamily="34" charset="0"/>
                <a:ea typeface="돋움" pitchFamily="50" charset="-127"/>
                <a:cs typeface="Arial" panose="020B0604020202020204" pitchFamily="34" charset="0"/>
              </a:rPr>
              <a:t> ở </a:t>
            </a:r>
            <a:r>
              <a:rPr lang="en-US" altLang="ko-KR" sz="900" dirty="0" err="1" smtClean="0">
                <a:latin typeface="Arial" panose="020B0604020202020204" pitchFamily="34" charset="0"/>
                <a:ea typeface="돋움" pitchFamily="50" charset="-127"/>
                <a:cs typeface="Arial" panose="020B0604020202020204" pitchFamily="34" charset="0"/>
              </a:rPr>
              <a:t>những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nơi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nhiều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bụi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bẩn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nơi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dùng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khí</a:t>
            </a:r>
            <a:r>
              <a:rPr lang="en-US" altLang="ko-KR" sz="900" dirty="0" smtClean="0">
                <a:latin typeface="Arial" panose="020B0604020202020204" pitchFamily="34" charset="0"/>
                <a:ea typeface="돋움" pitchFamily="50" charset="-127"/>
                <a:cs typeface="Arial" panose="020B0604020202020204" pitchFamily="34" charset="0"/>
              </a:rPr>
              <a:t> gas </a:t>
            </a:r>
            <a:r>
              <a:rPr lang="en-US" altLang="ko-KR" sz="900" dirty="0" err="1" smtClean="0">
                <a:latin typeface="Arial" panose="020B0604020202020204" pitchFamily="34" charset="0"/>
                <a:ea typeface="돋움" pitchFamily="50" charset="-127"/>
                <a:cs typeface="Arial" panose="020B0604020202020204" pitchFamily="34" charset="0"/>
              </a:rPr>
              <a:t>dễ</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cháy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cũng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vấn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đề</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cách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hoàn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toàn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giữa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đầu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In/Out nên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rò</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dòng</a:t>
            </a:r>
            <a:endParaRPr lang="ko-KR" altLang="en-US" sz="900" dirty="0">
              <a:latin typeface="Arial" panose="020B0604020202020204" pitchFamily="34" charset="0"/>
              <a:ea typeface="돋움" pitchFamily="50" charset="-127"/>
              <a:cs typeface="Arial" panose="020B0604020202020204" pitchFamily="34" charset="0"/>
            </a:endParaRPr>
          </a:p>
        </p:txBody>
      </p:sp>
      <p:grpSp>
        <p:nvGrpSpPr>
          <p:cNvPr id="15" name="Group 14"/>
          <p:cNvGrpSpPr/>
          <p:nvPr/>
        </p:nvGrpSpPr>
        <p:grpSpPr>
          <a:xfrm>
            <a:off x="3456384" y="2822223"/>
            <a:ext cx="3429000" cy="1410697"/>
            <a:chOff x="284163" y="7481903"/>
            <a:chExt cx="3429000" cy="1410697"/>
          </a:xfrm>
        </p:grpSpPr>
        <p:sp>
          <p:nvSpPr>
            <p:cNvPr id="16" name="직사각형 28"/>
            <p:cNvSpPr>
              <a:spLocks noChangeArrowheads="1"/>
            </p:cNvSpPr>
            <p:nvPr/>
          </p:nvSpPr>
          <p:spPr bwMode="auto">
            <a:xfrm>
              <a:off x="284163" y="7481903"/>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17</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Biểu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đồ</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hiển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thị</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yếu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nào</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dirty="0">
                  <a:latin typeface="Arial" panose="020B0604020202020204" pitchFamily="34" charset="0"/>
                  <a:ea typeface="돋움" pitchFamily="50" charset="-127"/>
                  <a:cs typeface="Arial" panose="020B0604020202020204" pitchFamily="34" charset="0"/>
                </a:rPr>
                <a:t>                          </a:t>
              </a:r>
            </a:p>
            <a:p>
              <a:pPr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A. </a:t>
              </a:r>
              <a:r>
                <a:rPr lang="en-US" altLang="ko-KR" sz="900" dirty="0" err="1" smtClean="0">
                  <a:latin typeface="Arial" panose="020B0604020202020204" pitchFamily="34" charset="0"/>
                  <a:ea typeface="돋움" pitchFamily="50" charset="-127"/>
                  <a:cs typeface="Arial" panose="020B0604020202020204" pitchFamily="34" charset="0"/>
                </a:rPr>
                <a:t>Diot</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smtClean="0">
                  <a:latin typeface="Arial" panose="020B0604020202020204" pitchFamily="34" charset="0"/>
                  <a:ea typeface="돋움" pitchFamily="50" charset="-127"/>
                  <a:cs typeface="Arial" panose="020B0604020202020204" pitchFamily="34" charset="0"/>
                </a:rPr>
                <a:t>Transistor </a:t>
              </a:r>
              <a:r>
                <a:rPr lang="en-US" altLang="ko-KR" sz="900" err="1" smtClean="0">
                  <a:latin typeface="Arial" panose="020B0604020202020204" pitchFamily="34" charset="0"/>
                  <a:ea typeface="돋움" pitchFamily="50" charset="-127"/>
                  <a:cs typeface="Arial" panose="020B0604020202020204" pitchFamily="34" charset="0"/>
                </a:rPr>
                <a:t>hiệu</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quả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trường</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smtClean="0">
                  <a:latin typeface="Arial" panose="020B0604020202020204" pitchFamily="34" charset="0"/>
                  <a:ea typeface="돋움" pitchFamily="50" charset="-127"/>
                  <a:cs typeface="Arial" panose="020B0604020202020204" pitchFamily="34" charset="0"/>
                </a:rPr>
                <a:t>Transistor</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17" name="Picture 372"/>
            <p:cNvPicPr>
              <a:picLocks noChangeAspect="1" noChangeArrowheads="1"/>
            </p:cNvPicPr>
            <p:nvPr/>
          </p:nvPicPr>
          <p:blipFill>
            <a:blip r:embed="rId4">
              <a:extLst>
                <a:ext uri="{28A0092B-C50C-407E-A947-70E740481C1C}">
                  <a14:useLocalDpi xmlns:a14="http://schemas.microsoft.com/office/drawing/2010/main" val="0"/>
                </a:ext>
              </a:extLst>
            </a:blip>
            <a:srcRect t="8131" r="57114" b="22145"/>
            <a:stretch>
              <a:fillRect/>
            </a:stretch>
          </p:blipFill>
          <p:spPr bwMode="auto">
            <a:xfrm>
              <a:off x="371231" y="7649760"/>
              <a:ext cx="1401539" cy="115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1485461" y="7932238"/>
              <a:ext cx="279689" cy="319892"/>
            </a:xfrm>
            <a:prstGeom prst="rect">
              <a:avLst/>
            </a:prstGeom>
            <a:solidFill>
              <a:schemeClr val="bg1"/>
            </a:solidFill>
            <a:ln>
              <a:solidFill>
                <a:schemeClr val="bg1"/>
              </a:solid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smtClean="0">
                  <a:solidFill>
                    <a:schemeClr val="tx1"/>
                  </a:solidFill>
                  <a:latin typeface="Arial" pitchFamily="34" charset="0"/>
                  <a:cs typeface="Arial" pitchFamily="34" charset="0"/>
                </a:rPr>
                <a:t>Dòng</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điện</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thuận</a:t>
              </a:r>
              <a:endParaRPr lang="en-US" sz="900" dirty="0">
                <a:solidFill>
                  <a:schemeClr val="tx1"/>
                </a:solidFill>
                <a:latin typeface="Arial" pitchFamily="34" charset="0"/>
                <a:cs typeface="Arial" pitchFamily="34" charset="0"/>
              </a:endParaRPr>
            </a:p>
          </p:txBody>
        </p:sp>
        <p:sp>
          <p:nvSpPr>
            <p:cNvPr id="19" name="Rectangle 18"/>
            <p:cNvSpPr/>
            <p:nvPr/>
          </p:nvSpPr>
          <p:spPr>
            <a:xfrm>
              <a:off x="692620" y="8572708"/>
              <a:ext cx="373798" cy="319892"/>
            </a:xfrm>
            <a:prstGeom prst="rect">
              <a:avLst/>
            </a:prstGeom>
            <a:solidFill>
              <a:schemeClr val="bg1"/>
            </a:solidFill>
            <a:ln>
              <a:solidFill>
                <a:schemeClr val="bg1"/>
              </a:solid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smtClean="0">
                  <a:solidFill>
                    <a:schemeClr val="tx1"/>
                  </a:solidFill>
                  <a:latin typeface="Arial" pitchFamily="34" charset="0"/>
                  <a:cs typeface="Arial" pitchFamily="34" charset="0"/>
                </a:rPr>
                <a:t>Dòng</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điện</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ngược</a:t>
              </a:r>
              <a:endParaRPr lang="en-US" sz="900" dirty="0">
                <a:solidFill>
                  <a:schemeClr val="tx1"/>
                </a:solidFill>
                <a:latin typeface="Arial" pitchFamily="34" charset="0"/>
                <a:cs typeface="Arial" pitchFamily="34" charset="0"/>
              </a:endParaRPr>
            </a:p>
          </p:txBody>
        </p:sp>
      </p:grpSp>
      <p:sp>
        <p:nvSpPr>
          <p:cNvPr id="20" name="직사각형 30"/>
          <p:cNvSpPr>
            <a:spLocks noChangeArrowheads="1"/>
          </p:cNvSpPr>
          <p:nvPr/>
        </p:nvSpPr>
        <p:spPr bwMode="auto">
          <a:xfrm>
            <a:off x="3462973" y="4592960"/>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18</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từ</a:t>
            </a:r>
            <a:r>
              <a:rPr lang="en-US" altLang="ko-KR" sz="900" smtClean="0">
                <a:latin typeface="Arial" panose="020B0604020202020204" pitchFamily="34" charset="0"/>
                <a:ea typeface="돋움" pitchFamily="50" charset="-127"/>
                <a:cs typeface="Arial" panose="020B0604020202020204" pitchFamily="34" charset="0"/>
              </a:rPr>
              <a:t> thích hợp điền </a:t>
            </a:r>
            <a:r>
              <a:rPr lang="en-US" altLang="ko-KR" sz="900" dirty="0" err="1" smtClean="0">
                <a:latin typeface="Arial" panose="020B0604020202020204" pitchFamily="34" charset="0"/>
                <a:ea typeface="돋움" pitchFamily="50" charset="-127"/>
                <a:cs typeface="Arial" panose="020B0604020202020204" pitchFamily="34" charset="0"/>
              </a:rPr>
              <a:t>vào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chỗ</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trống</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dirty="0">
                <a:latin typeface="Arial" panose="020B0604020202020204" pitchFamily="34" charset="0"/>
                <a:ea typeface="돋움" pitchFamily="50" charset="-127"/>
                <a:cs typeface="Arial" panose="020B0604020202020204" pitchFamily="34" charset="0"/>
              </a:rPr>
              <a:t> - </a:t>
            </a:r>
            <a:r>
              <a:rPr lang="en-US" altLang="ko-KR" sz="900" dirty="0" err="1" smtClean="0">
                <a:latin typeface="Arial" panose="020B0604020202020204" pitchFamily="34" charset="0"/>
                <a:ea typeface="돋움" pitchFamily="50" charset="-127"/>
                <a:cs typeface="Arial" panose="020B0604020202020204" pitchFamily="34" charset="0"/>
              </a:rPr>
              <a:t>Tất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cả</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các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vật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đều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tạo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thành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bởi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tập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hợp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các</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smtClean="0">
                <a:latin typeface="Arial" panose="020B0604020202020204" pitchFamily="34" charset="0"/>
                <a:ea typeface="돋움" pitchFamily="50" charset="-127"/>
                <a:cs typeface="Arial" panose="020B0604020202020204" pitchFamily="34" charset="0"/>
              </a:rPr>
              <a:t>phân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tủ</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cấu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trúc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hạt</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smtClean="0">
                <a:latin typeface="Arial" panose="020B0604020202020204" pitchFamily="34" charset="0"/>
                <a:ea typeface="돋움" pitchFamily="50" charset="-127"/>
                <a:cs typeface="Arial" panose="020B0604020202020204" pitchFamily="34" charset="0"/>
              </a:rPr>
              <a:t>nhân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các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 quay </a:t>
            </a:r>
            <a:r>
              <a:rPr lang="en-US" altLang="ko-KR" sz="900" dirty="0" err="1" smtClean="0">
                <a:latin typeface="Arial" panose="020B0604020202020204" pitchFamily="34" charset="0"/>
                <a:ea typeface="돋움" pitchFamily="50" charset="-127"/>
                <a:cs typeface="Arial" panose="020B0604020202020204" pitchFamily="34" charset="0"/>
              </a:rPr>
              <a:t>xung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nó</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Hạt </a:t>
            </a:r>
            <a:r>
              <a:rPr lang="en-US" altLang="ko-KR" sz="900" dirty="0" err="1" smtClean="0">
                <a:latin typeface="Arial" panose="020B0604020202020204" pitchFamily="34" charset="0"/>
                <a:ea typeface="돋움" pitchFamily="50" charset="-127"/>
                <a:cs typeface="Arial" panose="020B0604020202020204" pitchFamily="34" charset="0"/>
              </a:rPr>
              <a:t>nhân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tử</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Electron</a:t>
            </a:r>
            <a:r>
              <a:rPr lang="ko-KR" altLang="en-US" sz="900" smtClean="0">
                <a:latin typeface="Arial" panose="020B0604020202020204" pitchFamily="34" charset="0"/>
                <a:ea typeface="돋움" pitchFamily="50" charset="-127"/>
                <a:cs typeface="Arial" panose="020B0604020202020204" pitchFamily="34" charset="0"/>
              </a:rPr>
              <a:t>    </a:t>
            </a:r>
            <a:endParaRPr lang="en-US" altLang="ko-KR" sz="900">
              <a:latin typeface="Arial" panose="020B0604020202020204" pitchFamily="34" charset="0"/>
              <a:ea typeface="돋움" pitchFamily="50" charset="-127"/>
              <a:cs typeface="Arial" panose="020B0604020202020204" pitchFamily="34" charset="0"/>
            </a:endParaRPr>
          </a:p>
          <a:p>
            <a:pPr eaLnBrk="1" hangingPunct="1"/>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a:latin typeface="Arial" panose="020B0604020202020204" pitchFamily="34" charset="0"/>
                <a:ea typeface="돋움" pitchFamily="50" charset="-127"/>
                <a:cs typeface="Arial" panose="020B0604020202020204" pitchFamily="34" charset="0"/>
              </a:rPr>
              <a:t>N</a:t>
            </a:r>
            <a:r>
              <a:rPr lang="en-US" altLang="ko-KR" sz="900" smtClean="0">
                <a:latin typeface="Arial" panose="020B0604020202020204" pitchFamily="34" charset="0"/>
                <a:ea typeface="돋움" pitchFamily="50" charset="-127"/>
                <a:cs typeface="Arial" panose="020B0604020202020204" pitchFamily="34" charset="0"/>
              </a:rPr>
              <a:t>guyên </a:t>
            </a:r>
            <a:r>
              <a:rPr lang="en-US" altLang="ko-KR" sz="900" err="1" smtClean="0">
                <a:latin typeface="Arial" panose="020B0604020202020204" pitchFamily="34" charset="0"/>
                <a:ea typeface="돋움" pitchFamily="50" charset="-127"/>
                <a:cs typeface="Arial" panose="020B0604020202020204" pitchFamily="34" charset="0"/>
              </a:rPr>
              <a:t>tố</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N</a:t>
            </a:r>
            <a:r>
              <a:rPr lang="en-US" altLang="ko-KR" sz="900" smtClean="0">
                <a:latin typeface="Arial" panose="020B0604020202020204" pitchFamily="34" charset="0"/>
                <a:ea typeface="돋움" pitchFamily="50" charset="-127"/>
                <a:cs typeface="Arial" panose="020B0604020202020204" pitchFamily="34" charset="0"/>
              </a:rPr>
              <a:t>eutron</a:t>
            </a:r>
            <a:endParaRPr lang="ko-KR" altLang="en-US" sz="900" dirty="0">
              <a:latin typeface="Arial" panose="020B0604020202020204" pitchFamily="34" charset="0"/>
              <a:ea typeface="돋움" pitchFamily="50" charset="-127"/>
              <a:cs typeface="Arial" panose="020B0604020202020204" pitchFamily="34" charset="0"/>
            </a:endParaRPr>
          </a:p>
        </p:txBody>
      </p:sp>
      <p:sp>
        <p:nvSpPr>
          <p:cNvPr id="21" name="직사각형 2048"/>
          <p:cNvSpPr>
            <a:spLocks noChangeArrowheads="1"/>
          </p:cNvSpPr>
          <p:nvPr/>
        </p:nvSpPr>
        <p:spPr bwMode="auto">
          <a:xfrm>
            <a:off x="3464133" y="6609184"/>
            <a:ext cx="31607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14300" indent="-114300" eaLnBrk="1" hangingPunct="1"/>
            <a:r>
              <a:rPr lang="en-US" altLang="ko-KR" sz="900" smtClean="0">
                <a:latin typeface="Arial" panose="020B0604020202020204" pitchFamily="34" charset="0"/>
                <a:ea typeface="돋움" pitchFamily="50" charset="-127"/>
                <a:cs typeface="Arial" panose="020B0604020202020204" pitchFamily="34" charset="0"/>
              </a:rPr>
              <a:t>19</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xuay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chiều</a:t>
            </a:r>
            <a:r>
              <a:rPr lang="en-US" altLang="ko-KR" sz="900" dirty="0" smtClean="0">
                <a:latin typeface="Arial" panose="020B0604020202020204" pitchFamily="34" charset="0"/>
                <a:ea typeface="돋움" pitchFamily="50" charset="-127"/>
                <a:cs typeface="Arial" panose="020B0604020202020204" pitchFamily="34" charset="0"/>
              </a:rPr>
              <a:t> ở coil do </a:t>
            </a:r>
            <a:r>
              <a:rPr lang="en-US" altLang="ko-KR" sz="900" dirty="0" err="1" smtClean="0">
                <a:latin typeface="Arial" panose="020B0604020202020204" pitchFamily="34" charset="0"/>
                <a:ea typeface="돋움" pitchFamily="50" charset="-127"/>
                <a:cs typeface="Arial" panose="020B0604020202020204" pitchFamily="34" charset="0"/>
              </a:rPr>
              <a:t>hiện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tượng</a:t>
            </a:r>
            <a:r>
              <a:rPr lang="en-US" altLang="ko-KR" sz="900" smtClean="0">
                <a:latin typeface="Arial" panose="020B0604020202020204" pitchFamily="34" charset="0"/>
                <a:ea typeface="돋움" pitchFamily="50" charset="-127"/>
                <a:cs typeface="Arial" panose="020B0604020202020204" pitchFamily="34" charset="0"/>
              </a:rPr>
              <a:t>  điện </a:t>
            </a:r>
            <a:r>
              <a:rPr lang="en-US" altLang="ko-KR" sz="900" dirty="0" err="1" smtClean="0">
                <a:latin typeface="Arial" panose="020B0604020202020204" pitchFamily="34" charset="0"/>
                <a:ea typeface="돋움" pitchFamily="50" charset="-127"/>
                <a:cs typeface="Arial" panose="020B0604020202020204" pitchFamily="34" charset="0"/>
              </a:rPr>
              <a:t>cảm</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tương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hỗ</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trong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trường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hợp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một</a:t>
            </a:r>
            <a:r>
              <a:rPr lang="en-US" altLang="ko-KR" sz="900" dirty="0" smtClean="0">
                <a:latin typeface="Arial" panose="020B0604020202020204" pitchFamily="34" charset="0"/>
                <a:ea typeface="돋움" pitchFamily="50" charset="-127"/>
                <a:cs typeface="Arial" panose="020B0604020202020204" pitchFamily="34" charset="0"/>
              </a:rPr>
              <a:t> coil </a:t>
            </a:r>
            <a:r>
              <a:rPr lang="en-US" altLang="ko-KR" sz="900" smtClean="0">
                <a:latin typeface="Arial" panose="020B0604020202020204" pitchFamily="34" charset="0"/>
                <a:ea typeface="돋움" pitchFamily="50" charset="-127"/>
                <a:cs typeface="Arial" panose="020B0604020202020204" pitchFamily="34" charset="0"/>
              </a:rPr>
              <a:t>ở gầnmột </a:t>
            </a:r>
            <a:r>
              <a:rPr lang="en-US" altLang="ko-KR" sz="900" dirty="0" smtClean="0">
                <a:latin typeface="Arial" panose="020B0604020202020204" pitchFamily="34" charset="0"/>
                <a:ea typeface="돋움" pitchFamily="50" charset="-127"/>
                <a:cs typeface="Arial" panose="020B0604020202020204" pitchFamily="34" charset="0"/>
              </a:rPr>
              <a:t>coil </a:t>
            </a:r>
            <a:r>
              <a:rPr lang="en-US" altLang="ko-KR" sz="900" dirty="0" err="1" smtClean="0">
                <a:latin typeface="Arial" panose="020B0604020202020204" pitchFamily="34" charset="0"/>
                <a:ea typeface="돋움" pitchFamily="50" charset="-127"/>
                <a:cs typeface="Arial" panose="020B0604020202020204" pitchFamily="34" charset="0"/>
              </a:rPr>
              <a:t>đang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dùng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chạy</a:t>
            </a:r>
            <a:r>
              <a:rPr lang="en-US" altLang="ko-KR" sz="900" dirty="0" smtClean="0">
                <a:latin typeface="Arial" panose="020B0604020202020204" pitchFamily="34" charset="0"/>
                <a:ea typeface="돋움" pitchFamily="50" charset="-127"/>
                <a:cs typeface="Arial" panose="020B0604020202020204" pitchFamily="34" charset="0"/>
              </a:rPr>
              <a:t> qua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gọi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gì</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a:latin typeface="Arial" panose="020B0604020202020204" pitchFamily="34" charset="0"/>
                <a:ea typeface="돋움" pitchFamily="50" charset="-127"/>
                <a:cs typeface="Arial" panose="020B0604020202020204" pitchFamily="34" charset="0"/>
              </a:rPr>
              <a:t>H</a:t>
            </a:r>
            <a:r>
              <a:rPr lang="en-US" altLang="ko-KR" sz="900" smtClean="0">
                <a:latin typeface="Arial" panose="020B0604020202020204" pitchFamily="34" charset="0"/>
                <a:ea typeface="돋움" pitchFamily="50" charset="-127"/>
                <a:cs typeface="Arial" panose="020B0604020202020204" pitchFamily="34" charset="0"/>
              </a:rPr>
              <a:t>iện </a:t>
            </a:r>
            <a:r>
              <a:rPr lang="en-US" altLang="ko-KR" sz="900" dirty="0" err="1" smtClean="0">
                <a:latin typeface="Arial" panose="020B0604020202020204" pitchFamily="34" charset="0"/>
                <a:ea typeface="돋움" pitchFamily="50" charset="-127"/>
                <a:cs typeface="Arial" panose="020B0604020202020204" pitchFamily="34" charset="0"/>
              </a:rPr>
              <a:t>tượng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tự</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dẫn</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Đ</a:t>
            </a:r>
            <a:r>
              <a:rPr lang="en-US" altLang="ko-KR" sz="900" smtClean="0">
                <a:latin typeface="Arial" pitchFamily="34" charset="0"/>
                <a:ea typeface="돋움" pitchFamily="50" charset="-127"/>
                <a:cs typeface="Arial" pitchFamily="34" charset="0"/>
              </a:rPr>
              <a:t>iện </a:t>
            </a:r>
            <a:r>
              <a:rPr lang="en-US" altLang="ko-KR" sz="900" dirty="0" err="1" smtClean="0">
                <a:latin typeface="Arial" pitchFamily="34" charset="0"/>
                <a:ea typeface="돋움" pitchFamily="50" charset="-127"/>
                <a:cs typeface="Arial" pitchFamily="34" charset="0"/>
              </a:rPr>
              <a:t>cảm</a:t>
            </a:r>
            <a:r>
              <a:rPr lang="en-US" altLang="ko-KR" sz="900" dirty="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tương</a:t>
            </a:r>
            <a:r>
              <a:rPr lang="en-US" altLang="ko-KR" sz="900" dirty="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hỗ</a:t>
            </a:r>
            <a:endParaRPr lang="ko-KR" altLang="en-US" sz="900" dirty="0">
              <a:latin typeface="Arial" pitchFamily="34" charset="0"/>
              <a:ea typeface="돋움" pitchFamily="50" charset="-127"/>
              <a:cs typeface="Arial" pitchFamily="34" charset="0"/>
            </a:endParaRPr>
          </a:p>
          <a:p>
            <a:pPr eaLnBrk="1" hangingPunct="1"/>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dirty="0" err="1">
                <a:latin typeface="Arial" pitchFamily="34" charset="0"/>
                <a:ea typeface="돋움" pitchFamily="50" charset="-127"/>
                <a:cs typeface="Arial" pitchFamily="34" charset="0"/>
              </a:rPr>
              <a:t>H</a:t>
            </a:r>
            <a:r>
              <a:rPr lang="en-US" altLang="ko-KR" sz="900" smtClean="0">
                <a:latin typeface="Arial" pitchFamily="34" charset="0"/>
                <a:ea typeface="돋움" pitchFamily="50" charset="-127"/>
                <a:cs typeface="Arial" pitchFamily="34" charset="0"/>
              </a:rPr>
              <a:t>iện </a:t>
            </a:r>
            <a:r>
              <a:rPr lang="en-US" altLang="ko-KR" sz="900" dirty="0" err="1" smtClean="0">
                <a:latin typeface="Arial" pitchFamily="34" charset="0"/>
                <a:ea typeface="돋움" pitchFamily="50" charset="-127"/>
                <a:cs typeface="Arial" pitchFamily="34" charset="0"/>
              </a:rPr>
              <a:t>tượng</a:t>
            </a:r>
            <a:r>
              <a:rPr lang="en-US" altLang="ko-KR" sz="900" dirty="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tự</a:t>
            </a:r>
            <a:r>
              <a:rPr lang="en-US" altLang="ko-KR" sz="900" dirty="0" smtClean="0">
                <a:latin typeface="Arial" pitchFamily="34" charset="0"/>
                <a:ea typeface="돋움" pitchFamily="50" charset="-127"/>
                <a:cs typeface="Arial" pitchFamily="34" charset="0"/>
              </a:rPr>
              <a:t> </a:t>
            </a:r>
            <a:r>
              <a:rPr lang="en-US" altLang="ko-KR" sz="900" err="1" smtClean="0">
                <a:latin typeface="Arial" pitchFamily="34" charset="0"/>
                <a:ea typeface="돋움" pitchFamily="50" charset="-127"/>
                <a:cs typeface="Arial" pitchFamily="34" charset="0"/>
              </a:rPr>
              <a:t>cảm</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Đ</a:t>
            </a:r>
            <a:r>
              <a:rPr lang="en-US" altLang="ko-KR" sz="900" smtClean="0">
                <a:latin typeface="Arial" pitchFamily="34" charset="0"/>
                <a:ea typeface="돋움" pitchFamily="50" charset="-127"/>
                <a:cs typeface="Arial" pitchFamily="34" charset="0"/>
              </a:rPr>
              <a:t>iện </a:t>
            </a:r>
            <a:r>
              <a:rPr lang="en-US" altLang="ko-KR" sz="900" dirty="0" err="1" smtClean="0">
                <a:latin typeface="Arial" pitchFamily="34" charset="0"/>
                <a:ea typeface="돋움" pitchFamily="50" charset="-127"/>
                <a:cs typeface="Arial" pitchFamily="34" charset="0"/>
              </a:rPr>
              <a:t>dẫn</a:t>
            </a:r>
            <a:r>
              <a:rPr lang="en-US" altLang="ko-KR" sz="900" dirty="0" smtClean="0">
                <a:latin typeface="Arial" pitchFamily="34" charset="0"/>
                <a:ea typeface="돋움" pitchFamily="50" charset="-127"/>
                <a:cs typeface="Arial" pitchFamily="34" charset="0"/>
              </a:rPr>
              <a:t> </a:t>
            </a:r>
            <a:r>
              <a:rPr lang="en-US" altLang="ko-KR" sz="900" err="1" smtClean="0">
                <a:latin typeface="Arial" pitchFamily="34" charset="0"/>
                <a:ea typeface="돋움" pitchFamily="50" charset="-127"/>
                <a:cs typeface="Arial" pitchFamily="34" charset="0"/>
              </a:rPr>
              <a:t>hỗ</a:t>
            </a:r>
            <a:r>
              <a:rPr lang="en-US" altLang="ko-KR" sz="900" smtClean="0">
                <a:latin typeface="Arial" pitchFamily="34" charset="0"/>
                <a:ea typeface="돋움" pitchFamily="50" charset="-127"/>
                <a:cs typeface="Arial" pitchFamily="34" charset="0"/>
              </a:rPr>
              <a:t> cảm</a:t>
            </a:r>
            <a:endParaRPr lang="ko-KR" altLang="en-US" sz="900" dirty="0">
              <a:latin typeface="Arial" panose="020B0604020202020204" pitchFamily="34" charset="0"/>
              <a:ea typeface="돋움" pitchFamily="50" charset="-127"/>
              <a:cs typeface="Arial" panose="020B0604020202020204" pitchFamily="34" charset="0"/>
            </a:endParaRPr>
          </a:p>
        </p:txBody>
      </p:sp>
      <p:grpSp>
        <p:nvGrpSpPr>
          <p:cNvPr id="22" name="Group 21"/>
          <p:cNvGrpSpPr/>
          <p:nvPr/>
        </p:nvGrpSpPr>
        <p:grpSpPr>
          <a:xfrm>
            <a:off x="3429000" y="8206134"/>
            <a:ext cx="3429000" cy="995338"/>
            <a:chOff x="3429000" y="3000580"/>
            <a:chExt cx="3429000" cy="995338"/>
          </a:xfrm>
        </p:grpSpPr>
        <p:sp>
          <p:nvSpPr>
            <p:cNvPr id="23" name="직사각형 41"/>
            <p:cNvSpPr>
              <a:spLocks noChangeArrowheads="1"/>
            </p:cNvSpPr>
            <p:nvPr/>
          </p:nvSpPr>
          <p:spPr bwMode="auto">
            <a:xfrm>
              <a:off x="3429000" y="3000580"/>
              <a:ext cx="3429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ea typeface="돋움" pitchFamily="50" charset="-127"/>
                  <a:cs typeface="Arial" panose="020B0604020202020204" pitchFamily="34" charset="0"/>
                </a:rPr>
                <a:t>2</a:t>
              </a:r>
              <a:r>
                <a:rPr lang="en-US" altLang="ko-KR" sz="900" smtClean="0">
                  <a:latin typeface="Arial" panose="020B0604020202020204" pitchFamily="34" charset="0"/>
                  <a:ea typeface="돋움" pitchFamily="50" charset="-127"/>
                  <a:cs typeface="Arial" panose="020B0604020202020204" pitchFamily="34" charset="0"/>
                </a:rPr>
                <a:t>0</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gì</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màng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kim</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loại</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trở</a:t>
              </a:r>
              <a:r>
                <a:rPr lang="en-US" altLang="ko-KR" sz="900" smtClean="0">
                  <a:latin typeface="Arial" panose="020B0604020202020204" pitchFamily="34" charset="0"/>
                  <a:ea typeface="돋움" pitchFamily="50" charset="-127"/>
                  <a:cs typeface="Arial" panose="020B0604020202020204" pitchFamily="34" charset="0"/>
                </a:rPr>
                <a:t> SOLID</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cuộn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dây</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tráng</a:t>
              </a:r>
              <a:r>
                <a:rPr lang="en-US" altLang="ko-KR" sz="900" dirty="0" smtClean="0">
                  <a:latin typeface="Arial" panose="020B0604020202020204" pitchFamily="34" charset="0"/>
                  <a:ea typeface="돋움" pitchFamily="50" charset="-127"/>
                  <a:cs typeface="Arial" panose="020B0604020202020204" pitchFamily="34" charset="0"/>
                </a:rPr>
                <a:t> men</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24" name="Picture 8" descr="금속피막_박막"/>
            <p:cNvPicPr>
              <a:picLocks noChangeAspect="1" noChangeArrowheads="1"/>
            </p:cNvPicPr>
            <p:nvPr/>
          </p:nvPicPr>
          <p:blipFill>
            <a:blip r:embed="rId5">
              <a:extLst>
                <a:ext uri="{28A0092B-C50C-407E-A947-70E740481C1C}">
                  <a14:useLocalDpi xmlns:a14="http://schemas.microsoft.com/office/drawing/2010/main" val="0"/>
                </a:ext>
              </a:extLst>
            </a:blip>
            <a:srcRect b="-50"/>
            <a:stretch>
              <a:fillRect/>
            </a:stretch>
          </p:blipFill>
          <p:spPr bwMode="auto">
            <a:xfrm>
              <a:off x="4941548" y="3308530"/>
              <a:ext cx="1439862" cy="6873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090962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Muốn đặt lại tính toán và reset lại những tính toán sai phát sinh của CPU, reset lại hardware thì cần làm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Stop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Format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Clear </a:t>
            </a:r>
            <a:r>
              <a:rPr lang="en-US" altLang="ko-KR" sz="950" smtClean="0">
                <a:latin typeface="Times New Roman" pitchFamily="18" charset="0"/>
                <a:ea typeface="LG Smart_H Regular" panose="020B0600000101010101" pitchFamily="34" charset="-127"/>
                <a:cs typeface="Times New Roman" pitchFamily="18" charset="0"/>
              </a:rPr>
              <a:t>latch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CPU</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3607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dirty="0" smtClean="0">
                <a:latin typeface="Times New Roman" pitchFamily="18" charset="0"/>
                <a:ea typeface="LG Smart_H Regular" panose="020B0600000101010101" pitchFamily="34" charset="-127"/>
                <a:cs typeface="Times New Roman" pitchFamily="18" charset="0"/>
              </a:rPr>
              <a:t>22. </a:t>
            </a:r>
            <a:r>
              <a:rPr lang="vi-VN" altLang="ko-KR" sz="950" dirty="0">
                <a:latin typeface="Times New Roman" pitchFamily="18" charset="0"/>
                <a:ea typeface="LG Smart_H Regular" panose="020B0600000101010101" pitchFamily="34" charset="-127"/>
                <a:cs typeface="Times New Roman" pitchFamily="18" charset="0"/>
              </a:rPr>
              <a:t>Kết quả biến đổi (1001)₂ sang hệ số thập phân là bao </a:t>
            </a:r>
            <a:r>
              <a:rPr lang="vi-VN" altLang="ko-KR" sz="950" dirty="0" smtClean="0">
                <a:latin typeface="Times New Roman" pitchFamily="18" charset="0"/>
                <a:ea typeface="LG Smart_H Regular" panose="020B0600000101010101" pitchFamily="34" charset="-127"/>
                <a:cs typeface="Times New Roman" pitchFamily="18" charset="0"/>
              </a:rPr>
              <a:t>nhiêu?</a:t>
            </a:r>
            <a:endParaRPr lang="en-US" altLang="ko-KR" sz="950" dirty="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dirty="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dirty="0">
                <a:latin typeface="Times New Roman" pitchFamily="18" charset="0"/>
                <a:ea typeface="LG Smart_H Regular" panose="020B0600000101010101" pitchFamily="34" charset="-127"/>
                <a:cs typeface="Times New Roman" pitchFamily="18" charset="0"/>
              </a:rPr>
              <a:t>8</a:t>
            </a:r>
            <a:endParaRPr lang="en-US" altLang="ko-KR" sz="950" dirty="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dirty="0">
                <a:latin typeface="Times New Roman" pitchFamily="18" charset="0"/>
                <a:ea typeface="LG Smart_H Regular" panose="020B0600000101010101" pitchFamily="34" charset="-127"/>
                <a:cs typeface="Times New Roman" pitchFamily="18" charset="0"/>
              </a:rPr>
              <a:t>9</a:t>
            </a:r>
          </a:p>
          <a:p>
            <a:pPr marL="228600" indent="-228600" eaLnBrk="1" fontAlgn="base" hangingPunct="1">
              <a:spcBef>
                <a:spcPct val="0"/>
              </a:spcBef>
              <a:spcAft>
                <a:spcPct val="0"/>
              </a:spcAft>
              <a:buAutoNum type="alphaUcPeriod"/>
            </a:pPr>
            <a:r>
              <a:rPr lang="en-US" altLang="ko-KR" sz="950" dirty="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vi-VN" altLang="ko-KR" sz="950" dirty="0" smtClean="0">
                <a:latin typeface="Times New Roman" pitchFamily="18" charset="0"/>
                <a:ea typeface="LG Smart_H Regular" panose="020B0600000101010101" pitchFamily="34" charset="-127"/>
                <a:cs typeface="Times New Roman" pitchFamily="18" charset="0"/>
              </a:rPr>
              <a:t>1</a:t>
            </a:r>
            <a:r>
              <a:rPr lang="en-US" altLang="ko-KR" sz="950" dirty="0" smtClean="0">
                <a:latin typeface="Times New Roman" pitchFamily="18" charset="0"/>
                <a:ea typeface="LG Smart_H Regular" panose="020B0600000101010101" pitchFamily="34" charset="-127"/>
                <a:cs typeface="Times New Roman" pitchFamily="18" charset="0"/>
              </a:rPr>
              <a:t>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51284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Device có khả năng điều khiển bằng đơn vị Word, </a:t>
            </a:r>
            <a:r>
              <a:rPr lang="vi-VN" altLang="ko-KR" sz="950" smtClean="0">
                <a:latin typeface="Times New Roman" pitchFamily="18" charset="0"/>
                <a:ea typeface="LG Smart_H Regular" panose="020B0600000101010101" pitchFamily="34" charset="-127"/>
                <a:cs typeface="Times New Roman" pitchFamily="18" charset="0"/>
              </a:rPr>
              <a:t>Bit?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Device ngoài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Device trong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Bit Device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Word Device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8007240"/>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Format".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a:t>
            </a:r>
            <a:r>
              <a:rPr lang="en-US" altLang="ko-KR" sz="950" smtClean="0">
                <a:latin typeface="Times New Roman" pitchFamily="18" charset="0"/>
                <a:ea typeface="LG Smart_H Regular" panose="020B0600000101010101" pitchFamily="34" charset="-127"/>
                <a:cs typeface="Times New Roman" pitchFamily="18" charset="0"/>
              </a:rPr>
              <a:t>Format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Format -&gt; (4)Reset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Format -&gt; (3)Stop PLC -&gt;  (4)Reset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PLC Memory Format -&gt; Reset PLC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cùng lúc chuyển đổi và lưu thẳng vào CPU nội dung đã viết trong khi Run thực hiện thao  tác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Shift </a:t>
            </a:r>
            <a:r>
              <a:rPr lang="en-US" altLang="ko-KR" sz="950">
                <a:latin typeface="Times New Roman" pitchFamily="18" charset="0"/>
                <a:ea typeface="LG Smart_H Regular" panose="020B0600000101010101" pitchFamily="34" charset="-127"/>
                <a:cs typeface="Times New Roman" pitchFamily="18" charset="0"/>
              </a:rPr>
              <a:t>+ F1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Shift </a:t>
            </a:r>
            <a:r>
              <a:rPr lang="en-US" altLang="ko-KR" sz="950">
                <a:latin typeface="Times New Roman" pitchFamily="18" charset="0"/>
                <a:ea typeface="LG Smart_H Regular" panose="020B0600000101010101" pitchFamily="34" charset="-127"/>
                <a:cs typeface="Times New Roman" pitchFamily="18" charset="0"/>
              </a:rPr>
              <a:t>+ F2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Shift </a:t>
            </a:r>
            <a:r>
              <a:rPr lang="vi-VN"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Shift </a:t>
            </a:r>
            <a:r>
              <a:rPr lang="vi-VN"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smtClean="0">
                <a:latin typeface="Times New Roman" pitchFamily="18" charset="0"/>
                <a:ea typeface="LG Smart_H Regular" panose="020B0600000101010101" pitchFamily="34" charset="-127"/>
                <a:cs typeface="Times New Roman" pitchFamily="18" charset="0"/>
              </a:rPr>
              <a:t>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9328"/>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Khi sử dụng GX Developer để ngăn chặn sử dụng coil hay tiếp điểm trùng lặp nhất định phải thực hiện thao  tác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Verify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Copy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Cross </a:t>
            </a:r>
            <a:r>
              <a:rPr lang="vi-VN" altLang="ko-KR" sz="950" smtClean="0">
                <a:latin typeface="Times New Roman" pitchFamily="18" charset="0"/>
                <a:ea typeface="LG Smart_H Regular" panose="020B0600000101010101" pitchFamily="34" charset="-127"/>
                <a:cs typeface="Times New Roman" pitchFamily="18" charset="0"/>
              </a:rPr>
              <a:t>Reference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Write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909318"/>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Khi cài đặt Parameter để sử dụng khoảng Latch và Timer tích hợp phải thao tác phần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Device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I/O </a:t>
            </a:r>
            <a:r>
              <a:rPr lang="en-US" altLang="ko-KR" sz="950" smtClean="0">
                <a:latin typeface="Times New Roman" pitchFamily="18" charset="0"/>
                <a:ea typeface="LG Smart_H Regular" panose="020B0600000101010101" pitchFamily="34" charset="-127"/>
                <a:cs typeface="Times New Roman" pitchFamily="18" charset="0"/>
              </a:rPr>
              <a:t>Assigment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a:t>
            </a:r>
            <a:r>
              <a:rPr lang="vi-VN" altLang="ko-KR" sz="950" smtClean="0">
                <a:latin typeface="Times New Roman" pitchFamily="18" charset="0"/>
                <a:ea typeface="LG Smart_H Regular" panose="020B0600000101010101" pitchFamily="34" charset="-127"/>
                <a:cs typeface="Times New Roman" pitchFamily="18" charset="0"/>
              </a:rPr>
              <a:t>RAR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84" name="Rectangle 7"/>
          <p:cNvSpPr>
            <a:spLocks noChangeArrowheads="1"/>
          </p:cNvSpPr>
          <p:nvPr/>
        </p:nvSpPr>
        <p:spPr bwMode="auto">
          <a:xfrm>
            <a:off x="3412872" y="844800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Để Y10 On cần nhấn X1 bao nhiêu </a:t>
            </a:r>
            <a:r>
              <a:rPr lang="fr-FR" altLang="ko-KR" sz="950" smtClean="0">
                <a:latin typeface="Times New Roman" pitchFamily="18" charset="0"/>
                <a:ea typeface="LG Smart_H Regular" panose="020B0600000101010101" pitchFamily="34" charset="-127"/>
                <a:cs typeface="Times New Roman" pitchFamily="18" charset="0"/>
              </a:rPr>
              <a:t>lần?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9</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15484" y="4745102"/>
            <a:ext cx="323981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fr-FR" altLang="ko-KR" sz="950">
                <a:latin typeface="Times New Roman" pitchFamily="18" charset="0"/>
                <a:ea typeface="LG Smart_H Regular" panose="020B0600000101010101" pitchFamily="34" charset="-127"/>
                <a:cs typeface="Times New Roman" pitchFamily="18" charset="0"/>
              </a:rPr>
              <a:t>Đâu là "Refresh đầu vào</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Khi PLC được vận hành thì các thông tin đã được nhập sẽ được nhận vào khu vực nhập của Memory thông qua Module đầu vào và thông tin này được copy lại vào khu vực đầu vào để sử dụng như Data đầu vào trong khi thực hiện tính toán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Sử dụng thông tin của tiếp điểm đầu vào được đọc hiểu trong quá trình Refresh đầu vào như Data hoặc điều kiện để thực hiện tính toán theo Program đã nhập trước và kết quả đó sẽ được lưu tại memory đầu ra hoặc memory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Khi Main Program đang thực hiện tính toán mà điều kiện thực hiện của Sub Program được thỏa mãn thì sẽ dừng việc tính toán của Main Program và sau khi Sub Program thực hiện xong thì Main Program sẽ quay trở lại tiếp tục tính toán.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quả được tạo ra trong quá trình Main Program hay Sub Program tính toán thì không được đưa đến đầu ra ngay mà được lưu trữ trong khu vực đầu vào</a:t>
            </a:r>
          </a:p>
        </p:txBody>
      </p:sp>
      <p:grpSp>
        <p:nvGrpSpPr>
          <p:cNvPr id="2" name="Group 1"/>
          <p:cNvGrpSpPr/>
          <p:nvPr/>
        </p:nvGrpSpPr>
        <p:grpSpPr>
          <a:xfrm>
            <a:off x="3425951" y="5628798"/>
            <a:ext cx="3239810" cy="1700466"/>
            <a:chOff x="3425951" y="5628798"/>
            <a:chExt cx="3239810" cy="1700466"/>
          </a:xfrm>
        </p:grpSpPr>
        <p:sp>
          <p:nvSpPr>
            <p:cNvPr id="183" name="Rectangle 7"/>
            <p:cNvSpPr>
              <a:spLocks noChangeArrowheads="1"/>
            </p:cNvSpPr>
            <p:nvPr/>
          </p:nvSpPr>
          <p:spPr bwMode="auto">
            <a:xfrm>
              <a:off x="3425951" y="5628798"/>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giá trị của </a:t>
              </a:r>
              <a:r>
                <a:rPr lang="vi-VN" altLang="ko-KR" sz="950" smtClean="0">
                  <a:latin typeface="Times New Roman" pitchFamily="18" charset="0"/>
                  <a:ea typeface="LG Smart_H Regular" panose="020B0600000101010101" pitchFamily="34" charset="-127"/>
                  <a:cs typeface="Times New Roman" pitchFamily="18" charset="0"/>
                </a:rPr>
                <a:t>D1</a:t>
              </a:r>
              <a:r>
                <a:rPr lang="en-US" altLang="ko-KR" sz="950" smtClean="0">
                  <a:latin typeface="Times New Roman" pitchFamily="18" charset="0"/>
                  <a:ea typeface="LG Smart_H Regular" panose="020B0600000101010101" pitchFamily="34" charset="-127"/>
                  <a:cs typeface="Times New Roman" pitchFamily="18" charset="0"/>
                </a:rPr>
                <a:t>9</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là 10</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K5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K0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X10               D</a:t>
              </a:r>
              <a:r>
                <a:rPr lang="en-US" altLang="ko-KR" sz="950">
                  <a:latin typeface="Times New Roman" pitchFamily="18" charset="0"/>
                  <a:ea typeface="LG Smart_H Regular" panose="020B0600000101010101" pitchFamily="34" charset="-127"/>
                  <a:cs typeface="Times New Roman" pitchFamily="18" charset="0"/>
                </a:rPr>
                <a:t>. K</a:t>
              </a:r>
              <a:r>
                <a:rPr lang="en-US" altLang="ko-KR" sz="950" smtClean="0">
                  <a:latin typeface="Times New Roman" pitchFamily="18" charset="0"/>
                  <a:ea typeface="LG Smart_H Regular" panose="020B0600000101010101" pitchFamily="34" charset="-127"/>
                  <a:cs typeface="Times New Roman" pitchFamily="18" charset="0"/>
                </a:rPr>
                <a:t>10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6" name="그림 11"/>
            <p:cNvPicPr>
              <a:picLocks noChangeAspect="1"/>
            </p:cNvPicPr>
            <p:nvPr/>
          </p:nvPicPr>
          <p:blipFill>
            <a:blip r:embed="rId3"/>
            <a:stretch>
              <a:fillRect/>
            </a:stretch>
          </p:blipFill>
          <p:spPr>
            <a:xfrm>
              <a:off x="3441700" y="6075057"/>
              <a:ext cx="3210982" cy="807947"/>
            </a:xfrm>
            <a:prstGeom prst="rect">
              <a:avLst/>
            </a:prstGeom>
          </p:spPr>
        </p:pic>
      </p:grpSp>
    </p:spTree>
    <p:extLst>
      <p:ext uri="{BB962C8B-B14F-4D97-AF65-F5344CB8AC3E}">
        <p14:creationId xmlns:p14="http://schemas.microsoft.com/office/powerpoint/2010/main" val="1243608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7" name="Rectangle 99"/>
          <p:cNvSpPr>
            <a:spLocks noChangeArrowheads="1"/>
          </p:cNvSpPr>
          <p:nvPr/>
        </p:nvSpPr>
        <p:spPr bwMode="auto">
          <a:xfrm>
            <a:off x="188640" y="1042988"/>
            <a:ext cx="32530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latin typeface="Times New Roman" pitchFamily="18" charset="0"/>
                <a:cs typeface="Times New Roman" panose="02020603050405020304" pitchFamily="18" charset="0"/>
              </a:rPr>
              <a:t>31. Cái </a:t>
            </a:r>
            <a:r>
              <a:rPr lang="en-US" altLang="ko-KR" sz="950" dirty="0" err="1" smtClean="0">
                <a:latin typeface="Times New Roman" panose="02020603050405020304" pitchFamily="18" charset="0"/>
                <a:cs typeface="Times New Roman" panose="02020603050405020304" pitchFamily="18" charset="0"/>
              </a:rPr>
              <a:t>đúng</a:t>
            </a:r>
            <a:r>
              <a:rPr lang="en-US" altLang="ko-KR" sz="950" dirty="0" smtClean="0">
                <a:latin typeface="Times New Roman" panose="02020603050405020304" pitchFamily="18" charset="0"/>
                <a:cs typeface="Times New Roman" panose="02020603050405020304" pitchFamily="18" charset="0"/>
              </a:rPr>
              <a:t> </a:t>
            </a:r>
            <a:r>
              <a:rPr lang="en-US" altLang="ko-KR" sz="950" err="1" smtClean="0">
                <a:latin typeface="Times New Roman" panose="02020603050405020304" pitchFamily="18" charset="0"/>
                <a:cs typeface="Times New Roman" panose="02020603050405020304" pitchFamily="18" charset="0"/>
              </a:rPr>
              <a:t>với</a:t>
            </a:r>
            <a:r>
              <a:rPr lang="en-US" altLang="ko-KR" sz="950" smtClean="0">
                <a:latin typeface="Times New Roman" panose="02020603050405020304" pitchFamily="18" charset="0"/>
                <a:cs typeface="Times New Roman" panose="02020603050405020304" pitchFamily="18" charset="0"/>
              </a:rPr>
              <a:t> TIP </a:t>
            </a:r>
            <a:r>
              <a:rPr lang="en-US" altLang="ko-KR" sz="950" dirty="0" smtClean="0">
                <a:latin typeface="Times New Roman" panose="02020603050405020304" pitchFamily="18" charset="0"/>
                <a:cs typeface="Times New Roman" panose="02020603050405020304" pitchFamily="18" charset="0"/>
              </a:rPr>
              <a:t>Switch </a:t>
            </a:r>
            <a:r>
              <a:rPr lang="en-US" altLang="ko-KR" sz="950" dirty="0" err="1" smtClean="0">
                <a:latin typeface="Times New Roman" panose="02020603050405020304" pitchFamily="18" charset="0"/>
                <a:cs typeface="Times New Roman" panose="02020603050405020304" pitchFamily="18" charset="0"/>
              </a:rPr>
              <a:t>trong</a:t>
            </a:r>
            <a:r>
              <a:rPr lang="en-US" altLang="ko-KR" sz="950" dirty="0" smtClean="0">
                <a:latin typeface="Times New Roman" panose="02020603050405020304" pitchFamily="18" charset="0"/>
                <a:cs typeface="Times New Roman" panose="02020603050405020304" pitchFamily="18" charset="0"/>
              </a:rPr>
              <a:t> ROM </a:t>
            </a:r>
            <a:r>
              <a:rPr lang="en-US" altLang="ko-KR" sz="950" dirty="0" err="1" smtClean="0">
                <a:latin typeface="Times New Roman" panose="02020603050405020304" pitchFamily="18" charset="0"/>
                <a:cs typeface="Times New Roman" panose="02020603050405020304" pitchFamily="18" charset="0"/>
              </a:rPr>
              <a:t>tiêu</a:t>
            </a:r>
            <a:r>
              <a:rPr lang="en-US" altLang="ko-KR" sz="950" dirty="0" smtClean="0">
                <a:latin typeface="Times New Roman" panose="02020603050405020304" pitchFamily="18" charset="0"/>
                <a:cs typeface="Times New Roman" panose="02020603050405020304" pitchFamily="18" charset="0"/>
              </a:rPr>
              <a:t> </a:t>
            </a:r>
            <a:r>
              <a:rPr lang="en-US" altLang="ko-KR" sz="950" dirty="0" err="1" smtClean="0">
                <a:latin typeface="Times New Roman" panose="02020603050405020304" pitchFamily="18" charset="0"/>
                <a:cs typeface="Times New Roman" panose="02020603050405020304" pitchFamily="18" charset="0"/>
              </a:rPr>
              <a:t>chuẩn</a:t>
            </a:r>
            <a:r>
              <a:rPr lang="en-US" altLang="ko-KR" sz="950" dirty="0" smtClean="0">
                <a:latin typeface="Times New Roman" panose="02020603050405020304" pitchFamily="18" charset="0"/>
                <a:cs typeface="Times New Roman" panose="02020603050405020304" pitchFamily="18" charset="0"/>
              </a:rPr>
              <a:t> </a:t>
            </a:r>
            <a:r>
              <a:rPr lang="en-US" altLang="ko-KR" sz="950" dirty="0" err="1" smtClean="0">
                <a:latin typeface="Times New Roman" panose="02020603050405020304" pitchFamily="18" charset="0"/>
                <a:cs typeface="Times New Roman" panose="02020603050405020304" pitchFamily="18" charset="0"/>
              </a:rPr>
              <a:t>khi</a:t>
            </a:r>
            <a:r>
              <a:rPr lang="en-US" altLang="ko-KR" sz="950" dirty="0" smtClean="0">
                <a:latin typeface="Times New Roman" panose="02020603050405020304" pitchFamily="18" charset="0"/>
                <a:cs typeface="Times New Roman" panose="02020603050405020304" pitchFamily="18" charset="0"/>
              </a:rPr>
              <a:t> </a:t>
            </a:r>
            <a:r>
              <a:rPr lang="en-US" altLang="ko-KR" sz="950" dirty="0" err="1" smtClean="0">
                <a:latin typeface="Times New Roman" panose="02020603050405020304" pitchFamily="18" charset="0"/>
                <a:cs typeface="Times New Roman" panose="02020603050405020304" pitchFamily="18" charset="0"/>
              </a:rPr>
              <a:t>chỉ</a:t>
            </a:r>
            <a:r>
              <a:rPr lang="en-US" altLang="ko-KR" sz="950" dirty="0" smtClean="0">
                <a:latin typeface="Times New Roman" panose="02020603050405020304" pitchFamily="18" charset="0"/>
                <a:cs typeface="Times New Roman" panose="02020603050405020304" pitchFamily="18" charset="0"/>
              </a:rPr>
              <a:t> </a:t>
            </a:r>
            <a:r>
              <a:rPr lang="en-US" altLang="ko-KR" sz="950" err="1" smtClean="0">
                <a:latin typeface="Times New Roman" panose="02020603050405020304" pitchFamily="18" charset="0"/>
                <a:cs typeface="Times New Roman" panose="02020603050405020304" pitchFamily="18" charset="0"/>
              </a:rPr>
              <a:t>định</a:t>
            </a:r>
            <a:r>
              <a:rPr lang="en-US" altLang="ko-KR" sz="950" smtClean="0">
                <a:latin typeface="Times New Roman" panose="02020603050405020304" pitchFamily="18" charset="0"/>
                <a:cs typeface="Times New Roman" panose="02020603050405020304" pitchFamily="18" charset="0"/>
              </a:rPr>
              <a:t> Drive </a:t>
            </a:r>
            <a:r>
              <a:rPr lang="en-US" altLang="ko-KR" sz="950" dirty="0" err="1" smtClean="0">
                <a:latin typeface="Times New Roman" panose="02020603050405020304" pitchFamily="18" charset="0"/>
                <a:cs typeface="Times New Roman" panose="02020603050405020304" pitchFamily="18" charset="0"/>
              </a:rPr>
              <a:t>hữu</a:t>
            </a:r>
            <a:r>
              <a:rPr lang="en-US" altLang="ko-KR" sz="950" dirty="0" smtClean="0">
                <a:latin typeface="Times New Roman" panose="02020603050405020304" pitchFamily="18" charset="0"/>
                <a:cs typeface="Times New Roman" panose="02020603050405020304" pitchFamily="18" charset="0"/>
              </a:rPr>
              <a:t> </a:t>
            </a:r>
            <a:r>
              <a:rPr lang="en-US" altLang="ko-KR" sz="950" dirty="0" err="1" smtClean="0">
                <a:latin typeface="Times New Roman" panose="02020603050405020304" pitchFamily="18" charset="0"/>
                <a:cs typeface="Times New Roman" panose="02020603050405020304" pitchFamily="18" charset="0"/>
              </a:rPr>
              <a:t>hiệu</a:t>
            </a:r>
            <a:r>
              <a:rPr lang="en-US" altLang="ko-KR" sz="950" dirty="0" smtClean="0">
                <a:latin typeface="Times New Roman" panose="02020603050405020304" pitchFamily="18" charset="0"/>
                <a:cs typeface="Times New Roman" panose="02020603050405020304" pitchFamily="18" charset="0"/>
              </a:rPr>
              <a:t> Parameter </a:t>
            </a:r>
            <a:r>
              <a:rPr lang="en-US" altLang="ko-KR" sz="950" dirty="0" err="1" smtClean="0">
                <a:latin typeface="Times New Roman" panose="02020603050405020304" pitchFamily="18" charset="0"/>
                <a:cs typeface="Times New Roman" panose="02020603050405020304" pitchFamily="18" charset="0"/>
              </a:rPr>
              <a:t>của</a:t>
            </a:r>
            <a:r>
              <a:rPr lang="en-US" altLang="ko-KR" sz="950" dirty="0" smtClean="0">
                <a:latin typeface="Times New Roman" panose="02020603050405020304" pitchFamily="18" charset="0"/>
                <a:cs typeface="Times New Roman" panose="02020603050405020304" pitchFamily="18" charset="0"/>
              </a:rPr>
              <a:t> CPU </a:t>
            </a:r>
            <a:r>
              <a:rPr lang="en-US" altLang="ko-KR" sz="950" dirty="0" err="1" smtClean="0">
                <a:latin typeface="Times New Roman" panose="02020603050405020304" pitchFamily="18" charset="0"/>
                <a:cs typeface="Times New Roman" panose="02020603050405020304" pitchFamily="18" charset="0"/>
              </a:rPr>
              <a:t>là</a:t>
            </a:r>
            <a:r>
              <a:rPr lang="en-US" altLang="ko-KR" sz="950" dirty="0" smtClean="0">
                <a:latin typeface="Times New Roman" panose="02020603050405020304" pitchFamily="18" charset="0"/>
                <a:cs typeface="Times New Roman" panose="02020603050405020304" pitchFamily="18" charset="0"/>
              </a:rPr>
              <a:t> </a:t>
            </a:r>
            <a:r>
              <a:rPr lang="en-US" altLang="ko-KR" sz="950" err="1" smtClean="0">
                <a:latin typeface="Times New Roman" panose="02020603050405020304" pitchFamily="18" charset="0"/>
                <a:cs typeface="Times New Roman" panose="02020603050405020304" pitchFamily="18" charset="0"/>
              </a:rPr>
              <a:t>gì</a:t>
            </a:r>
            <a:r>
              <a:rPr lang="en-US" altLang="ko-KR" sz="950" smtClean="0">
                <a:latin typeface="Times New Roman" panose="02020603050405020304" pitchFamily="18" charset="0"/>
                <a:cs typeface="Times New Roman" panose="02020603050405020304" pitchFamily="18" charset="0"/>
              </a:rPr>
              <a:t>?</a:t>
            </a:r>
            <a:endParaRPr lang="en-US" altLang="ko-KR" sz="950" dirty="0">
              <a:latin typeface="Times New Roman" panose="02020603050405020304" pitchFamily="18" charset="0"/>
              <a:cs typeface="Times New Roman" panose="02020603050405020304" pitchFamily="18" charset="0"/>
            </a:endParaRPr>
          </a:p>
          <a:p>
            <a:pPr eaLnBrk="1" hangingPunct="1"/>
            <a:r>
              <a:rPr lang="en-US" altLang="ko-KR" sz="950">
                <a:latin typeface="Times New Roman" panose="02020603050405020304" pitchFamily="18" charset="0"/>
                <a:cs typeface="Times New Roman" panose="02020603050405020304" pitchFamily="18" charset="0"/>
              </a:rPr>
              <a:t>   </a:t>
            </a:r>
            <a:endParaRPr lang="en-US" altLang="ko-KR" sz="950" smtClean="0">
              <a:latin typeface="Times New Roman" panose="02020603050405020304" pitchFamily="18" charset="0"/>
              <a:cs typeface="Times New Roman" panose="02020603050405020304" pitchFamily="18" charset="0"/>
            </a:endParaRPr>
          </a:p>
          <a:p>
            <a:pPr eaLnBrk="1" hangingPunct="1"/>
            <a:r>
              <a:rPr lang="en-US" altLang="ko-KR" sz="950" smtClean="0">
                <a:latin typeface="Times New Roman" panose="02020603050405020304" pitchFamily="18" charset="0"/>
                <a:cs typeface="Times New Roman" panose="02020603050405020304" pitchFamily="18" charset="0"/>
              </a:rPr>
              <a:t>   A.  </a:t>
            </a:r>
            <a:r>
              <a:rPr lang="en-US" altLang="ko-KR" sz="950" dirty="0">
                <a:latin typeface="Times New Roman" panose="02020603050405020304" pitchFamily="18" charset="0"/>
                <a:cs typeface="Times New Roman" panose="02020603050405020304" pitchFamily="18" charset="0"/>
              </a:rPr>
              <a:t>SW2 ON SW3 </a:t>
            </a:r>
            <a:r>
              <a:rPr lang="en-US" altLang="ko-KR" sz="950">
                <a:latin typeface="Times New Roman" panose="02020603050405020304" pitchFamily="18" charset="0"/>
                <a:cs typeface="Times New Roman" panose="02020603050405020304" pitchFamily="18" charset="0"/>
              </a:rPr>
              <a:t>OFF       </a:t>
            </a:r>
            <a:r>
              <a:rPr lang="en-US" altLang="ko-KR" sz="950" smtClean="0">
                <a:latin typeface="Times New Roman" panose="02020603050405020304" pitchFamily="18" charset="0"/>
                <a:cs typeface="Times New Roman" panose="02020603050405020304" pitchFamily="18" charset="0"/>
              </a:rPr>
              <a:t> B.  </a:t>
            </a:r>
            <a:r>
              <a:rPr lang="en-US" altLang="ko-KR" sz="950" dirty="0">
                <a:latin typeface="Times New Roman" panose="02020603050405020304" pitchFamily="18" charset="0"/>
                <a:cs typeface="Times New Roman" panose="02020603050405020304" pitchFamily="18" charset="0"/>
              </a:rPr>
              <a:t>SW2 OFF SW3 ON</a:t>
            </a:r>
          </a:p>
          <a:p>
            <a:pPr eaLnBrk="1" hangingPunct="1"/>
            <a:r>
              <a:rPr lang="en-US" altLang="ko-KR" sz="950">
                <a:latin typeface="Times New Roman" panose="02020603050405020304" pitchFamily="18" charset="0"/>
                <a:cs typeface="Times New Roman" panose="02020603050405020304" pitchFamily="18" charset="0"/>
              </a:rPr>
              <a:t>  </a:t>
            </a:r>
            <a:r>
              <a:rPr lang="en-US" altLang="ko-KR" sz="950" smtClean="0">
                <a:latin typeface="Times New Roman" panose="02020603050405020304" pitchFamily="18" charset="0"/>
                <a:cs typeface="Times New Roman" panose="02020603050405020304" pitchFamily="18" charset="0"/>
              </a:rPr>
              <a:t> C.  </a:t>
            </a:r>
            <a:r>
              <a:rPr lang="en-US" altLang="ko-KR" sz="950" dirty="0">
                <a:latin typeface="Times New Roman" panose="02020603050405020304" pitchFamily="18" charset="0"/>
                <a:cs typeface="Times New Roman" panose="02020603050405020304" pitchFamily="18" charset="0"/>
              </a:rPr>
              <a:t>SW2 OFF SW3 </a:t>
            </a:r>
            <a:r>
              <a:rPr lang="en-US" altLang="ko-KR" sz="950">
                <a:latin typeface="Times New Roman" panose="02020603050405020304" pitchFamily="18" charset="0"/>
                <a:cs typeface="Times New Roman" panose="02020603050405020304" pitchFamily="18" charset="0"/>
              </a:rPr>
              <a:t>OFF       </a:t>
            </a:r>
            <a:r>
              <a:rPr lang="en-US" altLang="ko-KR" sz="950" smtClean="0">
                <a:latin typeface="Times New Roman" panose="02020603050405020304" pitchFamily="18" charset="0"/>
                <a:cs typeface="Times New Roman" panose="02020603050405020304" pitchFamily="18" charset="0"/>
              </a:rPr>
              <a:t>D.  </a:t>
            </a:r>
            <a:r>
              <a:rPr lang="en-US" altLang="ko-KR" sz="950" dirty="0">
                <a:latin typeface="Times New Roman" panose="02020603050405020304" pitchFamily="18" charset="0"/>
                <a:cs typeface="Times New Roman" panose="02020603050405020304" pitchFamily="18" charset="0"/>
              </a:rPr>
              <a:t>SW2 ON SW3 ON     </a:t>
            </a:r>
          </a:p>
        </p:txBody>
      </p:sp>
      <p:sp>
        <p:nvSpPr>
          <p:cNvPr id="8" name="Rectangle 100"/>
          <p:cNvSpPr>
            <a:spLocks noChangeArrowheads="1"/>
          </p:cNvSpPr>
          <p:nvPr/>
        </p:nvSpPr>
        <p:spPr bwMode="auto">
          <a:xfrm>
            <a:off x="189189" y="2432720"/>
            <a:ext cx="3252511"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32. </a:t>
            </a:r>
            <a:r>
              <a:rPr lang="en-US" altLang="ko-KR" sz="950" dirty="0" err="1" smtClean="0">
                <a:latin typeface="Times New Roman" panose="02020603050405020304" pitchFamily="18" charset="0"/>
                <a:ea typeface="돋움" pitchFamily="50" charset="-127"/>
                <a:cs typeface="Times New Roman" panose="02020603050405020304" pitchFamily="18" charset="0"/>
              </a:rPr>
              <a:t>Cái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nào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sai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giải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thích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về</a:t>
            </a:r>
            <a:r>
              <a:rPr lang="en-US" altLang="ko-KR" sz="950" dirty="0" smtClean="0">
                <a:latin typeface="Times New Roman" panose="02020603050405020304" pitchFamily="18" charset="0"/>
                <a:ea typeface="돋움" pitchFamily="50" charset="-127"/>
                <a:cs typeface="Times New Roman" panose="02020603050405020304" pitchFamily="18" charset="0"/>
              </a:rPr>
              <a:t> Data </a:t>
            </a:r>
            <a:r>
              <a:rPr lang="en-US" altLang="ko-KR" sz="950" smtClean="0">
                <a:latin typeface="Times New Roman" panose="02020603050405020304" pitchFamily="18" charset="0"/>
                <a:ea typeface="돋움" pitchFamily="50" charset="-127"/>
                <a:cs typeface="Times New Roman" panose="02020603050405020304" pitchFamily="18" charset="0"/>
              </a:rPr>
              <a:t>Resister?</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Memory </a:t>
            </a:r>
            <a:r>
              <a:rPr lang="en-US" altLang="ko-KR" sz="950" dirty="0" err="1" smtClean="0">
                <a:latin typeface="Times New Roman" panose="02020603050405020304" pitchFamily="18" charset="0"/>
                <a:ea typeface="돋움" pitchFamily="50" charset="-127"/>
                <a:cs typeface="Times New Roman" panose="02020603050405020304" pitchFamily="18" charset="0"/>
              </a:rPr>
              <a:t>lưu</a:t>
            </a:r>
            <a:r>
              <a:rPr lang="en-US" altLang="ko-KR" sz="950" dirty="0" smtClean="0">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PLC</a:t>
            </a:r>
            <a:r>
              <a:rPr lang="ko-KR" altLang="ko-KR" sz="950" dirty="0" smtClean="0">
                <a:latin typeface="Times New Roman" panose="02020603050405020304" pitchFamily="18" charset="0"/>
                <a:ea typeface="돋움" pitchFamily="50" charset="-127"/>
                <a:cs typeface="Times New Roman" panose="02020603050405020304" pitchFamily="18" charset="0"/>
              </a:rPr>
              <a:t>   </a:t>
            </a:r>
            <a:endParaRPr lang="ko-KR" altLang="ko-KR" sz="950" dirty="0">
              <a:latin typeface="Times New Roman" panose="02020603050405020304" pitchFamily="18" charset="0"/>
              <a:ea typeface="돋움" pitchFamily="50" charset="-127"/>
              <a:cs typeface="Times New Roman" panose="02020603050405020304" pitchFamily="18" charset="0"/>
            </a:endParaRPr>
          </a:p>
          <a:p>
            <a:pPr marL="171450" indent="-171450" eaLnBrk="1" hangingPunct="1"/>
            <a:r>
              <a:rPr lang="en-US" altLang="ko-KR" sz="950" smtClean="0">
                <a:latin typeface="Times New Roman" panose="02020603050405020304" pitchFamily="18" charset="0"/>
                <a:ea typeface="돋움" pitchFamily="50" charset="-127"/>
                <a:cs typeface="Times New Roman" panose="02020603050405020304" pitchFamily="18" charset="0"/>
              </a:rPr>
              <a:t>B.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latin typeface="Times New Roman" panose="02020603050405020304" pitchFamily="18" charset="0"/>
                <a:ea typeface="돋움" pitchFamily="50" charset="-127"/>
                <a:cs typeface="Times New Roman" panose="02020603050405020304" pitchFamily="18" charset="0"/>
              </a:rPr>
              <a:t>Resiste</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cấu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trúc</a:t>
            </a:r>
            <a:r>
              <a:rPr lang="en-US" altLang="ko-KR" sz="950" dirty="0" smtClean="0">
                <a:latin typeface="Times New Roman" panose="02020603050405020304" pitchFamily="18" charset="0"/>
                <a:ea typeface="돋움" pitchFamily="50" charset="-127"/>
                <a:cs typeface="Times New Roman" panose="02020603050405020304" pitchFamily="18" charset="0"/>
              </a:rPr>
              <a:t> 1 </a:t>
            </a:r>
            <a:r>
              <a:rPr lang="en-US" altLang="ko-KR" sz="950" dirty="0" err="1" smtClean="0">
                <a:latin typeface="Times New Roman" panose="02020603050405020304" pitchFamily="18" charset="0"/>
                <a:ea typeface="돋움" pitchFamily="50" charset="-127"/>
                <a:cs typeface="Times New Roman" panose="02020603050405020304" pitchFamily="18" charset="0"/>
              </a:rPr>
              <a:t>điểm</a:t>
            </a:r>
            <a:r>
              <a:rPr lang="en-US" altLang="ko-KR" sz="950" dirty="0" smtClean="0">
                <a:latin typeface="Times New Roman" panose="02020603050405020304" pitchFamily="18" charset="0"/>
                <a:ea typeface="돋움" pitchFamily="50" charset="-127"/>
                <a:cs typeface="Times New Roman" panose="02020603050405020304" pitchFamily="18" charset="0"/>
              </a:rPr>
              <a:t> 16Bit</a:t>
            </a:r>
            <a:r>
              <a:rPr lang="ko-KR" altLang="en-US" sz="950" dirty="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err="1" smtClean="0">
                <a:latin typeface="Times New Roman" panose="02020603050405020304" pitchFamily="18" charset="0"/>
                <a:ea typeface="돋움" pitchFamily="50" charset="-127"/>
                <a:cs typeface="Times New Roman" panose="02020603050405020304" pitchFamily="18" charset="0"/>
              </a:rPr>
              <a:t>có</a:t>
            </a:r>
            <a:r>
              <a:rPr lang="en-US" altLang="ko-KR" sz="950" smtClean="0">
                <a:latin typeface="Times New Roman" panose="02020603050405020304" pitchFamily="18" charset="0"/>
                <a:ea typeface="돋움" pitchFamily="50" charset="-127"/>
                <a:cs typeface="Times New Roman" panose="02020603050405020304" pitchFamily="18" charset="0"/>
              </a:rPr>
              <a:t> thể</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Read/Write theo </a:t>
            </a:r>
            <a:r>
              <a:rPr lang="en-US" altLang="ko-KR" sz="950" dirty="0" err="1" smtClean="0">
                <a:latin typeface="Times New Roman" panose="02020603050405020304" pitchFamily="18" charset="0"/>
                <a:ea typeface="돋움" pitchFamily="50" charset="-127"/>
                <a:cs typeface="Times New Roman" panose="02020603050405020304" pitchFamily="18" charset="0"/>
              </a:rPr>
              <a:t>đơn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vị</a:t>
            </a:r>
            <a:r>
              <a:rPr lang="en-US" altLang="ko-KR" sz="950" dirty="0" smtClean="0">
                <a:latin typeface="Times New Roman" panose="02020603050405020304" pitchFamily="18" charset="0"/>
                <a:ea typeface="돋움" pitchFamily="50" charset="-127"/>
                <a:cs typeface="Times New Roman" panose="02020603050405020304" pitchFamily="18" charset="0"/>
              </a:rPr>
              <a:t> 16Bit</a:t>
            </a:r>
            <a:endParaRPr lang="ko-KR" altLang="ko-KR" sz="950" dirty="0">
              <a:latin typeface="Times New Roman" panose="02020603050405020304" pitchFamily="18" charset="0"/>
              <a:ea typeface="돋움" pitchFamily="50" charset="-127"/>
              <a:cs typeface="Times New Roman" panose="02020603050405020304" pitchFamily="18" charset="0"/>
            </a:endParaRPr>
          </a:p>
          <a:p>
            <a:pPr marL="171450" indent="-171450" eaLnBrk="1" hangingPunct="1"/>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lưu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một</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lần</a:t>
            </a:r>
            <a:r>
              <a:rPr lang="en-US" altLang="ko-KR" sz="950" dirty="0" smtClean="0">
                <a:latin typeface="Times New Roman" panose="02020603050405020304" pitchFamily="18" charset="0"/>
                <a:ea typeface="돋움" pitchFamily="50" charset="-127"/>
                <a:cs typeface="Times New Roman" panose="02020603050405020304" pitchFamily="18" charset="0"/>
              </a:rPr>
              <a:t> ở Sequence Program </a:t>
            </a:r>
            <a:r>
              <a:rPr lang="en-US" altLang="ko-KR" sz="950" dirty="0" err="1" smtClean="0">
                <a:latin typeface="Times New Roman" panose="02020603050405020304" pitchFamily="18" charset="0"/>
                <a:ea typeface="돋움" pitchFamily="50" charset="-127"/>
                <a:cs typeface="Times New Roman" panose="02020603050405020304" pitchFamily="18" charset="0"/>
              </a:rPr>
              <a:t>sẽ</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duy</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trì</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err="1" smtClean="0">
                <a:latin typeface="Times New Roman" panose="02020603050405020304" pitchFamily="18" charset="0"/>
                <a:ea typeface="돋움" pitchFamily="50" charset="-127"/>
                <a:cs typeface="Times New Roman" panose="02020603050405020304" pitchFamily="18" charset="0"/>
              </a:rPr>
              <a:t>đến</a:t>
            </a:r>
            <a:r>
              <a:rPr lang="en-US" altLang="ko-KR" sz="950" smtClean="0">
                <a:latin typeface="Times New Roman" panose="02020603050405020304" pitchFamily="18" charset="0"/>
                <a:ea typeface="돋움" pitchFamily="50" charset="-127"/>
                <a:cs typeface="Times New Roman" panose="02020603050405020304" pitchFamily="18" charset="0"/>
              </a:rPr>
              <a:t> khi </a:t>
            </a:r>
            <a:r>
              <a:rPr lang="en-US" altLang="ko-KR" sz="950" dirty="0" err="1" smtClean="0">
                <a:latin typeface="Times New Roman" panose="02020603050405020304" pitchFamily="18" charset="0"/>
                <a:ea typeface="돋움" pitchFamily="50" charset="-127"/>
                <a:cs typeface="Times New Roman" panose="02020603050405020304" pitchFamily="18" charset="0"/>
              </a:rPr>
              <a:t>lưu</a:t>
            </a:r>
            <a:r>
              <a:rPr lang="en-US" altLang="ko-KR" sz="950" dirty="0" smtClean="0">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latin typeface="Times New Roman" panose="02020603050405020304" pitchFamily="18" charset="0"/>
                <a:ea typeface="돋움" pitchFamily="50" charset="-127"/>
                <a:cs typeface="Times New Roman" panose="02020603050405020304" pitchFamily="18" charset="0"/>
              </a:rPr>
              <a:t>khác</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D.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latin typeface="Times New Roman" panose="02020603050405020304" pitchFamily="18" charset="0"/>
                <a:ea typeface="돋움" pitchFamily="50" charset="-127"/>
                <a:cs typeface="Times New Roman" panose="02020603050405020304" pitchFamily="18" charset="0"/>
              </a:rPr>
              <a:t>đang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lưu</a:t>
            </a:r>
            <a:r>
              <a:rPr lang="en-US" altLang="ko-KR" sz="950" dirty="0" smtClean="0">
                <a:latin typeface="Times New Roman" panose="02020603050405020304" pitchFamily="18" charset="0"/>
                <a:ea typeface="돋움" pitchFamily="50" charset="-127"/>
                <a:cs typeface="Times New Roman" panose="02020603050405020304" pitchFamily="18" charset="0"/>
              </a:rPr>
              <a:t> ở Data </a:t>
            </a:r>
            <a:r>
              <a:rPr lang="en-US" altLang="ko-KR" sz="950" dirty="0" err="1" smtClean="0">
                <a:latin typeface="Times New Roman" panose="02020603050405020304" pitchFamily="18" charset="0"/>
                <a:ea typeface="돋움" pitchFamily="50" charset="-127"/>
                <a:cs typeface="Times New Roman" panose="02020603050405020304" pitchFamily="18" charset="0"/>
              </a:rPr>
              <a:t>Resiste</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khi</a:t>
            </a:r>
            <a:r>
              <a:rPr lang="en-US" altLang="ko-KR" sz="950" dirty="0" smtClean="0">
                <a:latin typeface="Times New Roman" panose="02020603050405020304" pitchFamily="18" charset="0"/>
                <a:ea typeface="돋움" pitchFamily="50" charset="-127"/>
                <a:cs typeface="Times New Roman" panose="02020603050405020304" pitchFamily="18" charset="0"/>
              </a:rPr>
              <a:t> Off </a:t>
            </a:r>
            <a:r>
              <a:rPr lang="en-US" altLang="ko-KR" sz="950" dirty="0" err="1" smtClean="0">
                <a:latin typeface="Times New Roman" panose="02020603050405020304" pitchFamily="18" charset="0"/>
                <a:ea typeface="돋움" pitchFamily="50" charset="-127"/>
                <a:cs typeface="Times New Roman" panose="02020603050405020304" pitchFamily="18" charset="0"/>
              </a:rPr>
              <a:t>nguồn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hoặc</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Reset thì</a:t>
            </a:r>
          </a:p>
          <a:p>
            <a:pPr marL="341313" indent="-171450" eaLnBrk="1" hangingPunct="1"/>
            <a:r>
              <a:rPr lang="en-US"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Latch </a:t>
            </a:r>
            <a:r>
              <a:rPr lang="en-US" altLang="ko-KR" sz="950" dirty="0" err="1" smtClean="0">
                <a:latin typeface="Times New Roman" panose="02020603050405020304" pitchFamily="18" charset="0"/>
                <a:ea typeface="돋움" pitchFamily="50" charset="-127"/>
                <a:cs typeface="Times New Roman" panose="02020603050405020304" pitchFamily="18" charset="0"/>
              </a:rPr>
              <a:t>của</a:t>
            </a:r>
            <a:r>
              <a:rPr lang="en-US" altLang="ko-KR" sz="950" dirty="0" smtClean="0">
                <a:latin typeface="Times New Roman" panose="02020603050405020304" pitchFamily="18" charset="0"/>
                <a:ea typeface="돋움" pitchFamily="50" charset="-127"/>
                <a:cs typeface="Times New Roman" panose="02020603050405020304" pitchFamily="18" charset="0"/>
              </a:rPr>
              <a:t> S/W </a:t>
            </a:r>
            <a:r>
              <a:rPr lang="en-US" altLang="ko-KR" sz="950" dirty="0" err="1" smtClean="0">
                <a:latin typeface="Times New Roman" panose="02020603050405020304" pitchFamily="18" charset="0"/>
                <a:ea typeface="돋움" pitchFamily="50" charset="-127"/>
                <a:cs typeface="Times New Roman" panose="02020603050405020304" pitchFamily="18" charset="0"/>
              </a:rPr>
              <a:t>bị</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Clear </a:t>
            </a:r>
            <a:endParaRPr lang="ko-KR" altLang="en-US" sz="950" dirty="0">
              <a:latin typeface="Times New Roman" panose="02020603050405020304" pitchFamily="18" charset="0"/>
              <a:ea typeface="돋움" pitchFamily="50" charset="-127"/>
              <a:cs typeface="Times New Roman" panose="02020603050405020304" pitchFamily="18" charset="0"/>
            </a:endParaRPr>
          </a:p>
        </p:txBody>
      </p:sp>
      <p:sp>
        <p:nvSpPr>
          <p:cNvPr id="9" name="Rectangle 102"/>
          <p:cNvSpPr>
            <a:spLocks noChangeArrowheads="1"/>
          </p:cNvSpPr>
          <p:nvPr/>
        </p:nvSpPr>
        <p:spPr bwMode="auto">
          <a:xfrm>
            <a:off x="174624" y="8174675"/>
            <a:ext cx="323532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35</a:t>
            </a:r>
            <a:r>
              <a:rPr lang="en-US" altLang="ko-KR" sz="95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Khi lệnh MC/MCR OFF, lệnh </a:t>
            </a:r>
            <a:r>
              <a:rPr lang="en-US" altLang="ko-KR" sz="950" dirty="0" err="1" smtClean="0">
                <a:latin typeface="Times New Roman" panose="02020603050405020304" pitchFamily="18" charset="0"/>
                <a:ea typeface="돋움" pitchFamily="50" charset="-127"/>
                <a:cs typeface="Times New Roman" panose="02020603050405020304" pitchFamily="18" charset="0"/>
              </a:rPr>
              <a:t>nào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err="1" smtClean="0">
                <a:latin typeface="Times New Roman" panose="02020603050405020304" pitchFamily="18" charset="0"/>
                <a:ea typeface="돋움" pitchFamily="50" charset="-127"/>
                <a:cs typeface="Times New Roman" panose="02020603050405020304" pitchFamily="18" charset="0"/>
              </a:rPr>
              <a:t>không</a:t>
            </a:r>
            <a:r>
              <a:rPr lang="en-US" altLang="ko-KR" sz="950" smtClean="0">
                <a:latin typeface="Times New Roman" panose="02020603050405020304" pitchFamily="18" charset="0"/>
                <a:ea typeface="돋움" pitchFamily="50" charset="-127"/>
                <a:cs typeface="Times New Roman" panose="02020603050405020304" pitchFamily="18" charset="0"/>
              </a:rPr>
              <a:t> được duy trì trạng </a:t>
            </a:r>
            <a:r>
              <a:rPr lang="en-US" altLang="ko-KR" sz="950" err="1" smtClean="0">
                <a:latin typeface="Times New Roman" panose="02020603050405020304" pitchFamily="18" charset="0"/>
                <a:ea typeface="돋움" pitchFamily="50" charset="-127"/>
                <a:cs typeface="Times New Roman" panose="02020603050405020304" pitchFamily="18" charset="0"/>
              </a:rPr>
              <a:t>thái</a:t>
            </a:r>
            <a:r>
              <a:rPr lang="en-US" altLang="ko-KR" sz="950" smtClean="0">
                <a:latin typeface="Times New Roman" panose="02020603050405020304" pitchFamily="18" charset="0"/>
                <a:ea typeface="돋움" pitchFamily="50" charset="-127"/>
                <a:cs typeface="Times New Roman" panose="02020603050405020304" pitchFamily="18" charset="0"/>
              </a:rPr>
              <a:t> ON mà sẽ </a:t>
            </a:r>
            <a:r>
              <a:rPr lang="en-US" altLang="ko-KR" sz="950" dirty="0" err="1" smtClean="0">
                <a:latin typeface="Times New Roman" panose="02020603050405020304" pitchFamily="18" charset="0"/>
                <a:ea typeface="돋움" pitchFamily="50" charset="-127"/>
                <a:cs typeface="Times New Roman" panose="02020603050405020304" pitchFamily="18" charset="0"/>
              </a:rPr>
              <a:t>chuyển</a:t>
            </a:r>
            <a:r>
              <a:rPr lang="en-US" altLang="ko-KR" sz="950" dirty="0" smtClean="0">
                <a:latin typeface="Times New Roman" panose="02020603050405020304" pitchFamily="18" charset="0"/>
                <a:ea typeface="돋움" pitchFamily="50" charset="-127"/>
                <a:cs typeface="Times New Roman" panose="02020603050405020304" pitchFamily="18" charset="0"/>
              </a:rPr>
              <a:t> sang </a:t>
            </a:r>
            <a:r>
              <a:rPr lang="en-US" altLang="ko-KR" sz="950" smtClean="0">
                <a:latin typeface="Times New Roman" panose="02020603050405020304" pitchFamily="18" charset="0"/>
                <a:ea typeface="돋움" pitchFamily="50" charset="-127"/>
                <a:cs typeface="Times New Roman" panose="02020603050405020304" pitchFamily="18" charset="0"/>
              </a:rPr>
              <a:t>OFF?</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    A. SET                        B.   RST</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    C. OUT                       D.  </a:t>
            </a:r>
            <a:r>
              <a:rPr lang="en-US" altLang="ko-KR" sz="950" dirty="0" err="1" smtClean="0">
                <a:latin typeface="Times New Roman" panose="02020603050405020304" pitchFamily="18" charset="0"/>
                <a:ea typeface="돋움" pitchFamily="50" charset="-127"/>
                <a:cs typeface="Times New Roman" panose="02020603050405020304" pitchFamily="18" charset="0"/>
              </a:rPr>
              <a:t>Giá</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trị</a:t>
            </a:r>
            <a:r>
              <a:rPr lang="en-US" altLang="ko-KR" sz="950" dirty="0" smtClean="0">
                <a:latin typeface="Times New Roman" panose="02020603050405020304" pitchFamily="18" charset="0"/>
                <a:ea typeface="돋움" pitchFamily="50" charset="-127"/>
                <a:cs typeface="Times New Roman" panose="02020603050405020304" pitchFamily="18" charset="0"/>
              </a:rPr>
              <a:t> Timer </a:t>
            </a:r>
            <a:r>
              <a:rPr lang="en-US" altLang="ko-KR" sz="950" dirty="0" err="1" smtClean="0">
                <a:latin typeface="Times New Roman" panose="02020603050405020304" pitchFamily="18" charset="0"/>
                <a:ea typeface="돋움" pitchFamily="50" charset="-127"/>
                <a:cs typeface="Times New Roman" panose="02020603050405020304" pitchFamily="18" charset="0"/>
              </a:rPr>
              <a:t>tích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hợp</a:t>
            </a:r>
            <a:endParaRPr lang="ko-KR" altLang="en-US" sz="950" dirty="0">
              <a:latin typeface="Times New Roman" panose="02020603050405020304" pitchFamily="18" charset="0"/>
              <a:ea typeface="돋움" pitchFamily="50" charset="-127"/>
              <a:cs typeface="Times New Roman" panose="02020603050405020304" pitchFamily="18" charset="0"/>
            </a:endParaRPr>
          </a:p>
        </p:txBody>
      </p:sp>
      <p:sp>
        <p:nvSpPr>
          <p:cNvPr id="10" name="Rectangle 103"/>
          <p:cNvSpPr>
            <a:spLocks noChangeArrowheads="1"/>
          </p:cNvSpPr>
          <p:nvPr/>
        </p:nvSpPr>
        <p:spPr bwMode="auto">
          <a:xfrm>
            <a:off x="3409950" y="2288704"/>
            <a:ext cx="339883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37. Program </a:t>
            </a:r>
            <a:r>
              <a:rPr lang="en-US" altLang="ko-KR" sz="950" err="1" smtClean="0">
                <a:latin typeface="Times New Roman" panose="02020603050405020304" pitchFamily="18" charset="0"/>
                <a:ea typeface="돋움" pitchFamily="50" charset="-127"/>
                <a:cs typeface="Times New Roman" panose="02020603050405020304" pitchFamily="18" charset="0"/>
              </a:rPr>
              <a:t>mà</a:t>
            </a:r>
            <a:r>
              <a:rPr lang="en-US" altLang="ko-KR" sz="950" smtClean="0">
                <a:latin typeface="Times New Roman" panose="02020603050405020304" pitchFamily="18" charset="0"/>
                <a:ea typeface="돋움" pitchFamily="50" charset="-127"/>
                <a:cs typeface="Times New Roman" panose="02020603050405020304" pitchFamily="18" charset="0"/>
              </a:rPr>
              <a:t> sau </a:t>
            </a:r>
            <a:r>
              <a:rPr lang="en-US" altLang="ko-KR" sz="950" dirty="0" smtClean="0">
                <a:latin typeface="Times New Roman" panose="02020603050405020304" pitchFamily="18" charset="0"/>
                <a:ea typeface="돋움" pitchFamily="50" charset="-127"/>
                <a:cs typeface="Times New Roman" panose="02020603050405020304" pitchFamily="18" charset="0"/>
              </a:rPr>
              <a:t>0.33s </a:t>
            </a:r>
            <a:r>
              <a:rPr lang="en-US" altLang="ko-KR" sz="950" err="1" smtClean="0">
                <a:latin typeface="Times New Roman" panose="02020603050405020304" pitchFamily="18" charset="0"/>
                <a:ea typeface="돋움" pitchFamily="50" charset="-127"/>
                <a:cs typeface="Times New Roman" panose="02020603050405020304" pitchFamily="18" charset="0"/>
              </a:rPr>
              <a:t>hoạt</a:t>
            </a:r>
            <a:r>
              <a:rPr lang="en-US" altLang="ko-KR" sz="950" smtClean="0">
                <a:latin typeface="Times New Roman" panose="02020603050405020304" pitchFamily="18" charset="0"/>
                <a:ea typeface="돋움" pitchFamily="50" charset="-127"/>
                <a:cs typeface="Times New Roman" panose="02020603050405020304" pitchFamily="18" charset="0"/>
              </a:rPr>
              <a:t> động, Timer T0 ON. </a:t>
            </a:r>
          </a:p>
          <a:p>
            <a:pPr eaLnBrk="1" hangingPunct="1"/>
            <a:r>
              <a:rPr lang="vi-VN" altLang="ko-KR" sz="950" smtClean="0">
                <a:latin typeface="Times New Roman" panose="02020603050405020304" pitchFamily="18" charset="0"/>
                <a:ea typeface="돋움" pitchFamily="50" charset="-127"/>
                <a:cs typeface="Times New Roman" panose="02020603050405020304" pitchFamily="18" charset="0"/>
              </a:rPr>
              <a:t>Chương</a:t>
            </a:r>
            <a:r>
              <a:rPr lang="en-US" altLang="ko-KR" sz="950" smtClean="0">
                <a:latin typeface="Times New Roman" panose="02020603050405020304" pitchFamily="18" charset="0"/>
                <a:ea typeface="돋움" pitchFamily="50" charset="-127"/>
                <a:cs typeface="Times New Roman" panose="02020603050405020304" pitchFamily="18" charset="0"/>
              </a:rPr>
              <a:t> trình nào dưới đây đúng?</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dirty="0">
                <a:latin typeface="Times New Roman" panose="02020603050405020304" pitchFamily="18" charset="0"/>
                <a:ea typeface="돋움" pitchFamily="50" charset="-127"/>
                <a:cs typeface="Times New Roman" panose="02020603050405020304" pitchFamily="18" charset="0"/>
              </a:rPr>
              <a:t>-(T0 K33</a:t>
            </a:r>
            <a:r>
              <a:rPr lang="en-US" altLang="ko-KR" sz="95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B. -(</a:t>
            </a:r>
            <a:r>
              <a:rPr lang="en-US" altLang="ko-KR" sz="950" dirty="0">
                <a:latin typeface="Times New Roman" panose="02020603050405020304" pitchFamily="18" charset="0"/>
                <a:ea typeface="돋움" pitchFamily="50" charset="-127"/>
                <a:cs typeface="Times New Roman" panose="02020603050405020304" pitchFamily="18" charset="0"/>
              </a:rPr>
              <a:t>T0 K333)-</a:t>
            </a: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C. </a:t>
            </a:r>
            <a:r>
              <a:rPr lang="en-US" altLang="ko-KR" sz="950" dirty="0">
                <a:latin typeface="Times New Roman" panose="02020603050405020304" pitchFamily="18" charset="0"/>
                <a:ea typeface="돋움" pitchFamily="50" charset="-127"/>
                <a:cs typeface="Times New Roman" panose="02020603050405020304" pitchFamily="18" charset="0"/>
              </a:rPr>
              <a:t>-(</a:t>
            </a:r>
            <a:r>
              <a:rPr lang="en-US" altLang="ko-KR" sz="950">
                <a:latin typeface="Times New Roman" panose="02020603050405020304" pitchFamily="18" charset="0"/>
                <a:ea typeface="돋움" pitchFamily="50" charset="-127"/>
                <a:cs typeface="Times New Roman" panose="02020603050405020304" pitchFamily="18" charset="0"/>
              </a:rPr>
              <a:t>H </a:t>
            </a:r>
            <a:r>
              <a:rPr lang="en-US" altLang="ko-KR" sz="950" smtClean="0">
                <a:latin typeface="Times New Roman" panose="02020603050405020304" pitchFamily="18" charset="0"/>
                <a:ea typeface="돋움" pitchFamily="50" charset="-127"/>
                <a:cs typeface="Times New Roman" panose="02020603050405020304" pitchFamily="18" charset="0"/>
              </a:rPr>
              <a:t>T0 </a:t>
            </a:r>
            <a:r>
              <a:rPr lang="en-US" altLang="ko-KR" sz="950" dirty="0">
                <a:latin typeface="Times New Roman" panose="02020603050405020304" pitchFamily="18" charset="0"/>
                <a:ea typeface="돋움" pitchFamily="50" charset="-127"/>
                <a:cs typeface="Times New Roman" panose="02020603050405020304" pitchFamily="18" charset="0"/>
              </a:rPr>
              <a:t>K33</a:t>
            </a:r>
            <a:r>
              <a:rPr lang="en-US" altLang="ko-KR" sz="95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D. -(</a:t>
            </a:r>
            <a:r>
              <a:rPr lang="en-US" altLang="ko-KR" sz="950">
                <a:latin typeface="Times New Roman" panose="02020603050405020304" pitchFamily="18" charset="0"/>
                <a:ea typeface="돋움" pitchFamily="50" charset="-127"/>
                <a:cs typeface="Times New Roman" panose="02020603050405020304" pitchFamily="18" charset="0"/>
              </a:rPr>
              <a:t>H </a:t>
            </a:r>
            <a:r>
              <a:rPr lang="en-US" altLang="ko-KR" sz="950" smtClean="0">
                <a:latin typeface="Times New Roman" panose="02020603050405020304" pitchFamily="18" charset="0"/>
                <a:ea typeface="돋움" pitchFamily="50" charset="-127"/>
                <a:cs typeface="Times New Roman" panose="02020603050405020304" pitchFamily="18" charset="0"/>
              </a:rPr>
              <a:t>T0 </a:t>
            </a:r>
            <a:r>
              <a:rPr lang="en-US" altLang="ko-KR" sz="950" dirty="0">
                <a:latin typeface="Times New Roman" panose="02020603050405020304" pitchFamily="18" charset="0"/>
                <a:ea typeface="돋움" pitchFamily="50" charset="-127"/>
                <a:cs typeface="Times New Roman" panose="02020603050405020304" pitchFamily="18" charset="0"/>
              </a:rPr>
              <a:t>K333)</a:t>
            </a:r>
          </a:p>
          <a:p>
            <a:pPr eaLnBrk="1" hangingPunct="1"/>
            <a:endParaRPr lang="ko-KR" altLang="en-US" sz="950" dirty="0">
              <a:latin typeface="Times New Roman" panose="02020603050405020304" pitchFamily="18" charset="0"/>
              <a:ea typeface="돋움" pitchFamily="50" charset="-127"/>
              <a:cs typeface="Times New Roman" panose="02020603050405020304" pitchFamily="18" charset="0"/>
            </a:endParaRPr>
          </a:p>
        </p:txBody>
      </p:sp>
      <p:sp>
        <p:nvSpPr>
          <p:cNvPr id="11" name="Rectangle 107"/>
          <p:cNvSpPr>
            <a:spLocks noChangeArrowheads="1"/>
          </p:cNvSpPr>
          <p:nvPr/>
        </p:nvSpPr>
        <p:spPr bwMode="auto">
          <a:xfrm>
            <a:off x="3429000" y="3818766"/>
            <a:ext cx="324036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38</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Điều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nào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không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đúng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những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giải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thích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về</a:t>
            </a:r>
            <a:r>
              <a:rPr lang="en-US" altLang="ko-KR" sz="950" dirty="0" smtClean="0">
                <a:latin typeface="Times New Roman" panose="02020603050405020304" pitchFamily="18" charset="0"/>
                <a:ea typeface="돋움" pitchFamily="50" charset="-127"/>
                <a:cs typeface="Times New Roman" panose="02020603050405020304" pitchFamily="18" charset="0"/>
              </a:rPr>
              <a:t> 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sau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đây</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dirty="0" smtClean="0">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bên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ngoài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sử</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dụng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cho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đầu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vào</a:t>
            </a:r>
            <a:r>
              <a:rPr lang="en-US" altLang="ko-KR" sz="950" dirty="0" smtClean="0">
                <a:latin typeface="Times New Roman" panose="02020603050405020304" pitchFamily="18" charset="0"/>
                <a:ea typeface="돋움" pitchFamily="50" charset="-127"/>
                <a:cs typeface="Times New Roman" panose="02020603050405020304" pitchFamily="18" charset="0"/>
              </a:rPr>
              <a:t>/</a:t>
            </a:r>
            <a:r>
              <a:rPr lang="en-US" altLang="ko-KR" sz="950" dirty="0" err="1" smtClean="0">
                <a:latin typeface="Times New Roman" panose="02020603050405020304" pitchFamily="18" charset="0"/>
                <a:ea typeface="돋움" pitchFamily="50" charset="-127"/>
                <a:cs typeface="Times New Roman" panose="02020603050405020304" pitchFamily="18" charset="0"/>
              </a:rPr>
              <a:t>đầu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ra</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bên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err="1" smtClean="0">
                <a:latin typeface="Times New Roman" panose="02020603050405020304" pitchFamily="18" charset="0"/>
                <a:ea typeface="돋움" pitchFamily="50" charset="-127"/>
                <a:cs typeface="Times New Roman" panose="02020603050405020304" pitchFamily="18" charset="0"/>
              </a:rPr>
              <a:t>ngoài</a:t>
            </a:r>
            <a:r>
              <a:rPr lang="en-US" altLang="ko-KR" sz="950" smtClean="0">
                <a:latin typeface="Times New Roman" panose="02020603050405020304" pitchFamily="18" charset="0"/>
                <a:ea typeface="돋움" pitchFamily="50" charset="-127"/>
                <a:cs typeface="Times New Roman" panose="02020603050405020304" pitchFamily="18" charset="0"/>
              </a:rPr>
              <a:t> CPU</a:t>
            </a:r>
            <a:endParaRPr lang="ko-KR" altLang="en-US"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B. </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bên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chỉ</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sử</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dụng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bên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CPU</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C. </a:t>
            </a:r>
            <a:r>
              <a:rPr lang="en-US" altLang="ko-KR" sz="950" dirty="0">
                <a:latin typeface="Times New Roman" panose="02020603050405020304" pitchFamily="18" charset="0"/>
                <a:ea typeface="돋움" pitchFamily="50" charset="-127"/>
                <a:cs typeface="Times New Roman" panose="02020603050405020304" pitchFamily="18" charset="0"/>
              </a:rPr>
              <a:t>Bit Device : </a:t>
            </a:r>
            <a:r>
              <a:rPr lang="en-US" altLang="ko-KR" sz="950" dirty="0" smtClean="0">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chỉ</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có</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thể</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điều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khiển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bằng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hệ</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nhị</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phân</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D.  </a:t>
            </a:r>
            <a:r>
              <a:rPr lang="en-US" altLang="ko-KR" sz="950" dirty="0">
                <a:latin typeface="Times New Roman" panose="02020603050405020304" pitchFamily="18" charset="0"/>
                <a:ea typeface="돋움" pitchFamily="50" charset="-127"/>
                <a:cs typeface="Times New Roman" panose="02020603050405020304" pitchFamily="18" charset="0"/>
              </a:rPr>
              <a:t>Word Device : </a:t>
            </a:r>
            <a:r>
              <a:rPr lang="en-US" altLang="ko-KR" sz="950" dirty="0" smtClean="0">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latin typeface="Times New Roman" panose="02020603050405020304" pitchFamily="18" charset="0"/>
                <a:ea typeface="돋움" pitchFamily="50" charset="-127"/>
                <a:cs typeface="Times New Roman" panose="02020603050405020304" pitchFamily="18" charset="0"/>
              </a:rPr>
              <a:t>chỉ</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có</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thể</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điều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khiển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bằng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đơn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vị</a:t>
            </a:r>
            <a:r>
              <a:rPr lang="en-US" altLang="ko-KR" sz="950" dirty="0" smtClean="0">
                <a:latin typeface="Times New Roman" panose="02020603050405020304" pitchFamily="18" charset="0"/>
                <a:ea typeface="돋움" pitchFamily="50" charset="-127"/>
                <a:cs typeface="Times New Roman" panose="02020603050405020304" pitchFamily="18" charset="0"/>
              </a:rPr>
              <a:t> Word</a:t>
            </a:r>
            <a:endParaRPr lang="en-US" altLang="ko-KR" sz="950" dirty="0">
              <a:latin typeface="Times New Roman" panose="02020603050405020304" pitchFamily="18" charset="0"/>
              <a:ea typeface="돋움" pitchFamily="50" charset="-127"/>
              <a:cs typeface="Times New Roman" panose="02020603050405020304" pitchFamily="18" charset="0"/>
            </a:endParaRPr>
          </a:p>
        </p:txBody>
      </p:sp>
      <p:sp>
        <p:nvSpPr>
          <p:cNvPr id="12" name="Rectangle 108"/>
          <p:cNvSpPr>
            <a:spLocks noChangeArrowheads="1"/>
          </p:cNvSpPr>
          <p:nvPr/>
        </p:nvSpPr>
        <p:spPr bwMode="auto">
          <a:xfrm>
            <a:off x="3441700" y="5859807"/>
            <a:ext cx="316255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39</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Cái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nào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sai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số</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những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giải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thích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về</a:t>
            </a:r>
            <a:r>
              <a:rPr lang="en-US" altLang="ko-KR" sz="950" dirty="0" smtClean="0">
                <a:latin typeface="Times New Roman" panose="02020603050405020304" pitchFamily="18" charset="0"/>
                <a:ea typeface="돋움" pitchFamily="50" charset="-127"/>
                <a:cs typeface="Times New Roman" panose="02020603050405020304" pitchFamily="18" charset="0"/>
              </a:rPr>
              <a:t> Data Resister </a:t>
            </a:r>
            <a:r>
              <a:rPr lang="en-US" altLang="ko-KR" sz="950" dirty="0" err="1" smtClean="0">
                <a:latin typeface="Times New Roman" panose="02020603050405020304" pitchFamily="18" charset="0"/>
                <a:ea typeface="돋움" pitchFamily="50" charset="-127"/>
                <a:cs typeface="Times New Roman" panose="02020603050405020304" pitchFamily="18" charset="0"/>
              </a:rPr>
              <a:t>sau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đây</a:t>
            </a:r>
            <a:r>
              <a:rPr lang="ko-KR" altLang="ko-KR" sz="950" dirty="0" smtClean="0">
                <a:latin typeface="Times New Roman" panose="02020603050405020304" pitchFamily="18" charset="0"/>
                <a:ea typeface="돋움" pitchFamily="50" charset="-127"/>
                <a:cs typeface="Times New Roman" panose="02020603050405020304" pitchFamily="18" charset="0"/>
              </a:rPr>
              <a:t>?  </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Memory </a:t>
            </a:r>
            <a:r>
              <a:rPr lang="en-US" altLang="ko-KR" sz="950" dirty="0" err="1" smtClean="0">
                <a:latin typeface="Times New Roman" panose="02020603050405020304" pitchFamily="18" charset="0"/>
                <a:ea typeface="돋움" pitchFamily="50" charset="-127"/>
                <a:cs typeface="Times New Roman" panose="02020603050405020304" pitchFamily="18" charset="0"/>
              </a:rPr>
              <a:t>lưu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trữ</a:t>
            </a:r>
            <a:r>
              <a:rPr lang="en-US" altLang="ko-KR" sz="950" dirty="0" smtClean="0">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PLC</a:t>
            </a:r>
            <a:r>
              <a:rPr lang="ko-KR" altLang="ko-KR" sz="950" dirty="0" smtClean="0">
                <a:latin typeface="Times New Roman" panose="02020603050405020304" pitchFamily="18" charset="0"/>
                <a:ea typeface="돋움" pitchFamily="50" charset="-127"/>
                <a:cs typeface="Times New Roman" panose="02020603050405020304" pitchFamily="18" charset="0"/>
              </a:rPr>
              <a:t>.</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B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Resister </a:t>
            </a:r>
            <a:r>
              <a:rPr lang="en-US" altLang="ko-KR" sz="950" dirty="0" err="1" smtClean="0">
                <a:latin typeface="Times New Roman" panose="02020603050405020304" pitchFamily="18" charset="0"/>
                <a:ea typeface="돋움" pitchFamily="50" charset="-127"/>
                <a:cs typeface="Times New Roman" panose="02020603050405020304" pitchFamily="18" charset="0"/>
              </a:rPr>
              <a:t>dùng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cho</a:t>
            </a:r>
            <a:r>
              <a:rPr lang="en-US" altLang="ko-KR" sz="950" dirty="0" smtClean="0">
                <a:latin typeface="Times New Roman" panose="02020603050405020304" pitchFamily="18" charset="0"/>
                <a:ea typeface="돋움" pitchFamily="50" charset="-127"/>
                <a:cs typeface="Times New Roman" panose="02020603050405020304" pitchFamily="18" charset="0"/>
              </a:rPr>
              <a:t> Data Link</a:t>
            </a:r>
            <a:r>
              <a:rPr lang="ko-KR" altLang="ko-KR" sz="950" dirty="0" smtClean="0">
                <a:latin typeface="Times New Roman" panose="02020603050405020304" pitchFamily="18" charset="0"/>
                <a:ea typeface="돋움" pitchFamily="50" charset="-127"/>
                <a:cs typeface="Times New Roman" panose="02020603050405020304" pitchFamily="18" charset="0"/>
              </a:rPr>
              <a:t>.  </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Có</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thể</a:t>
            </a:r>
            <a:r>
              <a:rPr lang="en-US" altLang="ko-KR" sz="950" dirty="0" smtClean="0">
                <a:latin typeface="Times New Roman" panose="02020603050405020304" pitchFamily="18" charset="0"/>
                <a:ea typeface="돋움" pitchFamily="50" charset="-127"/>
                <a:cs typeface="Times New Roman" panose="02020603050405020304" pitchFamily="18" charset="0"/>
              </a:rPr>
              <a:t> Read/Write </a:t>
            </a:r>
            <a:r>
              <a:rPr lang="en-US" altLang="ko-KR" sz="950" dirty="0" err="1" smtClean="0">
                <a:latin typeface="Times New Roman" panose="02020603050405020304" pitchFamily="18" charset="0"/>
                <a:ea typeface="돋움" pitchFamily="50" charset="-127"/>
                <a:cs typeface="Times New Roman" panose="02020603050405020304" pitchFamily="18" charset="0"/>
              </a:rPr>
              <a:t>với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đơn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vị</a:t>
            </a:r>
            <a:r>
              <a:rPr lang="en-US" altLang="ko-KR" sz="950" dirty="0" smtClean="0">
                <a:latin typeface="Times New Roman" panose="02020603050405020304" pitchFamily="18" charset="0"/>
                <a:ea typeface="돋움" pitchFamily="50" charset="-127"/>
                <a:cs typeface="Times New Roman" panose="02020603050405020304" pitchFamily="18" charset="0"/>
              </a:rPr>
              <a:t> 16Bit</a:t>
            </a:r>
            <a:r>
              <a:rPr lang="ko-KR" altLang="ko-KR" sz="950" dirty="0" smtClean="0">
                <a:latin typeface="Times New Roman" panose="02020603050405020304" pitchFamily="18" charset="0"/>
                <a:ea typeface="돋움" pitchFamily="50" charset="-127"/>
                <a:cs typeface="Times New Roman" panose="02020603050405020304" pitchFamily="18" charset="0"/>
              </a:rPr>
              <a:t>. </a:t>
            </a:r>
            <a:endParaRPr lang="ko-KR"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D. </a:t>
            </a:r>
            <a:r>
              <a:rPr lang="ko-KR" altLang="ko-KR" sz="95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Sử</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dụng</a:t>
            </a:r>
            <a:r>
              <a:rPr lang="en-US" altLang="ko-KR" sz="950" dirty="0" smtClean="0">
                <a:latin typeface="Times New Roman" panose="02020603050405020304" pitchFamily="18" charset="0"/>
                <a:ea typeface="돋움" pitchFamily="50" charset="-127"/>
                <a:cs typeface="Times New Roman" panose="02020603050405020304" pitchFamily="18" charset="0"/>
              </a:rPr>
              <a:t> 2 </a:t>
            </a:r>
            <a:r>
              <a:rPr lang="en-US" altLang="ko-KR" sz="950" dirty="0" err="1" smtClean="0">
                <a:latin typeface="Times New Roman" panose="02020603050405020304" pitchFamily="18" charset="0"/>
                <a:ea typeface="돋움" pitchFamily="50" charset="-127"/>
                <a:cs typeface="Times New Roman" panose="02020603050405020304" pitchFamily="18" charset="0"/>
              </a:rPr>
              <a:t>điểm</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trong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hợp</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sử</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dụng</a:t>
            </a:r>
            <a:r>
              <a:rPr lang="en-US" altLang="ko-KR" sz="950" dirty="0" smtClean="0">
                <a:latin typeface="Times New Roman" panose="02020603050405020304" pitchFamily="18" charset="0"/>
                <a:ea typeface="돋움" pitchFamily="50" charset="-127"/>
                <a:cs typeface="Times New Roman" panose="02020603050405020304" pitchFamily="18" charset="0"/>
              </a:rPr>
              <a:t> Data 32Bit.</a:t>
            </a:r>
            <a:endParaRPr lang="en-US" altLang="ko-KR" sz="950" dirty="0">
              <a:latin typeface="Times New Roman" panose="02020603050405020304" pitchFamily="18" charset="0"/>
              <a:ea typeface="돋움" pitchFamily="50" charset="-127"/>
              <a:cs typeface="Times New Roman" panose="02020603050405020304" pitchFamily="18" charset="0"/>
            </a:endParaRPr>
          </a:p>
        </p:txBody>
      </p:sp>
      <p:sp>
        <p:nvSpPr>
          <p:cNvPr id="13" name="Rectangle 44"/>
          <p:cNvSpPr>
            <a:spLocks noChangeArrowheads="1"/>
          </p:cNvSpPr>
          <p:nvPr/>
        </p:nvSpPr>
        <p:spPr bwMode="auto">
          <a:xfrm>
            <a:off x="3460879" y="1064568"/>
            <a:ext cx="3124200" cy="89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36</a:t>
            </a:r>
            <a:r>
              <a:rPr lang="en-US" altLang="ko-KR" sz="950" dirty="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Tiếp</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điểm</a:t>
            </a:r>
            <a:r>
              <a:rPr lang="en-US" altLang="ko-KR" sz="950" dirty="0" smtClean="0">
                <a:latin typeface="Times New Roman" panose="02020603050405020304" pitchFamily="18" charset="0"/>
                <a:ea typeface="돋움" pitchFamily="50" charset="-127"/>
                <a:cs typeface="Times New Roman" panose="02020603050405020304" pitchFamily="18" charset="0"/>
              </a:rPr>
              <a:t> TIMER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lệnh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mấy</a:t>
            </a:r>
            <a:r>
              <a:rPr lang="en-US" altLang="ko-KR" sz="950" dirty="0" smtClean="0">
                <a:latin typeface="Times New Roman" panose="02020603050405020304" pitchFamily="18" charset="0"/>
                <a:ea typeface="돋움" pitchFamily="50" charset="-127"/>
                <a:cs typeface="Times New Roman" panose="02020603050405020304" pitchFamily="18" charset="0"/>
              </a:rPr>
              <a:t> Step?</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5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dirty="0" smtClean="0">
                <a:latin typeface="Times New Roman" panose="02020603050405020304" pitchFamily="18" charset="0"/>
                <a:ea typeface="돋움" pitchFamily="50" charset="-127"/>
                <a:cs typeface="Times New Roman" panose="02020603050405020304" pitchFamily="18" charset="0"/>
              </a:rPr>
              <a:t>4 </a:t>
            </a:r>
            <a:r>
              <a:rPr lang="en-US" altLang="ko-KR" sz="950" smtClean="0">
                <a:latin typeface="Times New Roman" panose="02020603050405020304" pitchFamily="18" charset="0"/>
                <a:ea typeface="돋움" pitchFamily="50" charset="-127"/>
                <a:cs typeface="Times New Roman" panose="02020603050405020304" pitchFamily="18" charset="0"/>
              </a:rPr>
              <a:t>Step </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B. </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3 </a:t>
            </a:r>
            <a:r>
              <a:rPr lang="en-US" altLang="ko-KR" sz="950" smtClean="0">
                <a:latin typeface="Times New Roman" panose="02020603050405020304" pitchFamily="18" charset="0"/>
                <a:ea typeface="돋움" pitchFamily="50" charset="-127"/>
                <a:cs typeface="Times New Roman" panose="02020603050405020304" pitchFamily="18" charset="0"/>
              </a:rPr>
              <a:t>Step</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C. </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2 </a:t>
            </a:r>
            <a:r>
              <a:rPr lang="en-US" altLang="ko-KR" sz="950" smtClean="0">
                <a:latin typeface="Times New Roman" panose="02020603050405020304" pitchFamily="18" charset="0"/>
                <a:ea typeface="돋움" pitchFamily="50" charset="-127"/>
                <a:cs typeface="Times New Roman" panose="02020603050405020304" pitchFamily="18" charset="0"/>
              </a:rPr>
              <a:t>Step</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D .</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dirty="0" smtClean="0">
                <a:latin typeface="Times New Roman" panose="02020603050405020304" pitchFamily="18" charset="0"/>
                <a:ea typeface="돋움" pitchFamily="50" charset="-127"/>
                <a:cs typeface="Times New Roman" panose="02020603050405020304" pitchFamily="18" charset="0"/>
              </a:rPr>
              <a:t>1 Step</a:t>
            </a:r>
            <a:r>
              <a:rPr lang="ko-KR" altLang="en-US" sz="950" dirty="0" smtClean="0">
                <a:latin typeface="Times New Roman" panose="02020603050405020304" pitchFamily="18" charset="0"/>
                <a:ea typeface="돋움" pitchFamily="50" charset="-127"/>
                <a:cs typeface="Times New Roman" panose="02020603050405020304" pitchFamily="18" charset="0"/>
              </a:rPr>
              <a:t> </a:t>
            </a:r>
            <a:endParaRPr lang="ko-KR" altLang="en-US" sz="950" dirty="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50" dirty="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ko-KR" altLang="en-US" sz="950" dirty="0">
              <a:latin typeface="Times New Roman" panose="02020603050405020304" pitchFamily="18" charset="0"/>
              <a:ea typeface="돋움" pitchFamily="50" charset="-127"/>
              <a:cs typeface="Times New Roman" panose="02020603050405020304" pitchFamily="18" charset="0"/>
            </a:endParaRPr>
          </a:p>
        </p:txBody>
      </p:sp>
      <p:grpSp>
        <p:nvGrpSpPr>
          <p:cNvPr id="14" name="Group 13"/>
          <p:cNvGrpSpPr/>
          <p:nvPr/>
        </p:nvGrpSpPr>
        <p:grpSpPr>
          <a:xfrm>
            <a:off x="3422908" y="7248688"/>
            <a:ext cx="3429000" cy="1592744"/>
            <a:chOff x="3422908" y="1042988"/>
            <a:chExt cx="3429000" cy="1592744"/>
          </a:xfrm>
        </p:grpSpPr>
        <p:sp>
          <p:nvSpPr>
            <p:cNvPr id="15" name="Rectangle 104"/>
            <p:cNvSpPr>
              <a:spLocks noChangeArrowheads="1"/>
            </p:cNvSpPr>
            <p:nvPr/>
          </p:nvSpPr>
          <p:spPr bwMode="auto">
            <a:xfrm>
              <a:off x="3422908" y="1042988"/>
              <a:ext cx="3429000" cy="15927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spcBef>
                  <a:spcPct val="50000"/>
                </a:spcBef>
              </a:pPr>
              <a:r>
                <a:rPr lang="en-US" altLang="ko-KR" sz="900" dirty="0">
                  <a:latin typeface="Times New Roman" panose="02020603050405020304" pitchFamily="18" charset="0"/>
                  <a:ea typeface="돋움" pitchFamily="50" charset="-127"/>
                  <a:cs typeface="Times New Roman" panose="02020603050405020304" pitchFamily="18" charset="0"/>
                </a:rPr>
                <a:t>4</a:t>
              </a:r>
              <a:r>
                <a:rPr lang="en-US" altLang="ko-KR" sz="900" smtClean="0">
                  <a:latin typeface="Times New Roman" panose="02020603050405020304" pitchFamily="18" charset="0"/>
                  <a:ea typeface="돋움" pitchFamily="50" charset="-127"/>
                  <a:cs typeface="Times New Roman" panose="02020603050405020304" pitchFamily="18" charset="0"/>
                </a:rPr>
                <a:t>0</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đúng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vưới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timming</a:t>
              </a:r>
              <a:r>
                <a:rPr lang="en-US" altLang="ko-KR" sz="900" dirty="0" smtClean="0">
                  <a:latin typeface="Times New Roman" panose="02020603050405020304" pitchFamily="18" charset="0"/>
                  <a:ea typeface="돋움" pitchFamily="50" charset="-127"/>
                  <a:cs typeface="Times New Roman" panose="02020603050405020304" pitchFamily="18" charset="0"/>
                </a:rPr>
                <a:t> chart </a:t>
              </a:r>
              <a:r>
                <a:rPr lang="en-US" altLang="ko-KR" sz="900" err="1" smtClean="0">
                  <a:latin typeface="Times New Roman" panose="02020603050405020304" pitchFamily="18" charset="0"/>
                  <a:ea typeface="돋움" pitchFamily="50" charset="-127"/>
                  <a:cs typeface="Times New Roman" panose="02020603050405020304" pitchFamily="18" charset="0"/>
                </a:rPr>
                <a:t>sau</a:t>
              </a:r>
              <a:r>
                <a:rPr lang="en-US" altLang="ko-KR" sz="900" smtClean="0">
                  <a:latin typeface="Times New Roman" panose="02020603050405020304" pitchFamily="18" charset="0"/>
                  <a:ea typeface="돋움" pitchFamily="50" charset="-127"/>
                  <a:cs typeface="Times New Roman" panose="02020603050405020304" pitchFamily="18" charset="0"/>
                </a:rPr>
                <a:t> là?</a:t>
              </a:r>
              <a:endParaRPr lang="en-US" altLang="ko-KR" sz="100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r>
                <a:rPr lang="en-US" altLang="ko-KR" sz="1000">
                  <a:latin typeface="Times New Roman" panose="02020603050405020304" pitchFamily="18" charset="0"/>
                  <a:ea typeface="돋움" pitchFamily="50" charset="-127"/>
                  <a:cs typeface="Times New Roman" panose="02020603050405020304" pitchFamily="18" charset="0"/>
                </a:rPr>
                <a:t> </a:t>
              </a:r>
              <a:r>
                <a:rPr lang="en-US" altLang="ko-KR" sz="1000" smtClean="0">
                  <a:latin typeface="Times New Roman" panose="02020603050405020304" pitchFamily="18" charset="0"/>
                  <a:ea typeface="돋움" pitchFamily="50" charset="-127"/>
                  <a:cs typeface="Times New Roman" panose="02020603050405020304" pitchFamily="18" charset="0"/>
                </a:rPr>
                <a:t> A. </a:t>
              </a:r>
              <a:r>
                <a:rPr lang="en-US" altLang="ko-KR" sz="900">
                  <a:latin typeface="Times New Roman" panose="02020603050405020304" pitchFamily="18" charset="0"/>
                  <a:ea typeface="돋움" pitchFamily="50" charset="-127"/>
                  <a:cs typeface="Times New Roman" panose="02020603050405020304" pitchFamily="18" charset="0"/>
                </a:rPr>
                <a:t>PLF                    B. PLS</a:t>
              </a:r>
            </a:p>
            <a:p>
              <a:pPr eaLnBrk="1" hangingPunct="1">
                <a:spcBef>
                  <a:spcPct val="50000"/>
                </a:spcBef>
              </a:pPr>
              <a:r>
                <a:rPr lang="en-US" altLang="ko-KR" sz="900" smtClean="0">
                  <a:latin typeface="Times New Roman" panose="02020603050405020304" pitchFamily="18" charset="0"/>
                  <a:ea typeface="돋움" pitchFamily="50" charset="-127"/>
                  <a:cs typeface="Times New Roman" panose="02020603050405020304" pitchFamily="18" charset="0"/>
                </a:rPr>
                <a:t>  C.  FF                      </a:t>
              </a:r>
              <a:r>
                <a:rPr lang="en-US" altLang="ko-KR" sz="900">
                  <a:latin typeface="Times New Roman" panose="02020603050405020304" pitchFamily="18" charset="0"/>
                  <a:ea typeface="돋움" pitchFamily="50" charset="-127"/>
                  <a:cs typeface="Times New Roman" panose="02020603050405020304" pitchFamily="18" charset="0"/>
                </a:rPr>
                <a:t>D. </a:t>
              </a:r>
              <a:r>
                <a:rPr lang="en-US" altLang="ko-KR" sz="900" smtClean="0">
                  <a:latin typeface="Times New Roman" panose="02020603050405020304" pitchFamily="18" charset="0"/>
                  <a:ea typeface="돋움" pitchFamily="50" charset="-127"/>
                  <a:cs typeface="Times New Roman" panose="02020603050405020304" pitchFamily="18" charset="0"/>
                </a:rPr>
                <a:t>RST</a:t>
              </a:r>
              <a:endParaRPr lang="en-US" altLang="ko-KR" sz="1000">
                <a:latin typeface="Times New Roman" panose="02020603050405020304" pitchFamily="18" charset="0"/>
                <a:ea typeface="돋움" pitchFamily="50" charset="-127"/>
                <a:cs typeface="Times New Roman" panose="02020603050405020304" pitchFamily="18" charset="0"/>
              </a:endParaRPr>
            </a:p>
          </p:txBody>
        </p:sp>
        <p:pic>
          <p:nvPicPr>
            <p:cNvPr id="16" name="Picture 105"/>
            <p:cNvPicPr>
              <a:picLocks noChangeAspect="1" noChangeArrowheads="1"/>
            </p:cNvPicPr>
            <p:nvPr/>
          </p:nvPicPr>
          <p:blipFill>
            <a:blip r:embed="rId3">
              <a:extLst>
                <a:ext uri="{28A0092B-C50C-407E-A947-70E740481C1C}">
                  <a14:useLocalDpi xmlns:a14="http://schemas.microsoft.com/office/drawing/2010/main" val="0"/>
                </a:ext>
              </a:extLst>
            </a:blip>
            <a:srcRect l="21094" t="77161" r="35156" b="7292"/>
            <a:stretch>
              <a:fillRect/>
            </a:stretch>
          </p:blipFill>
          <p:spPr bwMode="auto">
            <a:xfrm>
              <a:off x="3564897" y="1278156"/>
              <a:ext cx="26273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7" name="Rectangle 7"/>
          <p:cNvSpPr>
            <a:spLocks noChangeArrowheads="1"/>
          </p:cNvSpPr>
          <p:nvPr/>
        </p:nvSpPr>
        <p:spPr bwMode="auto">
          <a:xfrm>
            <a:off x="189190" y="578152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Thao tác Latch Clear</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18" name="Rectangle 99"/>
          <p:cNvSpPr>
            <a:spLocks noChangeArrowheads="1"/>
          </p:cNvSpPr>
          <p:nvPr/>
        </p:nvSpPr>
        <p:spPr bwMode="auto">
          <a:xfrm>
            <a:off x="155074" y="4522805"/>
            <a:ext cx="326783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anose="02020603050405020304" pitchFamily="18" charset="0"/>
                <a:ea typeface="돋움" pitchFamily="50" charset="-127"/>
                <a:cs typeface="Times New Roman" panose="02020603050405020304" pitchFamily="18" charset="0"/>
              </a:rPr>
              <a:t>33. Từ nào thích hợp điền vào [    ] ở câu sau? </a:t>
            </a:r>
          </a:p>
          <a:p>
            <a:pPr marL="109538" indent="-109538" eaLnBrk="1" hangingPunct="1"/>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Phát sinh PLC Error trong trường hợp Run Scan Time muộn </a:t>
            </a:r>
            <a:r>
              <a:rPr lang="en-US" altLang="ko-KR" sz="950" smtClean="0">
                <a:latin typeface="Times New Roman" panose="02020603050405020304" pitchFamily="18" charset="0"/>
                <a:ea typeface="돋움" pitchFamily="50" charset="-127"/>
                <a:cs typeface="Times New Roman" panose="02020603050405020304" pitchFamily="18" charset="0"/>
              </a:rPr>
              <a:t>hơn so </a:t>
            </a:r>
            <a:r>
              <a:rPr lang="en-US" altLang="ko-KR" sz="950">
                <a:latin typeface="Times New Roman" panose="02020603050405020304" pitchFamily="18" charset="0"/>
                <a:ea typeface="돋움" pitchFamily="50" charset="-127"/>
                <a:cs typeface="Times New Roman" panose="02020603050405020304" pitchFamily="18" charset="0"/>
              </a:rPr>
              <a:t>với thời gian [    ] ở nơi cài đặt Scan Time tối đa</a:t>
            </a:r>
          </a:p>
          <a:p>
            <a:pPr eaLnBrk="1" hangingPunct="1"/>
            <a:r>
              <a:rPr lang="en-US" altLang="ko-KR" sz="950">
                <a:latin typeface="Times New Roman" panose="02020603050405020304" pitchFamily="18" charset="0"/>
                <a:ea typeface="돋움" pitchFamily="50" charset="-127"/>
                <a:cs typeface="Times New Roman" panose="02020603050405020304" pitchFamily="18" charset="0"/>
              </a:rPr>
              <a:t> </a:t>
            </a:r>
            <a:endParaRPr lang="en-US" altLang="ko-KR" sz="95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A</a:t>
            </a:r>
            <a:r>
              <a:rPr lang="en-US" altLang="ko-KR" sz="950">
                <a:latin typeface="Times New Roman" panose="02020603050405020304" pitchFamily="18" charset="0"/>
                <a:ea typeface="돋움" pitchFamily="50" charset="-127"/>
                <a:cs typeface="Times New Roman" panose="02020603050405020304" pitchFamily="18" charset="0"/>
              </a:rPr>
              <a:t>.  Device</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B. </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Constant Scan</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 </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WDT  D.  PLC </a:t>
            </a:r>
            <a:r>
              <a:rPr lang="en-US" altLang="ko-KR" sz="950" smtClean="0">
                <a:latin typeface="Times New Roman" panose="02020603050405020304" pitchFamily="18" charset="0"/>
                <a:ea typeface="돋움" pitchFamily="50" charset="-127"/>
                <a:cs typeface="Times New Roman" panose="02020603050405020304" pitchFamily="18" charset="0"/>
              </a:rPr>
              <a:t>RAS</a:t>
            </a:r>
            <a:endParaRPr lang="en-US" altLang="ko-KR" sz="950">
              <a:latin typeface="Times New Roman" panose="02020603050405020304" pitchFamily="18" charset="0"/>
              <a:ea typeface="돋움" pitchFamily="50" charset="-127"/>
              <a:cs typeface="Times New Roman" panose="02020603050405020304" pitchFamily="18" charset="0"/>
            </a:endParaRPr>
          </a:p>
        </p:txBody>
      </p:sp>
    </p:spTree>
    <p:extLst>
      <p:ext uri="{BB962C8B-B14F-4D97-AF65-F5344CB8AC3E}">
        <p14:creationId xmlns:p14="http://schemas.microsoft.com/office/powerpoint/2010/main" val="23305860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smtClean="0">
                <a:latin typeface="Times New Roman" pitchFamily="18" charset="0"/>
                <a:ea typeface="LG Smart_H Regular" panose="020B0600000101010101" pitchFamily="34" charset="-127"/>
                <a:cs typeface="Times New Roman" pitchFamily="18" charset="0"/>
              </a:rPr>
              <a:t>Đâu </a:t>
            </a:r>
            <a:r>
              <a:rPr lang="vi-VN" altLang="ko-KR" sz="950">
                <a:latin typeface="Times New Roman" pitchFamily="18" charset="0"/>
                <a:ea typeface="LG Smart_H Regular" panose="020B0600000101010101" pitchFamily="34" charset="-127"/>
                <a:cs typeface="Times New Roman" pitchFamily="18" charset="0"/>
              </a:rPr>
              <a:t>không phải là đặc điểm của ống dẫn khí </a:t>
            </a:r>
            <a:r>
              <a:rPr lang="vi-VN" altLang="ko-KR" sz="950" smtClean="0">
                <a:latin typeface="Times New Roman" pitchFamily="18" charset="0"/>
                <a:ea typeface="LG Smart_H Regular" panose="020B0600000101010101" pitchFamily="34" charset="-127"/>
                <a:cs typeface="Times New Roman" pitchFamily="18" charset="0"/>
              </a:rPr>
              <a:t>nén?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Tiêu hao năng lượng truyền và can thiệp giữa các máy nhỏ nên có thể  dẫn khí nén đến từng góc của nhà máy</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Ống dẫn khí nén dễ bị rỉ sét do hơi nước của bình ngưng tụ và oxy có trong không </a:t>
            </a:r>
            <a:r>
              <a:rPr lang="vi-VN" altLang="ko-KR" sz="950" smtClean="0">
                <a:latin typeface="Times New Roman" pitchFamily="18" charset="0"/>
                <a:ea typeface="LG Smart_H Regular" panose="020B0600000101010101" pitchFamily="34" charset="-127"/>
                <a:cs typeface="Times New Roman" pitchFamily="18" charset="0"/>
              </a:rPr>
              <a:t>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Mạch khí nén là hệ thống kín, tuần hoàn năng lượng.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khí bên trong đường ống khí nén có được nén hay không, thì nhiệt độ vẫn giảm, phát sinh lượng lớn ở bình ngưng tụ</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59544" y="64994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có thể loại bỏ gần hết độ ẩm trong khí nén, nhiệt độ hóa sương khoảng từ 0.5~-100℃.Có thể tái sử dụng nên được sử dụng thường xuyên.Phí thiết bị và phí sửa chữa cao nhưng phí vận hành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Máy sấy kiểu hấp </a:t>
            </a:r>
            <a:r>
              <a:rPr lang="en-US" altLang="ko-KR" sz="950" smtClean="0">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32792" y="4915252"/>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So sánh phương thức điều khiển và truyền động lực của từng loại: Tốc độ vận hành của loại hình truyền động khí nén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Khoảng 1m/sec (trung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Nhanh </a:t>
            </a:r>
            <a:r>
              <a:rPr lang="en-US" altLang="ko-KR" sz="950" smtClean="0">
                <a:latin typeface="Times New Roman" pitchFamily="18" charset="0"/>
                <a:ea typeface="LG Smart_H Regular" panose="020B0600000101010101" pitchFamily="34" charset="-127"/>
                <a:cs typeface="Times New Roman" pitchFamily="18" charset="0"/>
              </a:rPr>
              <a:t>nhất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khả năng 10m/sec (đại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Chậm nhất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09665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Là Actuator chuyển động thẳng của piston biến đổi thành chuyển động quay tròn, góc chúc góc giới hạn dưới 110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Atuator truyền động quay kiểu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Actuator truyền động quay kiểu </a:t>
            </a:r>
            <a:r>
              <a:rPr lang="vi-VN" altLang="ko-KR" sz="950" smtClean="0">
                <a:latin typeface="Times New Roman" pitchFamily="18" charset="0"/>
                <a:ea typeface="LG Smart_H Regular" panose="020B0600000101010101" pitchFamily="34" charset="-127"/>
                <a:cs typeface="Times New Roman" pitchFamily="18" charset="0"/>
              </a:rPr>
              <a:t>crack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Actuator truyền động quay kiểu </a:t>
            </a:r>
            <a:r>
              <a:rPr lang="vi-VN" altLang="ko-KR" sz="950" smtClean="0">
                <a:latin typeface="Times New Roman" pitchFamily="18" charset="0"/>
                <a:ea typeface="LG Smart_H Regular" panose="020B0600000101010101" pitchFamily="34" charset="-127"/>
                <a:cs typeface="Times New Roman" pitchFamily="18" charset="0"/>
              </a:rPr>
              <a:t>yoke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Actuator truyền động quay kiểu rack-pinion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73132" y="635759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Đáp án sai về ký hiệu cửa của van điều khiển hướng dưới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làm </a:t>
            </a:r>
            <a:r>
              <a:rPr lang="vi-VN" altLang="ko-KR" sz="950" smtClean="0">
                <a:latin typeface="Times New Roman" pitchFamily="18" charset="0"/>
                <a:ea typeface="LG Smart_H Regular" panose="020B0600000101010101" pitchFamily="34" charset="-127"/>
                <a:cs typeface="Times New Roman" pitchFamily="18" charset="0"/>
              </a:rPr>
              <a:t>việc:A,B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xả: </a:t>
            </a:r>
            <a:r>
              <a:rPr lang="vi-VN" altLang="ko-KR" sz="950" smtClean="0">
                <a:latin typeface="Times New Roman" pitchFamily="18" charset="0"/>
                <a:ea typeface="LG Smart_H Regular" panose="020B0600000101010101" pitchFamily="34" charset="-127"/>
                <a:cs typeface="Times New Roman" pitchFamily="18" charset="0"/>
              </a:rPr>
              <a:t>R,S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điều khiển : </a:t>
            </a:r>
            <a:r>
              <a:rPr lang="vi-VN" altLang="ko-KR" sz="950" smtClean="0">
                <a:latin typeface="Times New Roman" pitchFamily="18" charset="0"/>
                <a:ea typeface="LG Smart_H Regular" panose="020B0600000101010101" pitchFamily="34" charset="-127"/>
                <a:cs typeface="Times New Roman" pitchFamily="18" charset="0"/>
              </a:rPr>
              <a:t>Z,X</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cấp :P,T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Rơ le có thể cho dòng điện gấp hàng chục lần dòng điện nhập ở  đầu </a:t>
            </a:r>
            <a:r>
              <a:rPr lang="vi-VN" altLang="ko-KR" sz="950" smtClean="0">
                <a:latin typeface="Times New Roman" pitchFamily="18" charset="0"/>
                <a:ea typeface="LG Smart_H Regular" panose="020B0600000101010101" pitchFamily="34" charset="-127"/>
                <a:cs typeface="Times New Roman" pitchFamily="18" charset="0"/>
              </a:rPr>
              <a:t>ra?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biến thiên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khếch </a:t>
            </a:r>
            <a:r>
              <a:rPr lang="vi-VN" altLang="ko-KR" sz="950" smtClean="0">
                <a:latin typeface="Times New Roman" pitchFamily="18" charset="0"/>
                <a:ea typeface="LG Smart_H Regular" panose="020B0600000101010101" pitchFamily="34" charset="-127"/>
                <a:cs typeface="Times New Roman" pitchFamily="18" charset="0"/>
              </a:rPr>
              <a:t>đại.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biến </a:t>
            </a:r>
            <a:r>
              <a:rPr lang="vi-VN" altLang="ko-KR" sz="950" smtClean="0">
                <a:latin typeface="Times New Roman" pitchFamily="18" charset="0"/>
                <a:ea typeface="LG Smart_H Regular" panose="020B0600000101010101" pitchFamily="34" charset="-127"/>
                <a:cs typeface="Times New Roman" pitchFamily="18" charset="0"/>
              </a:rPr>
              <a:t>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chia điện áp</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248498" y="800941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Quyết định vị trí hành trình piston, được lắp đặt ở hai đầu ống xi lanh.Được làm bằng chất liệu khác nhau tùy theo tải: hợp kim gang cho trường hợp tải trung bình; đồng thau, gang, hợp kim nhôm, kẽm, đồng thanh, … cho tải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Piston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ống </a:t>
            </a:r>
            <a:r>
              <a:rPr lang="en-US" altLang="ko-KR" sz="950" smtClean="0">
                <a:latin typeface="Times New Roman" pitchFamily="18" charset="0"/>
                <a:ea typeface="LG Smart_H Regular" panose="020B0600000101010101" pitchFamily="34" charset="-127"/>
                <a:cs typeface="Times New Roman" pitchFamily="18" charset="0"/>
              </a:rPr>
              <a:t>xilanh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Head </a:t>
            </a:r>
            <a:r>
              <a:rPr lang="en-US" altLang="ko-KR" sz="950" smtClean="0">
                <a:latin typeface="Times New Roman" pitchFamily="18" charset="0"/>
                <a:ea typeface="LG Smart_H Regular" panose="020B0600000101010101" pitchFamily="34" charset="-127"/>
                <a:cs typeface="Times New Roman" pitchFamily="18" charset="0"/>
              </a:rPr>
              <a:t>cover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Cần Piston</a:t>
            </a:r>
          </a:p>
        </p:txBody>
      </p:sp>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Tên gọi của van </a:t>
            </a:r>
            <a:r>
              <a:rPr lang="vi-VN" altLang="ko-KR" sz="950" smtClean="0">
                <a:latin typeface="Times New Roman" pitchFamily="18" charset="0"/>
                <a:ea typeface="LG Smart_H Regular" panose="020B0600000101010101" pitchFamily="34" charset="-127"/>
                <a:cs typeface="Times New Roman" pitchFamily="18" charset="0"/>
              </a:rPr>
              <a:t>bên dưới</a:t>
            </a:r>
            <a:r>
              <a:rPr lang="en-US" altLang="ko-KR" sz="950" smtClean="0">
                <a:latin typeface="Times New Roman" pitchFamily="18" charset="0"/>
                <a:ea typeface="LG Smart_H Regular" panose="020B0600000101010101" pitchFamily="34" charset="-127"/>
                <a:cs typeface="Times New Roman" pitchFamily="18" charset="0"/>
              </a:rPr>
              <a:t> là gì</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an </a:t>
            </a:r>
            <a:r>
              <a:rPr lang="vi-VN" altLang="ko-KR" sz="950">
                <a:latin typeface="Times New Roman" pitchFamily="18" charset="0"/>
                <a:ea typeface="LG Smart_H Regular" panose="020B0600000101010101" pitchFamily="34" charset="-127"/>
                <a:cs typeface="Times New Roman" pitchFamily="18" charset="0"/>
              </a:rPr>
              <a:t>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đệm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6995" y="2676470"/>
            <a:ext cx="3180502" cy="1992853"/>
            <a:chOff x="246995" y="2676470"/>
            <a:chExt cx="3180502" cy="1992853"/>
          </a:xfrm>
        </p:grpSpPr>
        <p:sp>
          <p:nvSpPr>
            <p:cNvPr id="29" name="Rectangle 7"/>
            <p:cNvSpPr>
              <a:spLocks noChangeArrowheads="1"/>
            </p:cNvSpPr>
            <p:nvPr/>
          </p:nvSpPr>
          <p:spPr bwMode="auto">
            <a:xfrm>
              <a:off x="246995" y="2676470"/>
              <a:ext cx="3180502"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Dựa vào áp suất khí quyển hãy 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đồng hồ đo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đồng hồ đo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tuyệt </a:t>
              </a:r>
              <a:r>
                <a:rPr lang="vi-VN" altLang="ko-KR" sz="950" smtClean="0">
                  <a:latin typeface="Times New Roman" pitchFamily="18" charset="0"/>
                  <a:ea typeface="LG Smart_H Regular" panose="020B0600000101010101" pitchFamily="34" charset="-127"/>
                  <a:cs typeface="Times New Roman" pitchFamily="18" charset="0"/>
                </a:rPr>
                <a:t>đối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tuyệt đối 0</a:t>
              </a:r>
            </a:p>
          </p:txBody>
        </p:sp>
        <p:pic>
          <p:nvPicPr>
            <p:cNvPr id="31" name="Picture 30"/>
            <p:cNvPicPr>
              <a:picLocks noChangeAspect="1"/>
            </p:cNvPicPr>
            <p:nvPr/>
          </p:nvPicPr>
          <p:blipFill>
            <a:blip r:embed="rId3"/>
            <a:stretch>
              <a:fillRect/>
            </a:stretch>
          </p:blipFill>
          <p:spPr>
            <a:xfrm>
              <a:off x="766933" y="2883818"/>
              <a:ext cx="2230019" cy="1080120"/>
            </a:xfrm>
            <a:prstGeom prst="rect">
              <a:avLst/>
            </a:prstGeom>
          </p:spPr>
        </p:pic>
      </p:grpSp>
      <p:sp>
        <p:nvSpPr>
          <p:cNvPr id="34" name="Rectangle 7"/>
          <p:cNvSpPr>
            <a:spLocks noChangeArrowheads="1"/>
          </p:cNvSpPr>
          <p:nvPr/>
        </p:nvSpPr>
        <p:spPr bwMode="auto">
          <a:xfrm>
            <a:off x="3433088" y="27927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Động cơ khí nén nào có tốc độ quay khoảng </a:t>
            </a:r>
            <a:r>
              <a:rPr lang="vi-VN" altLang="ko-KR" sz="950" smtClean="0">
                <a:latin typeface="Times New Roman" pitchFamily="18" charset="0"/>
                <a:ea typeface="LG Smart_H Regular" panose="020B0600000101010101" pitchFamily="34" charset="-127"/>
                <a:cs typeface="Times New Roman" pitchFamily="18" charset="0"/>
              </a:rPr>
              <a:t>10,000rpm?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a:t>
            </a:r>
            <a:r>
              <a:rPr lang="vi-VN" altLang="ko-KR" sz="950" smtClean="0">
                <a:latin typeface="Times New Roman" pitchFamily="18" charset="0"/>
                <a:ea typeface="LG Smart_H Regular" panose="020B0600000101010101" pitchFamily="34" charset="-127"/>
                <a:cs typeface="Times New Roman" pitchFamily="18" charset="0"/>
              </a:rPr>
              <a:t>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a:t>
            </a:r>
            <a:r>
              <a:rPr lang="vi-VN" altLang="ko-KR" sz="950" smtClean="0">
                <a:latin typeface="Times New Roman" pitchFamily="18" charset="0"/>
                <a:ea typeface="LG Smart_H Regular" panose="020B0600000101010101" pitchFamily="34" charset="-127"/>
                <a:cs typeface="Times New Roman" pitchFamily="18" charset="0"/>
              </a:rPr>
              <a:t>Pistion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bánh </a:t>
            </a:r>
            <a:r>
              <a:rPr lang="vi-VN" altLang="ko-KR" sz="950" smtClean="0">
                <a:latin typeface="Times New Roman" pitchFamily="18" charset="0"/>
                <a:ea typeface="LG Smart_H Regular" panose="020B0600000101010101" pitchFamily="34" charset="-127"/>
                <a:cs typeface="Times New Roman" pitchFamily="18" charset="0"/>
              </a:rPr>
              <a:t>răng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cánh gạt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0" name="Picture 39"/>
          <p:cNvPicPr>
            <a:picLocks noChangeAspect="1"/>
          </p:cNvPicPr>
          <p:nvPr/>
        </p:nvPicPr>
        <p:blipFill>
          <a:blip r:embed="rId4"/>
          <a:stretch>
            <a:fillRect/>
          </a:stretch>
        </p:blipFill>
        <p:spPr>
          <a:xfrm>
            <a:off x="5445224" y="5214566"/>
            <a:ext cx="1018614" cy="672353"/>
          </a:xfrm>
          <a:prstGeom prst="rect">
            <a:avLst/>
          </a:prstGeom>
        </p:spPr>
      </p:pic>
    </p:spTree>
    <p:extLst>
      <p:ext uri="{BB962C8B-B14F-4D97-AF65-F5344CB8AC3E}">
        <p14:creationId xmlns:p14="http://schemas.microsoft.com/office/powerpoint/2010/main" val="2482190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013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3914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 name="Rectangle 622"/>
          <p:cNvSpPr>
            <a:spLocks noChangeArrowheads="1"/>
          </p:cNvSpPr>
          <p:nvPr/>
        </p:nvSpPr>
        <p:spPr bwMode="auto">
          <a:xfrm>
            <a:off x="232792" y="1199873"/>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51</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những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quan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trọng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lực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lượng</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tích</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Nhiệt</a:t>
            </a:r>
            <a:r>
              <a:rPr lang="en-US" altLang="ko-KR" sz="950" smtClean="0">
                <a:latin typeface="Times New Roman" pitchFamily="18" charset="0"/>
                <a:cs typeface="Times New Roman" pitchFamily="18" charset="0"/>
              </a:rPr>
              <a:t> độ </a:t>
            </a:r>
            <a:endParaRPr lang="ko-KR" altLang="en-US" sz="950" dirty="0">
              <a:latin typeface="Times New Roman" pitchFamily="18" charset="0"/>
              <a:cs typeface="Times New Roman" pitchFamily="18" charset="0"/>
            </a:endParaRPr>
          </a:p>
        </p:txBody>
      </p:sp>
      <p:sp>
        <p:nvSpPr>
          <p:cNvPr id="8" name="Rectangle 626"/>
          <p:cNvSpPr>
            <a:spLocks noChangeArrowheads="1"/>
          </p:cNvSpPr>
          <p:nvPr/>
        </p:nvSpPr>
        <p:spPr bwMode="auto">
          <a:xfrm>
            <a:off x="232792" y="2393811"/>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luật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t>
            </a:r>
            <a:r>
              <a:rPr lang="vi-VN" altLang="ko-KR" sz="950">
                <a:latin typeface="Times New Roman" pitchFamily="18" charset="0"/>
                <a:cs typeface="Times New Roman" pitchFamily="18" charset="0"/>
              </a:rPr>
              <a:t>Duy trì áp suất chất khí cố định và khi nhiệt độ và thể tích thay đổi thì nhiệt độ và thể tích tỷ lệ thuận với nhau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T1/T2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V1/V2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cố </a:t>
            </a:r>
            <a:r>
              <a:rPr lang="en-US" altLang="ko-KR" sz="950" dirty="0" err="1" smtClean="0">
                <a:latin typeface="Times New Roman" pitchFamily="18" charset="0"/>
                <a:cs typeface="Times New Roman" pitchFamily="18" charset="0"/>
              </a:rPr>
              <a:t>định</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Định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luật</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Boyle</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Định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luật</a:t>
            </a:r>
            <a:r>
              <a:rPr lang="en-US" altLang="ko-KR" sz="950" dirty="0">
                <a:latin typeface="Times New Roman" pitchFamily="18" charset="0"/>
                <a:cs typeface="Times New Roman" pitchFamily="18" charset="0"/>
              </a:rPr>
              <a:t> Charles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luật</a:t>
            </a:r>
            <a:r>
              <a:rPr lang="en-US" altLang="ko-KR" sz="950" dirty="0" smtClean="0">
                <a:latin typeface="Times New Roman" pitchFamily="18" charset="0"/>
                <a:cs typeface="Times New Roman" pitchFamily="18" charset="0"/>
              </a:rPr>
              <a:t> Boyle-</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Charles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Định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luật</a:t>
            </a:r>
            <a:r>
              <a:rPr lang="en-US" altLang="ko-KR" sz="950" dirty="0">
                <a:latin typeface="Times New Roman" pitchFamily="18" charset="0"/>
                <a:cs typeface="Times New Roman" pitchFamily="18" charset="0"/>
              </a:rPr>
              <a:t> Pascal </a:t>
            </a:r>
            <a:endParaRPr lang="ko-KR" altLang="en-US" sz="950" dirty="0">
              <a:latin typeface="Times New Roman" pitchFamily="18" charset="0"/>
              <a:cs typeface="Times New Roman" pitchFamily="18" charset="0"/>
            </a:endParaRPr>
          </a:p>
        </p:txBody>
      </p:sp>
      <p:grpSp>
        <p:nvGrpSpPr>
          <p:cNvPr id="2" name="Group 1"/>
          <p:cNvGrpSpPr/>
          <p:nvPr/>
        </p:nvGrpSpPr>
        <p:grpSpPr>
          <a:xfrm>
            <a:off x="304800" y="3748334"/>
            <a:ext cx="3124200" cy="1636714"/>
            <a:chOff x="304800" y="3748334"/>
            <a:chExt cx="3124200" cy="1636714"/>
          </a:xfrm>
        </p:grpSpPr>
        <p:grpSp>
          <p:nvGrpSpPr>
            <p:cNvPr id="9" name="Group 8"/>
            <p:cNvGrpSpPr/>
            <p:nvPr/>
          </p:nvGrpSpPr>
          <p:grpSpPr>
            <a:xfrm>
              <a:off x="304800" y="3748334"/>
              <a:ext cx="3124200" cy="1636714"/>
              <a:chOff x="304800" y="2647949"/>
              <a:chExt cx="3124200" cy="1636714"/>
            </a:xfrm>
          </p:grpSpPr>
          <p:sp>
            <p:nvSpPr>
              <p:cNvPr id="10" name="Rectangle 637"/>
              <p:cNvSpPr>
                <a:spLocks noChangeArrowheads="1"/>
              </p:cNvSpPr>
              <p:nvPr/>
            </p:nvSpPr>
            <p:spPr bwMode="auto">
              <a:xfrm>
                <a:off x="304800" y="2647949"/>
                <a:ext cx="312420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53</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pittong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tầng</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B.</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D.</a:t>
                </a:r>
                <a:endParaRPr lang="en-US" altLang="ko-KR" sz="950" dirty="0">
                  <a:latin typeface="Times New Roman" pitchFamily="18" charset="0"/>
                  <a:cs typeface="Times New Roman" pitchFamily="18" charset="0"/>
                </a:endParaRPr>
              </a:p>
            </p:txBody>
          </p:sp>
          <p:pic>
            <p:nvPicPr>
              <p:cNvPr id="11" name="Picture 638"/>
              <p:cNvPicPr>
                <a:picLocks noChangeAspect="1" noChangeArrowheads="1"/>
              </p:cNvPicPr>
              <p:nvPr/>
            </p:nvPicPr>
            <p:blipFill>
              <a:blip r:embed="rId3" cstate="print">
                <a:extLst>
                  <a:ext uri="{28A0092B-C50C-407E-A947-70E740481C1C}">
                    <a14:useLocalDpi xmlns:a14="http://schemas.microsoft.com/office/drawing/2010/main" val="0"/>
                  </a:ext>
                </a:extLst>
              </a:blip>
              <a:srcRect t="2979"/>
              <a:stretch>
                <a:fillRect/>
              </a:stretch>
            </p:blipFill>
            <p:spPr bwMode="auto">
              <a:xfrm>
                <a:off x="1889126" y="3584576"/>
                <a:ext cx="7969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639"/>
              <p:cNvPicPr>
                <a:picLocks noChangeAspect="1" noChangeArrowheads="1"/>
              </p:cNvPicPr>
              <p:nvPr/>
            </p:nvPicPr>
            <p:blipFill>
              <a:blip r:embed="rId4">
                <a:extLst>
                  <a:ext uri="{28A0092B-C50C-407E-A947-70E740481C1C}">
                    <a14:useLocalDpi xmlns:a14="http://schemas.microsoft.com/office/drawing/2010/main" val="0"/>
                  </a:ext>
                </a:extLst>
              </a:blip>
              <a:srcRect t="3171" r="77451" b="8530"/>
              <a:stretch>
                <a:fillRect/>
              </a:stretch>
            </p:blipFill>
            <p:spPr bwMode="auto">
              <a:xfrm>
                <a:off x="592138" y="2863851"/>
                <a:ext cx="7921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640"/>
              <p:cNvPicPr>
                <a:picLocks noChangeAspect="1" noChangeArrowheads="1"/>
              </p:cNvPicPr>
              <p:nvPr/>
            </p:nvPicPr>
            <p:blipFill>
              <a:blip r:embed="rId5">
                <a:extLst>
                  <a:ext uri="{28A0092B-C50C-407E-A947-70E740481C1C}">
                    <a14:useLocalDpi xmlns:a14="http://schemas.microsoft.com/office/drawing/2010/main" val="0"/>
                  </a:ext>
                </a:extLst>
              </a:blip>
              <a:srcRect l="52217" t="12201" r="3622" b="20570"/>
              <a:stretch>
                <a:fillRect/>
              </a:stretch>
            </p:blipFill>
            <p:spPr bwMode="auto">
              <a:xfrm>
                <a:off x="549276" y="3584575"/>
                <a:ext cx="83502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pic>
          <p:nvPicPr>
            <p:cNvPr id="14" name="Picture 641"/>
            <p:cNvPicPr>
              <a:picLocks noChangeAspect="1" noChangeArrowheads="1"/>
            </p:cNvPicPr>
            <p:nvPr/>
          </p:nvPicPr>
          <p:blipFill>
            <a:blip r:embed="rId4">
              <a:extLst>
                <a:ext uri="{28A0092B-C50C-407E-A947-70E740481C1C}">
                  <a14:useLocalDpi xmlns:a14="http://schemas.microsoft.com/office/drawing/2010/main" val="0"/>
                </a:ext>
              </a:extLst>
            </a:blip>
            <a:srcRect l="23700" t="3171" r="52600" b="8530"/>
            <a:stretch>
              <a:fillRect/>
            </a:stretch>
          </p:blipFill>
          <p:spPr bwMode="auto">
            <a:xfrm>
              <a:off x="1889126" y="3964309"/>
              <a:ext cx="796925" cy="62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15" name="Rectangle 631"/>
          <p:cNvSpPr>
            <a:spLocks noChangeArrowheads="1"/>
          </p:cNvSpPr>
          <p:nvPr/>
        </p:nvSpPr>
        <p:spPr bwMode="auto">
          <a:xfrm>
            <a:off x="232792" y="6117322"/>
            <a:ext cx="312420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tuyệt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tương</a:t>
            </a:r>
            <a:r>
              <a:rPr lang="en-US" altLang="ko-KR" sz="950" smtClean="0">
                <a:latin typeface="Times New Roman" pitchFamily="18" charset="0"/>
                <a:cs typeface="Times New Roman" pitchFamily="18" charset="0"/>
              </a:rPr>
              <a:t> đối</a:t>
            </a:r>
            <a:r>
              <a:rPr lang="ko-KR" altLang="en-US" sz="950" smtClean="0">
                <a:latin typeface="Times New Roman" pitchFamily="18" charset="0"/>
                <a:cs typeface="Times New Roman" pitchFamily="18" charset="0"/>
              </a:rPr>
              <a:t>    </a:t>
            </a:r>
            <a:endParaRPr lang="en-US" altLang="ko-KR" sz="950" dirty="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ko-KR" altLang="en-US" sz="950" dirty="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ko-KR" altLang="en-US"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endParaRPr lang="en-US" altLang="ko-KR" sz="950" dirty="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endParaRPr lang="ko-KR" altLang="en-US" sz="950" dirty="0">
              <a:latin typeface="Times New Roman" pitchFamily="18" charset="0"/>
              <a:cs typeface="Times New Roman" pitchFamily="18" charset="0"/>
            </a:endParaRPr>
          </a:p>
        </p:txBody>
      </p:sp>
      <p:sp>
        <p:nvSpPr>
          <p:cNvPr id="16" name="Rectangle 81"/>
          <p:cNvSpPr>
            <a:spLocks noChangeArrowheads="1"/>
          </p:cNvSpPr>
          <p:nvPr/>
        </p:nvSpPr>
        <p:spPr bwMode="auto">
          <a:xfrm>
            <a:off x="232792" y="795933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những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đăch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kém</a:t>
            </a:r>
            <a:r>
              <a:rPr kumimoji="0" lang="en-US" altLang="ko-KR" sz="950" dirty="0" smtClean="0">
                <a:latin typeface="Times New Roman" pitchFamily="18" charset="0"/>
                <a:cs typeface="Times New Roman" pitchFamily="18" charset="0"/>
              </a:rPr>
              <a:t>.</a:t>
            </a:r>
            <a:endParaRPr kumimoji="0"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kumimoji="0" lang="en-US" altLang="ko-KR" sz="950" dirty="0" smtClean="0">
                <a:latin typeface="Times New Roman" pitchFamily="18" charset="0"/>
                <a:cs typeface="Times New Roman" pitchFamily="18" charset="0"/>
              </a:rPr>
              <a:t>.</a:t>
            </a:r>
            <a:endParaRPr kumimoji="0"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tac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Actuator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nén</a:t>
            </a:r>
            <a:r>
              <a:rPr lang="en-US" altLang="ko-KR" sz="950" smtClean="0">
                <a:latin typeface="Times New Roman" pitchFamily="18" charset="0"/>
                <a:cs typeface="Times New Roman" pitchFamily="18" charset="0"/>
              </a:rPr>
              <a:t> nhanh</a:t>
            </a:r>
            <a:endParaRPr kumimoji="0" lang="en-US" altLang="ko-KR" sz="950" dirty="0">
              <a:latin typeface="Times New Roman" pitchFamily="18" charset="0"/>
              <a:cs typeface="Times New Roman" pitchFamily="18" charset="0"/>
            </a:endParaRPr>
          </a:p>
        </p:txBody>
      </p:sp>
      <p:sp>
        <p:nvSpPr>
          <p:cNvPr id="17" name="Rectangle 248"/>
          <p:cNvSpPr>
            <a:spLocks noChangeArrowheads="1"/>
          </p:cNvSpPr>
          <p:nvPr/>
        </p:nvSpPr>
        <p:spPr bwMode="auto">
          <a:xfrm>
            <a:off x="3429000" y="1208584"/>
            <a:ext cx="325552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950" smtClean="0">
                <a:latin typeface="Times New Roman" pitchFamily="18" charset="0"/>
                <a:cs typeface="Times New Roman" pitchFamily="18" charset="0"/>
              </a:rPr>
              <a:t>56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3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nước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fontAlgn="b"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Float type</a:t>
            </a:r>
            <a:endParaRPr lang="ko-KR" altLang="en-US" sz="950" dirty="0">
              <a:latin typeface="Times New Roman" pitchFamily="18" charset="0"/>
              <a:cs typeface="Times New Roman" pitchFamily="18" charset="0"/>
            </a:endParaRPr>
          </a:p>
          <a:p>
            <a:pPr eaLnBrk="1" fontAlgn="b"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Pilot Type</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fontAlgn="b"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Solenoide</a:t>
            </a:r>
            <a:r>
              <a:rPr lang="en-US" altLang="ko-KR" sz="950" dirty="0" smtClean="0">
                <a:latin typeface="Times New Roman" pitchFamily="18" charset="0"/>
                <a:cs typeface="Times New Roman" pitchFamily="18" charset="0"/>
              </a:rPr>
              <a:t> type </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fontAlgn="b"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p:txBody>
      </p:sp>
      <p:grpSp>
        <p:nvGrpSpPr>
          <p:cNvPr id="18" name="Group 17"/>
          <p:cNvGrpSpPr/>
          <p:nvPr/>
        </p:nvGrpSpPr>
        <p:grpSpPr>
          <a:xfrm>
            <a:off x="3428702" y="2432720"/>
            <a:ext cx="3124200" cy="1312864"/>
            <a:chOff x="304800" y="6643688"/>
            <a:chExt cx="3124200" cy="1312864"/>
          </a:xfrm>
        </p:grpSpPr>
        <p:sp>
          <p:nvSpPr>
            <p:cNvPr id="19" name="Rectangle 46"/>
            <p:cNvSpPr>
              <a:spLocks noChangeArrowheads="1"/>
            </p:cNvSpPr>
            <p:nvPr/>
          </p:nvSpPr>
          <p:spPr bwMode="auto">
            <a:xfrm>
              <a:off x="304800" y="6643688"/>
              <a:ext cx="312420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57.Bên </a:t>
              </a:r>
              <a:r>
                <a:rPr lang="en-US" altLang="ko-KR" sz="950" dirty="0" err="1" smtClean="0">
                  <a:latin typeface="Times New Roman" pitchFamily="18" charset="0"/>
                  <a:ea typeface="돋움" pitchFamily="50" charset="-127"/>
                  <a:cs typeface="Times New Roman" pitchFamily="18" charset="0"/>
                </a:rPr>
                <a:t>trái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ko-KR" altLang="en-US"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AIR </a:t>
              </a:r>
              <a:r>
                <a:rPr lang="en-US" altLang="ko-KR" sz="950" dirty="0" smtClean="0">
                  <a:latin typeface="Times New Roman" pitchFamily="18" charset="0"/>
                  <a:ea typeface="돋움" pitchFamily="50" charset="-127"/>
                  <a:cs typeface="Times New Roman" pitchFamily="18" charset="0"/>
                </a:rPr>
                <a:t>FILTER.</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mũi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smtClean="0">
                  <a:latin typeface="Times New Roman" pitchFamily="18" charset="0"/>
                  <a:ea typeface="돋움" pitchFamily="50" charset="-127"/>
                  <a:cs typeface="Times New Roman" pitchFamily="18" charset="0"/>
                </a:rPr>
                <a:t>Filter Alignment</a:t>
              </a:r>
              <a:r>
                <a:rPr lang="ko-KR" altLang="en-US" sz="950" dirty="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Baffles</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lệch</a:t>
              </a:r>
              <a:r>
                <a:rPr lang="en-US" altLang="ko-KR" sz="950" dirty="0" smtClean="0">
                  <a:latin typeface="Times New Roman" pitchFamily="18" charset="0"/>
                  <a:ea typeface="돋움" pitchFamily="50" charset="-127"/>
                  <a:cs typeface="Times New Roman" pitchFamily="18" charset="0"/>
                </a:rPr>
                <a:t> ( Deflector) </a:t>
              </a:r>
              <a:r>
                <a:rPr lang="ko-KR" altLang="en-US" sz="950" dirty="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Case</a:t>
              </a:r>
              <a:endParaRPr lang="ko-KR" altLang="en-US" sz="950" dirty="0">
                <a:latin typeface="Times New Roman" pitchFamily="18" charset="0"/>
                <a:ea typeface="돋움" pitchFamily="50" charset="-127"/>
                <a:cs typeface="Times New Roman" pitchFamily="18" charset="0"/>
              </a:endParaRPr>
            </a:p>
          </p:txBody>
        </p:sp>
        <p:grpSp>
          <p:nvGrpSpPr>
            <p:cNvPr id="20" name="Group 47"/>
            <p:cNvGrpSpPr>
              <a:grpSpLocks/>
            </p:cNvGrpSpPr>
            <p:nvPr/>
          </p:nvGrpSpPr>
          <p:grpSpPr bwMode="auto">
            <a:xfrm>
              <a:off x="2508367" y="6708777"/>
              <a:ext cx="702590" cy="1247775"/>
              <a:chOff x="590" y="4704"/>
              <a:chExt cx="812" cy="1392"/>
            </a:xfrm>
          </p:grpSpPr>
          <p:pic>
            <p:nvPicPr>
              <p:cNvPr id="21" name="Picture 48" descr="Untitled-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0" y="4704"/>
                <a:ext cx="616"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49"/>
              <p:cNvSpPr>
                <a:spLocks noChangeShapeType="1"/>
              </p:cNvSpPr>
              <p:nvPr/>
            </p:nvSpPr>
            <p:spPr bwMode="auto">
              <a:xfrm flipH="1">
                <a:off x="672" y="5178"/>
                <a:ext cx="528" cy="48"/>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50">
                  <a:latin typeface="Times New Roman" pitchFamily="18" charset="0"/>
                  <a:cs typeface="Times New Roman" pitchFamily="18" charset="0"/>
                </a:endParaRPr>
              </a:p>
            </p:txBody>
          </p:sp>
          <p:sp>
            <p:nvSpPr>
              <p:cNvPr id="23" name="Text Box 50"/>
              <p:cNvSpPr txBox="1">
                <a:spLocks noChangeArrowheads="1"/>
              </p:cNvSpPr>
              <p:nvPr/>
            </p:nvSpPr>
            <p:spPr bwMode="auto">
              <a:xfrm>
                <a:off x="1118" y="5087"/>
                <a:ext cx="28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a:latin typeface="Times New Roman" pitchFamily="18" charset="0"/>
                    <a:ea typeface="돋움" pitchFamily="50" charset="-127"/>
                    <a:cs typeface="Times New Roman" pitchFamily="18" charset="0"/>
                  </a:rPr>
                  <a:t>?</a:t>
                </a:r>
              </a:p>
            </p:txBody>
          </p:sp>
        </p:grpSp>
      </p:grpSp>
      <p:grpSp>
        <p:nvGrpSpPr>
          <p:cNvPr id="24" name="Group 23"/>
          <p:cNvGrpSpPr/>
          <p:nvPr/>
        </p:nvGrpSpPr>
        <p:grpSpPr>
          <a:xfrm>
            <a:off x="3419177" y="4160467"/>
            <a:ext cx="3304894" cy="1130301"/>
            <a:chOff x="295275" y="7864477"/>
            <a:chExt cx="3602043" cy="1130301"/>
          </a:xfrm>
        </p:grpSpPr>
        <p:grpSp>
          <p:nvGrpSpPr>
            <p:cNvPr id="25" name="Group 59"/>
            <p:cNvGrpSpPr>
              <a:grpSpLocks/>
            </p:cNvGrpSpPr>
            <p:nvPr/>
          </p:nvGrpSpPr>
          <p:grpSpPr bwMode="auto">
            <a:xfrm>
              <a:off x="1562103" y="7864477"/>
              <a:ext cx="2335215" cy="1130301"/>
              <a:chOff x="991" y="1692"/>
              <a:chExt cx="1471" cy="712"/>
            </a:xfrm>
          </p:grpSpPr>
          <p:pic>
            <p:nvPicPr>
              <p:cNvPr id="27" name="Picture 52"/>
              <p:cNvPicPr>
                <a:picLocks noChangeAspect="1" noChangeArrowheads="1"/>
              </p:cNvPicPr>
              <p:nvPr/>
            </p:nvPicPr>
            <p:blipFill>
              <a:blip r:embed="rId7" cstate="print">
                <a:extLst>
                  <a:ext uri="{28A0092B-C50C-407E-A947-70E740481C1C}">
                    <a14:useLocalDpi xmlns:a14="http://schemas.microsoft.com/office/drawing/2010/main" val="0"/>
                  </a:ext>
                </a:extLst>
              </a:blip>
              <a:srcRect r="65129"/>
              <a:stretch>
                <a:fillRect/>
              </a:stretch>
            </p:blipFill>
            <p:spPr bwMode="auto">
              <a:xfrm>
                <a:off x="1363" y="1798"/>
                <a:ext cx="50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8" name="Text Box 53"/>
              <p:cNvSpPr txBox="1">
                <a:spLocks noChangeArrowheads="1"/>
              </p:cNvSpPr>
              <p:nvPr/>
            </p:nvSpPr>
            <p:spPr bwMode="auto">
              <a:xfrm>
                <a:off x="991" y="2237"/>
                <a:ext cx="85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chảy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endParaRPr lang="ko-KR" altLang="en-US" sz="950" dirty="0">
                  <a:latin typeface="Times New Roman" pitchFamily="18" charset="0"/>
                  <a:cs typeface="Times New Roman" pitchFamily="18" charset="0"/>
                </a:endParaRPr>
              </a:p>
            </p:txBody>
          </p:sp>
          <p:sp>
            <p:nvSpPr>
              <p:cNvPr id="29" name="Text Box 54"/>
              <p:cNvSpPr txBox="1">
                <a:spLocks noChangeArrowheads="1"/>
              </p:cNvSpPr>
              <p:nvPr/>
            </p:nvSpPr>
            <p:spPr bwMode="auto">
              <a:xfrm>
                <a:off x="1706" y="2245"/>
                <a:ext cx="317"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Drain</a:t>
                </a:r>
                <a:endParaRPr lang="ko-KR" altLang="en-US" sz="950" dirty="0">
                  <a:latin typeface="Times New Roman" pitchFamily="18" charset="0"/>
                  <a:cs typeface="Times New Roman" pitchFamily="18" charset="0"/>
                </a:endParaRPr>
              </a:p>
            </p:txBody>
          </p:sp>
          <p:sp>
            <p:nvSpPr>
              <p:cNvPr id="30" name="Text Box 55"/>
              <p:cNvSpPr txBox="1">
                <a:spLocks noChangeArrowheads="1"/>
              </p:cNvSpPr>
              <p:nvPr/>
            </p:nvSpPr>
            <p:spPr bwMode="auto">
              <a:xfrm>
                <a:off x="1752" y="2016"/>
                <a:ext cx="71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smtClean="0">
                    <a:latin typeface="Times New Roman" pitchFamily="18" charset="0"/>
                    <a:cs typeface="Times New Roman" pitchFamily="18" charset="0"/>
                  </a:rPr>
                  <a:t>Không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đầu </a:t>
                </a:r>
                <a:r>
                  <a:rPr lang="en-US" altLang="ko-KR" sz="950" dirty="0" err="1" smtClean="0">
                    <a:latin typeface="Times New Roman" pitchFamily="18" charset="0"/>
                    <a:cs typeface="Times New Roman" pitchFamily="18" charset="0"/>
                  </a:rPr>
                  <a:t>ra</a:t>
                </a:r>
                <a:endParaRPr lang="ko-KR" altLang="en-US" sz="950" dirty="0">
                  <a:latin typeface="Times New Roman" pitchFamily="18" charset="0"/>
                  <a:cs typeface="Times New Roman" pitchFamily="18" charset="0"/>
                </a:endParaRPr>
              </a:p>
            </p:txBody>
          </p:sp>
          <p:sp>
            <p:nvSpPr>
              <p:cNvPr id="31" name="Text Box 56"/>
              <p:cNvSpPr txBox="1">
                <a:spLocks noChangeArrowheads="1"/>
              </p:cNvSpPr>
              <p:nvPr/>
            </p:nvSpPr>
            <p:spPr bwMode="auto">
              <a:xfrm>
                <a:off x="1117" y="1692"/>
                <a:ext cx="80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phía</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endParaRPr lang="ko-KR" altLang="en-US" sz="950" dirty="0">
                  <a:latin typeface="Times New Roman" pitchFamily="18" charset="0"/>
                  <a:cs typeface="Times New Roman" pitchFamily="18" charset="0"/>
                </a:endParaRPr>
              </a:p>
            </p:txBody>
          </p:sp>
          <p:sp>
            <p:nvSpPr>
              <p:cNvPr id="32" name="Text Box 57"/>
              <p:cNvSpPr txBox="1">
                <a:spLocks noChangeArrowheads="1"/>
              </p:cNvSpPr>
              <p:nvPr/>
            </p:nvSpPr>
            <p:spPr bwMode="auto">
              <a:xfrm>
                <a:off x="1809" y="1829"/>
                <a:ext cx="591"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latin typeface="Times New Roman" pitchFamily="18" charset="0"/>
                    <a:cs typeface="Times New Roman" pitchFamily="18" charset="0"/>
                  </a:rPr>
                  <a:t>Tấm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lạnh</a:t>
                </a:r>
                <a:endParaRPr lang="ko-KR" altLang="en-US" sz="950" dirty="0">
                  <a:latin typeface="Times New Roman" pitchFamily="18" charset="0"/>
                  <a:cs typeface="Times New Roman" pitchFamily="18" charset="0"/>
                </a:endParaRPr>
              </a:p>
            </p:txBody>
          </p:sp>
        </p:grpSp>
        <p:sp>
          <p:nvSpPr>
            <p:cNvPr id="26" name="Rectangle 58"/>
            <p:cNvSpPr>
              <a:spLocks noChangeArrowheads="1"/>
            </p:cNvSpPr>
            <p:nvPr/>
          </p:nvSpPr>
          <p:spPr bwMode="auto">
            <a:xfrm>
              <a:off x="295275" y="8021637"/>
              <a:ext cx="312420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58</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Hình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bằng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nước</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a:t>
              </a:r>
              <a:endParaRPr lang="ko-KR" altLang="en-US" sz="950" dirty="0">
                <a:latin typeface="Times New Roman" pitchFamily="18" charset="0"/>
                <a:cs typeface="Times New Roman" pitchFamily="18" charset="0"/>
              </a:endParaRPr>
            </a:p>
          </p:txBody>
        </p:sp>
      </p:grpSp>
      <p:sp>
        <p:nvSpPr>
          <p:cNvPr id="33" name="Rectangle 73"/>
          <p:cNvSpPr>
            <a:spLocks noChangeArrowheads="1"/>
          </p:cNvSpPr>
          <p:nvPr/>
        </p:nvSpPr>
        <p:spPr bwMode="auto">
          <a:xfrm>
            <a:off x="3400425" y="6177136"/>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yêu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sấy</a:t>
            </a:r>
            <a:r>
              <a:rPr lang="en-US" altLang="ko-KR" sz="950" dirty="0" smtClean="0">
                <a:latin typeface="Times New Roman" pitchFamily="18" charset="0"/>
                <a:cs typeface="Times New Roman" pitchFamily="18" charset="0"/>
              </a:rPr>
              <a:t> </a:t>
            </a:r>
          </a:p>
          <a:p>
            <a:pPr eaLnBrk="1" hangingPunct="1"/>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ngưng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tụ</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a:t>
            </a:r>
            <a:r>
              <a:rPr lang="en-US" altLang="ko-KR" sz="950" smtClean="0">
                <a:latin typeface="Times New Roman" pitchFamily="18" charset="0"/>
                <a:cs typeface="Times New Roman" pitchFamily="18" charset="0"/>
              </a:rPr>
              <a:t>ượng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endParaRPr lang="ko-KR" altLang="en-US" sz="950" dirty="0">
              <a:latin typeface="Times New Roman" pitchFamily="18" charset="0"/>
              <a:cs typeface="Times New Roman" pitchFamily="18" charset="0"/>
            </a:endParaRPr>
          </a:p>
        </p:txBody>
      </p:sp>
      <p:sp>
        <p:nvSpPr>
          <p:cNvPr id="34" name="Rectangle 12"/>
          <p:cNvSpPr>
            <a:spLocks noChangeArrowheads="1"/>
          </p:cNvSpPr>
          <p:nvPr/>
        </p:nvSpPr>
        <p:spPr bwMode="auto">
          <a:xfrm>
            <a:off x="3419474" y="7977336"/>
            <a:ext cx="3265045"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6</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Plastic Tube?</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smtClean="0">
                <a:latin typeface="Times New Roman" pitchFamily="18" charset="0"/>
                <a:cs typeface="Times New Roman" pitchFamily="18" charset="0"/>
              </a:rPr>
              <a:t>Thao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gồm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chăng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mền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dẻo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dễ</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Tree>
    <p:extLst>
      <p:ext uri="{BB962C8B-B14F-4D97-AF65-F5344CB8AC3E}">
        <p14:creationId xmlns:p14="http://schemas.microsoft.com/office/powerpoint/2010/main" val="21542250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82919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Điều gì sau đây không phải là đặc điểm của Spindle ( con quay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Đồng thời có thể chuyển động đặc biệt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Biến hóa lượng cực nhỏ, hình thái và chỉ số chính xác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Quay tốc độ cao khoảng 10000 rpm ( vòng/phút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Thường ở trục chính của máy và trục Tua Bin.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đặc điểm của xích </a:t>
            </a:r>
            <a:r>
              <a:rPr lang="vi-VN" altLang="ko-KR" sz="950" smtClean="0">
                <a:latin typeface="Times New Roman" pitchFamily="18" charset="0"/>
                <a:ea typeface="LG Smart_H Regular" panose="020B0600000101010101" pitchFamily="34" charset="-127"/>
                <a:cs typeface="Times New Roman" pitchFamily="18" charset="0"/>
              </a:rPr>
              <a:t>Chain?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có sự trượt nên tốc độ được duy </a:t>
            </a:r>
            <a:r>
              <a:rPr lang="vi-VN" altLang="ko-KR" sz="950" smtClean="0">
                <a:latin typeface="Times New Roman" pitchFamily="18" charset="0"/>
                <a:ea typeface="LG Smart_H Regular" panose="020B0600000101010101" pitchFamily="34" charset="-127"/>
                <a:cs typeface="Times New Roman" pitchFamily="18" charset="0"/>
              </a:rPr>
              <a:t>trì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Độ dài xích chain có thể co </a:t>
            </a:r>
            <a:r>
              <a:rPr lang="en-US" altLang="ko-KR" sz="950" smtClean="0">
                <a:latin typeface="Times New Roman" pitchFamily="18" charset="0"/>
                <a:ea typeface="LG Smart_H Regular" panose="020B0600000101010101" pitchFamily="34" charset="-127"/>
                <a:cs typeface="Times New Roman" pitchFamily="18" charset="0"/>
              </a:rPr>
              <a:t>giãn</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bảo quản và sửa chữa, tuổi thọ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Cần sức kéo khởi động nhỏ</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Đâu không phải dạng phân loại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Luân chuyển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dạng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Kiểu tải </a:t>
            </a:r>
            <a:r>
              <a:rPr lang="vi-VN" altLang="ko-KR" sz="950" smtClean="0">
                <a:latin typeface="Times New Roman" pitchFamily="18" charset="0"/>
                <a:ea typeface="LG Smart_H Regular" panose="020B0600000101010101" pitchFamily="34" charset="-127"/>
                <a:cs typeface="Times New Roman" pitchFamily="18" charset="0"/>
              </a:rPr>
              <a:t>trước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&amp; Đường kính trục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705762"/>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Thành phần của Dầu mỏ ( Dầu khoáng)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Paraffin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Naphthene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Dầu hỗ hợp theo dầu </a:t>
            </a:r>
            <a:r>
              <a:rPr lang="vi-VN" altLang="ko-KR" sz="950" smtClean="0">
                <a:latin typeface="Times New Roman" pitchFamily="18" charset="0"/>
                <a:ea typeface="LG Smart_H Regular" panose="020B0600000101010101" pitchFamily="34" charset="-127"/>
                <a:cs typeface="Times New Roman" pitchFamily="18" charset="0"/>
              </a:rPr>
              <a:t>gốc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Tất cả các phương án trên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654131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So sánh bôi trơn Mỡ và Dầu nào đúng?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Mỡ có thể loại bỏ tạp </a:t>
            </a:r>
            <a:r>
              <a:rPr lang="vi-VN" altLang="ko-KR" sz="950" smtClean="0">
                <a:latin typeface="Times New Roman" pitchFamily="18" charset="0"/>
                <a:ea typeface="LG Smart_H Regular" panose="020B0600000101010101" pitchFamily="34" charset="-127"/>
                <a:cs typeface="Times New Roman" pitchFamily="18" charset="0"/>
              </a:rPr>
              <a:t>chất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Mỡ giới hạn tốc độ quay cao, Dầu có thể sử dụng tốc độ vòng quay cao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Dầu và mỡ không đóng cặn dễ dàng sử </a:t>
            </a:r>
            <a:r>
              <a:rPr lang="vi-VN" altLang="ko-KR" sz="950" smtClean="0">
                <a:latin typeface="Times New Roman" pitchFamily="18" charset="0"/>
                <a:ea typeface="LG Smart_H Regular" panose="020B0600000101010101" pitchFamily="34" charset="-127"/>
                <a:cs typeface="Times New Roman" pitchFamily="18" charset="0"/>
              </a:rPr>
              <a:t>dụng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làm kín bằng mỡ và dầu đơn giản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Cho ví dụ trong ký hiệu sau : “ </a:t>
            </a:r>
            <a:r>
              <a:rPr lang="vi-VN" altLang="ko-KR" sz="950" b="1">
                <a:latin typeface="Times New Roman" pitchFamily="18" charset="0"/>
                <a:ea typeface="LG Smart_H Regular" panose="020B0600000101010101" pitchFamily="34" charset="-127"/>
                <a:cs typeface="Times New Roman" pitchFamily="18" charset="0"/>
              </a:rPr>
              <a:t>L 2N M70×6 – 2”.</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Vậy khi xoay đinh ốc 1 vòng thì khoảng cách di chuyển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12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18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2" name="Rectangle 7"/>
          <p:cNvSpPr>
            <a:spLocks noChangeArrowheads="1"/>
          </p:cNvSpPr>
          <p:nvPr/>
        </p:nvSpPr>
        <p:spPr bwMode="auto">
          <a:xfrm>
            <a:off x="163884" y="8193360"/>
            <a:ext cx="325397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Key nào được sử dụng rộng rãi làm thanh kéo của máy hay dụng cụ truyền động lực ô </a:t>
            </a:r>
            <a:r>
              <a:rPr lang="vi-VN" altLang="ko-KR" sz="950" smtClean="0">
                <a:latin typeface="Times New Roman" pitchFamily="18" charset="0"/>
                <a:ea typeface="LG Smart_H Regular" panose="020B0600000101010101" pitchFamily="34" charset="-127"/>
                <a:cs typeface="Times New Roman" pitchFamily="18" charset="0"/>
              </a:rPr>
              <a:t>tô?</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Sliding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Knuckle pin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22174" y="834891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Khổ giấy A0 sẽ gấp bao nhiêu lần so với khổ giấy </a:t>
            </a:r>
            <a:r>
              <a:rPr lang="vi-VN" altLang="ko-KR" sz="950" smtClean="0">
                <a:latin typeface="Times New Roman" pitchFamily="18" charset="0"/>
                <a:ea typeface="LG Smart_H Regular" panose="020B0600000101010101" pitchFamily="34" charset="-127"/>
                <a:cs typeface="Times New Roman" pitchFamily="18" charset="0"/>
              </a:rPr>
              <a:t>A4?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 lần</a:t>
            </a:r>
          </a:p>
          <a:p>
            <a:pPr marL="228600" indent="-228600" eaLnBrk="1" fontAlgn="base" hangingPunct="1">
              <a:spcBef>
                <a:spcPct val="0"/>
              </a:spcBef>
              <a:spcAft>
                <a:spcPct val="0"/>
              </a:spcAft>
              <a:buAutoNum type="alphaUcPeriod"/>
            </a:pPr>
            <a:r>
              <a:rPr lang="nb-NO" altLang="ko-KR" sz="950" smtClean="0">
                <a:latin typeface="Times New Roman" pitchFamily="18" charset="0"/>
                <a:ea typeface="LG Smart_H Regular" panose="020B0600000101010101" pitchFamily="34" charset="-127"/>
                <a:cs typeface="Times New Roman" pitchFamily="18" charset="0"/>
              </a:rPr>
              <a:t>4 lần</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8 lần</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16 lần</a:t>
            </a:r>
          </a:p>
        </p:txBody>
      </p:sp>
      <p:grpSp>
        <p:nvGrpSpPr>
          <p:cNvPr id="2" name="Group 1"/>
          <p:cNvGrpSpPr/>
          <p:nvPr/>
        </p:nvGrpSpPr>
        <p:grpSpPr>
          <a:xfrm>
            <a:off x="188640" y="1208584"/>
            <a:ext cx="3180502" cy="1408078"/>
            <a:chOff x="188640" y="1208584"/>
            <a:chExt cx="3180502" cy="1408078"/>
          </a:xfrm>
        </p:grpSpPr>
        <p:sp>
          <p:nvSpPr>
            <p:cNvPr id="32" name="Rectangle 7"/>
            <p:cNvSpPr>
              <a:spLocks noChangeArrowheads="1"/>
            </p:cNvSpPr>
            <p:nvPr/>
          </p:nvSpPr>
          <p:spPr bwMode="auto">
            <a:xfrm>
              <a:off x="188640" y="120858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Tên gọi hướng của vòng bị trong hình </a:t>
              </a:r>
              <a:r>
                <a:rPr lang="vi-VN" altLang="ko-KR" sz="950" smtClean="0">
                  <a:latin typeface="Times New Roman" pitchFamily="18" charset="0"/>
                  <a:ea typeface="LG Smart_H Regular" panose="020B0600000101010101" pitchFamily="34" charset="-127"/>
                  <a:cs typeface="Times New Roman" pitchFamily="18" charset="0"/>
                </a:rPr>
                <a:t>sau?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Radial bearing(hướng </a:t>
              </a:r>
              <a:r>
                <a:rPr lang="vi-VN" altLang="ko-KR" sz="950" smtClean="0">
                  <a:latin typeface="Times New Roman" pitchFamily="18" charset="0"/>
                  <a:ea typeface="LG Smart_H Regular" panose="020B0600000101010101" pitchFamily="34" charset="-127"/>
                  <a:cs typeface="Times New Roman" pitchFamily="18" charset="0"/>
                </a:rPr>
                <a:t>tâm</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Thrust bearing (hướng dọc trục</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Taper bearing (Vòng bi tổng hợp </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bi Magneto(Magneto ball </a:t>
              </a:r>
              <a:r>
                <a:rPr lang="vi-VN" altLang="ko-KR" sz="950" smtClean="0">
                  <a:latin typeface="Times New Roman" pitchFamily="18" charset="0"/>
                  <a:ea typeface="LG Smart_H Regular" panose="020B0600000101010101" pitchFamily="34" charset="-127"/>
                  <a:cs typeface="Times New Roman" pitchFamily="18" charset="0"/>
                </a:rPr>
                <a:t>bearing</a:t>
              </a:r>
              <a:r>
                <a:rPr lang="en-US"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2" name="Picture 21"/>
            <p:cNvPicPr>
              <a:picLocks noChangeAspect="1"/>
            </p:cNvPicPr>
            <p:nvPr/>
          </p:nvPicPr>
          <p:blipFill>
            <a:blip r:embed="rId3"/>
            <a:stretch>
              <a:fillRect/>
            </a:stretch>
          </p:blipFill>
          <p:spPr>
            <a:xfrm>
              <a:off x="2204864" y="1400384"/>
              <a:ext cx="1059997" cy="878283"/>
            </a:xfrm>
            <a:prstGeom prst="rect">
              <a:avLst/>
            </a:prstGeom>
          </p:spPr>
        </p:pic>
      </p:grpSp>
      <p:sp>
        <p:nvSpPr>
          <p:cNvPr id="28" name="Rectangle 7"/>
          <p:cNvSpPr>
            <a:spLocks noChangeArrowheads="1"/>
          </p:cNvSpPr>
          <p:nvPr/>
        </p:nvSpPr>
        <p:spPr bwMode="auto">
          <a:xfrm>
            <a:off x="184150" y="4222931"/>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Chủng loại nào sau đây không phải Đinh ốc </a:t>
            </a:r>
            <a:r>
              <a:rPr lang="vi-VN" altLang="ko-KR" sz="950" smtClean="0">
                <a:latin typeface="Times New Roman" pitchFamily="18" charset="0"/>
                <a:ea typeface="LG Smart_H Regular" panose="020B0600000101010101" pitchFamily="34" charset="-127"/>
                <a:cs typeface="Times New Roman" pitchFamily="18" charset="0"/>
              </a:rPr>
              <a:t>nối?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a:t>
            </a:r>
            <a:r>
              <a:rPr lang="vi-VN" altLang="ko-KR" sz="950" smtClean="0">
                <a:latin typeface="Times New Roman" pitchFamily="18" charset="0"/>
                <a:ea typeface="LG Smart_H Regular" panose="020B0600000101010101" pitchFamily="34" charset="-127"/>
                <a:cs typeface="Times New Roman" pitchFamily="18" charset="0"/>
              </a:rPr>
              <a:t>unified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a:t>
            </a:r>
            <a:r>
              <a:rPr lang="vi-VN" altLang="ko-KR" sz="950" smtClean="0">
                <a:latin typeface="Times New Roman" pitchFamily="18" charset="0"/>
                <a:ea typeface="LG Smart_H Regular" panose="020B0600000101010101" pitchFamily="34" charset="-127"/>
                <a:cs typeface="Times New Roman" pitchFamily="18" charset="0"/>
              </a:rPr>
              <a:t>metric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ống</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7480765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grpSp>
        <p:nvGrpSpPr>
          <p:cNvPr id="7" name="Group 6"/>
          <p:cNvGrpSpPr/>
          <p:nvPr/>
        </p:nvGrpSpPr>
        <p:grpSpPr>
          <a:xfrm>
            <a:off x="260648" y="1143775"/>
            <a:ext cx="3429000" cy="1144929"/>
            <a:chOff x="260648" y="966788"/>
            <a:chExt cx="3429000" cy="1144929"/>
          </a:xfrm>
        </p:grpSpPr>
        <p:sp>
          <p:nvSpPr>
            <p:cNvPr id="8" name="Rectangle 94"/>
            <p:cNvSpPr>
              <a:spLocks noChangeArrowheads="1"/>
            </p:cNvSpPr>
            <p:nvPr/>
          </p:nvSpPr>
          <p:spPr bwMode="auto">
            <a:xfrm>
              <a:off x="260648" y="966788"/>
              <a:ext cx="3429000" cy="114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20000"/>
                </a:lnSpc>
              </a:pPr>
              <a:r>
                <a:rPr lang="en-US" altLang="ko-KR" sz="950" smtClean="0">
                  <a:latin typeface="Times New Roman" pitchFamily="18" charset="0"/>
                  <a:cs typeface="Times New Roman" pitchFamily="18" charset="0"/>
                </a:rPr>
                <a:t>71.Tên </a:t>
              </a:r>
              <a:r>
                <a:rPr lang="en-US" altLang="ko-KR" sz="950">
                  <a:latin typeface="Times New Roman" pitchFamily="18" charset="0"/>
                  <a:cs typeface="Times New Roman" pitchFamily="18" charset="0"/>
                </a:rPr>
                <a:t>của Bearing trong  hình dưới đây?</a:t>
              </a:r>
            </a:p>
            <a:p>
              <a:pPr marL="342900" indent="-342900">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Self-aligning Ball bearing</a:t>
              </a:r>
            </a:p>
            <a:p>
              <a:pPr marL="342900" indent="-342900">
                <a:lnSpc>
                  <a:spcPct val="120000"/>
                </a:lnSpc>
              </a:pP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T</a:t>
              </a:r>
              <a:r>
                <a:rPr lang="en-US" altLang="ko-KR" sz="950" smtClean="0">
                  <a:latin typeface="Times New Roman" pitchFamily="18" charset="0"/>
                  <a:cs typeface="Times New Roman" pitchFamily="18" charset="0"/>
                </a:rPr>
                <a:t>aper </a:t>
              </a:r>
              <a:r>
                <a:rPr lang="en-US" altLang="ko-KR" sz="950">
                  <a:latin typeface="Times New Roman" pitchFamily="18" charset="0"/>
                  <a:cs typeface="Times New Roman" pitchFamily="18" charset="0"/>
                </a:rPr>
                <a:t>roller bearing</a:t>
              </a:r>
            </a:p>
            <a:p>
              <a:pPr marL="342900" indent="-342900">
                <a:lnSpc>
                  <a:spcPct val="120000"/>
                </a:lnSpc>
              </a:pP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Double Thrust</a:t>
              </a:r>
              <a:r>
                <a:rPr lang="ko-KR" altLang="en-US" sz="950">
                  <a:latin typeface="Times New Roman" pitchFamily="18" charset="0"/>
                  <a:cs typeface="Times New Roman" pitchFamily="18" charset="0"/>
                </a:rPr>
                <a:t> </a:t>
              </a:r>
              <a:r>
                <a:rPr lang="en-US" altLang="ko-KR" sz="950">
                  <a:latin typeface="Times New Roman" pitchFamily="18" charset="0"/>
                  <a:cs typeface="Times New Roman" pitchFamily="18" charset="0"/>
                </a:rPr>
                <a:t>ball bearing</a:t>
              </a:r>
            </a:p>
            <a:p>
              <a:pPr marL="342900" indent="-342900">
                <a:lnSpc>
                  <a:spcPct val="120000"/>
                </a:lnSpc>
              </a:pP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Double Self-aligning ball bearing</a:t>
              </a:r>
            </a:p>
            <a:p>
              <a:pPr marL="342900" indent="-342900">
                <a:lnSpc>
                  <a:spcPct val="120000"/>
                </a:lnSpc>
              </a:pPr>
              <a:endParaRPr lang="en-US" altLang="ko-KR" sz="950">
                <a:latin typeface="Times New Roman" pitchFamily="18" charset="0"/>
                <a:cs typeface="Times New Roman" pitchFamily="18" charset="0"/>
              </a:endParaRPr>
            </a:p>
          </p:txBody>
        </p:sp>
        <p:pic>
          <p:nvPicPr>
            <p:cNvPr id="9" name="Picture 1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786" y="1076898"/>
              <a:ext cx="793814" cy="68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2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0" name="Rectangle 29"/>
          <p:cNvSpPr>
            <a:spLocks noChangeArrowheads="1"/>
          </p:cNvSpPr>
          <p:nvPr/>
        </p:nvSpPr>
        <p:spPr bwMode="auto">
          <a:xfrm>
            <a:off x="188640" y="2830960"/>
            <a:ext cx="3296011"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72. Được </a:t>
            </a:r>
            <a:r>
              <a:rPr lang="en-US" altLang="ko-KR" sz="950">
                <a:latin typeface="Times New Roman" pitchFamily="18" charset="0"/>
                <a:ea typeface="돋움" pitchFamily="50" charset="-127"/>
                <a:cs typeface="Times New Roman" pitchFamily="18" charset="0"/>
              </a:rPr>
              <a:t>gọi là khóa chìm, trên cả trục </a:t>
            </a:r>
            <a:r>
              <a:rPr lang="en-US" altLang="ko-KR" sz="950" smtClean="0">
                <a:latin typeface="Times New Roman" pitchFamily="18" charset="0"/>
                <a:ea typeface="돋움" pitchFamily="50" charset="-127"/>
                <a:cs typeface="Times New Roman" pitchFamily="18" charset="0"/>
              </a:rPr>
              <a:t>và </a:t>
            </a:r>
            <a:r>
              <a:rPr lang="en-US" altLang="ko-KR" sz="950">
                <a:latin typeface="Times New Roman" pitchFamily="18" charset="0"/>
                <a:ea typeface="돋움" pitchFamily="50" charset="-127"/>
                <a:cs typeface="Times New Roman" pitchFamily="18" charset="0"/>
              </a:rPr>
              <a:t>mấu lồi đều được gia công rãnh khóa </a:t>
            </a:r>
            <a:r>
              <a:rPr lang="en-US" altLang="ko-KR" sz="950" smtClean="0">
                <a:latin typeface="Times New Roman" pitchFamily="18" charset="0"/>
                <a:ea typeface="돋움" pitchFamily="50" charset="-127"/>
                <a:cs typeface="Times New Roman" pitchFamily="18" charset="0"/>
              </a:rPr>
              <a:t>giống </a:t>
            </a:r>
            <a:r>
              <a:rPr lang="en-US" altLang="ko-KR" sz="950">
                <a:latin typeface="Times New Roman" pitchFamily="18" charset="0"/>
                <a:ea typeface="돋움" pitchFamily="50" charset="-127"/>
                <a:cs typeface="Times New Roman" pitchFamily="18" charset="0"/>
              </a:rPr>
              <a:t>nhau, có tiết diện hình vuông </a:t>
            </a:r>
            <a:r>
              <a:rPr lang="en-US" altLang="ko-KR" sz="950" smtClean="0">
                <a:latin typeface="Times New Roman" pitchFamily="18" charset="0"/>
                <a:ea typeface="돋움" pitchFamily="50" charset="-127"/>
                <a:cs typeface="Times New Roman" pitchFamily="18" charset="0"/>
              </a:rPr>
              <a:t>hoặc </a:t>
            </a:r>
            <a:r>
              <a:rPr lang="en-US" altLang="ko-KR" sz="950">
                <a:latin typeface="Times New Roman" pitchFamily="18" charset="0"/>
                <a:ea typeface="돋움" pitchFamily="50" charset="-127"/>
                <a:cs typeface="Times New Roman" pitchFamily="18" charset="0"/>
              </a:rPr>
              <a:t>hình chữ nhật.?</a:t>
            </a:r>
          </a:p>
          <a:p>
            <a:r>
              <a:rPr lang="en-US" altLang="ko-KR" sz="950" smtClean="0">
                <a:latin typeface="Times New Roman" pitchFamily="18" charset="0"/>
                <a:ea typeface="돋움" pitchFamily="50" charset="-127"/>
                <a:cs typeface="Times New Roman" pitchFamily="18" charset="0"/>
              </a:rPr>
              <a:t>A.  Round </a:t>
            </a:r>
            <a:r>
              <a:rPr lang="en-US" altLang="ko-KR" sz="950">
                <a:latin typeface="Times New Roman" pitchFamily="18" charset="0"/>
                <a:ea typeface="돋움" pitchFamily="50" charset="-127"/>
                <a:cs typeface="Times New Roman" pitchFamily="18" charset="0"/>
              </a:rPr>
              <a:t>key</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Sunk key</a:t>
            </a:r>
          </a:p>
          <a:p>
            <a:r>
              <a:rPr lang="en-US" altLang="ko-KR" sz="950" smtClean="0">
                <a:latin typeface="Times New Roman" pitchFamily="18" charset="0"/>
                <a:ea typeface="돋움" pitchFamily="50" charset="-127"/>
                <a:cs typeface="Times New Roman" pitchFamily="18" charset="0"/>
              </a:rPr>
              <a:t>C.  Woodruff key           D. </a:t>
            </a:r>
            <a:r>
              <a:rPr lang="en-US" altLang="ko-KR" sz="950">
                <a:latin typeface="Times New Roman" pitchFamily="18" charset="0"/>
                <a:ea typeface="돋움" pitchFamily="50" charset="-127"/>
                <a:cs typeface="Times New Roman" pitchFamily="18" charset="0"/>
              </a:rPr>
              <a:t>S</a:t>
            </a:r>
            <a:r>
              <a:rPr lang="en-US" altLang="ko-KR" sz="950" smtClean="0">
                <a:latin typeface="Times New Roman" pitchFamily="18" charset="0"/>
                <a:ea typeface="돋움" pitchFamily="50" charset="-127"/>
                <a:cs typeface="Times New Roman" pitchFamily="18" charset="0"/>
              </a:rPr>
              <a:t>liding </a:t>
            </a:r>
            <a:r>
              <a:rPr lang="en-US" altLang="ko-KR" sz="950">
                <a:latin typeface="Times New Roman" pitchFamily="18" charset="0"/>
                <a:ea typeface="돋움" pitchFamily="50" charset="-127"/>
                <a:cs typeface="Times New Roman" pitchFamily="18" charset="0"/>
              </a:rPr>
              <a:t>key</a:t>
            </a:r>
            <a:endParaRPr lang="ko-KR" altLang="en-US" sz="950">
              <a:latin typeface="Times New Roman" pitchFamily="18" charset="0"/>
              <a:ea typeface="돋움" pitchFamily="50" charset="-127"/>
              <a:cs typeface="Times New Roman" pitchFamily="18" charset="0"/>
            </a:endParaRPr>
          </a:p>
        </p:txBody>
      </p:sp>
      <p:sp>
        <p:nvSpPr>
          <p:cNvPr id="11" name="Rectangle 81"/>
          <p:cNvSpPr>
            <a:spLocks noChangeArrowheads="1"/>
          </p:cNvSpPr>
          <p:nvPr/>
        </p:nvSpPr>
        <p:spPr bwMode="auto">
          <a:xfrm>
            <a:off x="3464051" y="3152800"/>
            <a:ext cx="31242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77</a:t>
            </a:r>
            <a:r>
              <a:rPr lang="en-US" altLang="ko-KR" sz="950">
                <a:latin typeface="Times New Roman" pitchFamily="18" charset="0"/>
                <a:ea typeface="돋움" pitchFamily="50" charset="-127"/>
                <a:cs typeface="Times New Roman" pitchFamily="18" charset="0"/>
              </a:rPr>
              <a:t>. Kích cỡ của A3 trong giấy khổ A là bao nhiêu ?</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210 * 297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841 * 1189     </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420 * 594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297 * 420</a:t>
            </a:r>
          </a:p>
        </p:txBody>
      </p:sp>
      <p:sp>
        <p:nvSpPr>
          <p:cNvPr id="12" name="Rectangle 84"/>
          <p:cNvSpPr>
            <a:spLocks noChangeArrowheads="1"/>
          </p:cNvSpPr>
          <p:nvPr/>
        </p:nvSpPr>
        <p:spPr bwMode="auto">
          <a:xfrm>
            <a:off x="1717675" y="6397625"/>
            <a:ext cx="65"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ko-KR" altLang="en-US" sz="950">
              <a:latin typeface="Times New Roman" pitchFamily="18" charset="0"/>
              <a:ea typeface="돋움" pitchFamily="50" charset="-127"/>
              <a:cs typeface="Times New Roman" pitchFamily="18" charset="0"/>
            </a:endParaRPr>
          </a:p>
        </p:txBody>
      </p:sp>
      <p:sp>
        <p:nvSpPr>
          <p:cNvPr id="13" name="Rectangle 85"/>
          <p:cNvSpPr>
            <a:spLocks noChangeArrowheads="1"/>
          </p:cNvSpPr>
          <p:nvPr/>
        </p:nvSpPr>
        <p:spPr bwMode="auto">
          <a:xfrm>
            <a:off x="3464051" y="5025008"/>
            <a:ext cx="3124200" cy="104259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cs typeface="Times New Roman" pitchFamily="18" charset="0"/>
              </a:rPr>
              <a:t>78</a:t>
            </a:r>
            <a:r>
              <a:rPr lang="en-US" altLang="ko-KR" sz="950">
                <a:latin typeface="Times New Roman" pitchFamily="18" charset="0"/>
                <a:cs typeface="Times New Roman" pitchFamily="18" charset="0"/>
              </a:rPr>
              <a:t>. Mục đích của việc bôi trơn là gì?</a:t>
            </a:r>
          </a:p>
          <a:p>
            <a:pPr>
              <a:lnSpc>
                <a:spcPct val="110000"/>
              </a:lnSpc>
            </a:pPr>
            <a:endParaRPr lang="en-US" altLang="ko-KR" sz="950" smtClean="0">
              <a:latin typeface="Times New Roman" pitchFamily="18" charset="0"/>
              <a:cs typeface="Times New Roman" pitchFamily="18" charset="0"/>
            </a:endParaRPr>
          </a:p>
          <a:p>
            <a:pPr>
              <a:lnSpc>
                <a:spcPct val="110000"/>
              </a:lnSpc>
            </a:pPr>
            <a:r>
              <a:rPr lang="en-US" altLang="ko-KR" sz="950" smtClean="0">
                <a:latin typeface="Times New Roman" pitchFamily="18" charset="0"/>
                <a:cs typeface="Times New Roman" pitchFamily="18" charset="0"/>
              </a:rPr>
              <a:t>A. Tác </a:t>
            </a:r>
            <a:r>
              <a:rPr lang="en-US" altLang="ko-KR" sz="950">
                <a:latin typeface="Times New Roman" pitchFamily="18" charset="0"/>
                <a:cs typeface="Times New Roman" pitchFamily="18" charset="0"/>
              </a:rPr>
              <a:t>dụng làm cứng bề mặt</a:t>
            </a:r>
            <a:r>
              <a:rPr lang="ko-KR" altLang="en-US"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a:lnSpc>
                <a:spcPct val="110000"/>
              </a:lnSpc>
            </a:pPr>
            <a:r>
              <a:rPr lang="en-US" altLang="ko-KR" sz="950" smtClean="0">
                <a:latin typeface="Times New Roman" pitchFamily="18" charset="0"/>
                <a:cs typeface="Times New Roman" pitchFamily="18" charset="0"/>
              </a:rPr>
              <a:t>B. Tác </a:t>
            </a:r>
            <a:r>
              <a:rPr lang="en-US" altLang="ko-KR" sz="950">
                <a:latin typeface="Times New Roman" pitchFamily="18" charset="0"/>
                <a:cs typeface="Times New Roman" pitchFamily="18" charset="0"/>
              </a:rPr>
              <a:t>dụng ngăn ngừa xâm nhập dị vật</a:t>
            </a:r>
            <a:endParaRPr lang="ko-KR" altLang="en-US" sz="950">
              <a:latin typeface="Times New Roman" pitchFamily="18" charset="0"/>
              <a:cs typeface="Times New Roman" pitchFamily="18" charset="0"/>
            </a:endParaRPr>
          </a:p>
          <a:p>
            <a:pPr>
              <a:lnSpc>
                <a:spcPct val="110000"/>
              </a:lnSpc>
            </a:pP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Tác dụng làm mát phần ma sát</a:t>
            </a:r>
            <a:r>
              <a:rPr lang="ko-KR" altLang="en-US" sz="950">
                <a:latin typeface="Times New Roman" pitchFamily="18" charset="0"/>
                <a:cs typeface="Times New Roman" pitchFamily="18" charset="0"/>
              </a:rPr>
              <a:t>      </a:t>
            </a:r>
            <a:endParaRPr lang="en-US" altLang="ko-KR" sz="950">
              <a:latin typeface="Times New Roman" pitchFamily="18" charset="0"/>
              <a:cs typeface="Times New Roman" pitchFamily="18" charset="0"/>
            </a:endParaRPr>
          </a:p>
          <a:p>
            <a:pPr>
              <a:lnSpc>
                <a:spcPct val="110000"/>
              </a:lnSpc>
            </a:pP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Tác dụng chống ăn mòn</a:t>
            </a:r>
            <a:r>
              <a:rPr lang="ko-KR" altLang="en-US" sz="950">
                <a:latin typeface="Times New Roman" pitchFamily="18" charset="0"/>
                <a:cs typeface="Times New Roman" pitchFamily="18" charset="0"/>
              </a:rPr>
              <a:t> </a:t>
            </a:r>
          </a:p>
        </p:txBody>
      </p:sp>
      <p:sp>
        <p:nvSpPr>
          <p:cNvPr id="15" name="Rectangle 88"/>
          <p:cNvSpPr>
            <a:spLocks noChangeArrowheads="1"/>
          </p:cNvSpPr>
          <p:nvPr/>
        </p:nvSpPr>
        <p:spPr bwMode="auto">
          <a:xfrm>
            <a:off x="3464051" y="6825208"/>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79</a:t>
            </a:r>
            <a:r>
              <a:rPr lang="en-US" altLang="ko-KR" sz="950">
                <a:latin typeface="Times New Roman" pitchFamily="18" charset="0"/>
                <a:ea typeface="돋움" pitchFamily="50" charset="-127"/>
                <a:cs typeface="Times New Roman" pitchFamily="18" charset="0"/>
              </a:rPr>
              <a:t>. Trong các loại Ball Screw, chủng loại nào không được phân loại theo Lead và đường kính trục?</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Simple Lead</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Medium Lead</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High Lead</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Miniature</a:t>
            </a:r>
            <a:endParaRPr lang="ko-KR" altLang="en-US" sz="950">
              <a:latin typeface="Times New Roman" pitchFamily="18" charset="0"/>
              <a:ea typeface="돋움" pitchFamily="50" charset="-127"/>
              <a:cs typeface="Times New Roman" pitchFamily="18" charset="0"/>
            </a:endParaRPr>
          </a:p>
        </p:txBody>
      </p:sp>
      <p:sp>
        <p:nvSpPr>
          <p:cNvPr id="16" name="Rectangle 81"/>
          <p:cNvSpPr>
            <a:spLocks noChangeArrowheads="1"/>
          </p:cNvSpPr>
          <p:nvPr/>
        </p:nvSpPr>
        <p:spPr bwMode="auto">
          <a:xfrm>
            <a:off x="3484651" y="1232695"/>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ko-KR" sz="950" smtClean="0">
                <a:latin typeface="Times New Roman" pitchFamily="18" charset="0"/>
                <a:ea typeface="돋움" pitchFamily="50" charset="-127"/>
                <a:cs typeface="Times New Roman" pitchFamily="18" charset="0"/>
              </a:rPr>
              <a:t>76</a:t>
            </a:r>
            <a:r>
              <a:rPr lang="en-US" altLang="ko-KR" sz="950">
                <a:latin typeface="Times New Roman" pitchFamily="18" charset="0"/>
                <a:ea typeface="돋움" pitchFamily="50" charset="-127"/>
                <a:cs typeface="Times New Roman" pitchFamily="18" charset="0"/>
              </a:rPr>
              <a:t>. Cấu tạo và tên nào của ổ đĩa Harmonic không đúng?</a:t>
            </a:r>
          </a:p>
          <a:p>
            <a:pPr>
              <a:spcBef>
                <a:spcPct val="50000"/>
              </a:spcBef>
            </a:pPr>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Wave </a:t>
            </a:r>
            <a:r>
              <a:rPr lang="en-US" altLang="ko-KR" sz="950" smtClean="0">
                <a:latin typeface="Times New Roman" pitchFamily="18" charset="0"/>
                <a:ea typeface="돋움" pitchFamily="50" charset="-127"/>
                <a:cs typeface="Times New Roman" pitchFamily="18" charset="0"/>
              </a:rPr>
              <a:t>Generator = Phần </a:t>
            </a:r>
            <a:r>
              <a:rPr lang="en-US" altLang="ko-KR" sz="950">
                <a:latin typeface="Times New Roman" pitchFamily="18" charset="0"/>
                <a:ea typeface="돋움" pitchFamily="50" charset="-127"/>
                <a:cs typeface="Times New Roman" pitchFamily="18" charset="0"/>
              </a:rPr>
              <a:t>Input</a:t>
            </a:r>
            <a:endParaRPr lang="ko-KR" altLang="en-US"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B.</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Flexspline = Phần </a:t>
            </a:r>
            <a:r>
              <a:rPr lang="en-US" altLang="ko-KR" sz="950">
                <a:latin typeface="Times New Roman" pitchFamily="18" charset="0"/>
                <a:ea typeface="돋움" pitchFamily="50" charset="-127"/>
                <a:cs typeface="Times New Roman" pitchFamily="18" charset="0"/>
              </a:rPr>
              <a:t>giảm tốc</a:t>
            </a:r>
            <a:endParaRPr lang="ko-KR" altLang="en-US"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Circular Spline = Phần truyền động</a:t>
            </a:r>
            <a:endParaRPr lang="ko-KR" altLang="en-US"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Flexspline = Phần </a:t>
            </a:r>
            <a:r>
              <a:rPr lang="en-US" altLang="ko-KR" sz="950">
                <a:latin typeface="Times New Roman" pitchFamily="18" charset="0"/>
                <a:ea typeface="돋움" pitchFamily="50" charset="-127"/>
                <a:cs typeface="Times New Roman" pitchFamily="18" charset="0"/>
              </a:rPr>
              <a:t>Input</a:t>
            </a:r>
            <a:endParaRPr lang="ko-KR" altLang="en-US" sz="950">
              <a:latin typeface="Times New Roman" pitchFamily="18" charset="0"/>
              <a:ea typeface="돋움" pitchFamily="50" charset="-127"/>
              <a:cs typeface="Times New Roman" pitchFamily="18" charset="0"/>
            </a:endParaRPr>
          </a:p>
        </p:txBody>
      </p:sp>
      <p:sp>
        <p:nvSpPr>
          <p:cNvPr id="17" name="Rectangle 81"/>
          <p:cNvSpPr>
            <a:spLocks noChangeArrowheads="1"/>
          </p:cNvSpPr>
          <p:nvPr/>
        </p:nvSpPr>
        <p:spPr bwMode="auto">
          <a:xfrm>
            <a:off x="188640" y="7975302"/>
            <a:ext cx="3124200" cy="118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ko-KR" sz="950" smtClean="0">
                <a:latin typeface="Times New Roman" pitchFamily="18" charset="0"/>
                <a:ea typeface="돋움" pitchFamily="50" charset="-127"/>
                <a:cs typeface="Times New Roman" pitchFamily="18" charset="0"/>
              </a:rPr>
              <a:t>75</a:t>
            </a:r>
            <a:r>
              <a:rPr lang="en-US" altLang="ko-KR" sz="950">
                <a:latin typeface="Times New Roman" pitchFamily="18" charset="0"/>
                <a:ea typeface="돋움" pitchFamily="50" charset="-127"/>
                <a:cs typeface="Times New Roman" pitchFamily="18" charset="0"/>
              </a:rPr>
              <a:t>. Câu nào sai </a:t>
            </a:r>
            <a:r>
              <a:rPr lang="en-US" altLang="ko-KR" sz="950" smtClean="0">
                <a:latin typeface="Times New Roman" pitchFamily="18" charset="0"/>
                <a:ea typeface="돋움" pitchFamily="50" charset="-127"/>
                <a:cs typeface="Times New Roman" pitchFamily="18" charset="0"/>
              </a:rPr>
              <a:t>nói về </a:t>
            </a:r>
            <a:r>
              <a:rPr lang="en-US" altLang="ko-KR" sz="950">
                <a:latin typeface="Times New Roman" pitchFamily="18" charset="0"/>
                <a:ea typeface="돋움" pitchFamily="50" charset="-127"/>
                <a:cs typeface="Times New Roman" pitchFamily="18" charset="0"/>
              </a:rPr>
              <a:t>ổ đĩa Harmonic ?</a:t>
            </a:r>
          </a:p>
          <a:p>
            <a:pPr>
              <a:spcBef>
                <a:spcPct val="50000"/>
              </a:spcBef>
            </a:pPr>
            <a:r>
              <a:rPr lang="en-US" altLang="ko-KR" sz="950">
                <a:latin typeface="Times New Roman" pitchFamily="18" charset="0"/>
                <a:ea typeface="돋움" pitchFamily="50" charset="-127"/>
                <a:cs typeface="Times New Roman" pitchFamily="18" charset="0"/>
              </a:rPr>
              <a:t>A. Tỉ lệ giảm tốc cao</a:t>
            </a:r>
            <a:r>
              <a:rPr lang="ko-KR" altLang="en-US" sz="95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B.</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Backlash nhỏ</a:t>
            </a:r>
          </a:p>
          <a:p>
            <a:pPr>
              <a:spcBef>
                <a:spcPct val="50000"/>
              </a:spcBef>
            </a:pPr>
            <a:r>
              <a:rPr lang="en-US" altLang="ko-KR" sz="950">
                <a:latin typeface="Times New Roman" pitchFamily="18" charset="0"/>
                <a:ea typeface="돋움" pitchFamily="50" charset="-127"/>
                <a:cs typeface="Times New Roman" pitchFamily="18" charset="0"/>
              </a:rPr>
              <a:t>C. </a:t>
            </a:r>
            <a:r>
              <a:rPr lang="en-US" altLang="ko-KR" sz="950" smtClean="0">
                <a:latin typeface="Times New Roman" pitchFamily="18" charset="0"/>
                <a:ea typeface="돋움" pitchFamily="50" charset="-127"/>
                <a:cs typeface="Times New Roman" pitchFamily="18" charset="0"/>
              </a:rPr>
              <a:t>Vận hành tĩnh </a:t>
            </a:r>
            <a:r>
              <a:rPr lang="ko-KR" altLang="en-US" sz="950" smtClean="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phụ kiện đồng thời được chồng lên </a:t>
            </a:r>
          </a:p>
        </p:txBody>
      </p:sp>
      <p:sp>
        <p:nvSpPr>
          <p:cNvPr id="18" name="Rectangle 81"/>
          <p:cNvSpPr>
            <a:spLocks noChangeArrowheads="1"/>
          </p:cNvSpPr>
          <p:nvPr/>
        </p:nvSpPr>
        <p:spPr bwMode="auto">
          <a:xfrm>
            <a:off x="188640" y="5935960"/>
            <a:ext cx="32230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en-US" altLang="ko-KR" sz="950" smtClean="0">
                <a:latin typeface="Times New Roman" pitchFamily="18" charset="0"/>
                <a:ea typeface="돋움" pitchFamily="50" charset="-127"/>
                <a:cs typeface="Times New Roman" pitchFamily="18" charset="0"/>
              </a:rPr>
              <a:t>74</a:t>
            </a:r>
            <a:r>
              <a:rPr lang="en-US" altLang="ko-KR" sz="950">
                <a:latin typeface="Times New Roman" pitchFamily="18" charset="0"/>
                <a:ea typeface="돋움" pitchFamily="50" charset="-127"/>
                <a:cs typeface="Times New Roman" pitchFamily="18" charset="0"/>
              </a:rPr>
              <a:t>. Bánh răng mà có nhiều răng được gọi là Gear, bánh răng mà ít răng thì được gọi là gì?</a:t>
            </a:r>
          </a:p>
          <a:p>
            <a:pPr>
              <a:spcBef>
                <a:spcPct val="50000"/>
              </a:spcBef>
            </a:pPr>
            <a:r>
              <a:rPr lang="en-US" altLang="ko-KR" sz="950">
                <a:latin typeface="Times New Roman" pitchFamily="18" charset="0"/>
                <a:ea typeface="돋움" pitchFamily="50" charset="-127"/>
                <a:cs typeface="Times New Roman" pitchFamily="18" charset="0"/>
              </a:rPr>
              <a:t>A. Pinion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en-US" altLang="ko-KR" sz="950">
                <a:latin typeface="Times New Roman" pitchFamily="18" charset="0"/>
                <a:ea typeface="돋움" pitchFamily="50" charset="-127"/>
                <a:cs typeface="Times New Roman" pitchFamily="18" charset="0"/>
              </a:rPr>
              <a:t>. Bánh răng truyền động</a:t>
            </a:r>
            <a:endParaRPr lang="ko-KR" altLang="en-US"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C. Rack Gear</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 Bánh răng Motor</a:t>
            </a:r>
            <a:endParaRPr lang="ko-KR" altLang="en-US" sz="950">
              <a:latin typeface="Times New Roman" pitchFamily="18" charset="0"/>
              <a:ea typeface="돋움" pitchFamily="50" charset="-127"/>
              <a:cs typeface="Times New Roman" pitchFamily="18" charset="0"/>
            </a:endParaRPr>
          </a:p>
        </p:txBody>
      </p:sp>
      <p:grpSp>
        <p:nvGrpSpPr>
          <p:cNvPr id="19" name="Group 18"/>
          <p:cNvGrpSpPr/>
          <p:nvPr/>
        </p:nvGrpSpPr>
        <p:grpSpPr>
          <a:xfrm>
            <a:off x="188640" y="4305053"/>
            <a:ext cx="3124200" cy="764825"/>
            <a:chOff x="260560" y="2762420"/>
            <a:chExt cx="3124200" cy="764825"/>
          </a:xfrm>
        </p:grpSpPr>
        <p:sp>
          <p:nvSpPr>
            <p:cNvPr id="20" name="Rectangle 81"/>
            <p:cNvSpPr>
              <a:spLocks noChangeArrowheads="1"/>
            </p:cNvSpPr>
            <p:nvPr/>
          </p:nvSpPr>
          <p:spPr bwMode="auto">
            <a:xfrm>
              <a:off x="260560" y="2762420"/>
              <a:ext cx="3124200" cy="76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60000"/>
                </a:lnSpc>
              </a:pPr>
              <a:r>
                <a:rPr lang="en-US" altLang="ko-KR" sz="950" smtClean="0">
                  <a:latin typeface="Times New Roman" pitchFamily="18" charset="0"/>
                  <a:ea typeface="돋움" pitchFamily="50" charset="-127"/>
                  <a:cs typeface="Times New Roman" pitchFamily="18" charset="0"/>
                </a:rPr>
                <a:t>73</a:t>
              </a:r>
              <a:r>
                <a:rPr lang="en-US" altLang="ko-KR" sz="950">
                  <a:latin typeface="Times New Roman" pitchFamily="18" charset="0"/>
                  <a:ea typeface="돋움" pitchFamily="50" charset="-127"/>
                  <a:cs typeface="Times New Roman" pitchFamily="18" charset="0"/>
                </a:rPr>
                <a:t>. Hình </a:t>
              </a:r>
              <a:r>
                <a:rPr lang="en-US" altLang="ko-KR" sz="950" smtClean="0">
                  <a:latin typeface="Times New Roman" pitchFamily="18" charset="0"/>
                  <a:ea typeface="돋움" pitchFamily="50" charset="-127"/>
                  <a:cs typeface="Times New Roman" pitchFamily="18" charset="0"/>
                </a:rPr>
                <a:t>dạng của trục sau tên là </a:t>
              </a:r>
              <a:r>
                <a:rPr lang="en-US" altLang="ko-KR" sz="950">
                  <a:latin typeface="Times New Roman" pitchFamily="18" charset="0"/>
                  <a:ea typeface="돋움" pitchFamily="50" charset="-127"/>
                  <a:cs typeface="Times New Roman" pitchFamily="18" charset="0"/>
                </a:rPr>
                <a:t>gì?</a:t>
              </a:r>
            </a:p>
            <a:p>
              <a:pPr>
                <a:spcBef>
                  <a:spcPct val="50000"/>
                </a:spcBef>
              </a:pPr>
              <a:r>
                <a:rPr lang="en-US" altLang="ko-KR" sz="950">
                  <a:latin typeface="Times New Roman" pitchFamily="18" charset="0"/>
                  <a:ea typeface="돋움" pitchFamily="50" charset="-127"/>
                  <a:cs typeface="Times New Roman" pitchFamily="18" charset="0"/>
                </a:rPr>
                <a:t>A. Involute</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 Straight-sided spline</a:t>
              </a:r>
              <a:endParaRPr lang="ko-KR" altLang="en-US" sz="950">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Serrasion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Involute Spline</a:t>
              </a:r>
              <a:endParaRPr lang="ko-KR" altLang="en-US" sz="950">
                <a:latin typeface="Times New Roman" pitchFamily="18" charset="0"/>
                <a:ea typeface="돋움" pitchFamily="50" charset="-127"/>
                <a:cs typeface="Times New Roman" pitchFamily="18" charset="0"/>
              </a:endParaRPr>
            </a:p>
          </p:txBody>
        </p:sp>
        <p:pic>
          <p:nvPicPr>
            <p:cNvPr id="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6781" y="2907650"/>
              <a:ext cx="68418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 name="Rectangle 87"/>
          <p:cNvSpPr>
            <a:spLocks noChangeArrowheads="1"/>
          </p:cNvSpPr>
          <p:nvPr/>
        </p:nvSpPr>
        <p:spPr bwMode="auto">
          <a:xfrm>
            <a:off x="3464051" y="8621464"/>
            <a:ext cx="319311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8</a:t>
            </a:r>
            <a:r>
              <a:rPr lang="en-US" altLang="ko-KR" sz="950" smtClean="0">
                <a:latin typeface="Times New Roman" pitchFamily="18" charset="0"/>
                <a:ea typeface="돋움" pitchFamily="50" charset="-127"/>
                <a:cs typeface="Times New Roman" pitchFamily="18" charset="0"/>
              </a:rPr>
              <a:t>0</a:t>
            </a:r>
            <a:r>
              <a:rPr lang="en-US" altLang="ko-KR" sz="950">
                <a:latin typeface="Times New Roman" pitchFamily="18" charset="0"/>
                <a:ea typeface="돋움" pitchFamily="50" charset="-127"/>
                <a:cs typeface="Times New Roman" pitchFamily="18" charset="0"/>
              </a:rPr>
              <a:t>. Loại mỡ chủ yếu được sử dụng trong Cleanroom  và có đặc tính về độ giao động thấp là?</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AFA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AFB         </a:t>
            </a:r>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AFC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AFE</a:t>
            </a:r>
          </a:p>
        </p:txBody>
      </p:sp>
    </p:spTree>
    <p:extLst>
      <p:ext uri="{BB962C8B-B14F-4D97-AF65-F5344CB8AC3E}">
        <p14:creationId xmlns:p14="http://schemas.microsoft.com/office/powerpoint/2010/main" val="35025104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94488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hiệu dụng  (effective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0.638 </a:t>
            </a:r>
            <a:r>
              <a:rPr lang="en-US" altLang="ko-KR" sz="950">
                <a:latin typeface="Times New Roman" pitchFamily="18" charset="0"/>
                <a:ea typeface="LG Smart_H Regular" panose="020B0600000101010101" pitchFamily="34" charset="-127"/>
                <a:cs typeface="Times New Roman" pitchFamily="18" charset="0"/>
              </a:rPr>
              <a:t>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0.708 x VP_P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953000"/>
            <a:ext cx="3384376"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Phóng xung điện của hạt nhân. Vậy (B) là 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Kích </a:t>
            </a:r>
            <a:r>
              <a:rPr lang="vi-VN" altLang="ko-KR" sz="950" smtClean="0">
                <a:latin typeface="Times New Roman" pitchFamily="18" charset="0"/>
                <a:ea typeface="LG Smart_H Regular" panose="020B0600000101010101" pitchFamily="34" charset="-127"/>
                <a:cs typeface="Times New Roman" pitchFamily="18" charset="0"/>
              </a:rPr>
              <a:t>thích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(Excitation)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a:latin typeface="Times New Roman" pitchFamily="18" charset="0"/>
                <a:ea typeface="LG Smart_H Regular" panose="020B0600000101010101" pitchFamily="34" charset="-127"/>
                <a:cs typeface="Times New Roman" pitchFamily="18" charset="0"/>
              </a:rPr>
              <a:t>I-ôn hóa (Ionization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Phóng </a:t>
            </a:r>
            <a:r>
              <a:rPr lang="vi-VN" altLang="ko-KR" sz="950">
                <a:latin typeface="Times New Roman" pitchFamily="18" charset="0"/>
                <a:ea typeface="LG Smart_H Regular" panose="020B0600000101010101" pitchFamily="34" charset="-127"/>
                <a:cs typeface="Times New Roman" pitchFamily="18" charset="0"/>
              </a:rPr>
              <a:t>xung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Lượng tử ánh sáng(Proton)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a:t>
            </a:r>
            <a:r>
              <a:rPr lang="vi-VN" altLang="ko-KR" sz="950" smtClean="0">
                <a:latin typeface="Times New Roman" pitchFamily="18" charset="0"/>
                <a:ea typeface="LG Smart_H Regular" panose="020B0600000101010101" pitchFamily="34" charset="-127"/>
                <a:cs typeface="Times New Roman" pitchFamily="18" charset="0"/>
              </a:rPr>
              <a:t>hiệu</a:t>
            </a:r>
            <a:r>
              <a:rPr lang="en-US" altLang="ko-KR" sz="950" smtClean="0">
                <a:latin typeface="Times New Roman" pitchFamily="18" charset="0"/>
                <a:ea typeface="LG Smart_H Regular" panose="020B0600000101010101" pitchFamily="34" charset="-127"/>
                <a:cs typeface="Times New Roman" pitchFamily="18" charset="0"/>
              </a:rPr>
              <a:t> hệ số cố định (hằng số điện môi)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không là đặc tính của </a:t>
            </a:r>
            <a:r>
              <a:rPr lang="vi-VN" altLang="ko-KR" sz="950" smtClean="0">
                <a:latin typeface="Times New Roman" pitchFamily="18" charset="0"/>
                <a:ea typeface="LG Smart_H Regular" panose="020B0600000101010101" pitchFamily="34" charset="-127"/>
                <a:cs typeface="Times New Roman" pitchFamily="18" charset="0"/>
              </a:rPr>
              <a:t>SSR?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Ít ồn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Chức năng thông </a:t>
            </a:r>
            <a:r>
              <a:rPr lang="vi-VN" altLang="ko-KR" sz="950" smtClean="0">
                <a:latin typeface="Times New Roman" pitchFamily="18" charset="0"/>
                <a:ea typeface="LG Smart_H Regular" panose="020B0600000101010101" pitchFamily="34" charset="-127"/>
                <a:cs typeface="Times New Roman" pitchFamily="18" charset="0"/>
              </a:rPr>
              <a:t>thường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tiếng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tin cậy cao</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15561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Đây là ứng dụng của cảm biến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"Có loại từ tính có sử dụng nam châm, loại dao động cao tần, loại cảm biến điện dung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không tiếp xúc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a:t>
            </a:r>
            <a:r>
              <a:rPr lang="vi-VN" altLang="ko-KR" sz="950" smtClean="0">
                <a:latin typeface="Times New Roman" pitchFamily="18" charset="0"/>
                <a:ea typeface="LG Smart_H Regular" panose="020B0600000101010101" pitchFamily="34" charset="-127"/>
                <a:cs typeface="Times New Roman" pitchFamily="18" charset="0"/>
              </a:rPr>
              <a:t>quang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áp suất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7509718"/>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Cầu giao chống rò điện </a:t>
            </a:r>
            <a:r>
              <a:rPr lang="en-US" altLang="ko-KR" sz="950" smtClean="0">
                <a:latin typeface="Times New Roman" pitchFamily="18" charset="0"/>
                <a:ea typeface="LG Smart_H Regular" panose="020B0600000101010101" pitchFamily="34" charset="-127"/>
                <a:cs typeface="Times New Roman" pitchFamily="18" charset="0"/>
              </a:rPr>
              <a:t>được viết tắt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loại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MCCB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ELB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ELCC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mức năng lượng điện tử trong hình vẽ. Vậy A là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Mức Fermi(Fermi </a:t>
            </a:r>
            <a:r>
              <a:rPr lang="en-US" altLang="ko-KR" sz="950" smtClean="0">
                <a:latin typeface="Times New Roman" pitchFamily="18" charset="0"/>
                <a:ea typeface="LG Smart_H Regular" panose="020B0600000101010101" pitchFamily="34" charset="-127"/>
                <a:cs typeface="Times New Roman" pitchFamily="18" charset="0"/>
              </a:rPr>
              <a:t>level)</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Mức cơ bản(Mức nền)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Mức thoát ra =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nhân nguyên tử</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4093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Mối liên quan giữa khối lượng của hạt điện tích dương và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Gấp </a:t>
            </a:r>
            <a:r>
              <a:rPr lang="vi-VN" altLang="ko-KR" sz="950">
                <a:latin typeface="Times New Roman" pitchFamily="18" charset="0"/>
                <a:ea typeface="LG Smart_H Regular" panose="020B0600000101010101" pitchFamily="34" charset="-127"/>
                <a:cs typeface="Times New Roman" pitchFamily="18" charset="0"/>
              </a:rPr>
              <a:t>khoảng 1840 lần hạt electron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Gấp khoảng 1248 lần hạt electron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Gấp khoảng 1428 lần hạt electron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Gấp khoảng 1842 lần hạt electron.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7519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Risk Point là gì trong chú ý khi đấu nối thiết </a:t>
            </a:r>
            <a:r>
              <a:rPr lang="vi-VN" altLang="ko-KR" sz="950" smtClean="0">
                <a:latin typeface="Times New Roman" pitchFamily="18" charset="0"/>
                <a:ea typeface="LG Smart_H Regular" panose="020B0600000101010101" pitchFamily="34" charset="-127"/>
                <a:cs typeface="Times New Roman" pitchFamily="18" charset="0"/>
              </a:rPr>
              <a:t>bị?</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rò </a:t>
            </a:r>
            <a:r>
              <a:rPr lang="vi-VN" altLang="ko-KR" sz="950" smtClean="0">
                <a:latin typeface="Times New Roman" pitchFamily="18" charset="0"/>
                <a:ea typeface="LG Smart_H Regular" panose="020B0600000101010101" pitchFamily="34" charset="-127"/>
                <a:cs typeface="Times New Roman" pitchFamily="18" charset="0"/>
              </a:rPr>
              <a:t>rỉ</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Trung </a:t>
            </a:r>
            <a:r>
              <a:rPr lang="vi-VN" altLang="ko-KR" sz="950" smtClean="0">
                <a:latin typeface="Times New Roman" pitchFamily="18" charset="0"/>
                <a:ea typeface="LG Smart_H Regular" panose="020B0600000101010101" pitchFamily="34" charset="-127"/>
                <a:cs typeface="Times New Roman" pitchFamily="18" charset="0"/>
              </a:rPr>
              <a:t>Điểm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Điểm an </a:t>
            </a:r>
            <a:r>
              <a:rPr lang="en-US" altLang="ko-KR" sz="950" smtClean="0">
                <a:latin typeface="Times New Roman" pitchFamily="18" charset="0"/>
                <a:ea typeface="LG Smart_H Regular" panose="020B0600000101010101" pitchFamily="34" charset="-127"/>
                <a:cs typeface="Times New Roman" pitchFamily="18" charset="0"/>
              </a:rPr>
              <a:t>toàn</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Điểm nguy hiểm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6" name="Group 25"/>
          <p:cNvGrpSpPr/>
          <p:nvPr/>
        </p:nvGrpSpPr>
        <p:grpSpPr>
          <a:xfrm>
            <a:off x="767067" y="1509149"/>
            <a:ext cx="1797837" cy="1517420"/>
            <a:chOff x="0" y="0"/>
            <a:chExt cx="3491593" cy="2818816"/>
          </a:xfrm>
        </p:grpSpPr>
        <p:pic>
          <p:nvPicPr>
            <p:cNvPr id="27" name="Picture 26"/>
            <p:cNvPicPr>
              <a:picLocks noChangeAspect="1" noChangeArrowheads="1"/>
            </p:cNvPicPr>
            <p:nvPr/>
          </p:nvPicPr>
          <p:blipFill>
            <a:blip r:embed="rId3">
              <a:extLst>
                <a:ext uri="{28A0092B-C50C-407E-A947-70E740481C1C}">
                  <a14:useLocalDpi xmlns:a14="http://schemas.microsoft.com/office/drawing/2010/main" val="0"/>
                </a:ext>
              </a:extLst>
            </a:blip>
            <a:srcRect t="4083"/>
            <a:stretch>
              <a:fillRect/>
            </a:stretch>
          </p:blipFill>
          <p:spPr bwMode="auto">
            <a:xfrm>
              <a:off x="0" y="0"/>
              <a:ext cx="3491593" cy="281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직사각형 18"/>
            <p:cNvSpPr>
              <a:spLocks noChangeArrowheads="1"/>
            </p:cNvSpPr>
            <p:nvPr/>
          </p:nvSpPr>
          <p:spPr bwMode="auto">
            <a:xfrm>
              <a:off x="44905" y="1319893"/>
              <a:ext cx="476250" cy="394604"/>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grpSp>
      <p:grpSp>
        <p:nvGrpSpPr>
          <p:cNvPr id="29" name="Group 28"/>
          <p:cNvGrpSpPr/>
          <p:nvPr/>
        </p:nvGrpSpPr>
        <p:grpSpPr>
          <a:xfrm>
            <a:off x="764701" y="5243401"/>
            <a:ext cx="2232251" cy="1365783"/>
            <a:chOff x="0" y="0"/>
            <a:chExt cx="3738996" cy="2525856"/>
          </a:xfrm>
        </p:grpSpPr>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l="3677" t="6573"/>
            <a:stretch>
              <a:fillRect/>
            </a:stretch>
          </p:blipFill>
          <p:spPr bwMode="auto">
            <a:xfrm>
              <a:off x="0" y="0"/>
              <a:ext cx="3738996" cy="252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직사각형 12"/>
            <p:cNvSpPr>
              <a:spLocks noChangeArrowheads="1"/>
            </p:cNvSpPr>
            <p:nvPr/>
          </p:nvSpPr>
          <p:spPr bwMode="auto">
            <a:xfrm>
              <a:off x="396244" y="1117364"/>
              <a:ext cx="448050" cy="366616"/>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endParaRPr lang="ko-KR" altLang="en-US" sz="1100" b="1">
                <a:latin typeface="Times New Roman" pitchFamily="18" charset="0"/>
                <a:cs typeface="Times New Roman" pitchFamily="18" charset="0"/>
              </a:endParaRPr>
            </a:p>
          </p:txBody>
        </p:sp>
        <p:sp>
          <p:nvSpPr>
            <p:cNvPr id="32" name="직사각형 13"/>
            <p:cNvSpPr>
              <a:spLocks noChangeArrowheads="1"/>
            </p:cNvSpPr>
            <p:nvPr/>
          </p:nvSpPr>
          <p:spPr bwMode="auto">
            <a:xfrm>
              <a:off x="1193224" y="412454"/>
              <a:ext cx="407843" cy="329046"/>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endParaRPr lang="ko-KR" altLang="en-US" sz="1100" b="1">
                <a:latin typeface="Times New Roman" pitchFamily="18" charset="0"/>
                <a:cs typeface="Times New Roman" pitchFamily="18" charset="0"/>
              </a:endParaRPr>
            </a:p>
          </p:txBody>
        </p:sp>
        <p:sp>
          <p:nvSpPr>
            <p:cNvPr id="33" name="직사각형 14"/>
            <p:cNvSpPr>
              <a:spLocks noChangeArrowheads="1"/>
            </p:cNvSpPr>
            <p:nvPr/>
          </p:nvSpPr>
          <p:spPr bwMode="auto">
            <a:xfrm>
              <a:off x="555048" y="66092"/>
              <a:ext cx="343765" cy="354155"/>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nvGrpSpPr>
          <p:cNvPr id="2" name="Group 1"/>
          <p:cNvGrpSpPr/>
          <p:nvPr/>
        </p:nvGrpSpPr>
        <p:grpSpPr>
          <a:xfrm>
            <a:off x="3448472" y="4647602"/>
            <a:ext cx="3239810" cy="1025478"/>
            <a:chOff x="3448472" y="4199528"/>
            <a:chExt cx="3239810" cy="1025478"/>
          </a:xfrm>
        </p:grpSpPr>
        <p:sp>
          <p:nvSpPr>
            <p:cNvPr id="70" name="Rectangle 7"/>
            <p:cNvSpPr>
              <a:spLocks noChangeArrowheads="1"/>
            </p:cNvSpPr>
            <p:nvPr/>
          </p:nvSpPr>
          <p:spPr bwMode="auto">
            <a:xfrm>
              <a:off x="3448472" y="41995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Smoothing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Timer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9370" y="4448944"/>
              <a:ext cx="1815974" cy="776062"/>
            </a:xfrm>
            <a:prstGeom prst="rect">
              <a:avLst/>
            </a:prstGeom>
          </p:spPr>
        </p:pic>
      </p:grpSp>
    </p:spTree>
    <p:extLst>
      <p:ext uri="{BB962C8B-B14F-4D97-AF65-F5344CB8AC3E}">
        <p14:creationId xmlns:p14="http://schemas.microsoft.com/office/powerpoint/2010/main" val="859400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 name="Rectangle 464"/>
          <p:cNvSpPr>
            <a:spLocks noChangeArrowheads="1"/>
          </p:cNvSpPr>
          <p:nvPr/>
        </p:nvSpPr>
        <p:spPr bwMode="auto">
          <a:xfrm>
            <a:off x="178813" y="1114073"/>
            <a:ext cx="3318537"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ctr" hangingPunct="1"/>
            <a:r>
              <a:rPr lang="en-US" altLang="ko-KR" sz="950" smtClean="0">
                <a:latin typeface="Arial" pitchFamily="34" charset="0"/>
                <a:cs typeface="Arial" panose="020B0604020202020204" pitchFamily="34" charset="0"/>
              </a:rPr>
              <a:t>11</a:t>
            </a:r>
            <a:r>
              <a:rPr lang="en-US" altLang="ko-KR" sz="950" dirty="0">
                <a:latin typeface="Arial"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án</a:t>
            </a:r>
            <a:r>
              <a:rPr lang="en-US" altLang="ko-KR" sz="950" smtClean="0">
                <a:latin typeface="Arial" panose="020B0604020202020204" pitchFamily="34" charset="0"/>
                <a:cs typeface="Arial" panose="020B0604020202020204" pitchFamily="34" charset="0"/>
              </a:rPr>
              <a:t> nào sai </a:t>
            </a:r>
            <a:r>
              <a:rPr lang="en-US" altLang="ko-KR" sz="950" dirty="0" err="1" smtClean="0">
                <a:latin typeface="Arial" panose="020B0604020202020204" pitchFamily="34" charset="0"/>
                <a:cs typeface="Arial" panose="020B0604020202020204" pitchFamily="34" charset="0"/>
              </a:rPr>
              <a:t>với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nội</a:t>
            </a:r>
            <a:r>
              <a:rPr lang="en-US" altLang="ko-KR" sz="950" dirty="0" smtClean="0">
                <a:latin typeface="Arial" panose="020B0604020202020204" pitchFamily="34" charset="0"/>
                <a:cs typeface="Arial" panose="020B0604020202020204" pitchFamily="34" charset="0"/>
              </a:rPr>
              <a:t> dung </a:t>
            </a:r>
            <a:r>
              <a:rPr lang="en-US" altLang="ko-KR" sz="950" dirty="0" err="1" smtClean="0">
                <a:latin typeface="Arial" panose="020B0604020202020204" pitchFamily="34" charset="0"/>
                <a:cs typeface="Arial" panose="020B0604020202020204" pitchFamily="34" charset="0"/>
              </a:rPr>
              <a:t>cấu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trúc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tử</a:t>
            </a:r>
            <a:r>
              <a:rPr lang="en-US" altLang="ko-KR" sz="95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p:txBody>
      </p:sp>
      <p:grpSp>
        <p:nvGrpSpPr>
          <p:cNvPr id="31" name="Group 523"/>
          <p:cNvGrpSpPr>
            <a:grpSpLocks/>
          </p:cNvGrpSpPr>
          <p:nvPr/>
        </p:nvGrpSpPr>
        <p:grpSpPr bwMode="auto">
          <a:xfrm>
            <a:off x="118488" y="1450181"/>
            <a:ext cx="3238500" cy="1198563"/>
            <a:chOff x="120" y="839"/>
            <a:chExt cx="2040" cy="876"/>
          </a:xfrm>
        </p:grpSpPr>
        <p:grpSp>
          <p:nvGrpSpPr>
            <p:cNvPr id="32" name="Group 521"/>
            <p:cNvGrpSpPr>
              <a:grpSpLocks/>
            </p:cNvGrpSpPr>
            <p:nvPr/>
          </p:nvGrpSpPr>
          <p:grpSpPr bwMode="auto">
            <a:xfrm>
              <a:off x="120" y="839"/>
              <a:ext cx="2040" cy="876"/>
              <a:chOff x="120" y="915"/>
              <a:chExt cx="2040" cy="876"/>
            </a:xfrm>
          </p:grpSpPr>
          <p:grpSp>
            <p:nvGrpSpPr>
              <p:cNvPr id="34" name="Group 494"/>
              <p:cNvGrpSpPr>
                <a:grpSpLocks/>
              </p:cNvGrpSpPr>
              <p:nvPr/>
            </p:nvGrpSpPr>
            <p:grpSpPr bwMode="auto">
              <a:xfrm>
                <a:off x="120" y="915"/>
                <a:ext cx="2040" cy="876"/>
                <a:chOff x="4" y="156"/>
                <a:chExt cx="513" cy="138"/>
              </a:xfrm>
            </p:grpSpPr>
            <p:sp>
              <p:nvSpPr>
                <p:cNvPr id="40" name="Rectangle 495"/>
                <p:cNvSpPr>
                  <a:spLocks noChangeArrowheads="1"/>
                </p:cNvSpPr>
                <p:nvPr/>
              </p:nvSpPr>
              <p:spPr bwMode="auto">
                <a:xfrm>
                  <a:off x="316" y="187"/>
                  <a:ext cx="201"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B.</a:t>
                  </a:r>
                  <a:endParaRPr lang="en-US" altLang="ko-KR" sz="950">
                    <a:latin typeface="Arial" panose="020B0604020202020204" pitchFamily="34" charset="0"/>
                    <a:cs typeface="Arial" panose="020B0604020202020204" pitchFamily="34" charset="0"/>
                  </a:endParaRPr>
                </a:p>
              </p:txBody>
            </p:sp>
            <p:sp>
              <p:nvSpPr>
                <p:cNvPr id="41" name="Rectangle 496"/>
                <p:cNvSpPr>
                  <a:spLocks noChangeArrowheads="1"/>
                </p:cNvSpPr>
                <p:nvPr/>
              </p:nvSpPr>
              <p:spPr bwMode="auto">
                <a:xfrm>
                  <a:off x="132" y="187"/>
                  <a:ext cx="184"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A.</a:t>
                  </a:r>
                  <a:endParaRPr lang="en-US" altLang="ko-KR" sz="950">
                    <a:latin typeface="Arial" panose="020B0604020202020204" pitchFamily="34" charset="0"/>
                    <a:cs typeface="Arial" panose="020B0604020202020204" pitchFamily="34" charset="0"/>
                  </a:endParaRPr>
                </a:p>
              </p:txBody>
            </p:sp>
            <p:sp>
              <p:nvSpPr>
                <p:cNvPr id="42" name="Rectangle 497"/>
                <p:cNvSpPr>
                  <a:spLocks noChangeArrowheads="1"/>
                </p:cNvSpPr>
                <p:nvPr/>
              </p:nvSpPr>
              <p:spPr bwMode="auto">
                <a:xfrm>
                  <a:off x="23" y="187"/>
                  <a:ext cx="109"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smtClean="0">
                      <a:latin typeface="Arial" panose="020B0604020202020204" pitchFamily="34" charset="0"/>
                      <a:cs typeface="Arial" panose="020B0604020202020204" pitchFamily="34" charset="0"/>
                    </a:rPr>
                    <a:t>Proton</a:t>
                  </a:r>
                  <a:endParaRPr lang="ko-KR" altLang="en-US" sz="950" dirty="0">
                    <a:latin typeface="Arial" panose="020B0604020202020204" pitchFamily="34" charset="0"/>
                    <a:cs typeface="Arial" panose="020B0604020202020204" pitchFamily="34" charset="0"/>
                  </a:endParaRPr>
                </a:p>
              </p:txBody>
            </p:sp>
            <p:sp>
              <p:nvSpPr>
                <p:cNvPr id="43" name="Rectangle 498"/>
                <p:cNvSpPr>
                  <a:spLocks noChangeArrowheads="1"/>
                </p:cNvSpPr>
                <p:nvPr/>
              </p:nvSpPr>
              <p:spPr bwMode="auto">
                <a:xfrm>
                  <a:off x="316" y="217"/>
                  <a:ext cx="201"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C.</a:t>
                  </a:r>
                  <a:endParaRPr lang="en-US" altLang="ko-KR" sz="950">
                    <a:latin typeface="Arial" panose="020B0604020202020204" pitchFamily="34" charset="0"/>
                    <a:cs typeface="Arial" panose="020B0604020202020204" pitchFamily="34" charset="0"/>
                  </a:endParaRPr>
                </a:p>
              </p:txBody>
            </p:sp>
            <p:sp>
              <p:nvSpPr>
                <p:cNvPr id="44" name="Rectangle 499"/>
                <p:cNvSpPr>
                  <a:spLocks noChangeArrowheads="1"/>
                </p:cNvSpPr>
                <p:nvPr/>
              </p:nvSpPr>
              <p:spPr bwMode="auto">
                <a:xfrm>
                  <a:off x="132" y="217"/>
                  <a:ext cx="184"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endParaRPr lang="ko-KR" altLang="ko-KR" sz="950">
                    <a:latin typeface="Arial" pitchFamily="34" charset="0"/>
                    <a:cs typeface="Arial" panose="020B0604020202020204" pitchFamily="34" charset="0"/>
                  </a:endParaRPr>
                </a:p>
              </p:txBody>
            </p:sp>
            <p:sp>
              <p:nvSpPr>
                <p:cNvPr id="45" name="Rectangle 500"/>
                <p:cNvSpPr>
                  <a:spLocks noChangeArrowheads="1"/>
                </p:cNvSpPr>
                <p:nvPr/>
              </p:nvSpPr>
              <p:spPr bwMode="auto">
                <a:xfrm>
                  <a:off x="23" y="217"/>
                  <a:ext cx="109"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smtClean="0">
                      <a:latin typeface="Arial" panose="020B0604020202020204" pitchFamily="34" charset="0"/>
                      <a:cs typeface="Arial" panose="020B0604020202020204" pitchFamily="34" charset="0"/>
                    </a:rPr>
                    <a:t>Neutron</a:t>
                  </a:r>
                  <a:endParaRPr lang="ko-KR" altLang="en-US" sz="950" dirty="0">
                    <a:latin typeface="Arial" panose="020B0604020202020204" pitchFamily="34" charset="0"/>
                    <a:cs typeface="Arial" panose="020B0604020202020204" pitchFamily="34" charset="0"/>
                  </a:endParaRPr>
                </a:p>
              </p:txBody>
            </p:sp>
            <p:sp>
              <p:nvSpPr>
                <p:cNvPr id="46" name="Rectangle 501"/>
                <p:cNvSpPr>
                  <a:spLocks noChangeArrowheads="1"/>
                </p:cNvSpPr>
                <p:nvPr/>
              </p:nvSpPr>
              <p:spPr bwMode="auto">
                <a:xfrm>
                  <a:off x="132" y="248"/>
                  <a:ext cx="184"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endParaRPr lang="ko-KR" altLang="ko-KR" sz="950">
                    <a:latin typeface="Arial" pitchFamily="34" charset="0"/>
                    <a:cs typeface="Arial" panose="020B0604020202020204" pitchFamily="34" charset="0"/>
                  </a:endParaRPr>
                </a:p>
              </p:txBody>
            </p:sp>
            <p:sp>
              <p:nvSpPr>
                <p:cNvPr id="47" name="Rectangle 502"/>
                <p:cNvSpPr>
                  <a:spLocks noChangeArrowheads="1"/>
                </p:cNvSpPr>
                <p:nvPr/>
              </p:nvSpPr>
              <p:spPr bwMode="auto">
                <a:xfrm>
                  <a:off x="132" y="156"/>
                  <a:ext cx="184"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tích</a:t>
                  </a:r>
                  <a:endParaRPr lang="ko-KR" altLang="en-US" sz="950" dirty="0">
                    <a:latin typeface="Arial" panose="020B0604020202020204" pitchFamily="34" charset="0"/>
                    <a:cs typeface="Arial" panose="020B0604020202020204" pitchFamily="34" charset="0"/>
                  </a:endParaRPr>
                </a:p>
              </p:txBody>
            </p:sp>
            <p:sp>
              <p:nvSpPr>
                <p:cNvPr id="48" name="Rectangle 503"/>
                <p:cNvSpPr>
                  <a:spLocks noChangeArrowheads="1"/>
                </p:cNvSpPr>
                <p:nvPr/>
              </p:nvSpPr>
              <p:spPr bwMode="auto">
                <a:xfrm>
                  <a:off x="316" y="248"/>
                  <a:ext cx="201"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D.</a:t>
                  </a:r>
                  <a:endParaRPr lang="en-US" altLang="ko-KR" sz="950">
                    <a:latin typeface="Arial" panose="020B0604020202020204" pitchFamily="34" charset="0"/>
                    <a:cs typeface="Arial" panose="020B0604020202020204" pitchFamily="34" charset="0"/>
                  </a:endParaRPr>
                </a:p>
              </p:txBody>
            </p:sp>
            <p:sp>
              <p:nvSpPr>
                <p:cNvPr id="49" name="Rectangle 504"/>
                <p:cNvSpPr>
                  <a:spLocks noChangeArrowheads="1"/>
                </p:cNvSpPr>
                <p:nvPr/>
              </p:nvSpPr>
              <p:spPr bwMode="auto">
                <a:xfrm>
                  <a:off x="4" y="248"/>
                  <a:ext cx="153"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tự</a:t>
                  </a:r>
                  <a:r>
                    <a:rPr lang="en-US" altLang="ko-KR" sz="900" dirty="0" smtClean="0">
                      <a:latin typeface="Arial" panose="020B0604020202020204" pitchFamily="34" charset="0"/>
                      <a:cs typeface="Arial" panose="020B0604020202020204" pitchFamily="34" charset="0"/>
                    </a:rPr>
                    <a:t> do</a:t>
                  </a:r>
                  <a:endParaRPr lang="ko-KR" altLang="en-US" sz="900" dirty="0">
                    <a:latin typeface="Arial" panose="020B0604020202020204" pitchFamily="34" charset="0"/>
                    <a:cs typeface="Arial" panose="020B0604020202020204" pitchFamily="34" charset="0"/>
                  </a:endParaRPr>
                </a:p>
                <a:p>
                  <a:pPr algn="ctr" eaLnBrk="1" hangingPunct="1"/>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tử</a:t>
                  </a:r>
                  <a:r>
                    <a:rPr lang="en-US" altLang="ko-KR" sz="900" dirty="0" smtClean="0">
                      <a:latin typeface="Arial" panose="020B0604020202020204" pitchFamily="34" charset="0"/>
                      <a:cs typeface="Arial" panose="020B0604020202020204" pitchFamily="34" charset="0"/>
                    </a:rPr>
                    <a:t> OR </a:t>
                  </a:r>
                  <a:endParaRPr lang="ko-KR" altLang="en-US" sz="900" dirty="0">
                    <a:latin typeface="Arial" panose="020B0604020202020204" pitchFamily="34" charset="0"/>
                    <a:cs typeface="Arial" panose="020B0604020202020204" pitchFamily="34" charset="0"/>
                  </a:endParaRPr>
                </a:p>
              </p:txBody>
            </p:sp>
            <p:sp>
              <p:nvSpPr>
                <p:cNvPr id="50" name="Rectangle 505"/>
                <p:cNvSpPr>
                  <a:spLocks noChangeArrowheads="1"/>
                </p:cNvSpPr>
                <p:nvPr/>
              </p:nvSpPr>
              <p:spPr bwMode="auto">
                <a:xfrm>
                  <a:off x="316" y="156"/>
                  <a:ext cx="201"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Khối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endParaRPr lang="ko-KR" altLang="en-US" sz="950" dirty="0">
                    <a:latin typeface="Arial" panose="020B0604020202020204" pitchFamily="34" charset="0"/>
                    <a:cs typeface="Arial" panose="020B0604020202020204" pitchFamily="34" charset="0"/>
                  </a:endParaRPr>
                </a:p>
              </p:txBody>
            </p:sp>
            <p:sp>
              <p:nvSpPr>
                <p:cNvPr id="51" name="Rectangle 506"/>
                <p:cNvSpPr>
                  <a:spLocks noChangeArrowheads="1"/>
                </p:cNvSpPr>
                <p:nvPr/>
              </p:nvSpPr>
              <p:spPr bwMode="auto">
                <a:xfrm>
                  <a:off x="23" y="156"/>
                  <a:ext cx="109"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Hạt</a:t>
                  </a:r>
                  <a:endParaRPr lang="ko-KR" altLang="en-US" sz="950" dirty="0">
                    <a:latin typeface="Arial" panose="020B0604020202020204" pitchFamily="34" charset="0"/>
                    <a:cs typeface="Arial" panose="020B0604020202020204" pitchFamily="34" charset="0"/>
                  </a:endParaRPr>
                </a:p>
              </p:txBody>
            </p:sp>
            <p:sp>
              <p:nvSpPr>
                <p:cNvPr id="52" name="Line 507"/>
                <p:cNvSpPr>
                  <a:spLocks noChangeShapeType="1"/>
                </p:cNvSpPr>
                <p:nvPr/>
              </p:nvSpPr>
              <p:spPr bwMode="auto">
                <a:xfrm>
                  <a:off x="23" y="187"/>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3" name="Line 508"/>
                <p:cNvSpPr>
                  <a:spLocks noChangeShapeType="1"/>
                </p:cNvSpPr>
                <p:nvPr/>
              </p:nvSpPr>
              <p:spPr bwMode="auto">
                <a:xfrm>
                  <a:off x="132" y="156"/>
                  <a:ext cx="0" cy="1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4" name="Line 509"/>
                <p:cNvSpPr>
                  <a:spLocks noChangeShapeType="1"/>
                </p:cNvSpPr>
                <p:nvPr/>
              </p:nvSpPr>
              <p:spPr bwMode="auto">
                <a:xfrm>
                  <a:off x="316" y="156"/>
                  <a:ext cx="0" cy="1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5" name="Line 510"/>
                <p:cNvSpPr>
                  <a:spLocks noChangeShapeType="1"/>
                </p:cNvSpPr>
                <p:nvPr/>
              </p:nvSpPr>
              <p:spPr bwMode="auto">
                <a:xfrm>
                  <a:off x="23" y="248"/>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6" name="Line 511"/>
                <p:cNvSpPr>
                  <a:spLocks noChangeShapeType="1"/>
                </p:cNvSpPr>
                <p:nvPr/>
              </p:nvSpPr>
              <p:spPr bwMode="auto">
                <a:xfrm>
                  <a:off x="23" y="217"/>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7" name="Line 512"/>
                <p:cNvSpPr>
                  <a:spLocks noChangeShapeType="1"/>
                </p:cNvSpPr>
                <p:nvPr/>
              </p:nvSpPr>
              <p:spPr bwMode="auto">
                <a:xfrm>
                  <a:off x="23" y="156"/>
                  <a:ext cx="494" cy="0"/>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8" name="Line 513"/>
                <p:cNvSpPr>
                  <a:spLocks noChangeShapeType="1"/>
                </p:cNvSpPr>
                <p:nvPr/>
              </p:nvSpPr>
              <p:spPr bwMode="auto">
                <a:xfrm>
                  <a:off x="23" y="156"/>
                  <a:ext cx="0" cy="138"/>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9" name="Line 514"/>
                <p:cNvSpPr>
                  <a:spLocks noChangeShapeType="1"/>
                </p:cNvSpPr>
                <p:nvPr/>
              </p:nvSpPr>
              <p:spPr bwMode="auto">
                <a:xfrm>
                  <a:off x="517" y="156"/>
                  <a:ext cx="0" cy="138"/>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60" name="Line 515"/>
                <p:cNvSpPr>
                  <a:spLocks noChangeShapeType="1"/>
                </p:cNvSpPr>
                <p:nvPr/>
              </p:nvSpPr>
              <p:spPr bwMode="auto">
                <a:xfrm>
                  <a:off x="23" y="294"/>
                  <a:ext cx="494" cy="0"/>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grpSp>
          <p:pic>
            <p:nvPicPr>
              <p:cNvPr id="35" name="Picture 5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 y="1117"/>
                <a:ext cx="589"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 name="Picture 5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 y="1304"/>
                <a:ext cx="569"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7" name="Picture 5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 y="1548"/>
                <a:ext cx="604"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 name="Picture 5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 y="1111"/>
                <a:ext cx="628"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 name="Picture 5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 y="1554"/>
                <a:ext cx="628"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3" name="Picture 52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3" y="1253"/>
              <a:ext cx="25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61" name="Rectangle 568"/>
          <p:cNvSpPr>
            <a:spLocks noChangeArrowheads="1"/>
          </p:cNvSpPr>
          <p:nvPr/>
        </p:nvSpPr>
        <p:spPr bwMode="auto">
          <a:xfrm>
            <a:off x="166687" y="4764702"/>
            <a:ext cx="3262313"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13</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giải</a:t>
            </a:r>
            <a:r>
              <a:rPr lang="en-US" altLang="ko-KR" sz="950" smtClean="0">
                <a:latin typeface="Arial" panose="020B0604020202020204" pitchFamily="34" charset="0"/>
                <a:cs typeface="Arial" panose="020B0604020202020204" pitchFamily="34" charset="0"/>
              </a:rPr>
              <a:t> thích nào sai?</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A. </a:t>
            </a:r>
            <a:r>
              <a:rPr lang="en-US" altLang="ko-KR" sz="950" dirty="0" smtClean="0">
                <a:latin typeface="Arial" panose="020B0604020202020204" pitchFamily="34" charset="0"/>
                <a:cs typeface="Arial" panose="020B0604020202020204" pitchFamily="34" charset="0"/>
              </a:rPr>
              <a:t>Electron </a:t>
            </a:r>
            <a:r>
              <a:rPr lang="en-US" altLang="ko-KR" sz="950" dirty="0" err="1" smtClean="0">
                <a:latin typeface="Arial" panose="020B0604020202020204" pitchFamily="34" charset="0"/>
                <a:cs typeface="Arial" panose="020B0604020202020204" pitchFamily="34" charset="0"/>
              </a:rPr>
              <a:t>hóa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trị</a:t>
            </a:r>
            <a:r>
              <a:rPr lang="en-US" altLang="ko-KR" sz="950" dirty="0" smtClean="0">
                <a:latin typeface="Arial" panose="020B0604020202020204" pitchFamily="34" charset="0"/>
                <a:cs typeface="Arial" panose="020B0604020202020204" pitchFamily="34" charset="0"/>
              </a:rPr>
              <a:t> :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các</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tồn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tại</a:t>
            </a:r>
            <a:r>
              <a:rPr lang="en-US" altLang="ko-KR" sz="950" dirty="0" smtClean="0">
                <a:latin typeface="Arial" panose="020B0604020202020204" pitchFamily="34" charset="0"/>
                <a:cs typeface="Arial" panose="020B0604020202020204" pitchFamily="34" charset="0"/>
              </a:rPr>
              <a:t> ở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ngoài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lực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liên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kết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với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hạt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nhân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yếu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dễ</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rời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ra</a:t>
            </a:r>
            <a:r>
              <a:rPr lang="ko-KR" altLang="en-US" sz="950" dirty="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B. </a:t>
            </a:r>
            <a:r>
              <a:rPr lang="en-US" altLang="ko-KR" sz="950" dirty="0" err="1" smtClean="0">
                <a:latin typeface="Arial" panose="020B0604020202020204" pitchFamily="34" charset="0"/>
                <a:cs typeface="Arial" panose="020B0604020202020204" pitchFamily="34" charset="0"/>
              </a:rPr>
              <a:t>Vỏ</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Vỏ</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electrong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hình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tròn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nhất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định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xoay</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quanh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hạt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nhân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C. </a:t>
            </a:r>
            <a:r>
              <a:rPr lang="en-US" altLang="ko-KR" sz="950" dirty="0" err="1" smtClean="0">
                <a:latin typeface="Arial" panose="020B0604020202020204" pitchFamily="34" charset="0"/>
                <a:cs typeface="Arial" panose="020B0604020202020204" pitchFamily="34" charset="0"/>
              </a:rPr>
              <a:t>Các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vỏ</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theo</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thứ</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tự</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từ</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xa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hạt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nhân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tới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gọi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K</a:t>
            </a:r>
            <a:r>
              <a:rPr lang="ko-KR" altLang="en-US"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L</a:t>
            </a:r>
            <a:r>
              <a:rPr lang="ko-KR" altLang="en-US"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M</a:t>
            </a:r>
            <a:r>
              <a:rPr lang="ko-KR" altLang="en-US"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N</a:t>
            </a:r>
            <a:r>
              <a:rPr lang="ko-KR" altLang="en-US" sz="950" dirty="0" smtClean="0">
                <a:latin typeface="Arial" panose="020B0604020202020204" pitchFamily="34" charset="0"/>
                <a:cs typeface="Arial" panose="020B0604020202020204" pitchFamily="34" charset="0"/>
              </a:rPr>
              <a:t>→</a:t>
            </a:r>
            <a:r>
              <a:rPr lang="en-US" altLang="ko-KR" sz="950" dirty="0" smtClean="0">
                <a:latin typeface="Arial" panose="020B0604020202020204" pitchFamily="34" charset="0"/>
                <a:cs typeface="Arial" panose="020B0604020202020204" pitchFamily="34" charset="0"/>
              </a:rPr>
              <a:t>…</a:t>
            </a:r>
            <a:endParaRPr lang="ko-KR" altLang="en-US" sz="950" dirty="0" smtClean="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D.</a:t>
            </a:r>
            <a:r>
              <a:rPr lang="ko-KR" altLang="en-US" sz="95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Electron </a:t>
            </a:r>
            <a:r>
              <a:rPr lang="en-US" altLang="ko-KR" sz="950" dirty="0" err="1" smtClean="0">
                <a:latin typeface="Arial" panose="020B0604020202020204" pitchFamily="34" charset="0"/>
                <a:cs typeface="Arial" panose="020B0604020202020204" pitchFamily="34" charset="0"/>
              </a:rPr>
              <a:t>tự</a:t>
            </a:r>
            <a:r>
              <a:rPr lang="en-US" altLang="ko-KR" sz="950" dirty="0" smtClean="0">
                <a:latin typeface="Arial" panose="020B0604020202020204" pitchFamily="34" charset="0"/>
                <a:cs typeface="Arial" panose="020B0604020202020204" pitchFamily="34" charset="0"/>
              </a:rPr>
              <a:t> do: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các</a:t>
            </a:r>
            <a:r>
              <a:rPr lang="en-US" altLang="ko-KR" sz="950" dirty="0" smtClean="0">
                <a:latin typeface="Arial" panose="020B0604020202020204" pitchFamily="34" charset="0"/>
                <a:cs typeface="Arial" panose="020B0604020202020204" pitchFamily="34" charset="0"/>
              </a:rPr>
              <a:t> Electron ở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ngoài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 electron </a:t>
            </a:r>
            <a:r>
              <a:rPr lang="en-US" altLang="ko-KR" sz="950" dirty="0" err="1" smtClean="0">
                <a:latin typeface="Arial" panose="020B0604020202020204" pitchFamily="34" charset="0"/>
                <a:cs typeface="Arial" panose="020B0604020202020204" pitchFamily="34" charset="0"/>
              </a:rPr>
              <a:t>hóa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trị</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đã</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nhận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đủ</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năng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tách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khỏi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liên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kết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endParaRPr lang="ko-KR" altLang="en-US" sz="950" dirty="0">
              <a:latin typeface="Arial" panose="020B0604020202020204" pitchFamily="34" charset="0"/>
              <a:cs typeface="Arial" panose="020B0604020202020204" pitchFamily="34" charset="0"/>
            </a:endParaRPr>
          </a:p>
        </p:txBody>
      </p:sp>
      <p:sp>
        <p:nvSpPr>
          <p:cNvPr id="62" name="Rectangle 574"/>
          <p:cNvSpPr>
            <a:spLocks noChangeArrowheads="1"/>
          </p:cNvSpPr>
          <p:nvPr/>
        </p:nvSpPr>
        <p:spPr bwMode="auto">
          <a:xfrm>
            <a:off x="156378" y="6789638"/>
            <a:ext cx="3272622"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14</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không</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phải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giải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thích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về</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dòng</a:t>
            </a:r>
            <a:r>
              <a:rPr lang="en-US" altLang="ko-KR" sz="950" smtClean="0">
                <a:latin typeface="Arial" panose="020B0604020202020204" pitchFamily="34" charset="0"/>
                <a:cs typeface="Arial" panose="020B0604020202020204" pitchFamily="34" charset="0"/>
              </a:rPr>
              <a:t> điện?</a:t>
            </a:r>
            <a:endParaRPr lang="en-US" altLang="ko-KR" sz="950" dirty="0">
              <a:latin typeface="Arial" panose="020B0604020202020204" pitchFamily="34" charset="0"/>
              <a:cs typeface="Arial" panose="020B0604020202020204" pitchFamily="34" charset="0"/>
            </a:endParaRPr>
          </a:p>
          <a:p>
            <a:pPr marL="109538" indent="-109538" eaLnBrk="1" hangingPunct="1"/>
            <a:r>
              <a:rPr lang="en-US" altLang="ko-KR" sz="950" smtClean="0">
                <a:latin typeface="Arial" panose="020B0604020202020204" pitchFamily="34" charset="0"/>
                <a:cs typeface="Arial" panose="020B0604020202020204" pitchFamily="34" charset="0"/>
              </a:rPr>
              <a:t>A. </a:t>
            </a:r>
            <a:r>
              <a:rPr lang="en-US" altLang="ko-KR" sz="950" dirty="0" err="1" smtClean="0">
                <a:latin typeface="Arial" panose="020B0604020202020204" pitchFamily="34" charset="0"/>
                <a:cs typeface="Arial" panose="020B0604020202020204" pitchFamily="34" charset="0"/>
              </a:rPr>
              <a:t>Cường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độ</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di </a:t>
            </a:r>
            <a:r>
              <a:rPr lang="en-US" altLang="ko-KR" sz="950" dirty="0" err="1" smtClean="0">
                <a:latin typeface="Arial" panose="020B0604020202020204" pitchFamily="34" charset="0"/>
                <a:cs typeface="Arial" panose="020B0604020202020204" pitchFamily="34" charset="0"/>
              </a:rPr>
              <a:t>chuyển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chất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dẫn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1 </a:t>
            </a:r>
            <a:r>
              <a:rPr lang="en-US" altLang="ko-KR" sz="950" dirty="0" err="1" smtClean="0">
                <a:latin typeface="Arial" panose="020B0604020202020204" pitchFamily="34" charset="0"/>
                <a:cs typeface="Arial" panose="020B0604020202020204" pitchFamily="34" charset="0"/>
              </a:rPr>
              <a:t>giây</a:t>
            </a:r>
            <a:endParaRPr lang="ko-KR" altLang="en-US"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vị</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Ampe</a:t>
            </a:r>
            <a:r>
              <a:rPr lang="en-US" altLang="ko-KR" sz="950" dirty="0" smtClean="0">
                <a:latin typeface="Arial" panose="020B0604020202020204" pitchFamily="34" charset="0"/>
                <a:cs typeface="Arial" panose="020B0604020202020204" pitchFamily="34" charset="0"/>
              </a:rPr>
              <a:t> [A</a:t>
            </a:r>
            <a:r>
              <a:rPr lang="en-US" altLang="ko-KR" sz="950" dirty="0">
                <a:latin typeface="Arial" panose="020B0604020202020204" pitchFamily="34" charset="0"/>
                <a:cs typeface="Arial" panose="020B0604020202020204" pitchFamily="34" charset="0"/>
              </a:rPr>
              <a:t>]</a:t>
            </a:r>
          </a:p>
          <a:p>
            <a:pPr eaLnBrk="1" hangingPunct="1"/>
            <a:r>
              <a:rPr lang="en-US" altLang="ko-KR" sz="950" smtClean="0">
                <a:latin typeface="Arial" panose="020B0604020202020204" pitchFamily="34" charset="0"/>
                <a:cs typeface="Arial" panose="020B0604020202020204" pitchFamily="34" charset="0"/>
              </a:rPr>
              <a:t>C. </a:t>
            </a:r>
            <a:r>
              <a:rPr lang="en-US" altLang="ko-KR" sz="950" dirty="0" err="1" smtClean="0">
                <a:latin typeface="Arial" panose="020B0604020202020204" pitchFamily="34" charset="0"/>
                <a:cs typeface="Arial" panose="020B0604020202020204" pitchFamily="34" charset="0"/>
              </a:rPr>
              <a:t>Công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thức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tính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I=Q/T </a:t>
            </a:r>
            <a:r>
              <a:rPr lang="en-US" altLang="ko-KR" sz="950" dirty="0">
                <a:latin typeface="Arial" panose="020B0604020202020204" pitchFamily="34" charset="0"/>
                <a:cs typeface="Arial" panose="020B0604020202020204" pitchFamily="34" charset="0"/>
              </a:rPr>
              <a:t>[A]</a:t>
            </a:r>
          </a:p>
          <a:p>
            <a:pPr marL="109538" indent="-109538" eaLnBrk="1" hangingPunct="1"/>
            <a:r>
              <a:rPr lang="en-US" altLang="ko-KR" sz="950" smtClean="0">
                <a:latin typeface="Arial" panose="020B0604020202020204" pitchFamily="34" charset="0"/>
                <a:cs typeface="Arial" panose="020B0604020202020204" pitchFamily="34" charset="0"/>
              </a:rPr>
              <a:t>D. </a:t>
            </a:r>
            <a:r>
              <a:rPr lang="en-US" altLang="ko-KR" sz="950" dirty="0" err="1" smtClean="0">
                <a:latin typeface="Arial" panose="020B0604020202020204" pitchFamily="34" charset="0"/>
                <a:cs typeface="Arial" panose="020B0604020202020204" pitchFamily="34" charset="0"/>
              </a:rPr>
              <a:t>Nếu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1 </a:t>
            </a:r>
            <a:r>
              <a:rPr lang="en-US" altLang="ko-KR" sz="950" dirty="0" err="1" smtClean="0">
                <a:latin typeface="Arial" panose="020B0604020202020204" pitchFamily="34" charset="0"/>
                <a:cs typeface="Arial" panose="020B0604020202020204" pitchFamily="34" charset="0"/>
              </a:rPr>
              <a:t>phút</a:t>
            </a:r>
            <a:r>
              <a:rPr lang="en-US" altLang="ko-KR" sz="950" dirty="0" smtClean="0">
                <a:latin typeface="Arial" panose="020B0604020202020204" pitchFamily="34" charset="0"/>
                <a:cs typeface="Arial" panose="020B0604020202020204" pitchFamily="34" charset="0"/>
              </a:rPr>
              <a:t> di </a:t>
            </a:r>
            <a:r>
              <a:rPr lang="en-US" altLang="ko-KR" sz="950" dirty="0" err="1" smtClean="0">
                <a:latin typeface="Arial" panose="020B0604020202020204" pitchFamily="34" charset="0"/>
                <a:cs typeface="Arial" panose="020B0604020202020204" pitchFamily="34" charset="0"/>
              </a:rPr>
              <a:t>chuyển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một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1[C] </a:t>
            </a:r>
            <a:r>
              <a:rPr lang="en-US" altLang="ko-KR" sz="950" dirty="0" err="1" smtClean="0">
                <a:latin typeface="Arial" panose="020B0604020202020204" pitchFamily="34" charset="0"/>
                <a:cs typeface="Arial" panose="020B0604020202020204" pitchFamily="34" charset="0"/>
              </a:rPr>
              <a:t>thì</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cường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độ</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1[A].</a:t>
            </a:r>
            <a:endParaRPr lang="en-US" altLang="ko-KR" sz="950" dirty="0">
              <a:latin typeface="Arial" panose="020B0604020202020204" pitchFamily="34" charset="0"/>
              <a:cs typeface="Arial" panose="020B0604020202020204" pitchFamily="34" charset="0"/>
            </a:endParaRPr>
          </a:p>
        </p:txBody>
      </p:sp>
      <p:sp>
        <p:nvSpPr>
          <p:cNvPr id="63" name="Rectangle 576"/>
          <p:cNvSpPr>
            <a:spLocks noChangeArrowheads="1"/>
          </p:cNvSpPr>
          <p:nvPr/>
        </p:nvSpPr>
        <p:spPr bwMode="auto">
          <a:xfrm>
            <a:off x="116632" y="8481392"/>
            <a:ext cx="332341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latin typeface="Arial" panose="020B0604020202020204" pitchFamily="34" charset="0"/>
                <a:ea typeface="돋움" pitchFamily="50" charset="-127"/>
                <a:cs typeface="Arial" panose="020B0604020202020204" pitchFamily="34" charset="0"/>
              </a:rPr>
              <a:t>15</a:t>
            </a:r>
            <a:r>
              <a:rPr lang="en-US" altLang="ko-KR" sz="950" dirty="0">
                <a:latin typeface="Arial" panose="020B0604020202020204" pitchFamily="34" charset="0"/>
                <a:ea typeface="돋움" pitchFamily="50" charset="-127"/>
                <a:cs typeface="Arial" panose="020B0604020202020204" pitchFamily="34" charset="0"/>
              </a:rPr>
              <a:t>. </a:t>
            </a:r>
            <a:r>
              <a:rPr lang="en-US" altLang="ko-KR" sz="950" dirty="0" smtClean="0">
                <a:latin typeface="Arial" panose="020B0604020202020204" pitchFamily="34" charset="0"/>
                <a:ea typeface="돋움" pitchFamily="50" charset="-127"/>
                <a:cs typeface="Arial" panose="020B0604020202020204" pitchFamily="34" charset="0"/>
              </a:rPr>
              <a:t>Ở </a:t>
            </a:r>
            <a:r>
              <a:rPr lang="en-US" altLang="ko-KR" sz="950" dirty="0" err="1" smtClean="0">
                <a:latin typeface="Arial" panose="020B0604020202020204" pitchFamily="34" charset="0"/>
                <a:ea typeface="돋움" pitchFamily="50" charset="-127"/>
                <a:cs typeface="Arial" panose="020B0604020202020204" pitchFamily="34" charset="0"/>
              </a:rPr>
              <a:t>Hàn</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Quốc</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dùng</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tần</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số</a:t>
            </a:r>
            <a:r>
              <a:rPr lang="ko-KR" altLang="en-US" sz="950" dirty="0" smtClean="0">
                <a:latin typeface="Arial" panose="020B0604020202020204" pitchFamily="34" charset="0"/>
                <a:ea typeface="돋움" pitchFamily="50" charset="-127"/>
                <a:cs typeface="Arial" panose="020B0604020202020204" pitchFamily="34" charset="0"/>
              </a:rPr>
              <a:t> </a:t>
            </a:r>
            <a:r>
              <a:rPr lang="en-US" altLang="ko-KR" sz="950" dirty="0">
                <a:latin typeface="Arial" panose="020B0604020202020204" pitchFamily="34" charset="0"/>
                <a:ea typeface="돋움" pitchFamily="50" charset="-127"/>
                <a:cs typeface="Arial" panose="020B0604020202020204" pitchFamily="34" charset="0"/>
              </a:rPr>
              <a:t>60[Hz</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nếu</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dùng</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một</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pha</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err="1" smtClean="0">
                <a:latin typeface="Arial" panose="020B0604020202020204" pitchFamily="34" charset="0"/>
                <a:ea typeface="돋움" pitchFamily="50" charset="-127"/>
                <a:cs typeface="Arial" panose="020B0604020202020204" pitchFamily="34" charset="0"/>
              </a:rPr>
              <a:t>thì</a:t>
            </a:r>
            <a:r>
              <a:rPr lang="en-US" altLang="ko-KR" sz="950" smtClean="0">
                <a:latin typeface="Arial" panose="020B0604020202020204" pitchFamily="34" charset="0"/>
                <a:ea typeface="돋움" pitchFamily="50" charset="-127"/>
                <a:cs typeface="Arial" panose="020B0604020202020204" pitchFamily="34" charset="0"/>
              </a:rPr>
              <a:t> hiệu</a:t>
            </a:r>
            <a:r>
              <a:rPr lang="en-US" altLang="ko-KR" sz="950">
                <a:latin typeface="Arial" panose="020B0604020202020204" pitchFamily="34" charset="0"/>
                <a:ea typeface="돋움" pitchFamily="50" charset="-127"/>
                <a:cs typeface="Arial" panose="020B0604020202020204" pitchFamily="34" charset="0"/>
              </a:rPr>
              <a:t> </a:t>
            </a:r>
            <a:r>
              <a:rPr lang="en-US" altLang="ko-KR" sz="950" smtClean="0">
                <a:latin typeface="Arial" panose="020B0604020202020204" pitchFamily="34" charset="0"/>
                <a:ea typeface="돋움" pitchFamily="50" charset="-127"/>
                <a:cs typeface="Arial" panose="020B0604020202020204" pitchFamily="34" charset="0"/>
              </a:rPr>
              <a:t>số pha là </a:t>
            </a:r>
            <a:r>
              <a:rPr lang="en-US" altLang="ko-KR" sz="950" dirty="0" err="1" smtClean="0">
                <a:latin typeface="Arial" panose="020B0604020202020204" pitchFamily="34" charset="0"/>
                <a:ea typeface="돋움" pitchFamily="50" charset="-127"/>
                <a:cs typeface="Arial" panose="020B0604020202020204" pitchFamily="34" charset="0"/>
              </a:rPr>
              <a:t>bao</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err="1" smtClean="0">
                <a:latin typeface="Arial" panose="020B0604020202020204" pitchFamily="34" charset="0"/>
                <a:ea typeface="돋움" pitchFamily="50" charset="-127"/>
                <a:cs typeface="Arial" panose="020B0604020202020204" pitchFamily="34" charset="0"/>
              </a:rPr>
              <a:t>nhiêu</a:t>
            </a:r>
            <a:r>
              <a:rPr lang="en-US" altLang="ko-KR" sz="950" smtClean="0">
                <a:latin typeface="Arial" panose="020B0604020202020204" pitchFamily="34" charset="0"/>
                <a:ea typeface="돋움" pitchFamily="50" charset="-127"/>
                <a:cs typeface="Arial" panose="020B0604020202020204" pitchFamily="34" charset="0"/>
              </a:rPr>
              <a:t>?</a:t>
            </a:r>
            <a:endParaRPr lang="en-US" altLang="ko-KR" sz="950" dirty="0">
              <a:latin typeface="Arial" panose="020B0604020202020204" pitchFamily="34" charset="0"/>
              <a:ea typeface="돋움" pitchFamily="50" charset="-127"/>
              <a:cs typeface="Arial" panose="020B0604020202020204" pitchFamily="34" charset="0"/>
            </a:endParaRPr>
          </a:p>
          <a:p>
            <a:pPr eaLnBrk="1" hangingPunct="1"/>
            <a:r>
              <a:rPr lang="en-US" altLang="ko-KR" sz="950">
                <a:latin typeface="Arial" panose="020B0604020202020204" pitchFamily="34" charset="0"/>
                <a:ea typeface="돋움" pitchFamily="50" charset="-127"/>
                <a:cs typeface="Arial" panose="020B0604020202020204" pitchFamily="34" charset="0"/>
              </a:rPr>
              <a:t> </a:t>
            </a:r>
            <a:endParaRPr lang="en-US" altLang="ko-KR" sz="950" smtClean="0">
              <a:latin typeface="Arial" panose="020B0604020202020204" pitchFamily="34" charset="0"/>
              <a:ea typeface="돋움" pitchFamily="50" charset="-127"/>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A. </a:t>
            </a:r>
            <a:r>
              <a:rPr lang="en-US" altLang="ko-KR" sz="950" dirty="0">
                <a:latin typeface="Arial" panose="020B0604020202020204" pitchFamily="34" charset="0"/>
                <a:cs typeface="Arial" panose="020B0604020202020204" pitchFamily="34" charset="0"/>
              </a:rPr>
              <a:t>180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B. </a:t>
            </a:r>
            <a:r>
              <a:rPr lang="en-US" altLang="ko-KR" sz="950" dirty="0">
                <a:latin typeface="Arial" panose="020B0604020202020204" pitchFamily="34" charset="0"/>
                <a:cs typeface="Arial" panose="020B0604020202020204" pitchFamily="34" charset="0"/>
              </a:rPr>
              <a:t>150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C. </a:t>
            </a:r>
            <a:r>
              <a:rPr lang="en-US" altLang="ko-KR" sz="950" dirty="0">
                <a:latin typeface="Arial" panose="020B0604020202020204" pitchFamily="34" charset="0"/>
                <a:cs typeface="Arial" panose="020B0604020202020204" pitchFamily="34" charset="0"/>
              </a:rPr>
              <a:t>120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D. </a:t>
            </a:r>
            <a:r>
              <a:rPr lang="en-US" altLang="ko-KR" sz="950">
                <a:latin typeface="Arial" panose="020B0604020202020204" pitchFamily="34" charset="0"/>
                <a:cs typeface="Arial" panose="020B0604020202020204" pitchFamily="34" charset="0"/>
              </a:rPr>
              <a:t>90</a:t>
            </a:r>
            <a:r>
              <a:rPr lang="en-US" altLang="ko-KR" sz="95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p:txBody>
      </p:sp>
      <p:grpSp>
        <p:nvGrpSpPr>
          <p:cNvPr id="64" name="Group 587"/>
          <p:cNvGrpSpPr>
            <a:grpSpLocks/>
          </p:cNvGrpSpPr>
          <p:nvPr/>
        </p:nvGrpSpPr>
        <p:grpSpPr bwMode="auto">
          <a:xfrm>
            <a:off x="3625455" y="1521185"/>
            <a:ext cx="2924175" cy="1042308"/>
            <a:chOff x="2166" y="3522"/>
            <a:chExt cx="1964" cy="918"/>
          </a:xfrm>
        </p:grpSpPr>
        <p:pic>
          <p:nvPicPr>
            <p:cNvPr id="65" name="Picture 577" descr="ScreenHunter_0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6" y="3522"/>
              <a:ext cx="1964"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Rectangle 578"/>
            <p:cNvSpPr>
              <a:spLocks noChangeArrowheads="1"/>
            </p:cNvSpPr>
            <p:nvPr/>
          </p:nvSpPr>
          <p:spPr bwMode="auto">
            <a:xfrm>
              <a:off x="2468" y="3787"/>
              <a:ext cx="318" cy="90"/>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smtClean="0">
                  <a:latin typeface="Arial" pitchFamily="34" charset="0"/>
                  <a:cs typeface="Arial" panose="020B0604020202020204" pitchFamily="34" charset="0"/>
                </a:rPr>
                <a:t>A.</a:t>
              </a:r>
              <a:endParaRPr lang="en-US" altLang="ko-KR" sz="950">
                <a:latin typeface="Arial" panose="020B0604020202020204" pitchFamily="34" charset="0"/>
                <a:cs typeface="Arial" panose="020B0604020202020204" pitchFamily="34" charset="0"/>
              </a:endParaRPr>
            </a:p>
          </p:txBody>
        </p:sp>
        <p:sp>
          <p:nvSpPr>
            <p:cNvPr id="67" name="Rectangle 579"/>
            <p:cNvSpPr>
              <a:spLocks noChangeArrowheads="1"/>
            </p:cNvSpPr>
            <p:nvPr/>
          </p:nvSpPr>
          <p:spPr bwMode="auto">
            <a:xfrm>
              <a:off x="2912" y="3841"/>
              <a:ext cx="318" cy="96"/>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B.</a:t>
              </a:r>
              <a:endParaRPr lang="en-US" altLang="ko-KR" sz="950">
                <a:latin typeface="Arial" panose="020B0604020202020204" pitchFamily="34" charset="0"/>
                <a:cs typeface="Arial" panose="020B0604020202020204" pitchFamily="34" charset="0"/>
              </a:endParaRPr>
            </a:p>
          </p:txBody>
        </p:sp>
        <p:sp>
          <p:nvSpPr>
            <p:cNvPr id="68" name="Rectangle 580"/>
            <p:cNvSpPr>
              <a:spLocks noChangeArrowheads="1"/>
            </p:cNvSpPr>
            <p:nvPr/>
          </p:nvSpPr>
          <p:spPr bwMode="auto">
            <a:xfrm>
              <a:off x="3255" y="3835"/>
              <a:ext cx="318" cy="96"/>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C.</a:t>
              </a:r>
              <a:endParaRPr lang="en-US" altLang="ko-KR" sz="950">
                <a:latin typeface="Arial" panose="020B0604020202020204" pitchFamily="34" charset="0"/>
                <a:cs typeface="Arial" panose="020B0604020202020204" pitchFamily="34" charset="0"/>
              </a:endParaRPr>
            </a:p>
          </p:txBody>
        </p:sp>
        <p:sp>
          <p:nvSpPr>
            <p:cNvPr id="69" name="Rectangle 581"/>
            <p:cNvSpPr>
              <a:spLocks noChangeArrowheads="1"/>
            </p:cNvSpPr>
            <p:nvPr/>
          </p:nvSpPr>
          <p:spPr bwMode="auto">
            <a:xfrm>
              <a:off x="3536" y="4060"/>
              <a:ext cx="588" cy="129"/>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D.</a:t>
              </a:r>
              <a:endParaRPr lang="en-US" altLang="ko-KR" sz="950">
                <a:latin typeface="Arial" panose="020B0604020202020204" pitchFamily="34" charset="0"/>
                <a:cs typeface="Arial" panose="020B0604020202020204" pitchFamily="34" charset="0"/>
              </a:endParaRPr>
            </a:p>
          </p:txBody>
        </p:sp>
        <p:sp>
          <p:nvSpPr>
            <p:cNvPr id="70" name="Rectangle 582"/>
            <p:cNvSpPr>
              <a:spLocks noChangeArrowheads="1"/>
            </p:cNvSpPr>
            <p:nvPr/>
          </p:nvSpPr>
          <p:spPr bwMode="auto">
            <a:xfrm>
              <a:off x="2498" y="4189"/>
              <a:ext cx="318" cy="84"/>
            </a:xfrm>
            <a:prstGeom prst="rect">
              <a:avLst/>
            </a:prstGeom>
            <a:solidFill>
              <a:srgbClr val="FFFFFF"/>
            </a:solidFill>
            <a:ln w="9525">
              <a:solidFill>
                <a:srgbClr val="000000"/>
              </a:solidFill>
              <a:miter lim="800000"/>
              <a:headEnd/>
              <a:tailEnd/>
            </a:ln>
          </p:spPr>
          <p:txBody>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Arial" pitchFamily="34" charset="0"/>
                <a:cs typeface="Arial" panose="020B0604020202020204" pitchFamily="34" charset="0"/>
              </a:endParaRPr>
            </a:p>
          </p:txBody>
        </p:sp>
      </p:grpSp>
      <p:sp>
        <p:nvSpPr>
          <p:cNvPr id="71" name="Rectangle 70"/>
          <p:cNvSpPr/>
          <p:nvPr/>
        </p:nvSpPr>
        <p:spPr>
          <a:xfrm>
            <a:off x="188548" y="3045222"/>
            <a:ext cx="3096430" cy="1115690"/>
          </a:xfrm>
          <a:prstGeom prst="rect">
            <a:avLst/>
          </a:prstGeom>
        </p:spPr>
        <p:txBody>
          <a:bodyPr wrap="square">
            <a:spAutoFit/>
          </a:bodyPr>
          <a:lstStyle/>
          <a:p>
            <a:pPr marL="109538" indent="-109538"/>
            <a:r>
              <a:rPr lang="en-US" altLang="ko-KR" sz="950" smtClean="0">
                <a:latin typeface="Arial" pitchFamily="34" charset="0"/>
                <a:ea typeface="돋움" pitchFamily="50" charset="-127"/>
                <a:cs typeface="Arial" pitchFamily="34" charset="0"/>
              </a:rPr>
              <a:t>1</a:t>
            </a:r>
            <a:r>
              <a:rPr lang="vi-VN" altLang="ko-KR" sz="950" smtClean="0">
                <a:latin typeface="Arial" pitchFamily="34" charset="0"/>
                <a:ea typeface="돋움" pitchFamily="50" charset="-127"/>
                <a:cs typeface="Arial" pitchFamily="34" charset="0"/>
              </a:rPr>
              <a:t>2</a:t>
            </a:r>
            <a:r>
              <a:rPr lang="vi-VN" altLang="ko-KR" sz="950">
                <a:latin typeface="Arial" pitchFamily="34" charset="0"/>
                <a:ea typeface="돋움" pitchFamily="50" charset="-127"/>
                <a:cs typeface="Arial" pitchFamily="34" charset="0"/>
              </a:rPr>
              <a:t>. Hiện tượng suất điện động xảy ra khi từ thông đi qua cuộn dây bị thay đổi là gì?</a:t>
            </a:r>
          </a:p>
          <a:p>
            <a:r>
              <a:rPr lang="en-US" altLang="ko-KR" sz="950">
                <a:latin typeface="Arial" pitchFamily="34" charset="0"/>
                <a:ea typeface="돋움" pitchFamily="50" charset="-127"/>
                <a:cs typeface="Arial" pitchFamily="34" charset="0"/>
              </a:rPr>
              <a:t>  </a:t>
            </a:r>
          </a:p>
          <a:p>
            <a:r>
              <a:rPr lang="vi-VN"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A</a:t>
            </a:r>
            <a:r>
              <a:rPr lang="vi-VN" altLang="ko-KR" sz="950" smtClean="0">
                <a:latin typeface="Arial" pitchFamily="34" charset="0"/>
                <a:ea typeface="돋움" pitchFamily="50" charset="-127"/>
                <a:cs typeface="Arial" pitchFamily="34" charset="0"/>
              </a:rPr>
              <a:t> </a:t>
            </a:r>
            <a:r>
              <a:rPr lang="en-US" altLang="ko-KR" sz="950">
                <a:latin typeface="Arial" pitchFamily="34" charset="0"/>
                <a:ea typeface="돋움" pitchFamily="50" charset="-127"/>
                <a:cs typeface="Arial" pitchFamily="34" charset="0"/>
              </a:rPr>
              <a:t>C</a:t>
            </a:r>
            <a:r>
              <a:rPr lang="vi-VN" altLang="ko-KR" sz="950">
                <a:latin typeface="Arial" pitchFamily="34" charset="0"/>
                <a:ea typeface="돋움" pitchFamily="50" charset="-127"/>
                <a:cs typeface="Arial" pitchFamily="34" charset="0"/>
              </a:rPr>
              <a:t>ảm ứng điện từ</a:t>
            </a:r>
          </a:p>
          <a:p>
            <a:r>
              <a:rPr lang="vi-VN"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B</a:t>
            </a:r>
            <a:r>
              <a:rPr lang="vi-VN" altLang="ko-KR" sz="950" smtClean="0">
                <a:latin typeface="Arial" pitchFamily="34" charset="0"/>
                <a:ea typeface="돋움" pitchFamily="50" charset="-127"/>
                <a:cs typeface="Arial" pitchFamily="34" charset="0"/>
              </a:rPr>
              <a:t> </a:t>
            </a:r>
            <a:r>
              <a:rPr lang="vi-VN" altLang="ko-KR" sz="950">
                <a:latin typeface="Arial" pitchFamily="34" charset="0"/>
                <a:ea typeface="돋움" pitchFamily="50" charset="-127"/>
                <a:cs typeface="Arial" pitchFamily="34" charset="0"/>
              </a:rPr>
              <a:t>Suất điện động cảm ứng</a:t>
            </a:r>
          </a:p>
          <a:p>
            <a:r>
              <a:rPr lang="en-US"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C </a:t>
            </a:r>
            <a:r>
              <a:rPr lang="en-US" altLang="ko-KR" sz="950">
                <a:latin typeface="Arial" pitchFamily="34" charset="0"/>
                <a:ea typeface="돋움" pitchFamily="50" charset="-127"/>
                <a:cs typeface="Arial" pitchFamily="34" charset="0"/>
              </a:rPr>
              <a:t>Định luật Lenz</a:t>
            </a:r>
          </a:p>
          <a:p>
            <a:r>
              <a:rPr lang="en-US"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D </a:t>
            </a:r>
            <a:r>
              <a:rPr lang="en-US" altLang="ko-KR" sz="950">
                <a:latin typeface="Arial" pitchFamily="34" charset="0"/>
                <a:ea typeface="돋움" pitchFamily="50" charset="-127"/>
                <a:cs typeface="Arial" pitchFamily="34" charset="0"/>
              </a:rPr>
              <a:t>Điện cảm</a:t>
            </a:r>
          </a:p>
        </p:txBody>
      </p:sp>
      <p:sp>
        <p:nvSpPr>
          <p:cNvPr id="72" name="직사각형 47"/>
          <p:cNvSpPr>
            <a:spLocks noChangeArrowheads="1"/>
          </p:cNvSpPr>
          <p:nvPr/>
        </p:nvSpPr>
        <p:spPr bwMode="auto">
          <a:xfrm>
            <a:off x="3384376" y="1136576"/>
            <a:ext cx="3429000"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ko-KR" sz="950" smtClean="0">
                <a:latin typeface="Arial" panose="020B0604020202020204" pitchFamily="34" charset="0"/>
                <a:cs typeface="Arial" panose="020B0604020202020204" pitchFamily="34" charset="0"/>
              </a:rPr>
              <a:t>16</a:t>
            </a:r>
            <a:r>
              <a:rPr lang="en-US" altLang="ko-KR" sz="950">
                <a:latin typeface="Arial" panose="020B0604020202020204" pitchFamily="34" charset="0"/>
                <a:cs typeface="Arial" panose="020B0604020202020204" pitchFamily="34" charset="0"/>
              </a:rPr>
              <a:t>. Nhìn hình dưới đây và tìm giá trị hiệu </a:t>
            </a:r>
            <a:r>
              <a:rPr lang="en-US" altLang="ko-KR" sz="950" smtClean="0">
                <a:latin typeface="Arial" panose="020B0604020202020204" pitchFamily="34" charset="0"/>
                <a:cs typeface="Arial" panose="020B0604020202020204" pitchFamily="34" charset="0"/>
              </a:rPr>
              <a:t>dụng đúng vị trí?</a:t>
            </a:r>
            <a:endParaRPr lang="en-US" altLang="ko-KR" sz="950" dirty="0">
              <a:latin typeface="Arial" panose="020B0604020202020204" pitchFamily="34" charset="0"/>
              <a:cs typeface="Arial" panose="020B0604020202020204" pitchFamily="34" charset="0"/>
            </a:endParaRPr>
          </a:p>
        </p:txBody>
      </p:sp>
      <p:sp>
        <p:nvSpPr>
          <p:cNvPr id="73" name="Rectangle 74"/>
          <p:cNvSpPr>
            <a:spLocks noChangeArrowheads="1"/>
          </p:cNvSpPr>
          <p:nvPr/>
        </p:nvSpPr>
        <p:spPr bwMode="auto">
          <a:xfrm>
            <a:off x="3429000" y="5169024"/>
            <a:ext cx="3203784"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18</a:t>
            </a:r>
            <a:r>
              <a:rPr lang="en-US" altLang="ko-KR" sz="950">
                <a:latin typeface="Arial" panose="020B0604020202020204" pitchFamily="34" charset="0"/>
                <a:cs typeface="Arial" panose="020B0604020202020204" pitchFamily="34" charset="0"/>
              </a:rPr>
              <a:t>. G</a:t>
            </a:r>
            <a:r>
              <a:rPr lang="en-US" altLang="ko-KR" sz="950" smtClean="0">
                <a:latin typeface="Arial" panose="020B0604020202020204" pitchFamily="34" charset="0"/>
                <a:cs typeface="Arial" panose="020B0604020202020204" pitchFamily="34" charset="0"/>
              </a:rPr>
              <a:t>iải </a:t>
            </a:r>
            <a:r>
              <a:rPr lang="en-US" altLang="ko-KR" sz="950" err="1" smtClean="0">
                <a:latin typeface="Arial" panose="020B0604020202020204" pitchFamily="34" charset="0"/>
                <a:cs typeface="Arial" panose="020B0604020202020204" pitchFamily="34" charset="0"/>
              </a:rPr>
              <a:t>thích</a:t>
            </a:r>
            <a:r>
              <a:rPr lang="en-US" altLang="ko-KR" sz="950" smtClean="0">
                <a:latin typeface="Arial" panose="020B0604020202020204" pitchFamily="34" charset="0"/>
                <a:cs typeface="Arial" panose="020B0604020202020204" pitchFamily="34" charset="0"/>
              </a:rPr>
              <a:t> nào sai nói về </a:t>
            </a:r>
            <a:r>
              <a:rPr lang="en-US" altLang="ko-KR" sz="950" dirty="0" err="1" smtClean="0">
                <a:latin typeface="Arial" panose="020B0604020202020204" pitchFamily="34" charset="0"/>
                <a:cs typeface="Arial" panose="020B0604020202020204" pitchFamily="34" charset="0"/>
              </a:rPr>
              <a:t>chu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kì</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tần</a:t>
            </a:r>
            <a:r>
              <a:rPr lang="en-US" altLang="ko-KR" sz="950" smtClean="0">
                <a:latin typeface="Arial" panose="020B0604020202020204" pitchFamily="34" charset="0"/>
                <a:cs typeface="Arial" panose="020B0604020202020204" pitchFamily="34" charset="0"/>
              </a:rPr>
              <a:t> số?</a:t>
            </a:r>
            <a:endParaRPr lang="en-US" altLang="ko-KR" sz="950" dirty="0">
              <a:latin typeface="Arial" panose="020B0604020202020204" pitchFamily="34" charset="0"/>
              <a:cs typeface="Arial" panose="020B0604020202020204" pitchFamily="34" charset="0"/>
            </a:endParaRPr>
          </a:p>
          <a:p>
            <a:pPr marL="174625" indent="-174625" eaLnBrk="1" hangingPunct="1"/>
            <a:r>
              <a:rPr lang="en-US" altLang="ko-KR" sz="950" smtClean="0">
                <a:latin typeface="Arial" panose="020B0604020202020204" pitchFamily="34" charset="0"/>
                <a:cs typeface="Arial" panose="020B0604020202020204" pitchFamily="34" charset="0"/>
              </a:rPr>
              <a:t>A. </a:t>
            </a:r>
            <a:r>
              <a:rPr lang="en-US" altLang="ko-KR" sz="950" dirty="0" smtClean="0">
                <a:latin typeface="Arial" panose="020B0604020202020204" pitchFamily="34" charset="0"/>
                <a:cs typeface="Arial" panose="020B0604020202020204" pitchFamily="34" charset="0"/>
              </a:rPr>
              <a:t>Chu </a:t>
            </a:r>
            <a:r>
              <a:rPr lang="en-US" altLang="ko-KR" sz="950" dirty="0" err="1" smtClean="0">
                <a:latin typeface="Arial" panose="020B0604020202020204" pitchFamily="34" charset="0"/>
                <a:cs typeface="Arial" panose="020B0604020202020204" pitchFamily="34" charset="0"/>
              </a:rPr>
              <a:t>kì</a:t>
            </a:r>
            <a:r>
              <a:rPr lang="en-US" altLang="ko-KR" sz="950" dirty="0">
                <a:latin typeface="Arial" panose="020B0604020202020204" pitchFamily="34" charset="0"/>
                <a:cs typeface="Arial" panose="020B0604020202020204" pitchFamily="34" charset="0"/>
              </a:rPr>
              <a: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Chiều</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thời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gian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một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dạng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sóng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lặp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lại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hoàn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ko-KR" altLang="en-US" sz="950" dirty="0" smtClean="0">
                <a:latin typeface="Arial" panose="020B0604020202020204" pitchFamily="34" charset="0"/>
                <a:cs typeface="Arial" panose="020B0604020202020204" pitchFamily="34" charset="0"/>
              </a:rPr>
              <a:t> </a:t>
            </a:r>
            <a:endParaRPr lang="ko-KR" altLang="en-US" sz="950" dirty="0">
              <a:latin typeface="Arial" panose="020B0604020202020204" pitchFamily="34" charset="0"/>
              <a:cs typeface="Arial" panose="020B0604020202020204" pitchFamily="34" charset="0"/>
            </a:endParaRPr>
          </a:p>
          <a:p>
            <a:pPr marL="171450" indent="-171450" eaLnBrk="1" hangingPunct="1"/>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lặp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lại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một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dạng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sóng</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hoàn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1 </a:t>
            </a:r>
            <a:r>
              <a:rPr lang="en-US" altLang="ko-KR" sz="950" dirty="0" err="1" smtClean="0">
                <a:latin typeface="Arial" panose="020B0604020202020204" pitchFamily="34" charset="0"/>
                <a:cs typeface="Arial" panose="020B0604020202020204" pitchFamily="34" charset="0"/>
              </a:rPr>
              <a:t>giây</a:t>
            </a:r>
            <a:endParaRPr lang="ko-KR" altLang="en-US"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C.</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hiệu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kì</a:t>
            </a:r>
            <a:r>
              <a:rPr lang="en-US" altLang="ko-KR" sz="950" dirty="0" smtClean="0">
                <a:latin typeface="Arial" panose="020B0604020202020204" pitchFamily="34" charset="0"/>
                <a:cs typeface="Arial" panose="020B0604020202020204" pitchFamily="34" charset="0"/>
              </a:rPr>
              <a:t> : T </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hiệu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f</a:t>
            </a:r>
          </a:p>
          <a:p>
            <a:pPr eaLnBrk="1" hangingPunct="1"/>
            <a:r>
              <a:rPr lang="en-US" altLang="ko-KR" sz="950" smtClean="0">
                <a:latin typeface="Arial" panose="020B0604020202020204" pitchFamily="34" charset="0"/>
                <a:cs typeface="Arial" panose="020B0604020202020204" pitchFamily="34" charset="0"/>
              </a:rPr>
              <a:t>D.</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Đơn</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vị</a:t>
            </a:r>
            <a:r>
              <a:rPr lang="en-US" altLang="ko-KR" sz="950" smtClean="0">
                <a:latin typeface="Arial" panose="020B0604020202020204" pitchFamily="34" charset="0"/>
                <a:cs typeface="Arial" panose="020B0604020202020204" pitchFamily="34" charset="0"/>
              </a:rPr>
              <a:t> chu kỳ: </a:t>
            </a:r>
            <a:r>
              <a:rPr lang="en-US" altLang="ko-KR" sz="950" dirty="0">
                <a:latin typeface="Arial" panose="020B0604020202020204" pitchFamily="34" charset="0"/>
                <a:cs typeface="Arial" panose="020B0604020202020204" pitchFamily="34" charset="0"/>
              </a:rPr>
              <a:t>Hz  </a:t>
            </a:r>
            <a:endParaRPr lang="ko-KR" altLang="en-US" sz="950" dirty="0">
              <a:latin typeface="Arial" panose="020B0604020202020204" pitchFamily="34" charset="0"/>
              <a:cs typeface="Arial" panose="020B0604020202020204" pitchFamily="34" charset="0"/>
            </a:endParaRPr>
          </a:p>
        </p:txBody>
      </p:sp>
      <p:sp>
        <p:nvSpPr>
          <p:cNvPr id="74" name="Rectangle 285"/>
          <p:cNvSpPr>
            <a:spLocks noChangeArrowheads="1"/>
          </p:cNvSpPr>
          <p:nvPr/>
        </p:nvSpPr>
        <p:spPr bwMode="auto">
          <a:xfrm>
            <a:off x="3429000" y="8526541"/>
            <a:ext cx="32757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Arial" panose="020B0604020202020204" pitchFamily="34" charset="0"/>
                <a:cs typeface="Arial" panose="020B0604020202020204" pitchFamily="34" charset="0"/>
              </a:rPr>
              <a:t>2</a:t>
            </a:r>
            <a:r>
              <a:rPr lang="en-US" altLang="ko-KR" sz="950" smtClean="0">
                <a:latin typeface="Arial" panose="020B0604020202020204" pitchFamily="34" charset="0"/>
                <a:cs typeface="Arial" panose="020B0604020202020204" pitchFamily="34" charset="0"/>
              </a:rPr>
              <a:t>0</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không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phải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cuộn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cảm</a:t>
            </a:r>
            <a:r>
              <a:rPr lang="en-US" altLang="ko-KR" sz="950" dirty="0" smtClean="0">
                <a:latin typeface="Arial" panose="020B0604020202020204" pitchFamily="34" charset="0"/>
                <a:cs typeface="Arial" panose="020B0604020202020204" pitchFamily="34" charset="0"/>
              </a:rPr>
              <a:t> ( coil inductor</a:t>
            </a:r>
            <a:r>
              <a:rPr lang="en-US" altLang="ko-KR" sz="950" smtClean="0">
                <a:latin typeface="Arial" panose="020B0604020202020204" pitchFamily="34" charset="0"/>
                <a:cs typeface="Arial" panose="020B0604020202020204" pitchFamily="34" charset="0"/>
              </a:rPr>
              <a:t>)? </a:t>
            </a:r>
            <a:endParaRPr lang="en-US" altLang="ko-KR"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 A. </a:t>
            </a:r>
            <a:r>
              <a:rPr lang="en-US" altLang="ko-KR" sz="950" dirty="0" err="1" smtClean="0">
                <a:latin typeface="Arial" panose="020B0604020202020204" pitchFamily="34" charset="0"/>
                <a:cs typeface="Arial" panose="020B0604020202020204" pitchFamily="34" charset="0"/>
              </a:rPr>
              <a:t>Cuộn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cảm</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kháng</a:t>
            </a:r>
            <a:r>
              <a:rPr lang="en-US" altLang="ko-KR" sz="950" dirty="0" smtClean="0">
                <a:latin typeface="Arial" panose="020B0604020202020204" pitchFamily="34" charset="0"/>
                <a:cs typeface="Arial" panose="020B0604020202020204" pitchFamily="34" charset="0"/>
              </a:rPr>
              <a:t> (choke coil</a:t>
            </a:r>
            <a:r>
              <a:rPr lang="en-US" altLang="ko-KR" sz="950" smtClean="0">
                <a:latin typeface="Arial" panose="020B0604020202020204" pitchFamily="34" charset="0"/>
                <a:cs typeface="Arial" panose="020B0604020202020204" pitchFamily="34" charset="0"/>
              </a:rPr>
              <a:t>)</a:t>
            </a:r>
            <a:r>
              <a:rPr lang="ko-KR" altLang="en-US" sz="950" smtClean="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a:latin typeface="Arial" panose="020B0604020202020204" pitchFamily="34" charset="0"/>
                <a:cs typeface="Arial" panose="020B0604020202020204" pitchFamily="34" charset="0"/>
              </a:rPr>
              <a:t>B</a:t>
            </a:r>
            <a:r>
              <a:rPr lang="en-US" altLang="ko-KR" sz="950" smtClean="0">
                <a:latin typeface="Arial" panose="020B0604020202020204" pitchFamily="34" charset="0"/>
                <a:cs typeface="Arial" panose="020B0604020202020204" pitchFamily="34" charset="0"/>
              </a:rPr>
              <a:t>ar </a:t>
            </a:r>
            <a:r>
              <a:rPr lang="en-US" altLang="ko-KR" sz="950" dirty="0" err="1" smtClean="0">
                <a:latin typeface="Arial" panose="020B0604020202020204" pitchFamily="34" charset="0"/>
                <a:cs typeface="Arial" panose="020B0604020202020204" pitchFamily="34" charset="0"/>
              </a:rPr>
              <a:t>anten</a:t>
            </a:r>
            <a:r>
              <a:rPr lang="ko-KR" altLang="en-US" sz="950" dirty="0" smtClean="0">
                <a:latin typeface="Arial" panose="020B0604020202020204" pitchFamily="34" charset="0"/>
                <a:cs typeface="Arial" panose="020B0604020202020204" pitchFamily="34" charset="0"/>
              </a:rPr>
              <a:t>  </a:t>
            </a:r>
            <a:endParaRPr lang="en-US" altLang="ko-KR" sz="950" dirty="0" smtClean="0">
              <a:latin typeface="Arial" panose="020B0604020202020204" pitchFamily="34" charset="0"/>
              <a:cs typeface="Arial" panose="020B0604020202020204" pitchFamily="34" charset="0"/>
            </a:endParaRPr>
          </a:p>
          <a:p>
            <a:pPr eaLnBrk="1" hangingPunct="1"/>
            <a:r>
              <a:rPr lang="ko-KR" altLang="en-US" sz="950" smtClean="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C.</a:t>
            </a:r>
            <a:r>
              <a:rPr lang="ko-KR" altLang="en-US" sz="95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Choke </a:t>
            </a:r>
            <a:r>
              <a:rPr lang="en-US" altLang="ko-KR" sz="950" dirty="0" err="1" smtClean="0">
                <a:latin typeface="Arial" panose="020B0604020202020204" pitchFamily="34" charset="0"/>
                <a:cs typeface="Arial" panose="020B0604020202020204" pitchFamily="34" charset="0"/>
              </a:rPr>
              <a:t>dùng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cho</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nguồn</a:t>
            </a:r>
            <a:r>
              <a:rPr lang="ko-KR" altLang="en-US" sz="950" smtClean="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D.</a:t>
            </a:r>
            <a:r>
              <a:rPr lang="ko-KR" altLang="en-US" sz="950" smtClean="0">
                <a:latin typeface="Arial" panose="020B0604020202020204" pitchFamily="34" charset="0"/>
                <a:cs typeface="Arial" panose="020B0604020202020204" pitchFamily="34" charset="0"/>
              </a:rPr>
              <a:t> </a:t>
            </a:r>
            <a:r>
              <a:rPr lang="en-US" altLang="ko-KR" sz="950" dirty="0" err="1">
                <a:latin typeface="Arial" panose="020B0604020202020204" pitchFamily="34" charset="0"/>
                <a:cs typeface="Arial" panose="020B0604020202020204" pitchFamily="34" charset="0"/>
              </a:rPr>
              <a:t>M</a:t>
            </a:r>
            <a:r>
              <a:rPr lang="en-US" altLang="ko-KR" sz="950" smtClean="0">
                <a:latin typeface="Arial" panose="020B0604020202020204" pitchFamily="34" charset="0"/>
                <a:cs typeface="Arial" panose="020B0604020202020204" pitchFamily="34" charset="0"/>
              </a:rPr>
              <a:t>áy </a:t>
            </a:r>
            <a:r>
              <a:rPr lang="en-US" altLang="ko-KR" sz="950" dirty="0" err="1" smtClean="0">
                <a:latin typeface="Arial" panose="020B0604020202020204" pitchFamily="34" charset="0"/>
                <a:cs typeface="Arial" panose="020B0604020202020204" pitchFamily="34" charset="0"/>
              </a:rPr>
              <a:t>biến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thế</a:t>
            </a:r>
            <a:endParaRPr lang="ko-KR" altLang="en-US" sz="950" dirty="0">
              <a:latin typeface="Arial" panose="020B0604020202020204" pitchFamily="34" charset="0"/>
              <a:cs typeface="Arial" panose="020B0604020202020204" pitchFamily="34" charset="0"/>
            </a:endParaRPr>
          </a:p>
        </p:txBody>
      </p:sp>
      <p:sp>
        <p:nvSpPr>
          <p:cNvPr id="75" name="직사각형 47"/>
          <p:cNvSpPr>
            <a:spLocks noChangeArrowheads="1"/>
          </p:cNvSpPr>
          <p:nvPr/>
        </p:nvSpPr>
        <p:spPr bwMode="auto">
          <a:xfrm>
            <a:off x="3501008" y="3416761"/>
            <a:ext cx="320378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r>
              <a:rPr lang="en-US" altLang="ko-KR" sz="950" smtClean="0">
                <a:latin typeface="Arial" pitchFamily="34" charset="0"/>
                <a:ea typeface="돋움" pitchFamily="50" charset="-127"/>
                <a:cs typeface="Arial" pitchFamily="34" charset="0"/>
              </a:rPr>
              <a:t>17. </a:t>
            </a:r>
            <a:r>
              <a:rPr lang="en-US" altLang="ko-KR" sz="950" dirty="0" err="1" smtClean="0">
                <a:latin typeface="Arial" pitchFamily="34" charset="0"/>
                <a:ea typeface="돋움" pitchFamily="50" charset="-127"/>
                <a:cs typeface="Arial" pitchFamily="34" charset="0"/>
              </a:rPr>
              <a:t>Cái</a:t>
            </a:r>
            <a:r>
              <a:rPr lang="en-US" altLang="ko-KR" sz="950" dirty="0" smtClean="0">
                <a:latin typeface="Arial" pitchFamily="34" charset="0"/>
                <a:ea typeface="돋움" pitchFamily="50" charset="-127"/>
                <a:cs typeface="Arial" pitchFamily="34" charset="0"/>
              </a:rPr>
              <a:t> </a:t>
            </a:r>
            <a:r>
              <a:rPr lang="en-US" altLang="ko-KR" sz="950" err="1" smtClean="0">
                <a:latin typeface="Arial" pitchFamily="34" charset="0"/>
                <a:ea typeface="돋움" pitchFamily="50" charset="-127"/>
                <a:cs typeface="Arial" pitchFamily="34" charset="0"/>
              </a:rPr>
              <a:t>nào</a:t>
            </a:r>
            <a:r>
              <a:rPr lang="en-US" altLang="ko-KR" sz="950" smtClean="0">
                <a:latin typeface="Arial" pitchFamily="34" charset="0"/>
                <a:ea typeface="돋움" pitchFamily="50" charset="-127"/>
                <a:cs typeface="Arial" pitchFamily="34" charset="0"/>
              </a:rPr>
              <a:t> cần off nguồn điện đi trước kho đo</a:t>
            </a:r>
            <a:r>
              <a:rPr lang="en-US" altLang="ko-KR" sz="950" smtClean="0">
                <a:latin typeface="Arial" pitchFamily="34" charset="0"/>
                <a:cs typeface="Arial" pitchFamily="34" charset="0"/>
              </a:rPr>
              <a:t>?</a:t>
            </a:r>
            <a:endParaRPr lang="en-US" altLang="ko-KR" sz="950" dirty="0">
              <a:latin typeface="Arial" pitchFamily="34" charset="0"/>
              <a:ea typeface="돋움" pitchFamily="50" charset="-127"/>
              <a:cs typeface="Arial" pitchFamily="34" charset="0"/>
            </a:endParaRPr>
          </a:p>
          <a:p>
            <a:endParaRPr lang="en-US" altLang="ko-KR" sz="950" smtClean="0">
              <a:latin typeface="Arial" pitchFamily="34" charset="0"/>
              <a:ea typeface="돋움" pitchFamily="50" charset="-127"/>
              <a:cs typeface="Arial" pitchFamily="34" charset="0"/>
            </a:endParaRPr>
          </a:p>
          <a:p>
            <a:pPr marL="228600" indent="-228600">
              <a:buAutoNum type="alphaUcPeriod"/>
            </a:pPr>
            <a:r>
              <a:rPr lang="en-US" altLang="ko-KR" sz="950" smtClean="0">
                <a:latin typeface="Arial" pitchFamily="34" charset="0"/>
                <a:ea typeface="돋움" pitchFamily="50" charset="-127"/>
                <a:cs typeface="Arial" pitchFamily="34" charset="0"/>
              </a:rPr>
              <a:t>Điện </a:t>
            </a:r>
            <a:r>
              <a:rPr lang="en-US" altLang="ko-KR" sz="950" dirty="0" err="1" smtClean="0">
                <a:latin typeface="Arial" pitchFamily="34" charset="0"/>
                <a:ea typeface="돋움" pitchFamily="50" charset="-127"/>
                <a:cs typeface="Arial" pitchFamily="34" charset="0"/>
              </a:rPr>
              <a:t>áp</a:t>
            </a:r>
            <a:r>
              <a:rPr lang="en-US" altLang="ko-KR" sz="950" dirty="0" smtClean="0">
                <a:latin typeface="Arial" pitchFamily="34" charset="0"/>
                <a:ea typeface="돋움" pitchFamily="50" charset="-127"/>
                <a:cs typeface="Arial" pitchFamily="34" charset="0"/>
              </a:rPr>
              <a:t> </a:t>
            </a:r>
            <a:r>
              <a:rPr lang="en-US" altLang="ko-KR" sz="950" dirty="0" err="1" smtClean="0">
                <a:latin typeface="Arial" pitchFamily="34" charset="0"/>
                <a:ea typeface="돋움" pitchFamily="50" charset="-127"/>
                <a:cs typeface="Arial" pitchFamily="34" charset="0"/>
              </a:rPr>
              <a:t>xoay</a:t>
            </a:r>
            <a:r>
              <a:rPr lang="en-US" altLang="ko-KR" sz="950" dirty="0" smtClean="0">
                <a:latin typeface="Arial" pitchFamily="34" charset="0"/>
                <a:ea typeface="돋움" pitchFamily="50" charset="-127"/>
                <a:cs typeface="Arial" pitchFamily="34" charset="0"/>
              </a:rPr>
              <a:t> </a:t>
            </a:r>
            <a:r>
              <a:rPr lang="en-US" altLang="ko-KR" sz="950" err="1" smtClean="0">
                <a:latin typeface="Arial" pitchFamily="34" charset="0"/>
                <a:ea typeface="돋움" pitchFamily="50" charset="-127"/>
                <a:cs typeface="Arial" pitchFamily="34" charset="0"/>
              </a:rPr>
              <a:t>chiều</a:t>
            </a:r>
            <a:r>
              <a:rPr lang="en-US" altLang="ko-KR" sz="950" smtClean="0">
                <a:latin typeface="Arial" pitchFamily="34" charset="0"/>
                <a:ea typeface="돋움" pitchFamily="50" charset="-127"/>
                <a:cs typeface="Arial" pitchFamily="34" charset="0"/>
              </a:rPr>
              <a:t>  </a:t>
            </a:r>
          </a:p>
          <a:p>
            <a:pPr marL="228600" indent="-228600">
              <a:buAutoNum type="alphaUcPeriod"/>
            </a:pPr>
            <a:r>
              <a:rPr lang="en-US" altLang="ko-KR" sz="950" smtClean="0">
                <a:latin typeface="Arial" pitchFamily="34" charset="0"/>
                <a:ea typeface="돋움" pitchFamily="50" charset="-127"/>
                <a:cs typeface="Arial" pitchFamily="34" charset="0"/>
              </a:rPr>
              <a:t>Dòng </a:t>
            </a:r>
            <a:r>
              <a:rPr lang="en-US" altLang="ko-KR" sz="950" dirty="0" err="1" smtClean="0">
                <a:latin typeface="Arial" pitchFamily="34" charset="0"/>
                <a:ea typeface="돋움" pitchFamily="50" charset="-127"/>
                <a:cs typeface="Arial" pitchFamily="34" charset="0"/>
              </a:rPr>
              <a:t>điện</a:t>
            </a:r>
            <a:r>
              <a:rPr lang="en-US" altLang="ko-KR" sz="950" dirty="0" smtClean="0">
                <a:latin typeface="Arial" pitchFamily="34" charset="0"/>
                <a:ea typeface="돋움" pitchFamily="50" charset="-127"/>
                <a:cs typeface="Arial" pitchFamily="34" charset="0"/>
              </a:rPr>
              <a:t> </a:t>
            </a:r>
            <a:r>
              <a:rPr lang="en-US" altLang="ko-KR" sz="950" dirty="0" err="1" smtClean="0">
                <a:latin typeface="Arial" pitchFamily="34" charset="0"/>
                <a:ea typeface="돋움" pitchFamily="50" charset="-127"/>
                <a:cs typeface="Arial" pitchFamily="34" charset="0"/>
              </a:rPr>
              <a:t>xoay</a:t>
            </a:r>
            <a:r>
              <a:rPr lang="en-US" altLang="ko-KR" sz="950" dirty="0" smtClean="0">
                <a:latin typeface="Arial" pitchFamily="34" charset="0"/>
                <a:ea typeface="돋움" pitchFamily="50" charset="-127"/>
                <a:cs typeface="Arial" pitchFamily="34" charset="0"/>
              </a:rPr>
              <a:t> </a:t>
            </a:r>
            <a:r>
              <a:rPr lang="en-US" altLang="ko-KR" sz="950" err="1" smtClean="0">
                <a:latin typeface="Arial" pitchFamily="34" charset="0"/>
                <a:ea typeface="돋움" pitchFamily="50" charset="-127"/>
                <a:cs typeface="Arial" pitchFamily="34" charset="0"/>
              </a:rPr>
              <a:t>chiều</a:t>
            </a:r>
            <a:r>
              <a:rPr lang="ko-KR" altLang="en-US" sz="950" smtClean="0">
                <a:latin typeface="Arial" pitchFamily="34" charset="0"/>
                <a:ea typeface="돋움" pitchFamily="50" charset="-127"/>
                <a:cs typeface="Arial" pitchFamily="34" charset="0"/>
              </a:rPr>
              <a:t>  </a:t>
            </a:r>
            <a:endParaRPr lang="en-US" altLang="ko-KR" sz="950" smtClean="0">
              <a:latin typeface="Arial" pitchFamily="34" charset="0"/>
              <a:ea typeface="돋움" pitchFamily="50" charset="-127"/>
              <a:cs typeface="Arial" pitchFamily="34" charset="0"/>
            </a:endParaRPr>
          </a:p>
          <a:p>
            <a:r>
              <a:rPr lang="en-US" altLang="ko-KR" sz="950" smtClean="0">
                <a:latin typeface="Arial" pitchFamily="34" charset="0"/>
                <a:ea typeface="돋움" pitchFamily="50" charset="-127"/>
                <a:cs typeface="Arial" pitchFamily="34" charset="0"/>
              </a:rPr>
              <a:t>C.    Điện </a:t>
            </a:r>
            <a:r>
              <a:rPr lang="en-US" altLang="ko-KR" sz="950" dirty="0" err="1" smtClean="0">
                <a:latin typeface="Arial" pitchFamily="34" charset="0"/>
                <a:ea typeface="돋움" pitchFamily="50" charset="-127"/>
                <a:cs typeface="Arial" pitchFamily="34" charset="0"/>
              </a:rPr>
              <a:t>áp</a:t>
            </a:r>
            <a:r>
              <a:rPr lang="en-US" altLang="ko-KR" sz="950" dirty="0" smtClean="0">
                <a:latin typeface="Arial" pitchFamily="34" charset="0"/>
                <a:ea typeface="돋움" pitchFamily="50" charset="-127"/>
                <a:cs typeface="Arial" pitchFamily="34" charset="0"/>
              </a:rPr>
              <a:t> 1 </a:t>
            </a:r>
            <a:r>
              <a:rPr lang="en-US" altLang="ko-KR" sz="950" err="1" smtClean="0">
                <a:latin typeface="Arial" pitchFamily="34" charset="0"/>
                <a:ea typeface="돋움" pitchFamily="50" charset="-127"/>
                <a:cs typeface="Arial" pitchFamily="34" charset="0"/>
              </a:rPr>
              <a:t>chiều</a:t>
            </a:r>
            <a:r>
              <a:rPr lang="ko-KR" altLang="en-US" sz="950" smtClean="0">
                <a:latin typeface="Arial" pitchFamily="34" charset="0"/>
                <a:ea typeface="돋움" pitchFamily="50" charset="-127"/>
                <a:cs typeface="Arial" pitchFamily="34" charset="0"/>
              </a:rPr>
              <a:t>       </a:t>
            </a:r>
            <a:endParaRPr lang="en-US" altLang="ko-KR" sz="950" smtClean="0">
              <a:latin typeface="Arial" pitchFamily="34" charset="0"/>
              <a:ea typeface="돋움" pitchFamily="50" charset="-127"/>
              <a:cs typeface="Arial" pitchFamily="34" charset="0"/>
            </a:endParaRPr>
          </a:p>
          <a:p>
            <a:r>
              <a:rPr lang="en-US" altLang="ko-KR" sz="950" smtClean="0">
                <a:latin typeface="Arial" pitchFamily="34" charset="0"/>
                <a:ea typeface="돋움" pitchFamily="50" charset="-127"/>
                <a:cs typeface="Arial" pitchFamily="34" charset="0"/>
              </a:rPr>
              <a:t>D.</a:t>
            </a:r>
            <a:r>
              <a:rPr lang="ko-KR" altLang="en-US" sz="950" smtClean="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Điện trở cách điện</a:t>
            </a:r>
            <a:endParaRPr lang="ko-KR" altLang="en-US" sz="950" dirty="0">
              <a:latin typeface="Arial" pitchFamily="34" charset="0"/>
              <a:ea typeface="돋움" pitchFamily="50" charset="-127"/>
              <a:cs typeface="Arial" pitchFamily="34" charset="0"/>
            </a:endParaRPr>
          </a:p>
        </p:txBody>
      </p:sp>
      <p:sp>
        <p:nvSpPr>
          <p:cNvPr id="76" name="Rectangle 591"/>
          <p:cNvSpPr>
            <a:spLocks noChangeArrowheads="1"/>
          </p:cNvSpPr>
          <p:nvPr/>
        </p:nvSpPr>
        <p:spPr bwMode="auto">
          <a:xfrm>
            <a:off x="3429000" y="6866002"/>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14300" indent="-114300"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Trong lượng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dây</a:t>
            </a:r>
            <a:r>
              <a:rPr lang="en-US" altLang="ko-KR" sz="950" smtClean="0">
                <a:latin typeface="Times New Roman" pitchFamily="18" charset="0"/>
                <a:cs typeface="Times New Roman" pitchFamily="18" charset="0"/>
              </a:rPr>
              <a:t> điện</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Tree>
    <p:extLst>
      <p:ext uri="{BB962C8B-B14F-4D97-AF65-F5344CB8AC3E}">
        <p14:creationId xmlns:p14="http://schemas.microsoft.com/office/powerpoint/2010/main" val="3236651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Điều </a:t>
            </a:r>
            <a:r>
              <a:rPr lang="vi-VN" altLang="ko-KR" sz="950">
                <a:latin typeface="Times New Roman" pitchFamily="18" charset="0"/>
                <a:ea typeface="LG Smart_H Regular" panose="020B0600000101010101" pitchFamily="34" charset="-127"/>
                <a:cs typeface="Times New Roman" pitchFamily="18" charset="0"/>
              </a:rPr>
              <a:t>khiển bằng Hard </a:t>
            </a:r>
            <a:r>
              <a:rPr lang="vi-VN" altLang="ko-KR" sz="950" smtClean="0">
                <a:latin typeface="Times New Roman" pitchFamily="18" charset="0"/>
                <a:ea typeface="LG Smart_H Regular" panose="020B0600000101010101" pitchFamily="34" charset="-127"/>
                <a:cs typeface="Times New Roman" pitchFamily="18" charset="0"/>
              </a:rPr>
              <a:t>logic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bảo dưỡng và sửa </a:t>
            </a:r>
            <a:r>
              <a:rPr lang="vi-VN" altLang="ko-KR" sz="950" smtClean="0">
                <a:latin typeface="Times New Roman" pitchFamily="18" charset="0"/>
                <a:ea typeface="LG Smart_H Regular" panose="020B0600000101010101" pitchFamily="34" charset="-127"/>
                <a:cs typeface="Times New Roman" pitchFamily="18" charset="0"/>
              </a:rPr>
              <a:t>chữa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có tiếp </a:t>
            </a:r>
            <a:r>
              <a:rPr lang="en-US" altLang="ko-KR" sz="950" smtClean="0">
                <a:latin typeface="Times New Roman" pitchFamily="18" charset="0"/>
                <a:ea typeface="LG Smart_H Regular" panose="020B0600000101010101" pitchFamily="34" charset="-127"/>
                <a:cs typeface="Times New Roman" pitchFamily="18" charset="0"/>
              </a:rPr>
              <a:t>xúc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Khó mở rộng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Trường hợp ON nguồn điện CPU  Module 12 giờ 1 ngày: thời gian đảm bảo của tuổi thọ battery thẻ SRAM </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6 tháng</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 </a:t>
            </a:r>
            <a:r>
              <a:rPr lang="vi-VN" altLang="ko-KR" sz="950">
                <a:latin typeface="Times New Roman" pitchFamily="18" charset="0"/>
                <a:ea typeface="LG Smart_H Regular" panose="020B0600000101010101" pitchFamily="34" charset="-127"/>
                <a:cs typeface="Times New Roman" pitchFamily="18" charset="0"/>
              </a:rPr>
              <a:t>năm</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.1</a:t>
            </a:r>
            <a:r>
              <a:rPr lang="vi-VN" altLang="ko-KR" sz="950" smtClean="0">
                <a:latin typeface="Times New Roman" pitchFamily="18" charset="0"/>
                <a:ea typeface="LG Smart_H Regular" panose="020B0600000101010101" pitchFamily="34" charset="-127"/>
                <a:cs typeface="Times New Roman" pitchFamily="18" charset="0"/>
              </a:rPr>
              <a:t> năm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 năm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41995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Module kỹ năng đặc biệt, Module kỹ năng intelligent, Module Nhập Xuất sử dụng nguồn điện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220V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24V</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V</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8238509"/>
            <a:ext cx="323981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Đâu là Bit Device có thể duy trì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                B. Y                C. M                 D. L</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13657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Sau khi Chỉnh sửa chương trình chế độ Offline trên GX Work 2(GX Developer ). Cần thực hiện tổ hợp phím tắt nào để có thể lưu chương trình?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en-US" altLang="ko-KR" sz="950">
                <a:latin typeface="Times New Roman" pitchFamily="18" charset="0"/>
                <a:ea typeface="LG Smart_H Regular" panose="020B0600000101010101" pitchFamily="34" charset="-127"/>
                <a:cs typeface="Times New Roman" pitchFamily="18" charset="0"/>
              </a:rPr>
              <a:t>Shift F2          </a:t>
            </a:r>
            <a:r>
              <a:rPr lang="en-US" altLang="ko-KR" sz="950" smtClean="0">
                <a:latin typeface="Times New Roman" pitchFamily="18" charset="0"/>
                <a:ea typeface="LG Smart_H Regular" panose="020B0600000101010101" pitchFamily="34" charset="-127"/>
                <a:cs typeface="Times New Roman" pitchFamily="18" charset="0"/>
              </a:rPr>
              <a:t>B. F</a:t>
            </a: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smtClean="0">
                <a:latin typeface="Times New Roman" pitchFamily="18" charset="0"/>
                <a:ea typeface="LG Smart_H Regular" panose="020B0600000101010101" pitchFamily="34" charset="-127"/>
                <a:cs typeface="Times New Roman" pitchFamily="18" charset="0"/>
              </a:rPr>
              <a:t>2           D. </a:t>
            </a:r>
            <a:r>
              <a:rPr lang="vi-VN" altLang="ko-KR" sz="950">
                <a:latin typeface="Times New Roman" pitchFamily="18" charset="0"/>
                <a:ea typeface="LG Smart_H Regular" panose="020B0600000101010101" pitchFamily="34" charset="-127"/>
                <a:cs typeface="Times New Roman" pitchFamily="18" charset="0"/>
              </a:rPr>
              <a:t>Ctr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93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Hãy chon đúng giải thích về </a:t>
            </a:r>
            <a:r>
              <a:rPr lang="vi-VN" altLang="ko-KR" sz="950" smtClean="0">
                <a:latin typeface="Times New Roman" pitchFamily="18" charset="0"/>
                <a:ea typeface="LG Smart_H Regular" panose="020B0600000101010101" pitchFamily="34" charset="-127"/>
                <a:cs typeface="Times New Roman" pitchFamily="18" charset="0"/>
              </a:rPr>
              <a:t>Note?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Biểu </a:t>
            </a:r>
            <a:r>
              <a:rPr lang="vi-VN" altLang="ko-KR" sz="950">
                <a:latin typeface="Times New Roman" pitchFamily="18" charset="0"/>
                <a:ea typeface="LG Smart_H Regular" panose="020B0600000101010101" pitchFamily="34" charset="-127"/>
                <a:cs typeface="Times New Roman" pitchFamily="18" charset="0"/>
              </a:rPr>
              <a:t>thị việc viết để giải thích về 1 khối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việc viết để giải thích về cả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việc viết để giải thích về 1 hàng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comment được viết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909318"/>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Để phân chia đầu vào ra của Card được gắn vào khi cài đặt Parameter phải thao tác phần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Device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I/O </a:t>
            </a:r>
            <a:r>
              <a:rPr lang="en-US" altLang="ko-KR" sz="950" smtClean="0">
                <a:latin typeface="Times New Roman" pitchFamily="18" charset="0"/>
                <a:ea typeface="LG Smart_H Regular" panose="020B0600000101010101" pitchFamily="34" charset="-127"/>
                <a:cs typeface="Times New Roman" pitchFamily="18" charset="0"/>
              </a:rPr>
              <a:t>Assigment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a:t>
            </a:r>
            <a:r>
              <a:rPr lang="vi-VN" altLang="ko-KR" sz="950" smtClean="0">
                <a:latin typeface="Times New Roman" pitchFamily="18" charset="0"/>
                <a:ea typeface="LG Smart_H Regular" panose="020B0600000101010101" pitchFamily="34" charset="-127"/>
                <a:cs typeface="Times New Roman" pitchFamily="18" charset="0"/>
              </a:rPr>
              <a:t>RAR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84" name="Rectangle 7"/>
          <p:cNvSpPr>
            <a:spLocks noChangeArrowheads="1"/>
          </p:cNvSpPr>
          <p:nvPr/>
        </p:nvSpPr>
        <p:spPr bwMode="auto">
          <a:xfrm>
            <a:off x="3412872" y="79053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Chọn giải thích sai về Counter??</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Counter </a:t>
            </a:r>
            <a:r>
              <a:rPr lang="vi-VN" altLang="ko-KR" sz="950">
                <a:latin typeface="Times New Roman" pitchFamily="18" charset="0"/>
                <a:ea typeface="LG Smart_H Regular" panose="020B0600000101010101" pitchFamily="34" charset="-127"/>
                <a:cs typeface="Times New Roman" pitchFamily="18" charset="0"/>
              </a:rPr>
              <a:t>sẽ Count khi tín hiệu </a:t>
            </a:r>
            <a:r>
              <a:rPr lang="vi-VN" altLang="ko-KR" sz="950" smtClean="0">
                <a:latin typeface="Times New Roman" pitchFamily="18" charset="0"/>
                <a:ea typeface="LG Smart_H Regular" panose="020B0600000101010101" pitchFamily="34" charset="-127"/>
                <a:cs typeface="Times New Roman" pitchFamily="18" charset="0"/>
              </a:rPr>
              <a:t>đầu</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vào </a:t>
            </a:r>
            <a:r>
              <a:rPr lang="vi-VN" altLang="ko-KR" sz="950">
                <a:latin typeface="Times New Roman" pitchFamily="18" charset="0"/>
                <a:ea typeface="LG Smart_H Regular" panose="020B0600000101010101" pitchFamily="34" charset="-127"/>
                <a:cs typeface="Times New Roman" pitchFamily="18" charset="0"/>
              </a:rPr>
              <a:t>tăng </a:t>
            </a:r>
            <a:r>
              <a:rPr lang="vi-VN" altLang="ko-KR" sz="950" smtClean="0">
                <a:latin typeface="Times New Roman" pitchFamily="18" charset="0"/>
                <a:ea typeface="LG Smart_H Regular" panose="020B0600000101010101" pitchFamily="34" charset="-127"/>
                <a:cs typeface="Times New Roman" pitchFamily="18" charset="0"/>
              </a:rPr>
              <a:t>lên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Sau khi Count Up thì dù có tín hiệu đầu vào Couter  vẫn  </a:t>
            </a:r>
            <a:r>
              <a:rPr lang="vi-VN" altLang="ko-KR" sz="950" smtClean="0">
                <a:latin typeface="Times New Roman" pitchFamily="18" charset="0"/>
                <a:ea typeface="LG Smart_H Regular" panose="020B0600000101010101" pitchFamily="34" charset="-127"/>
                <a:cs typeface="Times New Roman" pitchFamily="18" charset="0"/>
              </a:rPr>
              <a:t>Count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Giá trị cài đặt của Counter là </a:t>
            </a:r>
            <a:r>
              <a:rPr lang="vi-VN" altLang="ko-KR" sz="950" smtClean="0">
                <a:latin typeface="Times New Roman" pitchFamily="18" charset="0"/>
                <a:ea typeface="LG Smart_H Regular" panose="020B0600000101010101" pitchFamily="34" charset="-127"/>
                <a:cs typeface="Times New Roman" pitchFamily="18" charset="0"/>
              </a:rPr>
              <a:t>K1~K32767</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trực tiếp K cho giá trị cài đặt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1890" y="5622265"/>
            <a:ext cx="3239810" cy="2139047"/>
            <a:chOff x="201890" y="5062790"/>
            <a:chExt cx="3239810" cy="2139047"/>
          </a:xfrm>
        </p:grpSpPr>
        <p:sp>
          <p:nvSpPr>
            <p:cNvPr id="24" name="Rectangle 7"/>
            <p:cNvSpPr>
              <a:spLocks noChangeArrowheads="1"/>
            </p:cNvSpPr>
            <p:nvPr/>
          </p:nvSpPr>
          <p:spPr bwMode="auto">
            <a:xfrm>
              <a:off x="201890" y="5062790"/>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Chọn đáp án </a:t>
              </a:r>
              <a:r>
                <a:rPr lang="vi-VN" altLang="ko-KR" sz="950" smtClean="0">
                  <a:latin typeface="Times New Roman" pitchFamily="18" charset="0"/>
                  <a:ea typeface="LG Smart_H Regular" panose="020B0600000101010101" pitchFamily="34" charset="-127"/>
                  <a:cs typeface="Times New Roman" pitchFamily="18" charset="0"/>
                </a:rPr>
                <a:t>đúng</a:t>
              </a:r>
              <a:r>
                <a:rPr lang="en-US" altLang="ko-KR" sz="950" smtClean="0">
                  <a:latin typeface="Times New Roman" pitchFamily="18" charset="0"/>
                  <a:ea typeface="LG Smart_H Regular" panose="020B0600000101010101" pitchFamily="34" charset="-127"/>
                  <a:cs typeface="Times New Roman" pitchFamily="18" charset="0"/>
                </a:rPr>
                <a:t> vào ô</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a:t>
              </a:r>
              <a:r>
                <a:rPr lang="en-US" altLang="ko-KR" sz="950" smtClean="0">
                  <a:latin typeface="Times New Roman" pitchFamily="18" charset="0"/>
                  <a:ea typeface="LG Smart_H Regular" panose="020B0600000101010101" pitchFamily="34" charset="-127"/>
                  <a:cs typeface="Times New Roman" pitchFamily="18" charset="0"/>
                </a:rPr>
                <a:t>Scan                    B. </a:t>
              </a:r>
              <a:r>
                <a:rPr lang="vi-VN" altLang="ko-KR" sz="950" smtClean="0">
                  <a:latin typeface="Times New Roman" pitchFamily="18" charset="0"/>
                  <a:ea typeface="LG Smart_H Regular" panose="020B0600000101010101" pitchFamily="34" charset="-127"/>
                  <a:cs typeface="Times New Roman" pitchFamily="18" charset="0"/>
                </a:rPr>
                <a:t>Refresh </a:t>
              </a:r>
              <a:r>
                <a:rPr lang="vi-VN" altLang="ko-KR" sz="950">
                  <a:latin typeface="Times New Roman" pitchFamily="18" charset="0"/>
                  <a:ea typeface="LG Smart_H Regular" panose="020B0600000101010101" pitchFamily="34" charset="-127"/>
                  <a:cs typeface="Times New Roman" pitchFamily="18" charset="0"/>
                </a:rPr>
                <a:t>khu vực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Xử </a:t>
              </a:r>
              <a:r>
                <a:rPr lang="en-US" altLang="ko-KR" sz="950">
                  <a:latin typeface="Times New Roman" pitchFamily="18" charset="0"/>
                  <a:ea typeface="LG Smart_H Regular" panose="020B0600000101010101" pitchFamily="34" charset="-127"/>
                  <a:cs typeface="Times New Roman" pitchFamily="18" charset="0"/>
                </a:rPr>
                <a:t>lý END  </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tiếp điểm Module đầu ra</a:t>
              </a:r>
            </a:p>
          </p:txBody>
        </p:sp>
        <p:grpSp>
          <p:nvGrpSpPr>
            <p:cNvPr id="21" name="Group 20"/>
            <p:cNvGrpSpPr/>
            <p:nvPr/>
          </p:nvGrpSpPr>
          <p:grpSpPr>
            <a:xfrm>
              <a:off x="279400" y="5385048"/>
              <a:ext cx="2933577" cy="1368152"/>
              <a:chOff x="0" y="0"/>
              <a:chExt cx="8761905" cy="4600000"/>
            </a:xfrm>
          </p:grpSpPr>
          <p:pic>
            <p:nvPicPr>
              <p:cNvPr id="22" name="Picture 21"/>
              <p:cNvPicPr>
                <a:picLocks noChangeAspect="1"/>
              </p:cNvPicPr>
              <p:nvPr/>
            </p:nvPicPr>
            <p:blipFill>
              <a:blip r:embed="rId3"/>
              <a:stretch>
                <a:fillRect/>
              </a:stretch>
            </p:blipFill>
            <p:spPr>
              <a:xfrm>
                <a:off x="0" y="0"/>
                <a:ext cx="8761905" cy="4600000"/>
              </a:xfrm>
              <a:prstGeom prst="rect">
                <a:avLst/>
              </a:prstGeom>
            </p:spPr>
          </p:pic>
          <p:sp>
            <p:nvSpPr>
              <p:cNvPr id="23" name="Rectangle 22"/>
              <p:cNvSpPr/>
              <p:nvPr/>
            </p:nvSpPr>
            <p:spPr>
              <a:xfrm>
                <a:off x="291352" y="2140323"/>
                <a:ext cx="593911" cy="1086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2400">
                    <a:solidFill>
                      <a:schemeClr val="tx1"/>
                    </a:solidFill>
                  </a:rPr>
                  <a:t>?</a:t>
                </a:r>
              </a:p>
            </p:txBody>
          </p:sp>
        </p:grpSp>
      </p:grpSp>
      <p:grpSp>
        <p:nvGrpSpPr>
          <p:cNvPr id="5" name="Group 4"/>
          <p:cNvGrpSpPr/>
          <p:nvPr/>
        </p:nvGrpSpPr>
        <p:grpSpPr>
          <a:xfrm>
            <a:off x="3425951" y="5628798"/>
            <a:ext cx="3239810" cy="1700466"/>
            <a:chOff x="3425951" y="4692694"/>
            <a:chExt cx="3239810" cy="1700466"/>
          </a:xfrm>
        </p:grpSpPr>
        <p:sp>
          <p:nvSpPr>
            <p:cNvPr id="183" name="Rectangle 7"/>
            <p:cNvSpPr>
              <a:spLocks noChangeArrowheads="1"/>
            </p:cNvSpPr>
            <p:nvPr/>
          </p:nvSpPr>
          <p:spPr bwMode="auto">
            <a:xfrm>
              <a:off x="3425951" y="4692694"/>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giá trị của D10 là 10</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K10                 B</a:t>
              </a:r>
              <a:r>
                <a:rPr lang="en-US" altLang="ko-KR" sz="950">
                  <a:latin typeface="Times New Roman" pitchFamily="18" charset="0"/>
                  <a:ea typeface="LG Smart_H Regular" panose="020B0600000101010101" pitchFamily="34" charset="-127"/>
                  <a:cs typeface="Times New Roman" pitchFamily="18" charset="0"/>
                </a:rPr>
                <a:t>. H10              </a:t>
              </a: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D10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M10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그림 7"/>
            <p:cNvPicPr>
              <a:picLocks noChangeAspect="1"/>
            </p:cNvPicPr>
            <p:nvPr/>
          </p:nvPicPr>
          <p:blipFill>
            <a:blip r:embed="rId4"/>
            <a:stretch>
              <a:fillRect/>
            </a:stretch>
          </p:blipFill>
          <p:spPr>
            <a:xfrm>
              <a:off x="3434832" y="5097016"/>
              <a:ext cx="3217852" cy="1017815"/>
            </a:xfrm>
            <a:prstGeom prst="rect">
              <a:avLst/>
            </a:prstGeom>
          </p:spPr>
        </p:pic>
      </p:grpSp>
    </p:spTree>
    <p:extLst>
      <p:ext uri="{BB962C8B-B14F-4D97-AF65-F5344CB8AC3E}">
        <p14:creationId xmlns:p14="http://schemas.microsoft.com/office/powerpoint/2010/main" val="36894008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17" name="Group 16"/>
          <p:cNvGrpSpPr/>
          <p:nvPr/>
        </p:nvGrpSpPr>
        <p:grpSpPr>
          <a:xfrm>
            <a:off x="250515" y="971500"/>
            <a:ext cx="3178485" cy="1892826"/>
            <a:chOff x="-3319265" y="806914"/>
            <a:chExt cx="3538333" cy="1892826"/>
          </a:xfrm>
        </p:grpSpPr>
        <p:sp>
          <p:nvSpPr>
            <p:cNvPr id="18" name="Rectangle 100"/>
            <p:cNvSpPr>
              <a:spLocks noChangeArrowheads="1"/>
            </p:cNvSpPr>
            <p:nvPr/>
          </p:nvSpPr>
          <p:spPr bwMode="auto">
            <a:xfrm>
              <a:off x="-3319265" y="806914"/>
              <a:ext cx="3538333"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31 </a:t>
              </a:r>
              <a:r>
                <a:rPr lang="en-US" altLang="ko-KR" sz="900" dirty="0" err="1" smtClean="0">
                  <a:latin typeface="Times New Roman" panose="02020603050405020304" pitchFamily="18" charset="0"/>
                  <a:ea typeface="돋움" pitchFamily="50" charset="-127"/>
                  <a:cs typeface="Times New Roman" panose="02020603050405020304" pitchFamily="18" charset="0"/>
                </a:rPr>
                <a:t>Ngôn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ngữ</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PLC nào đang được sử dụng phía dưới ?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(theo thứ tự từ trái qua phải)</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a:latin typeface="Times New Roman" panose="02020603050405020304" pitchFamily="18" charset="0"/>
                  <a:ea typeface="돋움" pitchFamily="50" charset="-127"/>
                  <a:cs typeface="Times New Roman" panose="02020603050405020304" pitchFamily="18" charset="0"/>
                </a:rPr>
                <a:t>.LD(Phương thức Ladder), IL(Phương thức Mnemonics)</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B .IL(Phương thức Mnemonic), LD(Phương thức Ladder)</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C. LD(Phương thức Ladder), SFC(Sequential Function Charts) </a:t>
              </a:r>
            </a:p>
            <a:p>
              <a:pPr marL="171450" indent="-171450" eaLnBrk="1" hangingPunct="1"/>
              <a:r>
                <a:rPr lang="en-US" altLang="ko-KR" sz="900">
                  <a:latin typeface="Times New Roman" panose="02020603050405020304" pitchFamily="18" charset="0"/>
                  <a:ea typeface="돋움" pitchFamily="50" charset="-127"/>
                  <a:cs typeface="Times New Roman" panose="02020603050405020304" pitchFamily="18" charset="0"/>
                </a:rPr>
                <a:t>D. FBD(Function Block Diagram),IL(Phương </a:t>
              </a:r>
              <a:r>
                <a:rPr lang="en-US" altLang="ko-KR" sz="900" smtClean="0">
                  <a:latin typeface="Times New Roman" panose="02020603050405020304" pitchFamily="18" charset="0"/>
                  <a:ea typeface="돋움" pitchFamily="50" charset="-127"/>
                  <a:cs typeface="Times New Roman" panose="02020603050405020304" pitchFamily="18" charset="0"/>
                </a:rPr>
                <a:t>thức Mnemonic)</a:t>
              </a:r>
              <a:endParaRPr lang="ko-KR" altLang="en-US" sz="900">
                <a:latin typeface="Times New Roman" panose="02020603050405020304" pitchFamily="18" charset="0"/>
                <a:ea typeface="돋움" pitchFamily="50" charset="-127"/>
                <a:cs typeface="Times New Roman" panose="02020603050405020304" pitchFamily="18" charset="0"/>
              </a:endParaRPr>
            </a:p>
          </p:txBody>
        </p:sp>
        <p:grpSp>
          <p:nvGrpSpPr>
            <p:cNvPr id="19" name="Group 18"/>
            <p:cNvGrpSpPr/>
            <p:nvPr/>
          </p:nvGrpSpPr>
          <p:grpSpPr>
            <a:xfrm>
              <a:off x="-2990849" y="1174665"/>
              <a:ext cx="2957512" cy="839167"/>
              <a:chOff x="382588" y="1349375"/>
              <a:chExt cx="2957512" cy="839167"/>
            </a:xfrm>
          </p:grpSpPr>
          <p:grpSp>
            <p:nvGrpSpPr>
              <p:cNvPr id="20" name="Group 8"/>
              <p:cNvGrpSpPr>
                <a:grpSpLocks/>
              </p:cNvGrpSpPr>
              <p:nvPr/>
            </p:nvGrpSpPr>
            <p:grpSpPr bwMode="auto">
              <a:xfrm>
                <a:off x="1196975" y="1349375"/>
                <a:ext cx="2143125" cy="838200"/>
                <a:chOff x="337" y="-2"/>
                <a:chExt cx="278" cy="88"/>
              </a:xfrm>
            </p:grpSpPr>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l="75722" t="19098" r="10286" b="62326"/>
                <a:stretch>
                  <a:fillRect/>
                </a:stretch>
              </p:blipFill>
              <p:spPr bwMode="auto">
                <a:xfrm>
                  <a:off x="337" y="-2"/>
                  <a:ext cx="91" cy="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 name="Picture 3"/>
                <p:cNvPicPr>
                  <a:picLocks noChangeAspect="1" noChangeArrowheads="1"/>
                </p:cNvPicPr>
                <p:nvPr/>
              </p:nvPicPr>
              <p:blipFill>
                <a:blip r:embed="rId4">
                  <a:extLst>
                    <a:ext uri="{28A0092B-C50C-407E-A947-70E740481C1C}">
                      <a14:useLocalDpi xmlns:a14="http://schemas.microsoft.com/office/drawing/2010/main" val="0"/>
                    </a:ext>
                  </a:extLst>
                </a:blip>
                <a:srcRect l="22397" t="19272" r="59895" b="68402"/>
                <a:stretch>
                  <a:fillRect/>
                </a:stretch>
              </p:blipFill>
              <p:spPr bwMode="auto">
                <a:xfrm>
                  <a:off x="479" y="8"/>
                  <a:ext cx="136" cy="6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l="24219" t="19098" r="59325" b="62326"/>
              <a:stretch>
                <a:fillRect/>
              </a:stretch>
            </p:blipFill>
            <p:spPr bwMode="auto">
              <a:xfrm>
                <a:off x="382588" y="1350342"/>
                <a:ext cx="1123448" cy="8382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sp>
        <p:nvSpPr>
          <p:cNvPr id="25" name="Rectangle 102"/>
          <p:cNvSpPr>
            <a:spLocks noChangeArrowheads="1"/>
          </p:cNvSpPr>
          <p:nvPr/>
        </p:nvSpPr>
        <p:spPr bwMode="auto">
          <a:xfrm>
            <a:off x="188640" y="5464314"/>
            <a:ext cx="342900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33.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cấu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trúc</a:t>
            </a:r>
            <a:r>
              <a:rPr lang="en-US" altLang="ko-KR" sz="900" dirty="0" smtClean="0">
                <a:latin typeface="Times New Roman" panose="02020603050405020304" pitchFamily="18" charset="0"/>
                <a:ea typeface="돋움" pitchFamily="50" charset="-127"/>
                <a:cs typeface="Times New Roman" panose="02020603050405020304" pitchFamily="18" charset="0"/>
              </a:rPr>
              <a:t> PLC </a:t>
            </a:r>
            <a:r>
              <a:rPr lang="en-US" altLang="ko-KR" sz="900" dirty="0" err="1" smtClean="0">
                <a:latin typeface="Times New Roman" panose="02020603050405020304" pitchFamily="18" charset="0"/>
                <a:ea typeface="돋움" pitchFamily="50" charset="-127"/>
                <a:cs typeface="Times New Roman" panose="02020603050405020304" pitchFamily="18" charset="0"/>
              </a:rPr>
              <a:t>cơ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bản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kiểm</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tra</a:t>
            </a:r>
            <a:r>
              <a:rPr lang="en-US" altLang="ko-KR" sz="900" dirty="0" smtClean="0">
                <a:latin typeface="Times New Roman" panose="02020603050405020304" pitchFamily="18" charset="0"/>
                <a:ea typeface="돋움" pitchFamily="50" charset="-127"/>
                <a:cs typeface="Times New Roman" panose="02020603050405020304" pitchFamily="18" charset="0"/>
              </a:rPr>
              <a:t> Error </a:t>
            </a:r>
            <a:r>
              <a:rPr lang="en-US" altLang="ko-KR" sz="900" err="1" smtClean="0">
                <a:latin typeface="Times New Roman" panose="02020603050405020304" pitchFamily="18" charset="0"/>
                <a:ea typeface="돋움" pitchFamily="50" charset="-127"/>
                <a:cs typeface="Times New Roman" panose="02020603050405020304" pitchFamily="18" charset="0"/>
              </a:rPr>
              <a:t>bằng</a:t>
            </a:r>
            <a:r>
              <a:rPr lang="en-US" altLang="ko-KR" sz="900" smtClean="0">
                <a:latin typeface="Times New Roman" panose="02020603050405020304" pitchFamily="18" charset="0"/>
                <a:ea typeface="돋움" pitchFamily="50" charset="-127"/>
                <a:cs typeface="Times New Roman" panose="02020603050405020304" pitchFamily="18" charset="0"/>
              </a:rPr>
              <a:t> lệnh</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CHK,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khi</a:t>
            </a:r>
            <a:r>
              <a:rPr lang="en-US" altLang="ko-KR" sz="900" dirty="0" smtClean="0">
                <a:latin typeface="Times New Roman" panose="02020603050405020304" pitchFamily="18" charset="0"/>
                <a:ea typeface="돋움" pitchFamily="50" charset="-127"/>
                <a:cs typeface="Times New Roman" panose="02020603050405020304" pitchFamily="18" charset="0"/>
              </a:rPr>
              <a:t> Annunciator F ON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đèn</a:t>
            </a:r>
            <a:r>
              <a:rPr lang="en-US" altLang="ko-KR" sz="900" dirty="0" smtClean="0">
                <a:latin typeface="Times New Roman" panose="02020603050405020304" pitchFamily="18" charset="0"/>
                <a:ea typeface="돋움" pitchFamily="50" charset="-127"/>
                <a:cs typeface="Times New Roman" panose="02020603050405020304" pitchFamily="18" charset="0"/>
              </a:rPr>
              <a:t> LED </a:t>
            </a:r>
            <a:r>
              <a:rPr lang="en-US" altLang="ko-KR" sz="900" dirty="0" err="1" smtClean="0">
                <a:latin typeface="Times New Roman" panose="02020603050405020304" pitchFamily="18" charset="0"/>
                <a:ea typeface="돋움" pitchFamily="50" charset="-127"/>
                <a:cs typeface="Times New Roman" panose="02020603050405020304" pitchFamily="18" charset="0"/>
              </a:rPr>
              <a:t>bật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sáng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 </a:t>
            </a:r>
            <a:r>
              <a:rPr lang="en-US" altLang="ko-KR" sz="900">
                <a:latin typeface="Times New Roman" panose="02020603050405020304" pitchFamily="18" charset="0"/>
                <a:ea typeface="돋움" pitchFamily="50" charset="-127"/>
                <a:cs typeface="Times New Roman" panose="02020603050405020304" pitchFamily="18" charset="0"/>
              </a:rPr>
              <a:t>ERROR </a:t>
            </a:r>
            <a:r>
              <a:rPr lang="en-US" altLang="ko-KR" sz="900" smtClean="0">
                <a:latin typeface="Times New Roman" panose="02020603050405020304" pitchFamily="18" charset="0"/>
                <a:ea typeface="돋움" pitchFamily="50" charset="-127"/>
                <a:cs typeface="Times New Roman" panose="02020603050405020304" pitchFamily="18" charset="0"/>
              </a:rPr>
              <a:t>LED    B. </a:t>
            </a:r>
            <a:r>
              <a:rPr lang="en-US" altLang="ko-KR" sz="900" dirty="0">
                <a:latin typeface="Times New Roman" panose="02020603050405020304" pitchFamily="18" charset="0"/>
                <a:ea typeface="돋움" pitchFamily="50" charset="-127"/>
                <a:cs typeface="Times New Roman" panose="02020603050405020304" pitchFamily="18" charset="0"/>
              </a:rPr>
              <a:t>USER LED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C. </a:t>
            </a:r>
            <a:r>
              <a:rPr lang="en-US" altLang="ko-KR" sz="900" dirty="0">
                <a:latin typeface="Times New Roman" panose="02020603050405020304" pitchFamily="18" charset="0"/>
                <a:ea typeface="돋움" pitchFamily="50" charset="-127"/>
                <a:cs typeface="Times New Roman" panose="02020603050405020304" pitchFamily="18" charset="0"/>
              </a:rPr>
              <a:t>BOOT </a:t>
            </a:r>
            <a:r>
              <a:rPr lang="en-US" altLang="ko-KR" sz="900">
                <a:latin typeface="Times New Roman" panose="02020603050405020304" pitchFamily="18" charset="0"/>
                <a:ea typeface="돋움" pitchFamily="50" charset="-127"/>
                <a:cs typeface="Times New Roman" panose="02020603050405020304" pitchFamily="18" charset="0"/>
              </a:rPr>
              <a:t>LED       </a:t>
            </a:r>
            <a:r>
              <a:rPr lang="en-US" altLang="ko-KR" sz="900" smtClean="0">
                <a:latin typeface="Times New Roman" panose="02020603050405020304" pitchFamily="18" charset="0"/>
                <a:ea typeface="돋움" pitchFamily="50" charset="-127"/>
                <a:cs typeface="Times New Roman" panose="02020603050405020304" pitchFamily="18" charset="0"/>
              </a:rPr>
              <a:t>D. </a:t>
            </a:r>
            <a:r>
              <a:rPr lang="en-US" altLang="ko-KR" sz="900" dirty="0">
                <a:latin typeface="Times New Roman" panose="02020603050405020304" pitchFamily="18" charset="0"/>
                <a:ea typeface="돋움" pitchFamily="50" charset="-127"/>
                <a:cs typeface="Times New Roman" panose="02020603050405020304" pitchFamily="18" charset="0"/>
              </a:rPr>
              <a:t>BAT. ALARM LED</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sp>
        <p:nvSpPr>
          <p:cNvPr id="26" name="Rectangle 107"/>
          <p:cNvSpPr>
            <a:spLocks noChangeArrowheads="1"/>
          </p:cNvSpPr>
          <p:nvPr/>
        </p:nvSpPr>
        <p:spPr bwMode="auto">
          <a:xfrm>
            <a:off x="3447970" y="992560"/>
            <a:ext cx="342900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36</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về</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cách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thay</a:t>
            </a:r>
            <a:r>
              <a:rPr lang="en-US" altLang="ko-KR" sz="900" dirty="0" smtClean="0">
                <a:latin typeface="Times New Roman" panose="02020603050405020304" pitchFamily="18" charset="0"/>
                <a:ea typeface="돋움" pitchFamily="50" charset="-127"/>
                <a:cs typeface="Times New Roman" panose="02020603050405020304" pitchFamily="18" charset="0"/>
              </a:rPr>
              <a:t> Batter CPU, </a:t>
            </a:r>
            <a:r>
              <a:rPr lang="en-US" altLang="ko-KR" sz="900" dirty="0" err="1" smtClean="0">
                <a:latin typeface="Times New Roman" panose="02020603050405020304" pitchFamily="18" charset="0"/>
                <a:ea typeface="돋움" pitchFamily="50" charset="-127"/>
                <a:cs typeface="Times New Roman" panose="02020603050405020304" pitchFamily="18" charset="0"/>
              </a:rPr>
              <a:t>sau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tháo</a:t>
            </a:r>
            <a:r>
              <a:rPr lang="en-US" altLang="ko-KR" sz="900" smtClean="0">
                <a:latin typeface="Times New Roman" panose="02020603050405020304" pitchFamily="18" charset="0"/>
                <a:ea typeface="돋움" pitchFamily="50" charset="-127"/>
                <a:cs typeface="Times New Roman" panose="02020603050405020304" pitchFamily="18" charset="0"/>
              </a:rPr>
              <a:t> Battery</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Back up </a:t>
            </a:r>
            <a:r>
              <a:rPr lang="en-US" altLang="ko-KR" sz="900" dirty="0" err="1" smtClean="0">
                <a:latin typeface="Times New Roman" panose="02020603050405020304" pitchFamily="18" charset="0"/>
                <a:ea typeface="돋움" pitchFamily="50" charset="-127"/>
                <a:cs typeface="Times New Roman" panose="02020603050405020304" pitchFamily="18" charset="0"/>
              </a:rPr>
              <a:t>dựa</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vào</a:t>
            </a:r>
            <a:r>
              <a:rPr lang="en-US" altLang="ko-KR" sz="900" dirty="0" smtClean="0">
                <a:latin typeface="Times New Roman" panose="02020603050405020304" pitchFamily="18" charset="0"/>
                <a:ea typeface="돋움" pitchFamily="50" charset="-127"/>
                <a:cs typeface="Times New Roman" panose="02020603050405020304" pitchFamily="18" charset="0"/>
              </a:rPr>
              <a:t> Condenser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a:t>
            </a:r>
            <a:r>
              <a:rPr lang="ko-KR" altLang="en-US"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  </a:t>
            </a:r>
            <a:r>
              <a:rPr lang="en-US" altLang="ko-KR" sz="900" dirty="0" smtClean="0">
                <a:latin typeface="Times New Roman" panose="02020603050405020304" pitchFamily="18" charset="0"/>
                <a:ea typeface="돋움" pitchFamily="50" charset="-127"/>
                <a:cs typeface="Times New Roman" panose="02020603050405020304" pitchFamily="18" charset="0"/>
              </a:rPr>
              <a:t>3</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phút</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4</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phút</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C.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5</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phút</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D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10</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phút</a:t>
            </a:r>
            <a:endParaRPr lang="en-US" altLang="ko-KR" sz="900" dirty="0">
              <a:latin typeface="Times New Roman" panose="02020603050405020304" pitchFamily="18" charset="0"/>
              <a:ea typeface="돋움" pitchFamily="50" charset="-127"/>
              <a:cs typeface="Times New Roman" panose="02020603050405020304" pitchFamily="18" charset="0"/>
            </a:endParaRPr>
          </a:p>
        </p:txBody>
      </p:sp>
      <p:sp>
        <p:nvSpPr>
          <p:cNvPr id="27" name="Rectangle 44"/>
          <p:cNvSpPr>
            <a:spLocks noChangeArrowheads="1"/>
          </p:cNvSpPr>
          <p:nvPr/>
        </p:nvSpPr>
        <p:spPr bwMode="auto">
          <a:xfrm>
            <a:off x="194990" y="6688450"/>
            <a:ext cx="312420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34. </a:t>
            </a:r>
            <a:r>
              <a:rPr lang="en-US" altLang="ko-KR" sz="900" dirty="0" err="1" smtClean="0">
                <a:latin typeface="Times New Roman" panose="02020603050405020304" pitchFamily="18" charset="0"/>
                <a:ea typeface="돋움" pitchFamily="50" charset="-127"/>
                <a:cs typeface="Times New Roman" panose="02020603050405020304" pitchFamily="18" charset="0"/>
              </a:rPr>
              <a:t>Cái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không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thuộc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về</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bộ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nhớ</a:t>
            </a:r>
            <a:r>
              <a:rPr lang="en-US" altLang="ko-KR" sz="900" dirty="0" smtClean="0">
                <a:latin typeface="Times New Roman" panose="02020603050405020304" pitchFamily="18" charset="0"/>
                <a:ea typeface="돋움" pitchFamily="50" charset="-127"/>
                <a:cs typeface="Times New Roman" panose="02020603050405020304" pitchFamily="18" charset="0"/>
              </a:rPr>
              <a:t> Device/Program?</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dirty="0" smtClean="0">
                <a:latin typeface="Times New Roman" panose="02020603050405020304" pitchFamily="18" charset="0"/>
                <a:ea typeface="돋움" pitchFamily="50" charset="-127"/>
                <a:cs typeface="Times New Roman" panose="02020603050405020304" pitchFamily="18" charset="0"/>
              </a:rPr>
              <a:t>Program</a:t>
            </a:r>
            <a:endParaRPr lang="ko-KR" altLang="en-US"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 </a:t>
            </a:r>
            <a:r>
              <a:rPr lang="en-US" altLang="ko-KR" sz="900" dirty="0" smtClean="0">
                <a:latin typeface="Times New Roman" panose="02020603050405020304" pitchFamily="18" charset="0"/>
                <a:ea typeface="돋움" pitchFamily="50" charset="-127"/>
                <a:cs typeface="Times New Roman" panose="02020603050405020304" pitchFamily="18" charset="0"/>
              </a:rPr>
              <a:t>Device</a:t>
            </a:r>
            <a:endParaRPr lang="ko-KR" altLang="en-US"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C. </a:t>
            </a:r>
            <a:r>
              <a:rPr lang="en-US" altLang="ko-KR" sz="900" dirty="0" smtClean="0">
                <a:latin typeface="Times New Roman" panose="02020603050405020304" pitchFamily="18" charset="0"/>
                <a:ea typeface="돋움" pitchFamily="50" charset="-127"/>
                <a:cs typeface="Times New Roman" panose="02020603050405020304" pitchFamily="18" charset="0"/>
              </a:rPr>
              <a:t>File Register</a:t>
            </a:r>
            <a:endParaRPr lang="ko-KR" altLang="en-US"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D. </a:t>
            </a:r>
            <a:r>
              <a:rPr lang="en-US" altLang="ko-KR" sz="900" dirty="0" smtClean="0">
                <a:latin typeface="Times New Roman" panose="02020603050405020304" pitchFamily="18" charset="0"/>
                <a:ea typeface="돋움" pitchFamily="50" charset="-127"/>
                <a:cs typeface="Times New Roman" panose="02020603050405020304" pitchFamily="18" charset="0"/>
              </a:rPr>
              <a:t>Parameter</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sp>
        <p:nvSpPr>
          <p:cNvPr id="28" name="Rectangle 44"/>
          <p:cNvSpPr>
            <a:spLocks noChangeArrowheads="1"/>
          </p:cNvSpPr>
          <p:nvPr/>
        </p:nvSpPr>
        <p:spPr bwMode="auto">
          <a:xfrm>
            <a:off x="194990" y="8193360"/>
            <a:ext cx="31242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35</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Nguồn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sử</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dụng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PLC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mấy</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V?</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a:latin typeface="Times New Roman" panose="02020603050405020304" pitchFamily="18" charset="0"/>
                <a:ea typeface="돋움" pitchFamily="50" charset="-127"/>
                <a:cs typeface="Times New Roman" panose="02020603050405020304" pitchFamily="18" charset="0"/>
              </a:rPr>
              <a:t>5V  </a:t>
            </a:r>
            <a:r>
              <a:rPr lang="en-US" altLang="ko-KR" sz="900" smtClean="0">
                <a:latin typeface="Times New Roman" panose="02020603050405020304" pitchFamily="18" charset="0"/>
                <a:ea typeface="돋움" pitchFamily="50" charset="-127"/>
                <a:cs typeface="Times New Roman" panose="02020603050405020304" pitchFamily="18" charset="0"/>
              </a:rPr>
              <a:t>        B. </a:t>
            </a:r>
            <a:r>
              <a:rPr lang="en-US" altLang="ko-KR" sz="900">
                <a:latin typeface="Times New Roman" panose="02020603050405020304" pitchFamily="18" charset="0"/>
                <a:ea typeface="돋움" pitchFamily="50" charset="-127"/>
                <a:cs typeface="Times New Roman" panose="02020603050405020304" pitchFamily="18" charset="0"/>
              </a:rPr>
              <a:t>220V  </a:t>
            </a:r>
            <a:r>
              <a:rPr lang="en-US" altLang="ko-KR" sz="900" smtClean="0">
                <a:latin typeface="Times New Roman" panose="02020603050405020304" pitchFamily="18" charset="0"/>
                <a:ea typeface="돋움" pitchFamily="50" charset="-127"/>
                <a:cs typeface="Times New Roman" panose="02020603050405020304" pitchFamily="18" charset="0"/>
              </a:rPr>
              <a:t>     C. </a:t>
            </a:r>
            <a:r>
              <a:rPr lang="en-US" altLang="ko-KR" sz="900">
                <a:latin typeface="Times New Roman" panose="02020603050405020304" pitchFamily="18" charset="0"/>
                <a:ea typeface="돋움" pitchFamily="50" charset="-127"/>
                <a:cs typeface="Times New Roman" panose="02020603050405020304" pitchFamily="18" charset="0"/>
              </a:rPr>
              <a:t>24V </a:t>
            </a:r>
            <a:r>
              <a:rPr lang="en-US" altLang="ko-KR" sz="900" smtClean="0">
                <a:latin typeface="Times New Roman" panose="02020603050405020304" pitchFamily="18" charset="0"/>
                <a:ea typeface="돋움" pitchFamily="50" charset="-127"/>
                <a:cs typeface="Times New Roman" panose="02020603050405020304" pitchFamily="18" charset="0"/>
              </a:rPr>
              <a:t>         D. </a:t>
            </a:r>
            <a:r>
              <a:rPr lang="en-US" altLang="ko-KR" sz="900" dirty="0">
                <a:latin typeface="Times New Roman" panose="02020603050405020304" pitchFamily="18" charset="0"/>
                <a:ea typeface="돋움" pitchFamily="50" charset="-127"/>
                <a:cs typeface="Times New Roman" panose="02020603050405020304" pitchFamily="18" charset="0"/>
              </a:rPr>
              <a:t>110V</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29" name="Picture 3"/>
          <p:cNvPicPr>
            <a:picLocks noChangeAspect="1" noChangeArrowheads="1"/>
          </p:cNvPicPr>
          <p:nvPr/>
        </p:nvPicPr>
        <p:blipFill>
          <a:blip r:embed="rId5">
            <a:extLst>
              <a:ext uri="{28A0092B-C50C-407E-A947-70E740481C1C}">
                <a14:useLocalDpi xmlns:a14="http://schemas.microsoft.com/office/drawing/2010/main" val="0"/>
              </a:ext>
            </a:extLst>
          </a:blip>
          <a:srcRect r="53496"/>
          <a:stretch>
            <a:fillRect/>
          </a:stretch>
        </p:blipFill>
        <p:spPr bwMode="auto">
          <a:xfrm>
            <a:off x="333103" y="3363265"/>
            <a:ext cx="14224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l="48299"/>
          <a:stretch>
            <a:fillRect/>
          </a:stretch>
        </p:blipFill>
        <p:spPr bwMode="auto">
          <a:xfrm>
            <a:off x="1734865" y="3375965"/>
            <a:ext cx="15811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101"/>
          <p:cNvSpPr>
            <a:spLocks noChangeArrowheads="1"/>
          </p:cNvSpPr>
          <p:nvPr/>
        </p:nvSpPr>
        <p:spPr bwMode="auto">
          <a:xfrm>
            <a:off x="219665" y="3220937"/>
            <a:ext cx="3143975"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32.</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Tên của 2 mạch phía dưới, từ trái qua phải? </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a:t>
            </a:r>
            <a:r>
              <a:rPr lang="en-US" altLang="ko-KR" sz="900">
                <a:latin typeface="Times New Roman" panose="02020603050405020304" pitchFamily="18" charset="0"/>
                <a:ea typeface="돋움" pitchFamily="50" charset="-127"/>
                <a:cs typeface="Times New Roman" panose="02020603050405020304" pitchFamily="18" charset="0"/>
              </a:rPr>
              <a:t>. </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Mạch ưu tiên khởi động, Mạch ưu tiên dừng</a:t>
            </a:r>
            <a:r>
              <a:rPr lang="ko-KR" altLang="en-US" sz="900">
                <a:latin typeface="Times New Roman" panose="02020603050405020304" pitchFamily="18" charset="0"/>
                <a:ea typeface="돋움" pitchFamily="50" charset="-127"/>
                <a:cs typeface="Times New Roman" panose="02020603050405020304" pitchFamily="18" charset="0"/>
              </a:rPr>
              <a:t> </a:t>
            </a:r>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B. </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Mạch ưu tiên dừng, Mạch OR</a:t>
            </a:r>
            <a:r>
              <a:rPr lang="ko-KR" altLang="en-US" sz="900">
                <a:latin typeface="Times New Roman" panose="02020603050405020304" pitchFamily="18" charset="0"/>
                <a:ea typeface="돋움" pitchFamily="50" charset="-127"/>
                <a:cs typeface="Times New Roman" panose="02020603050405020304" pitchFamily="18" charset="0"/>
              </a:rPr>
              <a:t> </a:t>
            </a:r>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C.</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Mạch Interlock, Mạch OR</a:t>
            </a:r>
            <a:r>
              <a:rPr lang="ko-KR" altLang="en-US" sz="900">
                <a:latin typeface="Times New Roman" panose="02020603050405020304" pitchFamily="18" charset="0"/>
                <a:ea typeface="돋움" pitchFamily="50" charset="-127"/>
                <a:cs typeface="Times New Roman" panose="02020603050405020304" pitchFamily="18" charset="0"/>
              </a:rPr>
              <a:t> </a:t>
            </a:r>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D. </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Mạch ưu tiên khởi động. Mạch tự duy </a:t>
            </a:r>
            <a:r>
              <a:rPr lang="en-US" altLang="ko-KR" sz="900" smtClean="0">
                <a:latin typeface="Times New Roman" panose="02020603050405020304" pitchFamily="18" charset="0"/>
                <a:ea typeface="돋움" pitchFamily="50" charset="-127"/>
                <a:cs typeface="Times New Roman" panose="02020603050405020304" pitchFamily="18" charset="0"/>
              </a:rPr>
              <a:t>trì</a:t>
            </a:r>
            <a:endParaRPr lang="en-US" altLang="ko-KR" sz="900">
              <a:latin typeface="Times New Roman" panose="02020603050405020304" pitchFamily="18" charset="0"/>
              <a:ea typeface="돋움" pitchFamily="50" charset="-127"/>
              <a:cs typeface="Times New Roman" panose="02020603050405020304" pitchFamily="18" charset="0"/>
            </a:endParaRPr>
          </a:p>
        </p:txBody>
      </p:sp>
      <p:grpSp>
        <p:nvGrpSpPr>
          <p:cNvPr id="37" name="Group 36"/>
          <p:cNvGrpSpPr/>
          <p:nvPr/>
        </p:nvGrpSpPr>
        <p:grpSpPr>
          <a:xfrm>
            <a:off x="3501008" y="2063095"/>
            <a:ext cx="3110805" cy="2169825"/>
            <a:chOff x="205413" y="6830229"/>
            <a:chExt cx="3398837" cy="2169825"/>
          </a:xfrm>
        </p:grpSpPr>
        <p:sp>
          <p:nvSpPr>
            <p:cNvPr id="38" name="Rectangle 103"/>
            <p:cNvSpPr>
              <a:spLocks noChangeArrowheads="1"/>
            </p:cNvSpPr>
            <p:nvPr/>
          </p:nvSpPr>
          <p:spPr bwMode="auto">
            <a:xfrm>
              <a:off x="205413" y="6830229"/>
              <a:ext cx="3398837" cy="216982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37</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Nhìn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ảnh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biết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đây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ảnh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về</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gì</a:t>
              </a:r>
              <a:r>
                <a:rPr lang="en-US" altLang="ko-KR" sz="900" dirty="0" smtClean="0">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Unit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vào</a:t>
              </a:r>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B .Unit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ra</a:t>
              </a:r>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C. Unit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thù</a:t>
              </a:r>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D. </a:t>
              </a:r>
              <a:r>
                <a:rPr lang="en-US" altLang="ko-KR" sz="900" dirty="0" smtClean="0">
                  <a:latin typeface="Times New Roman" panose="02020603050405020304" pitchFamily="18" charset="0"/>
                  <a:ea typeface="돋움" pitchFamily="50" charset="-127"/>
                  <a:cs typeface="Times New Roman" panose="02020603050405020304" pitchFamily="18" charset="0"/>
                </a:rPr>
                <a:t>Card </a:t>
              </a:r>
              <a:r>
                <a:rPr lang="en-US" altLang="ko-KR" sz="900" dirty="0" err="1" smtClean="0">
                  <a:latin typeface="Times New Roman" panose="02020603050405020304" pitchFamily="18" charset="0"/>
                  <a:ea typeface="돋움" pitchFamily="50" charset="-127"/>
                  <a:cs typeface="Times New Roman" panose="02020603050405020304" pitchFamily="18" charset="0"/>
                </a:rPr>
                <a:t>đặc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thù</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p:txBody>
        </p:sp>
        <p:pic>
          <p:nvPicPr>
            <p:cNvPr id="39" name="Picture 318" descr="clip_image005"/>
            <p:cNvPicPr>
              <a:picLocks noChangeAspect="1" noChangeArrowheads="1"/>
            </p:cNvPicPr>
            <p:nvPr/>
          </p:nvPicPr>
          <p:blipFill>
            <a:blip r:embed="rId6">
              <a:extLst>
                <a:ext uri="{28A0092B-C50C-407E-A947-70E740481C1C}">
                  <a14:useLocalDpi xmlns:a14="http://schemas.microsoft.com/office/drawing/2010/main" val="0"/>
                </a:ext>
              </a:extLst>
            </a:blip>
            <a:srcRect b="15100"/>
            <a:stretch>
              <a:fillRect/>
            </a:stretch>
          </p:blipFill>
          <p:spPr bwMode="auto">
            <a:xfrm>
              <a:off x="480094" y="7020340"/>
              <a:ext cx="2804886" cy="1309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 name="Rectangle 101"/>
          <p:cNvSpPr>
            <a:spLocks noChangeArrowheads="1"/>
          </p:cNvSpPr>
          <p:nvPr/>
        </p:nvSpPr>
        <p:spPr bwMode="auto">
          <a:xfrm>
            <a:off x="3384550" y="4702470"/>
            <a:ext cx="34290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38</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không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phải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thuộc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chủng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tại</a:t>
            </a:r>
            <a:r>
              <a:rPr lang="en-US" altLang="ko-KR" sz="900" dirty="0" smtClean="0">
                <a:latin typeface="Times New Roman" panose="02020603050405020304" pitchFamily="18" charset="0"/>
                <a:ea typeface="돋움" pitchFamily="50" charset="-127"/>
                <a:cs typeface="Times New Roman" panose="02020603050405020304" pitchFamily="18" charset="0"/>
              </a:rPr>
              <a:t> Unit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A. Đầu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le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 Transistor</a:t>
            </a:r>
            <a:r>
              <a:rPr lang="ko-KR" altLang="en-US"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ko-KR" altLang="en-US" sz="900">
                <a:latin typeface="Times New Roman" panose="02020603050405020304" pitchFamily="18" charset="0"/>
                <a:ea typeface="돋움" pitchFamily="50" charset="-127"/>
                <a:cs typeface="Times New Roman" panose="02020603050405020304" pitchFamily="18" charset="0"/>
              </a:rPr>
              <a:t>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C.</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SSR</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D.</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Đầu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ra</a:t>
            </a:r>
            <a:r>
              <a:rPr lang="en-US" altLang="ko-KR" sz="900" dirty="0" smtClean="0">
                <a:latin typeface="Times New Roman" panose="02020603050405020304" pitchFamily="18" charset="0"/>
                <a:ea typeface="돋움" pitchFamily="50" charset="-127"/>
                <a:cs typeface="Times New Roman" panose="02020603050405020304" pitchFamily="18" charset="0"/>
              </a:rPr>
              <a:t> SCR</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sp>
        <p:nvSpPr>
          <p:cNvPr id="41" name="Line 6"/>
          <p:cNvSpPr>
            <a:spLocks noChangeShapeType="1"/>
          </p:cNvSpPr>
          <p:nvPr/>
        </p:nvSpPr>
        <p:spPr bwMode="auto">
          <a:xfrm>
            <a:off x="4980401"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42" name="Line 7"/>
          <p:cNvSpPr>
            <a:spLocks noChangeShapeType="1"/>
          </p:cNvSpPr>
          <p:nvPr/>
        </p:nvSpPr>
        <p:spPr bwMode="auto">
          <a:xfrm>
            <a:off x="4980401"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483285" y="7502604"/>
            <a:ext cx="3330185" cy="1338828"/>
            <a:chOff x="7361365" y="2899137"/>
            <a:chExt cx="3330185" cy="1338828"/>
          </a:xfrm>
        </p:grpSpPr>
        <p:sp>
          <p:nvSpPr>
            <p:cNvPr id="44" name="Rectangle 101"/>
            <p:cNvSpPr>
              <a:spLocks noChangeArrowheads="1"/>
            </p:cNvSpPr>
            <p:nvPr/>
          </p:nvSpPr>
          <p:spPr bwMode="auto">
            <a:xfrm>
              <a:off x="7389550" y="2899137"/>
              <a:ext cx="330200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4</a:t>
              </a:r>
              <a:r>
                <a:rPr lang="en-US" altLang="ko-KR" sz="900" smtClean="0">
                  <a:latin typeface="Times New Roman" panose="02020603050405020304" pitchFamily="18" charset="0"/>
                  <a:ea typeface="돋움" pitchFamily="50" charset="-127"/>
                  <a:cs typeface="Times New Roman" panose="02020603050405020304" pitchFamily="18" charset="0"/>
                </a:rPr>
                <a:t>0</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Phạm</a:t>
              </a:r>
              <a:r>
                <a:rPr lang="en-US" altLang="ko-KR" sz="900" dirty="0" smtClean="0">
                  <a:latin typeface="Times New Roman" panose="02020603050405020304" pitchFamily="18" charset="0"/>
                  <a:ea typeface="돋움" pitchFamily="50" charset="-127"/>
                  <a:cs typeface="Times New Roman" panose="02020603050405020304" pitchFamily="18" charset="0"/>
                </a:rPr>
                <a:t> vi I/O </a:t>
              </a:r>
              <a:r>
                <a:rPr lang="en-US" altLang="ko-KR" sz="900" dirty="0" err="1" smtClean="0">
                  <a:latin typeface="Times New Roman" panose="02020603050405020304" pitchFamily="18" charset="0"/>
                  <a:ea typeface="돋움" pitchFamily="50" charset="-127"/>
                  <a:cs typeface="Times New Roman" panose="02020603050405020304" pitchFamily="18" charset="0"/>
                </a:rPr>
                <a:t>của</a:t>
              </a:r>
              <a:r>
                <a:rPr lang="en-US" altLang="ko-KR" sz="900" dirty="0" smtClean="0">
                  <a:latin typeface="Times New Roman" panose="02020603050405020304" pitchFamily="18" charset="0"/>
                  <a:ea typeface="돋움" pitchFamily="50" charset="-127"/>
                  <a:cs typeface="Times New Roman" panose="02020603050405020304" pitchFamily="18" charset="0"/>
                </a:rPr>
                <a:t> Card ở </a:t>
              </a:r>
              <a:r>
                <a:rPr lang="en-US" altLang="ko-KR" sz="900" dirty="0" err="1" smtClean="0">
                  <a:latin typeface="Times New Roman" panose="02020603050405020304" pitchFamily="18" charset="0"/>
                  <a:ea typeface="돋움" pitchFamily="50" charset="-127"/>
                  <a:cs typeface="Times New Roman" panose="02020603050405020304" pitchFamily="18" charset="0"/>
                </a:rPr>
                <a:t>vị</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trí</a:t>
              </a:r>
              <a:r>
                <a:rPr lang="en-US" altLang="ko-KR" sz="900" smtClean="0">
                  <a:latin typeface="Times New Roman" panose="02020603050405020304" pitchFamily="18" charset="0"/>
                  <a:ea typeface="돋움" pitchFamily="50" charset="-127"/>
                  <a:cs typeface="Times New Roman" panose="02020603050405020304" pitchFamily="18" charset="0"/>
                </a:rPr>
                <a:t> (2)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a:latin typeface="Times New Roman" panose="02020603050405020304" pitchFamily="18" charset="0"/>
                  <a:ea typeface="돋움" pitchFamily="50" charset="-127"/>
                  <a:cs typeface="Times New Roman" panose="02020603050405020304" pitchFamily="18" charset="0"/>
                </a:rPr>
                <a:t>XB0~XDF  </a:t>
              </a:r>
              <a:r>
                <a:rPr lang="en-US" altLang="ko-KR" sz="900" smtClean="0">
                  <a:latin typeface="Times New Roman" panose="02020603050405020304" pitchFamily="18" charset="0"/>
                  <a:ea typeface="돋움" pitchFamily="50" charset="-127"/>
                  <a:cs typeface="Times New Roman" panose="02020603050405020304" pitchFamily="18" charset="0"/>
                </a:rPr>
                <a:t>          B.  </a:t>
              </a:r>
              <a:r>
                <a:rPr lang="en-US" altLang="ko-KR" sz="900" dirty="0">
                  <a:latin typeface="Times New Roman" panose="02020603050405020304" pitchFamily="18" charset="0"/>
                  <a:ea typeface="돋움" pitchFamily="50" charset="-127"/>
                  <a:cs typeface="Times New Roman" panose="02020603050405020304" pitchFamily="18" charset="0"/>
                </a:rPr>
                <a:t>XCO~XCF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C.  </a:t>
              </a:r>
              <a:r>
                <a:rPr lang="en-US" altLang="ko-KR" sz="900">
                  <a:latin typeface="Times New Roman" panose="02020603050405020304" pitchFamily="18" charset="0"/>
                  <a:ea typeface="돋움" pitchFamily="50" charset="-127"/>
                  <a:cs typeface="Times New Roman" panose="02020603050405020304" pitchFamily="18" charset="0"/>
                </a:rPr>
                <a:t>YBO~YDF  </a:t>
              </a:r>
              <a:r>
                <a:rPr lang="en-US" altLang="ko-KR" sz="900" smtClean="0">
                  <a:latin typeface="Times New Roman" panose="02020603050405020304" pitchFamily="18" charset="0"/>
                  <a:ea typeface="돋움" pitchFamily="50" charset="-127"/>
                  <a:cs typeface="Times New Roman" panose="02020603050405020304" pitchFamily="18" charset="0"/>
                </a:rPr>
                <a:t>         D.  </a:t>
              </a:r>
              <a:r>
                <a:rPr lang="en-US" altLang="ko-KR" sz="900" dirty="0">
                  <a:latin typeface="Times New Roman" panose="02020603050405020304" pitchFamily="18" charset="0"/>
                  <a:ea typeface="돋움" pitchFamily="50" charset="-127"/>
                  <a:cs typeface="Times New Roman" panose="02020603050405020304" pitchFamily="18" charset="0"/>
                </a:rPr>
                <a:t>YBO~YEF</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45"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61365" y="3097890"/>
              <a:ext cx="3011488"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6" name="Group 45"/>
          <p:cNvGrpSpPr/>
          <p:nvPr/>
        </p:nvGrpSpPr>
        <p:grpSpPr>
          <a:xfrm>
            <a:off x="3424651" y="5430922"/>
            <a:ext cx="3111500" cy="1754326"/>
            <a:chOff x="3424651" y="1547580"/>
            <a:chExt cx="3111500" cy="1754326"/>
          </a:xfrm>
        </p:grpSpPr>
        <p:sp>
          <p:nvSpPr>
            <p:cNvPr id="47"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39</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Nếu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viết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mạch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tự</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smtClean="0">
                  <a:latin typeface="Times New Roman" panose="02020603050405020304" pitchFamily="18" charset="0"/>
                  <a:ea typeface="돋움" pitchFamily="50" charset="-127"/>
                  <a:cs typeface="Times New Roman" panose="02020603050405020304" pitchFamily="18" charset="0"/>
                </a:rPr>
                <a:t>( ?  </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sẽ</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gì</a:t>
              </a:r>
              <a:r>
                <a:rPr lang="en-US" altLang="ko-KR" sz="900" smtClean="0">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A. CO            B.  Y40           C.  SET T40</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D.</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X1</a:t>
              </a:r>
              <a:endParaRPr lang="ko-KR" altLang="en-US" sz="90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48" name="Picture 4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spTree>
    <p:extLst>
      <p:ext uri="{BB962C8B-B14F-4D97-AF65-F5344CB8AC3E}">
        <p14:creationId xmlns:p14="http://schemas.microsoft.com/office/powerpoint/2010/main" val="216089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Là thiết bị được lắp sau MNK dùng để loại bỏ 63% hơi nước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làm 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lọc không 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Main line filter</a:t>
            </a:r>
          </a:p>
        </p:txBody>
      </p:sp>
      <p:sp>
        <p:nvSpPr>
          <p:cNvPr id="29" name="Rectangle 7"/>
          <p:cNvSpPr>
            <a:spLocks noChangeArrowheads="1"/>
          </p:cNvSpPr>
          <p:nvPr/>
        </p:nvSpPr>
        <p:spPr bwMode="auto">
          <a:xfrm>
            <a:off x="246995" y="218370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Máy nén hai chiều chia làm hai loại chính là diaphragm và piston theo nguyên lý mở van hút khí ở hành trình làm tăng dung tích xi lanh rồi mở van xả sau khi nén khí hút làm giảm dung tích xi lanh dựa vào diaphragm hay piston vận động hai chiều.</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Dựa vào khả năng nén của Piston sẽ chia ra nhiều cấp. Cấp nén nào có thể nén được áp suất đến 30kgf/</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vi-VN" altLang="ko-KR" sz="950" smtClean="0">
                <a:latin typeface="Times New Roman" pitchFamily="18" charset="0"/>
                <a:ea typeface="LG Smart_H Regular" panose="020B0600000101010101" pitchFamily="34" charset="-127"/>
                <a:cs typeface="Times New Roman" pitchFamily="18" charset="0"/>
              </a:rPr>
              <a:t>1</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en-US" altLang="ko-KR" sz="950">
                <a:latin typeface="Times New Roman" pitchFamily="18" charset="0"/>
                <a:ea typeface="LG Smart_H Regular" panose="020B0600000101010101" pitchFamily="34" charset="-127"/>
                <a:cs typeface="Times New Roman" pitchFamily="18" charset="0"/>
              </a:rPr>
              <a:t>2</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en-US" altLang="ko-KR" sz="950">
                <a:latin typeface="Times New Roman" pitchFamily="18" charset="0"/>
                <a:ea typeface="LG Smart_H Regular" panose="020B0600000101010101" pitchFamily="34" charset="-127"/>
                <a:cs typeface="Times New Roman" pitchFamily="18" charset="0"/>
              </a:rPr>
              <a:t>3</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en-US" altLang="ko-KR" sz="950" smtClean="0">
                <a:latin typeface="Times New Roman" pitchFamily="18" charset="0"/>
                <a:ea typeface="LG Smart_H Regular" panose="020B0600000101010101" pitchFamily="34" charset="-127"/>
                <a:cs typeface="Times New Roman" pitchFamily="18" charset="0"/>
              </a:rPr>
              <a:t>4</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59544" y="5889104"/>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Là thiết bị có vai trò ổn định hóa việc cung cấp khí nén cho dù lượng tiêu thụ khí nhiều; tố thiểu hóa việc thay đổi áp suất phát sinh khi tiêu thụđồng thời loại bỏ hiện tượng rung lắc của áp suất không </a:t>
            </a:r>
            <a:r>
              <a:rPr lang="vi-VN" altLang="ko-KR" sz="950" smtClean="0">
                <a:latin typeface="Times New Roman" pitchFamily="18" charset="0"/>
                <a:ea typeface="LG Smart_H Regular" panose="020B0600000101010101" pitchFamily="34" charset="-127"/>
                <a:cs typeface="Times New Roman" pitchFamily="18" charset="0"/>
              </a:rPr>
              <a:t>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Bể </a:t>
            </a:r>
            <a:r>
              <a:rPr lang="en-US" altLang="ko-KR" sz="950" smtClean="0">
                <a:latin typeface="Times New Roman" pitchFamily="18" charset="0"/>
                <a:ea typeface="LG Smart_H Regular" panose="020B0600000101010101" pitchFamily="34" charset="-127"/>
                <a:cs typeface="Times New Roman" pitchFamily="18" charset="0"/>
              </a:rPr>
              <a:t>chứa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Shutter valve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32792" y="392086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Bộ lọc hơi nước được dùng trong mạch khí nén, dùng để làm sạch khí nén bằng cách loại bỏ hơi nước hay tạp chất rắn như bụi, cặn,… trong ống dẫn có trong khí nén.</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Thiết bị nào trong bộ lọc dùng để loại bỏ hơi </a:t>
            </a:r>
            <a:r>
              <a:rPr lang="vi-VN" altLang="ko-KR" sz="950" smtClean="0">
                <a:latin typeface="Times New Roman" pitchFamily="18" charset="0"/>
                <a:ea typeface="LG Smart_H Regular" panose="020B0600000101010101" pitchFamily="34" charset="-127"/>
                <a:cs typeface="Times New Roman" pitchFamily="18" charset="0"/>
              </a:rPr>
              <a:t>nước?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Deflector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Element</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Paper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096650"/>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Máy sấy nào có thể loại bỏ gần hết độ ẩm trong khí nén, nhiệt độ hóa sương khoảng từ 0.5~-100℃.Có thể tái sử dụng nên được sử dụng thường xuyên.Phí thiết bị và phí sửa chữa cao nhưng phí vận hành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a:t>
            </a:r>
            <a:r>
              <a:rPr lang="vi-VN" altLang="ko-KR" sz="950" smtClean="0">
                <a:latin typeface="Times New Roman" pitchFamily="18" charset="0"/>
                <a:ea typeface="LG Smart_H Regular" panose="020B0600000101010101" pitchFamily="34" charset="-127"/>
                <a:cs typeface="Times New Roman" pitchFamily="18" charset="0"/>
              </a:rPr>
              <a:t>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hấp </a:t>
            </a:r>
            <a:r>
              <a:rPr lang="vi-VN" altLang="ko-KR" sz="950" smtClean="0">
                <a:latin typeface="Times New Roman" pitchFamily="18" charset="0"/>
                <a:ea typeface="LG Smart_H Regular" panose="020B0600000101010101" pitchFamily="34" charset="-127"/>
                <a:cs typeface="Times New Roman" pitchFamily="18" charset="0"/>
              </a:rPr>
              <a:t>thụ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73132" y="635759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Van có tính năng xả nhanh không khí , khí nén từ actuator sau đó tăng tốc độ của xylanh lên được gọi là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xả cấp </a:t>
            </a:r>
            <a:r>
              <a:rPr lang="vi-VN" altLang="ko-KR" sz="950" smtClean="0">
                <a:latin typeface="Times New Roman" pitchFamily="18" charset="0"/>
                <a:ea typeface="LG Smart_H Regular" panose="020B0600000101010101" pitchFamily="34" charset="-127"/>
                <a:cs typeface="Times New Roman" pitchFamily="18" charset="0"/>
              </a:rPr>
              <a:t>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lưu </a:t>
            </a:r>
            <a:r>
              <a:rPr lang="vi-VN" altLang="ko-KR" sz="950" smtClean="0">
                <a:latin typeface="Times New Roman" pitchFamily="18" charset="0"/>
                <a:ea typeface="LG Smart_H Regular" panose="020B0600000101010101" pitchFamily="34" charset="-127"/>
                <a:cs typeface="Times New Roman" pitchFamily="18" charset="0"/>
              </a:rPr>
              <a:t>xả</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a:t>
            </a:r>
            <a:r>
              <a:rPr lang="vi-VN" altLang="ko-KR" sz="950" smtClean="0">
                <a:latin typeface="Times New Roman" pitchFamily="18" charset="0"/>
                <a:ea typeface="LG Smart_H Regular" panose="020B0600000101010101" pitchFamily="34" charset="-127"/>
                <a:cs typeface="Times New Roman" pitchFamily="18" charset="0"/>
              </a:rPr>
              <a:t>đệm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Đâu là giải thích đúng về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Nhiều tiếp điểm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thể duy trì trạng </a:t>
            </a:r>
            <a:r>
              <a:rPr lang="vi-VN" altLang="ko-KR" sz="950" smtClean="0">
                <a:latin typeface="Times New Roman" pitchFamily="18" charset="0"/>
                <a:ea typeface="LG Smart_H Regular" panose="020B0600000101010101" pitchFamily="34" charset="-127"/>
                <a:cs typeface="Times New Roman" pitchFamily="18" charset="0"/>
              </a:rPr>
              <a:t>thái.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xử lí tín hiệu của các tính chất khác nhau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truyền tải tín hiệu kém.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248498" y="7473280"/>
            <a:ext cx="3180502" cy="1872208"/>
            <a:chOff x="248498" y="7473280"/>
            <a:chExt cx="3180502" cy="1872208"/>
          </a:xfrm>
        </p:grpSpPr>
        <p:sp>
          <p:nvSpPr>
            <p:cNvPr id="32" name="Rectangle 7"/>
            <p:cNvSpPr>
              <a:spLocks noChangeArrowheads="1"/>
            </p:cNvSpPr>
            <p:nvPr/>
          </p:nvSpPr>
          <p:spPr bwMode="auto">
            <a:xfrm>
              <a:off x="248498" y="747328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Charles?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3" name="Picture 32"/>
            <p:cNvPicPr>
              <a:picLocks noChangeAspect="1"/>
            </p:cNvPicPr>
            <p:nvPr/>
          </p:nvPicPr>
          <p:blipFill>
            <a:blip r:embed="rId3"/>
            <a:stretch>
              <a:fillRect/>
            </a:stretch>
          </p:blipFill>
          <p:spPr>
            <a:xfrm>
              <a:off x="2029287" y="8553400"/>
              <a:ext cx="967665" cy="792088"/>
            </a:xfrm>
            <a:prstGeom prst="rect">
              <a:avLst/>
            </a:prstGeom>
          </p:spPr>
        </p:pic>
        <p:pic>
          <p:nvPicPr>
            <p:cNvPr id="35"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696" y="8526367"/>
              <a:ext cx="969168" cy="81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1164" y="7662271"/>
              <a:ext cx="937614" cy="81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36"/>
            <p:cNvPicPr>
              <a:picLocks noChangeAspect="1"/>
            </p:cNvPicPr>
            <p:nvPr/>
          </p:nvPicPr>
          <p:blipFill>
            <a:blip r:embed="rId6"/>
            <a:stretch>
              <a:fillRect/>
            </a:stretch>
          </p:blipFill>
          <p:spPr>
            <a:xfrm>
              <a:off x="560085" y="7744524"/>
              <a:ext cx="1068715" cy="808876"/>
            </a:xfrm>
            <a:prstGeom prst="rect">
              <a:avLst/>
            </a:prstGeom>
          </p:spPr>
        </p:pic>
      </p:grpSp>
      <p:grpSp>
        <p:nvGrpSpPr>
          <p:cNvPr id="3" name="Group 2"/>
          <p:cNvGrpSpPr/>
          <p:nvPr/>
        </p:nvGrpSpPr>
        <p:grpSpPr>
          <a:xfrm>
            <a:off x="3468850" y="2864768"/>
            <a:ext cx="3180502" cy="1309745"/>
            <a:chOff x="3468850" y="2864768"/>
            <a:chExt cx="3180502" cy="1309745"/>
          </a:xfrm>
        </p:grpSpPr>
        <p:sp>
          <p:nvSpPr>
            <p:cNvPr id="50" name="Rectangle 7"/>
            <p:cNvSpPr>
              <a:spLocks noChangeArrowheads="1"/>
            </p:cNvSpPr>
            <p:nvPr/>
          </p:nvSpPr>
          <p:spPr bwMode="auto">
            <a:xfrm>
              <a:off x="3468850" y="286476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Phân loại theo phương thức lắp ráp, Tải chuyển động theo đường thẳng. Hình nào là kiểu foot hướng trục (trục trong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3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1208" y="3724962"/>
              <a:ext cx="747936" cy="43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6949" y="3710736"/>
              <a:ext cx="701470" cy="463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60616" y="3282478"/>
              <a:ext cx="734445" cy="4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9992" y="3296816"/>
              <a:ext cx="815384" cy="4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8" name="Group 7"/>
          <p:cNvGrpSpPr/>
          <p:nvPr/>
        </p:nvGrpSpPr>
        <p:grpSpPr>
          <a:xfrm>
            <a:off x="3449538" y="4991616"/>
            <a:ext cx="3180502" cy="969496"/>
            <a:chOff x="3449538" y="4304928"/>
            <a:chExt cx="3180502" cy="969496"/>
          </a:xfrm>
        </p:grpSpPr>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Chọn đáp án đúng với hình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tiết 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an </a:t>
              </a:r>
              <a:r>
                <a:rPr lang="vi-VN" altLang="ko-KR" sz="950">
                  <a:latin typeface="Times New Roman" pitchFamily="18" charset="0"/>
                  <a:ea typeface="LG Smart_H Regular" panose="020B0600000101010101" pitchFamily="34" charset="-127"/>
                  <a:cs typeface="Times New Roman" pitchFamily="18" charset="0"/>
                </a:rPr>
                <a:t>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điều khiển tốc 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8" name="Picture 47"/>
            <p:cNvPicPr>
              <a:picLocks noChangeAspect="1"/>
            </p:cNvPicPr>
            <p:nvPr/>
          </p:nvPicPr>
          <p:blipFill>
            <a:blip r:embed="rId11"/>
            <a:stretch>
              <a:fillRect/>
            </a:stretch>
          </p:blipFill>
          <p:spPr>
            <a:xfrm>
              <a:off x="5068069" y="4542214"/>
              <a:ext cx="981075" cy="672352"/>
            </a:xfrm>
            <a:prstGeom prst="rect">
              <a:avLst/>
            </a:prstGeom>
          </p:spPr>
        </p:pic>
      </p:grpSp>
    </p:spTree>
    <p:extLst>
      <p:ext uri="{BB962C8B-B14F-4D97-AF65-F5344CB8AC3E}">
        <p14:creationId xmlns:p14="http://schemas.microsoft.com/office/powerpoint/2010/main" val="39969726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 name="Rectangle 604"/>
          <p:cNvSpPr>
            <a:spLocks noChangeArrowheads="1"/>
          </p:cNvSpPr>
          <p:nvPr/>
        </p:nvSpPr>
        <p:spPr bwMode="auto">
          <a:xfrm>
            <a:off x="260648" y="989013"/>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51</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điểm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kĩ</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thuật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ko-KR"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err="1">
                <a:latin typeface="Arial" panose="020B0604020202020204" pitchFamily="34" charset="0"/>
                <a:cs typeface="Arial" panose="020B0604020202020204" pitchFamily="34" charset="0"/>
              </a:rPr>
              <a:t>Có</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thể</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nhận</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được</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khí</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nén</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là</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nguồn</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một</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cách</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đơn</a:t>
            </a:r>
            <a:r>
              <a:rPr lang="en-US" altLang="ko-KR" sz="800" dirty="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giản</a:t>
            </a:r>
            <a:r>
              <a:rPr lang="en-US" altLang="ko-KR" sz="800" dirty="0">
                <a:latin typeface="Arial" panose="020B0604020202020204" pitchFamily="34" charset="0"/>
                <a:cs typeface="Arial" panose="020B0604020202020204" pitchFamily="34" charset="0"/>
              </a:rPr>
              <a:t>.</a:t>
            </a: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Khó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điều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khiển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tốc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chính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xác</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nhận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lớn</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Hiệu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kém</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p:txBody>
      </p:sp>
      <p:sp>
        <p:nvSpPr>
          <p:cNvPr id="8" name="Rectangle 605"/>
          <p:cNvSpPr>
            <a:spLocks noChangeArrowheads="1"/>
          </p:cNvSpPr>
          <p:nvPr/>
        </p:nvSpPr>
        <p:spPr bwMode="auto">
          <a:xfrm>
            <a:off x="260648" y="2537827"/>
            <a:ext cx="312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52</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Không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trúc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bởi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nhiều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Liệt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kê</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theo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thứ</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tự</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từ</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lớn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smtClean="0">
                <a:latin typeface="Arial" panose="020B0604020202020204" pitchFamily="34" charset="0"/>
                <a:cs typeface="Arial" panose="020B0604020202020204" pitchFamily="34" charset="0"/>
              </a:rPr>
              <a:t>N2-O2-Ar-CO2-H2</a:t>
            </a:r>
            <a:endParaRPr lang="ko-KR" altLang="en-US"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N2-Ar-O2-CO2-H2</a:t>
            </a:r>
            <a:endParaRPr lang="ko-KR" altLang="en-US"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O2-N2-Ar-H2-CO2</a:t>
            </a:r>
            <a:endParaRPr lang="ko-KR" altLang="en-US"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O2-Ar-N2-H2-CO2</a:t>
            </a:r>
            <a:endParaRPr lang="ko-KR" altLang="en-US" sz="800" dirty="0">
              <a:latin typeface="Arial" panose="020B0604020202020204" pitchFamily="34" charset="0"/>
              <a:cs typeface="Arial" panose="020B0604020202020204" pitchFamily="34" charset="0"/>
            </a:endParaRPr>
          </a:p>
        </p:txBody>
      </p:sp>
      <p:sp>
        <p:nvSpPr>
          <p:cNvPr id="9" name="Rectangle 607"/>
          <p:cNvSpPr>
            <a:spLocks noChangeArrowheads="1"/>
          </p:cNvSpPr>
          <p:nvPr/>
        </p:nvSpPr>
        <p:spPr bwMode="auto">
          <a:xfrm>
            <a:off x="260648" y="4173106"/>
            <a:ext cx="3200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53</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điểm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bị</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lại</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Tốc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nhanh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hơn</a:t>
            </a:r>
            <a:r>
              <a:rPr lang="en-US" altLang="ko-KR" sz="800" dirty="0" smtClean="0">
                <a:latin typeface="Arial" panose="020B0604020202020204" pitchFamily="34" charset="0"/>
                <a:cs typeface="Arial" panose="020B0604020202020204" pitchFamily="34" charset="0"/>
              </a:rPr>
              <a:t> so </a:t>
            </a:r>
            <a:r>
              <a:rPr lang="en-US" altLang="ko-KR" sz="800" dirty="0" err="1" smtClean="0">
                <a:latin typeface="Arial" panose="020B0604020202020204" pitchFamily="34" charset="0"/>
                <a:cs typeface="Arial" panose="020B0604020202020204" pitchFamily="34" charset="0"/>
              </a:rPr>
              <a:t>với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thủy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Nếu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nhận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nhiệt</a:t>
            </a:r>
            <a:r>
              <a:rPr lang="en-US" altLang="ko-KR" sz="800" dirty="0" smtClean="0">
                <a:latin typeface="Arial" panose="020B0604020202020204" pitchFamily="34" charset="0"/>
                <a:cs typeface="Arial" panose="020B0604020202020204" pitchFamily="34" charset="0"/>
              </a:rPr>
              <a:t> ở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định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sẽ</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thu</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nhỏ</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lại</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an </a:t>
            </a:r>
            <a:r>
              <a:rPr lang="en-US" altLang="ko-KR" sz="800" dirty="0" err="1" smtClean="0">
                <a:latin typeface="Arial" panose="020B0604020202020204" pitchFamily="34" charset="0"/>
                <a:cs typeface="Arial" panose="020B0604020202020204" pitchFamily="34" charset="0"/>
              </a:rPr>
              <a:t>toàn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khác</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p:txBody>
      </p:sp>
      <p:sp>
        <p:nvSpPr>
          <p:cNvPr id="10" name="Rectangle 635"/>
          <p:cNvSpPr>
            <a:spLocks noChangeArrowheads="1"/>
          </p:cNvSpPr>
          <p:nvPr/>
        </p:nvSpPr>
        <p:spPr bwMode="auto">
          <a:xfrm>
            <a:off x="260648" y="6312441"/>
            <a:ext cx="3124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54</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Trong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phân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theo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10~16Kgf</a:t>
            </a:r>
            <a:r>
              <a:rPr lang="en-US" altLang="ko-KR" sz="800" dirty="0">
                <a:latin typeface="Arial" panose="020B0604020202020204" pitchFamily="34" charset="0"/>
                <a:cs typeface="Arial" panose="020B0604020202020204" pitchFamily="34" charset="0"/>
              </a:rPr>
              <a:t>/</a:t>
            </a:r>
            <a:r>
              <a:rPr lang="en-US" altLang="ko-KR" sz="800" dirty="0" smtClean="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nào</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   A.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thấp</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trung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bình</a:t>
            </a:r>
            <a:r>
              <a:rPr lang="ko-KR" altLang="en-US" sz="800" dirty="0" smtClean="0">
                <a:latin typeface="Arial" panose="020B0604020202020204" pitchFamily="34" charset="0"/>
                <a:cs typeface="Arial" panose="020B0604020202020204" pitchFamily="34" charset="0"/>
              </a:rPr>
              <a:t>   </a:t>
            </a:r>
            <a:endParaRPr lang="en-US" altLang="ko-KR" sz="800" dirty="0" smtClean="0">
              <a:latin typeface="Arial" panose="020B0604020202020204" pitchFamily="34" charset="0"/>
              <a:cs typeface="Arial" panose="020B0604020202020204" pitchFamily="34" charset="0"/>
            </a:endParaRPr>
          </a:p>
          <a:p>
            <a:pPr eaLnBrk="1" hangingPunct="1"/>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cao</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endParaRPr lang="ko-KR" altLang="en-US" sz="800" dirty="0">
              <a:latin typeface="Arial" panose="020B0604020202020204" pitchFamily="34" charset="0"/>
              <a:cs typeface="Arial" panose="020B0604020202020204" pitchFamily="34" charset="0"/>
            </a:endParaRPr>
          </a:p>
        </p:txBody>
      </p:sp>
      <p:sp>
        <p:nvSpPr>
          <p:cNvPr id="11" name="Rectangle 76"/>
          <p:cNvSpPr>
            <a:spLocks noChangeArrowheads="1"/>
          </p:cNvSpPr>
          <p:nvPr/>
        </p:nvSpPr>
        <p:spPr bwMode="auto">
          <a:xfrm>
            <a:off x="3401144" y="2617269"/>
            <a:ext cx="329607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800" smtClean="0">
                <a:latin typeface="Arial" panose="020B0604020202020204" pitchFamily="34" charset="0"/>
                <a:cs typeface="Arial" panose="020B0604020202020204" pitchFamily="34" charset="0"/>
              </a:rPr>
              <a:t>57</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yếu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tố</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tank </a:t>
            </a:r>
            <a:r>
              <a:rPr lang="en-US" altLang="ko-KR" sz="800" dirty="0" err="1" smtClean="0">
                <a:latin typeface="Arial" panose="020B0604020202020204" pitchFamily="34" charset="0"/>
                <a:cs typeface="Arial" panose="020B0604020202020204" pitchFamily="34" charset="0"/>
              </a:rPr>
              <a:t>chứa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lnSpc>
                <a:spcPct val="120000"/>
              </a:lnSpc>
            </a:pPr>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cung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nén</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tỷ</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lệ</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ko-KR" altLang="en-US" sz="800" dirty="0" smtClean="0">
                <a:latin typeface="Arial" panose="020B0604020202020204" pitchFamily="34" charset="0"/>
                <a:cs typeface="Arial" panose="020B0604020202020204" pitchFamily="34" charset="0"/>
              </a:rPr>
              <a:t>      </a:t>
            </a:r>
            <a:endParaRPr lang="ko-KR" altLang="en-US" sz="800" dirty="0">
              <a:latin typeface="Arial" panose="020B0604020202020204" pitchFamily="34" charset="0"/>
              <a:cs typeface="Arial" panose="020B0604020202020204" pitchFamily="34" charset="0"/>
            </a:endParaRPr>
          </a:p>
          <a:p>
            <a:pPr eaLnBrk="1" hangingPunct="1">
              <a:lnSpc>
                <a:spcPct val="120000"/>
              </a:lnSpc>
            </a:pPr>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nén</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Số</a:t>
            </a:r>
            <a:r>
              <a:rPr lang="en-US" altLang="ko-KR" sz="800" dirty="0" smtClean="0">
                <a:latin typeface="Arial" panose="020B0604020202020204" pitchFamily="34" charset="0"/>
                <a:cs typeface="Arial" panose="020B0604020202020204" pitchFamily="34" charset="0"/>
              </a:rPr>
              <a:t> Switching </a:t>
            </a:r>
            <a:r>
              <a:rPr lang="en-US" altLang="ko-KR" sz="800" dirty="0" err="1" smtClean="0">
                <a:latin typeface="Arial" panose="020B0604020202020204" pitchFamily="34" charset="0"/>
                <a:cs typeface="Arial" panose="020B0604020202020204" pitchFamily="34" charset="0"/>
              </a:rPr>
              <a:t>mỗi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giờ</a:t>
            </a:r>
            <a:endParaRPr lang="ko-KR" altLang="en-US" sz="800" dirty="0">
              <a:latin typeface="Arial" panose="020B0604020202020204" pitchFamily="34" charset="0"/>
              <a:cs typeface="Arial" panose="020B0604020202020204" pitchFamily="34" charset="0"/>
            </a:endParaRPr>
          </a:p>
        </p:txBody>
      </p:sp>
      <p:sp>
        <p:nvSpPr>
          <p:cNvPr id="12" name="Text Box 241"/>
          <p:cNvSpPr txBox="1">
            <a:spLocks noChangeArrowheads="1"/>
          </p:cNvSpPr>
          <p:nvPr/>
        </p:nvSpPr>
        <p:spPr bwMode="auto">
          <a:xfrm>
            <a:off x="3401144" y="3669050"/>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800" smtClean="0">
                <a:latin typeface="Arial" panose="020B0604020202020204" pitchFamily="34" charset="0"/>
                <a:cs typeface="Arial" panose="020B0604020202020204" pitchFamily="34" charset="0"/>
              </a:rPr>
              <a:t>58</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Dưới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đây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nhiễm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nào</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fontAlgn="b" hangingPunct="1"/>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tuổi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thọ</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móc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gây</a:t>
            </a:r>
            <a:r>
              <a:rPr lang="en-US" altLang="ko-KR" sz="800" dirty="0" smtClean="0">
                <a:latin typeface="Arial" panose="020B0604020202020204" pitchFamily="34" charset="0"/>
                <a:cs typeface="Arial" panose="020B0604020202020204" pitchFamily="34" charset="0"/>
              </a:rPr>
              <a:t> ô </a:t>
            </a:r>
            <a:r>
              <a:rPr lang="en-US" altLang="ko-KR" sz="800" dirty="0" err="1" smtClean="0">
                <a:latin typeface="Arial" panose="020B0604020202020204" pitchFamily="34" charset="0"/>
                <a:cs typeface="Arial" panose="020B0604020202020204" pitchFamily="34" charset="0"/>
              </a:rPr>
              <a:t>nhiễm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thay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đổi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vô</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cùng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nhỏ</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diện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chảy</a:t>
            </a:r>
            <a:r>
              <a:rPr lang="en-US" altLang="ko-KR" sz="800" dirty="0" smtClean="0">
                <a:latin typeface="Arial" panose="020B0604020202020204" pitchFamily="34" charset="0"/>
                <a:cs typeface="Arial" panose="020B0604020202020204" pitchFamily="34" charset="0"/>
              </a:rPr>
              <a:t> qua, </a:t>
            </a:r>
            <a:r>
              <a:rPr lang="en-US" altLang="ko-KR" sz="800" dirty="0" err="1" smtClean="0">
                <a:latin typeface="Arial" panose="020B0604020202020204" pitchFamily="34" charset="0"/>
                <a:cs typeface="Arial" panose="020B0604020202020204" pitchFamily="34" charset="0"/>
              </a:rPr>
              <a:t>phồng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valve </a:t>
            </a:r>
            <a:r>
              <a:rPr lang="en-US" altLang="ko-KR" sz="800" dirty="0" err="1" smtClean="0">
                <a:latin typeface="Arial" panose="020B0604020202020204" pitchFamily="34" charset="0"/>
                <a:cs typeface="Arial" panose="020B0604020202020204" pitchFamily="34" charset="0"/>
              </a:rPr>
              <a:t>bằng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cao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bám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chặt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vào</a:t>
            </a:r>
            <a:r>
              <a:rPr lang="en-US" altLang="ko-KR" sz="800" dirty="0" smtClean="0">
                <a:latin typeface="Arial" panose="020B0604020202020204" pitchFamily="34" charset="0"/>
                <a:cs typeface="Arial" panose="020B0604020202020204" pitchFamily="34" charset="0"/>
              </a:rPr>
              <a:t> spool</a:t>
            </a:r>
            <a:endParaRPr lang="ko-KR" altLang="en-US" sz="800" dirty="0">
              <a:latin typeface="Arial" panose="020B0604020202020204" pitchFamily="34" charset="0"/>
              <a:cs typeface="Arial" panose="020B0604020202020204" pitchFamily="34" charset="0"/>
            </a:endParaRPr>
          </a:p>
          <a:p>
            <a:pPr eaLnBrk="1" fontAlgn="b" hangingPunct="1"/>
            <a:r>
              <a:rPr lang="en-US" altLang="ko-KR" sz="800" smtClean="0">
                <a:latin typeface="Arial" panose="020B0604020202020204" pitchFamily="34" charset="0"/>
                <a:cs typeface="Arial" panose="020B0604020202020204" pitchFamily="34" charset="0"/>
              </a:rPr>
              <a:t>A.</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Carbon</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err="1">
                <a:latin typeface="Arial" panose="020B0604020202020204" pitchFamily="34" charset="0"/>
                <a:cs typeface="Arial" panose="020B0604020202020204" pitchFamily="34" charset="0"/>
              </a:rPr>
              <a:t>D</a:t>
            </a:r>
            <a:r>
              <a:rPr lang="en-US" altLang="ko-KR" sz="800" smtClean="0">
                <a:latin typeface="Arial" panose="020B0604020202020204" pitchFamily="34" charset="0"/>
                <a:cs typeface="Arial" panose="020B0604020202020204" pitchFamily="34" charset="0"/>
              </a:rPr>
              <a:t>ầu</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err="1">
                <a:latin typeface="Arial" panose="020B0604020202020204" pitchFamily="34" charset="0"/>
                <a:cs typeface="Arial" panose="020B0604020202020204" pitchFamily="34" charset="0"/>
              </a:rPr>
              <a:t>N</a:t>
            </a:r>
            <a:r>
              <a:rPr lang="en-US" altLang="ko-KR" sz="800" smtClean="0">
                <a:latin typeface="Arial" panose="020B0604020202020204" pitchFamily="34" charset="0"/>
                <a:cs typeface="Arial" panose="020B0604020202020204" pitchFamily="34" charset="0"/>
              </a:rPr>
              <a:t>ước</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B</a:t>
            </a:r>
            <a:r>
              <a:rPr lang="en-US" altLang="ko-KR" sz="800" smtClean="0">
                <a:latin typeface="Arial" panose="020B0604020202020204" pitchFamily="34" charset="0"/>
                <a:cs typeface="Arial" panose="020B0604020202020204" pitchFamily="34" charset="0"/>
              </a:rPr>
              <a:t>ụi </a:t>
            </a:r>
            <a:endParaRPr lang="ko-KR" altLang="en-US" sz="800" dirty="0">
              <a:latin typeface="Arial" panose="020B0604020202020204" pitchFamily="34" charset="0"/>
              <a:cs typeface="Arial" panose="020B0604020202020204" pitchFamily="34" charset="0"/>
            </a:endParaRPr>
          </a:p>
        </p:txBody>
      </p:sp>
      <p:grpSp>
        <p:nvGrpSpPr>
          <p:cNvPr id="13" name="Group 12"/>
          <p:cNvGrpSpPr/>
          <p:nvPr/>
        </p:nvGrpSpPr>
        <p:grpSpPr>
          <a:xfrm>
            <a:off x="3401144" y="4925705"/>
            <a:ext cx="3124200" cy="1323439"/>
            <a:chOff x="304800" y="7631114"/>
            <a:chExt cx="3124200" cy="1323439"/>
          </a:xfrm>
        </p:grpSpPr>
        <p:sp>
          <p:nvSpPr>
            <p:cNvPr id="14" name="Rectangle 615"/>
            <p:cNvSpPr>
              <a:spLocks noChangeArrowheads="1"/>
            </p:cNvSpPr>
            <p:nvPr/>
          </p:nvSpPr>
          <p:spPr bwMode="auto">
            <a:xfrm>
              <a:off x="304800" y="7631114"/>
              <a:ext cx="3124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59</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Dưới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đây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trúc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cơ</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bản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hệ</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thống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 </a:t>
              </a:r>
              <a:endParaRPr lang="en-US" altLang="ko-KR" sz="800" dirty="0">
                <a:latin typeface="Arial" panose="020B0604020202020204" pitchFamily="34" charset="0"/>
                <a:cs typeface="Arial" panose="020B0604020202020204" pitchFamily="34" charset="0"/>
              </a:endParaRPr>
            </a:p>
            <a:p>
              <a:pPr eaLnBrk="1" hangingPunct="1"/>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tên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gọi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trống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  </a:t>
              </a:r>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smtClean="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Phần </a:t>
              </a:r>
              <a:r>
                <a:rPr lang="en-US" altLang="ko-KR" sz="800" dirty="0" err="1" smtClean="0">
                  <a:latin typeface="Arial" panose="020B0604020202020204" pitchFamily="34" charset="0"/>
                  <a:cs typeface="Arial" panose="020B0604020202020204" pitchFamily="34" charset="0"/>
                </a:rPr>
                <a:t>phát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sinh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khí</a:t>
              </a:r>
              <a:r>
                <a:rPr lang="en-US" altLang="ko-KR" sz="800" smtClean="0">
                  <a:latin typeface="Arial" panose="020B0604020202020204" pitchFamily="34" charset="0"/>
                  <a:cs typeface="Arial" panose="020B0604020202020204" pitchFamily="34" charset="0"/>
                </a:rPr>
                <a:t>          </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FRL </a:t>
              </a: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truyền</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động</a:t>
              </a:r>
              <a:r>
                <a:rPr lang="en-US" altLang="ko-KR" sz="800" smtClean="0">
                  <a:latin typeface="Arial" panose="020B0604020202020204" pitchFamily="34" charset="0"/>
                  <a:cs typeface="Arial" panose="020B0604020202020204" pitchFamily="34" charset="0"/>
                </a:rPr>
                <a:t>                                 </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điều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khiển</a:t>
              </a:r>
              <a:endParaRPr lang="ko-KR" altLang="en-US" sz="800" dirty="0">
                <a:latin typeface="Arial" panose="020B0604020202020204" pitchFamily="34" charset="0"/>
                <a:cs typeface="Arial" panose="020B0604020202020204" pitchFamily="34" charset="0"/>
              </a:endParaRPr>
            </a:p>
          </p:txBody>
        </p:sp>
        <p:pic>
          <p:nvPicPr>
            <p:cNvPr id="15" name="Picture 617" descr="Untitled-1"/>
            <p:cNvPicPr>
              <a:picLocks noChangeAspect="1" noChangeArrowheads="1"/>
            </p:cNvPicPr>
            <p:nvPr/>
          </p:nvPicPr>
          <p:blipFill>
            <a:blip r:embed="rId3">
              <a:extLst>
                <a:ext uri="{28A0092B-C50C-407E-A947-70E740481C1C}">
                  <a14:useLocalDpi xmlns:a14="http://schemas.microsoft.com/office/drawing/2010/main" val="0"/>
                </a:ext>
              </a:extLst>
            </a:blip>
            <a:srcRect t="1369"/>
            <a:stretch>
              <a:fillRect/>
            </a:stretch>
          </p:blipFill>
          <p:spPr bwMode="auto">
            <a:xfrm>
              <a:off x="692151" y="7943849"/>
              <a:ext cx="1797050" cy="66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18"/>
            <p:cNvSpPr>
              <a:spLocks noChangeArrowheads="1"/>
            </p:cNvSpPr>
            <p:nvPr/>
          </p:nvSpPr>
          <p:spPr bwMode="auto">
            <a:xfrm>
              <a:off x="1744053" y="8369523"/>
              <a:ext cx="315208" cy="145599"/>
            </a:xfrm>
            <a:prstGeom prst="rect">
              <a:avLst/>
            </a:prstGeom>
            <a:solidFill>
              <a:schemeClr val="bg1"/>
            </a:solidFill>
            <a:ln w="9525" cap="rnd">
              <a:solidFill>
                <a:schemeClr val="tx1"/>
              </a:solidFill>
              <a:prstDash val="sysDot"/>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800">
                  <a:latin typeface="Arial" panose="020B0604020202020204" pitchFamily="34" charset="0"/>
                  <a:cs typeface="Arial" panose="020B0604020202020204" pitchFamily="34" charset="0"/>
                </a:rPr>
                <a:t>?</a:t>
              </a:r>
            </a:p>
          </p:txBody>
        </p:sp>
      </p:grpSp>
      <p:sp>
        <p:nvSpPr>
          <p:cNvPr id="17" name="Rectangle 604"/>
          <p:cNvSpPr>
            <a:spLocks noChangeArrowheads="1"/>
          </p:cNvSpPr>
          <p:nvPr/>
        </p:nvSpPr>
        <p:spPr bwMode="auto">
          <a:xfrm>
            <a:off x="260648" y="7836222"/>
            <a:ext cx="31353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0" indent="0" eaLnBrk="1" hangingPunct="1"/>
            <a:r>
              <a:rPr lang="en-US" altLang="ko-KR" sz="800" smtClean="0">
                <a:latin typeface="Arial" panose="020B0604020202020204" pitchFamily="34" charset="0"/>
                <a:cs typeface="Arial" panose="020B0604020202020204" pitchFamily="34" charset="0"/>
              </a:rPr>
              <a:t>5</a:t>
            </a:r>
            <a:r>
              <a:rPr lang="vi-VN" altLang="ko-KR" sz="800" smtClean="0">
                <a:latin typeface="Arial" panose="020B0604020202020204" pitchFamily="34" charset="0"/>
                <a:cs typeface="Arial" panose="020B0604020202020204" pitchFamily="34" charset="0"/>
              </a:rPr>
              <a:t>5</a:t>
            </a:r>
            <a:r>
              <a:rPr lang="vi-VN" altLang="ko-KR" sz="800">
                <a:latin typeface="Arial" panose="020B0604020202020204" pitchFamily="34" charset="0"/>
                <a:cs typeface="Arial" panose="020B0604020202020204" pitchFamily="34" charset="0"/>
              </a:rPr>
              <a:t>. Dưới đây là giải thích về cái gì </a:t>
            </a:r>
            <a:r>
              <a:rPr lang="vi-VN" altLang="ko-KR" sz="800" smtClean="0">
                <a:latin typeface="Arial" panose="020B0604020202020204" pitchFamily="34" charset="0"/>
                <a:cs typeface="Arial" panose="020B0604020202020204" pitchFamily="34" charset="0"/>
              </a:rPr>
              <a:t>?</a:t>
            </a:r>
            <a:endParaRPr lang="en-US" altLang="ko-KR" sz="800" smtClean="0">
              <a:latin typeface="Arial" panose="020B0604020202020204" pitchFamily="34" charset="0"/>
              <a:cs typeface="Arial" panose="020B0604020202020204" pitchFamily="34" charset="0"/>
            </a:endParaRPr>
          </a:p>
          <a:p>
            <a:pPr marL="0" indent="0" eaLnBrk="1" hangingPunct="1"/>
            <a:r>
              <a:rPr lang="vi-VN" altLang="ko-KR" sz="800" smtClean="0">
                <a:latin typeface="Arial" panose="020B0604020202020204" pitchFamily="34" charset="0"/>
                <a:cs typeface="Arial" panose="020B0604020202020204" pitchFamily="34" charset="0"/>
              </a:rPr>
              <a:t>‘</a:t>
            </a:r>
            <a:r>
              <a:rPr lang="vi-VN" altLang="ko-KR" sz="800">
                <a:latin typeface="Arial" panose="020B0604020202020204" pitchFamily="34" charset="0"/>
                <a:cs typeface="Arial" panose="020B0604020202020204" pitchFamily="34" charset="0"/>
              </a:rPr>
              <a:t>Do chỉ vận </a:t>
            </a:r>
            <a:r>
              <a:rPr lang="vi-VN" altLang="ko-KR" sz="800" smtClean="0">
                <a:latin typeface="Arial" panose="020B0604020202020204" pitchFamily="34" charset="0"/>
                <a:cs typeface="Arial" panose="020B0604020202020204" pitchFamily="34" charset="0"/>
              </a:rPr>
              <a:t>động</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quay </a:t>
            </a:r>
            <a:r>
              <a:rPr lang="vi-VN" altLang="ko-KR" sz="800">
                <a:latin typeface="Arial" panose="020B0604020202020204" pitchFamily="34" charset="0"/>
                <a:cs typeface="Arial" panose="020B0604020202020204" pitchFamily="34" charset="0"/>
              </a:rPr>
              <a:t>nên ít rung và có thể quay với tốc độ </a:t>
            </a:r>
            <a:r>
              <a:rPr lang="vi-VN" altLang="ko-KR" sz="800" smtClean="0">
                <a:latin typeface="Arial" panose="020B0604020202020204" pitchFamily="34" charset="0"/>
                <a:cs typeface="Arial" panose="020B0604020202020204" pitchFamily="34" charset="0"/>
              </a:rPr>
              <a:t>cao,</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khi </a:t>
            </a:r>
            <a:r>
              <a:rPr lang="vi-VN" altLang="ko-KR" sz="800">
                <a:latin typeface="Arial" panose="020B0604020202020204" pitchFamily="34" charset="0"/>
                <a:cs typeface="Arial" panose="020B0604020202020204" pitchFamily="34" charset="0"/>
              </a:rPr>
              <a:t>xả không bị xung động do áp lực không khí. Và do không có valve hút xả cùng với máy nén hai chiều nên ít bị hỏng, không cần phải làm trơn phần nén nên có thể không cần cấp mỡ, phù hợp với những nơi cần lưu lượng nhiều </a:t>
            </a:r>
            <a:r>
              <a:rPr lang="vi-VN" altLang="ko-KR" sz="800" smtClean="0">
                <a:latin typeface="Arial" panose="020B0604020202020204" pitchFamily="34" charset="0"/>
                <a:cs typeface="Arial" panose="020B0604020202020204" pitchFamily="34" charset="0"/>
              </a:rPr>
              <a:t>.’</a:t>
            </a:r>
            <a:endParaRPr lang="en-US" altLang="ko-KR" sz="800" smtClean="0">
              <a:latin typeface="Arial" panose="020B0604020202020204" pitchFamily="34" charset="0"/>
              <a:cs typeface="Arial" panose="020B0604020202020204" pitchFamily="34" charset="0"/>
            </a:endParaRPr>
          </a:p>
          <a:p>
            <a:pPr marL="0" indent="0" eaLnBrk="1" hangingPunct="1"/>
            <a:r>
              <a:rPr lang="en-US" altLang="ko-KR" sz="800" smtClean="0">
                <a:latin typeface="Arial" panose="020B0604020202020204" pitchFamily="34" charset="0"/>
                <a:cs typeface="Arial" panose="020B0604020202020204" pitchFamily="34" charset="0"/>
              </a:rPr>
              <a:t>       A.  </a:t>
            </a:r>
            <a:r>
              <a:rPr lang="vi-VN" altLang="ko-KR" sz="800" smtClean="0">
                <a:latin typeface="Arial" panose="020B0604020202020204" pitchFamily="34" charset="0"/>
                <a:cs typeface="Arial" panose="020B0604020202020204" pitchFamily="34" charset="0"/>
              </a:rPr>
              <a:t>Máy </a:t>
            </a:r>
            <a:r>
              <a:rPr lang="vi-VN" altLang="ko-KR" sz="800">
                <a:latin typeface="Arial" panose="020B0604020202020204" pitchFamily="34" charset="0"/>
                <a:cs typeface="Arial" panose="020B0604020202020204" pitchFamily="34" charset="0"/>
              </a:rPr>
              <a:t>nén dạng </a:t>
            </a:r>
            <a:r>
              <a:rPr lang="vi-VN" altLang="ko-KR" sz="800" smtClean="0">
                <a:latin typeface="Arial" panose="020B0604020202020204" pitchFamily="34" charset="0"/>
                <a:cs typeface="Arial" panose="020B0604020202020204" pitchFamily="34" charset="0"/>
              </a:rPr>
              <a:t>Screw</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B</a:t>
            </a:r>
            <a:r>
              <a:rPr lang="vi-VN" altLang="ko-KR" sz="800">
                <a:latin typeface="Arial" panose="020B0604020202020204" pitchFamily="34" charset="0"/>
                <a:cs typeface="Arial" panose="020B0604020202020204" pitchFamily="34" charset="0"/>
              </a:rPr>
              <a:t>. Máy nén khí cánh </a:t>
            </a:r>
            <a:r>
              <a:rPr lang="vi-VN" altLang="ko-KR" sz="800" smtClean="0">
                <a:latin typeface="Arial" panose="020B0604020202020204" pitchFamily="34" charset="0"/>
                <a:cs typeface="Arial" panose="020B0604020202020204" pitchFamily="34" charset="0"/>
              </a:rPr>
              <a:t>quạt</a:t>
            </a:r>
            <a:endParaRPr lang="en-US" altLang="ko-KR" sz="800" smtClean="0">
              <a:latin typeface="Arial" panose="020B0604020202020204" pitchFamily="34" charset="0"/>
              <a:cs typeface="Arial" panose="020B0604020202020204" pitchFamily="34" charset="0"/>
            </a:endParaRPr>
          </a:p>
          <a:p>
            <a:pPr marL="0" indent="0" eaLnBrk="1" hangingPunct="1"/>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C.</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 </a:t>
            </a:r>
            <a:r>
              <a:rPr lang="vi-VN" altLang="ko-KR" sz="800">
                <a:latin typeface="Arial" panose="020B0604020202020204" pitchFamily="34" charset="0"/>
                <a:cs typeface="Arial" panose="020B0604020202020204" pitchFamily="34" charset="0"/>
              </a:rPr>
              <a:t>Root </a:t>
            </a:r>
            <a:r>
              <a:rPr lang="vi-VN" altLang="ko-KR" sz="800" smtClean="0">
                <a:latin typeface="Arial" panose="020B0604020202020204" pitchFamily="34" charset="0"/>
                <a:cs typeface="Arial" panose="020B0604020202020204" pitchFamily="34" charset="0"/>
              </a:rPr>
              <a:t>Blower</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D</a:t>
            </a:r>
            <a:r>
              <a:rPr lang="vi-VN" altLang="ko-KR" sz="800">
                <a:latin typeface="Arial" panose="020B0604020202020204" pitchFamily="34" charset="0"/>
                <a:cs typeface="Arial" panose="020B0604020202020204" pitchFamily="34" charset="0"/>
              </a:rPr>
              <a:t>. Máy nén khí Turbo </a:t>
            </a:r>
            <a:endParaRPr lang="en-US" altLang="ko-KR" sz="800" dirty="0">
              <a:latin typeface="Arial" panose="020B0604020202020204" pitchFamily="34" charset="0"/>
              <a:cs typeface="Arial" panose="020B0604020202020204" pitchFamily="34" charset="0"/>
            </a:endParaRPr>
          </a:p>
        </p:txBody>
      </p:sp>
      <p:sp>
        <p:nvSpPr>
          <p:cNvPr id="18" name="Rectangle 71"/>
          <p:cNvSpPr>
            <a:spLocks noChangeArrowheads="1"/>
          </p:cNvSpPr>
          <p:nvPr/>
        </p:nvSpPr>
        <p:spPr bwMode="auto">
          <a:xfrm>
            <a:off x="3401144" y="1064568"/>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56</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đúng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hai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chiều</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Có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khí</a:t>
            </a:r>
            <a:r>
              <a:rPr lang="en-US" altLang="ko-KR" sz="800" smtClean="0">
                <a:latin typeface="Arial" panose="020B0604020202020204" pitchFamily="34" charset="0"/>
                <a:cs typeface="Arial" panose="020B0604020202020204" pitchFamily="34" charset="0"/>
              </a:rPr>
              <a:t> trục vít.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khí</a:t>
            </a:r>
            <a:r>
              <a:rPr lang="en-US" altLang="ko-KR" sz="800" smtClean="0">
                <a:latin typeface="Arial" panose="020B0604020202020204" pitchFamily="34" charset="0"/>
                <a:cs typeface="Arial" panose="020B0604020202020204" pitchFamily="34" charset="0"/>
              </a:rPr>
              <a:t> trung </a:t>
            </a:r>
            <a:r>
              <a:rPr lang="en-US" altLang="ko-KR" sz="800" dirty="0" err="1" smtClean="0">
                <a:latin typeface="Arial" panose="020B0604020202020204" pitchFamily="34" charset="0"/>
                <a:cs typeface="Arial" panose="020B0604020202020204" pitchFamily="34" charset="0"/>
              </a:rPr>
              <a:t>tâm</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err="1" smtClean="0">
                <a:latin typeface="Arial" panose="020B0604020202020204" pitchFamily="34" charset="0"/>
                <a:cs typeface="Arial" panose="020B0604020202020204" pitchFamily="34" charset="0"/>
              </a:rPr>
              <a:t>Có</a:t>
            </a:r>
            <a:r>
              <a:rPr lang="en-US" altLang="ko-KR" sz="800" smtClean="0">
                <a:latin typeface="Arial" panose="020B0604020202020204" pitchFamily="34" charset="0"/>
                <a:cs typeface="Arial" panose="020B0604020202020204" pitchFamily="34" charset="0"/>
              </a:rPr>
              <a:t> máy nén khí kiểu quay.</a:t>
            </a:r>
            <a:endParaRPr lang="en-US" altLang="ko-KR" sz="800" dirty="0">
              <a:latin typeface="Arial" panose="020B0604020202020204" pitchFamily="34" charset="0"/>
              <a:cs typeface="Arial" panose="020B0604020202020204" pitchFamily="34" charset="0"/>
            </a:endParaRPr>
          </a:p>
        </p:txBody>
      </p:sp>
      <p:sp>
        <p:nvSpPr>
          <p:cNvPr id="19" name="Rectangle 82"/>
          <p:cNvSpPr>
            <a:spLocks noChangeArrowheads="1"/>
          </p:cNvSpPr>
          <p:nvPr/>
        </p:nvSpPr>
        <p:spPr bwMode="auto">
          <a:xfrm>
            <a:off x="3429000" y="7569095"/>
            <a:ext cx="32682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4625" indent="-174625" eaLnBrk="1" hangingPunct="1"/>
            <a:r>
              <a:rPr lang="en-US" altLang="ko-KR" sz="800" dirty="0">
                <a:latin typeface="Arial" panose="020B0604020202020204" pitchFamily="34" charset="0"/>
                <a:cs typeface="Arial" panose="020B0604020202020204" pitchFamily="34" charset="0"/>
              </a:rPr>
              <a:t>6</a:t>
            </a:r>
            <a:r>
              <a:rPr lang="en-US" altLang="ko-KR" sz="800" smtClean="0">
                <a:latin typeface="Arial" panose="020B0604020202020204" pitchFamily="34" charset="0"/>
                <a:cs typeface="Arial" panose="020B0604020202020204" pitchFamily="34" charset="0"/>
              </a:rPr>
              <a:t>0</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mục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chú</a:t>
            </a:r>
            <a:r>
              <a:rPr lang="en-US" altLang="ko-KR" sz="800" dirty="0" smtClean="0">
                <a:latin typeface="Arial" panose="020B0604020202020204" pitchFamily="34" charset="0"/>
                <a:cs typeface="Arial" panose="020B0604020202020204" pitchFamily="34" charset="0"/>
              </a:rPr>
              <a:t> ý </a:t>
            </a:r>
            <a:r>
              <a:rPr lang="en-US" altLang="ko-KR" sz="800" dirty="0" err="1" smtClean="0">
                <a:latin typeface="Arial" panose="020B0604020202020204" pitchFamily="34" charset="0"/>
                <a:cs typeface="Arial" panose="020B0604020202020204" pitchFamily="34" charset="0"/>
              </a:rPr>
              <a:t>khi</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marL="174625" indent="-174625"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ở </a:t>
            </a:r>
            <a:r>
              <a:rPr lang="en-US" altLang="ko-KR" sz="800" dirty="0" err="1" smtClean="0">
                <a:latin typeface="Arial" panose="020B0604020202020204" pitchFamily="34" charset="0"/>
                <a:cs typeface="Arial" panose="020B0604020202020204" pitchFamily="34" charset="0"/>
              </a:rPr>
              <a:t>nới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nhiệt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ẩm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thấp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làm</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phát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sinh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drain.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ở </a:t>
            </a:r>
            <a:r>
              <a:rPr lang="en-US" altLang="ko-KR" sz="800" dirty="0" err="1" smtClean="0">
                <a:latin typeface="Arial" panose="020B0604020202020204" pitchFamily="34" charset="0"/>
                <a:cs typeface="Arial" panose="020B0604020202020204" pitchFamily="34" charset="0"/>
              </a:rPr>
              <a:t>nơi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gas </a:t>
            </a:r>
            <a:r>
              <a:rPr lang="en-US" altLang="ko-KR" sz="800" dirty="0" err="1" smtClean="0">
                <a:latin typeface="Arial" panose="020B0604020202020204" pitchFamily="34" charset="0"/>
                <a:cs typeface="Arial" panose="020B0604020202020204" pitchFamily="34" charset="0"/>
              </a:rPr>
              <a:t>độc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hại</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marL="174625" indent="-174625"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Nếu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nhiệt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hút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vào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lên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trên</a:t>
            </a:r>
            <a:r>
              <a:rPr lang="en-US" altLang="ko-KR" sz="800" dirty="0" smtClean="0">
                <a:latin typeface="Arial" panose="020B0604020202020204" pitchFamily="34" charset="0"/>
                <a:cs typeface="Arial" panose="020B0604020202020204" pitchFamily="34" charset="0"/>
              </a:rPr>
              <a:t> </a:t>
            </a:r>
            <a:r>
              <a:rPr lang="ko-KR" altLang="en-US" sz="800" dirty="0" smtClean="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50</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hiệu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suất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sẽ</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a:t>
            </a:r>
            <a:r>
              <a:rPr lang="en-US" altLang="ko-KR" sz="800" dirty="0" smtClean="0">
                <a:latin typeface="Arial" panose="020B0604020202020204" pitchFamily="34" charset="0"/>
                <a:cs typeface="Arial" panose="020B0604020202020204" pitchFamily="34" charset="0"/>
              </a:rPr>
              <a:t> </a:t>
            </a:r>
            <a:r>
              <a:rPr lang="ko-KR" altLang="en-US" sz="800" dirty="0" smtClean="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30~40% </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marL="174625" indent="-174625"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dính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nước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mưa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tránh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sáng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tiếp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cân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nhắc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tường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âm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ngăn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tiếng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ồn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83111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Thông thường hay sử dụng loại trục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a:t>
            </a:r>
            <a:r>
              <a:rPr lang="en-US" altLang="ko-KR" sz="950" smtClean="0">
                <a:latin typeface="Times New Roman" pitchFamily="18" charset="0"/>
                <a:ea typeface="LG Smart_H Regular" panose="020B0600000101010101" pitchFamily="34" charset="-127"/>
                <a:cs typeface="Times New Roman" pitchFamily="18" charset="0"/>
              </a:rPr>
              <a:t>rỗng</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a:t>
            </a:r>
            <a:r>
              <a:rPr lang="en-US" altLang="ko-KR" sz="950" smtClean="0">
                <a:latin typeface="Times New Roman" pitchFamily="18" charset="0"/>
                <a:ea typeface="LG Smart_H Regular" panose="020B0600000101010101" pitchFamily="34" charset="-127"/>
                <a:cs typeface="Times New Roman" pitchFamily="18" charset="0"/>
              </a:rPr>
              <a:t>cạnh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linh </a:t>
            </a:r>
            <a:r>
              <a:rPr lang="en-US" altLang="ko-KR" sz="950" smtClean="0">
                <a:latin typeface="Times New Roman" pitchFamily="18" charset="0"/>
                <a:ea typeface="LG Smart_H Regular" panose="020B0600000101010101" pitchFamily="34" charset="-127"/>
                <a:cs typeface="Times New Roman" pitchFamily="18" charset="0"/>
              </a:rPr>
              <a:t>hoạt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Trục đặc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Phân loại về hướng tải trọng. Vậy khi trục chịu tác động của tải trọng theo hướng dọc trục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Thrust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Radial </a:t>
            </a:r>
            <a:r>
              <a:rPr lang="en-US" altLang="ko-KR" sz="950" smtClean="0">
                <a:latin typeface="Times New Roman" pitchFamily="18" charset="0"/>
                <a:ea typeface="LG Smart_H Regular" panose="020B0600000101010101" pitchFamily="34" charset="-127"/>
                <a:cs typeface="Times New Roman" pitchFamily="18" charset="0"/>
              </a:rPr>
              <a:t>bearing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Tapper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Flexible bearing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đặc điểm của máy giảm </a:t>
            </a:r>
            <a:r>
              <a:rPr lang="vi-VN" altLang="ko-KR" sz="950" smtClean="0">
                <a:latin typeface="Times New Roman" pitchFamily="18" charset="0"/>
                <a:ea typeface="LG Smart_H Regular" panose="020B0600000101010101" pitchFamily="34" charset="-127"/>
                <a:cs typeface="Times New Roman" pitchFamily="18" charset="0"/>
              </a:rPr>
              <a:t>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dạng nhỏ nhưng truyền được lực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cấu tạo </a:t>
            </a:r>
            <a:r>
              <a:rPr lang="en-US" altLang="ko-KR" sz="950" smtClean="0">
                <a:latin typeface="Times New Roman" pitchFamily="18" charset="0"/>
                <a:ea typeface="LG Smart_H Regular" panose="020B0600000101010101" pitchFamily="34" charset="-127"/>
                <a:cs typeface="Times New Roman" pitchFamily="18" charset="0"/>
              </a:rPr>
              <a:t>trong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Tỷ lệ gia tốc cố </a:t>
            </a:r>
            <a:r>
              <a:rPr lang="vi-VN" altLang="ko-KR" sz="950" smtClean="0">
                <a:latin typeface="Times New Roman" pitchFamily="18" charset="0"/>
                <a:ea typeface="LG Smart_H Regular" panose="020B0600000101010101" pitchFamily="34" charset="-127"/>
                <a:cs typeface="Times New Roman" pitchFamily="18" charset="0"/>
              </a:rPr>
              <a:t>định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Tỷ lệ giảm tốc được chọn lọc một cách rộng rãi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Chọn đáp án sai khi nói về Timming </a:t>
            </a:r>
            <a:r>
              <a:rPr lang="vi-VN" altLang="ko-KR" sz="950" smtClean="0">
                <a:latin typeface="Times New Roman" pitchFamily="18" charset="0"/>
                <a:ea typeface="LG Smart_H Regular" panose="020B0600000101010101" pitchFamily="34" charset="-127"/>
                <a:cs typeface="Times New Roman" pitchFamily="18" charset="0"/>
              </a:rPr>
              <a:t>Belt?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Chạy êm ở cả tốc độ cao và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 với bánh răng thì gây tiếng </a:t>
            </a:r>
            <a:r>
              <a:rPr lang="vi-VN" altLang="ko-KR" sz="950" smtClean="0">
                <a:latin typeface="Times New Roman" pitchFamily="18" charset="0"/>
                <a:ea typeface="LG Smart_H Regular" panose="020B0600000101010101" pitchFamily="34" charset="-127"/>
                <a:cs typeface="Times New Roman" pitchFamily="18" charset="0"/>
              </a:rPr>
              <a:t>ồn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Nhẹ, tốc độ tăng tốc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Chỉ dùng cho ròng rọc có đường kính nhỏ</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Trong đặc tính của phương thức dẫn động.</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"Được áp dụng rộng rãi trên hướng song song, hướng chéo, hướng nghiêng mà cần sự giảm tối đa của ma sát"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Nội dung được nhắc tới là phương thức dẫn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Linear </a:t>
            </a:r>
            <a:r>
              <a:rPr lang="vi-VN" altLang="ko-KR" sz="950" smtClean="0">
                <a:latin typeface="Times New Roman" pitchFamily="18" charset="0"/>
                <a:ea typeface="LG Smart_H Regular" panose="020B0600000101010101" pitchFamily="34" charset="-127"/>
                <a:cs typeface="Times New Roman" pitchFamily="18" charset="0"/>
              </a:rPr>
              <a:t>Bush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Ball </a:t>
            </a:r>
            <a:r>
              <a:rPr lang="en-US" altLang="ko-KR" sz="950" smtClean="0">
                <a:latin typeface="Times New Roman" pitchFamily="18" charset="0"/>
                <a:ea typeface="LG Smart_H Regular" panose="020B0600000101010101" pitchFamily="34" charset="-127"/>
                <a:cs typeface="Times New Roman" pitchFamily="18" charset="0"/>
              </a:rPr>
              <a:t>Screw</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LM </a:t>
            </a:r>
            <a:r>
              <a:rPr lang="vi-VN" altLang="ko-KR" sz="950" smtClean="0">
                <a:latin typeface="Times New Roman" pitchFamily="18" charset="0"/>
                <a:ea typeface="LG Smart_H Regular" panose="020B0600000101010101" pitchFamily="34" charset="-127"/>
                <a:cs typeface="Times New Roman" pitchFamily="18" charset="0"/>
              </a:rPr>
              <a:t>Guide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Spline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193360"/>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Tác dụng nào của bôi trơn có đặc điểm "Tính chất vô cùng quan trọng khi tải trọng rung và tải trọng va chạm tác động nhiều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Phân tán áp </a:t>
            </a:r>
            <a:r>
              <a:rPr lang="vi-VN" altLang="ko-KR" sz="950" smtClean="0">
                <a:latin typeface="Times New Roman" pitchFamily="18" charset="0"/>
                <a:ea typeface="LG Smart_H Regular" panose="020B0600000101010101" pitchFamily="34" charset="-127"/>
                <a:cs typeface="Times New Roman" pitchFamily="18" charset="0"/>
              </a:rPr>
              <a:t>lực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Làm </a:t>
            </a:r>
            <a:r>
              <a:rPr lang="nb-NO" altLang="ko-KR" sz="950" smtClean="0">
                <a:latin typeface="Times New Roman" pitchFamily="18" charset="0"/>
                <a:ea typeface="LG Smart_H Regular" panose="020B0600000101010101" pitchFamily="34" charset="-127"/>
                <a:cs typeface="Times New Roman" pitchFamily="18" charset="0"/>
              </a:rPr>
              <a:t>kín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Làm </a:t>
            </a:r>
            <a:r>
              <a:rPr lang="en-US" altLang="ko-KR" sz="950" smtClean="0">
                <a:latin typeface="Times New Roman" pitchFamily="18" charset="0"/>
                <a:ea typeface="LG Smart_H Regular" panose="020B0600000101010101" pitchFamily="34" charset="-127"/>
                <a:cs typeface="Times New Roman" pitchFamily="18" charset="0"/>
              </a:rPr>
              <a:t>mát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Giảm ma sát</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a:latin typeface="Times New Roman" pitchFamily="18" charset="0"/>
                <a:ea typeface="LG Smart_H Regular" panose="020B0600000101010101" pitchFamily="34" charset="-127"/>
                <a:cs typeface="Times New Roman" pitchFamily="18" charset="0"/>
              </a:rPr>
              <a:t>không phải </a:t>
            </a:r>
            <a:r>
              <a:rPr lang="vi-VN" altLang="ko-KR" sz="950">
                <a:latin typeface="Times New Roman" pitchFamily="18" charset="0"/>
                <a:ea typeface="LG Smart_H Regular" panose="020B0600000101010101" pitchFamily="34" charset="-127"/>
                <a:cs typeface="Times New Roman" pitchFamily="18" charset="0"/>
              </a:rPr>
              <a:t>cách đọc của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xoắn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ghép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Tên đinh 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2" name="Rectangle 7"/>
          <p:cNvSpPr>
            <a:spLocks noChangeArrowheads="1"/>
          </p:cNvSpPr>
          <p:nvPr/>
        </p:nvSpPr>
        <p:spPr bwMode="auto">
          <a:xfrm>
            <a:off x="163884" y="8193360"/>
            <a:ext cx="325397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Key là đối tượng dùng để cố định trục với gear, ròng </a:t>
            </a:r>
            <a:r>
              <a:rPr lang="vi-VN" altLang="ko-KR" sz="950" smtClean="0">
                <a:latin typeface="Times New Roman" pitchFamily="18" charset="0"/>
                <a:ea typeface="LG Smart_H Regular" panose="020B0600000101010101" pitchFamily="34" charset="-127"/>
                <a:cs typeface="Times New Roman" pitchFamily="18" charset="0"/>
              </a:rPr>
              <a:t>rọc</a:t>
            </a:r>
            <a:r>
              <a:rPr lang="en-US" altLang="ko-KR" sz="950" smtClean="0">
                <a:latin typeface="Times New Roman" pitchFamily="18" charset="0"/>
                <a:ea typeface="LG Smart_H Regular" panose="020B0600000101010101" pitchFamily="34" charset="-127"/>
                <a:cs typeface="Times New Roman" pitchFamily="18" charset="0"/>
              </a:rPr>
              <a:t>..</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Vậy người ta hay sử dụng loại </a:t>
            </a:r>
            <a:r>
              <a:rPr lang="en-US" altLang="ko-KR" sz="950" smtClean="0">
                <a:latin typeface="Times New Roman" pitchFamily="18" charset="0"/>
                <a:ea typeface="LG Smart_H Regular" panose="020B0600000101010101" pitchFamily="34" charset="-127"/>
                <a:cs typeface="Times New Roman" pitchFamily="18" charset="0"/>
              </a:rPr>
              <a:t>mã </a:t>
            </a:r>
            <a:r>
              <a:rPr lang="vi-VN" altLang="ko-KR" sz="950" smtClean="0">
                <a:latin typeface="Times New Roman" pitchFamily="18" charset="0"/>
                <a:ea typeface="LG Smart_H Regular" panose="020B0600000101010101" pitchFamily="34" charset="-127"/>
                <a:cs typeface="Times New Roman" pitchFamily="18" charset="0"/>
              </a:rPr>
              <a:t>thép </a:t>
            </a:r>
            <a:r>
              <a:rPr lang="vi-VN" altLang="ko-KR" sz="950">
                <a:latin typeface="Times New Roman" pitchFamily="18" charset="0"/>
                <a:ea typeface="LG Smart_H Regular" panose="020B0600000101010101" pitchFamily="34" charset="-127"/>
                <a:cs typeface="Times New Roman" pitchFamily="18" charset="0"/>
              </a:rPr>
              <a:t>nào để </a:t>
            </a:r>
            <a:r>
              <a:rPr lang="en-US" altLang="ko-KR" sz="950" smtClean="0">
                <a:latin typeface="Times New Roman" pitchFamily="18" charset="0"/>
                <a:ea typeface="LG Smart_H Regular" panose="020B0600000101010101" pitchFamily="34" charset="-127"/>
                <a:cs typeface="Times New Roman" pitchFamily="18" charset="0"/>
              </a:rPr>
              <a:t>gia công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SM45A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SF55B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SM45C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SF55D</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4048" y="4376936"/>
            <a:ext cx="3180502" cy="1375067"/>
            <a:chOff x="204048" y="4376936"/>
            <a:chExt cx="3180502" cy="1375067"/>
          </a:xfrm>
        </p:grpSpPr>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Khi ghép cặp đôi của vòng bi. Vậy hình nào sau đây mục đích được ghép để chịu tải trọng lớn của một bên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24" name="Picture 23"/>
            <p:cNvPicPr>
              <a:picLocks noChangeAspect="1"/>
            </p:cNvPicPr>
            <p:nvPr/>
          </p:nvPicPr>
          <p:blipFill>
            <a:blip r:embed="rId3"/>
            <a:stretch>
              <a:fillRect/>
            </a:stretch>
          </p:blipFill>
          <p:spPr>
            <a:xfrm>
              <a:off x="547583" y="4749809"/>
              <a:ext cx="937201" cy="491223"/>
            </a:xfrm>
            <a:prstGeom prst="rect">
              <a:avLst/>
            </a:prstGeom>
          </p:spPr>
        </p:pic>
        <p:pic>
          <p:nvPicPr>
            <p:cNvPr id="25" name="Picture 24"/>
            <p:cNvPicPr>
              <a:picLocks noChangeAspect="1"/>
            </p:cNvPicPr>
            <p:nvPr/>
          </p:nvPicPr>
          <p:blipFill>
            <a:blip r:embed="rId4"/>
            <a:stretch>
              <a:fillRect/>
            </a:stretch>
          </p:blipFill>
          <p:spPr>
            <a:xfrm>
              <a:off x="2022664" y="4776155"/>
              <a:ext cx="974288" cy="464877"/>
            </a:xfrm>
            <a:prstGeom prst="rect">
              <a:avLst/>
            </a:prstGeom>
          </p:spPr>
        </p:pic>
        <p:pic>
          <p:nvPicPr>
            <p:cNvPr id="26" name="Picture 25"/>
            <p:cNvPicPr>
              <a:picLocks noChangeAspect="1"/>
            </p:cNvPicPr>
            <p:nvPr/>
          </p:nvPicPr>
          <p:blipFill>
            <a:blip r:embed="rId5"/>
            <a:stretch>
              <a:fillRect/>
            </a:stretch>
          </p:blipFill>
          <p:spPr>
            <a:xfrm>
              <a:off x="548680" y="5278676"/>
              <a:ext cx="936104" cy="427899"/>
            </a:xfrm>
            <a:prstGeom prst="rect">
              <a:avLst/>
            </a:prstGeom>
          </p:spPr>
        </p:pic>
        <p:pic>
          <p:nvPicPr>
            <p:cNvPr id="27" name="Picture 26"/>
            <p:cNvPicPr>
              <a:picLocks noChangeAspect="1"/>
            </p:cNvPicPr>
            <p:nvPr/>
          </p:nvPicPr>
          <p:blipFill>
            <a:blip r:embed="rId6"/>
            <a:stretch>
              <a:fillRect/>
            </a:stretch>
          </p:blipFill>
          <p:spPr>
            <a:xfrm>
              <a:off x="2094594" y="5281842"/>
              <a:ext cx="921408" cy="470161"/>
            </a:xfrm>
            <a:prstGeom prst="rect">
              <a:avLst/>
            </a:prstGeom>
          </p:spPr>
        </p:pic>
      </p:gr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Ý nào không đúng khi nói về tác dụng của bôi </a:t>
            </a:r>
            <a:r>
              <a:rPr lang="vi-VN" altLang="ko-KR" sz="950" smtClean="0">
                <a:latin typeface="Times New Roman" pitchFamily="18" charset="0"/>
                <a:ea typeface="LG Smart_H Regular" panose="020B0600000101010101" pitchFamily="34" charset="-127"/>
                <a:cs typeface="Times New Roman" pitchFamily="18" charset="0"/>
              </a:rPr>
              <a:t>trơn?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Làm </a:t>
            </a:r>
            <a:r>
              <a:rPr lang="vi-VN" altLang="ko-KR" sz="950" smtClean="0">
                <a:latin typeface="Times New Roman" pitchFamily="18" charset="0"/>
                <a:ea typeface="LG Smart_H Regular" panose="020B0600000101010101" pitchFamily="34" charset="-127"/>
                <a:cs typeface="Times New Roman" pitchFamily="18" charset="0"/>
              </a:rPr>
              <a:t>kín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Chống ôxi hóa</a:t>
            </a:r>
            <a:endParaRPr lang="nb-NO"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Làm </a:t>
            </a:r>
            <a:r>
              <a:rPr lang="en-US" altLang="ko-KR" sz="950" smtClean="0">
                <a:latin typeface="Times New Roman" pitchFamily="18" charset="0"/>
                <a:ea typeface="LG Smart_H Regular" panose="020B0600000101010101" pitchFamily="34" charset="-127"/>
                <a:cs typeface="Times New Roman" pitchFamily="18" charset="0"/>
              </a:rPr>
              <a:t>lạnh</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Làm sạch</a:t>
            </a:r>
            <a:endParaRPr lang="en-US" altLang="ko-KR" sz="950" smtClean="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7662931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7" name="Rectangle 35"/>
          <p:cNvSpPr>
            <a:spLocks noChangeArrowheads="1"/>
          </p:cNvSpPr>
          <p:nvPr/>
        </p:nvSpPr>
        <p:spPr bwMode="auto">
          <a:xfrm>
            <a:off x="188640" y="1293366"/>
            <a:ext cx="3240360"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00" smtClean="0">
                <a:latin typeface="Arial" pitchFamily="34" charset="0"/>
                <a:ea typeface="돋움" pitchFamily="50" charset="-127"/>
                <a:cs typeface="Arial" pitchFamily="34" charset="0"/>
              </a:rPr>
              <a:t>71</a:t>
            </a:r>
            <a:r>
              <a:rPr lang="en-US" altLang="ko-KR" sz="900">
                <a:latin typeface="Arial" pitchFamily="34" charset="0"/>
                <a:ea typeface="돋움" pitchFamily="50" charset="-127"/>
                <a:cs typeface="Arial" pitchFamily="34" charset="0"/>
              </a:rPr>
              <a:t>. Chọn đáp án không phải là giải thích về cơ khí?</a:t>
            </a:r>
          </a:p>
          <a:p>
            <a:endParaRPr lang="en-US" altLang="ko-KR" sz="900" smtClean="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Được gọi là bộ môn nghiên cứu về chuyển động bất thường của máy móc.</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Được gọi là chuyển động học của máy móc.</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Gọi thành phần máy móc là các thành phần cơ khí.</a:t>
            </a:r>
          </a:p>
          <a:p>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Nhận cung cấp năng lượng </a:t>
            </a:r>
            <a:r>
              <a:rPr lang="en-US" altLang="ko-KR" sz="900" smtClean="0">
                <a:latin typeface="Arial" pitchFamily="34" charset="0"/>
                <a:ea typeface="돋움" pitchFamily="50" charset="-127"/>
                <a:cs typeface="Arial" pitchFamily="34" charset="0"/>
              </a:rPr>
              <a:t>và </a:t>
            </a:r>
            <a:r>
              <a:rPr lang="en-US" altLang="ko-KR" sz="900">
                <a:latin typeface="Arial" pitchFamily="34" charset="0"/>
                <a:ea typeface="돋움" pitchFamily="50" charset="-127"/>
                <a:cs typeface="Arial" pitchFamily="34" charset="0"/>
              </a:rPr>
              <a:t>làm công </a:t>
            </a:r>
            <a:r>
              <a:rPr lang="en-US" altLang="ko-KR" sz="900" smtClean="0">
                <a:latin typeface="Arial" pitchFamily="34" charset="0"/>
                <a:ea typeface="돋움" pitchFamily="50" charset="-127"/>
                <a:cs typeface="Arial" pitchFamily="34" charset="0"/>
              </a:rPr>
              <a:t>việc </a:t>
            </a:r>
            <a:r>
              <a:rPr lang="en-US" altLang="ko-KR" sz="900">
                <a:latin typeface="Arial" pitchFamily="34" charset="0"/>
                <a:ea typeface="돋움" pitchFamily="50" charset="-127"/>
                <a:cs typeface="Arial" pitchFamily="34" charset="0"/>
              </a:rPr>
              <a:t>hiệu quả.</a:t>
            </a:r>
          </a:p>
        </p:txBody>
      </p:sp>
      <p:sp>
        <p:nvSpPr>
          <p:cNvPr id="8" name="Rectangle 36"/>
          <p:cNvSpPr>
            <a:spLocks noChangeArrowheads="1"/>
          </p:cNvSpPr>
          <p:nvPr/>
        </p:nvSpPr>
        <p:spPr bwMode="auto">
          <a:xfrm>
            <a:off x="188639" y="3082533"/>
            <a:ext cx="3240361"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00" smtClean="0">
                <a:latin typeface="Arial" pitchFamily="34" charset="0"/>
                <a:ea typeface="돋움" pitchFamily="50" charset="-127"/>
                <a:cs typeface="Arial" pitchFamily="34" charset="0"/>
              </a:rPr>
              <a:t>72</a:t>
            </a:r>
            <a:r>
              <a:rPr lang="en-US" altLang="ko-KR" sz="900">
                <a:latin typeface="Arial" pitchFamily="34" charset="0"/>
                <a:ea typeface="돋움" pitchFamily="50" charset="-127"/>
                <a:cs typeface="Arial" pitchFamily="34" charset="0"/>
              </a:rPr>
              <a:t>. Chọn đáp án không phải phân loại theo hình dạng mặt cắt</a:t>
            </a:r>
            <a:r>
              <a:rPr lang="ko-KR" altLang="en-US"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t>
            </a:r>
          </a:p>
          <a:p>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 A. </a:t>
            </a:r>
            <a:r>
              <a:rPr lang="en-US" altLang="ko-KR" sz="900">
                <a:latin typeface="Arial" pitchFamily="34" charset="0"/>
                <a:ea typeface="돋움" pitchFamily="50" charset="-127"/>
                <a:cs typeface="Arial" pitchFamily="34" charset="0"/>
              </a:rPr>
              <a:t>Trục </a:t>
            </a:r>
            <a:r>
              <a:rPr lang="en-US" altLang="ko-KR" sz="900" smtClean="0">
                <a:latin typeface="Arial" pitchFamily="34" charset="0"/>
                <a:ea typeface="돋움" pitchFamily="50" charset="-127"/>
                <a:cs typeface="Arial" pitchFamily="34" charset="0"/>
              </a:rPr>
              <a:t>thẳng</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Trục </a:t>
            </a:r>
            <a:r>
              <a:rPr lang="en-US" altLang="ko-KR" sz="900" smtClean="0">
                <a:latin typeface="Arial" pitchFamily="34" charset="0"/>
                <a:ea typeface="돋움" pitchFamily="50" charset="-127"/>
                <a:cs typeface="Arial" pitchFamily="34" charset="0"/>
              </a:rPr>
              <a:t>đặc</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 C.</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Trục </a:t>
            </a:r>
            <a:r>
              <a:rPr lang="en-US" altLang="ko-KR" sz="900">
                <a:latin typeface="Arial" pitchFamily="34" charset="0"/>
                <a:ea typeface="돋움" pitchFamily="50" charset="-127"/>
                <a:cs typeface="Arial" pitchFamily="34" charset="0"/>
              </a:rPr>
              <a:t>rỗng   </a:t>
            </a:r>
            <a:r>
              <a:rPr lang="ko-KR" altLang="en-US" sz="900">
                <a:latin typeface="Arial" pitchFamily="34" charset="0"/>
                <a:ea typeface="돋움" pitchFamily="50" charset="-127"/>
                <a:cs typeface="Arial" pitchFamily="34" charset="0"/>
              </a:rPr>
              <a:t>        </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Trục </a:t>
            </a:r>
            <a:r>
              <a:rPr lang="en-US" altLang="ko-KR" sz="900" smtClean="0">
                <a:latin typeface="Arial" pitchFamily="34" charset="0"/>
                <a:ea typeface="돋움" pitchFamily="50" charset="-127"/>
                <a:cs typeface="Arial" pitchFamily="34" charset="0"/>
              </a:rPr>
              <a:t>cạnh</a:t>
            </a:r>
            <a:endParaRPr lang="ko-KR" altLang="en-US" sz="900">
              <a:latin typeface="Arial" pitchFamily="34" charset="0"/>
              <a:ea typeface="돋움" pitchFamily="50" charset="-127"/>
              <a:cs typeface="Arial" pitchFamily="34" charset="0"/>
            </a:endParaRPr>
          </a:p>
        </p:txBody>
      </p:sp>
      <p:grpSp>
        <p:nvGrpSpPr>
          <p:cNvPr id="9" name="Group 8"/>
          <p:cNvGrpSpPr/>
          <p:nvPr/>
        </p:nvGrpSpPr>
        <p:grpSpPr>
          <a:xfrm>
            <a:off x="260648" y="4616767"/>
            <a:ext cx="3116262" cy="1200329"/>
            <a:chOff x="260648" y="2482850"/>
            <a:chExt cx="3116262" cy="1200329"/>
          </a:xfrm>
        </p:grpSpPr>
        <p:sp>
          <p:nvSpPr>
            <p:cNvPr id="10" name="Rectangle 37"/>
            <p:cNvSpPr>
              <a:spLocks noChangeArrowheads="1"/>
            </p:cNvSpPr>
            <p:nvPr/>
          </p:nvSpPr>
          <p:spPr bwMode="auto">
            <a:xfrm>
              <a:off x="260648" y="2482850"/>
              <a:ext cx="3116262" cy="12003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73.Loại </a:t>
              </a:r>
              <a:r>
                <a:rPr lang="en-US" altLang="ko-KR" sz="900">
                  <a:latin typeface="Arial" pitchFamily="34" charset="0"/>
                  <a:ea typeface="돋움" pitchFamily="50" charset="-127"/>
                  <a:cs typeface="Arial" pitchFamily="34" charset="0"/>
                </a:rPr>
                <a:t>Bearing ở hình sau là?</a:t>
              </a:r>
            </a:p>
            <a:p>
              <a:endParaRPr lang="en-US" altLang="ko-KR" sz="90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Vòng </a:t>
              </a:r>
              <a:r>
                <a:rPr lang="en-US" altLang="ko-KR" sz="900">
                  <a:latin typeface="Arial" pitchFamily="34" charset="0"/>
                  <a:ea typeface="돋움" pitchFamily="50" charset="-127"/>
                  <a:cs typeface="Arial" pitchFamily="34" charset="0"/>
                </a:rPr>
                <a:t>bi </a:t>
              </a:r>
              <a:r>
                <a:rPr lang="en-US" altLang="ko-KR" sz="900" smtClean="0">
                  <a:latin typeface="Arial" pitchFamily="34" charset="0"/>
                  <a:ea typeface="돋움" pitchFamily="50" charset="-127"/>
                  <a:cs typeface="Arial" pitchFamily="34" charset="0"/>
                </a:rPr>
                <a:t>Magneto</a:t>
              </a:r>
            </a:p>
            <a:p>
              <a:pPr marL="228600" indent="-228600">
                <a:buAutoNum type="alphaUcPeriod"/>
              </a:pPr>
              <a:r>
                <a:rPr lang="en-US" altLang="ko-KR" sz="900" smtClean="0">
                  <a:latin typeface="Arial" pitchFamily="34" charset="0"/>
                  <a:ea typeface="돋움" pitchFamily="50" charset="-127"/>
                  <a:cs typeface="Arial" pitchFamily="34" charset="0"/>
                </a:rPr>
                <a:t>Vòng </a:t>
              </a:r>
              <a:r>
                <a:rPr lang="en-US" altLang="ko-KR" sz="900">
                  <a:latin typeface="Arial" pitchFamily="34" charset="0"/>
                  <a:ea typeface="돋움" pitchFamily="50" charset="-127"/>
                  <a:cs typeface="Arial" pitchFamily="34" charset="0"/>
                </a:rPr>
                <a:t>bi </a:t>
              </a:r>
              <a:r>
                <a:rPr lang="en-US" altLang="ko-KR" sz="900" smtClean="0">
                  <a:latin typeface="Arial" pitchFamily="34" charset="0"/>
                  <a:ea typeface="돋움" pitchFamily="50" charset="-127"/>
                  <a:cs typeface="Arial" pitchFamily="34" charset="0"/>
                </a:rPr>
                <a:t>đỡ chặn tiếp xúc</a:t>
              </a:r>
            </a:p>
            <a:p>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Angular balll bearing </a:t>
              </a:r>
              <a:r>
                <a:rPr lang="en-US" altLang="ko-KR" sz="900" smtClean="0">
                  <a:latin typeface="Arial" pitchFamily="34" charset="0"/>
                  <a:ea typeface="돋움" pitchFamily="50" charset="-127"/>
                  <a:cs typeface="Arial" pitchFamily="34" charset="0"/>
                </a:rPr>
                <a:t>)</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Vòng vi chặn (Thrust ball </a:t>
              </a:r>
              <a:r>
                <a:rPr lang="en-US" altLang="ko-KR" sz="900" smtClean="0">
                  <a:latin typeface="Arial" pitchFamily="34" charset="0"/>
                  <a:ea typeface="돋움" pitchFamily="50" charset="-127"/>
                  <a:cs typeface="Arial" pitchFamily="34" charset="0"/>
                </a:rPr>
                <a:t>bearing)</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Vòng </a:t>
              </a:r>
              <a:r>
                <a:rPr lang="en-US" altLang="ko-KR" sz="900">
                  <a:latin typeface="Arial" pitchFamily="34" charset="0"/>
                  <a:ea typeface="돋움" pitchFamily="50" charset="-127"/>
                  <a:cs typeface="Arial" pitchFamily="34" charset="0"/>
                </a:rPr>
                <a:t>bi cầu rãnh </a:t>
              </a:r>
              <a:r>
                <a:rPr lang="en-US" altLang="ko-KR" sz="900" smtClean="0">
                  <a:latin typeface="Arial" pitchFamily="34" charset="0"/>
                  <a:ea typeface="돋움" pitchFamily="50" charset="-127"/>
                  <a:cs typeface="Arial" pitchFamily="34" charset="0"/>
                </a:rPr>
                <a:t>sâu</a:t>
              </a:r>
            </a:p>
            <a:p>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Deep </a:t>
              </a:r>
              <a:r>
                <a:rPr lang="en-US" altLang="ko-KR" sz="900" smtClean="0">
                  <a:latin typeface="Arial" pitchFamily="34" charset="0"/>
                  <a:ea typeface="돋움" pitchFamily="50" charset="-127"/>
                  <a:cs typeface="Arial" pitchFamily="34" charset="0"/>
                </a:rPr>
                <a:t>Groove ball </a:t>
              </a:r>
              <a:r>
                <a:rPr lang="en-US" altLang="ko-KR" sz="900">
                  <a:latin typeface="Arial" pitchFamily="34" charset="0"/>
                  <a:ea typeface="돋움" pitchFamily="50" charset="-127"/>
                  <a:cs typeface="Arial" pitchFamily="34" charset="0"/>
                </a:rPr>
                <a:t>bearing </a:t>
              </a:r>
              <a:r>
                <a:rPr lang="en-US" altLang="ko-KR" sz="900" smtClean="0">
                  <a:latin typeface="Arial" pitchFamily="34" charset="0"/>
                  <a:ea typeface="돋움" pitchFamily="50" charset="-127"/>
                  <a:cs typeface="Arial" pitchFamily="34" charset="0"/>
                </a:rPr>
                <a:t>)</a:t>
              </a:r>
              <a:endParaRPr lang="ko-KR" altLang="en-US" sz="900">
                <a:latin typeface="Arial" pitchFamily="34" charset="0"/>
                <a:ea typeface="돋움" pitchFamily="50" charset="-127"/>
                <a:cs typeface="Arial" pitchFamily="34" charset="0"/>
              </a:endParaRPr>
            </a:p>
          </p:txBody>
        </p:sp>
        <p:pic>
          <p:nvPicPr>
            <p:cNvPr id="11"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5706" y="2729836"/>
              <a:ext cx="69373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 name="Rectangle 39"/>
          <p:cNvSpPr>
            <a:spLocks noChangeArrowheads="1"/>
          </p:cNvSpPr>
          <p:nvPr/>
        </p:nvSpPr>
        <p:spPr bwMode="auto">
          <a:xfrm>
            <a:off x="188640" y="6533401"/>
            <a:ext cx="3124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74</a:t>
            </a:r>
            <a:r>
              <a:rPr lang="en-US" altLang="ko-KR" sz="900">
                <a:latin typeface="Arial" pitchFamily="34" charset="0"/>
                <a:ea typeface="돋움" pitchFamily="50" charset="-127"/>
                <a:cs typeface="Arial" pitchFamily="34" charset="0"/>
              </a:rPr>
              <a:t>. Chọn đáp án không phải là </a:t>
            </a:r>
            <a:r>
              <a:rPr lang="en-US" altLang="ko-KR" sz="900" smtClean="0">
                <a:latin typeface="Arial" pitchFamily="34" charset="0"/>
                <a:ea typeface="돋움" pitchFamily="50" charset="-127"/>
                <a:cs typeface="Arial" pitchFamily="34" charset="0"/>
              </a:rPr>
              <a:t>Flexible </a:t>
            </a:r>
            <a:r>
              <a:rPr lang="en-US" altLang="ko-KR" sz="900">
                <a:latin typeface="Arial" pitchFamily="34" charset="0"/>
                <a:ea typeface="돋움" pitchFamily="50" charset="-127"/>
                <a:cs typeface="Arial" pitchFamily="34" charset="0"/>
              </a:rPr>
              <a:t>Coupling? </a:t>
            </a:r>
          </a:p>
          <a:p>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Gear coupling </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M</a:t>
            </a:r>
            <a:r>
              <a:rPr lang="en-US" altLang="ko-KR" sz="900" smtClean="0">
                <a:latin typeface="Arial" pitchFamily="34" charset="0"/>
                <a:ea typeface="돋움" pitchFamily="50" charset="-127"/>
                <a:cs typeface="Arial" pitchFamily="34" charset="0"/>
              </a:rPr>
              <a:t>uff </a:t>
            </a:r>
            <a:r>
              <a:rPr lang="en-US" altLang="ko-KR" sz="900">
                <a:latin typeface="Arial" pitchFamily="34" charset="0"/>
                <a:ea typeface="돋움" pitchFamily="50" charset="-127"/>
                <a:cs typeface="Arial" pitchFamily="34" charset="0"/>
              </a:rPr>
              <a:t>coupling</a:t>
            </a:r>
            <a:r>
              <a:rPr lang="ko-KR" altLang="en-US" sz="900">
                <a:latin typeface="Arial" pitchFamily="34" charset="0"/>
                <a:ea typeface="돋움" pitchFamily="50" charset="-127"/>
                <a:cs typeface="Arial" pitchFamily="34" charset="0"/>
              </a:rPr>
              <a:t>  </a:t>
            </a:r>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 C.</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Chain coupling</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Cao su coupling</a:t>
            </a:r>
            <a:endParaRPr lang="ko-KR" altLang="en-US" sz="900">
              <a:latin typeface="Arial" pitchFamily="34" charset="0"/>
              <a:ea typeface="돋움" pitchFamily="50" charset="-127"/>
              <a:cs typeface="Arial" pitchFamily="34" charset="0"/>
            </a:endParaRPr>
          </a:p>
        </p:txBody>
      </p:sp>
      <p:grpSp>
        <p:nvGrpSpPr>
          <p:cNvPr id="13" name="Group 12"/>
          <p:cNvGrpSpPr/>
          <p:nvPr/>
        </p:nvGrpSpPr>
        <p:grpSpPr>
          <a:xfrm>
            <a:off x="260648" y="8120955"/>
            <a:ext cx="3124200" cy="1152525"/>
            <a:chOff x="325438" y="4139575"/>
            <a:chExt cx="3124200" cy="1152525"/>
          </a:xfrm>
        </p:grpSpPr>
        <p:sp>
          <p:nvSpPr>
            <p:cNvPr id="15" name="Rectangle 40"/>
            <p:cNvSpPr>
              <a:spLocks noChangeArrowheads="1"/>
            </p:cNvSpPr>
            <p:nvPr/>
          </p:nvSpPr>
          <p:spPr bwMode="auto">
            <a:xfrm>
              <a:off x="325438" y="4139575"/>
              <a:ext cx="3124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75</a:t>
              </a:r>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Tên </a:t>
              </a:r>
              <a:r>
                <a:rPr lang="en-US" altLang="ko-KR" sz="900">
                  <a:latin typeface="Arial" pitchFamily="34" charset="0"/>
                  <a:ea typeface="돋움" pitchFamily="50" charset="-127"/>
                  <a:cs typeface="Arial" pitchFamily="34" charset="0"/>
                </a:rPr>
                <a:t>của </a:t>
              </a:r>
              <a:r>
                <a:rPr lang="en-US" altLang="ko-KR" sz="900" smtClean="0">
                  <a:latin typeface="Arial" pitchFamily="34" charset="0"/>
                  <a:ea typeface="돋움" pitchFamily="50" charset="-127"/>
                  <a:cs typeface="Arial" pitchFamily="34" charset="0"/>
                </a:rPr>
                <a:t> chỗ</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dưới đây có ý nghĩa gì </a:t>
              </a:r>
              <a:r>
                <a:rPr lang="en-US" altLang="ko-KR" sz="900" smtClean="0">
                  <a:latin typeface="Arial" pitchFamily="34" charset="0"/>
                  <a:ea typeface="돋움" pitchFamily="50" charset="-127"/>
                  <a:cs typeface="Arial" pitchFamily="34" charset="0"/>
                </a:rPr>
                <a:t>?</a:t>
              </a:r>
              <a:endParaRPr lang="en-US" altLang="ko-KR" sz="900">
                <a:latin typeface="Arial" pitchFamily="34" charset="0"/>
                <a:ea typeface="돋움" pitchFamily="50" charset="-127"/>
                <a:cs typeface="Arial" pitchFamily="34" charset="0"/>
              </a:endParaRP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Hướng </a:t>
              </a:r>
              <a:r>
                <a:rPr lang="en-US" altLang="ko-KR" sz="900" smtClean="0">
                  <a:latin typeface="Arial" pitchFamily="34" charset="0"/>
                  <a:ea typeface="돋움" pitchFamily="50" charset="-127"/>
                  <a:cs typeface="Arial" pitchFamily="34" charset="0"/>
                </a:rPr>
                <a:t>xoắn </a:t>
              </a:r>
              <a:r>
                <a:rPr lang="en-US" altLang="ko-KR" sz="900">
                  <a:latin typeface="Arial" pitchFamily="34" charset="0"/>
                  <a:ea typeface="돋움" pitchFamily="50" charset="-127"/>
                  <a:cs typeface="Arial" pitchFamily="34" charset="0"/>
                </a:rPr>
                <a:t>của </a:t>
              </a:r>
              <a:r>
                <a:rPr lang="en-US" altLang="ko-KR" sz="900" smtClean="0">
                  <a:latin typeface="Arial" pitchFamily="34" charset="0"/>
                  <a:ea typeface="돋움" pitchFamily="50" charset="-127"/>
                  <a:cs typeface="Arial" pitchFamily="34" charset="0"/>
                </a:rPr>
                <a:t>ốc</a:t>
              </a:r>
              <a:endParaRPr lang="ko-KR" altLang="en-US" sz="900">
                <a:latin typeface="Arial" pitchFamily="34" charset="0"/>
                <a:ea typeface="돋움" pitchFamily="50" charset="-127"/>
                <a:cs typeface="Arial" pitchFamily="34" charset="0"/>
              </a:endParaRPr>
            </a:p>
            <a:p>
              <a:r>
                <a:rPr lang="ko-KR" altLang="en-US"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Số </a:t>
              </a:r>
              <a:r>
                <a:rPr lang="en-US" altLang="ko-KR" sz="900" smtClean="0">
                  <a:latin typeface="Arial" pitchFamily="34" charset="0"/>
                  <a:ea typeface="돋움" pitchFamily="50" charset="-127"/>
                  <a:cs typeface="Arial" pitchFamily="34" charset="0"/>
                </a:rPr>
                <a:t>xoắn của ốc</a:t>
              </a:r>
              <a:endParaRPr lang="ko-KR" altLang="en-US" sz="900">
                <a:latin typeface="Arial" pitchFamily="34" charset="0"/>
                <a:ea typeface="돋움" pitchFamily="50" charset="-127"/>
                <a:cs typeface="Arial" pitchFamily="34" charset="0"/>
              </a:endParaRPr>
            </a:p>
            <a:p>
              <a:r>
                <a:rPr lang="ko-KR" altLang="en-US"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Cấp chính xác </a:t>
              </a:r>
              <a:r>
                <a:rPr lang="en-US" altLang="ko-KR" sz="900">
                  <a:latin typeface="Arial" pitchFamily="34" charset="0"/>
                  <a:ea typeface="돋움" pitchFamily="50" charset="-127"/>
                  <a:cs typeface="Arial" pitchFamily="34" charset="0"/>
                </a:rPr>
                <a:t>của ốc</a:t>
              </a:r>
              <a:r>
                <a:rPr lang="ko-KR" altLang="en-US" sz="900">
                  <a:latin typeface="Arial" pitchFamily="34" charset="0"/>
                  <a:ea typeface="돋움" pitchFamily="50" charset="-127"/>
                  <a:cs typeface="Arial" pitchFamily="34" charset="0"/>
                </a:rPr>
                <a:t> </a:t>
              </a:r>
            </a:p>
            <a:p>
              <a:r>
                <a:rPr lang="ko-KR" altLang="en-US"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Tên gọi của ốc</a:t>
              </a:r>
              <a:endParaRPr lang="ko-KR" altLang="en-US" sz="900">
                <a:latin typeface="Arial" pitchFamily="34" charset="0"/>
                <a:ea typeface="돋움" pitchFamily="50" charset="-127"/>
                <a:cs typeface="Arial" pitchFamily="34" charset="0"/>
              </a:endParaRPr>
            </a:p>
          </p:txBody>
        </p:sp>
        <p:grpSp>
          <p:nvGrpSpPr>
            <p:cNvPr id="16" name="Group 41"/>
            <p:cNvGrpSpPr>
              <a:grpSpLocks/>
            </p:cNvGrpSpPr>
            <p:nvPr/>
          </p:nvGrpSpPr>
          <p:grpSpPr bwMode="auto">
            <a:xfrm>
              <a:off x="396875" y="4355475"/>
              <a:ext cx="1146175" cy="936625"/>
              <a:chOff x="255" y="3122"/>
              <a:chExt cx="1497" cy="801"/>
            </a:xfrm>
          </p:grpSpPr>
          <p:grpSp>
            <p:nvGrpSpPr>
              <p:cNvPr id="17" name="Group 42"/>
              <p:cNvGrpSpPr>
                <a:grpSpLocks/>
              </p:cNvGrpSpPr>
              <p:nvPr/>
            </p:nvGrpSpPr>
            <p:grpSpPr bwMode="auto">
              <a:xfrm>
                <a:off x="255" y="3122"/>
                <a:ext cx="1497" cy="801"/>
                <a:chOff x="255" y="2963"/>
                <a:chExt cx="1497" cy="801"/>
              </a:xfrm>
            </p:grpSpPr>
            <p:pic>
              <p:nvPicPr>
                <p:cNvPr id="19" name="Picture 43" descr="ScreenHunter_001"/>
                <p:cNvPicPr>
                  <a:picLocks noChangeAspect="1" noChangeArrowheads="1"/>
                </p:cNvPicPr>
                <p:nvPr/>
              </p:nvPicPr>
              <p:blipFill>
                <a:blip r:embed="rId4" cstate="print">
                  <a:extLst>
                    <a:ext uri="{28A0092B-C50C-407E-A947-70E740481C1C}">
                      <a14:useLocalDpi xmlns:a14="http://schemas.microsoft.com/office/drawing/2010/main" val="0"/>
                    </a:ext>
                  </a:extLst>
                </a:blip>
                <a:srcRect t="6425"/>
                <a:stretch>
                  <a:fillRect/>
                </a:stretch>
              </p:blipFill>
              <p:spPr bwMode="auto">
                <a:xfrm>
                  <a:off x="255" y="2963"/>
                  <a:ext cx="1352" cy="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44"/>
                <p:cNvSpPr>
                  <a:spLocks noChangeArrowheads="1"/>
                </p:cNvSpPr>
                <p:nvPr/>
              </p:nvSpPr>
              <p:spPr bwMode="auto">
                <a:xfrm>
                  <a:off x="1162" y="2963"/>
                  <a:ext cx="590" cy="6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00">
                    <a:latin typeface="Arial" pitchFamily="34" charset="0"/>
                    <a:cs typeface="Arial" pitchFamily="34" charset="0"/>
                  </a:endParaRPr>
                </a:p>
              </p:txBody>
            </p:sp>
          </p:grpSp>
          <p:sp>
            <p:nvSpPr>
              <p:cNvPr id="18" name="Text Box 45"/>
              <p:cNvSpPr txBox="1">
                <a:spLocks noChangeArrowheads="1"/>
              </p:cNvSpPr>
              <p:nvPr/>
            </p:nvSpPr>
            <p:spPr bwMode="auto">
              <a:xfrm>
                <a:off x="1114" y="3516"/>
                <a:ext cx="42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r>
                  <a:rPr lang="en-US" altLang="ko-KR" sz="900" smtClean="0">
                    <a:latin typeface="Arial" pitchFamily="34" charset="0"/>
                    <a:cs typeface="Arial" pitchFamily="34" charset="0"/>
                  </a:rPr>
                  <a:t>(?)</a:t>
                </a:r>
                <a:endParaRPr lang="en-US" altLang="ko-KR" sz="900">
                  <a:latin typeface="Arial" pitchFamily="34" charset="0"/>
                  <a:cs typeface="Arial" pitchFamily="34" charset="0"/>
                </a:endParaRPr>
              </a:p>
            </p:txBody>
          </p:sp>
        </p:grpSp>
      </p:grpSp>
      <p:sp>
        <p:nvSpPr>
          <p:cNvPr id="21" name="Rectangle 46"/>
          <p:cNvSpPr>
            <a:spLocks noChangeArrowheads="1"/>
          </p:cNvSpPr>
          <p:nvPr/>
        </p:nvSpPr>
        <p:spPr bwMode="auto">
          <a:xfrm>
            <a:off x="3437277" y="1145399"/>
            <a:ext cx="3151187"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76</a:t>
            </a:r>
            <a:r>
              <a:rPr lang="en-US" altLang="ko-KR" sz="900">
                <a:latin typeface="Arial" pitchFamily="34" charset="0"/>
                <a:ea typeface="돋움" pitchFamily="50" charset="-127"/>
                <a:cs typeface="Arial" pitchFamily="34" charset="0"/>
              </a:rPr>
              <a:t>. Chọn đáp án không phải là yếu </a:t>
            </a:r>
            <a:r>
              <a:rPr lang="en-US" altLang="ko-KR" sz="900" smtClean="0">
                <a:latin typeface="Arial" pitchFamily="34" charset="0"/>
                <a:ea typeface="돋움" pitchFamily="50" charset="-127"/>
                <a:cs typeface="Arial" pitchFamily="34" charset="0"/>
              </a:rPr>
              <a:t>tố </a:t>
            </a:r>
            <a:r>
              <a:rPr lang="en-US" altLang="ko-KR" sz="900">
                <a:latin typeface="Arial" pitchFamily="34" charset="0"/>
                <a:ea typeface="돋움" pitchFamily="50" charset="-127"/>
                <a:cs typeface="Arial" pitchFamily="34" charset="0"/>
              </a:rPr>
              <a:t>chống lỏng ốc?</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Sử dụng Spring washer.</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Sử dụng W</a:t>
            </a:r>
            <a:r>
              <a:rPr lang="en-US" altLang="ko-KR" sz="900" smtClean="0">
                <a:latin typeface="Arial" pitchFamily="34" charset="0"/>
                <a:ea typeface="돋움" pitchFamily="50" charset="-127"/>
                <a:cs typeface="Arial" pitchFamily="34" charset="0"/>
              </a:rPr>
              <a:t>asher </a:t>
            </a:r>
            <a:r>
              <a:rPr lang="en-US" altLang="ko-KR" sz="900">
                <a:latin typeface="Arial" pitchFamily="34" charset="0"/>
                <a:ea typeface="돋움" pitchFamily="50" charset="-127"/>
                <a:cs typeface="Arial" pitchFamily="34" charset="0"/>
              </a:rPr>
              <a:t>hãm có răng.</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Sử </a:t>
            </a:r>
            <a:r>
              <a:rPr lang="en-US" altLang="ko-KR" sz="900">
                <a:latin typeface="Arial" pitchFamily="34" charset="0"/>
                <a:ea typeface="돋움" pitchFamily="50" charset="-127"/>
                <a:cs typeface="Arial" pitchFamily="34" charset="0"/>
              </a:rPr>
              <a:t>dụng Lock </a:t>
            </a:r>
            <a:r>
              <a:rPr lang="en-US" altLang="ko-KR" sz="900" smtClean="0">
                <a:latin typeface="Arial" pitchFamily="34" charset="0"/>
                <a:ea typeface="돋움" pitchFamily="50" charset="-127"/>
                <a:cs typeface="Arial" pitchFamily="34" charset="0"/>
              </a:rPr>
              <a:t>Nut ( đai ốc khóa )</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Sử </a:t>
            </a:r>
            <a:r>
              <a:rPr lang="en-US" altLang="ko-KR" sz="900">
                <a:latin typeface="Arial" pitchFamily="34" charset="0"/>
                <a:ea typeface="돋움" pitchFamily="50" charset="-127"/>
                <a:cs typeface="Arial" pitchFamily="34" charset="0"/>
              </a:rPr>
              <a:t>dụng W</a:t>
            </a:r>
            <a:r>
              <a:rPr lang="en-US" altLang="ko-KR" sz="900" smtClean="0">
                <a:latin typeface="Arial" pitchFamily="34" charset="0"/>
                <a:ea typeface="돋움" pitchFamily="50" charset="-127"/>
                <a:cs typeface="Arial" pitchFamily="34" charset="0"/>
              </a:rPr>
              <a:t>asher </a:t>
            </a:r>
            <a:r>
              <a:rPr lang="en-US" altLang="ko-KR" sz="900">
                <a:latin typeface="Arial" pitchFamily="34" charset="0"/>
                <a:ea typeface="돋움" pitchFamily="50" charset="-127"/>
                <a:cs typeface="Arial" pitchFamily="34" charset="0"/>
              </a:rPr>
              <a:t>bảo hiểm ( </a:t>
            </a:r>
            <a:r>
              <a:rPr lang="en-US" altLang="ko-KR" sz="900" smtClean="0">
                <a:latin typeface="Arial" pitchFamily="34" charset="0"/>
                <a:ea typeface="돋움" pitchFamily="50" charset="-127"/>
                <a:cs typeface="Arial" pitchFamily="34" charset="0"/>
              </a:rPr>
              <a:t>Tongue </a:t>
            </a:r>
            <a:r>
              <a:rPr lang="en-US" altLang="ko-KR" sz="900">
                <a:latin typeface="Arial" pitchFamily="34" charset="0"/>
                <a:ea typeface="돋움" pitchFamily="50" charset="-127"/>
                <a:cs typeface="Arial" pitchFamily="34" charset="0"/>
              </a:rPr>
              <a:t>washer)</a:t>
            </a:r>
            <a:r>
              <a:rPr lang="ko-KR" altLang="en-US"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t>
            </a:r>
          </a:p>
        </p:txBody>
      </p:sp>
      <p:sp>
        <p:nvSpPr>
          <p:cNvPr id="22" name="Rectangle 47"/>
          <p:cNvSpPr>
            <a:spLocks noChangeArrowheads="1"/>
          </p:cNvSpPr>
          <p:nvPr/>
        </p:nvSpPr>
        <p:spPr bwMode="auto">
          <a:xfrm>
            <a:off x="3446970" y="3080447"/>
            <a:ext cx="3132138"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77</a:t>
            </a:r>
            <a:r>
              <a:rPr lang="en-US" altLang="ko-KR" sz="900">
                <a:latin typeface="Arial" pitchFamily="34" charset="0"/>
                <a:ea typeface="돋움" pitchFamily="50" charset="-127"/>
                <a:cs typeface="Arial" pitchFamily="34" charset="0"/>
              </a:rPr>
              <a:t>. Chọn giải thích đúng về Gear dưới đây?</a:t>
            </a:r>
          </a:p>
          <a:p>
            <a:r>
              <a:rPr lang="en-US" altLang="ko-KR" sz="900">
                <a:latin typeface="Arial" pitchFamily="34" charset="0"/>
                <a:ea typeface="돋움" pitchFamily="50" charset="-127"/>
                <a:cs typeface="Arial" pitchFamily="34" charset="0"/>
              </a:rPr>
              <a:t> “ Là Gear có hai trục tâm của </a:t>
            </a:r>
            <a:r>
              <a:rPr lang="en-US" altLang="ko-KR" sz="900" smtClean="0">
                <a:latin typeface="Arial" pitchFamily="34" charset="0"/>
                <a:ea typeface="돋움" pitchFamily="50" charset="-127"/>
                <a:cs typeface="Arial" pitchFamily="34" charset="0"/>
              </a:rPr>
              <a:t>Helical </a:t>
            </a:r>
            <a:r>
              <a:rPr lang="en-US" altLang="ko-KR" sz="900">
                <a:latin typeface="Arial" pitchFamily="34" charset="0"/>
                <a:ea typeface="돋움" pitchFamily="50" charset="-127"/>
                <a:cs typeface="Arial" pitchFamily="34" charset="0"/>
              </a:rPr>
              <a:t>gear không song song với nhau và không giao nhau”</a:t>
            </a:r>
            <a:endParaRPr lang="ko-KR" altLang="en-US" sz="90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Rack Gear </a:t>
            </a:r>
            <a:r>
              <a:rPr lang="ko-KR" altLang="en-US" sz="900" smtClean="0">
                <a:latin typeface="Arial" pitchFamily="34" charset="0"/>
                <a:ea typeface="돋움" pitchFamily="50" charset="-127"/>
                <a:cs typeface="Arial" pitchFamily="34" charset="0"/>
              </a:rPr>
              <a:t> </a:t>
            </a:r>
            <a:endParaRPr lang="en-US" altLang="ko-KR" sz="900" smtClean="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Spur Gear  </a:t>
            </a:r>
          </a:p>
          <a:p>
            <a:pPr marL="228600" indent="-228600">
              <a:buAutoNum type="alphaUcPeriod"/>
            </a:pPr>
            <a:r>
              <a:rPr lang="en-US" altLang="ko-KR" sz="900" smtClean="0">
                <a:latin typeface="Arial" pitchFamily="34" charset="0"/>
                <a:ea typeface="돋움" pitchFamily="50" charset="-127"/>
                <a:cs typeface="Arial" pitchFamily="34" charset="0"/>
              </a:rPr>
              <a:t>Internal Gear  </a:t>
            </a:r>
          </a:p>
          <a:p>
            <a:pPr marL="228600" indent="-228600">
              <a:buAutoNum type="alphaUcPeriod"/>
            </a:pPr>
            <a:r>
              <a:rPr lang="en-US" altLang="ko-KR" sz="900" smtClean="0">
                <a:latin typeface="Arial" pitchFamily="34" charset="0"/>
                <a:ea typeface="돋움" pitchFamily="50" charset="-127"/>
                <a:cs typeface="Arial" pitchFamily="34" charset="0"/>
              </a:rPr>
              <a:t>Screw </a:t>
            </a:r>
            <a:r>
              <a:rPr lang="en-US" altLang="ko-KR" sz="900">
                <a:latin typeface="Arial" pitchFamily="34" charset="0"/>
                <a:ea typeface="돋움" pitchFamily="50" charset="-127"/>
                <a:cs typeface="Arial" pitchFamily="34" charset="0"/>
              </a:rPr>
              <a:t>Gear</a:t>
            </a:r>
            <a:endParaRPr lang="ko-KR" altLang="en-US" sz="900">
              <a:latin typeface="Arial" pitchFamily="34" charset="0"/>
              <a:ea typeface="돋움" pitchFamily="50" charset="-127"/>
              <a:cs typeface="Arial" pitchFamily="34" charset="0"/>
            </a:endParaRPr>
          </a:p>
        </p:txBody>
      </p:sp>
      <p:grpSp>
        <p:nvGrpSpPr>
          <p:cNvPr id="23" name="Group 22"/>
          <p:cNvGrpSpPr/>
          <p:nvPr/>
        </p:nvGrpSpPr>
        <p:grpSpPr>
          <a:xfrm>
            <a:off x="3450771" y="4507655"/>
            <a:ext cx="3124200" cy="923330"/>
            <a:chOff x="304800" y="6940550"/>
            <a:chExt cx="3124200" cy="923330"/>
          </a:xfrm>
        </p:grpSpPr>
        <p:sp>
          <p:nvSpPr>
            <p:cNvPr id="24" name="Rectangle 48"/>
            <p:cNvSpPr>
              <a:spLocks noChangeArrowheads="1"/>
            </p:cNvSpPr>
            <p:nvPr/>
          </p:nvSpPr>
          <p:spPr bwMode="auto">
            <a:xfrm>
              <a:off x="304800" y="6940550"/>
              <a:ext cx="3124200" cy="9233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78</a:t>
              </a:r>
              <a:r>
                <a:rPr lang="en-US" altLang="ko-KR" sz="900">
                  <a:latin typeface="Arial" pitchFamily="34" charset="0"/>
                  <a:ea typeface="돋움" pitchFamily="50" charset="-127"/>
                  <a:cs typeface="Arial" pitchFamily="34" charset="0"/>
                </a:rPr>
                <a:t>. Hình dưới đây là loại gear nào?</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Spiral </a:t>
              </a:r>
              <a:r>
                <a:rPr lang="en-US" altLang="ko-KR" sz="900" smtClean="0">
                  <a:latin typeface="Arial" pitchFamily="34" charset="0"/>
                  <a:ea typeface="돋움" pitchFamily="50" charset="-127"/>
                  <a:cs typeface="Arial" pitchFamily="34" charset="0"/>
                </a:rPr>
                <a:t>Bevel </a:t>
              </a:r>
              <a:r>
                <a:rPr lang="en-US" altLang="ko-KR" sz="900">
                  <a:latin typeface="Arial" pitchFamily="34" charset="0"/>
                  <a:ea typeface="돋움" pitchFamily="50" charset="-127"/>
                  <a:cs typeface="Arial" pitchFamily="34" charset="0"/>
                </a:rPr>
                <a:t>gear</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Straight Bevel </a:t>
              </a:r>
              <a:r>
                <a:rPr lang="en-US" altLang="ko-KR" sz="900">
                  <a:latin typeface="Arial" pitchFamily="34" charset="0"/>
                  <a:ea typeface="돋움" pitchFamily="50" charset="-127"/>
                  <a:cs typeface="Arial" pitchFamily="34" charset="0"/>
                </a:rPr>
                <a:t>gear</a:t>
              </a:r>
            </a:p>
            <a:p>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Right Angle Bevel Gears </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Crown Bevel Gear</a:t>
              </a:r>
              <a:endParaRPr lang="ko-KR" altLang="en-US" sz="900">
                <a:latin typeface="Arial" pitchFamily="34" charset="0"/>
                <a:ea typeface="돋움" pitchFamily="50" charset="-127"/>
                <a:cs typeface="Arial" pitchFamily="34" charset="0"/>
              </a:endParaRPr>
            </a:p>
          </p:txBody>
        </p:sp>
        <p:pic>
          <p:nvPicPr>
            <p:cNvPr id="25"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50" y="7018338"/>
              <a:ext cx="9366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Cần có lực căng ban đầu cao.</a:t>
            </a:r>
          </a:p>
        </p:txBody>
      </p:sp>
      <p:sp>
        <p:nvSpPr>
          <p:cNvPr id="27" name="Rectangle 51"/>
          <p:cNvSpPr>
            <a:spLocks noChangeArrowheads="1"/>
          </p:cNvSpPr>
          <p:nvPr/>
        </p:nvSpPr>
        <p:spPr bwMode="auto">
          <a:xfrm>
            <a:off x="3429000" y="8145159"/>
            <a:ext cx="3124200" cy="12003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a:latin typeface="Arial" pitchFamily="34" charset="0"/>
                <a:cs typeface="Arial" pitchFamily="34" charset="0"/>
              </a:rPr>
              <a:t>8</a:t>
            </a:r>
            <a:r>
              <a:rPr lang="en-US" altLang="ko-KR" sz="900" smtClean="0">
                <a:latin typeface="Arial" pitchFamily="34" charset="0"/>
                <a:cs typeface="Arial" pitchFamily="34" charset="0"/>
              </a:rPr>
              <a:t>0</a:t>
            </a:r>
            <a:r>
              <a:rPr lang="en-US" altLang="ko-KR" sz="900">
                <a:latin typeface="Arial" pitchFamily="34" charset="0"/>
                <a:cs typeface="Arial" pitchFamily="34" charset="0"/>
              </a:rPr>
              <a:t>. Chọn đáp án không phải là đặc </a:t>
            </a:r>
            <a:r>
              <a:rPr lang="en-US" altLang="ko-KR" sz="900" smtClean="0">
                <a:latin typeface="Arial" pitchFamily="34" charset="0"/>
                <a:cs typeface="Arial" pitchFamily="34" charset="0"/>
              </a:rPr>
              <a:t>tính Linear Bushing?</a:t>
            </a:r>
            <a:endParaRPr lang="en-US" altLang="ko-KR" sz="900">
              <a:latin typeface="Arial" pitchFamily="34" charset="0"/>
              <a:cs typeface="Arial" pitchFamily="34" charset="0"/>
            </a:endParaRPr>
          </a:p>
          <a:p>
            <a:r>
              <a:rPr lang="en-US" altLang="ko-KR" sz="900" smtClean="0">
                <a:latin typeface="Arial" pitchFamily="34" charset="0"/>
                <a:cs typeface="Arial" pitchFamily="34" charset="0"/>
              </a:rPr>
              <a:t>A. Là </a:t>
            </a:r>
            <a:r>
              <a:rPr lang="en-US" altLang="ko-KR" sz="900">
                <a:latin typeface="Arial" pitchFamily="34" charset="0"/>
                <a:cs typeface="Arial" pitchFamily="34" charset="0"/>
              </a:rPr>
              <a:t>tiếp xúc điểm lên trục nên hệ số ma sát thấp.</a:t>
            </a:r>
          </a:p>
          <a:p>
            <a:r>
              <a:rPr lang="en-US" altLang="ko-KR" sz="900" smtClean="0">
                <a:latin typeface="Arial" pitchFamily="34" charset="0"/>
                <a:cs typeface="Arial" pitchFamily="34" charset="0"/>
              </a:rPr>
              <a:t>B. </a:t>
            </a:r>
            <a:r>
              <a:rPr lang="en-US" altLang="ko-KR" sz="900">
                <a:latin typeface="Arial" pitchFamily="34" charset="0"/>
                <a:cs typeface="Arial" pitchFamily="34" charset="0"/>
              </a:rPr>
              <a:t>Do ball tiếp xúc điểm nên tải trọng cho phép nhỏ, được sử dụng </a:t>
            </a:r>
            <a:r>
              <a:rPr lang="en-US" altLang="ko-KR" sz="900" smtClean="0">
                <a:latin typeface="Arial" pitchFamily="34" charset="0"/>
                <a:cs typeface="Arial" pitchFamily="34" charset="0"/>
              </a:rPr>
              <a:t>trong vận tải </a:t>
            </a:r>
            <a:r>
              <a:rPr lang="en-US" altLang="ko-KR" sz="900">
                <a:latin typeface="Arial" pitchFamily="34" charset="0"/>
                <a:cs typeface="Arial" pitchFamily="34" charset="0"/>
              </a:rPr>
              <a:t>nhẹ.</a:t>
            </a:r>
          </a:p>
          <a:p>
            <a:r>
              <a:rPr lang="en-US" altLang="ko-KR" sz="900" smtClean="0">
                <a:latin typeface="Arial" pitchFamily="34" charset="0"/>
                <a:cs typeface="Arial" pitchFamily="34" charset="0"/>
              </a:rPr>
              <a:t>C. </a:t>
            </a:r>
            <a:r>
              <a:rPr lang="en-US" altLang="ko-KR" sz="900">
                <a:latin typeface="Arial" pitchFamily="34" charset="0"/>
                <a:cs typeface="Arial" pitchFamily="34" charset="0"/>
              </a:rPr>
              <a:t>Giá trị cho phép của khe hở đường kính nhỏ, yêu cầu mức độ lắp ráp nghiêm ngặt.</a:t>
            </a:r>
          </a:p>
          <a:p>
            <a:r>
              <a:rPr lang="en-US" altLang="ko-KR" sz="900" smtClean="0">
                <a:latin typeface="Arial" pitchFamily="34" charset="0"/>
                <a:cs typeface="Arial" pitchFamily="34" charset="0"/>
              </a:rPr>
              <a:t>D. </a:t>
            </a:r>
            <a:r>
              <a:rPr lang="en-US" altLang="ko-KR" sz="900">
                <a:latin typeface="Arial" pitchFamily="34" charset="0"/>
                <a:cs typeface="Arial" pitchFamily="34" charset="0"/>
              </a:rPr>
              <a:t>Bền với shock khi di chuyển, tính phù hợp với vận chuyển tốc độ cao tốt</a:t>
            </a:r>
            <a:endParaRPr lang="ko-KR" altLang="en-US" sz="900">
              <a:latin typeface="Arial" pitchFamily="34" charset="0"/>
              <a:cs typeface="Arial" pitchFamily="34" charset="0"/>
            </a:endParaRPr>
          </a:p>
        </p:txBody>
      </p:sp>
    </p:spTree>
    <p:extLst>
      <p:ext uri="{BB962C8B-B14F-4D97-AF65-F5344CB8AC3E}">
        <p14:creationId xmlns:p14="http://schemas.microsoft.com/office/powerpoint/2010/main" val="3600608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4097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272075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Điện trở tiếp đất dùng cho điện áp thấp dưới 400 [V] là bao nhiêu </a:t>
            </a:r>
            <a:r>
              <a:rPr lang="el-GR" altLang="ko-KR" sz="950">
                <a:latin typeface="Times New Roman" pitchFamily="18" charset="0"/>
                <a:ea typeface="LG Smart_H Regular" panose="020B0600000101010101" pitchFamily="34" charset="-127"/>
                <a:cs typeface="Times New Roman" pitchFamily="18" charset="0"/>
              </a:rPr>
              <a:t>Ω?</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Trên </a:t>
            </a:r>
            <a:r>
              <a:rPr lang="en-US" altLang="ko-KR" sz="950">
                <a:latin typeface="Times New Roman" pitchFamily="18" charset="0"/>
                <a:ea typeface="LG Smart_H Regular" panose="020B0600000101010101" pitchFamily="34" charset="-127"/>
                <a:cs typeface="Times New Roman" pitchFamily="18" charset="0"/>
              </a:rPr>
              <a:t>50 [</a:t>
            </a:r>
            <a:r>
              <a:rPr lang="el-GR" altLang="ko-KR" sz="950">
                <a:latin typeface="Times New Roman" pitchFamily="18" charset="0"/>
                <a:ea typeface="LG Smart_H Regular" panose="020B0600000101010101" pitchFamily="34" charset="-127"/>
                <a:cs typeface="Times New Roman" pitchFamily="18" charset="0"/>
              </a:rPr>
              <a:t>Ω</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Dưới </a:t>
            </a:r>
            <a:r>
              <a:rPr lang="vi-VN" altLang="ko-KR" sz="950">
                <a:latin typeface="Times New Roman" pitchFamily="18" charset="0"/>
                <a:ea typeface="LG Smart_H Regular" panose="020B0600000101010101" pitchFamily="34" charset="-127"/>
                <a:cs typeface="Times New Roman" pitchFamily="18" charset="0"/>
              </a:rPr>
              <a:t>10 [</a:t>
            </a:r>
            <a:r>
              <a:rPr lang="el-GR" altLang="ko-KR" sz="950">
                <a:latin typeface="Times New Roman" pitchFamily="18" charset="0"/>
                <a:ea typeface="LG Smart_H Regular" panose="020B0600000101010101" pitchFamily="34" charset="-127"/>
                <a:cs typeface="Times New Roman" pitchFamily="18" charset="0"/>
              </a:rPr>
              <a:t>Ω</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Dưới </a:t>
            </a:r>
            <a:r>
              <a:rPr lang="vi-VN" altLang="ko-KR" sz="950">
                <a:latin typeface="Times New Roman" pitchFamily="18" charset="0"/>
                <a:ea typeface="LG Smart_H Regular" panose="020B0600000101010101" pitchFamily="34" charset="-127"/>
                <a:cs typeface="Times New Roman" pitchFamily="18" charset="0"/>
              </a:rPr>
              <a:t>100 [</a:t>
            </a:r>
            <a:r>
              <a:rPr lang="el-GR" altLang="ko-KR" sz="950">
                <a:latin typeface="Times New Roman" pitchFamily="18" charset="0"/>
                <a:ea typeface="LG Smart_H Regular" panose="020B0600000101010101" pitchFamily="34" charset="-127"/>
                <a:cs typeface="Times New Roman" pitchFamily="18" charset="0"/>
              </a:rPr>
              <a:t>Ω</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Dưới </a:t>
            </a:r>
            <a:r>
              <a:rPr lang="vi-VN" altLang="ko-KR" sz="950">
                <a:latin typeface="Times New Roman" pitchFamily="18" charset="0"/>
                <a:ea typeface="LG Smart_H Regular" panose="020B0600000101010101" pitchFamily="34" charset="-127"/>
                <a:cs typeface="Times New Roman" pitchFamily="18" charset="0"/>
              </a:rPr>
              <a:t>20 [</a:t>
            </a:r>
            <a:r>
              <a:rPr lang="el-GR" altLang="ko-KR" sz="950">
                <a:latin typeface="Times New Roman" pitchFamily="18" charset="0"/>
                <a:ea typeface="LG Smart_H Regular" panose="020B0600000101010101" pitchFamily="34" charset="-127"/>
                <a:cs typeface="Times New Roman" pitchFamily="18" charset="0"/>
              </a:rPr>
              <a:t>Ω]</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88640" y="365685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 nào sau đây </a:t>
            </a:r>
            <a:r>
              <a:rPr lang="vi-VN" altLang="ko-KR" sz="950" b="1">
                <a:latin typeface="Times New Roman" pitchFamily="18" charset="0"/>
                <a:ea typeface="LG Smart_H Regular" panose="020B0600000101010101" pitchFamily="34" charset="-127"/>
                <a:cs typeface="Times New Roman" pitchFamily="18" charset="0"/>
              </a:rPr>
              <a:t>không phải </a:t>
            </a:r>
            <a:r>
              <a:rPr lang="vi-VN" altLang="ko-KR" sz="950">
                <a:latin typeface="Times New Roman" pitchFamily="18" charset="0"/>
                <a:ea typeface="LG Smart_H Regular" panose="020B0600000101010101" pitchFamily="34" charset="-127"/>
                <a:cs typeface="Times New Roman" pitchFamily="18" charset="0"/>
              </a:rPr>
              <a:t>là vật liệu dẫn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Sắt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Muối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Axit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Ê-bo-nít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2" name="Rectangle 7"/>
          <p:cNvSpPr>
            <a:spLocks noChangeArrowheads="1"/>
          </p:cNvSpPr>
          <p:nvPr/>
        </p:nvSpPr>
        <p:spPr bwMode="auto">
          <a:xfrm>
            <a:off x="162099" y="466496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 </a:t>
            </a:r>
            <a:r>
              <a:rPr lang="vi-VN" altLang="ko-KR" sz="950">
                <a:latin typeface="Times New Roman" pitchFamily="18" charset="0"/>
                <a:ea typeface="LG Smart_H Regular" panose="020B0600000101010101" pitchFamily="34" charset="-127"/>
                <a:cs typeface="Times New Roman" pitchFamily="18" charset="0"/>
              </a:rPr>
              <a:t>Hiện tượng mất đi 1 phần pha của dòng điện xoay chiều là loại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Nhiễu sét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Nhiễu chuyển mạch(switching noise)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3" name="Rectangle 7"/>
          <p:cNvSpPr>
            <a:spLocks noChangeArrowheads="1"/>
          </p:cNvSpPr>
          <p:nvPr/>
        </p:nvSpPr>
        <p:spPr bwMode="auto">
          <a:xfrm>
            <a:off x="188640" y="6271669"/>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Mối liên quan giữa khối lượng của hạt điện tích dương và </a:t>
            </a:r>
            <a:r>
              <a:rPr lang="vi-VN" altLang="ko-KR" sz="950" smtClean="0">
                <a:latin typeface="Times New Roman" pitchFamily="18" charset="0"/>
                <a:ea typeface="LG Smart_H Regular" panose="020B0600000101010101" pitchFamily="34" charset="-127"/>
                <a:cs typeface="Times New Roman" pitchFamily="18" charset="0"/>
              </a:rPr>
              <a:t>Electron</a:t>
            </a:r>
            <a:r>
              <a:rPr lang="en-US" altLang="ko-KR" sz="950" smtClean="0">
                <a:latin typeface="Times New Roman" pitchFamily="18" charset="0"/>
                <a:ea typeface="LG Smart_H Regular" panose="020B0600000101010101" pitchFamily="34" charset="-127"/>
                <a:cs typeface="Times New Roman" pitchFamily="18" charset="0"/>
              </a:rPr>
              <a:t> là bao nhiêu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Gấp </a:t>
            </a:r>
            <a:r>
              <a:rPr lang="en-US" altLang="ko-KR" sz="950">
                <a:latin typeface="Times New Roman" pitchFamily="18" charset="0"/>
                <a:ea typeface="LG Smart_H Regular" panose="020B0600000101010101" pitchFamily="34" charset="-127"/>
                <a:cs typeface="Times New Roman" pitchFamily="18" charset="0"/>
              </a:rPr>
              <a:t>khoảng 1840 lần hạt </a:t>
            </a:r>
            <a:r>
              <a:rPr lang="en-US" altLang="ko-KR" sz="950" smtClean="0">
                <a:latin typeface="Times New Roman" pitchFamily="18" charset="0"/>
                <a:ea typeface="LG Smart_H Regular" panose="020B0600000101010101" pitchFamily="34" charset="-127"/>
                <a:cs typeface="Times New Roman" pitchFamily="18" charset="0"/>
              </a:rPr>
              <a:t>electron</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Gấp khoảng 1248 lần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Gấp khoảng 1428 lần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Gấp khoảng 1842 lần hạt electron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7511896"/>
            <a:ext cx="3239810" cy="1115690"/>
            <a:chOff x="188640" y="7511896"/>
            <a:chExt cx="3239810" cy="1115690"/>
          </a:xfrm>
        </p:grpSpPr>
        <p:sp>
          <p:nvSpPr>
            <p:cNvPr id="64" name="Rectangle 7"/>
            <p:cNvSpPr>
              <a:spLocks noChangeArrowheads="1"/>
            </p:cNvSpPr>
            <p:nvPr/>
          </p:nvSpPr>
          <p:spPr bwMode="auto">
            <a:xfrm>
              <a:off x="188640" y="751189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 </a:t>
              </a:r>
              <a:r>
                <a:rPr lang="vi-VN" altLang="ko-KR" sz="950">
                  <a:latin typeface="Times New Roman" pitchFamily="18" charset="0"/>
                  <a:ea typeface="LG Smart_H Regular" panose="020B0600000101010101" pitchFamily="34" charset="-127"/>
                  <a:cs typeface="Times New Roman" pitchFamily="18" charset="0"/>
                </a:rPr>
                <a:t>Chọn đáp án đúng cho ký hiệu trên sơ đồ mạch của Cuộn Cảm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 </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5" name="Picture 64" descr="coli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537" y="7956317"/>
              <a:ext cx="759530" cy="241412"/>
            </a:xfrm>
            <a:prstGeom prst="rect">
              <a:avLst/>
            </a:prstGeom>
            <a:noFill/>
            <a:ln>
              <a:noFill/>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9050">
                  <a:solidFill>
                    <a:schemeClr val="tx1"/>
                  </a:solidFill>
                  <a:miter lim="800000"/>
                  <a:headEnd/>
                  <a:tailEnd/>
                </a14:hiddenLine>
              </a:ext>
            </a:extLst>
          </p:spPr>
        </p:pic>
        <p:pic>
          <p:nvPicPr>
            <p:cNvPr id="66" name="Picture 65"/>
            <p:cNvPicPr>
              <a:picLocks noChangeAspect="1"/>
            </p:cNvPicPr>
            <p:nvPr/>
          </p:nvPicPr>
          <p:blipFill>
            <a:blip r:embed="rId4"/>
            <a:stretch>
              <a:fillRect/>
            </a:stretch>
          </p:blipFill>
          <p:spPr>
            <a:xfrm>
              <a:off x="2060848" y="7833320"/>
              <a:ext cx="775829" cy="391178"/>
            </a:xfrm>
            <a:prstGeom prst="rect">
              <a:avLst/>
            </a:prstGeom>
          </p:spPr>
        </p:pic>
        <p:pic>
          <p:nvPicPr>
            <p:cNvPr id="67" name="Picture 66"/>
            <p:cNvPicPr>
              <a:picLocks noChangeAspect="1"/>
            </p:cNvPicPr>
            <p:nvPr/>
          </p:nvPicPr>
          <p:blipFill>
            <a:blip r:embed="rId5"/>
            <a:stretch>
              <a:fillRect/>
            </a:stretch>
          </p:blipFill>
          <p:spPr>
            <a:xfrm rot="5400000">
              <a:off x="2345108" y="8046988"/>
              <a:ext cx="294159" cy="862681"/>
            </a:xfrm>
            <a:prstGeom prst="rect">
              <a:avLst/>
            </a:prstGeom>
          </p:spPr>
        </p:pic>
        <p:pic>
          <p:nvPicPr>
            <p:cNvPr id="68" name="그림 5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537" y="8366074"/>
              <a:ext cx="828239" cy="261511"/>
            </a:xfrm>
            <a:prstGeom prst="rect">
              <a:avLst/>
            </a:prstGeom>
            <a:noFill/>
          </p:spPr>
        </p:pic>
      </p:grpSp>
      <p:sp>
        <p:nvSpPr>
          <p:cNvPr id="69" name="Rectangle 7"/>
          <p:cNvSpPr>
            <a:spLocks noChangeArrowheads="1"/>
          </p:cNvSpPr>
          <p:nvPr/>
        </p:nvSpPr>
        <p:spPr bwMode="auto">
          <a:xfrm>
            <a:off x="3448472" y="1249701"/>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Đáp án nào dưới đây đúng với điện trở</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(Điện </a:t>
            </a:r>
            <a:r>
              <a:rPr lang="en-US" altLang="ko-KR" sz="950">
                <a:latin typeface="Times New Roman" pitchFamily="18" charset="0"/>
                <a:ea typeface="LG Smart_H Regular" panose="020B0600000101010101" pitchFamily="34" charset="-127"/>
                <a:cs typeface="Times New Roman" pitchFamily="18" charset="0"/>
              </a:rPr>
              <a:t>trở) = (Hằng số loại vật chất) * (chiều dài) / (diện tích tiếp xúc</a:t>
            </a:r>
            <a:r>
              <a:rPr lang="en-US" altLang="ko-KR" sz="950" smtClean="0">
                <a:latin typeface="Times New Roman" pitchFamily="18" charset="0"/>
                <a:ea typeface="LG Smart_H Regular" panose="020B0600000101010101" pitchFamily="34" charset="-127"/>
                <a:cs typeface="Times New Roman" pitchFamily="18" charset="0"/>
              </a:rPr>
              <a: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Điện trở) = (Hằng số loại vật chất) * (diện tích tiếp xúc) / (chiều dài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(Điện trở) = (Hằng số điện môi) * (chiều dài) / (diện tích tiếp xúc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(Điện trở) = (Hằng số điện môi) * (diện tích tiếp xúc) / (chiều dài)</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429000" y="5514608"/>
            <a:ext cx="3239810" cy="1094576"/>
            <a:chOff x="3429000" y="4751208"/>
            <a:chExt cx="3239810" cy="1094576"/>
          </a:xfrm>
        </p:grpSpPr>
        <p:sp>
          <p:nvSpPr>
            <p:cNvPr id="73" name="Rectangle 7"/>
            <p:cNvSpPr>
              <a:spLocks noChangeArrowheads="1"/>
            </p:cNvSpPr>
            <p:nvPr/>
          </p:nvSpPr>
          <p:spPr bwMode="auto">
            <a:xfrm>
              <a:off x="3429000" y="4751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Hình dưới đây</a:t>
              </a:r>
              <a:r>
                <a:rPr lang="vi-VN" altLang="ko-KR" sz="950" smtClean="0">
                  <a:latin typeface="Times New Roman" pitchFamily="18" charset="0"/>
                  <a:ea typeface="LG Smart_H Regular" panose="020B0600000101010101" pitchFamily="34" charset="-127"/>
                  <a:cs typeface="Times New Roman" pitchFamily="18" charset="0"/>
                </a:rPr>
                <a:t> là</a:t>
              </a:r>
              <a:r>
                <a:rPr lang="en-US" altLang="ko-KR" sz="950" smtClean="0">
                  <a:latin typeface="Times New Roman" pitchFamily="18" charset="0"/>
                  <a:ea typeface="LG Smart_H Regular" panose="020B0600000101010101" pitchFamily="34" charset="-127"/>
                  <a:cs typeface="Times New Roman" pitchFamily="18" charset="0"/>
                </a:rPr>
                <a:t> loại </a:t>
              </a:r>
              <a:r>
                <a:rPr lang="vi-VN" altLang="ko-KR" sz="950" smtClean="0">
                  <a:latin typeface="Times New Roman" pitchFamily="18" charset="0"/>
                  <a:ea typeface="LG Smart_H Regular" panose="020B0600000101010101" pitchFamily="34" charset="-127"/>
                  <a:cs typeface="Times New Roman" pitchFamily="18" charset="0"/>
                </a:rPr>
                <a:t>cảm </a:t>
              </a:r>
              <a:r>
                <a:rPr lang="vi-VN" altLang="ko-KR" sz="950">
                  <a:latin typeface="Times New Roman" pitchFamily="18" charset="0"/>
                  <a:ea typeface="LG Smart_H Regular" panose="020B0600000101010101" pitchFamily="34" charset="-127"/>
                  <a:cs typeface="Times New Roman" pitchFamily="18" charset="0"/>
                </a:rPr>
                <a:t>biến </a:t>
              </a:r>
              <a:r>
                <a:rPr lang="vi-VN" altLang="ko-KR" sz="950" smtClean="0">
                  <a:latin typeface="Times New Roman" pitchFamily="18" charset="0"/>
                  <a:ea typeface="LG Smart_H Regular" panose="020B0600000101010101" pitchFamily="34" charset="-127"/>
                  <a:cs typeface="Times New Roman" pitchFamily="18" charset="0"/>
                </a:rPr>
                <a:t>gì</a:t>
              </a:r>
              <a:r>
                <a:rPr lang="vi-VN" altLang="ko-KR" sz="95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DC </a:t>
              </a:r>
              <a:r>
                <a:rPr lang="en-US" altLang="ko-KR" sz="950">
                  <a:latin typeface="Times New Roman" pitchFamily="18" charset="0"/>
                  <a:ea typeface="LG Smart_H Regular" panose="020B0600000101010101" pitchFamily="34" charset="-127"/>
                  <a:cs typeface="Times New Roman" pitchFamily="18" charset="0"/>
                </a:rPr>
                <a:t>two wire </a:t>
              </a:r>
              <a:r>
                <a:rPr lang="en-US" altLang="ko-KR" sz="950" smtClean="0">
                  <a:latin typeface="Times New Roman" pitchFamily="18" charset="0"/>
                  <a:ea typeface="LG Smart_H Regular" panose="020B0600000101010101" pitchFamily="34" charset="-127"/>
                  <a:cs typeface="Times New Roman" pitchFamily="18" charset="0"/>
                </a:rPr>
                <a:t>way</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Cảm biến </a:t>
              </a:r>
              <a:r>
                <a:rPr lang="en-US" altLang="ko-KR" sz="950" smtClean="0">
                  <a:latin typeface="Times New Roman" pitchFamily="18" charset="0"/>
                  <a:ea typeface="LG Smart_H Regular" panose="020B0600000101010101" pitchFamily="34" charset="-127"/>
                  <a:cs typeface="Times New Roman" pitchFamily="18" charset="0"/>
                </a:rPr>
                <a:t>NPN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DC four wire </a:t>
              </a:r>
              <a:r>
                <a:rPr lang="en-US" altLang="ko-KR" sz="950" smtClean="0">
                  <a:latin typeface="Times New Roman" pitchFamily="18" charset="0"/>
                  <a:ea typeface="LG Smart_H Regular" panose="020B0600000101010101" pitchFamily="34" charset="-127"/>
                  <a:cs typeface="Times New Roman" pitchFamily="18" charset="0"/>
                </a:rPr>
                <a:t>way</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Cảm biến </a:t>
              </a:r>
              <a:r>
                <a:rPr lang="vi-VN" altLang="ko-KR" sz="950" smtClean="0">
                  <a:latin typeface="Times New Roman" pitchFamily="18" charset="0"/>
                  <a:ea typeface="LG Smart_H Regular" panose="020B0600000101010101" pitchFamily="34" charset="-127"/>
                  <a:cs typeface="Times New Roman" pitchFamily="18" charset="0"/>
                </a:rPr>
                <a:t>PNP</a:t>
              </a:r>
              <a:endParaRPr lang="en-US" altLang="ko-KR" sz="950" smtClean="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7"/>
            <a:stretch>
              <a:fillRect/>
            </a:stretch>
          </p:blipFill>
          <p:spPr>
            <a:xfrm>
              <a:off x="4869160" y="5008590"/>
              <a:ext cx="1656184" cy="837194"/>
            </a:xfrm>
            <a:prstGeom prst="rect">
              <a:avLst/>
            </a:prstGeom>
          </p:spPr>
        </p:pic>
      </p:grpSp>
      <p:sp>
        <p:nvSpPr>
          <p:cNvPr id="26" name="Rectangle 7"/>
          <p:cNvSpPr>
            <a:spLocks noChangeArrowheads="1"/>
          </p:cNvSpPr>
          <p:nvPr/>
        </p:nvSpPr>
        <p:spPr bwMode="auto">
          <a:xfrm>
            <a:off x="188640" y="1136576"/>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a:pPr>
            <a:r>
              <a:rPr lang="vi-VN" altLang="ko-KR" sz="950" smtClean="0">
                <a:latin typeface="Times New Roman" pitchFamily="18" charset="0"/>
                <a:ea typeface="LG Smart_H Regular" panose="020B0600000101010101" pitchFamily="34" charset="-127"/>
                <a:cs typeface="Times New Roman" pitchFamily="18" charset="0"/>
              </a:rPr>
              <a:t>Giải </a:t>
            </a:r>
            <a:r>
              <a:rPr lang="vi-VN" altLang="ko-KR" sz="950">
                <a:latin typeface="Times New Roman" pitchFamily="18" charset="0"/>
                <a:ea typeface="LG Smart_H Regular" panose="020B0600000101010101" pitchFamily="34" charset="-127"/>
                <a:cs typeface="Times New Roman" pitchFamily="18" charset="0"/>
              </a:rPr>
              <a:t>thích nào đúng về cách </a:t>
            </a:r>
            <a:r>
              <a:rPr lang="vi-VN" altLang="ko-KR" sz="950" smtClean="0">
                <a:latin typeface="Times New Roman" pitchFamily="18" charset="0"/>
                <a:ea typeface="LG Smart_H Regular" panose="020B0600000101010101" pitchFamily="34" charset="-127"/>
                <a:cs typeface="Times New Roman" pitchFamily="18" charset="0"/>
              </a:rPr>
              <a:t>điện?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rabi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đường bị cắt, là đoạn dây hay dây điện không cho dòng điện chạy </a:t>
            </a:r>
            <a:r>
              <a:rPr lang="vi-VN" altLang="ko-KR" sz="950" smtClean="0">
                <a:latin typeface="Times New Roman" pitchFamily="18" charset="0"/>
                <a:ea typeface="LG Smart_H Regular" panose="020B0600000101010101" pitchFamily="34" charset="-127"/>
                <a:cs typeface="Times New Roman" pitchFamily="18" charset="0"/>
              </a:rPr>
              <a:t>qua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việc đưa một chất vào giữa chất dẫn điện làm cho dòng điện hay nhiệt không thể chạy qua</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tiếp xúc của hai điểm trên mạch điện tử có điện trở bằng hoặc sấp sỉ bằng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nối đất, thường được sử dụng khi nói đến tình trạng dòng điện bị dò rỉ</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3629075" y="8012004"/>
            <a:ext cx="3228925" cy="1033711"/>
            <a:chOff x="3439885" y="8155612"/>
            <a:chExt cx="3239810" cy="1033711"/>
          </a:xfrm>
        </p:grpSpPr>
        <p:sp>
          <p:nvSpPr>
            <p:cNvPr id="28"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fr-FR" altLang="ko-KR" sz="950">
                  <a:latin typeface="Times New Roman" pitchFamily="18" charset="0"/>
                  <a:ea typeface="LG Smart_H Regular" panose="020B0600000101010101" pitchFamily="34" charset="-127"/>
                  <a:cs typeface="Times New Roman" pitchFamily="18" charset="0"/>
                </a:rPr>
                <a:t>Số 3 trong hình bên là gì</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Cathode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Chip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t>
              </a:r>
              <a:r>
                <a:rPr lang="vi-VN" altLang="ko-KR" sz="950" smtClean="0">
                  <a:latin typeface="Times New Roman" pitchFamily="18" charset="0"/>
                  <a:ea typeface="LG Smart_H Regular" panose="020B0600000101010101" pitchFamily="34" charset="-127"/>
                  <a:cs typeface="Times New Roman" pitchFamily="18" charset="0"/>
                </a:rPr>
                <a:t>frame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Gold wire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9" name="Group 28"/>
            <p:cNvGrpSpPr/>
            <p:nvPr/>
          </p:nvGrpSpPr>
          <p:grpSpPr>
            <a:xfrm>
              <a:off x="4802705" y="8481392"/>
              <a:ext cx="1008940" cy="707931"/>
              <a:chOff x="0" y="0"/>
              <a:chExt cx="2045832" cy="1200204"/>
            </a:xfrm>
          </p:grpSpPr>
          <p:pic>
            <p:nvPicPr>
              <p:cNvPr id="30" name="Picture 29" descr="L-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04144"/>
                <a:ext cx="2045832" cy="10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Oval 30"/>
              <p:cNvSpPr/>
              <p:nvPr/>
            </p:nvSpPr>
            <p:spPr>
              <a:xfrm>
                <a:off x="4357" y="80475"/>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3</a:t>
                </a:r>
              </a:p>
            </p:txBody>
          </p:sp>
          <p:sp>
            <p:nvSpPr>
              <p:cNvPr id="32" name="Oval 31"/>
              <p:cNvSpPr/>
              <p:nvPr/>
            </p:nvSpPr>
            <p:spPr>
              <a:xfrm>
                <a:off x="1239842" y="0"/>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4</a:t>
                </a:r>
              </a:p>
            </p:txBody>
          </p:sp>
          <p:sp>
            <p:nvSpPr>
              <p:cNvPr id="33" name="Oval 32"/>
              <p:cNvSpPr/>
              <p:nvPr/>
            </p:nvSpPr>
            <p:spPr>
              <a:xfrm>
                <a:off x="1665785" y="10887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1</a:t>
                </a:r>
              </a:p>
            </p:txBody>
          </p:sp>
          <p:sp>
            <p:nvSpPr>
              <p:cNvPr id="34" name="Oval 33"/>
              <p:cNvSpPr/>
              <p:nvPr/>
            </p:nvSpPr>
            <p:spPr>
              <a:xfrm>
                <a:off x="1568641" y="41894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2</a:t>
                </a:r>
              </a:p>
            </p:txBody>
          </p:sp>
          <p:sp>
            <p:nvSpPr>
              <p:cNvPr id="35" name="Oval 34"/>
              <p:cNvSpPr/>
              <p:nvPr/>
            </p:nvSpPr>
            <p:spPr>
              <a:xfrm>
                <a:off x="1292678" y="884464"/>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6</a:t>
                </a:r>
              </a:p>
            </p:txBody>
          </p:sp>
          <p:sp>
            <p:nvSpPr>
              <p:cNvPr id="36" name="Oval 35"/>
              <p:cNvSpPr/>
              <p:nvPr/>
            </p:nvSpPr>
            <p:spPr>
              <a:xfrm>
                <a:off x="438150" y="928007"/>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5</a:t>
                </a:r>
              </a:p>
            </p:txBody>
          </p:sp>
        </p:grpSp>
      </p:grpSp>
      <p:sp>
        <p:nvSpPr>
          <p:cNvPr id="38" name="Rectangle 7"/>
          <p:cNvSpPr>
            <a:spLocks noChangeArrowheads="1"/>
          </p:cNvSpPr>
          <p:nvPr/>
        </p:nvSpPr>
        <p:spPr bwMode="auto">
          <a:xfrm>
            <a:off x="3510348" y="3871791"/>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việc sử dụng nguyên lý của tác động hỗ </a:t>
            </a:r>
            <a:r>
              <a:rPr lang="vi-VN" altLang="ko-KR" sz="950" smtClean="0">
                <a:latin typeface="Times New Roman" pitchFamily="18" charset="0"/>
                <a:ea typeface="LG Smart_H Regular" panose="020B0600000101010101" pitchFamily="34" charset="-127"/>
                <a:cs typeface="Times New Roman" pitchFamily="18" charset="0"/>
              </a:rPr>
              <a:t>cảm?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Biến </a:t>
            </a:r>
            <a:r>
              <a:rPr lang="en-US" altLang="ko-KR" sz="950" smtClean="0">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Rơ le điện </a:t>
            </a:r>
            <a:r>
              <a:rPr lang="vi-VN" altLang="ko-KR" sz="950" smtClean="0">
                <a:latin typeface="Times New Roman" pitchFamily="18" charset="0"/>
                <a:ea typeface="LG Smart_H Regular" panose="020B0600000101010101" pitchFamily="34" charset="-127"/>
                <a:cs typeface="Times New Roman" pitchFamily="18" charset="0"/>
              </a:rPr>
              <a:t>từ</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Loa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phát điện</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0656764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9848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97536" y="776288"/>
            <a:ext cx="313084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22" name="Rectangle 21"/>
          <p:cNvSpPr>
            <a:spLocks noChangeArrowheads="1"/>
          </p:cNvSpPr>
          <p:nvPr/>
        </p:nvSpPr>
        <p:spPr bwMode="auto">
          <a:xfrm>
            <a:off x="206776" y="8090138"/>
            <a:ext cx="329076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15.   </a:t>
            </a:r>
            <a:r>
              <a:rPr lang="vi-VN" altLang="ko-KR" sz="950" smtClean="0">
                <a:latin typeface="Times New Roman" pitchFamily="18" charset="0"/>
                <a:ea typeface="LG Smart_H Regular" panose="020B0600000101010101" pitchFamily="34" charset="-127"/>
                <a:cs typeface="Times New Roman" pitchFamily="18" charset="0"/>
              </a:rPr>
              <a:t>Đâu </a:t>
            </a:r>
            <a:r>
              <a:rPr lang="vi-VN" altLang="ko-KR" sz="950" b="1" dirty="0">
                <a:latin typeface="Times New Roman" pitchFamily="18" charset="0"/>
                <a:ea typeface="LG Smart_H Regular" panose="020B0600000101010101" pitchFamily="34" charset="-127"/>
                <a:cs typeface="Times New Roman" pitchFamily="18" charset="0"/>
              </a:rPr>
              <a:t>không phải </a:t>
            </a:r>
            <a:r>
              <a:rPr lang="vi-VN" altLang="ko-KR" sz="950" dirty="0">
                <a:latin typeface="Times New Roman" pitchFamily="18" charset="0"/>
                <a:ea typeface="LG Smart_H Regular" panose="020B0600000101010101" pitchFamily="34" charset="-127"/>
                <a:cs typeface="Times New Roman" pitchFamily="18" charset="0"/>
              </a:rPr>
              <a:t>là mục đích của việc </a:t>
            </a:r>
            <a:r>
              <a:rPr lang="vi-VN" altLang="ko-KR" sz="950">
                <a:latin typeface="Times New Roman" pitchFamily="18" charset="0"/>
                <a:ea typeface="LG Smart_H Regular" panose="020B0600000101010101" pitchFamily="34" charset="-127"/>
                <a:cs typeface="Times New Roman" pitchFamily="18" charset="0"/>
              </a:rPr>
              <a:t>tiếp địa</a:t>
            </a:r>
            <a:r>
              <a:rPr lang="en-US" altLang="ko-KR" sz="950">
                <a:latin typeface="Times New Roman" pitchFamily="18" charset="0"/>
                <a:ea typeface="LG Smart_H Regular" panose="020B0600000101010101" pitchFamily="34" charset="-127"/>
                <a:cs typeface="Times New Roman" pitchFamily="18" charset="0"/>
              </a:rPr>
              <a:t> ?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Cung </a:t>
            </a:r>
            <a:r>
              <a:rPr lang="vi-VN" altLang="ko-KR" sz="950">
                <a:latin typeface="Times New Roman" pitchFamily="18" charset="0"/>
                <a:ea typeface="LG Smart_H Regular" panose="020B0600000101010101" pitchFamily="34" charset="-127"/>
                <a:cs typeface="Times New Roman" pitchFamily="18" charset="0"/>
              </a:rPr>
              <a:t>cấp của nguồn điện</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Phòng </a:t>
            </a:r>
            <a:r>
              <a:rPr lang="vi-VN" altLang="ko-KR" sz="950" dirty="0">
                <a:latin typeface="Times New Roman" pitchFamily="18" charset="0"/>
                <a:ea typeface="LG Smart_H Regular" panose="020B0600000101010101" pitchFamily="34" charset="-127"/>
                <a:cs typeface="Times New Roman" pitchFamily="18" charset="0"/>
              </a:rPr>
              <a:t>tránh sự cố an toàn cho </a:t>
            </a:r>
            <a:r>
              <a:rPr lang="vi-VN" altLang="ko-KR" sz="950">
                <a:latin typeface="Times New Roman" pitchFamily="18" charset="0"/>
                <a:ea typeface="LG Smart_H Regular" panose="020B0600000101010101" pitchFamily="34" charset="-127"/>
                <a:cs typeface="Times New Roman" pitchFamily="18" charset="0"/>
              </a:rPr>
              <a:t>con người</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(điện </a:t>
            </a:r>
            <a:r>
              <a:rPr lang="vi-VN" altLang="ko-KR" sz="950" smtClean="0">
                <a:latin typeface="Times New Roman" pitchFamily="18" charset="0"/>
                <a:ea typeface="LG Smart_H Regular" panose="020B0600000101010101" pitchFamily="34" charset="-127"/>
                <a:cs typeface="Times New Roman" pitchFamily="18" charset="0"/>
              </a:rPr>
              <a:t>giật)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Cung </a:t>
            </a:r>
            <a:r>
              <a:rPr lang="vi-VN" altLang="ko-KR" sz="950">
                <a:latin typeface="Times New Roman" pitchFamily="18" charset="0"/>
                <a:ea typeface="LG Smart_H Regular" panose="020B0600000101010101" pitchFamily="34" charset="-127"/>
                <a:cs typeface="Times New Roman" pitchFamily="18" charset="0"/>
              </a:rPr>
              <a:t>cấp điện thế tiêu </a:t>
            </a:r>
            <a:r>
              <a:rPr lang="vi-VN" altLang="ko-KR" sz="950" smtClean="0">
                <a:latin typeface="Times New Roman" pitchFamily="18" charset="0"/>
                <a:ea typeface="LG Smart_H Regular" panose="020B0600000101010101" pitchFamily="34" charset="-127"/>
                <a:cs typeface="Times New Roman" pitchFamily="18" charset="0"/>
              </a:rPr>
              <a:t>chuẩn</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a:latin typeface="Times New Roman" pitchFamily="18" charset="0"/>
                <a:ea typeface="LG Smart_H Regular" panose="020B0600000101010101" pitchFamily="34" charset="-127"/>
                <a:cs typeface="Times New Roman" pitchFamily="18" charset="0"/>
              </a:rPr>
              <a:t>Bảo vệ thiết bị</a:t>
            </a:r>
            <a:endParaRPr lang="ko-KR" altLang="en-US" sz="950" dirty="0" smtClean="0">
              <a:latin typeface="Times New Roman" pitchFamily="18" charset="0"/>
              <a:cs typeface="Times New Roman" pitchFamily="18" charset="0"/>
            </a:endParaRPr>
          </a:p>
        </p:txBody>
      </p:sp>
      <p:sp>
        <p:nvSpPr>
          <p:cNvPr id="24" name="Rectangle 23"/>
          <p:cNvSpPr/>
          <p:nvPr/>
        </p:nvSpPr>
        <p:spPr>
          <a:xfrm>
            <a:off x="193546" y="3872880"/>
            <a:ext cx="3303989" cy="923330"/>
          </a:xfrm>
          <a:prstGeom prst="rect">
            <a:avLst/>
          </a:prstGeom>
        </p:spPr>
        <p:txBody>
          <a:bodyPr wrap="square">
            <a:spAutoFit/>
          </a:bodyPr>
          <a:lstStyle/>
          <a:p>
            <a:pPr lvl="0" fontAlgn="base">
              <a:spcBef>
                <a:spcPct val="0"/>
              </a:spcBef>
              <a:spcAft>
                <a:spcPct val="0"/>
              </a:spcAft>
            </a:pPr>
            <a:r>
              <a:rPr kumimoji="1" lang="en-US" altLang="ko-KR" sz="900" smtClean="0">
                <a:latin typeface="Times New Roman" pitchFamily="18" charset="0"/>
                <a:ea typeface="LG Smart_H Regular" panose="020B0600000101010101" pitchFamily="34" charset="-127"/>
                <a:cs typeface="Times New Roman" pitchFamily="18" charset="0"/>
              </a:rPr>
              <a:t>13. </a:t>
            </a:r>
            <a:r>
              <a:rPr kumimoji="1" lang="vi-VN" altLang="ko-KR" sz="900">
                <a:latin typeface="Times New Roman" pitchFamily="18" charset="0"/>
                <a:ea typeface="LG Smart_H Regular" panose="020B0600000101010101" pitchFamily="34" charset="-127"/>
                <a:cs typeface="Times New Roman" pitchFamily="18" charset="0"/>
              </a:rPr>
              <a:t>Trường hợp nào </a:t>
            </a:r>
            <a:r>
              <a:rPr kumimoji="1" lang="vi-VN" altLang="ko-KR" sz="900" b="1">
                <a:latin typeface="Times New Roman" pitchFamily="18" charset="0"/>
                <a:ea typeface="LG Smart_H Regular" panose="020B0600000101010101" pitchFamily="34" charset="-127"/>
                <a:cs typeface="Times New Roman" pitchFamily="18" charset="0"/>
              </a:rPr>
              <a:t>sai</a:t>
            </a:r>
            <a:r>
              <a:rPr kumimoji="1" lang="vi-VN" altLang="ko-KR" sz="900">
                <a:latin typeface="Times New Roman" pitchFamily="18" charset="0"/>
                <a:ea typeface="LG Smart_H Regular" panose="020B0600000101010101" pitchFamily="34" charset="-127"/>
                <a:cs typeface="Times New Roman" pitchFamily="18" charset="0"/>
              </a:rPr>
              <a:t> khi nói về số Electron của vỏ Electron</a:t>
            </a:r>
            <a:r>
              <a:rPr kumimoji="1" lang="en-US" altLang="ko-KR" sz="900" smtClean="0">
                <a:latin typeface="Times New Roman" pitchFamily="18" charset="0"/>
                <a:ea typeface="LG Smart_H Regular" panose="020B0600000101010101" pitchFamily="34" charset="-127"/>
                <a:cs typeface="Times New Roman" pitchFamily="18" charset="0"/>
              </a:rPr>
              <a:t>?</a:t>
            </a:r>
            <a:endParaRPr kumimoji="1" lang="en-US" altLang="ko-KR" sz="90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Lớp </a:t>
            </a:r>
            <a:r>
              <a:rPr kumimoji="1" lang="en-US" altLang="en-US" sz="900">
                <a:latin typeface="Times New Roman" pitchFamily="18" charset="0"/>
                <a:ea typeface="LG Smart_H Regular" panose="020B0600000101010101" pitchFamily="34" charset="-127"/>
                <a:cs typeface="Times New Roman" pitchFamily="18" charset="0"/>
              </a:rPr>
              <a:t>M</a:t>
            </a:r>
            <a:r>
              <a:rPr kumimoji="1" lang="ko-KR" altLang="en-US" sz="900">
                <a:latin typeface="Times New Roman" pitchFamily="18" charset="0"/>
                <a:ea typeface="LG Smart_H Regular" panose="020B0600000101010101" pitchFamily="34" charset="-127"/>
                <a:cs typeface="Times New Roman" pitchFamily="18" charset="0"/>
              </a:rPr>
              <a:t> </a:t>
            </a:r>
            <a:r>
              <a:rPr kumimoji="1" lang="en-US" altLang="ko-KR" sz="900">
                <a:latin typeface="Times New Roman" pitchFamily="18" charset="0"/>
                <a:ea typeface="LG Smart_H Regular" panose="020B0600000101010101" pitchFamily="34" charset="-127"/>
                <a:cs typeface="Times New Roman" pitchFamily="18" charset="0"/>
              </a:rPr>
              <a:t>= 18 </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Lớp </a:t>
            </a:r>
            <a:r>
              <a:rPr kumimoji="1" lang="en-US" altLang="en-US" sz="900">
                <a:latin typeface="Times New Roman" pitchFamily="18" charset="0"/>
                <a:ea typeface="LG Smart_H Regular" panose="020B0600000101010101" pitchFamily="34" charset="-127"/>
                <a:cs typeface="Times New Roman" pitchFamily="18" charset="0"/>
              </a:rPr>
              <a:t>K</a:t>
            </a:r>
            <a:r>
              <a:rPr kumimoji="1" lang="ko-KR" altLang="en-US" sz="900">
                <a:latin typeface="Times New Roman" pitchFamily="18" charset="0"/>
                <a:ea typeface="LG Smart_H Regular" panose="020B0600000101010101" pitchFamily="34" charset="-127"/>
                <a:cs typeface="Times New Roman" pitchFamily="18" charset="0"/>
              </a:rPr>
              <a:t> </a:t>
            </a:r>
            <a:r>
              <a:rPr kumimoji="1" lang="en-US" altLang="ko-KR" sz="900">
                <a:latin typeface="Times New Roman" pitchFamily="18" charset="0"/>
                <a:ea typeface="LG Smart_H Regular" panose="020B0600000101010101" pitchFamily="34" charset="-127"/>
                <a:cs typeface="Times New Roman" pitchFamily="18" charset="0"/>
              </a:rPr>
              <a:t>= 4 </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Lớp </a:t>
            </a:r>
            <a:r>
              <a:rPr kumimoji="1" lang="en-US" altLang="en-US" sz="900">
                <a:latin typeface="Times New Roman" pitchFamily="18" charset="0"/>
                <a:ea typeface="LG Smart_H Regular" panose="020B0600000101010101" pitchFamily="34" charset="-127"/>
                <a:cs typeface="Times New Roman" pitchFamily="18" charset="0"/>
              </a:rPr>
              <a:t>N</a:t>
            </a:r>
            <a:r>
              <a:rPr kumimoji="1" lang="ko-KR" altLang="en-US" sz="900">
                <a:latin typeface="Times New Roman" pitchFamily="18" charset="0"/>
                <a:ea typeface="LG Smart_H Regular" panose="020B0600000101010101" pitchFamily="34" charset="-127"/>
                <a:cs typeface="Times New Roman" pitchFamily="18" charset="0"/>
              </a:rPr>
              <a:t> </a:t>
            </a:r>
            <a:r>
              <a:rPr kumimoji="1" lang="en-US" altLang="ko-KR" sz="900">
                <a:latin typeface="Times New Roman" pitchFamily="18" charset="0"/>
                <a:ea typeface="LG Smart_H Regular" panose="020B0600000101010101" pitchFamily="34" charset="-127"/>
                <a:cs typeface="Times New Roman" pitchFamily="18" charset="0"/>
              </a:rPr>
              <a:t>= </a:t>
            </a:r>
            <a:r>
              <a:rPr kumimoji="1" lang="en-US" altLang="ko-KR" sz="900" smtClean="0">
                <a:latin typeface="Times New Roman" pitchFamily="18" charset="0"/>
                <a:ea typeface="LG Smart_H Regular" panose="020B0600000101010101" pitchFamily="34" charset="-127"/>
                <a:cs typeface="Times New Roman" pitchFamily="18" charset="0"/>
              </a:rPr>
              <a:t>32</a:t>
            </a: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Lớp </a:t>
            </a:r>
            <a:r>
              <a:rPr kumimoji="1" lang="en-US" altLang="en-US" sz="900">
                <a:latin typeface="Times New Roman" pitchFamily="18" charset="0"/>
                <a:ea typeface="LG Smart_H Regular" panose="020B0600000101010101" pitchFamily="34" charset="-127"/>
                <a:cs typeface="Times New Roman" pitchFamily="18" charset="0"/>
              </a:rPr>
              <a:t>L</a:t>
            </a:r>
            <a:r>
              <a:rPr kumimoji="1" lang="ko-KR" altLang="en-US" sz="900">
                <a:latin typeface="Times New Roman" pitchFamily="18" charset="0"/>
                <a:ea typeface="LG Smart_H Regular" panose="020B0600000101010101" pitchFamily="34" charset="-127"/>
                <a:cs typeface="Times New Roman" pitchFamily="18" charset="0"/>
              </a:rPr>
              <a:t> </a:t>
            </a:r>
            <a:r>
              <a:rPr kumimoji="1" lang="en-US" altLang="ko-KR" sz="900">
                <a:latin typeface="Times New Roman" pitchFamily="18" charset="0"/>
                <a:ea typeface="LG Smart_H Regular" panose="020B0600000101010101" pitchFamily="34" charset="-127"/>
                <a:cs typeface="Times New Roman" pitchFamily="18" charset="0"/>
              </a:rPr>
              <a:t>= 8</a:t>
            </a:r>
            <a:endParaRPr kumimoji="1" lang="en-US" altLang="ko-KR" sz="900" dirty="0">
              <a:latin typeface="Times New Roman" pitchFamily="18" charset="0"/>
              <a:ea typeface="LG Smart_H Regular" panose="020B0600000101010101" pitchFamily="34" charset="-127"/>
              <a:cs typeface="Times New Roman" pitchFamily="18" charset="0"/>
            </a:endParaRPr>
          </a:p>
        </p:txBody>
      </p:sp>
      <p:sp>
        <p:nvSpPr>
          <p:cNvPr id="31" name="Rectangle 30"/>
          <p:cNvSpPr/>
          <p:nvPr/>
        </p:nvSpPr>
        <p:spPr>
          <a:xfrm>
            <a:off x="199897" y="2367970"/>
            <a:ext cx="3325812" cy="923330"/>
          </a:xfrm>
          <a:prstGeom prst="rect">
            <a:avLst/>
          </a:prstGeom>
        </p:spPr>
        <p:txBody>
          <a:bodyPr wrap="square">
            <a:spAutoFit/>
          </a:bodyPr>
          <a:lstStyle/>
          <a:p>
            <a:pPr lvl="0" fontAlgn="base">
              <a:spcBef>
                <a:spcPct val="0"/>
              </a:spcBef>
              <a:spcAft>
                <a:spcPct val="0"/>
              </a:spcAft>
            </a:pPr>
            <a:r>
              <a:rPr kumimoji="1" lang="en-US" altLang="ko-KR" sz="900" smtClean="0">
                <a:latin typeface="Times New Roman" pitchFamily="18" charset="0"/>
                <a:ea typeface="LG Smart_H Regular" panose="020B0600000101010101" pitchFamily="34" charset="-127"/>
                <a:cs typeface="Times New Roman" pitchFamily="18" charset="0"/>
              </a:rPr>
              <a:t>12. </a:t>
            </a:r>
            <a:r>
              <a:rPr kumimoji="1" lang="vi-VN" altLang="ko-KR" sz="900">
                <a:latin typeface="Times New Roman" pitchFamily="18" charset="0"/>
                <a:ea typeface="LG Smart_H Regular" panose="020B0600000101010101" pitchFamily="34" charset="-127"/>
                <a:cs typeface="Times New Roman" pitchFamily="18" charset="0"/>
              </a:rPr>
              <a:t>Loại cuộn dây nào có tụ </a:t>
            </a:r>
            <a:r>
              <a:rPr kumimoji="1" lang="vi-VN" altLang="ko-KR" sz="900" smtClean="0">
                <a:latin typeface="Times New Roman" pitchFamily="18" charset="0"/>
                <a:ea typeface="LG Smart_H Regular" panose="020B0600000101010101" pitchFamily="34" charset="-127"/>
                <a:cs typeface="Times New Roman" pitchFamily="18" charset="0"/>
              </a:rPr>
              <a:t>điện</a:t>
            </a:r>
            <a:r>
              <a:rPr kumimoji="1" lang="en-US" altLang="ko-KR" sz="900" smtClean="0">
                <a:latin typeface="Times New Roman" pitchFamily="18" charset="0"/>
                <a:ea typeface="LG Smart_H Regular" panose="020B0600000101010101" pitchFamily="34" charset="-127"/>
                <a:cs typeface="Times New Roman" pitchFamily="18" charset="0"/>
              </a:rPr>
              <a:t> và cuộn cảm</a:t>
            </a:r>
            <a:r>
              <a:rPr kumimoji="1" lang="vi-VN" altLang="ko-KR" sz="900" smtClean="0">
                <a:latin typeface="Times New Roman" pitchFamily="18" charset="0"/>
                <a:ea typeface="LG Smart_H Regular" panose="020B0600000101010101" pitchFamily="34" charset="-127"/>
                <a:cs typeface="Times New Roman" pitchFamily="18" charset="0"/>
              </a:rPr>
              <a:t> </a:t>
            </a:r>
            <a:r>
              <a:rPr kumimoji="1" lang="vi-VN" altLang="ko-KR" sz="900">
                <a:latin typeface="Times New Roman" pitchFamily="18" charset="0"/>
                <a:ea typeface="LG Smart_H Regular" panose="020B0600000101010101" pitchFamily="34" charset="-127"/>
                <a:cs typeface="Times New Roman" pitchFamily="18" charset="0"/>
              </a:rPr>
              <a:t>mắc song </a:t>
            </a:r>
            <a:r>
              <a:rPr kumimoji="1" lang="vi-VN" altLang="ko-KR" sz="900" smtClean="0">
                <a:latin typeface="Times New Roman" pitchFamily="18" charset="0"/>
                <a:ea typeface="LG Smart_H Regular" panose="020B0600000101010101" pitchFamily="34" charset="-127"/>
                <a:cs typeface="Times New Roman" pitchFamily="18" charset="0"/>
              </a:rPr>
              <a:t>song</a:t>
            </a:r>
            <a:r>
              <a:rPr kumimoji="1" lang="en-US" altLang="ko-KR" sz="900" smtClean="0">
                <a:latin typeface="Times New Roman" pitchFamily="18" charset="0"/>
                <a:ea typeface="LG Smart_H Regular" panose="020B0600000101010101" pitchFamily="34" charset="-127"/>
                <a:cs typeface="Times New Roman" pitchFamily="18" charset="0"/>
              </a:rPr>
              <a:t>?</a:t>
            </a:r>
            <a:r>
              <a:rPr kumimoji="1" lang="ko-KR" altLang="en-US" sz="900" smtClean="0">
                <a:latin typeface="Times New Roman" pitchFamily="18" charset="0"/>
                <a:ea typeface="LG Smart_H Regular" panose="020B0600000101010101" pitchFamily="34" charset="-127"/>
                <a:cs typeface="Times New Roman" pitchFamily="18" charset="0"/>
              </a:rPr>
              <a:t> </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ko-KR" sz="900" smtClean="0">
                <a:latin typeface="Times New Roman" pitchFamily="18" charset="0"/>
                <a:ea typeface="LG Smart_H Regular" panose="020B0600000101010101" pitchFamily="34" charset="-127"/>
                <a:cs typeface="Times New Roman" pitchFamily="18" charset="0"/>
              </a:rPr>
              <a:t>FCZ</a:t>
            </a:r>
          </a:p>
          <a:p>
            <a:pPr marL="228600" lvl="0" indent="-228600" fontAlgn="base">
              <a:spcBef>
                <a:spcPct val="0"/>
              </a:spcBef>
              <a:spcAft>
                <a:spcPct val="0"/>
              </a:spcAft>
              <a:buFont typeface="+mj-lt"/>
              <a:buAutoNum type="alphaUcPeriod"/>
            </a:pPr>
            <a:r>
              <a:rPr kumimoji="1" lang="en-US" altLang="ko-KR" sz="900" smtClean="0">
                <a:latin typeface="Times New Roman" pitchFamily="18" charset="0"/>
                <a:ea typeface="LG Smart_H Regular" panose="020B0600000101010101" pitchFamily="34" charset="-127"/>
                <a:cs typeface="Times New Roman" pitchFamily="18" charset="0"/>
              </a:rPr>
              <a:t>FFC</a:t>
            </a:r>
          </a:p>
          <a:p>
            <a:pPr marL="228600" lvl="0" indent="-228600" fontAlgn="base">
              <a:spcBef>
                <a:spcPct val="0"/>
              </a:spcBef>
              <a:spcAft>
                <a:spcPct val="0"/>
              </a:spcAft>
              <a:buFont typeface="+mj-lt"/>
              <a:buAutoNum type="alphaUcPeriod"/>
            </a:pPr>
            <a:r>
              <a:rPr kumimoji="1" lang="en-US" altLang="ko-KR" sz="900" smtClean="0">
                <a:latin typeface="Times New Roman" pitchFamily="18" charset="0"/>
                <a:ea typeface="LG Smart_H Regular" panose="020B0600000101010101" pitchFamily="34" charset="-127"/>
                <a:cs typeface="Times New Roman" pitchFamily="18" charset="0"/>
              </a:rPr>
              <a:t>RFC</a:t>
            </a:r>
          </a:p>
          <a:p>
            <a:pPr marL="228600" lvl="0" indent="-228600" fontAlgn="base">
              <a:spcBef>
                <a:spcPct val="0"/>
              </a:spcBef>
              <a:spcAft>
                <a:spcPct val="0"/>
              </a:spcAft>
              <a:buFont typeface="+mj-lt"/>
              <a:buAutoNum type="alphaUcPeriod"/>
            </a:pPr>
            <a:r>
              <a:rPr kumimoji="1" lang="en-US" altLang="ko-KR" sz="900" smtClean="0">
                <a:latin typeface="Times New Roman" pitchFamily="18" charset="0"/>
                <a:ea typeface="LG Smart_H Regular" panose="020B0600000101010101" pitchFamily="34" charset="-127"/>
                <a:cs typeface="Times New Roman" pitchFamily="18" charset="0"/>
              </a:rPr>
              <a:t>IFT</a:t>
            </a:r>
            <a:endParaRPr kumimoji="1" lang="en-US" altLang="ko-KR" sz="900" dirty="0">
              <a:latin typeface="Times New Roman" pitchFamily="18" charset="0"/>
              <a:ea typeface="LG Smart_H Regular" panose="020B0600000101010101" pitchFamily="34" charset="-127"/>
              <a:cs typeface="Times New Roman" pitchFamily="18" charset="0"/>
            </a:endParaRPr>
          </a:p>
        </p:txBody>
      </p:sp>
      <p:sp>
        <p:nvSpPr>
          <p:cNvPr id="37" name="Rectangle 36"/>
          <p:cNvSpPr/>
          <p:nvPr/>
        </p:nvSpPr>
        <p:spPr>
          <a:xfrm>
            <a:off x="199897" y="1064568"/>
            <a:ext cx="3325812" cy="923330"/>
          </a:xfrm>
          <a:prstGeom prst="rect">
            <a:avLst/>
          </a:prstGeom>
        </p:spPr>
        <p:txBody>
          <a:bodyPr wrap="square">
            <a:spAutoFit/>
          </a:bodyPr>
          <a:lstStyle/>
          <a:p>
            <a:pPr lvl="0" fontAlgn="base">
              <a:spcBef>
                <a:spcPct val="0"/>
              </a:spcBef>
              <a:spcAft>
                <a:spcPct val="0"/>
              </a:spcAft>
            </a:pPr>
            <a:r>
              <a:rPr kumimoji="1" lang="en-US" altLang="ko-KR" sz="900" smtClean="0">
                <a:latin typeface="Times New Roman" pitchFamily="18" charset="0"/>
                <a:ea typeface="LG Smart_H Regular" panose="020B0600000101010101" pitchFamily="34" charset="-127"/>
                <a:cs typeface="Times New Roman" pitchFamily="18" charset="0"/>
              </a:rPr>
              <a:t>11. </a:t>
            </a:r>
            <a:r>
              <a:rPr kumimoji="1" lang="vi-VN" altLang="ko-KR" sz="900">
                <a:latin typeface="Times New Roman" pitchFamily="18" charset="0"/>
                <a:ea typeface="LG Smart_H Regular" panose="020B0600000101010101" pitchFamily="34" charset="-127"/>
                <a:cs typeface="Times New Roman" pitchFamily="18" charset="0"/>
              </a:rPr>
              <a:t>Khi bị điện giật dòng điện gây ra co giật mạnh là bao nhiêu </a:t>
            </a:r>
            <a:r>
              <a:rPr kumimoji="1" lang="ko-KR" altLang="en-US" sz="900">
                <a:latin typeface="Times New Roman" pitchFamily="18" charset="0"/>
                <a:ea typeface="LG Smart_H Regular" panose="020B0600000101010101" pitchFamily="34" charset="-127"/>
                <a:cs typeface="Times New Roman" pitchFamily="18" charset="0"/>
              </a:rPr>
              <a:t>㎃</a:t>
            </a:r>
            <a:r>
              <a:rPr kumimoji="1" lang="en-US" altLang="ko-KR" sz="900" smtClean="0">
                <a:latin typeface="Times New Roman" pitchFamily="18" charset="0"/>
                <a:ea typeface="LG Smart_H Regular" panose="020B0600000101010101" pitchFamily="34" charset="-127"/>
                <a:cs typeface="Times New Roman" pitchFamily="18" charset="0"/>
              </a:rPr>
              <a:t>?</a:t>
            </a:r>
            <a:endParaRPr kumimoji="1" lang="en-US" altLang="ko-KR" sz="90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latin typeface="Times New Roman" pitchFamily="18" charset="0"/>
                <a:ea typeface="LG Smart_H Regular" panose="020B0600000101010101" pitchFamily="34" charset="-127"/>
                <a:cs typeface="Times New Roman" pitchFamily="18" charset="0"/>
              </a:rPr>
              <a:t>5~30</a:t>
            </a:r>
            <a:r>
              <a:rPr kumimoji="1" lang="ko-KR" altLang="en-US" sz="900" smtClean="0">
                <a:latin typeface="Times New Roman" pitchFamily="18" charset="0"/>
                <a:ea typeface="LG Smart_H Regular" panose="020B0600000101010101" pitchFamily="34" charset="-127"/>
                <a:cs typeface="Times New Roman" pitchFamily="18" charset="0"/>
              </a:rPr>
              <a:t>㎃</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latin typeface="Times New Roman" pitchFamily="18" charset="0"/>
                <a:ea typeface="LG Smart_H Regular" panose="020B0600000101010101" pitchFamily="34" charset="-127"/>
                <a:cs typeface="Times New Roman" pitchFamily="18" charset="0"/>
              </a:rPr>
              <a:t>30~50</a:t>
            </a:r>
            <a:r>
              <a:rPr kumimoji="1" lang="ko-KR" altLang="en-US" sz="900" smtClean="0">
                <a:latin typeface="Times New Roman" pitchFamily="18" charset="0"/>
                <a:ea typeface="LG Smart_H Regular" panose="020B0600000101010101" pitchFamily="34" charset="-127"/>
                <a:cs typeface="Times New Roman" pitchFamily="18" charset="0"/>
              </a:rPr>
              <a:t>㎃</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latin typeface="Times New Roman" pitchFamily="18" charset="0"/>
                <a:ea typeface="LG Smart_H Regular" panose="020B0600000101010101" pitchFamily="34" charset="-127"/>
                <a:cs typeface="Times New Roman" pitchFamily="18" charset="0"/>
              </a:rPr>
              <a:t>50~100</a:t>
            </a:r>
            <a:r>
              <a:rPr kumimoji="1" lang="ko-KR" altLang="en-US" sz="900" smtClean="0">
                <a:latin typeface="Times New Roman" pitchFamily="18" charset="0"/>
                <a:ea typeface="LG Smart_H Regular" panose="020B0600000101010101" pitchFamily="34" charset="-127"/>
                <a:cs typeface="Times New Roman" pitchFamily="18" charset="0"/>
              </a:rPr>
              <a:t>㎃</a:t>
            </a:r>
            <a:endParaRPr kumimoji="1" lang="en-US" altLang="ko-KR"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Vượt </a:t>
            </a:r>
            <a:r>
              <a:rPr kumimoji="1" lang="vi-VN" altLang="en-US" sz="900">
                <a:latin typeface="Times New Roman" pitchFamily="18" charset="0"/>
                <a:ea typeface="LG Smart_H Regular" panose="020B0600000101010101" pitchFamily="34" charset="-127"/>
                <a:cs typeface="Times New Roman" pitchFamily="18" charset="0"/>
              </a:rPr>
              <a:t>quá</a:t>
            </a:r>
            <a:r>
              <a:rPr kumimoji="1" lang="en-US" altLang="en-US" sz="900">
                <a:latin typeface="Times New Roman" pitchFamily="18" charset="0"/>
                <a:ea typeface="LG Smart_H Regular" panose="020B0600000101010101" pitchFamily="34" charset="-127"/>
                <a:cs typeface="Times New Roman" pitchFamily="18" charset="0"/>
              </a:rPr>
              <a:t> 100</a:t>
            </a:r>
            <a:r>
              <a:rPr kumimoji="1" lang="ko-KR" altLang="en-US" sz="900" smtClean="0">
                <a:latin typeface="Times New Roman" pitchFamily="18" charset="0"/>
                <a:ea typeface="LG Smart_H Regular" panose="020B0600000101010101" pitchFamily="34" charset="-127"/>
                <a:cs typeface="Times New Roman" pitchFamily="18" charset="0"/>
              </a:rPr>
              <a:t>㎃</a:t>
            </a:r>
            <a:endParaRPr kumimoji="1" lang="en-US" altLang="ko-KR" sz="900">
              <a:latin typeface="Times New Roman" pitchFamily="18" charset="0"/>
              <a:ea typeface="LG Smart_H Regular" panose="020B0600000101010101" pitchFamily="34" charset="-127"/>
              <a:cs typeface="Times New Roman" pitchFamily="18" charset="0"/>
            </a:endParaRPr>
          </a:p>
        </p:txBody>
      </p:sp>
      <p:sp>
        <p:nvSpPr>
          <p:cNvPr id="16" name="Rectangle 7"/>
          <p:cNvSpPr>
            <a:spLocks noChangeArrowheads="1"/>
          </p:cNvSpPr>
          <p:nvPr/>
        </p:nvSpPr>
        <p:spPr bwMode="auto">
          <a:xfrm>
            <a:off x="206776" y="5853534"/>
            <a:ext cx="3234923"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startAt="14"/>
            </a:pP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số các loại tụ điện, loại nào dùng ở dải tần cao và </a:t>
            </a:r>
            <a:r>
              <a:rPr lang="vi-VN" altLang="ko-KR" sz="950" smtClean="0">
                <a:latin typeface="Times New Roman" pitchFamily="18" charset="0"/>
                <a:ea typeface="LG Smart_H Regular" panose="020B0600000101010101" pitchFamily="34" charset="-127"/>
                <a:cs typeface="Times New Roman" pitchFamily="18" charset="0"/>
              </a:rPr>
              <a:t>dùng </a:t>
            </a:r>
            <a:r>
              <a:rPr lang="vi-VN" altLang="ko-KR" sz="950">
                <a:latin typeface="Times New Roman" pitchFamily="18" charset="0"/>
                <a:ea typeface="LG Smart_H Regular" panose="020B0600000101010101" pitchFamily="34" charset="-127"/>
                <a:cs typeface="Times New Roman" pitchFamily="18" charset="0"/>
              </a:rPr>
              <a:t>trong mạch chỉnh tần như AM, FM?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Mylan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điện</a:t>
            </a: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Tụ </a:t>
            </a:r>
            <a:r>
              <a:rPr lang="en-US" altLang="ko-KR" sz="950" smtClean="0">
                <a:latin typeface="Times New Roman" pitchFamily="18" charset="0"/>
                <a:ea typeface="LG Smart_H Regular" panose="020B0600000101010101" pitchFamily="34" charset="-127"/>
                <a:cs typeface="Times New Roman" pitchFamily="18" charset="0"/>
              </a:rPr>
              <a:t>sứ</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Tantan</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56"/>
          <p:cNvSpPr/>
          <p:nvPr/>
        </p:nvSpPr>
        <p:spPr>
          <a:xfrm>
            <a:off x="3518442" y="2379003"/>
            <a:ext cx="3131467" cy="1200329"/>
          </a:xfrm>
          <a:prstGeom prst="rect">
            <a:avLst/>
          </a:prstGeom>
        </p:spPr>
        <p:txBody>
          <a:bodyPr wrap="square">
            <a:spAutoFit/>
          </a:bodyPr>
          <a:lstStyle/>
          <a:p>
            <a:pPr lvl="0" fontAlgn="base">
              <a:spcBef>
                <a:spcPct val="0"/>
              </a:spcBef>
              <a:spcAft>
                <a:spcPct val="0"/>
              </a:spcAft>
            </a:pPr>
            <a:r>
              <a:rPr kumimoji="1" lang="en-US" altLang="en-US" sz="900" smtClean="0">
                <a:latin typeface="Times New Roman" pitchFamily="18" charset="0"/>
                <a:ea typeface="LG Smart_H Regular" panose="020B0600000101010101" pitchFamily="34" charset="-127"/>
                <a:cs typeface="Times New Roman" pitchFamily="18" charset="0"/>
              </a:rPr>
              <a:t>17. </a:t>
            </a:r>
            <a:r>
              <a:rPr kumimoji="1" lang="vi-VN" altLang="en-US" sz="900">
                <a:latin typeface="Times New Roman" pitchFamily="18" charset="0"/>
                <a:ea typeface="LG Smart_H Regular" panose="020B0600000101010101" pitchFamily="34" charset="-127"/>
                <a:cs typeface="Times New Roman" pitchFamily="18" charset="0"/>
              </a:rPr>
              <a:t>Chọn đáp án đúng với giải thích bên dưới</a:t>
            </a:r>
            <a:r>
              <a:rPr kumimoji="1" lang="en-US" altLang="en-US" sz="900">
                <a:latin typeface="Times New Roman" pitchFamily="18" charset="0"/>
                <a:ea typeface="LG Smart_H Regular" panose="020B0600000101010101" pitchFamily="34" charset="-127"/>
                <a:cs typeface="Times New Roman" pitchFamily="18" charset="0"/>
              </a:rPr>
              <a:t>?</a:t>
            </a:r>
            <a:r>
              <a:rPr kumimoji="1" lang="en-US" altLang="ko-KR" sz="900">
                <a:latin typeface="Times New Roman" pitchFamily="18" charset="0"/>
                <a:ea typeface="LG Smart_H Regular" panose="020B0600000101010101" pitchFamily="34" charset="-127"/>
                <a:cs typeface="Times New Roman" pitchFamily="18" charset="0"/>
              </a:rPr>
              <a:t>  </a:t>
            </a:r>
            <a:endParaRPr kumimoji="1" lang="en-US" altLang="en-US" sz="900">
              <a:latin typeface="Times New Roman" pitchFamily="18" charset="0"/>
              <a:ea typeface="LG Smart_H Regular" panose="020B0600000101010101" pitchFamily="34" charset="-127"/>
              <a:cs typeface="Times New Roman" pitchFamily="18" charset="0"/>
            </a:endParaRPr>
          </a:p>
          <a:p>
            <a:pPr marL="171450" lvl="0" indent="-61913" fontAlgn="base">
              <a:spcBef>
                <a:spcPct val="0"/>
              </a:spcBef>
              <a:spcAft>
                <a:spcPct val="0"/>
              </a:spcAft>
            </a:pPr>
            <a:r>
              <a:rPr kumimoji="1" lang="en-US" altLang="en-US" sz="900">
                <a:latin typeface="Times New Roman" pitchFamily="18" charset="0"/>
                <a:ea typeface="LG Smart_H Regular" panose="020B0600000101010101" pitchFamily="34" charset="-127"/>
                <a:cs typeface="Times New Roman" pitchFamily="18" charset="0"/>
              </a:rPr>
              <a:t>   [ </a:t>
            </a:r>
            <a:r>
              <a:rPr kumimoji="1" lang="vi-VN" altLang="en-US" sz="900">
                <a:latin typeface="Times New Roman" pitchFamily="18" charset="0"/>
                <a:ea typeface="LG Smart_H Regular" panose="020B0600000101010101" pitchFamily="34" charset="-127"/>
                <a:cs typeface="Times New Roman" pitchFamily="18" charset="0"/>
              </a:rPr>
              <a:t>Electron tồn tại ở quỹ đạo bên ngoài của </a:t>
            </a:r>
            <a:r>
              <a:rPr kumimoji="1" lang="vi-VN" altLang="en-US" sz="900" smtClean="0">
                <a:latin typeface="Times New Roman" pitchFamily="18" charset="0"/>
                <a:ea typeface="LG Smart_H Regular" panose="020B0600000101010101" pitchFamily="34" charset="-127"/>
                <a:cs typeface="Times New Roman" pitchFamily="18" charset="0"/>
              </a:rPr>
              <a:t>nguyên</a:t>
            </a:r>
            <a:r>
              <a:rPr kumimoji="1" lang="en-US" altLang="en-US" sz="900">
                <a:latin typeface="Times New Roman" pitchFamily="18" charset="0"/>
                <a:ea typeface="LG Smart_H Regular" panose="020B0600000101010101" pitchFamily="34" charset="-127"/>
                <a:cs typeface="Times New Roman" pitchFamily="18" charset="0"/>
              </a:rPr>
              <a:t> </a:t>
            </a:r>
            <a:r>
              <a:rPr kumimoji="1" lang="vi-VN" altLang="en-US" sz="900" smtClean="0">
                <a:latin typeface="Times New Roman" pitchFamily="18" charset="0"/>
                <a:ea typeface="LG Smart_H Regular" panose="020B0600000101010101" pitchFamily="34" charset="-127"/>
                <a:cs typeface="Times New Roman" pitchFamily="18" charset="0"/>
              </a:rPr>
              <a:t>tử </a:t>
            </a:r>
            <a:r>
              <a:rPr kumimoji="1" lang="vi-VN" altLang="en-US" sz="900">
                <a:latin typeface="Times New Roman" pitchFamily="18" charset="0"/>
                <a:ea typeface="LG Smart_H Regular" panose="020B0600000101010101" pitchFamily="34" charset="-127"/>
                <a:cs typeface="Times New Roman" pitchFamily="18" charset="0"/>
              </a:rPr>
              <a:t>lực </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171450" lvl="0" indent="-61913" fontAlgn="base">
              <a:spcBef>
                <a:spcPct val="0"/>
              </a:spcBef>
              <a:spcAft>
                <a:spcPct val="0"/>
              </a:spcAft>
            </a:pPr>
            <a:r>
              <a:rPr kumimoji="1" lang="vi-VN" altLang="en-US" sz="900" smtClean="0">
                <a:latin typeface="Times New Roman" pitchFamily="18" charset="0"/>
                <a:ea typeface="LG Smart_H Regular" panose="020B0600000101010101" pitchFamily="34" charset="-127"/>
                <a:cs typeface="Times New Roman" pitchFamily="18" charset="0"/>
              </a:rPr>
              <a:t>liên </a:t>
            </a:r>
            <a:r>
              <a:rPr kumimoji="1" lang="vi-VN" altLang="en-US" sz="900">
                <a:latin typeface="Times New Roman" pitchFamily="18" charset="0"/>
                <a:ea typeface="LG Smart_H Regular" panose="020B0600000101010101" pitchFamily="34" charset="-127"/>
                <a:cs typeface="Times New Roman" pitchFamily="18" charset="0"/>
              </a:rPr>
              <a:t>kết hạt nguyên tử </a:t>
            </a:r>
            <a:r>
              <a:rPr kumimoji="1" lang="vi-VN" altLang="en-US" sz="900" smtClean="0">
                <a:latin typeface="Times New Roman" pitchFamily="18" charset="0"/>
                <a:ea typeface="LG Smart_H Regular" panose="020B0600000101010101" pitchFamily="34" charset="-127"/>
                <a:cs typeface="Times New Roman" pitchFamily="18" charset="0"/>
              </a:rPr>
              <a:t>yếu</a:t>
            </a:r>
            <a:r>
              <a:rPr kumimoji="1" lang="en-US" altLang="ko-KR" sz="900" smtClean="0">
                <a:latin typeface="Times New Roman" pitchFamily="18" charset="0"/>
                <a:ea typeface="LG Smart_H Regular" panose="020B0600000101010101" pitchFamily="34" charset="-127"/>
                <a:cs typeface="Times New Roman" pitchFamily="18" charset="0"/>
              </a:rPr>
              <a:t> </a:t>
            </a:r>
            <a:r>
              <a:rPr kumimoji="1" lang="en-US" altLang="ko-KR" sz="900">
                <a:latin typeface="Times New Roman" pitchFamily="18" charset="0"/>
                <a:ea typeface="LG Smart_H Regular" panose="020B0600000101010101" pitchFamily="34" charset="-127"/>
                <a:cs typeface="Times New Roman" pitchFamily="18" charset="0"/>
              </a:rPr>
              <a:t>]</a:t>
            </a:r>
          </a:p>
          <a:p>
            <a:pPr marL="228600" lvl="0" indent="-228600" fontAlgn="base">
              <a:spcBef>
                <a:spcPct val="0"/>
              </a:spcBef>
              <a:spcAft>
                <a:spcPct val="0"/>
              </a:spcAft>
              <a:buFont typeface="+mj-lt"/>
              <a:buAutoNum type="alphaUcPeriod"/>
            </a:pP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Ele</a:t>
            </a:r>
            <a:r>
              <a:rPr kumimoji="1" lang="en-US" altLang="en-US" sz="900">
                <a:latin typeface="Times New Roman" pitchFamily="18" charset="0"/>
                <a:ea typeface="LG Smart_H Regular" panose="020B0600000101010101" pitchFamily="34" charset="-127"/>
                <a:cs typeface="Times New Roman" pitchFamily="18" charset="0"/>
              </a:rPr>
              <a:t>c</a:t>
            </a:r>
            <a:r>
              <a:rPr kumimoji="1" lang="vi-VN" altLang="en-US" sz="900">
                <a:latin typeface="Times New Roman" pitchFamily="18" charset="0"/>
                <a:ea typeface="LG Smart_H Regular" panose="020B0600000101010101" pitchFamily="34" charset="-127"/>
                <a:cs typeface="Times New Roman" pitchFamily="18" charset="0"/>
              </a:rPr>
              <a:t>tron tự </a:t>
            </a:r>
            <a:r>
              <a:rPr kumimoji="1" lang="vi-VN" altLang="en-US" sz="900" smtClean="0">
                <a:latin typeface="Times New Roman" pitchFamily="18" charset="0"/>
                <a:ea typeface="LG Smart_H Regular" panose="020B0600000101010101" pitchFamily="34" charset="-127"/>
                <a:cs typeface="Times New Roman" pitchFamily="18" charset="0"/>
              </a:rPr>
              <a:t>do</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Ele</a:t>
            </a:r>
            <a:r>
              <a:rPr kumimoji="1" lang="en-US" altLang="en-US" sz="900" smtClean="0">
                <a:latin typeface="Times New Roman" pitchFamily="18" charset="0"/>
                <a:ea typeface="LG Smart_H Regular" panose="020B0600000101010101" pitchFamily="34" charset="-127"/>
                <a:cs typeface="Times New Roman" pitchFamily="18" charset="0"/>
              </a:rPr>
              <a:t>c</a:t>
            </a:r>
            <a:r>
              <a:rPr kumimoji="1" lang="vi-VN" altLang="en-US" sz="900" smtClean="0">
                <a:latin typeface="Times New Roman" pitchFamily="18" charset="0"/>
                <a:ea typeface="LG Smart_H Regular" panose="020B0600000101010101" pitchFamily="34" charset="-127"/>
                <a:cs typeface="Times New Roman" pitchFamily="18" charset="0"/>
              </a:rPr>
              <a:t>tron hóa trị</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Hạt </a:t>
            </a:r>
            <a:r>
              <a:rPr kumimoji="1" lang="vi-VN" altLang="en-US" sz="900">
                <a:latin typeface="Times New Roman" pitchFamily="18" charset="0"/>
                <a:ea typeface="LG Smart_H Regular" panose="020B0600000101010101" pitchFamily="34" charset="-127"/>
                <a:cs typeface="Times New Roman" pitchFamily="18" charset="0"/>
              </a:rPr>
              <a:t>nhân nguyên </a:t>
            </a:r>
            <a:r>
              <a:rPr kumimoji="1" lang="vi-VN" altLang="en-US" sz="900" smtClean="0">
                <a:latin typeface="Times New Roman" pitchFamily="18" charset="0"/>
                <a:ea typeface="LG Smart_H Regular" panose="020B0600000101010101" pitchFamily="34" charset="-127"/>
                <a:cs typeface="Times New Roman" pitchFamily="18" charset="0"/>
              </a:rPr>
              <a:t>tử</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Điện </a:t>
            </a:r>
            <a:r>
              <a:rPr kumimoji="1" lang="vi-VN" altLang="en-US" sz="900">
                <a:latin typeface="Times New Roman" pitchFamily="18" charset="0"/>
                <a:ea typeface="LG Smart_H Regular" panose="020B0600000101010101" pitchFamily="34" charset="-127"/>
                <a:cs typeface="Times New Roman" pitchFamily="18" charset="0"/>
              </a:rPr>
              <a:t>tích</a:t>
            </a:r>
            <a:endParaRPr kumimoji="1" lang="en-US" altLang="ko-KR" sz="900" dirty="0">
              <a:latin typeface="Times New Roman" pitchFamily="18" charset="0"/>
              <a:ea typeface="LG Smart_H Regular" panose="020B0600000101010101" pitchFamily="34" charset="-127"/>
              <a:cs typeface="Times New Roman" pitchFamily="18" charset="0"/>
            </a:endParaRPr>
          </a:p>
        </p:txBody>
      </p:sp>
      <p:sp>
        <p:nvSpPr>
          <p:cNvPr id="59" name="Rectangle 58"/>
          <p:cNvSpPr/>
          <p:nvPr/>
        </p:nvSpPr>
        <p:spPr>
          <a:xfrm>
            <a:off x="3514388" y="3942130"/>
            <a:ext cx="3124200" cy="923330"/>
          </a:xfrm>
          <a:prstGeom prst="rect">
            <a:avLst/>
          </a:prstGeom>
        </p:spPr>
        <p:txBody>
          <a:bodyPr wrap="square">
            <a:spAutoFit/>
          </a:bodyPr>
          <a:lstStyle/>
          <a:p>
            <a:pPr fontAlgn="base">
              <a:spcBef>
                <a:spcPct val="0"/>
              </a:spcBef>
              <a:spcAft>
                <a:spcPct val="0"/>
              </a:spcAft>
            </a:pPr>
            <a:r>
              <a:rPr kumimoji="1" lang="en-US" altLang="ko-KR" sz="900" smtClean="0">
                <a:latin typeface="Times New Roman" pitchFamily="18" charset="0"/>
                <a:ea typeface="LG Smart_H Regular" panose="020B0600000101010101" pitchFamily="34" charset="-127"/>
                <a:cs typeface="Times New Roman" pitchFamily="18" charset="0"/>
              </a:rPr>
              <a:t>18. </a:t>
            </a:r>
            <a:r>
              <a:rPr kumimoji="1" lang="vi-VN" altLang="ko-KR" sz="900">
                <a:latin typeface="Times New Roman" pitchFamily="18" charset="0"/>
                <a:ea typeface="LG Smart_H Regular" panose="020B0600000101010101" pitchFamily="34" charset="-127"/>
                <a:cs typeface="Times New Roman" pitchFamily="18" charset="0"/>
              </a:rPr>
              <a:t>Đâu </a:t>
            </a:r>
            <a:r>
              <a:rPr kumimoji="1" lang="vi-VN" altLang="ko-KR" sz="900" b="1">
                <a:latin typeface="Times New Roman" pitchFamily="18" charset="0"/>
                <a:ea typeface="LG Smart_H Regular" panose="020B0600000101010101" pitchFamily="34" charset="-127"/>
                <a:cs typeface="Times New Roman" pitchFamily="18" charset="0"/>
              </a:rPr>
              <a:t>không phải </a:t>
            </a:r>
            <a:r>
              <a:rPr kumimoji="1" lang="vi-VN" altLang="ko-KR" sz="900">
                <a:latin typeface="Times New Roman" pitchFamily="18" charset="0"/>
                <a:ea typeface="LG Smart_H Regular" panose="020B0600000101010101" pitchFamily="34" charset="-127"/>
                <a:cs typeface="Times New Roman" pitchFamily="18" charset="0"/>
              </a:rPr>
              <a:t>là mode thu tín hiệu của Oscilloscope</a:t>
            </a:r>
            <a:r>
              <a:rPr kumimoji="1" lang="en-US" altLang="ko-KR" sz="900" smtClean="0">
                <a:latin typeface="Times New Roman" pitchFamily="18" charset="0"/>
                <a:ea typeface="LG Smart_H Regular" panose="020B0600000101010101" pitchFamily="34" charset="-127"/>
                <a:cs typeface="Times New Roman" pitchFamily="18" charset="0"/>
              </a:rPr>
              <a:t>?</a:t>
            </a:r>
            <a:endParaRPr kumimoji="1" lang="en-US" altLang="ko-KR" sz="90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Peak</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Average</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Pulse</a:t>
            </a:r>
            <a:endParaRPr kumimoji="1" lang="en-US" altLang="en-US" sz="90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latin typeface="Times New Roman" pitchFamily="18" charset="0"/>
                <a:ea typeface="LG Smart_H Regular" panose="020B0600000101010101" pitchFamily="34" charset="-127"/>
                <a:cs typeface="Times New Roman" pitchFamily="18" charset="0"/>
              </a:rPr>
              <a:t>Sample</a:t>
            </a:r>
            <a:endParaRPr kumimoji="1" lang="en-US" altLang="en-US" sz="900">
              <a:latin typeface="Times New Roman" pitchFamily="18" charset="0"/>
              <a:ea typeface="LG Smart_H Regular" panose="020B0600000101010101" pitchFamily="34" charset="-127"/>
              <a:cs typeface="Times New Roman" pitchFamily="18" charset="0"/>
            </a:endParaRPr>
          </a:p>
        </p:txBody>
      </p:sp>
      <p:sp>
        <p:nvSpPr>
          <p:cNvPr id="61" name="Rectangle 8"/>
          <p:cNvSpPr>
            <a:spLocks noChangeArrowheads="1"/>
          </p:cNvSpPr>
          <p:nvPr/>
        </p:nvSpPr>
        <p:spPr bwMode="auto">
          <a:xfrm>
            <a:off x="3501008" y="5961112"/>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spcBef>
                <a:spcPct val="0"/>
              </a:spcBef>
            </a:pPr>
            <a:r>
              <a:rPr lang="en-US" altLang="ko-KR" sz="950" smtClean="0">
                <a:latin typeface="Times New Roman" pitchFamily="18" charset="0"/>
                <a:ea typeface="LG Smart_H Regular" panose="020B0600000101010101" pitchFamily="34" charset="-127"/>
                <a:cs typeface="Times New Roman" pitchFamily="18" charset="0"/>
              </a:rPr>
              <a:t>19.   </a:t>
            </a:r>
            <a:r>
              <a:rPr lang="vi-VN" altLang="ko-KR" sz="950" smtClean="0">
                <a:latin typeface="Times New Roman" pitchFamily="18" charset="0"/>
                <a:ea typeface="LG Smart_H Regular" panose="020B0600000101010101" pitchFamily="34" charset="-127"/>
                <a:cs typeface="Times New Roman" pitchFamily="18" charset="0"/>
              </a:rPr>
              <a:t>Chủng </a:t>
            </a:r>
            <a:r>
              <a:rPr lang="vi-VN" altLang="ko-KR" sz="950">
                <a:latin typeface="Times New Roman" pitchFamily="18" charset="0"/>
                <a:ea typeface="LG Smart_H Regular" panose="020B0600000101010101" pitchFamily="34" charset="-127"/>
                <a:cs typeface="Times New Roman" pitchFamily="18" charset="0"/>
              </a:rPr>
              <a:t>loại nào của TR biểu hiện hình thức dưới đây? </a:t>
            </a:r>
          </a:p>
          <a:p>
            <a:pPr eaLnBrk="1" hangingPunct="1">
              <a:spcBef>
                <a:spcPct val="0"/>
              </a:spcBef>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 2SDxxx</a:t>
            </a:r>
            <a:r>
              <a:rPr lang="en-US" altLang="ko-KR" sz="950" smtClean="0">
                <a:latin typeface="Times New Roman" pitchFamily="18"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NPN</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tần số cao</a:t>
            </a: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PNP  </a:t>
            </a:r>
            <a:r>
              <a:rPr lang="vi-VN" altLang="ko-KR" sz="950">
                <a:latin typeface="Times New Roman" pitchFamily="18" charset="0"/>
                <a:ea typeface="LG Smart_H Regular" panose="020B0600000101010101" pitchFamily="34" charset="-127"/>
                <a:cs typeface="Times New Roman" pitchFamily="18" charset="0"/>
              </a:rPr>
              <a:t>tần số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NPN </a:t>
            </a:r>
            <a:r>
              <a:rPr lang="vi-VN" altLang="ko-KR" sz="950">
                <a:latin typeface="Times New Roman" pitchFamily="18" charset="0"/>
                <a:ea typeface="LG Smart_H Regular" panose="020B0600000101010101" pitchFamily="34" charset="-127"/>
                <a:cs typeface="Times New Roman" pitchFamily="18" charset="0"/>
              </a:rPr>
              <a:t>cho tần số thấp </a:t>
            </a:r>
          </a:p>
          <a:p>
            <a:pPr marL="228600" indent="-228600" eaLnBrk="1" hangingPunct="1">
              <a:spcBef>
                <a:spcPct val="0"/>
              </a:spcBef>
              <a:buFont typeface="+mj-lt"/>
              <a:buAutoNum type="alphaUcPeriod"/>
            </a:pPr>
            <a:r>
              <a:rPr lang="vi-VN" altLang="ko-KR" sz="950">
                <a:latin typeface="Times New Roman" pitchFamily="18" charset="0"/>
                <a:ea typeface="LG Smart_H Regular" panose="020B0600000101010101" pitchFamily="34" charset="-127"/>
                <a:cs typeface="Times New Roman" pitchFamily="18" charset="0"/>
              </a:rPr>
              <a:t>PNP  tần số thấp </a:t>
            </a:r>
            <a:r>
              <a:rPr lang="en-US" altLang="ko-KR" sz="950" smtClean="0">
                <a:latin typeface="Times New Roman" pitchFamily="18" charset="0"/>
                <a:ea typeface="LG Smart_H Regular" panose="020B0600000101010101" pitchFamily="34" charset="-127"/>
                <a:cs typeface="Times New Roman" pitchFamily="18" charset="0"/>
              </a:rPr>
              <a:t> </a:t>
            </a:r>
            <a:endParaRPr lang="ko-KR" altLang="en-US" sz="950" dirty="0">
              <a:latin typeface="Times New Roman" pitchFamily="18" charset="0"/>
              <a:ea typeface="LG Smart_H Regular" panose="020B0600000101010101" pitchFamily="34" charset="-127"/>
              <a:cs typeface="Times New Roman" pitchFamily="18" charset="0"/>
            </a:endParaRPr>
          </a:p>
        </p:txBody>
      </p:sp>
      <p:sp>
        <p:nvSpPr>
          <p:cNvPr id="62" name="Rectangle 9"/>
          <p:cNvSpPr>
            <a:spLocks noChangeArrowheads="1"/>
          </p:cNvSpPr>
          <p:nvPr/>
        </p:nvSpPr>
        <p:spPr bwMode="auto">
          <a:xfrm>
            <a:off x="3501008" y="7241165"/>
            <a:ext cx="31242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20.   </a:t>
            </a:r>
            <a:r>
              <a:rPr lang="vi-VN" altLang="ko-KR" sz="950" smtClean="0">
                <a:latin typeface="Times New Roman" pitchFamily="18" charset="0"/>
                <a:ea typeface="LG Smart_H Regular" panose="020B0600000101010101" pitchFamily="34" charset="-127"/>
                <a:cs typeface="Times New Roman" pitchFamily="18" charset="0"/>
              </a:rPr>
              <a:t>Chọn </a:t>
            </a:r>
            <a:r>
              <a:rPr lang="vi-VN" altLang="ko-KR" sz="950" dirty="0">
                <a:latin typeface="Times New Roman" pitchFamily="18" charset="0"/>
                <a:ea typeface="LG Smart_H Regular" panose="020B0600000101010101" pitchFamily="34" charset="-127"/>
                <a:cs typeface="Times New Roman" pitchFamily="18" charset="0"/>
              </a:rPr>
              <a:t>đáp án đúng khi nói về đặc tính </a:t>
            </a:r>
            <a:r>
              <a:rPr lang="vi-VN" altLang="ko-KR" sz="950">
                <a:latin typeface="Times New Roman" pitchFamily="18" charset="0"/>
                <a:ea typeface="LG Smart_H Regular" panose="020B0600000101010101" pitchFamily="34" charset="-127"/>
                <a:cs typeface="Times New Roman" pitchFamily="18" charset="0"/>
              </a:rPr>
              <a:t>của </a:t>
            </a:r>
            <a:r>
              <a:rPr lang="en-US" altLang="ko-KR" sz="950">
                <a:latin typeface="Times New Roman" pitchFamily="18" charset="0"/>
                <a:ea typeface="LG Smart_H Regular" panose="020B0600000101010101" pitchFamily="34" charset="-127"/>
                <a:cs typeface="Times New Roman" pitchFamily="18" charset="0"/>
              </a:rPr>
              <a:t>thiết bị điện</a:t>
            </a:r>
            <a:r>
              <a:rPr lang="vi-VN" altLang="ko-KR" sz="95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có</a:t>
            </a:r>
            <a:r>
              <a:rPr lang="vi-VN" altLang="ko-KR" sz="950">
                <a:latin typeface="Times New Roman" pitchFamily="18" charset="0"/>
                <a:ea typeface="LG Smart_H Regular" panose="020B0600000101010101" pitchFamily="34" charset="-127"/>
                <a:cs typeface="Times New Roman" pitchFamily="18" charset="0"/>
              </a:rPr>
              <a:t> </a:t>
            </a:r>
            <a:r>
              <a:rPr lang="vi-VN" altLang="ko-KR" sz="950" dirty="0">
                <a:latin typeface="Times New Roman" pitchFamily="18" charset="0"/>
                <a:ea typeface="LG Smart_H Regular" panose="020B0600000101010101" pitchFamily="34" charset="-127"/>
                <a:cs typeface="Times New Roman" pitchFamily="18" charset="0"/>
              </a:rPr>
              <a:t>bởi kí hiệu </a:t>
            </a:r>
            <a:r>
              <a:rPr lang="vi-VN" altLang="ko-KR" sz="950">
                <a:latin typeface="Times New Roman" pitchFamily="18" charset="0"/>
                <a:ea typeface="LG Smart_H Regular" panose="020B0600000101010101" pitchFamily="34" charset="-127"/>
                <a:cs typeface="Times New Roman" pitchFamily="18" charset="0"/>
              </a:rPr>
              <a:t>dưới </a:t>
            </a:r>
            <a:r>
              <a:rPr lang="vi-VN" altLang="ko-KR" sz="950" smtClean="0">
                <a:latin typeface="Times New Roman" pitchFamily="18" charset="0"/>
                <a:ea typeface="LG Smart_H Regular" panose="020B0600000101010101" pitchFamily="34" charset="-127"/>
                <a:cs typeface="Times New Roman" pitchFamily="18" charset="0"/>
              </a:rPr>
              <a:t>đây</a:t>
            </a: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dirty="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r>
              <a:rPr lang="vi-VN" altLang="ko-KR" sz="950">
                <a:latin typeface="Times New Roman" pitchFamily="18" charset="0"/>
                <a:ea typeface="LG Smart_H Regular" panose="020B0600000101010101" pitchFamily="34" charset="-127"/>
                <a:cs typeface="Times New Roman" pitchFamily="18" charset="0"/>
              </a:rPr>
              <a:t>Có thể điều khiển dòng điện xả bằng dòng điện cổng</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Có </a:t>
            </a:r>
            <a:r>
              <a:rPr lang="vi-VN" altLang="ko-KR" sz="950" dirty="0">
                <a:latin typeface="Times New Roman" pitchFamily="18" charset="0"/>
                <a:ea typeface="LG Smart_H Regular" panose="020B0600000101010101" pitchFamily="34" charset="-127"/>
                <a:cs typeface="Times New Roman" pitchFamily="18" charset="0"/>
              </a:rPr>
              <a:t>đặc tính hiệu ứng </a:t>
            </a:r>
            <a:r>
              <a:rPr lang="vi-VN" altLang="ko-KR" sz="950">
                <a:latin typeface="Times New Roman" pitchFamily="18" charset="0"/>
                <a:ea typeface="LG Smart_H Regular" panose="020B0600000101010101" pitchFamily="34" charset="-127"/>
                <a:cs typeface="Times New Roman" pitchFamily="18" charset="0"/>
              </a:rPr>
              <a:t>điện </a:t>
            </a:r>
            <a:r>
              <a:rPr lang="vi-VN" altLang="ko-KR" sz="950" smtClean="0">
                <a:latin typeface="Times New Roman" pitchFamily="18" charset="0"/>
                <a:ea typeface="LG Smart_H Regular" panose="020B0600000101010101" pitchFamily="34" charset="-127"/>
                <a:cs typeface="Times New Roman" pitchFamily="18" charset="0"/>
              </a:rPr>
              <a:t>trường</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Khi </a:t>
            </a:r>
            <a:r>
              <a:rPr lang="vi-VN" altLang="ko-KR" sz="950">
                <a:latin typeface="Times New Roman" pitchFamily="18" charset="0"/>
                <a:ea typeface="LG Smart_H Regular" panose="020B0600000101010101" pitchFamily="34" charset="-127"/>
                <a:cs typeface="Times New Roman" pitchFamily="18" charset="0"/>
              </a:rPr>
              <a:t>dòng điện cổng bị ngắt dòng điện cực dương bị</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ngắt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a:latin typeface="Times New Roman" pitchFamily="18" charset="0"/>
                <a:ea typeface="LG Smart_H Regular" panose="020B0600000101010101" pitchFamily="34" charset="-127"/>
                <a:cs typeface="Times New Roman" pitchFamily="18" charset="0"/>
              </a:rPr>
              <a:t>Sau khi cấp dòng điện vào cổng, ngay cả khi dòng</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điện</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cổng</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bị cắt vẫn duy trì trạng thái </a:t>
            </a:r>
            <a:r>
              <a:rPr lang="vi-VN" altLang="ko-KR" sz="950" smtClean="0">
                <a:latin typeface="Times New Roman" pitchFamily="18" charset="0"/>
                <a:ea typeface="LG Smart_H Regular" panose="020B0600000101010101" pitchFamily="34" charset="-127"/>
                <a:cs typeface="Times New Roman" pitchFamily="18" charset="0"/>
              </a:rPr>
              <a:t>dẫn</a:t>
            </a:r>
            <a:endParaRPr lang="ko-KR" altLang="en-US"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63" name="Group 10"/>
          <p:cNvGrpSpPr>
            <a:grpSpLocks/>
          </p:cNvGrpSpPr>
          <p:nvPr/>
        </p:nvGrpSpPr>
        <p:grpSpPr bwMode="auto">
          <a:xfrm>
            <a:off x="4401000" y="7626116"/>
            <a:ext cx="1714500" cy="638175"/>
            <a:chOff x="605" y="4254"/>
            <a:chExt cx="1084" cy="402"/>
          </a:xfrm>
        </p:grpSpPr>
        <p:pic>
          <p:nvPicPr>
            <p:cNvPr id="6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 y="4254"/>
              <a:ext cx="1026"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 Box 12"/>
            <p:cNvSpPr txBox="1">
              <a:spLocks noChangeArrowheads="1"/>
            </p:cNvSpPr>
            <p:nvPr/>
          </p:nvSpPr>
          <p:spPr bwMode="auto">
            <a:xfrm>
              <a:off x="1207" y="4481"/>
              <a:ext cx="1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G</a:t>
              </a:r>
            </a:p>
          </p:txBody>
        </p:sp>
        <p:sp>
          <p:nvSpPr>
            <p:cNvPr id="66" name="Text Box 13"/>
            <p:cNvSpPr txBox="1">
              <a:spLocks noChangeArrowheads="1"/>
            </p:cNvSpPr>
            <p:nvPr/>
          </p:nvSpPr>
          <p:spPr bwMode="auto">
            <a:xfrm>
              <a:off x="605" y="4378"/>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A</a:t>
              </a:r>
            </a:p>
          </p:txBody>
        </p:sp>
        <p:sp>
          <p:nvSpPr>
            <p:cNvPr id="67" name="Text Box 14"/>
            <p:cNvSpPr txBox="1">
              <a:spLocks noChangeArrowheads="1"/>
            </p:cNvSpPr>
            <p:nvPr/>
          </p:nvSpPr>
          <p:spPr bwMode="auto">
            <a:xfrm>
              <a:off x="1525" y="4390"/>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K</a:t>
              </a:r>
            </a:p>
          </p:txBody>
        </p:sp>
      </p:grpSp>
      <p:sp>
        <p:nvSpPr>
          <p:cNvPr id="68" name="Rectangle 398"/>
          <p:cNvSpPr>
            <a:spLocks noChangeArrowheads="1"/>
          </p:cNvSpPr>
          <p:nvPr/>
        </p:nvSpPr>
        <p:spPr bwMode="auto">
          <a:xfrm>
            <a:off x="3510534" y="1064568"/>
            <a:ext cx="311785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0" indent="0" eaLnBrk="1" hangingPunct="1"/>
            <a:r>
              <a:rPr lang="en-US" altLang="ko-KR" sz="950" smtClean="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không</a:t>
            </a:r>
            <a:r>
              <a:rPr lang="en-US" altLang="ko-KR" sz="950" b="1" dirty="0" smtClean="0">
                <a:latin typeface="Times New Roman" pitchFamily="18" charset="0"/>
                <a:cs typeface="Times New Roman" pitchFamily="18" charset="0"/>
              </a:rPr>
              <a:t> </a:t>
            </a:r>
            <a:r>
              <a:rPr lang="en-US" altLang="ko-KR" sz="950" b="1" err="1" smtClean="0">
                <a:latin typeface="Times New Roman" pitchFamily="18" charset="0"/>
                <a:cs typeface="Times New Roman" pitchFamily="18" charset="0"/>
              </a:rPr>
              <a:t>phải</a:t>
            </a:r>
            <a:r>
              <a:rPr lang="en-US" altLang="ko-KR" sz="950" b="1"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chất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a:t>
            </a:r>
            <a:r>
              <a:rPr lang="en-US" altLang="ko-KR" sz="950" smtClean="0">
                <a:latin typeface="Times New Roman" pitchFamily="18" charset="0"/>
                <a:cs typeface="Times New Roman" pitchFamily="18" charset="0"/>
              </a:rPr>
              <a:t>ưu </a:t>
            </a:r>
            <a:r>
              <a:rPr lang="en-US" altLang="ko-KR" sz="950" dirty="0" err="1" smtClean="0">
                <a:latin typeface="Times New Roman" pitchFamily="18" charset="0"/>
                <a:cs typeface="Times New Roman" pitchFamily="18" charset="0"/>
              </a:rPr>
              <a:t>huỳnh</a:t>
            </a:r>
            <a:endParaRPr lang="ko-KR" altLang="en-US" sz="950" dirty="0">
              <a:latin typeface="Times New Roman" pitchFamily="18" charset="0"/>
              <a:cs typeface="Times New Roman" pitchFamily="18" charset="0"/>
            </a:endParaRPr>
          </a:p>
        </p:txBody>
      </p:sp>
    </p:spTree>
    <p:extLst>
      <p:ext uri="{BB962C8B-B14F-4D97-AF65-F5344CB8AC3E}">
        <p14:creationId xmlns:p14="http://schemas.microsoft.com/office/powerpoint/2010/main" val="41391899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6" name="Rectangle 7"/>
          <p:cNvSpPr>
            <a:spLocks noChangeArrowheads="1"/>
          </p:cNvSpPr>
          <p:nvPr/>
        </p:nvSpPr>
        <p:spPr bwMode="auto">
          <a:xfrm>
            <a:off x="174624" y="2615352"/>
            <a:ext cx="328067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31775" indent="-231775"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Trường hợp nào sẽ làm đèn USER LED trên CPU nhấp nháy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Khi </a:t>
            </a:r>
            <a:r>
              <a:rPr lang="en-US" altLang="ko-KR" sz="950">
                <a:latin typeface="Times New Roman" pitchFamily="18" charset="0"/>
                <a:ea typeface="LG Smart_H Regular" panose="020B0600000101010101" pitchFamily="34" charset="-127"/>
                <a:cs typeface="Times New Roman" pitchFamily="18" charset="0"/>
              </a:rPr>
              <a:t>clear </a:t>
            </a:r>
            <a:r>
              <a:rPr lang="en-US" altLang="ko-KR" sz="950" smtClean="0">
                <a:latin typeface="Times New Roman" pitchFamily="18" charset="0"/>
                <a:ea typeface="LG Smart_H Regular" panose="020B0600000101010101" pitchFamily="34" charset="-127"/>
                <a:cs typeface="Times New Roman" pitchFamily="18" charset="0"/>
              </a:rPr>
              <a:t>latch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Khi phân tích lỗi bằng lệnh </a:t>
            </a:r>
            <a:r>
              <a:rPr lang="en-US" altLang="ko-KR" sz="950" smtClean="0">
                <a:latin typeface="Times New Roman" pitchFamily="18" charset="0"/>
                <a:ea typeface="LG Smart_H Regular" panose="020B0600000101010101" pitchFamily="34" charset="-127"/>
                <a:cs typeface="Times New Roman" pitchFamily="18" charset="0"/>
              </a:rPr>
              <a:t>CHK</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Khi  ON F </a:t>
            </a:r>
            <a:r>
              <a:rPr lang="en-US" altLang="ko-KR" sz="950" smtClean="0">
                <a:latin typeface="Times New Roman" pitchFamily="18" charset="0"/>
                <a:ea typeface="LG Smart_H Regular" panose="020B0600000101010101" pitchFamily="34" charset="-127"/>
                <a:cs typeface="Times New Roman" pitchFamily="18" charset="0"/>
              </a:rPr>
              <a:t>Annunciator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Khi bình thường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Đâu không là tín hiệu Analog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Sensor</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Điện áp</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Áp </a:t>
            </a:r>
            <a:r>
              <a:rPr lang="en-US" altLang="ko-KR" sz="950">
                <a:latin typeface="Times New Roman" pitchFamily="18" charset="0"/>
                <a:ea typeface="LG Smart_H Regular" panose="020B0600000101010101" pitchFamily="34" charset="-127"/>
                <a:cs typeface="Times New Roman" pitchFamily="18" charset="0"/>
              </a:rPr>
              <a:t>suất </a:t>
            </a:r>
            <a:r>
              <a:rPr lang="en-US" altLang="ko-KR" sz="950" smtClean="0">
                <a:latin typeface="Times New Roman" pitchFamily="18" charset="0"/>
                <a:ea typeface="LG Smart_H Regular" panose="020B0600000101010101" pitchFamily="34" charset="-127"/>
                <a:cs typeface="Times New Roman" pitchFamily="18" charset="0"/>
              </a:rPr>
              <a:t>khí</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Nhiệt </a:t>
            </a:r>
            <a:r>
              <a:rPr lang="vi-VN" altLang="ko-KR" sz="950">
                <a:latin typeface="Times New Roman" pitchFamily="18" charset="0"/>
                <a:ea typeface="LG Smart_H Regular" panose="020B0600000101010101" pitchFamily="34" charset="-127"/>
                <a:cs typeface="Times New Roman" pitchFamily="18" charset="0"/>
              </a:rPr>
              <a:t>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8" name="Rectangle 7"/>
          <p:cNvSpPr>
            <a:spLocks noChangeArrowheads="1"/>
          </p:cNvSpPr>
          <p:nvPr/>
        </p:nvSpPr>
        <p:spPr bwMode="auto">
          <a:xfrm>
            <a:off x="206479" y="516902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Đèn BOOT LED trên CPU sẽ nhấp nháy khi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Khi </a:t>
            </a:r>
            <a:r>
              <a:rPr lang="vi-VN" altLang="ko-KR" sz="950">
                <a:latin typeface="Times New Roman" pitchFamily="18" charset="0"/>
                <a:ea typeface="LG Smart_H Regular" panose="020B0600000101010101" pitchFamily="34" charset="-127"/>
                <a:cs typeface="Times New Roman" pitchFamily="18" charset="0"/>
              </a:rPr>
              <a:t>bắt đầu vận hành </a:t>
            </a:r>
            <a:r>
              <a:rPr lang="vi-VN" altLang="ko-KR" sz="950" smtClean="0">
                <a:latin typeface="Times New Roman" pitchFamily="18" charset="0"/>
                <a:ea typeface="LG Smart_H Regular" panose="020B0600000101010101" pitchFamily="34" charset="-127"/>
                <a:cs typeface="Times New Roman" pitchFamily="18" charset="0"/>
              </a:rPr>
              <a:t>BOOT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Khi “Sử dung tự động ở RIM tiêu chuẩn” đã chuyển tiếp hoàn </a:t>
            </a:r>
            <a:r>
              <a:rPr lang="vi-VN" altLang="ko-KR" sz="950" smtClean="0">
                <a:latin typeface="Times New Roman" pitchFamily="18" charset="0"/>
                <a:ea typeface="LG Smart_H Regular" panose="020B0600000101010101" pitchFamily="34" charset="-127"/>
                <a:cs typeface="Times New Roman" pitchFamily="18" charset="0"/>
              </a:rPr>
              <a:t>toàn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Khi khởi động lại nguồn điện của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Khi trang bị module cho base module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Đâu là Device cung Cấp DATA </a:t>
            </a:r>
            <a:r>
              <a:rPr lang="vi-VN" altLang="ko-KR" sz="950" smtClean="0">
                <a:latin typeface="Times New Roman" pitchFamily="18" charset="0"/>
                <a:ea typeface="LG Smart_H Regular" panose="020B0600000101010101" pitchFamily="34" charset="-127"/>
                <a:cs typeface="Times New Roman" pitchFamily="18" charset="0"/>
              </a:rPr>
              <a:t>ho</a:t>
            </a:r>
            <a:r>
              <a:rPr lang="en-US" altLang="ko-KR" sz="950" smtClean="0">
                <a:latin typeface="Times New Roman" pitchFamily="18" charset="0"/>
                <a:ea typeface="LG Smart_H Regular" panose="020B0600000101010101" pitchFamily="34" charset="-127"/>
                <a:cs typeface="Times New Roman" pitchFamily="18" charset="0"/>
              </a:rPr>
              <a:t>ặc</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mệnh lệnh cho PLC từ thiết bị bên ngoài  DIGITAL SWITCH, LIMIT SWITCH, SWITCH CHUYỂN ĐỔI, BUTTON ấn .</a:t>
            </a:r>
            <a:r>
              <a:rPr lang="vi-VN" altLang="ko-KR" sz="950" smtClean="0">
                <a:latin typeface="Times New Roman" pitchFamily="18" charset="0"/>
                <a:ea typeface="LG Smart_H Regular" panose="020B0600000101010101" pitchFamily="34" charset="-127"/>
                <a:cs typeface="Times New Roman" pitchFamily="18" charset="0"/>
              </a:rPr>
              <a:t>v.v?</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Y</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M</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L</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Đâu không phải là Word Devidce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W</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Z</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D</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Program chỉ thực hiện 1 lần khi nguồn điện ON hoặc được đổi sang RUN trong </a:t>
            </a:r>
            <a:r>
              <a:rPr lang="vi-VN" altLang="ko-KR" sz="950" smtClean="0">
                <a:latin typeface="Times New Roman" pitchFamily="18" charset="0"/>
                <a:ea typeface="LG Smart_H Regular" panose="020B0600000101010101" pitchFamily="34" charset="-127"/>
                <a:cs typeface="Times New Roman" pitchFamily="18" charset="0"/>
              </a:rPr>
              <a:t>STOP</a:t>
            </a:r>
            <a:r>
              <a:rPr lang="en-US" altLang="ko-KR" sz="950" smtClean="0">
                <a:latin typeface="Times New Roman" pitchFamily="18" charset="0"/>
                <a:ea typeface="LG Smart_H Regular" panose="020B0600000101010101" pitchFamily="34" charset="-127"/>
                <a:cs typeface="Times New Roman" pitchFamily="18" charset="0"/>
              </a:rPr>
              <a:t> 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Scan </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Initial</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Wait</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Fixed </a:t>
            </a:r>
            <a:r>
              <a:rPr lang="en-US" altLang="ko-KR" sz="950">
                <a:latin typeface="Times New Roman" pitchFamily="18" charset="0"/>
                <a:ea typeface="LG Smart_H Regular" panose="020B0600000101010101" pitchFamily="34" charset="-127"/>
                <a:cs typeface="Times New Roman" pitchFamily="18" charset="0"/>
              </a:rPr>
              <a:t>Scan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19475" y="3152800"/>
            <a:ext cx="3239810" cy="1346616"/>
            <a:chOff x="3419475" y="1247807"/>
            <a:chExt cx="3239810" cy="1346616"/>
          </a:xfrm>
        </p:grpSpPr>
        <p:sp>
          <p:nvSpPr>
            <p:cNvPr id="112" name="Rectangle 7"/>
            <p:cNvSpPr>
              <a:spLocks noChangeArrowheads="1"/>
            </p:cNvSpPr>
            <p:nvPr/>
          </p:nvSpPr>
          <p:spPr bwMode="auto">
            <a:xfrm>
              <a:off x="3419475" y="1247807"/>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Đây là kiểu thực hành của chương trình dạng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Initial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Scan</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Wait</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Fixed </a:t>
              </a:r>
              <a:r>
                <a:rPr lang="en-US" altLang="ko-KR" sz="950">
                  <a:latin typeface="Times New Roman" pitchFamily="18" charset="0"/>
                  <a:ea typeface="LG Smart_H Regular" panose="020B0600000101010101" pitchFamily="34" charset="-127"/>
                  <a:cs typeface="Times New Roman" pitchFamily="18" charset="0"/>
                </a:rPr>
                <a:t>Scan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113" name="Group 112"/>
            <p:cNvGrpSpPr/>
            <p:nvPr/>
          </p:nvGrpSpPr>
          <p:grpSpPr>
            <a:xfrm>
              <a:off x="4270494" y="1547794"/>
              <a:ext cx="2386397" cy="1046629"/>
              <a:chOff x="0" y="0"/>
              <a:chExt cx="9457144" cy="4104762"/>
            </a:xfrm>
          </p:grpSpPr>
          <p:pic>
            <p:nvPicPr>
              <p:cNvPr id="114" name="Picture 113"/>
              <p:cNvPicPr>
                <a:picLocks noChangeAspect="1"/>
              </p:cNvPicPr>
              <p:nvPr/>
            </p:nvPicPr>
            <p:blipFill>
              <a:blip r:embed="rId3"/>
              <a:stretch>
                <a:fillRect/>
              </a:stretch>
            </p:blipFill>
            <p:spPr>
              <a:xfrm>
                <a:off x="0" y="0"/>
                <a:ext cx="9457144" cy="4104762"/>
              </a:xfrm>
              <a:prstGeom prst="rect">
                <a:avLst/>
              </a:prstGeom>
            </p:spPr>
          </p:pic>
          <p:sp>
            <p:nvSpPr>
              <p:cNvPr id="182" name="Right Arrow 181"/>
              <p:cNvSpPr/>
              <p:nvPr/>
            </p:nvSpPr>
            <p:spPr>
              <a:xfrm>
                <a:off x="112056" y="1368190"/>
                <a:ext cx="2050678" cy="17930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solidFill>
                    <a:schemeClr val="tx1"/>
                  </a:solidFill>
                </a:endParaRPr>
              </a:p>
            </p:txBody>
          </p:sp>
        </p:grpSp>
      </p:grpSp>
      <p:sp>
        <p:nvSpPr>
          <p:cNvPr id="183" name="Rectangle 7"/>
          <p:cNvSpPr>
            <a:spLocks noChangeArrowheads="1"/>
          </p:cNvSpPr>
          <p:nvPr/>
        </p:nvSpPr>
        <p:spPr bwMode="auto">
          <a:xfrm>
            <a:off x="3425951" y="520981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Khoảng thời gian cái đặt WDT tối đa là bao nhiêu?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200ms</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500ms</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1000ms</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2000ms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3" name="Rectangle 7"/>
          <p:cNvSpPr>
            <a:spLocks noChangeArrowheads="1"/>
          </p:cNvSpPr>
          <p:nvPr/>
        </p:nvSpPr>
        <p:spPr bwMode="auto">
          <a:xfrm>
            <a:off x="147279" y="1393855"/>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Khó khăn trong việc nhỏ </a:t>
            </a:r>
            <a:r>
              <a:rPr lang="vi-VN" altLang="ko-KR" sz="950" smtClean="0">
                <a:latin typeface="Times New Roman" pitchFamily="18" charset="0"/>
                <a:ea typeface="LG Smart_H Regular" panose="020B0600000101010101" pitchFamily="34" charset="-127"/>
                <a:cs typeface="Times New Roman" pitchFamily="18" charset="0"/>
              </a:rPr>
              <a:t>hóa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Hiện thực hóa điều khiển quy mô lớn , tính năng cao bằng loại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Được điều khiển dựa vào sofrware được gọi là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không tiếp xúc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5" name="Rectangle 7"/>
          <p:cNvSpPr>
            <a:spLocks noChangeArrowheads="1"/>
          </p:cNvSpPr>
          <p:nvPr/>
        </p:nvSpPr>
        <p:spPr bwMode="auto">
          <a:xfrm>
            <a:off x="3455294" y="761729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Khi chỉ thị đầu vào của lệnh OFF → ON,  Device được chọn ON 1</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Scan  Là giải thích về lệnh nào?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FF              B. PLS               C. SET                D. PLF</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9594688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99" name="Rectangle 98"/>
          <p:cNvSpPr/>
          <p:nvPr/>
        </p:nvSpPr>
        <p:spPr>
          <a:xfrm>
            <a:off x="3448593" y="8092316"/>
            <a:ext cx="3196714" cy="823302"/>
          </a:xfrm>
          <a:prstGeom prst="rect">
            <a:avLst/>
          </a:prstGeom>
        </p:spPr>
        <p:txBody>
          <a:bodyPr wrap="square">
            <a:spAutoFit/>
          </a:bodyPr>
          <a:lstStyle/>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40.   </a:t>
            </a:r>
            <a:r>
              <a:rPr kumimoji="1" lang="vi-VN" altLang="ko-KR" sz="950" smtClean="0">
                <a:latin typeface="Times New Roman" pitchFamily="18" charset="0"/>
                <a:ea typeface="LG Smart_H Regular" panose="020B0600000101010101" pitchFamily="34" charset="-127"/>
                <a:cs typeface="Times New Roman" pitchFamily="18" charset="0"/>
              </a:rPr>
              <a:t>Nếu </a:t>
            </a:r>
            <a:r>
              <a:rPr kumimoji="1" lang="vi-VN" altLang="ko-KR" sz="950">
                <a:latin typeface="Times New Roman" pitchFamily="18" charset="0"/>
                <a:ea typeface="LG Smart_H Regular" panose="020B0600000101010101" pitchFamily="34" charset="-127"/>
                <a:cs typeface="Times New Roman" pitchFamily="18" charset="0"/>
              </a:rPr>
              <a:t>giá trị cài đặt của timer 10ms là 0.3s thì câu nào đúng</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endParaRPr kumimoji="1" lang="en-US" altLang="ko-KR" sz="950" smtClean="0">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A. (T0 </a:t>
            </a:r>
            <a:r>
              <a:rPr kumimoji="1" lang="en-US" altLang="ko-KR" sz="950">
                <a:latin typeface="Times New Roman" pitchFamily="18" charset="0"/>
                <a:ea typeface="LG Smart_H Regular" panose="020B0600000101010101" pitchFamily="34" charset="-127"/>
                <a:cs typeface="Times New Roman" pitchFamily="18" charset="0"/>
              </a:rPr>
              <a:t>K30)            </a:t>
            </a:r>
            <a:r>
              <a:rPr kumimoji="1" lang="en-US" altLang="ko-KR" sz="950" smtClean="0">
                <a:latin typeface="Times New Roman" pitchFamily="18" charset="0"/>
                <a:ea typeface="LG Smart_H Regular" panose="020B0600000101010101" pitchFamily="34" charset="-127"/>
                <a:cs typeface="Times New Roman" pitchFamily="18" charset="0"/>
              </a:rPr>
              <a:t>  B</a:t>
            </a:r>
            <a:r>
              <a:rPr kumimoji="1" lang="en-US" altLang="ko-KR" sz="950">
                <a:latin typeface="Times New Roman" pitchFamily="18" charset="0"/>
                <a:ea typeface="LG Smart_H Regular" panose="020B0600000101010101" pitchFamily="34" charset="-127"/>
                <a:cs typeface="Times New Roman" pitchFamily="18" charset="0"/>
              </a:rPr>
              <a:t>.</a:t>
            </a: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(H T0 K30</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smtClean="0">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C.</a:t>
            </a:r>
            <a:r>
              <a:rPr kumimoji="1" lang="vi-VN" altLang="ko-KR" sz="950" smtClean="0">
                <a:latin typeface="Times New Roman" pitchFamily="18" charset="0"/>
                <a:ea typeface="LG Smart_H Regular" panose="020B0600000101010101" pitchFamily="34" charset="-127"/>
                <a:cs typeface="Times New Roman" pitchFamily="18" charset="0"/>
              </a:rPr>
              <a:t> </a:t>
            </a:r>
            <a:r>
              <a:rPr kumimoji="1" lang="en-US" altLang="ko-KR" sz="950" smtClean="0">
                <a:latin typeface="Times New Roman" pitchFamily="18" charset="0"/>
                <a:ea typeface="LG Smart_H Regular" panose="020B0600000101010101" pitchFamily="34" charset="-127"/>
                <a:cs typeface="Times New Roman" pitchFamily="18" charset="0"/>
              </a:rPr>
              <a:t>(</a:t>
            </a:r>
            <a:r>
              <a:rPr kumimoji="1" lang="en-US" altLang="ko-KR" sz="950">
                <a:latin typeface="Times New Roman" pitchFamily="18" charset="0"/>
                <a:ea typeface="LG Smart_H Regular" panose="020B0600000101010101" pitchFamily="34" charset="-127"/>
                <a:cs typeface="Times New Roman" pitchFamily="18" charset="0"/>
              </a:rPr>
              <a:t>T0 K300</a:t>
            </a:r>
            <a:r>
              <a:rPr kumimoji="1" lang="en-US" altLang="ko-KR" sz="950" smtClean="0">
                <a:latin typeface="Times New Roman" pitchFamily="18" charset="0"/>
                <a:ea typeface="LG Smart_H Regular" panose="020B0600000101010101" pitchFamily="34" charset="-127"/>
                <a:cs typeface="Times New Roman" pitchFamily="18" charset="0"/>
              </a:rPr>
              <a:t>)            D. </a:t>
            </a:r>
            <a:r>
              <a:rPr kumimoji="1" lang="vi-VN" altLang="ko-KR" sz="950">
                <a:latin typeface="Times New Roman" pitchFamily="18" charset="0"/>
                <a:ea typeface="LG Smart_H Regular" panose="020B0600000101010101" pitchFamily="34" charset="-127"/>
                <a:cs typeface="Times New Roman" pitchFamily="18" charset="0"/>
              </a:rPr>
              <a:t>(H T0 K300</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vi-VN" altLang="ko-KR" sz="950">
              <a:latin typeface="Times New Roman" pitchFamily="18" charset="0"/>
              <a:ea typeface="LG Smart_H Regular" panose="020B0600000101010101" pitchFamily="34" charset="-127"/>
              <a:cs typeface="Times New Roman" pitchFamily="18" charset="0"/>
            </a:endParaRPr>
          </a:p>
        </p:txBody>
      </p:sp>
      <p:sp>
        <p:nvSpPr>
          <p:cNvPr id="101" name="Rectangle 100"/>
          <p:cNvSpPr/>
          <p:nvPr/>
        </p:nvSpPr>
        <p:spPr>
          <a:xfrm>
            <a:off x="3428999" y="6499426"/>
            <a:ext cx="3247367" cy="969496"/>
          </a:xfrm>
          <a:prstGeom prst="rect">
            <a:avLst/>
          </a:prstGeom>
        </p:spPr>
        <p:txBody>
          <a:bodyPr wrap="square">
            <a:spAutoFit/>
          </a:bodyPr>
          <a:lstStyle/>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39.  </a:t>
            </a:r>
            <a:r>
              <a:rPr kumimoji="1" lang="vi-VN" altLang="ko-KR" sz="950" smtClean="0">
                <a:latin typeface="Times New Roman" pitchFamily="18" charset="0"/>
                <a:ea typeface="LG Smart_H Regular" panose="020B0600000101010101" pitchFamily="34" charset="-127"/>
                <a:cs typeface="Times New Roman" pitchFamily="18" charset="0"/>
              </a:rPr>
              <a:t>Trong </a:t>
            </a:r>
            <a:r>
              <a:rPr kumimoji="1" lang="vi-VN" altLang="ko-KR" sz="950">
                <a:latin typeface="Times New Roman" pitchFamily="18" charset="0"/>
                <a:ea typeface="LG Smart_H Regular" panose="020B0600000101010101" pitchFamily="34" charset="-127"/>
                <a:cs typeface="Times New Roman" pitchFamily="18" charset="0"/>
              </a:rPr>
              <a:t>những giải thích về Device (thiết bị) dưới đây, cái nào là kết nối </a:t>
            </a:r>
            <a:r>
              <a:rPr kumimoji="1" lang="vi-VN" altLang="ko-KR" sz="950" b="1">
                <a:latin typeface="Times New Roman" pitchFamily="18" charset="0"/>
                <a:ea typeface="LG Smart_H Regular" panose="020B0600000101010101" pitchFamily="34" charset="-127"/>
                <a:cs typeface="Times New Roman" pitchFamily="18" charset="0"/>
              </a:rPr>
              <a:t>không đúng</a:t>
            </a:r>
            <a:r>
              <a:rPr kumimoji="1" lang="vi-VN" altLang="ko-KR" sz="950">
                <a:latin typeface="Times New Roman" pitchFamily="18" charset="0"/>
                <a:ea typeface="LG Smart_H Regular" panose="020B0600000101010101" pitchFamily="34" charset="-127"/>
                <a:cs typeface="Times New Roman" pitchFamily="18" charset="0"/>
              </a:rPr>
              <a:t>? </a:t>
            </a:r>
            <a:endParaRPr kumimoji="1" lang="en-US" altLang="ko-KR" sz="95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latin typeface="Times New Roman" pitchFamily="18" charset="0"/>
                <a:ea typeface="LG Smart_H Regular" panose="020B0600000101010101" pitchFamily="34" charset="-127"/>
                <a:cs typeface="Times New Roman" pitchFamily="18" charset="0"/>
              </a:rPr>
              <a:t>F – Annunciator</a:t>
            </a:r>
            <a:endParaRPr kumimoji="1" lang="en-US" altLang="ko-KR" sz="95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latin typeface="Times New Roman" pitchFamily="18" charset="0"/>
                <a:ea typeface="LG Smart_H Regular" panose="020B0600000101010101" pitchFamily="34" charset="-127"/>
                <a:cs typeface="Times New Roman" pitchFamily="18" charset="0"/>
              </a:rPr>
              <a:t>R – File </a:t>
            </a:r>
            <a:r>
              <a:rPr kumimoji="1" lang="vi-VN" altLang="ko-KR" sz="950" smtClean="0">
                <a:latin typeface="Times New Roman" pitchFamily="18" charset="0"/>
                <a:ea typeface="LG Smart_H Regular" panose="020B0600000101010101" pitchFamily="34" charset="-127"/>
                <a:cs typeface="Times New Roman" pitchFamily="18" charset="0"/>
              </a:rPr>
              <a:t>Resister</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latin typeface="Times New Roman" pitchFamily="18" charset="0"/>
                <a:ea typeface="LG Smart_H Regular" panose="020B0600000101010101" pitchFamily="34" charset="-127"/>
                <a:cs typeface="Times New Roman" pitchFamily="18" charset="0"/>
              </a:rPr>
              <a:t>W – Link </a:t>
            </a:r>
            <a:r>
              <a:rPr kumimoji="1" lang="vi-VN" altLang="ko-KR" sz="950" smtClean="0">
                <a:latin typeface="Times New Roman" pitchFamily="18" charset="0"/>
                <a:ea typeface="LG Smart_H Regular" panose="020B0600000101010101" pitchFamily="34" charset="-127"/>
                <a:cs typeface="Times New Roman" pitchFamily="18" charset="0"/>
              </a:rPr>
              <a:t>Relay</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Z </a:t>
            </a:r>
            <a:r>
              <a:rPr kumimoji="1" lang="vi-VN" altLang="ko-KR" sz="950">
                <a:latin typeface="Times New Roman" pitchFamily="18" charset="0"/>
                <a:ea typeface="LG Smart_H Regular" panose="020B0600000101010101" pitchFamily="34" charset="-127"/>
                <a:cs typeface="Times New Roman" pitchFamily="18" charset="0"/>
              </a:rPr>
              <a:t>– Index </a:t>
            </a:r>
            <a:r>
              <a:rPr kumimoji="1" lang="vi-VN" altLang="ko-KR" sz="950" smtClean="0">
                <a:latin typeface="Times New Roman" pitchFamily="18" charset="0"/>
                <a:ea typeface="LG Smart_H Regular" panose="020B0600000101010101" pitchFamily="34" charset="-127"/>
                <a:cs typeface="Times New Roman" pitchFamily="18" charset="0"/>
              </a:rPr>
              <a:t>Resister</a:t>
            </a:r>
            <a:endParaRPr kumimoji="1" lang="vi-VN" altLang="ko-KR" sz="950">
              <a:latin typeface="Times New Roman" pitchFamily="18" charset="0"/>
              <a:ea typeface="LG Smart_H Regular" panose="020B0600000101010101" pitchFamily="34" charset="-127"/>
              <a:cs typeface="Times New Roman" pitchFamily="18" charset="0"/>
            </a:endParaRPr>
          </a:p>
        </p:txBody>
      </p:sp>
      <p:sp>
        <p:nvSpPr>
          <p:cNvPr id="105" name="Rectangle 111"/>
          <p:cNvSpPr>
            <a:spLocks noChangeArrowheads="1"/>
          </p:cNvSpPr>
          <p:nvPr/>
        </p:nvSpPr>
        <p:spPr bwMode="auto">
          <a:xfrm>
            <a:off x="3414985" y="1032401"/>
            <a:ext cx="32543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latin typeface="Times New Roman" pitchFamily="18" charset="0"/>
                <a:ea typeface="LG Smart_H Regular" panose="020B0600000101010101" pitchFamily="34" charset="-127"/>
                <a:cs typeface="Times New Roman" pitchFamily="18" charset="0"/>
              </a:rPr>
              <a:t>36. </a:t>
            </a:r>
            <a:r>
              <a:rPr lang="vi-VN" altLang="ko-KR" dirty="0">
                <a:latin typeface="Times New Roman" pitchFamily="18" charset="0"/>
                <a:ea typeface="LG Smart_H Regular" panose="020B0600000101010101" pitchFamily="34" charset="-127"/>
                <a:cs typeface="Times New Roman" pitchFamily="18" charset="0"/>
              </a:rPr>
              <a:t>Tuổi thọ của </a:t>
            </a:r>
            <a:r>
              <a:rPr lang="en-US" altLang="ko-KR" dirty="0">
                <a:latin typeface="Times New Roman" pitchFamily="18" charset="0"/>
                <a:ea typeface="LG Smart_H Regular" panose="020B0600000101010101" pitchFamily="34" charset="-127"/>
                <a:cs typeface="Times New Roman" pitchFamily="18" charset="0"/>
              </a:rPr>
              <a:t>Q6BA</a:t>
            </a:r>
            <a:r>
              <a:rPr lang="vi-VN" altLang="ko-KR" dirty="0">
                <a:latin typeface="Times New Roman" pitchFamily="18" charset="0"/>
                <a:ea typeface="LG Smart_H Regular" panose="020B0600000101010101" pitchFamily="34" charset="-127"/>
                <a:cs typeface="Times New Roman" pitchFamily="18" charset="0"/>
              </a:rPr>
              <a:t>T battery ở điều kiện dưới đây là bao nhiêu</a:t>
            </a:r>
            <a:r>
              <a:rPr lang="en-US" altLang="ko-KR">
                <a:latin typeface="Times New Roman" pitchFamily="18" charset="0"/>
                <a:ea typeface="LG Smart_H Regular" panose="020B0600000101010101" pitchFamily="34" charset="-127"/>
                <a:cs typeface="Times New Roman" pitchFamily="18" charset="0"/>
              </a:rPr>
              <a:t>?   </a:t>
            </a:r>
            <a:endParaRPr lang="en-US" altLang="ko-KR"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a:latin typeface="Times New Roman" pitchFamily="18" charset="0"/>
                <a:ea typeface="LG Smart_H Regular" panose="020B0600000101010101" pitchFamily="34" charset="-127"/>
                <a:cs typeface="Times New Roman" pitchFamily="18" charset="0"/>
              </a:rPr>
              <a:t> </a:t>
            </a:r>
            <a:r>
              <a:rPr lang="en-US" altLang="ko-KR" smtClean="0">
                <a:latin typeface="Times New Roman" pitchFamily="18" charset="0"/>
                <a:ea typeface="LG Smart_H Regular" panose="020B0600000101010101" pitchFamily="34" charset="-127"/>
                <a:cs typeface="Times New Roman" pitchFamily="18" charset="0"/>
              </a:rPr>
              <a:t> </a:t>
            </a:r>
            <a:r>
              <a:rPr lang="en-US" altLang="ko-KR" dirty="0">
                <a:latin typeface="Times New Roman" pitchFamily="18" charset="0"/>
                <a:ea typeface="LG Smart_H Regular" panose="020B0600000101010101" pitchFamily="34" charset="-127"/>
                <a:cs typeface="Times New Roman" pitchFamily="18" charset="0"/>
              </a:rPr>
              <a:t>(</a:t>
            </a:r>
            <a:r>
              <a:rPr lang="vi-VN" altLang="ko-KR" dirty="0">
                <a:latin typeface="Times New Roman" pitchFamily="18" charset="0"/>
                <a:ea typeface="LG Smart_H Regular" panose="020B0600000101010101" pitchFamily="34" charset="-127"/>
                <a:cs typeface="Times New Roman" pitchFamily="18" charset="0"/>
              </a:rPr>
              <a:t>Trường hợp kết nối với Mode CPU và hoạt động liên </a:t>
            </a:r>
            <a:r>
              <a:rPr lang="vi-VN" altLang="ko-KR">
                <a:latin typeface="Times New Roman" pitchFamily="18" charset="0"/>
                <a:ea typeface="LG Smart_H Regular" panose="020B0600000101010101" pitchFamily="34" charset="-127"/>
                <a:cs typeface="Times New Roman" pitchFamily="18" charset="0"/>
              </a:rPr>
              <a:t>tục </a:t>
            </a:r>
            <a:r>
              <a:rPr lang="en-US" altLang="ko-KR" smtClean="0">
                <a:latin typeface="Times New Roman" pitchFamily="18" charset="0"/>
                <a:ea typeface="LG Smart_H Regular" panose="020B0600000101010101" pitchFamily="34" charset="-127"/>
                <a:cs typeface="Times New Roman" pitchFamily="18" charset="0"/>
              </a:rPr>
              <a:t>)</a:t>
            </a:r>
            <a:endParaRPr lang="en-US" altLang="ko-KR"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latin typeface="Times New Roman" pitchFamily="18" charset="0"/>
                <a:ea typeface="LG Smart_H Regular" panose="020B0600000101010101" pitchFamily="34" charset="-127"/>
                <a:cs typeface="Times New Roman" pitchFamily="18" charset="0"/>
              </a:rPr>
              <a:t>1.3</a:t>
            </a:r>
            <a:r>
              <a:rPr lang="vi-VN" altLang="ko-KR" smtClean="0">
                <a:latin typeface="Times New Roman" pitchFamily="18" charset="0"/>
                <a:ea typeface="LG Smart_H Regular" panose="020B0600000101010101" pitchFamily="34" charset="-127"/>
                <a:cs typeface="Times New Roman" pitchFamily="18" charset="0"/>
              </a:rPr>
              <a:t> </a:t>
            </a:r>
            <a:r>
              <a:rPr lang="vi-VN" altLang="ko-KR">
                <a:latin typeface="Times New Roman" pitchFamily="18" charset="0"/>
                <a:ea typeface="LG Smart_H Regular" panose="020B0600000101010101" pitchFamily="34" charset="-127"/>
                <a:cs typeface="Times New Roman" pitchFamily="18" charset="0"/>
              </a:rPr>
              <a:t>năm </a:t>
            </a:r>
            <a:r>
              <a:rPr lang="ko-KR" altLang="en-US">
                <a:latin typeface="Times New Roman" pitchFamily="18" charset="0"/>
                <a:ea typeface="LG Smart_H Regular" panose="020B0600000101010101" pitchFamily="34" charset="-127"/>
                <a:cs typeface="Times New Roman" pitchFamily="18" charset="0"/>
              </a:rPr>
              <a:t>                              </a:t>
            </a:r>
            <a:endParaRPr lang="en-US" altLang="ko-KR"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latin typeface="Times New Roman" pitchFamily="18" charset="0"/>
                <a:ea typeface="LG Smart_H Regular" panose="020B0600000101010101" pitchFamily="34" charset="-127"/>
                <a:cs typeface="Times New Roman" pitchFamily="18" charset="0"/>
              </a:rPr>
              <a:t>4.5</a:t>
            </a:r>
            <a:r>
              <a:rPr lang="vi-VN" altLang="ko-KR" smtClean="0">
                <a:latin typeface="Times New Roman" pitchFamily="18" charset="0"/>
                <a:ea typeface="LG Smart_H Regular" panose="020B0600000101010101" pitchFamily="34" charset="-127"/>
                <a:cs typeface="Times New Roman" pitchFamily="18" charset="0"/>
              </a:rPr>
              <a:t> </a:t>
            </a:r>
            <a:r>
              <a:rPr lang="vi-VN" altLang="ko-KR">
                <a:latin typeface="Times New Roman" pitchFamily="18" charset="0"/>
                <a:ea typeface="LG Smart_H Regular" panose="020B0600000101010101" pitchFamily="34" charset="-127"/>
                <a:cs typeface="Times New Roman" pitchFamily="18" charset="0"/>
              </a:rPr>
              <a:t>năm </a:t>
            </a:r>
            <a:endParaRPr lang="en-US" altLang="ko-KR"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latin typeface="Times New Roman" pitchFamily="18" charset="0"/>
                <a:ea typeface="LG Smart_H Regular" panose="020B0600000101010101" pitchFamily="34" charset="-127"/>
                <a:cs typeface="Times New Roman" pitchFamily="18" charset="0"/>
              </a:rPr>
              <a:t>9</a:t>
            </a:r>
            <a:r>
              <a:rPr lang="vi-VN" altLang="ko-KR" smtClean="0">
                <a:latin typeface="Times New Roman" pitchFamily="18" charset="0"/>
                <a:ea typeface="LG Smart_H Regular" panose="020B0600000101010101" pitchFamily="34" charset="-127"/>
                <a:cs typeface="Times New Roman" pitchFamily="18" charset="0"/>
              </a:rPr>
              <a:t> </a:t>
            </a:r>
            <a:r>
              <a:rPr lang="vi-VN" altLang="ko-KR">
                <a:latin typeface="Times New Roman" pitchFamily="18" charset="0"/>
                <a:ea typeface="LG Smart_H Regular" panose="020B0600000101010101" pitchFamily="34" charset="-127"/>
                <a:cs typeface="Times New Roman" pitchFamily="18" charset="0"/>
              </a:rPr>
              <a:t>năm </a:t>
            </a:r>
            <a:r>
              <a:rPr lang="ko-KR" altLang="en-US">
                <a:latin typeface="Times New Roman" pitchFamily="18" charset="0"/>
                <a:ea typeface="LG Smart_H Regular" panose="020B0600000101010101" pitchFamily="34" charset="-127"/>
                <a:cs typeface="Times New Roman" pitchFamily="18" charset="0"/>
              </a:rPr>
              <a:t>                             </a:t>
            </a:r>
            <a:endParaRPr lang="en-US" altLang="ko-KR"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latin typeface="Times New Roman" pitchFamily="18" charset="0"/>
                <a:ea typeface="LG Smart_H Regular" panose="020B0600000101010101" pitchFamily="34" charset="-127"/>
                <a:cs typeface="Times New Roman" pitchFamily="18" charset="0"/>
              </a:rPr>
              <a:t>10</a:t>
            </a:r>
            <a:r>
              <a:rPr lang="vi-VN" altLang="ko-KR" smtClean="0">
                <a:latin typeface="Times New Roman" pitchFamily="18" charset="0"/>
                <a:ea typeface="LG Smart_H Regular" panose="020B0600000101010101" pitchFamily="34" charset="-127"/>
                <a:cs typeface="Times New Roman" pitchFamily="18" charset="0"/>
              </a:rPr>
              <a:t> </a:t>
            </a:r>
            <a:r>
              <a:rPr lang="vi-VN" altLang="ko-KR" dirty="0">
                <a:latin typeface="Times New Roman" pitchFamily="18" charset="0"/>
                <a:ea typeface="LG Smart_H Regular" panose="020B0600000101010101" pitchFamily="34" charset="-127"/>
                <a:cs typeface="Times New Roman" pitchFamily="18" charset="0"/>
              </a:rPr>
              <a:t>năm</a:t>
            </a:r>
            <a:endParaRPr lang="ko-KR" altLang="en-US" dirty="0">
              <a:latin typeface="Times New Roman" pitchFamily="18" charset="0"/>
              <a:ea typeface="LG Smart_H Regular" panose="020B0600000101010101" pitchFamily="34" charset="-127"/>
              <a:cs typeface="Times New Roman" pitchFamily="18" charset="0"/>
            </a:endParaRPr>
          </a:p>
        </p:txBody>
      </p:sp>
      <p:sp>
        <p:nvSpPr>
          <p:cNvPr id="109" name="Rectangle 219"/>
          <p:cNvSpPr>
            <a:spLocks noChangeArrowheads="1"/>
          </p:cNvSpPr>
          <p:nvPr/>
        </p:nvSpPr>
        <p:spPr bwMode="auto">
          <a:xfrm>
            <a:off x="3421992" y="2885339"/>
            <a:ext cx="325437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37. </a:t>
            </a:r>
            <a:r>
              <a:rPr lang="vi-VN" altLang="ko-KR" sz="950" smtClean="0">
                <a:latin typeface="Times New Roman" pitchFamily="18" charset="0"/>
                <a:ea typeface="LG Smart_H Regular" panose="020B0600000101010101" pitchFamily="34" charset="-127"/>
                <a:cs typeface="Times New Roman" pitchFamily="18" charset="0"/>
              </a:rPr>
              <a:t>Đ</a:t>
            </a:r>
            <a:r>
              <a:rPr lang="en-US" altLang="ko-KR" sz="950" smtClean="0">
                <a:latin typeface="Times New Roman" pitchFamily="18" charset="0"/>
                <a:ea typeface="LG Smart_H Regular" panose="020B0600000101010101" pitchFamily="34" charset="-127"/>
                <a:cs typeface="Times New Roman" pitchFamily="18" charset="0"/>
              </a:rPr>
              <a:t>áp án nào </a:t>
            </a:r>
            <a:r>
              <a:rPr lang="vi-VN" altLang="ko-KR" sz="950" b="1" smtClean="0">
                <a:latin typeface="Times New Roman" pitchFamily="18" charset="0"/>
                <a:ea typeface="LG Smart_H Regular" panose="020B0600000101010101" pitchFamily="34" charset="-127"/>
                <a:cs typeface="Times New Roman" pitchFamily="18" charset="0"/>
              </a:rPr>
              <a:t>không </a:t>
            </a:r>
            <a:r>
              <a:rPr lang="vi-VN" altLang="ko-KR" sz="950" b="1" dirty="0">
                <a:latin typeface="Times New Roman" pitchFamily="18" charset="0"/>
                <a:ea typeface="LG Smart_H Regular" panose="020B0600000101010101" pitchFamily="34" charset="-127"/>
                <a:cs typeface="Times New Roman" pitchFamily="18" charset="0"/>
              </a:rPr>
              <a:t>phải </a:t>
            </a:r>
            <a:r>
              <a:rPr lang="vi-VN" altLang="ko-KR" sz="950" dirty="0">
                <a:latin typeface="Times New Roman" pitchFamily="18" charset="0"/>
                <a:ea typeface="LG Smart_H Regular" panose="020B0600000101010101" pitchFamily="34" charset="-127"/>
                <a:cs typeface="Times New Roman" pitchFamily="18" charset="0"/>
              </a:rPr>
              <a:t>là tín hiệu đầu vào </a:t>
            </a:r>
            <a:r>
              <a:rPr lang="en-US" altLang="ko-KR" sz="950" dirty="0">
                <a:latin typeface="Times New Roman" pitchFamily="18" charset="0"/>
                <a:ea typeface="LG Smart_H Regular" panose="020B0600000101010101" pitchFamily="34" charset="-127"/>
                <a:cs typeface="Times New Roman" pitchFamily="18" charset="0"/>
              </a:rPr>
              <a:t>Analog ?          </a:t>
            </a: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Số </a:t>
            </a:r>
            <a:r>
              <a:rPr lang="vi-VN" altLang="ko-KR" sz="950" dirty="0">
                <a:latin typeface="Times New Roman" pitchFamily="18" charset="0"/>
                <a:ea typeface="LG Smart_H Regular" panose="020B0600000101010101" pitchFamily="34" charset="-127"/>
                <a:cs typeface="Times New Roman" pitchFamily="18" charset="0"/>
              </a:rPr>
              <a:t>vòng quay </a:t>
            </a:r>
            <a:r>
              <a:rPr lang="vi-VN" altLang="ko-KR" sz="950">
                <a:latin typeface="Times New Roman" pitchFamily="18" charset="0"/>
                <a:ea typeface="LG Smart_H Regular" panose="020B0600000101010101" pitchFamily="34" charset="-127"/>
                <a:cs typeface="Times New Roman" pitchFamily="18" charset="0"/>
              </a:rPr>
              <a:t>motor </a:t>
            </a:r>
            <a:r>
              <a:rPr lang="ko-KR" altLang="en-US"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          </a:t>
            </a:r>
            <a:r>
              <a:rPr lang="ko-KR" altLang="en-US" sz="950">
                <a:latin typeface="Times New Roman" pitchFamily="18" charset="0"/>
                <a:ea typeface="LG Smart_H Regular" panose="020B0600000101010101" pitchFamily="34" charset="-127"/>
                <a:cs typeface="Times New Roman" pitchFamily="18" charset="0"/>
              </a:rPr>
              <a:t>  </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Nhiệt </a:t>
            </a:r>
            <a:r>
              <a:rPr lang="vi-VN" altLang="ko-KR" sz="950">
                <a:latin typeface="Times New Roman" pitchFamily="18" charset="0"/>
                <a:ea typeface="LG Smart_H Regular" panose="020B0600000101010101" pitchFamily="34" charset="-127"/>
                <a:cs typeface="Times New Roman" pitchFamily="18" charset="0"/>
              </a:rPr>
              <a:t>độ </a:t>
            </a:r>
            <a:r>
              <a:rPr lang="ko-KR" altLang="en-US"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Dung </a:t>
            </a:r>
            <a:r>
              <a:rPr lang="vi-VN" altLang="ko-KR" sz="950">
                <a:latin typeface="Times New Roman" pitchFamily="18" charset="0"/>
                <a:ea typeface="LG Smart_H Regular" panose="020B0600000101010101" pitchFamily="34" charset="-127"/>
                <a:cs typeface="Times New Roman" pitchFamily="18" charset="0"/>
              </a:rPr>
              <a:t>lượng</a:t>
            </a:r>
            <a:r>
              <a:rPr lang="ko-KR" altLang="en-US"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             </a:t>
            </a:r>
            <a:r>
              <a:rPr lang="ko-KR" altLang="en-US"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Điện </a:t>
            </a:r>
            <a:r>
              <a:rPr lang="vi-VN" altLang="ko-KR" sz="950" dirty="0">
                <a:latin typeface="Times New Roman" pitchFamily="18" charset="0"/>
                <a:ea typeface="LG Smart_H Regular" panose="020B0600000101010101" pitchFamily="34" charset="-127"/>
                <a:cs typeface="Times New Roman" pitchFamily="18" charset="0"/>
              </a:rPr>
              <a:t>áp </a:t>
            </a:r>
            <a:r>
              <a:rPr lang="ko-KR" altLang="en-US" sz="950" dirty="0">
                <a:latin typeface="Times New Roman" pitchFamily="18" charset="0"/>
                <a:ea typeface="LG Smart_H Regular" panose="020B0600000101010101" pitchFamily="34" charset="-127"/>
                <a:cs typeface="Times New Roman" pitchFamily="18" charset="0"/>
              </a:rPr>
              <a:t> </a:t>
            </a:r>
          </a:p>
        </p:txBody>
      </p:sp>
      <p:sp>
        <p:nvSpPr>
          <p:cNvPr id="110" name="Rectangle 44"/>
          <p:cNvSpPr>
            <a:spLocks noChangeArrowheads="1"/>
          </p:cNvSpPr>
          <p:nvPr/>
        </p:nvSpPr>
        <p:spPr bwMode="auto">
          <a:xfrm>
            <a:off x="3460784" y="4520952"/>
            <a:ext cx="3208575"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38. </a:t>
            </a:r>
            <a:r>
              <a:rPr lang="en-US" altLang="ko-KR" sz="950" dirty="0" err="1" smtClean="0">
                <a:latin typeface="Times New Roman" panose="02020603050405020304" pitchFamily="18" charset="0"/>
                <a:ea typeface="돋움" pitchFamily="50" charset="-127"/>
                <a:cs typeface="Times New Roman" panose="02020603050405020304" pitchFamily="18" charset="0"/>
              </a:rPr>
              <a:t>Nội</a:t>
            </a:r>
            <a:r>
              <a:rPr lang="en-US" altLang="ko-KR" sz="950" dirty="0" smtClean="0">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latin typeface="Times New Roman" panose="02020603050405020304" pitchFamily="18" charset="0"/>
                <a:ea typeface="돋움" pitchFamily="50" charset="-127"/>
                <a:cs typeface="Times New Roman" panose="02020603050405020304" pitchFamily="18" charset="0"/>
              </a:rPr>
              <a:t>sau</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giải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thích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về</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cái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gì</a:t>
            </a:r>
            <a:r>
              <a:rPr lang="en-US" altLang="ko-KR" sz="950" dirty="0" smtClean="0">
                <a:latin typeface="Times New Roman" panose="02020603050405020304" pitchFamily="18" charset="0"/>
                <a:ea typeface="돋움" pitchFamily="50" charset="-127"/>
                <a:cs typeface="Times New Roman" panose="02020603050405020304" pitchFamily="18" charset="0"/>
              </a:rPr>
              <a:t>?</a:t>
            </a:r>
            <a:endParaRPr lang="en-US" altLang="ko-KR" sz="95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dirty="0">
                <a:latin typeface="Times New Roman" panose="02020603050405020304" pitchFamily="18" charset="0"/>
                <a:ea typeface="돋움" pitchFamily="50" charset="-127"/>
                <a:cs typeface="Times New Roman" panose="02020603050405020304" pitchFamily="18" charset="0"/>
              </a:rPr>
              <a:t> [ </a:t>
            </a:r>
            <a:r>
              <a:rPr lang="en-US" altLang="ko-KR" sz="950" dirty="0" smtClean="0">
                <a:latin typeface="Times New Roman" panose="02020603050405020304" pitchFamily="18" charset="0"/>
                <a:ea typeface="돋움" pitchFamily="50" charset="-127"/>
                <a:cs typeface="Times New Roman" panose="02020603050405020304" pitchFamily="18" charset="0"/>
              </a:rPr>
              <a:t>Do </a:t>
            </a:r>
            <a:r>
              <a:rPr lang="en-US" altLang="ko-KR" sz="950" dirty="0" err="1" smtClean="0">
                <a:latin typeface="Times New Roman" panose="02020603050405020304" pitchFamily="18" charset="0"/>
                <a:ea typeface="돋움" pitchFamily="50" charset="-127"/>
                <a:cs typeface="Times New Roman" panose="02020603050405020304" pitchFamily="18" charset="0"/>
              </a:rPr>
              <a:t>chỉ</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dùng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để</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đọc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nên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không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thể</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thay</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đổi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nội</a:t>
            </a:r>
            <a:r>
              <a:rPr lang="en-US" altLang="ko-KR" sz="950" dirty="0" smtClean="0">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latin typeface="Times New Roman" panose="02020603050405020304" pitchFamily="18" charset="0"/>
                <a:ea typeface="돋움" pitchFamily="50" charset="-127"/>
                <a:cs typeface="Times New Roman" panose="02020603050405020304" pitchFamily="18" charset="0"/>
              </a:rPr>
              <a:t>bộ</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nhớ</a:t>
            </a:r>
            <a:r>
              <a:rPr lang="en-US" altLang="ko-KR" sz="950" dirty="0" smtClean="0">
                <a:latin typeface="Times New Roman" panose="02020603050405020304" pitchFamily="18" charset="0"/>
                <a:ea typeface="돋움" pitchFamily="50" charset="-127"/>
                <a:cs typeface="Times New Roman" panose="02020603050405020304" pitchFamily="18" charset="0"/>
              </a:rPr>
              <a:t>. Do </a:t>
            </a:r>
            <a:r>
              <a:rPr lang="en-US" altLang="ko-KR" sz="950" dirty="0" err="1" smtClean="0">
                <a:latin typeface="Times New Roman" panose="02020603050405020304" pitchFamily="18" charset="0"/>
                <a:ea typeface="돋움" pitchFamily="50" charset="-127"/>
                <a:cs typeface="Times New Roman" panose="02020603050405020304" pitchFamily="18" charset="0"/>
              </a:rPr>
              <a:t>đó</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những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thông</a:t>
            </a:r>
            <a:r>
              <a:rPr lang="en-US" altLang="ko-KR" sz="950" dirty="0" smtClean="0">
                <a:latin typeface="Times New Roman" panose="02020603050405020304" pitchFamily="18" charset="0"/>
                <a:ea typeface="돋움" pitchFamily="50" charset="-127"/>
                <a:cs typeface="Times New Roman" panose="02020603050405020304" pitchFamily="18" charset="0"/>
              </a:rPr>
              <a:t> tin </a:t>
            </a:r>
            <a:r>
              <a:rPr lang="en-US" altLang="ko-KR" sz="95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ghi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vào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cố</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định</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Đây</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là</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bộ</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nhớ</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bất</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biến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thông</a:t>
            </a:r>
            <a:r>
              <a:rPr lang="en-US" altLang="ko-KR" sz="950" dirty="0" smtClean="0">
                <a:latin typeface="Times New Roman" panose="02020603050405020304" pitchFamily="18" charset="0"/>
                <a:ea typeface="돋움" pitchFamily="50" charset="-127"/>
                <a:cs typeface="Times New Roman" panose="02020603050405020304" pitchFamily="18" charset="0"/>
              </a:rPr>
              <a:t> tin ở </a:t>
            </a:r>
            <a:r>
              <a:rPr lang="en-US" altLang="ko-KR" sz="950" dirty="0" err="1" smtClean="0">
                <a:latin typeface="Times New Roman" panose="02020603050405020304" pitchFamily="18" charset="0"/>
                <a:ea typeface="돋움" pitchFamily="50" charset="-127"/>
                <a:cs typeface="Times New Roman" panose="02020603050405020304" pitchFamily="18" charset="0"/>
              </a:rPr>
              <a:t>vùng</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nhớ</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này</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dù</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bị</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ngắt</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điện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nội</a:t>
            </a:r>
            <a:r>
              <a:rPr lang="en-US" altLang="ko-KR" sz="950" dirty="0" smtClean="0">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ghi</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nhớ</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vẫn</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dirty="0" err="1" smtClean="0">
                <a:latin typeface="Times New Roman" panose="02020603050405020304" pitchFamily="18" charset="0"/>
                <a:ea typeface="돋움" pitchFamily="50" charset="-127"/>
                <a:cs typeface="Times New Roman" panose="02020603050405020304" pitchFamily="18" charset="0"/>
              </a:rPr>
              <a:t>bảo</a:t>
            </a:r>
            <a:r>
              <a:rPr lang="en-US" altLang="ko-KR" sz="950" dirty="0" smtClean="0">
                <a:latin typeface="Times New Roman" panose="02020603050405020304" pitchFamily="18" charset="0"/>
                <a:ea typeface="돋움" pitchFamily="50" charset="-127"/>
                <a:cs typeface="Times New Roman" panose="02020603050405020304" pitchFamily="18" charset="0"/>
              </a:rPr>
              <a:t> </a:t>
            </a:r>
            <a:r>
              <a:rPr lang="en-US" altLang="ko-KR" sz="950" err="1" smtClean="0">
                <a:latin typeface="Times New Roman" panose="02020603050405020304" pitchFamily="18" charset="0"/>
                <a:ea typeface="돋움" pitchFamily="50" charset="-127"/>
                <a:cs typeface="Times New Roman" panose="02020603050405020304" pitchFamily="18" charset="0"/>
              </a:rPr>
              <a:t>toàn</a:t>
            </a:r>
            <a:r>
              <a:rPr lang="en-US" altLang="ko-KR" sz="950" smtClean="0">
                <a:latin typeface="Times New Roman" panose="02020603050405020304" pitchFamily="18" charset="0"/>
                <a:ea typeface="돋움" pitchFamily="50" charset="-127"/>
                <a:cs typeface="Times New Roman" panose="02020603050405020304" pitchFamily="18" charset="0"/>
              </a:rPr>
              <a:t>.]</a:t>
            </a:r>
            <a:endParaRPr lang="en-US" altLang="ko-KR" sz="95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buAutoNum type="alphaUcPeriod"/>
            </a:pPr>
            <a:r>
              <a:rPr lang="en-US" altLang="ko-KR" sz="950" smtClean="0">
                <a:latin typeface="Times New Roman" panose="02020603050405020304" pitchFamily="18" charset="0"/>
                <a:ea typeface="돋움" pitchFamily="50" charset="-127"/>
                <a:cs typeface="Times New Roman" panose="02020603050405020304" pitchFamily="18" charset="0"/>
              </a:rPr>
              <a:t>ROM  </a:t>
            </a:r>
          </a:p>
          <a:p>
            <a:pPr marL="228600" indent="-228600" eaLnBrk="1" hangingPunct="1">
              <a:buAutoNum type="alphaUcPeriod"/>
            </a:pPr>
            <a:r>
              <a:rPr lang="en-US" altLang="ko-KR" sz="950" smtClean="0">
                <a:latin typeface="Times New Roman" panose="02020603050405020304" pitchFamily="18" charset="0"/>
                <a:ea typeface="돋움" pitchFamily="50" charset="-127"/>
                <a:cs typeface="Times New Roman" panose="02020603050405020304" pitchFamily="18" charset="0"/>
              </a:rPr>
              <a:t>RAM  </a:t>
            </a:r>
          </a:p>
          <a:p>
            <a:pPr marL="228600" indent="-228600" eaLnBrk="1" hangingPunct="1">
              <a:buAutoNum type="alphaUcPeriod"/>
            </a:pPr>
            <a:r>
              <a:rPr lang="en-US" altLang="ko-KR" sz="950" smtClean="0">
                <a:latin typeface="Times New Roman" panose="02020603050405020304" pitchFamily="18" charset="0"/>
                <a:ea typeface="돋움" pitchFamily="50" charset="-127"/>
                <a:cs typeface="Times New Roman" panose="02020603050405020304" pitchFamily="18" charset="0"/>
              </a:rPr>
              <a:t>Program Memory</a:t>
            </a:r>
            <a:r>
              <a:rPr lang="ko-KR" altLang="en-US" sz="950" smtClean="0">
                <a:latin typeface="Times New Roman" panose="02020603050405020304" pitchFamily="18" charset="0"/>
                <a:ea typeface="돋움" pitchFamily="50" charset="-127"/>
                <a:cs typeface="Times New Roman" panose="02020603050405020304" pitchFamily="18" charset="0"/>
              </a:rPr>
              <a:t>  </a:t>
            </a:r>
            <a:endParaRPr lang="en-US" altLang="ko-KR" sz="950" smtClean="0">
              <a:latin typeface="Times New Roman" panose="02020603050405020304" pitchFamily="18" charset="0"/>
              <a:ea typeface="돋움" pitchFamily="50" charset="-127"/>
              <a:cs typeface="Times New Roman" panose="02020603050405020304" pitchFamily="18" charset="0"/>
            </a:endParaRPr>
          </a:p>
          <a:p>
            <a:pPr marL="228600" indent="-228600" eaLnBrk="1" hangingPunct="1">
              <a:buAutoNum type="alphaUcPeriod"/>
            </a:pPr>
            <a:r>
              <a:rPr lang="en-US" altLang="ko-KR" sz="950" smtClean="0">
                <a:latin typeface="Times New Roman" panose="02020603050405020304" pitchFamily="18" charset="0"/>
                <a:ea typeface="돋움" pitchFamily="50" charset="-127"/>
                <a:cs typeface="Times New Roman" panose="02020603050405020304" pitchFamily="18" charset="0"/>
              </a:rPr>
              <a:t>CPU</a:t>
            </a:r>
            <a:endParaRPr lang="ko-KR" altLang="en-US" sz="950" dirty="0">
              <a:latin typeface="Times New Roman" panose="02020603050405020304" pitchFamily="18" charset="0"/>
              <a:ea typeface="돋움" pitchFamily="50" charset="-127"/>
              <a:cs typeface="Times New Roman" panose="02020603050405020304" pitchFamily="18" charset="0"/>
            </a:endParaRPr>
          </a:p>
        </p:txBody>
      </p:sp>
      <p:sp>
        <p:nvSpPr>
          <p:cNvPr id="32" name="Rectangle 114"/>
          <p:cNvSpPr>
            <a:spLocks noChangeArrowheads="1"/>
          </p:cNvSpPr>
          <p:nvPr/>
        </p:nvSpPr>
        <p:spPr bwMode="auto">
          <a:xfrm>
            <a:off x="188640" y="4520952"/>
            <a:ext cx="3162299"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sz="950" smtClean="0">
                <a:latin typeface="Times New Roman" pitchFamily="18" charset="0"/>
                <a:ea typeface="LG Smart_H Regular" panose="020B0600000101010101" pitchFamily="34" charset="-127"/>
                <a:cs typeface="Times New Roman" pitchFamily="18" charset="0"/>
              </a:rPr>
              <a:t>33.   </a:t>
            </a:r>
            <a:r>
              <a:rPr lang="vi-VN" sz="950" smtClean="0">
                <a:latin typeface="Times New Roman" pitchFamily="18" charset="0"/>
                <a:ea typeface="LG Smart_H Regular" panose="020B0600000101010101" pitchFamily="34" charset="-127"/>
                <a:cs typeface="Times New Roman" pitchFamily="18" charset="0"/>
              </a:rPr>
              <a:t>Vai </a:t>
            </a:r>
            <a:r>
              <a:rPr lang="vi-VN" sz="950">
                <a:latin typeface="Times New Roman" pitchFamily="18" charset="0"/>
                <a:ea typeface="LG Smart_H Regular" panose="020B0600000101010101" pitchFamily="34" charset="-127"/>
                <a:cs typeface="Times New Roman" pitchFamily="18" charset="0"/>
              </a:rPr>
              <a:t>trò của việc truyền tín hiệu Bit từ thiết </a:t>
            </a:r>
            <a:r>
              <a:rPr lang="en-US" sz="950" smtClean="0">
                <a:latin typeface="Times New Roman" pitchFamily="18"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bị </a:t>
            </a:r>
            <a:r>
              <a:rPr lang="vi-VN" sz="950">
                <a:latin typeface="Times New Roman" pitchFamily="18" charset="0"/>
                <a:ea typeface="LG Smart_H Regular" panose="020B0600000101010101" pitchFamily="34" charset="-127"/>
                <a:cs typeface="Times New Roman" pitchFamily="18" charset="0"/>
              </a:rPr>
              <a:t>bên</a:t>
            </a:r>
            <a:r>
              <a:rPr lang="en-US" sz="950">
                <a:latin typeface="Times New Roman" pitchFamily="18"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ngoài </a:t>
            </a:r>
            <a:r>
              <a:rPr lang="vi-VN" sz="950">
                <a:latin typeface="Times New Roman" pitchFamily="18" charset="0"/>
                <a:ea typeface="LG Smart_H Regular" panose="020B0600000101010101" pitchFamily="34" charset="-127"/>
                <a:cs typeface="Times New Roman" pitchFamily="18" charset="0"/>
              </a:rPr>
              <a:t>đến phần tính toán của CPU là gì</a:t>
            </a:r>
            <a:r>
              <a:rPr lang="en-US" sz="95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đầu vào </a:t>
            </a:r>
            <a:r>
              <a:rPr lang="vi-VN" altLang="ko-KR" sz="950" smtClean="0">
                <a:latin typeface="Times New Roman" pitchFamily="18" charset="0"/>
                <a:ea typeface="LG Smart_H Regular" panose="020B0600000101010101" pitchFamily="34" charset="-127"/>
                <a:cs typeface="Times New Roman" pitchFamily="18" charset="0"/>
              </a:rPr>
              <a:t>Analog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  </a:t>
            </a:r>
            <a:r>
              <a:rPr lang="vi-VN" altLang="ko-KR" sz="950">
                <a:latin typeface="Times New Roman" pitchFamily="18" charset="0"/>
                <a:ea typeface="LG Smart_H Regular" panose="020B0600000101010101" pitchFamily="34" charset="-127"/>
                <a:cs typeface="Times New Roman" pitchFamily="18" charset="0"/>
              </a:rPr>
              <a:t>đầu ra </a:t>
            </a:r>
            <a:r>
              <a:rPr lang="vi-VN" altLang="ko-KR" sz="950" smtClean="0">
                <a:latin typeface="Times New Roman" pitchFamily="18" charset="0"/>
                <a:ea typeface="LG Smart_H Regular" panose="020B0600000101010101" pitchFamily="34" charset="-127"/>
                <a:cs typeface="Times New Roman" pitchFamily="18" charset="0"/>
              </a:rPr>
              <a:t>Digital</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 </a:t>
            </a:r>
            <a:r>
              <a:rPr lang="vi-VN" altLang="ko-KR" sz="950">
                <a:latin typeface="Times New Roman" pitchFamily="18" charset="0"/>
                <a:ea typeface="LG Smart_H Regular" panose="020B0600000101010101" pitchFamily="34" charset="-127"/>
                <a:cs typeface="Times New Roman" pitchFamily="18" charset="0"/>
              </a:rPr>
              <a:t>đầu ra </a:t>
            </a:r>
            <a:r>
              <a:rPr lang="en-US" altLang="ko-KR" sz="950">
                <a:latin typeface="Times New Roman" pitchFamily="18" charset="0"/>
                <a:ea typeface="LG Smart_H Regular" panose="020B0600000101010101" pitchFamily="34" charset="-127"/>
                <a:cs typeface="Times New Roman" pitchFamily="18" charset="0"/>
              </a:rPr>
              <a:t>Analog</a:t>
            </a:r>
            <a:r>
              <a:rPr lang="en-US" altLang="ko-KR" sz="950" smtClean="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đầu vào Digital</a:t>
            </a:r>
            <a:r>
              <a:rPr lang="en-US" altLang="ko-KR" sz="95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p:txBody>
      </p:sp>
      <p:grpSp>
        <p:nvGrpSpPr>
          <p:cNvPr id="33" name="Group 32"/>
          <p:cNvGrpSpPr/>
          <p:nvPr/>
        </p:nvGrpSpPr>
        <p:grpSpPr>
          <a:xfrm>
            <a:off x="159196" y="943923"/>
            <a:ext cx="3191526" cy="1846659"/>
            <a:chOff x="3315506" y="1044331"/>
            <a:chExt cx="3191526" cy="1846659"/>
          </a:xfrm>
        </p:grpSpPr>
        <p:sp>
          <p:nvSpPr>
            <p:cNvPr id="34" name="Rectangle 9"/>
            <p:cNvSpPr>
              <a:spLocks noChangeArrowheads="1"/>
            </p:cNvSpPr>
            <p:nvPr/>
          </p:nvSpPr>
          <p:spPr bwMode="auto">
            <a:xfrm>
              <a:off x="3475830" y="1429751"/>
              <a:ext cx="3025776" cy="8096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35" name="Line 10"/>
            <p:cNvSpPr>
              <a:spLocks noChangeShapeType="1"/>
            </p:cNvSpPr>
            <p:nvPr/>
          </p:nvSpPr>
          <p:spPr bwMode="auto">
            <a:xfrm>
              <a:off x="3822503"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6" name="Line 11"/>
            <p:cNvSpPr>
              <a:spLocks noChangeShapeType="1"/>
            </p:cNvSpPr>
            <p:nvPr/>
          </p:nvSpPr>
          <p:spPr bwMode="auto">
            <a:xfrm>
              <a:off x="4107382" y="1423639"/>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7" name="Line 12"/>
            <p:cNvSpPr>
              <a:spLocks noChangeShapeType="1"/>
            </p:cNvSpPr>
            <p:nvPr/>
          </p:nvSpPr>
          <p:spPr bwMode="auto">
            <a:xfrm>
              <a:off x="4467745" y="1423639"/>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8" name="Line 13"/>
            <p:cNvSpPr>
              <a:spLocks noChangeShapeType="1"/>
            </p:cNvSpPr>
            <p:nvPr/>
          </p:nvSpPr>
          <p:spPr bwMode="auto">
            <a:xfrm>
              <a:off x="481278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9" name="Line 14"/>
            <p:cNvSpPr>
              <a:spLocks noChangeShapeType="1"/>
            </p:cNvSpPr>
            <p:nvPr/>
          </p:nvSpPr>
          <p:spPr bwMode="auto">
            <a:xfrm>
              <a:off x="5120761"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0" name="Line 21"/>
            <p:cNvSpPr>
              <a:spLocks noChangeShapeType="1"/>
            </p:cNvSpPr>
            <p:nvPr/>
          </p:nvSpPr>
          <p:spPr bwMode="auto">
            <a:xfrm>
              <a:off x="547953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1" name="Line 23"/>
            <p:cNvSpPr>
              <a:spLocks noChangeShapeType="1"/>
            </p:cNvSpPr>
            <p:nvPr/>
          </p:nvSpPr>
          <p:spPr bwMode="auto">
            <a:xfrm>
              <a:off x="582878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2" name="Line 26"/>
            <p:cNvSpPr>
              <a:spLocks noChangeShapeType="1"/>
            </p:cNvSpPr>
            <p:nvPr/>
          </p:nvSpPr>
          <p:spPr bwMode="auto">
            <a:xfrm>
              <a:off x="6179624"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3" name="Text Box 15"/>
            <p:cNvSpPr txBox="1">
              <a:spLocks noChangeArrowheads="1"/>
            </p:cNvSpPr>
            <p:nvPr/>
          </p:nvSpPr>
          <p:spPr bwMode="auto">
            <a:xfrm>
              <a:off x="3329770" y="1413252"/>
              <a:ext cx="474663" cy="106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latin typeface="Times New Roman" pitchFamily="18" charset="0"/>
                  <a:cs typeface="Times New Roman" pitchFamily="18" charset="0"/>
                </a:rPr>
                <a:t>UNIT</a:t>
              </a:r>
              <a:r>
                <a:rPr lang="vi-VN" altLang="ko-KR" sz="800" smtClean="0">
                  <a:latin typeface="Times New Roman" pitchFamily="18" charset="0"/>
                  <a:cs typeface="Times New Roman" pitchFamily="18" charset="0"/>
                </a:rPr>
                <a:t> ngu</a:t>
              </a:r>
              <a:r>
                <a:rPr lang="en-US" altLang="ko-KR" sz="800" smtClean="0">
                  <a:latin typeface="Times New Roman" pitchFamily="18" charset="0"/>
                  <a:cs typeface="Times New Roman" pitchFamily="18" charset="0"/>
                </a:rPr>
                <a:t>ồ</a:t>
              </a:r>
              <a:r>
                <a:rPr lang="vi-VN" altLang="ko-KR" sz="800" smtClean="0">
                  <a:latin typeface="Times New Roman" pitchFamily="18" charset="0"/>
                  <a:cs typeface="Times New Roman" pitchFamily="18" charset="0"/>
                </a:rPr>
                <a:t>n </a:t>
              </a:r>
              <a:r>
                <a:rPr lang="vi-VN" altLang="ko-KR" sz="800" dirty="0" smtClean="0">
                  <a:latin typeface="Times New Roman" pitchFamily="18" charset="0"/>
                  <a:cs typeface="Times New Roman" pitchFamily="18" charset="0"/>
                </a:rPr>
                <a:t>điện</a:t>
              </a:r>
              <a:endParaRPr lang="en-US" altLang="ko-KR" sz="800" dirty="0" smtClean="0">
                <a:latin typeface="Times New Roman" pitchFamily="18" charset="0"/>
                <a:cs typeface="Times New Roman" pitchFamily="18" charset="0"/>
              </a:endParaRPr>
            </a:p>
          </p:txBody>
        </p:sp>
        <p:sp>
          <p:nvSpPr>
            <p:cNvPr id="44" name="Text Box 16"/>
            <p:cNvSpPr txBox="1">
              <a:spLocks noChangeArrowheads="1"/>
            </p:cNvSpPr>
            <p:nvPr/>
          </p:nvSpPr>
          <p:spPr bwMode="auto">
            <a:xfrm>
              <a:off x="3698357" y="1464126"/>
              <a:ext cx="428625"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CPU</a:t>
              </a:r>
            </a:p>
          </p:txBody>
        </p:sp>
        <p:sp>
          <p:nvSpPr>
            <p:cNvPr id="45" name="Text Box 17"/>
            <p:cNvSpPr txBox="1">
              <a:spLocks noChangeArrowheads="1"/>
            </p:cNvSpPr>
            <p:nvPr/>
          </p:nvSpPr>
          <p:spPr bwMode="auto">
            <a:xfrm>
              <a:off x="3971506" y="1459615"/>
              <a:ext cx="482600"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QX41</a:t>
              </a:r>
            </a:p>
          </p:txBody>
        </p:sp>
        <p:sp>
          <p:nvSpPr>
            <p:cNvPr id="46" name="Text Box 18"/>
            <p:cNvSpPr txBox="1">
              <a:spLocks noChangeArrowheads="1"/>
            </p:cNvSpPr>
            <p:nvPr/>
          </p:nvSpPr>
          <p:spPr bwMode="auto">
            <a:xfrm>
              <a:off x="4677842" y="1454600"/>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QX41</a:t>
              </a:r>
            </a:p>
          </p:txBody>
        </p:sp>
        <p:sp>
          <p:nvSpPr>
            <p:cNvPr id="47" name="Text Box 19"/>
            <p:cNvSpPr txBox="1">
              <a:spLocks noChangeArrowheads="1"/>
            </p:cNvSpPr>
            <p:nvPr/>
          </p:nvSpPr>
          <p:spPr bwMode="auto">
            <a:xfrm>
              <a:off x="4323826" y="1459363"/>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QY42</a:t>
              </a:r>
            </a:p>
          </p:txBody>
        </p:sp>
        <p:sp>
          <p:nvSpPr>
            <p:cNvPr id="48" name="Text Box 20"/>
            <p:cNvSpPr txBox="1">
              <a:spLocks noChangeArrowheads="1"/>
            </p:cNvSpPr>
            <p:nvPr/>
          </p:nvSpPr>
          <p:spPr bwMode="auto">
            <a:xfrm>
              <a:off x="5001058" y="1438133"/>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QY42</a:t>
              </a:r>
            </a:p>
          </p:txBody>
        </p:sp>
        <p:sp>
          <p:nvSpPr>
            <p:cNvPr id="49" name="Text Box 22"/>
            <p:cNvSpPr txBox="1">
              <a:spLocks noChangeArrowheads="1"/>
            </p:cNvSpPr>
            <p:nvPr/>
          </p:nvSpPr>
          <p:spPr bwMode="auto">
            <a:xfrm>
              <a:off x="5674551" y="1434959"/>
              <a:ext cx="504825" cy="80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err="1" smtClean="0">
                  <a:latin typeface="Times New Roman" pitchFamily="18" charset="0"/>
                  <a:cs typeface="Times New Roman" pitchFamily="18" charset="0"/>
                </a:rPr>
                <a:t>Slo</a:t>
              </a:r>
              <a:r>
                <a:rPr lang="vi-VN" altLang="ko-KR" sz="950" smtClean="0">
                  <a:latin typeface="Times New Roman" pitchFamily="18" charset="0"/>
                  <a:cs typeface="Times New Roman" pitchFamily="18" charset="0"/>
                </a:rPr>
                <a:t>t</a:t>
              </a:r>
              <a:r>
                <a:rPr lang="en-US" altLang="ko-KR" sz="950" smtClean="0">
                  <a:latin typeface="Times New Roman" pitchFamily="18" charset="0"/>
                  <a:cs typeface="Times New Roman" pitchFamily="18" charset="0"/>
                </a:rPr>
                <a:t> </a:t>
              </a:r>
              <a:r>
                <a:rPr lang="vi-VN" altLang="ko-KR" sz="950" smtClean="0">
                  <a:latin typeface="Times New Roman" pitchFamily="18" charset="0"/>
                  <a:cs typeface="Times New Roman" pitchFamily="18" charset="0"/>
                </a:rPr>
                <a:t>trống</a:t>
              </a:r>
              <a:endParaRPr lang="en-US" altLang="ko-KR" sz="950" dirty="0" smtClean="0">
                <a:latin typeface="Times New Roman" pitchFamily="18" charset="0"/>
                <a:cs typeface="Times New Roman" pitchFamily="18" charset="0"/>
              </a:endParaRPr>
            </a:p>
          </p:txBody>
        </p:sp>
        <p:sp>
          <p:nvSpPr>
            <p:cNvPr id="50" name="Text Box 24"/>
            <p:cNvSpPr txBox="1">
              <a:spLocks noChangeArrowheads="1"/>
            </p:cNvSpPr>
            <p:nvPr/>
          </p:nvSpPr>
          <p:spPr bwMode="auto">
            <a:xfrm>
              <a:off x="5426513" y="1437884"/>
              <a:ext cx="409575" cy="838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Q64AD</a:t>
              </a:r>
            </a:p>
            <a:p>
              <a:pPr eaLnBrk="1" fontAlgn="base" hangingPunct="1">
                <a:spcBef>
                  <a:spcPct val="0"/>
                </a:spcBef>
                <a:spcAft>
                  <a:spcPct val="0"/>
                </a:spcAft>
              </a:pPr>
              <a:r>
                <a:rPr lang="en-US" altLang="ko-KR" sz="950" smtClean="0">
                  <a:latin typeface="Times New Roman" pitchFamily="18" charset="0"/>
                  <a:cs typeface="Times New Roman" pitchFamily="18" charset="0"/>
                </a:rPr>
                <a:t>   </a:t>
              </a:r>
            </a:p>
          </p:txBody>
        </p:sp>
        <p:sp>
          <p:nvSpPr>
            <p:cNvPr id="51" name="Text Box 25"/>
            <p:cNvSpPr txBox="1">
              <a:spLocks noChangeArrowheads="1"/>
            </p:cNvSpPr>
            <p:nvPr/>
          </p:nvSpPr>
          <p:spPr bwMode="auto">
            <a:xfrm>
              <a:off x="6032369" y="1433212"/>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QX40</a:t>
              </a:r>
            </a:p>
          </p:txBody>
        </p:sp>
        <p:sp>
          <p:nvSpPr>
            <p:cNvPr id="52" name="Rectangle 38"/>
            <p:cNvSpPr>
              <a:spLocks noChangeArrowheads="1"/>
            </p:cNvSpPr>
            <p:nvPr/>
          </p:nvSpPr>
          <p:spPr bwMode="auto">
            <a:xfrm>
              <a:off x="6065706" y="1772048"/>
              <a:ext cx="431800" cy="46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 )</a:t>
              </a:r>
            </a:p>
          </p:txBody>
        </p:sp>
        <p:sp>
          <p:nvSpPr>
            <p:cNvPr id="53" name="Rectangle 116"/>
            <p:cNvSpPr>
              <a:spLocks noChangeArrowheads="1"/>
            </p:cNvSpPr>
            <p:nvPr/>
          </p:nvSpPr>
          <p:spPr bwMode="auto">
            <a:xfrm>
              <a:off x="3315506" y="1044331"/>
              <a:ext cx="312578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71450" indent="-171450" eaLnBrk="1" fontAlgn="base" hangingPunct="1">
                <a:spcBef>
                  <a:spcPct val="0"/>
                </a:spcBef>
                <a:spcAft>
                  <a:spcPct val="0"/>
                </a:spcAft>
                <a:buFont typeface="Wingdings" panose="05000000000000000000" pitchFamily="2" charset="2"/>
                <a:buChar char="v"/>
              </a:pPr>
              <a:r>
                <a:rPr lang="en-US" altLang="ko-KR" sz="950" smtClean="0">
                  <a:latin typeface="Times New Roman" pitchFamily="18" charset="0"/>
                  <a:ea typeface="LG Smart_H Regular" panose="020B0600000101010101" pitchFamily="34" charset="-127"/>
                  <a:cs typeface="Times New Roman" pitchFamily="18" charset="0"/>
                </a:rPr>
                <a:t>Cho </a:t>
              </a: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dirty="0">
                  <a:latin typeface="Times New Roman" pitchFamily="18" charset="0"/>
                  <a:ea typeface="LG Smart_H Regular" panose="020B0600000101010101" pitchFamily="34" charset="-127"/>
                  <a:cs typeface="Times New Roman" pitchFamily="18" charset="0"/>
                </a:rPr>
                <a:t>KIT </a:t>
              </a:r>
              <a:r>
                <a:rPr lang="vi-VN" altLang="ko-KR" sz="950">
                  <a:latin typeface="Times New Roman" pitchFamily="18" charset="0"/>
                  <a:ea typeface="LG Smart_H Regular" panose="020B0600000101010101" pitchFamily="34" charset="-127"/>
                  <a:cs typeface="Times New Roman" pitchFamily="18" charset="0"/>
                </a:rPr>
                <a:t>dưới </a:t>
              </a:r>
              <a:r>
                <a:rPr lang="vi-VN" altLang="ko-KR" sz="950" smtClean="0">
                  <a:latin typeface="Times New Roman" pitchFamily="18" charset="0"/>
                  <a:ea typeface="LG Smart_H Regular" panose="020B0600000101010101" pitchFamily="34" charset="-127"/>
                  <a:cs typeface="Times New Roman" pitchFamily="18" charset="0"/>
                </a:rPr>
                <a:t>đây.</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Hãy </a:t>
              </a:r>
              <a:r>
                <a:rPr lang="vi-VN" altLang="ko-KR" sz="950" dirty="0">
                  <a:latin typeface="Times New Roman" pitchFamily="18" charset="0"/>
                  <a:ea typeface="LG Smart_H Regular" panose="020B0600000101010101" pitchFamily="34" charset="-127"/>
                  <a:cs typeface="Times New Roman" pitchFamily="18" charset="0"/>
                </a:rPr>
                <a:t>trả lời các </a:t>
              </a:r>
              <a:r>
                <a:rPr lang="vi-VN" altLang="ko-KR" sz="950">
                  <a:latin typeface="Times New Roman" pitchFamily="18" charset="0"/>
                  <a:ea typeface="LG Smart_H Regular" panose="020B0600000101010101" pitchFamily="34" charset="-127"/>
                  <a:cs typeface="Times New Roman" pitchFamily="18" charset="0"/>
                </a:rPr>
                <a:t>câu </a:t>
              </a:r>
              <a:r>
                <a:rPr lang="vi-VN" altLang="ko-KR" sz="950" smtClean="0">
                  <a:latin typeface="Times New Roman" pitchFamily="18" charset="0"/>
                  <a:ea typeface="LG Smart_H Regular" panose="020B0600000101010101" pitchFamily="34" charset="-127"/>
                  <a:cs typeface="Times New Roman" pitchFamily="18" charset="0"/>
                </a:rPr>
                <a:t>hỏi</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171450" indent="-17145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31.   Address</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dirty="0">
                  <a:latin typeface="Times New Roman" pitchFamily="18" charset="0"/>
                  <a:ea typeface="LG Smart_H Regular" panose="020B0600000101010101" pitchFamily="34" charset="-127"/>
                  <a:cs typeface="Times New Roman" pitchFamily="18" charset="0"/>
                </a:rPr>
                <a:t>cuối cùng tại dấu chấm hỏi </a:t>
              </a:r>
              <a:r>
                <a:rPr lang="en-US" altLang="ko-KR" sz="950" dirty="0">
                  <a:latin typeface="Times New Roman" pitchFamily="18" charset="0"/>
                  <a:ea typeface="LG Smart_H Regular" panose="020B0600000101010101" pitchFamily="34" charset="-127"/>
                  <a:cs typeface="Times New Roman" pitchFamily="18" charset="0"/>
                </a:rPr>
                <a:t>( ? )</a:t>
              </a:r>
              <a:r>
                <a:rPr lang="vi-VN" altLang="ko-KR" sz="950" dirty="0">
                  <a:latin typeface="Times New Roman" pitchFamily="18" charset="0"/>
                  <a:ea typeface="LG Smart_H Regular" panose="020B0600000101010101" pitchFamily="34" charset="-127"/>
                  <a:cs typeface="Times New Roman" pitchFamily="18" charset="0"/>
                </a:rPr>
                <a:t> trog cấu tạo của PLC trên </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CF         B.  FF         C.  DF         D.  EF</a:t>
              </a:r>
              <a:endParaRPr lang="en-US" altLang="ko-KR" sz="950" dirty="0">
                <a:latin typeface="Times New Roman" pitchFamily="18" charset="0"/>
                <a:ea typeface="LG Smart_H Regular" panose="020B0600000101010101" pitchFamily="34" charset="-127"/>
                <a:cs typeface="Times New Roman" pitchFamily="18" charset="0"/>
              </a:endParaRPr>
            </a:p>
          </p:txBody>
        </p:sp>
      </p:grpSp>
      <p:sp>
        <p:nvSpPr>
          <p:cNvPr id="54" name="Rectangle 115"/>
          <p:cNvSpPr>
            <a:spLocks noChangeArrowheads="1"/>
          </p:cNvSpPr>
          <p:nvPr/>
        </p:nvSpPr>
        <p:spPr bwMode="auto">
          <a:xfrm>
            <a:off x="188640" y="6278468"/>
            <a:ext cx="325306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0" hangingPunct="1">
              <a:spcBef>
                <a:spcPct val="0"/>
              </a:spcBef>
              <a:spcAft>
                <a:spcPct val="0"/>
              </a:spcAft>
            </a:pPr>
            <a:r>
              <a:rPr lang="en-US" altLang="ko-KR" smtClean="0">
                <a:latin typeface="Times New Roman" pitchFamily="18" charset="0"/>
                <a:ea typeface="LG Smart_H Regular" panose="020B0600000101010101" pitchFamily="34" charset="-127"/>
                <a:cs typeface="Times New Roman" pitchFamily="18" charset="0"/>
              </a:rPr>
              <a:t>34.   </a:t>
            </a:r>
            <a:r>
              <a:rPr lang="vi-VN" altLang="ko-KR" dirty="0">
                <a:latin typeface="Times New Roman" pitchFamily="18" charset="0"/>
                <a:ea typeface="LG Smart_H Regular" panose="020B0600000101010101" pitchFamily="34" charset="-127"/>
                <a:cs typeface="Times New Roman" pitchFamily="18" charset="0"/>
              </a:rPr>
              <a:t>Điều gì đúng khi giải thích về </a:t>
            </a:r>
            <a:r>
              <a:rPr lang="en-US" altLang="ko-KR" dirty="0">
                <a:latin typeface="Times New Roman" pitchFamily="18" charset="0"/>
                <a:ea typeface="LG Smart_H Regular" panose="020B0600000101010101" pitchFamily="34" charset="-127"/>
                <a:cs typeface="Times New Roman" pitchFamily="18" charset="0"/>
              </a:rPr>
              <a:t>DEVICE "Y</a:t>
            </a:r>
            <a:r>
              <a:rPr lang="vi-VN" altLang="ko-KR" dirty="0">
                <a:latin typeface="Times New Roman" pitchFamily="18" charset="0"/>
                <a:ea typeface="LG Smart_H Regular" panose="020B0600000101010101" pitchFamily="34" charset="-127"/>
                <a:cs typeface="Times New Roman" pitchFamily="18" charset="0"/>
              </a:rPr>
              <a:t>’’ đầu ra</a:t>
            </a:r>
            <a:r>
              <a:rPr lang="en-US" altLang="ko-KR">
                <a:latin typeface="Times New Roman" pitchFamily="18" charset="0"/>
                <a:ea typeface="LG Smart_H Regular" panose="020B0600000101010101" pitchFamily="34" charset="-127"/>
                <a:cs typeface="Times New Roman" pitchFamily="18" charset="0"/>
              </a:rPr>
              <a:t>?   </a:t>
            </a:r>
            <a:endParaRPr lang="en-US" altLang="ko-KR" dirty="0">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endParaRPr lang="en-US" altLang="ko-KR" smtClean="0">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mtClean="0">
                <a:latin typeface="Times New Roman" pitchFamily="18" charset="0"/>
                <a:ea typeface="LG Smart_H Regular" panose="020B0600000101010101" pitchFamily="34" charset="-127"/>
                <a:cs typeface="Times New Roman" pitchFamily="18" charset="0"/>
              </a:rPr>
              <a:t>Là </a:t>
            </a:r>
            <a:r>
              <a:rPr lang="en-US" altLang="ko-KR" dirty="0">
                <a:latin typeface="Times New Roman" pitchFamily="18" charset="0"/>
                <a:ea typeface="LG Smart_H Regular" panose="020B0600000101010101" pitchFamily="34" charset="-127"/>
                <a:cs typeface="Times New Roman" pitchFamily="18" charset="0"/>
              </a:rPr>
              <a:t>DEVICE</a:t>
            </a:r>
            <a:r>
              <a:rPr lang="vi-VN" dirty="0">
                <a:latin typeface="Times New Roman" pitchFamily="18" charset="0"/>
                <a:ea typeface="LG Smart_H Regular" panose="020B0600000101010101" pitchFamily="34" charset="-127"/>
                <a:cs typeface="Times New Roman" pitchFamily="18" charset="0"/>
              </a:rPr>
              <a:t> lưu trữ / xuất dữ liệu đưa kết quả </a:t>
            </a:r>
            <a:r>
              <a:rPr lang="vi-VN">
                <a:latin typeface="Times New Roman" pitchFamily="18" charset="0"/>
                <a:ea typeface="LG Smart_H Regular" panose="020B0600000101010101" pitchFamily="34" charset="-127"/>
                <a:cs typeface="Times New Roman" pitchFamily="18" charset="0"/>
              </a:rPr>
              <a:t>hoạt </a:t>
            </a:r>
            <a:r>
              <a:rPr lang="vi-VN" smtClean="0">
                <a:latin typeface="Times New Roman" pitchFamily="18" charset="0"/>
                <a:ea typeface="LG Smart_H Regular" panose="020B0600000101010101" pitchFamily="34" charset="-127"/>
                <a:cs typeface="Times New Roman" pitchFamily="18" charset="0"/>
              </a:rPr>
              <a:t>động</a:t>
            </a:r>
            <a:r>
              <a:rPr lang="en-US">
                <a:latin typeface="Times New Roman" pitchFamily="18" charset="0"/>
                <a:ea typeface="LG Smart_H Regular" panose="020B0600000101010101" pitchFamily="34" charset="-127"/>
                <a:cs typeface="Times New Roman" pitchFamily="18" charset="0"/>
              </a:rPr>
              <a:t> </a:t>
            </a:r>
            <a:r>
              <a:rPr lang="vi-VN" smtClean="0">
                <a:latin typeface="Times New Roman" pitchFamily="18" charset="0"/>
                <a:ea typeface="LG Smart_H Regular" panose="020B0600000101010101" pitchFamily="34" charset="-127"/>
                <a:cs typeface="Times New Roman" pitchFamily="18" charset="0"/>
              </a:rPr>
              <a:t>đến </a:t>
            </a:r>
            <a:r>
              <a:rPr lang="vi-VN" dirty="0">
                <a:latin typeface="Times New Roman" pitchFamily="18" charset="0"/>
                <a:ea typeface="LG Smart_H Regular" panose="020B0600000101010101" pitchFamily="34" charset="-127"/>
                <a:cs typeface="Times New Roman" pitchFamily="18" charset="0"/>
              </a:rPr>
              <a:t>thiết bị đầu ra được kết nối với bộ đầu </a:t>
            </a:r>
            <a:r>
              <a:rPr lang="vi-VN">
                <a:latin typeface="Times New Roman" pitchFamily="18" charset="0"/>
                <a:ea typeface="LG Smart_H Regular" panose="020B0600000101010101" pitchFamily="34" charset="-127"/>
                <a:cs typeface="Times New Roman" pitchFamily="18" charset="0"/>
              </a:rPr>
              <a:t>ra </a:t>
            </a:r>
            <a:r>
              <a:rPr lang="vi-VN" smtClean="0">
                <a:latin typeface="Times New Roman" pitchFamily="18" charset="0"/>
                <a:ea typeface="LG Smart_H Regular" panose="020B0600000101010101" pitchFamily="34" charset="-127"/>
                <a:cs typeface="Times New Roman" pitchFamily="18" charset="0"/>
              </a:rPr>
              <a:t>PLC</a:t>
            </a:r>
            <a:endParaRPr lang="en-US" smtClean="0">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smtClean="0">
                <a:latin typeface="Times New Roman" pitchFamily="18" charset="0"/>
                <a:ea typeface="LG Smart_H Regular" panose="020B0600000101010101" pitchFamily="34" charset="-127"/>
                <a:cs typeface="Times New Roman" pitchFamily="18" charset="0"/>
              </a:rPr>
              <a:t>Kết </a:t>
            </a:r>
            <a:r>
              <a:rPr lang="vi-VN" dirty="0">
                <a:latin typeface="Times New Roman" pitchFamily="18" charset="0"/>
                <a:ea typeface="LG Smart_H Regular" panose="020B0600000101010101" pitchFamily="34" charset="-127"/>
                <a:cs typeface="Times New Roman" pitchFamily="18" charset="0"/>
              </a:rPr>
              <a:t>quả được tạo ra trong quá trình hoạt </a:t>
            </a:r>
            <a:r>
              <a:rPr lang="vi-VN">
                <a:latin typeface="Times New Roman" pitchFamily="18" charset="0"/>
                <a:ea typeface="LG Smart_H Regular" panose="020B0600000101010101" pitchFamily="34" charset="-127"/>
                <a:cs typeface="Times New Roman" pitchFamily="18" charset="0"/>
              </a:rPr>
              <a:t>động </a:t>
            </a:r>
            <a:r>
              <a:rPr lang="vi-VN" smtClean="0">
                <a:latin typeface="Times New Roman" pitchFamily="18" charset="0"/>
                <a:ea typeface="LG Smart_H Regular" panose="020B0600000101010101" pitchFamily="34" charset="-127"/>
                <a:cs typeface="Times New Roman" pitchFamily="18" charset="0"/>
              </a:rPr>
              <a:t>của</a:t>
            </a:r>
            <a:r>
              <a:rPr lang="en-US">
                <a:latin typeface="Times New Roman" pitchFamily="18" charset="0"/>
                <a:ea typeface="LG Smart_H Regular" panose="020B0600000101010101" pitchFamily="34" charset="-127"/>
                <a:cs typeface="Times New Roman" pitchFamily="18" charset="0"/>
              </a:rPr>
              <a:t> </a:t>
            </a:r>
            <a:r>
              <a:rPr lang="en-US" smtClean="0">
                <a:latin typeface="Times New Roman" pitchFamily="18" charset="0"/>
                <a:ea typeface="LG Smart_H Regular" panose="020B0600000101010101" pitchFamily="34" charset="-127"/>
                <a:cs typeface="Times New Roman" pitchFamily="18" charset="0"/>
              </a:rPr>
              <a:t>c</a:t>
            </a:r>
            <a:r>
              <a:rPr lang="vi-VN" smtClean="0">
                <a:latin typeface="Times New Roman" pitchFamily="18" charset="0"/>
                <a:ea typeface="LG Smart_H Regular" panose="020B0600000101010101" pitchFamily="34" charset="-127"/>
                <a:cs typeface="Times New Roman" pitchFamily="18" charset="0"/>
              </a:rPr>
              <a:t>hương </a:t>
            </a:r>
            <a:r>
              <a:rPr lang="vi-VN" dirty="0">
                <a:latin typeface="Times New Roman" pitchFamily="18" charset="0"/>
                <a:ea typeface="LG Smart_H Regular" panose="020B0600000101010101" pitchFamily="34" charset="-127"/>
                <a:cs typeface="Times New Roman" pitchFamily="18" charset="0"/>
              </a:rPr>
              <a:t>trình chính được lưu trong vùng </a:t>
            </a:r>
            <a:r>
              <a:rPr lang="vi-VN">
                <a:latin typeface="Times New Roman" pitchFamily="18" charset="0"/>
                <a:ea typeface="LG Smart_H Regular" panose="020B0600000101010101" pitchFamily="34" charset="-127"/>
                <a:cs typeface="Times New Roman" pitchFamily="18" charset="0"/>
              </a:rPr>
              <a:t>đầu </a:t>
            </a:r>
            <a:r>
              <a:rPr lang="vi-VN" smtClean="0">
                <a:latin typeface="Times New Roman" pitchFamily="18" charset="0"/>
                <a:ea typeface="LG Smart_H Regular" panose="020B0600000101010101" pitchFamily="34" charset="-127"/>
                <a:cs typeface="Times New Roman" pitchFamily="18" charset="0"/>
              </a:rPr>
              <a:t>ra</a:t>
            </a:r>
            <a:endParaRPr lang="en-US" smtClean="0">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smtClean="0">
                <a:latin typeface="Times New Roman" pitchFamily="18" charset="0"/>
                <a:ea typeface="LG Smart_H Regular" panose="020B0600000101010101" pitchFamily="34" charset="-127"/>
                <a:cs typeface="Times New Roman" pitchFamily="18" charset="0"/>
              </a:rPr>
              <a:t>Y </a:t>
            </a:r>
            <a:r>
              <a:rPr lang="vi-VN" dirty="0">
                <a:latin typeface="Times New Roman" pitchFamily="18" charset="0"/>
                <a:ea typeface="LG Smart_H Regular" panose="020B0600000101010101" pitchFamily="34" charset="-127"/>
                <a:cs typeface="Times New Roman" pitchFamily="18" charset="0"/>
              </a:rPr>
              <a:t>không thể được sử dụng làm tiếp </a:t>
            </a:r>
            <a:r>
              <a:rPr lang="vi-VN">
                <a:latin typeface="Times New Roman" pitchFamily="18" charset="0"/>
                <a:ea typeface="LG Smart_H Regular" panose="020B0600000101010101" pitchFamily="34" charset="-127"/>
                <a:cs typeface="Times New Roman" pitchFamily="18" charset="0"/>
              </a:rPr>
              <a:t>điểm </a:t>
            </a:r>
            <a:r>
              <a:rPr lang="vi-VN" smtClean="0">
                <a:latin typeface="Times New Roman" pitchFamily="18" charset="0"/>
                <a:ea typeface="LG Smart_H Regular" panose="020B0600000101010101" pitchFamily="34" charset="-127"/>
                <a:cs typeface="Times New Roman" pitchFamily="18" charset="0"/>
              </a:rPr>
              <a:t>trong chương</a:t>
            </a:r>
            <a:r>
              <a:rPr lang="en-US">
                <a:latin typeface="Times New Roman" pitchFamily="18" charset="0"/>
                <a:ea typeface="LG Smart_H Regular" panose="020B0600000101010101" pitchFamily="34" charset="-127"/>
                <a:cs typeface="Times New Roman" pitchFamily="18" charset="0"/>
              </a:rPr>
              <a:t> </a:t>
            </a:r>
            <a:r>
              <a:rPr lang="en-US" smtClean="0">
                <a:latin typeface="Times New Roman" pitchFamily="18" charset="0"/>
                <a:ea typeface="LG Smart_H Regular" panose="020B0600000101010101" pitchFamily="34" charset="-127"/>
                <a:cs typeface="Times New Roman" pitchFamily="18" charset="0"/>
              </a:rPr>
              <a:t>t</a:t>
            </a:r>
            <a:r>
              <a:rPr lang="vi-VN" smtClean="0">
                <a:latin typeface="Times New Roman" pitchFamily="18" charset="0"/>
                <a:ea typeface="LG Smart_H Regular" panose="020B0600000101010101" pitchFamily="34" charset="-127"/>
                <a:cs typeface="Times New Roman" pitchFamily="18" charset="0"/>
              </a:rPr>
              <a:t>rình</a:t>
            </a:r>
            <a:endParaRPr lang="en-US" smtClean="0">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mtClean="0">
                <a:latin typeface="Times New Roman" pitchFamily="18" charset="0"/>
                <a:ea typeface="LG Smart_H Regular" panose="020B0600000101010101" pitchFamily="34" charset="-127"/>
                <a:cs typeface="Times New Roman" pitchFamily="18" charset="0"/>
              </a:rPr>
              <a:t>Khi </a:t>
            </a:r>
            <a:r>
              <a:rPr lang="vi-VN" altLang="ko-KR" dirty="0">
                <a:latin typeface="Times New Roman" pitchFamily="18" charset="0"/>
                <a:ea typeface="LG Smart_H Regular" panose="020B0600000101010101" pitchFamily="34" charset="-127"/>
                <a:cs typeface="Times New Roman" pitchFamily="18" charset="0"/>
              </a:rPr>
              <a:t>sử dụng Relay M bên trong Y có khả năng duy trì tĩnh điện</a:t>
            </a:r>
            <a:endParaRPr lang="ko-KR" altLang="en-US" dirty="0">
              <a:latin typeface="Times New Roman" pitchFamily="18" charset="0"/>
              <a:ea typeface="LG Smart_H Regular" panose="020B0600000101010101" pitchFamily="34" charset="-127"/>
              <a:cs typeface="Times New Roman" pitchFamily="18" charset="0"/>
            </a:endParaRPr>
          </a:p>
        </p:txBody>
      </p:sp>
      <p:sp>
        <p:nvSpPr>
          <p:cNvPr id="55" name="Rectangle 217"/>
          <p:cNvSpPr>
            <a:spLocks noChangeArrowheads="1"/>
          </p:cNvSpPr>
          <p:nvPr/>
        </p:nvSpPr>
        <p:spPr bwMode="auto">
          <a:xfrm>
            <a:off x="188640" y="8015952"/>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sz="950" smtClean="0">
                <a:latin typeface="Times New Roman" pitchFamily="18" charset="0"/>
                <a:ea typeface="LG Smart_H Regular" panose="020B0600000101010101" pitchFamily="34" charset="-127"/>
                <a:cs typeface="Times New Roman" pitchFamily="18" charset="0"/>
              </a:rPr>
              <a:t>35.   </a:t>
            </a:r>
            <a:r>
              <a:rPr lang="vi-VN" sz="950" smtClean="0">
                <a:latin typeface="Times New Roman" pitchFamily="18" charset="0"/>
                <a:ea typeface="LG Smart_H Regular" panose="020B0600000101010101" pitchFamily="34" charset="-127"/>
                <a:cs typeface="Times New Roman" pitchFamily="18" charset="0"/>
              </a:rPr>
              <a:t>Khi </a:t>
            </a:r>
            <a:r>
              <a:rPr lang="vi-VN" sz="950" dirty="0">
                <a:latin typeface="Times New Roman" pitchFamily="18" charset="0"/>
                <a:ea typeface="LG Smart_H Regular" panose="020B0600000101010101" pitchFamily="34" charset="-127"/>
                <a:cs typeface="Times New Roman" pitchFamily="18" charset="0"/>
              </a:rPr>
              <a:t>điều kiện </a:t>
            </a:r>
            <a:r>
              <a:rPr lang="vi-VN" sz="950">
                <a:latin typeface="Times New Roman" pitchFamily="18" charset="0"/>
                <a:ea typeface="LG Smart_H Regular" panose="020B0600000101010101" pitchFamily="34" charset="-127"/>
                <a:cs typeface="Times New Roman" pitchFamily="18" charset="0"/>
              </a:rPr>
              <a:t>đầu vào </a:t>
            </a:r>
            <a:r>
              <a:rPr lang="vi-VN" sz="950" dirty="0">
                <a:latin typeface="Times New Roman" pitchFamily="18" charset="0"/>
                <a:ea typeface="LG Smart_H Regular" panose="020B0600000101010101" pitchFamily="34" charset="-127"/>
                <a:cs typeface="Times New Roman" pitchFamily="18" charset="0"/>
              </a:rPr>
              <a:t>ON → OFF, lệnh nào </a:t>
            </a:r>
            <a:r>
              <a:rPr lang="vi-VN" sz="950">
                <a:latin typeface="Times New Roman" pitchFamily="18" charset="0"/>
                <a:ea typeface="LG Smart_H Regular" panose="020B0600000101010101" pitchFamily="34" charset="-127"/>
                <a:cs typeface="Times New Roman" pitchFamily="18" charset="0"/>
              </a:rPr>
              <a:t>ở </a:t>
            </a:r>
            <a:r>
              <a:rPr lang="vi-VN" sz="950" smtClean="0">
                <a:latin typeface="Times New Roman" pitchFamily="18" charset="0"/>
                <a:ea typeface="LG Smart_H Regular" panose="020B0600000101010101" pitchFamily="34" charset="-127"/>
                <a:cs typeface="Times New Roman" pitchFamily="18" charset="0"/>
              </a:rPr>
              <a:t>đầu</a:t>
            </a:r>
            <a:r>
              <a:rPr lang="en-US" sz="950" smtClean="0">
                <a:latin typeface="Times New Roman" pitchFamily="18" charset="0"/>
                <a:ea typeface="LG Smart_H Regular" panose="020B0600000101010101" pitchFamily="34" charset="-127"/>
                <a:cs typeface="Times New Roman" pitchFamily="18" charset="0"/>
              </a:rPr>
              <a:t> </a:t>
            </a:r>
          </a:p>
          <a:p>
            <a:pPr indent="228600" eaLnBrk="1" fontAlgn="base" hangingPunct="1">
              <a:spcBef>
                <a:spcPct val="0"/>
              </a:spcBef>
              <a:spcAft>
                <a:spcPct val="0"/>
              </a:spcAft>
            </a:pPr>
            <a:r>
              <a:rPr lang="vi-VN" sz="950" smtClean="0">
                <a:latin typeface="Times New Roman" pitchFamily="18" charset="0"/>
                <a:ea typeface="LG Smart_H Regular" panose="020B0600000101010101" pitchFamily="34" charset="-127"/>
                <a:cs typeface="Times New Roman" pitchFamily="18" charset="0"/>
              </a:rPr>
              <a:t>ra được </a:t>
            </a:r>
            <a:r>
              <a:rPr lang="vi-VN" sz="950" dirty="0">
                <a:latin typeface="Times New Roman" pitchFamily="18" charset="0"/>
                <a:ea typeface="LG Smart_H Regular" panose="020B0600000101010101" pitchFamily="34" charset="-127"/>
                <a:cs typeface="Times New Roman" pitchFamily="18" charset="0"/>
              </a:rPr>
              <a:t>ON chỉ trong </a:t>
            </a:r>
            <a:r>
              <a:rPr lang="en-US" altLang="ko-KR" sz="950" dirty="0">
                <a:latin typeface="Times New Roman" pitchFamily="18" charset="0"/>
                <a:ea typeface="LG Smart_H Regular" panose="020B0600000101010101" pitchFamily="34" charset="-127"/>
                <a:cs typeface="Times New Roman" pitchFamily="18" charset="0"/>
              </a:rPr>
              <a:t>1SCAN Time </a:t>
            </a:r>
            <a:r>
              <a:rPr lang="vi-VN" sz="95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PLF</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PLE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FLC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PLS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114"/>
          <p:cNvSpPr>
            <a:spLocks noChangeArrowheads="1"/>
          </p:cNvSpPr>
          <p:nvPr/>
        </p:nvSpPr>
        <p:spPr bwMode="auto">
          <a:xfrm>
            <a:off x="198047" y="3223893"/>
            <a:ext cx="3162299"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sz="950" smtClean="0">
                <a:latin typeface="Times New Roman" pitchFamily="18" charset="0"/>
                <a:ea typeface="LG Smart_H Regular" panose="020B0600000101010101" pitchFamily="34" charset="-127"/>
                <a:cs typeface="Times New Roman" pitchFamily="18" charset="0"/>
              </a:rPr>
              <a:t>32</a:t>
            </a:r>
            <a:r>
              <a:rPr lang="vi-VN" sz="950">
                <a:latin typeface="Times New Roman" pitchFamily="18" charset="0"/>
                <a:ea typeface="LG Smart_H Regular" panose="020B0600000101010101" pitchFamily="34" charset="-127"/>
                <a:cs typeface="Times New Roman" pitchFamily="18" charset="0"/>
              </a:rPr>
              <a:t>. Hãy đổi F14 hệ 16 thành hệ nhị </a:t>
            </a:r>
            <a:r>
              <a:rPr lang="vi-VN" sz="950" smtClean="0">
                <a:latin typeface="Times New Roman" pitchFamily="18" charset="0"/>
                <a:ea typeface="LG Smart_H Regular" panose="020B0600000101010101" pitchFamily="34" charset="-127"/>
                <a:cs typeface="Times New Roman" pitchFamily="18" charset="0"/>
              </a:rPr>
              <a:t>phân</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1110 0001 0100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1010 1001 0110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1111 1110 1011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1111 0001 </a:t>
            </a:r>
            <a:r>
              <a:rPr lang="en-US" altLang="ko-KR" sz="950" smtClean="0">
                <a:latin typeface="Times New Roman" pitchFamily="18" charset="0"/>
                <a:ea typeface="LG Smart_H Regular" panose="020B0600000101010101" pitchFamily="34" charset="-127"/>
                <a:cs typeface="Times New Roman" pitchFamily="18" charset="0"/>
              </a:rPr>
              <a:t>0100</a:t>
            </a:r>
            <a:endParaRPr lang="en-US" altLang="ko-KR" sz="95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3510637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grpSp>
        <p:nvGrpSpPr>
          <p:cNvPr id="2" name="Group 1"/>
          <p:cNvGrpSpPr/>
          <p:nvPr/>
        </p:nvGrpSpPr>
        <p:grpSpPr>
          <a:xfrm>
            <a:off x="206479" y="1136576"/>
            <a:ext cx="3239810" cy="2431435"/>
            <a:chOff x="206479" y="1136576"/>
            <a:chExt cx="3239810" cy="2431435"/>
          </a:xfrm>
        </p:grpSpPr>
        <p:sp>
          <p:nvSpPr>
            <p:cNvPr id="25" name="Rectangle 7"/>
            <p:cNvSpPr>
              <a:spLocks noChangeArrowheads="1"/>
            </p:cNvSpPr>
            <p:nvPr/>
          </p:nvSpPr>
          <p:spPr bwMode="auto">
            <a:xfrm>
              <a:off x="206479" y="1136576"/>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Sơ đồ mạch cơ bản của hệ thống khí nén.Hãy điền vào ô có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Nguồn động lực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Bộ phận phát sinh khí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Bộ phận chuyển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B</a:t>
              </a:r>
              <a:r>
                <a:rPr lang="vi-VN" altLang="ko-KR" sz="950" smtClean="0">
                  <a:latin typeface="Times New Roman" pitchFamily="18" charset="0"/>
                  <a:ea typeface="LG Smart_H Regular" panose="020B0600000101010101" pitchFamily="34" charset="-127"/>
                  <a:cs typeface="Times New Roman" pitchFamily="18" charset="0"/>
                </a:rPr>
                <a:t>ộ </a:t>
              </a:r>
              <a:r>
                <a:rPr lang="vi-VN" altLang="ko-KR" sz="950">
                  <a:latin typeface="Times New Roman" pitchFamily="18" charset="0"/>
                  <a:ea typeface="LG Smart_H Regular" panose="020B0600000101010101" pitchFamily="34" charset="-127"/>
                  <a:cs typeface="Times New Roman" pitchFamily="18" charset="0"/>
                </a:rPr>
                <a:t>phận điều khiển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7" name="Picture 26"/>
            <p:cNvPicPr>
              <a:picLocks noChangeAspect="1"/>
            </p:cNvPicPr>
            <p:nvPr/>
          </p:nvPicPr>
          <p:blipFill>
            <a:blip r:embed="rId3"/>
            <a:stretch>
              <a:fillRect/>
            </a:stretch>
          </p:blipFill>
          <p:spPr>
            <a:xfrm>
              <a:off x="260649" y="1640632"/>
              <a:ext cx="3096344" cy="1219200"/>
            </a:xfrm>
            <a:prstGeom prst="rect">
              <a:avLst/>
            </a:prstGeom>
          </p:spPr>
        </p:pic>
      </p:grpSp>
      <p:grpSp>
        <p:nvGrpSpPr>
          <p:cNvPr id="3" name="Group 2"/>
          <p:cNvGrpSpPr/>
          <p:nvPr/>
        </p:nvGrpSpPr>
        <p:grpSpPr>
          <a:xfrm>
            <a:off x="260648" y="3836070"/>
            <a:ext cx="3239811" cy="2285241"/>
            <a:chOff x="260648" y="3836070"/>
            <a:chExt cx="3239811" cy="2285241"/>
          </a:xfrm>
        </p:grpSpPr>
        <p:sp>
          <p:nvSpPr>
            <p:cNvPr id="26" name="Rectangle 7"/>
            <p:cNvSpPr>
              <a:spLocks noChangeArrowheads="1"/>
            </p:cNvSpPr>
            <p:nvPr/>
          </p:nvSpPr>
          <p:spPr bwMode="auto">
            <a:xfrm>
              <a:off x="260649" y="3836070"/>
              <a:ext cx="3239810"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Điền vào chỗ ????? Trong hình 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Regulator pressure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Lubricator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Service unit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4"/>
            <a:stretch>
              <a:fillRect/>
            </a:stretch>
          </p:blipFill>
          <p:spPr>
            <a:xfrm>
              <a:off x="260648" y="4184390"/>
              <a:ext cx="3024336" cy="1200657"/>
            </a:xfrm>
            <a:prstGeom prst="rect">
              <a:avLst/>
            </a:prstGeom>
          </p:spPr>
        </p:pic>
      </p:grpSp>
      <p:sp>
        <p:nvSpPr>
          <p:cNvPr id="29" name="Rectangle 7"/>
          <p:cNvSpPr>
            <a:spLocks noChangeArrowheads="1"/>
          </p:cNvSpPr>
          <p:nvPr/>
        </p:nvSpPr>
        <p:spPr bwMode="auto">
          <a:xfrm>
            <a:off x="261198" y="6431776"/>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Thành phần chính của không khí bao gồm : Nito, Oxy,Cacbonic,Hydro, Argon, Helium, neon</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marL="109538"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Thành phần chất khí nào chiếm : 0.933% </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Oxy</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Cacbonic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Hydro</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Argon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32664" y="804483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Phân loại máy khí nén theo áp suất xả ra. Áp suất trung bình là bao nhiêu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a:t>
            </a:r>
            <a:r>
              <a:rPr lang="en-US" altLang="ko-KR" sz="950" smtClean="0">
                <a:latin typeface="Times New Roman" pitchFamily="18" charset="0"/>
                <a:ea typeface="LG Smart_H Regular" panose="020B0600000101010101" pitchFamily="34" charset="-127"/>
                <a:cs typeface="Times New Roman" pitchFamily="18" charset="0"/>
              </a:rPr>
              <a:t>1~8kgf</a:t>
            </a:r>
            <a:r>
              <a:rPr lang="en-US" altLang="ko-KR" sz="95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9kgf/㎠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10~16kgf/</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trên 16kgf/㎠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451715" y="1136576"/>
            <a:ext cx="3180502" cy="1872064"/>
            <a:chOff x="3451715" y="1280736"/>
            <a:chExt cx="3180502" cy="1872064"/>
          </a:xfrm>
        </p:grpSpPr>
        <p:sp>
          <p:nvSpPr>
            <p:cNvPr id="32" name="Rectangle 7"/>
            <p:cNvSpPr>
              <a:spLocks noChangeArrowheads="1"/>
            </p:cNvSpPr>
            <p:nvPr/>
          </p:nvSpPr>
          <p:spPr bwMode="auto">
            <a:xfrm>
              <a:off x="3451715" y="128073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4" name="Picture 33"/>
            <p:cNvPicPr>
              <a:picLocks noChangeAspect="1"/>
            </p:cNvPicPr>
            <p:nvPr/>
          </p:nvPicPr>
          <p:blipFill>
            <a:blip r:embed="rId5"/>
            <a:stretch>
              <a:fillRect/>
            </a:stretch>
          </p:blipFill>
          <p:spPr>
            <a:xfrm>
              <a:off x="3717032" y="1584476"/>
              <a:ext cx="1224136" cy="680049"/>
            </a:xfrm>
            <a:prstGeom prst="rect">
              <a:avLst/>
            </a:prstGeom>
          </p:spPr>
        </p:pic>
        <p:pic>
          <p:nvPicPr>
            <p:cNvPr id="38" name="Picture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3234" y="1476428"/>
              <a:ext cx="1198094" cy="807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9040" y="2289013"/>
              <a:ext cx="1108910" cy="86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p:cNvPicPr>
            <p:nvPr/>
          </p:nvPicPr>
          <p:blipFill>
            <a:blip r:embed="rId8"/>
            <a:stretch>
              <a:fillRect/>
            </a:stretch>
          </p:blipFill>
          <p:spPr>
            <a:xfrm>
              <a:off x="5373216" y="2489181"/>
              <a:ext cx="877695" cy="591611"/>
            </a:xfrm>
            <a:prstGeom prst="rect">
              <a:avLst/>
            </a:prstGeom>
          </p:spPr>
        </p:pic>
      </p:grpSp>
      <p:sp>
        <p:nvSpPr>
          <p:cNvPr id="46" name="Rectangle 7"/>
          <p:cNvSpPr>
            <a:spLocks noChangeArrowheads="1"/>
          </p:cNvSpPr>
          <p:nvPr/>
        </p:nvSpPr>
        <p:spPr bwMode="auto">
          <a:xfrm>
            <a:off x="3473132" y="3440832"/>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Đâu là chú ý khi sử dụng động cơ khí nén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a:latin typeface="Times New Roman" pitchFamily="18" charset="0"/>
                <a:ea typeface="LG Smart_H Regular" panose="020B0600000101010101" pitchFamily="34" charset="-127"/>
                <a:cs typeface="Times New Roman" pitchFamily="18" charset="0"/>
              </a:rPr>
              <a:t>giảm thanh sử dụng trong động cơ khí nén là ống xả không liên tục vì thế nên sử dụng loại mà mặt cắt ngang có hiệu quả lớn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Khi </a:t>
            </a:r>
            <a:r>
              <a:rPr lang="vi-VN" altLang="ko-KR" sz="950">
                <a:latin typeface="Times New Roman" pitchFamily="18" charset="0"/>
                <a:ea typeface="LG Smart_H Regular" panose="020B0600000101010101" pitchFamily="34" charset="-127"/>
                <a:cs typeface="Times New Roman" pitchFamily="18" charset="0"/>
              </a:rPr>
              <a:t>lựa chọn máy nén khí phải chọn loại công  suất thực tế tương đương tỷ lệ công suất lý thuyết. </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Phải </a:t>
            </a:r>
            <a:r>
              <a:rPr lang="vi-VN" altLang="ko-KR" sz="950">
                <a:latin typeface="Times New Roman" pitchFamily="18" charset="0"/>
                <a:ea typeface="LG Smart_H Regular" panose="020B0600000101010101" pitchFamily="34" charset="-127"/>
                <a:cs typeface="Times New Roman" pitchFamily="18" charset="0"/>
              </a:rPr>
              <a:t>kiểm tra kỹ vì số lần quay sử dụng tối đa bị giới hạn do hiện tượng gián đoạn (stick-slip) tại vùng tốc độ thấp</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Tính </a:t>
            </a:r>
            <a:r>
              <a:rPr lang="vi-VN" altLang="ko-KR" sz="950">
                <a:latin typeface="Times New Roman" pitchFamily="18" charset="0"/>
                <a:ea typeface="LG Smart_H Regular" panose="020B0600000101010101" pitchFamily="34" charset="-127"/>
                <a:cs typeface="Times New Roman" pitchFamily="18" charset="0"/>
              </a:rPr>
              <a:t>năng của động cơ khí nén: hiển thị công suất và torque khi áp suất ở phía ống xả bằng áp suất khí quyển.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5435349"/>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Van có vai trò giảm áp, cài đặt áp suất khí lần 2 theo áp suất khí ổn định, cung cấp áp suất khi ổn định?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giảm </a:t>
            </a:r>
            <a:r>
              <a:rPr lang="en-US" altLang="ko-KR" sz="950" smtClean="0">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Công tắc áp </a:t>
            </a:r>
            <a:r>
              <a:rPr lang="en-US" altLang="ko-KR" sz="950" smtClean="0">
                <a:latin typeface="Times New Roman" pitchFamily="18" charset="0"/>
                <a:ea typeface="LG Smart_H Regular" panose="020B0600000101010101" pitchFamily="34" charset="-127"/>
                <a:cs typeface="Times New Roman" pitchFamily="18" charset="0"/>
              </a:rPr>
              <a:t>suất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648749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Là van được kết hợp bởi van kiểm tra và van tiết lưu, điều khiển lưu lượng khí đi qua 1 chiều là van gì</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Van </a:t>
            </a:r>
            <a:r>
              <a:rPr lang="en-US" altLang="ko-KR" sz="950">
                <a:latin typeface="Times New Roman" pitchFamily="18" charset="0"/>
                <a:ea typeface="LG Smart_H Regular" panose="020B0600000101010101" pitchFamily="34" charset="-127"/>
                <a:cs typeface="Times New Roman" pitchFamily="18" charset="0"/>
              </a:rPr>
              <a:t>kiểm </a:t>
            </a:r>
            <a:r>
              <a:rPr lang="en-US" altLang="ko-KR" sz="950" smtClean="0">
                <a:latin typeface="Times New Roman" pitchFamily="18" charset="0"/>
                <a:ea typeface="LG Smart_H Regular" panose="020B0600000101010101" pitchFamily="34" charset="-127"/>
                <a:cs typeface="Times New Roman" pitchFamily="18" charset="0"/>
              </a:rPr>
              <a:t>tra</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Van đệm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điều khiển tốc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49538" y="7514074"/>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Phân loại tính năng theo màu của nút </a:t>
            </a:r>
            <a:r>
              <a:rPr lang="vi-VN" altLang="ko-KR" sz="950" smtClean="0">
                <a:latin typeface="Times New Roman" pitchFamily="18" charset="0"/>
                <a:ea typeface="LG Smart_H Regular" panose="020B0600000101010101" pitchFamily="34" charset="-127"/>
                <a:cs typeface="Times New Roman" pitchFamily="18" charset="0"/>
              </a:rPr>
              <a:t>nhấn?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Xanh lá: khởi động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Vàng : Dừng khẩn cấp</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Trắng : Khởi động lại ( Reset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Đỏ : Hoạt động khác….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602675"/>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Đâu là giải thích đúng hạng mục chọn rơ </a:t>
            </a:r>
            <a:r>
              <a:rPr lang="vi-VN" altLang="ko-KR" sz="950" smtClean="0">
                <a:latin typeface="Times New Roman" pitchFamily="18" charset="0"/>
                <a:ea typeface="LG Smart_H Regular" panose="020B0600000101010101" pitchFamily="34" charset="-127"/>
                <a:cs typeface="Times New Roman" pitchFamily="18" charset="0"/>
              </a:rPr>
              <a:t>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Điện áp tiêu chuẩn đầu vào coil, tiêu biểu là DC12, 24V, AC 110V, 220V,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Dòng điện cuộn dây và điện áp tiếp điểm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số lượng tiếp điểm A có trong rơ le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số lượng tiếp điểm B có trong rơ le.</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9870008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267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16808" y="776288"/>
            <a:ext cx="31750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0" name="Text Box 22"/>
          <p:cNvSpPr txBox="1">
            <a:spLocks noChangeArrowheads="1"/>
          </p:cNvSpPr>
          <p:nvPr/>
        </p:nvSpPr>
        <p:spPr bwMode="auto">
          <a:xfrm>
            <a:off x="3424447" y="6141566"/>
            <a:ext cx="3124199"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109538" indent="-109538" eaLnBrk="1" hangingPunct="1">
              <a:spcBef>
                <a:spcPct val="0"/>
              </a:spcBef>
              <a:buFontTx/>
              <a:buNone/>
            </a:pPr>
            <a:r>
              <a:rPr lang="en-US" altLang="ko-KR" sz="950" smtClean="0">
                <a:latin typeface="Arial Narrow" pitchFamily="34" charset="0"/>
                <a:ea typeface="LG Smart_H Regular" panose="020B0600000101010101" pitchFamily="34" charset="-127"/>
                <a:cs typeface="Times New Roman" pitchFamily="18" charset="0"/>
              </a:rPr>
              <a:t>59. </a:t>
            </a:r>
            <a:r>
              <a:rPr lang="vi-VN" altLang="ko-KR" sz="950" dirty="0">
                <a:latin typeface="Times New Roman" pitchFamily="18" charset="0"/>
                <a:ea typeface="LG Smart_H Regular" panose="020B0600000101010101" pitchFamily="34" charset="-127"/>
                <a:cs typeface="Times New Roman" pitchFamily="18" charset="0"/>
              </a:rPr>
              <a:t>Thiết bị chuyền khí nén có kết cấu tạo lực quay bằng cách biến đổi tốc độ và năng lượng áp suất thành chuyển động quay bằng cách gắn khí nén vào cánh gạt </a:t>
            </a:r>
            <a:r>
              <a:rPr lang="vi-VN" altLang="ko-KR" sz="950">
                <a:latin typeface="Times New Roman" pitchFamily="18" charset="0"/>
                <a:ea typeface="LG Smart_H Regular" panose="020B0600000101010101" pitchFamily="34" charset="-127"/>
                <a:cs typeface="Times New Roman" pitchFamily="18" charset="0"/>
              </a:rPr>
              <a:t>ô </a:t>
            </a:r>
            <a:r>
              <a:rPr lang="vi-VN" altLang="ko-KR" sz="950" smtClean="0">
                <a:latin typeface="Times New Roman" pitchFamily="18" charset="0"/>
                <a:ea typeface="LG Smart_H Regular" panose="020B0600000101010101" pitchFamily="34" charset="-127"/>
                <a:cs typeface="Times New Roman" pitchFamily="18" charset="0"/>
              </a:rPr>
              <a:t>tô</a:t>
            </a:r>
            <a:r>
              <a:rPr lang="en-US" altLang="ko-KR" sz="950" smtClean="0">
                <a:latin typeface="Arial Narrow" pitchFamily="34" charset="0"/>
                <a:ea typeface="LG Smart_H Regular" panose="020B0600000101010101" pitchFamily="34" charset="-127"/>
                <a:cs typeface="Times New Roman" pitchFamily="18" charset="0"/>
              </a:rPr>
              <a:t>?</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a:t>
            </a:r>
            <a:r>
              <a:rPr lang="vi-VN" altLang="ko-KR" sz="950">
                <a:latin typeface="Times New Roman" pitchFamily="18" charset="0"/>
                <a:ea typeface="LG Smart_H Regular" panose="020B0600000101010101" pitchFamily="34" charset="-127"/>
                <a:cs typeface="Times New Roman" pitchFamily="18" charset="0"/>
              </a:rPr>
              <a:t>gear</a:t>
            </a:r>
            <a:r>
              <a:rPr lang="ko-KR" altLang="en-US" sz="950">
                <a:latin typeface="Arial Narrow" pitchFamily="34" charset="0"/>
                <a:ea typeface="LG Smart_H Regular" panose="020B0600000101010101" pitchFamily="34" charset="-127"/>
                <a:cs typeface="Times New Roman" pitchFamily="18" charset="0"/>
              </a:rPr>
              <a:t>    </a:t>
            </a:r>
            <a:r>
              <a:rPr lang="en-US" altLang="ko-KR" sz="950">
                <a:latin typeface="Arial Narrow" pitchFamily="34"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piston</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a:t>
            </a:r>
            <a:r>
              <a:rPr lang="vi-VN" altLang="ko-KR" sz="950">
                <a:latin typeface="Times New Roman" pitchFamily="18" charset="0"/>
                <a:ea typeface="LG Smart_H Regular" panose="020B0600000101010101" pitchFamily="34" charset="-127"/>
                <a:cs typeface="Times New Roman" pitchFamily="18" charset="0"/>
              </a:rPr>
              <a:t>tuabin</a:t>
            </a:r>
            <a:r>
              <a:rPr lang="ko-KR" altLang="en-US" sz="950">
                <a:latin typeface="Arial Narrow" pitchFamily="34" charset="0"/>
                <a:ea typeface="LG Smart_H Regular" panose="020B0600000101010101" pitchFamily="34" charset="-127"/>
                <a:cs typeface="Times New Roman" pitchFamily="18" charset="0"/>
              </a:rPr>
              <a:t>  </a:t>
            </a:r>
            <a:r>
              <a:rPr lang="en-US" altLang="ko-KR" sz="950">
                <a:latin typeface="Arial Narrow" pitchFamily="34"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a:t>
            </a:r>
            <a:r>
              <a:rPr lang="vi-VN" altLang="ko-KR" sz="950" dirty="0">
                <a:latin typeface="Times New Roman" pitchFamily="18" charset="0"/>
                <a:ea typeface="LG Smart_H Regular" panose="020B0600000101010101" pitchFamily="34" charset="-127"/>
                <a:cs typeface="Times New Roman" pitchFamily="18" charset="0"/>
              </a:rPr>
              <a:t>cánh gạt</a:t>
            </a:r>
            <a:endParaRPr lang="en-US" altLang="ko-KR" sz="950" dirty="0">
              <a:latin typeface="Arial Narrow" pitchFamily="34" charset="0"/>
              <a:ea typeface="LG Smart_H Regular" panose="020B0600000101010101" pitchFamily="34" charset="-127"/>
              <a:cs typeface="Times New Roman" pitchFamily="18" charset="0"/>
            </a:endParaRPr>
          </a:p>
        </p:txBody>
      </p:sp>
      <p:grpSp>
        <p:nvGrpSpPr>
          <p:cNvPr id="51" name="Group 50"/>
          <p:cNvGrpSpPr/>
          <p:nvPr/>
        </p:nvGrpSpPr>
        <p:grpSpPr>
          <a:xfrm>
            <a:off x="3485582" y="1046349"/>
            <a:ext cx="3168650" cy="1800200"/>
            <a:chOff x="260350" y="7401272"/>
            <a:chExt cx="3168650" cy="1800200"/>
          </a:xfrm>
        </p:grpSpPr>
        <p:sp>
          <p:nvSpPr>
            <p:cNvPr id="52" name="Text Box 17"/>
            <p:cNvSpPr txBox="1">
              <a:spLocks noChangeArrowheads="1"/>
            </p:cNvSpPr>
            <p:nvPr/>
          </p:nvSpPr>
          <p:spPr bwMode="auto">
            <a:xfrm>
              <a:off x="260350" y="7401272"/>
              <a:ext cx="316865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109538" indent="-109538" eaLnBrk="1" hangingPunct="1">
                <a:spcBef>
                  <a:spcPct val="0"/>
                </a:spcBef>
                <a:buFontTx/>
                <a:buNone/>
              </a:pPr>
              <a:r>
                <a:rPr lang="en-US" altLang="ko-KR" sz="950" smtClean="0">
                  <a:latin typeface="Arial Narrow" pitchFamily="34" charset="0"/>
                  <a:ea typeface="LG Smart_H Regular" panose="020B0600000101010101" pitchFamily="34" charset="-127"/>
                  <a:cs typeface="Times New Roman" pitchFamily="18" charset="0"/>
                </a:rPr>
                <a:t>57. </a:t>
              </a:r>
              <a:r>
                <a:rPr lang="vi-VN" altLang="ko-KR" sz="950" smtClean="0">
                  <a:latin typeface="Times New Roman" pitchFamily="18" charset="0"/>
                  <a:ea typeface="LG Smart_H Regular" panose="020B0600000101010101" pitchFamily="34" charset="-127"/>
                  <a:cs typeface="Times New Roman" pitchFamily="18" charset="0"/>
                </a:rPr>
                <a:t>Cylinder </a:t>
              </a:r>
              <a:r>
                <a:rPr lang="vi-VN" altLang="ko-KR" sz="950" dirty="0">
                  <a:latin typeface="Times New Roman" pitchFamily="18" charset="0"/>
                  <a:ea typeface="LG Smart_H Regular" panose="020B0600000101010101" pitchFamily="34" charset="-127"/>
                  <a:cs typeface="Times New Roman" pitchFamily="18" charset="0"/>
                </a:rPr>
                <a:t>nào có ưu điểm là giảm thiểu diện tích lắp đặt và có đặc tính dừng trung gian vì giá trị lực đẩy tiến lên/lùi như nhau</a:t>
              </a:r>
              <a:r>
                <a:rPr lang="en-US" altLang="ko-KR" sz="950" dirty="0">
                  <a:latin typeface="Arial Narrow" pitchFamily="34" charset="0"/>
                  <a:ea typeface="LG Smart_H Regular" panose="020B0600000101010101" pitchFamily="34" charset="-127"/>
                  <a:cs typeface="Times New Roman" pitchFamily="18" charset="0"/>
                </a:rPr>
                <a:t>?  </a:t>
              </a: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r>
                <a:rPr lang="en-US" altLang="ko-KR" sz="95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A.                                                    B.</a:t>
              </a: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r>
                <a:rPr lang="ko-KR" altLang="en-US" sz="95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C.  </a:t>
              </a:r>
              <a:r>
                <a:rPr lang="ko-KR" altLang="en-US" sz="950" smtClean="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D.</a:t>
              </a:r>
              <a:endParaRPr lang="ko-KR" altLang="en-US" sz="950" dirty="0">
                <a:latin typeface="Arial Narrow" pitchFamily="34" charset="0"/>
                <a:ea typeface="LG Smart_H Regular" panose="020B0600000101010101" pitchFamily="34" charset="-127"/>
                <a:cs typeface="Times New Roman" pitchFamily="18" charset="0"/>
              </a:endParaRPr>
            </a:p>
          </p:txBody>
        </p:sp>
        <p:pic>
          <p:nvPicPr>
            <p:cNvPr id="53" name="Picture 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8109917"/>
              <a:ext cx="9429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8049344"/>
              <a:ext cx="11049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50" y="8822059"/>
              <a:ext cx="10350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5988" y="8761734"/>
              <a:ext cx="107315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Group 2"/>
          <p:cNvGrpSpPr/>
          <p:nvPr/>
        </p:nvGrpSpPr>
        <p:grpSpPr>
          <a:xfrm>
            <a:off x="3424446" y="4449107"/>
            <a:ext cx="3079750" cy="1007949"/>
            <a:chOff x="3424446" y="4376936"/>
            <a:chExt cx="3079750" cy="1007949"/>
          </a:xfrm>
        </p:grpSpPr>
        <p:grpSp>
          <p:nvGrpSpPr>
            <p:cNvPr id="39" name="Group 62"/>
            <p:cNvGrpSpPr>
              <a:grpSpLocks/>
            </p:cNvGrpSpPr>
            <p:nvPr/>
          </p:nvGrpSpPr>
          <p:grpSpPr bwMode="auto">
            <a:xfrm>
              <a:off x="5043696" y="4448260"/>
              <a:ext cx="1405791" cy="936625"/>
              <a:chOff x="621" y="2122"/>
              <a:chExt cx="1229" cy="696"/>
            </a:xfrm>
          </p:grpSpPr>
          <p:pic>
            <p:nvPicPr>
              <p:cNvPr id="4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 y="2122"/>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4"/>
              <p:cNvSpPr txBox="1">
                <a:spLocks noChangeArrowheads="1"/>
              </p:cNvSpPr>
              <p:nvPr/>
            </p:nvSpPr>
            <p:spPr bwMode="auto">
              <a:xfrm>
                <a:off x="1148" y="2230"/>
                <a:ext cx="70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Arial Narrow" pitchFamily="34" charset="0"/>
                    <a:cs typeface="Times New Roman" panose="02020603050405020304" pitchFamily="18" charset="0"/>
                  </a:rPr>
                  <a:t>Chất</a:t>
                </a:r>
                <a:r>
                  <a:rPr lang="en-US" altLang="ko-KR" sz="950" smtClean="0">
                    <a:latin typeface="Arial Narrow" pitchFamily="34" charset="0"/>
                    <a:cs typeface="Times New Roman" panose="02020603050405020304" pitchFamily="18" charset="0"/>
                  </a:rPr>
                  <a:t> cách </a:t>
                </a:r>
                <a:r>
                  <a:rPr lang="en-US" altLang="ko-KR" sz="950" dirty="0" err="1" smtClean="0">
                    <a:latin typeface="Arial Narrow" pitchFamily="34" charset="0"/>
                    <a:cs typeface="Times New Roman" panose="02020603050405020304" pitchFamily="18" charset="0"/>
                  </a:rPr>
                  <a:t>âm</a:t>
                </a:r>
                <a:endParaRPr lang="ko-KR" altLang="en-US" sz="950" dirty="0">
                  <a:latin typeface="Arial Narrow" pitchFamily="34" charset="0"/>
                  <a:cs typeface="Times New Roman" panose="02020603050405020304" pitchFamily="18" charset="0"/>
                </a:endParaRPr>
              </a:p>
            </p:txBody>
          </p:sp>
          <p:sp>
            <p:nvSpPr>
              <p:cNvPr id="48" name="Text Box 65"/>
              <p:cNvSpPr txBox="1">
                <a:spLocks noChangeArrowheads="1"/>
              </p:cNvSpPr>
              <p:nvPr/>
            </p:nvSpPr>
            <p:spPr bwMode="auto">
              <a:xfrm>
                <a:off x="1268" y="2352"/>
                <a:ext cx="419"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Arial Narrow" pitchFamily="34" charset="0"/>
                    <a:cs typeface="Times New Roman" panose="02020603050405020304" pitchFamily="18" charset="0"/>
                  </a:rPr>
                  <a:t>Cover </a:t>
                </a:r>
                <a:endParaRPr lang="ko-KR" altLang="en-US" sz="950" dirty="0">
                  <a:latin typeface="Arial Narrow" pitchFamily="34" charset="0"/>
                  <a:cs typeface="Times New Roman" panose="02020603050405020304" pitchFamily="18" charset="0"/>
                </a:endParaRPr>
              </a:p>
            </p:txBody>
          </p:sp>
          <p:sp>
            <p:nvSpPr>
              <p:cNvPr id="49" name="Text Box 66"/>
              <p:cNvSpPr txBox="1">
                <a:spLocks noChangeArrowheads="1"/>
              </p:cNvSpPr>
              <p:nvPr/>
            </p:nvSpPr>
            <p:spPr bwMode="auto">
              <a:xfrm>
                <a:off x="1314" y="2459"/>
                <a:ext cx="484"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Arial Narrow" pitchFamily="34" charset="0"/>
                    <a:cs typeface="Times New Roman" panose="02020603050405020304" pitchFamily="18" charset="0"/>
                  </a:rPr>
                  <a:t>End cap</a:t>
                </a:r>
                <a:endParaRPr lang="ko-KR" altLang="en-US" sz="950" dirty="0">
                  <a:latin typeface="Arial Narrow" pitchFamily="34" charset="0"/>
                  <a:cs typeface="Times New Roman" panose="02020603050405020304" pitchFamily="18" charset="0"/>
                </a:endParaRPr>
              </a:p>
            </p:txBody>
          </p:sp>
        </p:grpSp>
        <p:sp>
          <p:nvSpPr>
            <p:cNvPr id="50" name="Rectangle 67"/>
            <p:cNvSpPr>
              <a:spLocks noChangeArrowheads="1"/>
            </p:cNvSpPr>
            <p:nvPr/>
          </p:nvSpPr>
          <p:spPr bwMode="auto">
            <a:xfrm>
              <a:off x="3424446" y="4376936"/>
              <a:ext cx="307975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Narrow" pitchFamily="34" charset="0"/>
                  <a:cs typeface="Times New Roman" panose="02020603050405020304" pitchFamily="18" charset="0"/>
                </a:rPr>
                <a:t>58.  Hình ống giảm thanh </a:t>
              </a:r>
              <a:r>
                <a:rPr lang="en-US" altLang="ko-KR" sz="950" dirty="0" err="1" smtClean="0">
                  <a:latin typeface="Arial Narrow" pitchFamily="34" charset="0"/>
                  <a:cs typeface="Times New Roman" panose="02020603050405020304" pitchFamily="18" charset="0"/>
                </a:rPr>
                <a:t>sau</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là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gì</a:t>
              </a:r>
              <a:r>
                <a:rPr lang="en-US" altLang="ko-KR" sz="950" dirty="0" smtClean="0">
                  <a:latin typeface="Arial Narrow" pitchFamily="34" charset="0"/>
                  <a:cs typeface="Times New Roman" panose="02020603050405020304" pitchFamily="18" charset="0"/>
                </a:rPr>
                <a:t> ?</a:t>
              </a:r>
              <a:endParaRPr lang="en-US" altLang="ko-KR" sz="950" dirty="0">
                <a:latin typeface="Arial Narrow" pitchFamily="34" charset="0"/>
                <a:cs typeface="Times New Roman" panose="02020603050405020304" pitchFamily="18" charset="0"/>
              </a:endParaRPr>
            </a:p>
            <a:p>
              <a:pPr eaLnBrk="1" hangingPunct="1"/>
              <a:endParaRPr lang="en-US" altLang="ko-KR" sz="950" smtClean="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A.  </a:t>
              </a:r>
              <a:r>
                <a:rPr lang="en-US" altLang="ko-KR" sz="950" dirty="0" err="1" smtClean="0">
                  <a:latin typeface="Arial Narrow" pitchFamily="34" charset="0"/>
                  <a:cs typeface="Times New Roman" panose="02020603050405020304" pitchFamily="18" charset="0"/>
                </a:rPr>
                <a:t>G</a:t>
              </a:r>
              <a:r>
                <a:rPr lang="en-US" altLang="ko-KR" sz="950" smtClean="0">
                  <a:latin typeface="Arial Narrow" pitchFamily="34" charset="0"/>
                  <a:cs typeface="Times New Roman" panose="02020603050405020304" pitchFamily="18" charset="0"/>
                </a:rPr>
                <a:t>iảm </a:t>
              </a:r>
              <a:r>
                <a:rPr lang="en-US" altLang="ko-KR" sz="950" dirty="0" err="1" smtClean="0">
                  <a:latin typeface="Arial Narrow" pitchFamily="34" charset="0"/>
                  <a:cs typeface="Times New Roman" panose="02020603050405020304" pitchFamily="18" charset="0"/>
                </a:rPr>
                <a:t>thanh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kháng</a:t>
              </a:r>
              <a:r>
                <a:rPr lang="ko-KR" altLang="en-US" sz="950" dirty="0" smtClean="0">
                  <a:latin typeface="Arial Narrow" pitchFamily="34" charset="0"/>
                  <a:cs typeface="Times New Roman" panose="02020603050405020304" pitchFamily="18" charset="0"/>
                </a:rPr>
                <a:t>   </a:t>
              </a:r>
              <a:endParaRPr lang="ko-KR" altLang="en-US" sz="950" dirty="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B.</a:t>
              </a:r>
              <a:r>
                <a:rPr lang="ko-KR" altLang="en-US" sz="950" smtClean="0">
                  <a:latin typeface="Arial Narrow" pitchFamily="34" charset="0"/>
                  <a:cs typeface="Times New Roman" panose="02020603050405020304" pitchFamily="18" charset="0"/>
                </a:rPr>
                <a:t> </a:t>
              </a:r>
              <a:r>
                <a:rPr lang="en-US" altLang="ko-KR" sz="950" smtClean="0">
                  <a:latin typeface="Arial Narrow" pitchFamily="34" charset="0"/>
                  <a:cs typeface="Times New Roman" panose="02020603050405020304" pitchFamily="18" charset="0"/>
                </a:rPr>
                <a:t> Giảm </a:t>
              </a:r>
              <a:r>
                <a:rPr lang="en-US" altLang="ko-KR" sz="950" dirty="0" err="1" smtClean="0">
                  <a:latin typeface="Arial Narrow" pitchFamily="34" charset="0"/>
                  <a:cs typeface="Times New Roman" panose="02020603050405020304" pitchFamily="18" charset="0"/>
                </a:rPr>
                <a:t>thanh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phản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ứng</a:t>
              </a:r>
              <a:endParaRPr lang="ko-KR" altLang="en-US" sz="950" dirty="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C.</a:t>
              </a:r>
              <a:r>
                <a:rPr lang="ko-KR" altLang="en-US" sz="950" smtClean="0">
                  <a:latin typeface="Arial Narrow" pitchFamily="34" charset="0"/>
                  <a:cs typeface="Times New Roman" panose="02020603050405020304" pitchFamily="18" charset="0"/>
                </a:rPr>
                <a:t>  </a:t>
              </a:r>
              <a:r>
                <a:rPr lang="en-US" altLang="ko-KR" sz="950">
                  <a:latin typeface="Arial Narrow" pitchFamily="34" charset="0"/>
                  <a:cs typeface="Times New Roman" panose="02020603050405020304" pitchFamily="18" charset="0"/>
                </a:rPr>
                <a:t>G</a:t>
              </a:r>
              <a:r>
                <a:rPr lang="en-US" altLang="ko-KR" sz="950" smtClean="0">
                  <a:latin typeface="Arial Narrow" pitchFamily="34" charset="0"/>
                  <a:cs typeface="Times New Roman" panose="02020603050405020304" pitchFamily="18" charset="0"/>
                </a:rPr>
                <a:t>iảm </a:t>
              </a:r>
              <a:r>
                <a:rPr lang="en-US" altLang="ko-KR" sz="950" dirty="0" err="1" smtClean="0">
                  <a:latin typeface="Arial Narrow" pitchFamily="34" charset="0"/>
                  <a:cs typeface="Times New Roman" panose="02020603050405020304" pitchFamily="18" charset="0"/>
                </a:rPr>
                <a:t>âm</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mục</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đích</a:t>
              </a:r>
              <a:endParaRPr lang="ko-KR" altLang="en-US" sz="950" dirty="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D.</a:t>
              </a:r>
              <a:r>
                <a:rPr lang="ko-KR" altLang="en-US" sz="950" smtClean="0">
                  <a:latin typeface="Arial Narrow" pitchFamily="34" charset="0"/>
                  <a:cs typeface="Times New Roman" panose="02020603050405020304" pitchFamily="18" charset="0"/>
                </a:rPr>
                <a:t>  </a:t>
              </a:r>
              <a:r>
                <a:rPr lang="en-US" altLang="ko-KR" sz="950">
                  <a:latin typeface="Arial Narrow" pitchFamily="34" charset="0"/>
                  <a:cs typeface="Times New Roman" panose="02020603050405020304" pitchFamily="18" charset="0"/>
                </a:rPr>
                <a:t>G</a:t>
              </a:r>
              <a:r>
                <a:rPr lang="en-US" altLang="ko-KR" sz="950" smtClean="0">
                  <a:latin typeface="Arial Narrow" pitchFamily="34" charset="0"/>
                  <a:cs typeface="Times New Roman" panose="02020603050405020304" pitchFamily="18" charset="0"/>
                </a:rPr>
                <a:t>iảm </a:t>
              </a:r>
              <a:r>
                <a:rPr lang="en-US" altLang="ko-KR" sz="950" dirty="0" err="1" smtClean="0">
                  <a:latin typeface="Arial Narrow" pitchFamily="34" charset="0"/>
                  <a:cs typeface="Times New Roman" panose="02020603050405020304" pitchFamily="18" charset="0"/>
                </a:rPr>
                <a:t>thanh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kết</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hợp</a:t>
              </a:r>
              <a:endParaRPr lang="ko-KR" altLang="en-US" sz="950" dirty="0">
                <a:latin typeface="Arial Narrow" pitchFamily="34" charset="0"/>
                <a:cs typeface="Times New Roman" panose="02020603050405020304" pitchFamily="18" charset="0"/>
              </a:endParaRPr>
            </a:p>
          </p:txBody>
        </p:sp>
      </p:grpSp>
      <p:sp>
        <p:nvSpPr>
          <p:cNvPr id="57" name="Rectangle 52"/>
          <p:cNvSpPr>
            <a:spLocks noChangeArrowheads="1"/>
          </p:cNvSpPr>
          <p:nvPr/>
        </p:nvSpPr>
        <p:spPr bwMode="auto">
          <a:xfrm>
            <a:off x="273785" y="6355412"/>
            <a:ext cx="309261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latinLnBrk="0" hangingPunct="1">
              <a:spcBef>
                <a:spcPct val="0"/>
              </a:spcBef>
              <a:spcAft>
                <a:spcPct val="0"/>
              </a:spcAft>
            </a:pPr>
            <a:r>
              <a:rPr lang="en-US" sz="950">
                <a:latin typeface="Arial Narrow" pitchFamily="34" charset="0"/>
                <a:ea typeface="LG Smart_H Regular" panose="020B0600000101010101" pitchFamily="34" charset="-127"/>
                <a:cs typeface="Times New Roman" pitchFamily="18" charset="0"/>
              </a:rPr>
              <a:t>5</a:t>
            </a:r>
            <a:r>
              <a:rPr lang="en-US" sz="950" smtClean="0">
                <a:latin typeface="Arial Narrow" pitchFamily="34" charset="0"/>
                <a:ea typeface="LG Smart_H Regular" panose="020B0600000101010101" pitchFamily="34" charset="-127"/>
                <a:cs typeface="Times New Roman" pitchFamily="18" charset="0"/>
              </a:rPr>
              <a:t>5.   </a:t>
            </a:r>
            <a:r>
              <a:rPr lang="vi-VN" sz="950" smtClean="0">
                <a:latin typeface="Times New Roman" pitchFamily="18" charset="0"/>
                <a:ea typeface="LG Smart_H Regular" panose="020B0600000101010101" pitchFamily="34" charset="-127"/>
                <a:cs typeface="Times New Roman" pitchFamily="18" charset="0"/>
              </a:rPr>
              <a:t>Cơ </a:t>
            </a:r>
            <a:r>
              <a:rPr lang="vi-VN" sz="950" dirty="0">
                <a:latin typeface="Times New Roman" pitchFamily="18" charset="0"/>
                <a:ea typeface="LG Smart_H Regular" panose="020B0600000101010101" pitchFamily="34" charset="-127"/>
                <a:cs typeface="Times New Roman" pitchFamily="18" charset="0"/>
              </a:rPr>
              <a:t>cấu truyền động nào có ưu điểm là giảm </a:t>
            </a:r>
            <a:r>
              <a:rPr lang="vi-VN" sz="950">
                <a:latin typeface="Times New Roman" pitchFamily="18" charset="0"/>
                <a:ea typeface="LG Smart_H Regular" panose="020B0600000101010101" pitchFamily="34" charset="-127"/>
                <a:cs typeface="Times New Roman" pitchFamily="18" charset="0"/>
              </a:rPr>
              <a:t>thiểu </a:t>
            </a:r>
            <a:r>
              <a:rPr lang="en-US" sz="950" smtClean="0">
                <a:latin typeface="Arial Narrow" pitchFamily="34" charset="0"/>
                <a:ea typeface="LG Smart_H Regular" panose="020B0600000101010101" pitchFamily="34" charset="-127"/>
                <a:cs typeface="Times New Roman" pitchFamily="18" charset="0"/>
              </a:rPr>
              <a:t>đ</a:t>
            </a:r>
            <a:r>
              <a:rPr lang="vi-VN" sz="950">
                <a:latin typeface="Times New Roman" pitchFamily="18" charset="0"/>
                <a:ea typeface="LG Smart_H Regular" panose="020B0600000101010101" pitchFamily="34" charset="-127"/>
                <a:cs typeface="Times New Roman" pitchFamily="18" charset="0"/>
              </a:rPr>
              <a:t>iện </a:t>
            </a:r>
            <a:r>
              <a:rPr lang="vi-VN" sz="950" dirty="0">
                <a:latin typeface="Times New Roman" pitchFamily="18" charset="0"/>
                <a:ea typeface="LG Smart_H Regular" panose="020B0600000101010101" pitchFamily="34" charset="-127"/>
                <a:cs typeface="Times New Roman" pitchFamily="18" charset="0"/>
              </a:rPr>
              <a:t>tích lắp đặt bằng </a:t>
            </a:r>
            <a:r>
              <a:rPr lang="vi-VN" sz="950">
                <a:latin typeface="Times New Roman" pitchFamily="18" charset="0"/>
                <a:ea typeface="LG Smart_H Regular" panose="020B0600000101010101" pitchFamily="34" charset="-127"/>
                <a:cs typeface="Times New Roman" pitchFamily="18" charset="0"/>
              </a:rPr>
              <a:t>cách </a:t>
            </a:r>
            <a:r>
              <a:rPr lang="vi-VN" sz="950" smtClean="0">
                <a:latin typeface="Times New Roman" pitchFamily="18" charset="0"/>
                <a:ea typeface="LG Smart_H Regular" panose="020B0600000101010101" pitchFamily="34" charset="-127"/>
                <a:cs typeface="Times New Roman" pitchFamily="18" charset="0"/>
              </a:rPr>
              <a:t>chuyển</a:t>
            </a:r>
            <a:r>
              <a:rPr lang="en-US" sz="950" smtClean="0">
                <a:latin typeface="Arial Narrow" pitchFamily="34" charset="0"/>
                <a:ea typeface="LG Smart_H Regular" panose="020B0600000101010101" pitchFamily="34" charset="-127"/>
                <a:cs typeface="Times New Roman" pitchFamily="18" charset="0"/>
              </a:rPr>
              <a:t> đ</a:t>
            </a:r>
            <a:r>
              <a:rPr lang="vi-VN" sz="950" smtClean="0">
                <a:latin typeface="Times New Roman" pitchFamily="18" charset="0"/>
                <a:ea typeface="LG Smart_H Regular" panose="020B0600000101010101" pitchFamily="34" charset="-127"/>
                <a:cs typeface="Times New Roman" pitchFamily="18" charset="0"/>
              </a:rPr>
              <a:t>ộng</a:t>
            </a:r>
            <a:r>
              <a:rPr lang="en-US" sz="950" smtClean="0">
                <a:latin typeface="Arial Narrow" pitchFamily="34"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thẳng </a:t>
            </a:r>
            <a:r>
              <a:rPr lang="vi-VN" sz="950" dirty="0">
                <a:latin typeface="Times New Roman" pitchFamily="18" charset="0"/>
                <a:ea typeface="LG Smart_H Regular" panose="020B0600000101010101" pitchFamily="34" charset="-127"/>
                <a:cs typeface="Times New Roman" pitchFamily="18" charset="0"/>
              </a:rPr>
              <a:t>table thông </a:t>
            </a:r>
            <a:r>
              <a:rPr lang="vi-VN" sz="950">
                <a:latin typeface="Times New Roman" pitchFamily="18" charset="0"/>
                <a:ea typeface="LG Smart_H Regular" panose="020B0600000101010101" pitchFamily="34" charset="-127"/>
                <a:cs typeface="Times New Roman" pitchFamily="18" charset="0"/>
              </a:rPr>
              <a:t>qua </a:t>
            </a:r>
            <a:r>
              <a:rPr lang="vi-VN" sz="950" smtClean="0">
                <a:latin typeface="Times New Roman" pitchFamily="18" charset="0"/>
                <a:ea typeface="LG Smart_H Regular" panose="020B0600000101010101" pitchFamily="34" charset="-127"/>
                <a:cs typeface="Times New Roman" pitchFamily="18" charset="0"/>
              </a:rPr>
              <a:t>yoke</a:t>
            </a:r>
            <a:r>
              <a:rPr lang="vi-VN" sz="950">
                <a:latin typeface="Times New Roman" pitchFamily="18" charset="0"/>
                <a:ea typeface="LG Smart_H Regular" panose="020B0600000101010101" pitchFamily="34" charset="-127"/>
                <a:cs typeface="Times New Roman" pitchFamily="18" charset="0"/>
              </a:rPr>
              <a:t>, nam châm, </a:t>
            </a:r>
            <a:r>
              <a:rPr lang="vi-VN" sz="950" smtClean="0">
                <a:latin typeface="Times New Roman" pitchFamily="18" charset="0"/>
                <a:ea typeface="LG Smart_H Regular" panose="020B0600000101010101" pitchFamily="34" charset="-127"/>
                <a:cs typeface="Times New Roman" pitchFamily="18" charset="0"/>
              </a:rPr>
              <a:t>dây</a:t>
            </a:r>
            <a:r>
              <a:rPr lang="en-US" sz="950" smtClean="0">
                <a:latin typeface="Arial Narrow" pitchFamily="34"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xích,</a:t>
            </a:r>
            <a:r>
              <a:rPr lang="en-US" sz="950">
                <a:latin typeface="Arial Narrow" pitchFamily="34"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đối </a:t>
            </a:r>
            <a:r>
              <a:rPr lang="vi-VN" sz="950">
                <a:latin typeface="Times New Roman" pitchFamily="18" charset="0"/>
                <a:ea typeface="LG Smart_H Regular" panose="020B0600000101010101" pitchFamily="34" charset="-127"/>
                <a:cs typeface="Times New Roman" pitchFamily="18" charset="0"/>
              </a:rPr>
              <a:t>với chuyển </a:t>
            </a:r>
            <a:r>
              <a:rPr lang="vi-VN" sz="950" dirty="0">
                <a:latin typeface="Times New Roman" pitchFamily="18" charset="0"/>
                <a:ea typeface="LG Smart_H Regular" panose="020B0600000101010101" pitchFamily="34" charset="-127"/>
                <a:cs typeface="Times New Roman" pitchFamily="18" charset="0"/>
              </a:rPr>
              <a:t>động </a:t>
            </a:r>
            <a:r>
              <a:rPr lang="vi-VN" sz="950">
                <a:latin typeface="Times New Roman" pitchFamily="18" charset="0"/>
                <a:ea typeface="LG Smart_H Regular" panose="020B0600000101010101" pitchFamily="34" charset="-127"/>
                <a:cs typeface="Times New Roman" pitchFamily="18" charset="0"/>
              </a:rPr>
              <a:t>của pít-tông</a:t>
            </a:r>
            <a:r>
              <a:rPr lang="en-US" sz="950">
                <a:latin typeface="Arial Narrow" pitchFamily="34" charset="0"/>
                <a:ea typeface="LG Smart_H Regular" panose="020B0600000101010101" pitchFamily="34" charset="-127"/>
                <a:cs typeface="Times New Roman" pitchFamily="18" charset="0"/>
              </a:rPr>
              <a:t> </a:t>
            </a:r>
            <a:r>
              <a:rPr lang="vi-VN" sz="950">
                <a:latin typeface="Times New Roman" pitchFamily="18" charset="0"/>
                <a:ea typeface="LG Smart_H Regular" panose="020B0600000101010101" pitchFamily="34" charset="-127"/>
                <a:cs typeface="Times New Roman" pitchFamily="18" charset="0"/>
              </a:rPr>
              <a:t>?</a:t>
            </a:r>
            <a:r>
              <a:rPr lang="en-US" altLang="ko-KR" sz="950">
                <a:latin typeface="Arial Narrow" pitchFamily="34" charset="0"/>
                <a:ea typeface="LG Smart_H Regular" panose="020B0600000101010101" pitchFamily="34" charset="-127"/>
                <a:cs typeface="Times New Roman" pitchFamily="18" charset="0"/>
              </a:rPr>
              <a:t>  </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Cylinder </a:t>
            </a:r>
            <a:r>
              <a:rPr lang="vi-VN" altLang="ko-KR" sz="950">
                <a:latin typeface="Times New Roman" pitchFamily="18" charset="0"/>
                <a:ea typeface="LG Smart_H Regular" panose="020B0600000101010101" pitchFamily="34" charset="-127"/>
                <a:cs typeface="Times New Roman" pitchFamily="18" charset="0"/>
              </a:rPr>
              <a:t>loại cần kép</a:t>
            </a:r>
            <a:r>
              <a:rPr lang="en-US" altLang="ko-KR" sz="950">
                <a:latin typeface="Arial Narrow" pitchFamily="34" charset="0"/>
                <a:ea typeface="LG Smart_H Regular" panose="020B0600000101010101" pitchFamily="34" charset="-127"/>
                <a:cs typeface="Times New Roman" pitchFamily="18" charset="0"/>
              </a:rPr>
              <a:t> </a:t>
            </a:r>
            <a:endParaRPr lang="en-US" altLang="ko-KR" sz="950" smtClean="0">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dirty="0">
                <a:latin typeface="Times New Roman" pitchFamily="18" charset="0"/>
                <a:ea typeface="LG Smart_H Regular" panose="020B0600000101010101" pitchFamily="34" charset="-127"/>
                <a:cs typeface="Times New Roman" pitchFamily="18" charset="0"/>
              </a:rPr>
              <a:t>truyền động kiểu </a:t>
            </a:r>
            <a:r>
              <a:rPr lang="vi-VN" altLang="ko-KR" sz="950">
                <a:latin typeface="Times New Roman" pitchFamily="18" charset="0"/>
                <a:ea typeface="LG Smart_H Regular" panose="020B0600000101010101" pitchFamily="34" charset="-127"/>
                <a:cs typeface="Times New Roman" pitchFamily="18" charset="0"/>
              </a:rPr>
              <a:t>xả</a:t>
            </a:r>
            <a:r>
              <a:rPr lang="ko-KR" altLang="en-US" sz="950">
                <a:latin typeface="Arial Narrow" pitchFamily="34"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 </a:t>
            </a:r>
            <a:r>
              <a:rPr lang="ko-KR" altLang="en-US" sz="950">
                <a:latin typeface="Arial Narrow" pitchFamily="34" charset="0"/>
                <a:ea typeface="LG Smart_H Regular" panose="020B0600000101010101" pitchFamily="34" charset="-127"/>
                <a:cs typeface="Times New Roman" pitchFamily="18" charset="0"/>
              </a:rPr>
              <a:t> </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dirty="0">
                <a:latin typeface="Times New Roman" pitchFamily="18" charset="0"/>
                <a:ea typeface="LG Smart_H Regular" panose="020B0600000101010101" pitchFamily="34" charset="-127"/>
                <a:cs typeface="Times New Roman" pitchFamily="18" charset="0"/>
              </a:rPr>
              <a:t>truyền động bánh răng </a:t>
            </a:r>
            <a:r>
              <a:rPr lang="vi-VN" altLang="ko-KR" sz="950">
                <a:latin typeface="Times New Roman" pitchFamily="18" charset="0"/>
                <a:ea typeface="LG Smart_H Regular" panose="020B0600000101010101" pitchFamily="34" charset="-127"/>
                <a:cs typeface="Times New Roman" pitchFamily="18" charset="0"/>
              </a:rPr>
              <a:t>giá </a:t>
            </a:r>
            <a:r>
              <a:rPr lang="vi-VN" altLang="ko-KR" sz="950" smtClean="0">
                <a:latin typeface="Times New Roman" pitchFamily="18" charset="0"/>
                <a:ea typeface="LG Smart_H Regular" panose="020B0600000101010101" pitchFamily="34" charset="-127"/>
                <a:cs typeface="Times New Roman" pitchFamily="18" charset="0"/>
              </a:rPr>
              <a:t>đỡ</a:t>
            </a:r>
            <a:endParaRPr lang="en-US" altLang="ko-KR" sz="950" smtClean="0">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Cylinder </a:t>
            </a:r>
            <a:r>
              <a:rPr lang="vi-VN" altLang="ko-KR" sz="950">
                <a:latin typeface="Times New Roman" pitchFamily="18" charset="0"/>
                <a:ea typeface="LG Smart_H Regular" panose="020B0600000101010101" pitchFamily="34" charset="-127"/>
                <a:cs typeface="Times New Roman" pitchFamily="18" charset="0"/>
              </a:rPr>
              <a:t>không cần</a:t>
            </a:r>
            <a:r>
              <a:rPr lang="ko-KR" altLang="en-US" sz="950">
                <a:latin typeface="Arial Narrow" pitchFamily="34" charset="0"/>
                <a:ea typeface="LG Smart_H Regular" panose="020B0600000101010101" pitchFamily="34" charset="-127"/>
                <a:cs typeface="Times New Roman" pitchFamily="18" charset="0"/>
              </a:rPr>
              <a:t>                </a:t>
            </a:r>
            <a:endParaRPr lang="en-US" altLang="ko-KR" sz="950">
              <a:latin typeface="Arial Narrow" pitchFamily="34" charset="0"/>
              <a:ea typeface="LG Smart_H Regular" panose="020B0600000101010101" pitchFamily="34" charset="-127"/>
              <a:cs typeface="Times New Roman" pitchFamily="18" charset="0"/>
            </a:endParaRPr>
          </a:p>
        </p:txBody>
      </p:sp>
      <p:sp>
        <p:nvSpPr>
          <p:cNvPr id="59" name="Rectangle 69"/>
          <p:cNvSpPr>
            <a:spLocks noChangeArrowheads="1"/>
          </p:cNvSpPr>
          <p:nvPr/>
        </p:nvSpPr>
        <p:spPr bwMode="auto">
          <a:xfrm>
            <a:off x="250255" y="5209818"/>
            <a:ext cx="311614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a:latin typeface="Arial Narrow" pitchFamily="34" charset="0"/>
                <a:ea typeface="LG Smart_H Regular" panose="020B0600000101010101" pitchFamily="34" charset="-127"/>
                <a:cs typeface="Times New Roman" pitchFamily="18" charset="0"/>
              </a:rPr>
              <a:t>5</a:t>
            </a:r>
            <a:r>
              <a:rPr lang="en-US" altLang="ko-KR" sz="950" smtClean="0">
                <a:latin typeface="Arial Narrow" pitchFamily="34" charset="0"/>
                <a:ea typeface="LG Smart_H Regular" panose="020B0600000101010101" pitchFamily="34" charset="-127"/>
                <a:cs typeface="Times New Roman" pitchFamily="18" charset="0"/>
              </a:rPr>
              <a:t>4.  </a:t>
            </a:r>
            <a:r>
              <a:rPr lang="vi-VN" altLang="ko-KR" sz="950" smtClean="0">
                <a:latin typeface="Times New Roman" pitchFamily="18" charset="0"/>
                <a:ea typeface="LG Smart_H Regular" panose="020B0600000101010101" pitchFamily="34" charset="-127"/>
                <a:cs typeface="Times New Roman" pitchFamily="18" charset="0"/>
              </a:rPr>
              <a:t>Cái </a:t>
            </a:r>
            <a:r>
              <a:rPr lang="vi-VN" altLang="ko-KR" sz="950">
                <a:latin typeface="Times New Roman" pitchFamily="18" charset="0"/>
                <a:ea typeface="LG Smart_H Regular" panose="020B0600000101010101" pitchFamily="34" charset="-127"/>
                <a:cs typeface="Times New Roman" pitchFamily="18" charset="0"/>
              </a:rPr>
              <a:t>nào </a:t>
            </a:r>
            <a:r>
              <a:rPr lang="vi-VN" altLang="ko-KR" sz="950" b="1">
                <a:latin typeface="Times New Roman" pitchFamily="18" charset="0"/>
                <a:ea typeface="LG Smart_H Regular" panose="020B0600000101010101" pitchFamily="34" charset="-127"/>
                <a:cs typeface="Times New Roman" pitchFamily="18" charset="0"/>
              </a:rPr>
              <a:t>không phải </a:t>
            </a:r>
            <a:r>
              <a:rPr lang="vi-VN" altLang="ko-KR" sz="950">
                <a:latin typeface="Times New Roman" pitchFamily="18" charset="0"/>
                <a:ea typeface="LG Smart_H Regular" panose="020B0600000101010101" pitchFamily="34" charset="-127"/>
                <a:cs typeface="Times New Roman" pitchFamily="18" charset="0"/>
              </a:rPr>
              <a:t>là loại của </a:t>
            </a:r>
            <a:r>
              <a:rPr lang="vi-VN" altLang="ko-KR" sz="950" smtClean="0">
                <a:latin typeface="Times New Roman" pitchFamily="18" charset="0"/>
                <a:ea typeface="LG Smart_H Regular" panose="020B0600000101010101" pitchFamily="34" charset="-127"/>
                <a:cs typeface="Times New Roman" pitchFamily="18" charset="0"/>
              </a:rPr>
              <a:t>Cylinder phức hợp</a:t>
            </a:r>
            <a:r>
              <a:rPr lang="en-US" altLang="ko-KR" sz="950" smtClean="0">
                <a:latin typeface="Arial Narrow" pitchFamily="34" charset="0"/>
                <a:ea typeface="LG Smart_H Regular" panose="020B0600000101010101" pitchFamily="34" charset="-127"/>
                <a:cs typeface="Times New Roman" pitchFamily="18" charset="0"/>
              </a:rPr>
              <a:t>?</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A. Rod Cylinder         </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B  Cylinder tác động đơn</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C. Cylinder điều khiển đa vị trí</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D. Tandem Cylinder</a:t>
            </a:r>
          </a:p>
        </p:txBody>
      </p:sp>
      <p:grpSp>
        <p:nvGrpSpPr>
          <p:cNvPr id="2" name="Group 1"/>
          <p:cNvGrpSpPr/>
          <p:nvPr/>
        </p:nvGrpSpPr>
        <p:grpSpPr>
          <a:xfrm>
            <a:off x="276944" y="3656856"/>
            <a:ext cx="3128963" cy="1554272"/>
            <a:chOff x="276944" y="3656856"/>
            <a:chExt cx="3128963" cy="1554272"/>
          </a:xfrm>
        </p:grpSpPr>
        <p:sp>
          <p:nvSpPr>
            <p:cNvPr id="61" name="Rectangle 50"/>
            <p:cNvSpPr>
              <a:spLocks noChangeArrowheads="1"/>
            </p:cNvSpPr>
            <p:nvPr/>
          </p:nvSpPr>
          <p:spPr bwMode="auto">
            <a:xfrm>
              <a:off x="276944" y="3656856"/>
              <a:ext cx="3128963"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hangingPunct="1"/>
              <a:r>
                <a:rPr lang="en-US" altLang="ko-KR" sz="950">
                  <a:latin typeface="Arial Narrow" pitchFamily="34" charset="0"/>
                  <a:ea typeface="LG Smart_H Regular" panose="020B0600000101010101" pitchFamily="34" charset="-127"/>
                  <a:cs typeface="Times New Roman" panose="02020603050405020304" pitchFamily="18" charset="0"/>
                </a:rPr>
                <a:t>5</a:t>
              </a:r>
              <a:r>
                <a:rPr lang="en-US" altLang="ko-KR" sz="950" smtClean="0">
                  <a:latin typeface="Arial Narrow" pitchFamily="34" charset="0"/>
                  <a:ea typeface="LG Smart_H Regular" panose="020B0600000101010101" pitchFamily="34" charset="-127"/>
                  <a:cs typeface="Times New Roman" panose="02020603050405020304" pitchFamily="18" charset="0"/>
                </a:rPr>
                <a:t>3. Ảnh</a:t>
              </a:r>
              <a:r>
                <a:rPr lang="ko-KR" altLang="en-US" sz="950" smtClean="0">
                  <a:latin typeface="Arial Narrow" pitchFamily="34" charset="0"/>
                  <a:ea typeface="LG Smart_H Regular" panose="020B0600000101010101" pitchFamily="34" charset="-127"/>
                  <a:cs typeface="Times New Roman" panose="02020603050405020304" pitchFamily="18" charset="0"/>
                </a:rPr>
                <a:t> </a:t>
              </a:r>
              <a:r>
                <a:rPr lang="en-US" altLang="ko-KR" sz="950">
                  <a:latin typeface="Arial Narrow" pitchFamily="34" charset="0"/>
                  <a:ea typeface="LG Smart_H Regular" panose="020B0600000101010101" pitchFamily="34" charset="-127"/>
                  <a:cs typeface="Times New Roman" panose="02020603050405020304" pitchFamily="18" charset="0"/>
                </a:rPr>
                <a:t>phía dưới đây là ký hiệu van điều khiển </a:t>
              </a:r>
              <a:r>
                <a:rPr lang="en-US" altLang="ko-KR" sz="950" smtClean="0">
                  <a:latin typeface="Arial Narrow" pitchFamily="34" charset="0"/>
                  <a:ea typeface="LG Smart_H Regular" panose="020B0600000101010101" pitchFamily="34" charset="-127"/>
                  <a:cs typeface="Times New Roman" panose="02020603050405020304" pitchFamily="18" charset="0"/>
                </a:rPr>
                <a:t>phương </a:t>
              </a:r>
              <a:r>
                <a:rPr lang="en-US" altLang="ko-KR" sz="950">
                  <a:latin typeface="Arial Narrow" pitchFamily="34" charset="0"/>
                  <a:ea typeface="LG Smart_H Regular" panose="020B0600000101010101" pitchFamily="34" charset="-127"/>
                  <a:cs typeface="Times New Roman" panose="02020603050405020304" pitchFamily="18" charset="0"/>
                </a:rPr>
                <a:t>hướng. Tên van là gì ? </a:t>
              </a:r>
              <a:endParaRPr lang="en-US" altLang="ko-KR" sz="950" smtClean="0">
                <a:latin typeface="Arial Narrow" pitchFamily="34" charset="0"/>
                <a:ea typeface="LG Smart_H Regular" panose="020B0600000101010101" pitchFamily="34" charset="-127"/>
                <a:cs typeface="Times New Roman" panose="02020603050405020304" pitchFamily="18" charset="0"/>
              </a:endParaRPr>
            </a:p>
            <a:p>
              <a:pPr eaLnBrk="1" hangingPunct="1"/>
              <a:endParaRPr lang="en-US" altLang="ko-KR" sz="950" smtClean="0">
                <a:latin typeface="Arial Narrow" pitchFamily="34" charset="0"/>
                <a:cs typeface="Times New Roman" panose="02020603050405020304" pitchFamily="18" charset="0"/>
              </a:endParaRPr>
            </a:p>
            <a:p>
              <a:pPr eaLnBrk="1" hangingPunct="1"/>
              <a:endParaRPr lang="en-US" altLang="ko-KR" sz="950">
                <a:latin typeface="Arial Narrow" pitchFamily="34" charset="0"/>
                <a:cs typeface="Times New Roman" panose="02020603050405020304" pitchFamily="18" charset="0"/>
              </a:endParaRPr>
            </a:p>
            <a:p>
              <a:pPr eaLnBrk="1" hangingPunct="1"/>
              <a:endParaRPr lang="en-US" altLang="ko-KR" sz="950" smtClean="0">
                <a:latin typeface="Arial Narrow" pitchFamily="34" charset="0"/>
                <a:cs typeface="Times New Roman" panose="02020603050405020304" pitchFamily="18" charset="0"/>
              </a:endParaRPr>
            </a:p>
            <a:p>
              <a:pPr eaLnBrk="1" hangingPunct="1"/>
              <a:endParaRPr lang="en-US" altLang="ko-KR" sz="950">
                <a:latin typeface="Arial Narrow" pitchFamily="34" charset="0"/>
                <a:cs typeface="Times New Roman" panose="02020603050405020304" pitchFamily="18" charset="0"/>
              </a:endParaRPr>
            </a:p>
            <a:p>
              <a:pPr eaLnBrk="1" hangingPunct="1"/>
              <a:endParaRPr lang="en-US" altLang="ko-KR" sz="950" smtClean="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A</a:t>
              </a:r>
              <a:r>
                <a:rPr lang="en-US" altLang="ko-KR" sz="950">
                  <a:latin typeface="Arial Narrow" pitchFamily="34" charset="0"/>
                  <a:cs typeface="Times New Roman" panose="02020603050405020304" pitchFamily="18" charset="0"/>
                </a:rPr>
                <a:t>.  </a:t>
              </a:r>
              <a:r>
                <a:rPr lang="en-US" altLang="ko-KR" sz="950">
                  <a:latin typeface="Arial Narrow" pitchFamily="34" charset="0"/>
                  <a:ea typeface="LG Smart_H Regular" panose="020B0600000101010101" pitchFamily="34" charset="-127"/>
                  <a:cs typeface="Times New Roman" panose="02020603050405020304" pitchFamily="18" charset="0"/>
                </a:rPr>
                <a:t>4/2 Way</a:t>
              </a:r>
              <a:r>
                <a:rPr lang="ko-KR" altLang="en-US" sz="950">
                  <a:latin typeface="Arial Narrow" pitchFamily="34" charset="0"/>
                  <a:ea typeface="LG Smart_H Regular" panose="020B0600000101010101" pitchFamily="34" charset="-127"/>
                  <a:cs typeface="Times New Roman" panose="02020603050405020304" pitchFamily="18" charset="0"/>
                </a:rPr>
                <a:t>                            </a:t>
              </a:r>
              <a:r>
                <a:rPr lang="en-US" altLang="ko-KR" sz="950">
                  <a:latin typeface="Arial Narrow" pitchFamily="34" charset="0"/>
                  <a:ea typeface="LG Smart_H Regular" panose="020B0600000101010101" pitchFamily="34" charset="-127"/>
                  <a:cs typeface="Times New Roman" panose="02020603050405020304" pitchFamily="18" charset="0"/>
                </a:rPr>
                <a:t>B.  5/2 Way</a:t>
              </a:r>
              <a:r>
                <a:rPr lang="ko-KR" altLang="en-US" sz="950">
                  <a:latin typeface="Arial Narrow" pitchFamily="34" charset="0"/>
                  <a:ea typeface="LG Smart_H Regular" panose="020B0600000101010101" pitchFamily="34" charset="-127"/>
                  <a:cs typeface="Times New Roman" panose="02020603050405020304" pitchFamily="18" charset="0"/>
                </a:rPr>
                <a:t> </a:t>
              </a:r>
            </a:p>
            <a:p>
              <a:pPr eaLnBrk="1" hangingPunct="1"/>
              <a:r>
                <a:rPr lang="en-US" altLang="ko-KR" sz="950">
                  <a:latin typeface="Arial Narrow" pitchFamily="34" charset="0"/>
                  <a:ea typeface="LG Smart_H Regular" panose="020B0600000101010101" pitchFamily="34" charset="-127"/>
                  <a:cs typeface="Times New Roman" panose="02020603050405020304" pitchFamily="18" charset="0"/>
                </a:rPr>
                <a:t>C.  4/3 Way                            D.  3/2 Way </a:t>
              </a:r>
              <a:endParaRPr lang="ko-KR" altLang="en-US" sz="950">
                <a:latin typeface="Arial Narrow" pitchFamily="34" charset="0"/>
                <a:ea typeface="LG Smart_H Regular" panose="020B0600000101010101" pitchFamily="34" charset="-127"/>
                <a:cs typeface="Times New Roman" panose="02020603050405020304" pitchFamily="18" charset="0"/>
              </a:endParaRPr>
            </a:p>
            <a:p>
              <a:pPr eaLnBrk="1" hangingPunct="1"/>
              <a:endParaRPr lang="en-US" altLang="ko-KR" sz="950">
                <a:latin typeface="Arial Narrow" pitchFamily="34" charset="0"/>
                <a:ea typeface="LG Smart_H Regular" panose="020B0600000101010101" pitchFamily="34" charset="-127"/>
                <a:cs typeface="Times New Roman" panose="02020603050405020304" pitchFamily="18" charset="0"/>
              </a:endParaRPr>
            </a:p>
          </p:txBody>
        </p:sp>
        <p:pic>
          <p:nvPicPr>
            <p:cNvPr id="63" name="Picture 132"/>
            <p:cNvPicPr>
              <a:picLocks noChangeAspect="1" noChangeArrowheads="1"/>
            </p:cNvPicPr>
            <p:nvPr/>
          </p:nvPicPr>
          <p:blipFill>
            <a:blip r:embed="rId8">
              <a:extLst>
                <a:ext uri="{28A0092B-C50C-407E-A947-70E740481C1C}">
                  <a14:useLocalDpi xmlns:a14="http://schemas.microsoft.com/office/drawing/2010/main" val="0"/>
                </a:ext>
              </a:extLst>
            </a:blip>
            <a:srcRect t="49310" b="30386"/>
            <a:stretch>
              <a:fillRect/>
            </a:stretch>
          </p:blipFill>
          <p:spPr bwMode="auto">
            <a:xfrm>
              <a:off x="908720" y="4083943"/>
              <a:ext cx="17986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4" name="Rectangle 238"/>
          <p:cNvSpPr>
            <a:spLocks noChangeArrowheads="1"/>
          </p:cNvSpPr>
          <p:nvPr/>
        </p:nvSpPr>
        <p:spPr bwMode="auto">
          <a:xfrm>
            <a:off x="272182" y="2288704"/>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09538" indent="-109538" eaLnBrk="1" hangingPunct="1"/>
            <a:r>
              <a:rPr lang="en-US" altLang="ko-KR" sz="950">
                <a:latin typeface="Arial Narrow" pitchFamily="34" charset="0"/>
                <a:cs typeface="Times New Roman" panose="02020603050405020304" pitchFamily="18" charset="0"/>
              </a:rPr>
              <a:t>5</a:t>
            </a:r>
            <a:r>
              <a:rPr lang="en-US" altLang="ko-KR" sz="950" smtClean="0">
                <a:latin typeface="Arial Narrow" pitchFamily="34" charset="0"/>
                <a:cs typeface="Times New Roman" panose="02020603050405020304" pitchFamily="18" charset="0"/>
              </a:rPr>
              <a:t>2. </a:t>
            </a:r>
            <a:r>
              <a:rPr lang="en-US" altLang="ko-KR" sz="950" dirty="0" err="1" smtClean="0">
                <a:latin typeface="Arial Narrow" pitchFamily="34" charset="0"/>
                <a:cs typeface="Times New Roman" panose="02020603050405020304" pitchFamily="18" charset="0"/>
              </a:rPr>
              <a:t>Loại</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máy</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nào</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đổi</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pha</a:t>
            </a:r>
            <a:r>
              <a:rPr lang="en-US" altLang="ko-KR" sz="950" dirty="0" smtClean="0">
                <a:latin typeface="Arial Narrow" pitchFamily="34" charset="0"/>
                <a:cs typeface="Times New Roman" panose="02020603050405020304" pitchFamily="18" charset="0"/>
              </a:rPr>
              <a:t> 90’ </a:t>
            </a:r>
            <a:r>
              <a:rPr lang="en-US" altLang="ko-KR" sz="950" dirty="0" err="1" smtClean="0">
                <a:latin typeface="Arial Narrow" pitchFamily="34" charset="0"/>
                <a:cs typeface="Times New Roman" panose="02020603050405020304" pitchFamily="18" charset="0"/>
              </a:rPr>
              <a:t>cho</a:t>
            </a:r>
            <a:r>
              <a:rPr lang="en-US" altLang="ko-KR" sz="950" dirty="0" smtClean="0">
                <a:latin typeface="Arial Narrow" pitchFamily="34" charset="0"/>
                <a:cs typeface="Times New Roman" panose="02020603050405020304" pitchFamily="18" charset="0"/>
              </a:rPr>
              <a:t> hay rotor </a:t>
            </a:r>
            <a:r>
              <a:rPr lang="en-US" altLang="ko-KR" sz="950" dirty="0" err="1" smtClean="0">
                <a:latin typeface="Arial Narrow" pitchFamily="34" charset="0"/>
                <a:cs typeface="Times New Roman" panose="02020603050405020304" pitchFamily="18" charset="0"/>
              </a:rPr>
              <a:t>để</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giữa</a:t>
            </a:r>
            <a:r>
              <a:rPr lang="en-US" altLang="ko-KR" sz="950" dirty="0" smtClean="0">
                <a:latin typeface="Arial Narrow" pitchFamily="34" charset="0"/>
                <a:cs typeface="Times New Roman" panose="02020603050405020304" pitchFamily="18" charset="0"/>
              </a:rPr>
              <a:t> casing </a:t>
            </a:r>
            <a:r>
              <a:rPr lang="en-US" altLang="ko-KR" sz="950" dirty="0" err="1" smtClean="0">
                <a:latin typeface="Arial Narrow" pitchFamily="34" charset="0"/>
                <a:cs typeface="Times New Roman" panose="02020603050405020304" pitchFamily="18" charset="0"/>
              </a:rPr>
              <a:t>với</a:t>
            </a:r>
            <a:r>
              <a:rPr lang="en-US" altLang="ko-KR" sz="950" dirty="0" smtClean="0">
                <a:latin typeface="Arial Narrow" pitchFamily="34" charset="0"/>
                <a:cs typeface="Times New Roman" panose="02020603050405020304" pitchFamily="18" charset="0"/>
              </a:rPr>
              <a:t> rotor </a:t>
            </a:r>
            <a:r>
              <a:rPr lang="en-US" altLang="ko-KR" sz="950" dirty="0" err="1" smtClean="0">
                <a:latin typeface="Arial Narrow" pitchFamily="34" charset="0"/>
                <a:cs typeface="Times New Roman" panose="02020603050405020304" pitchFamily="18" charset="0"/>
              </a:rPr>
              <a:t>được</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đóng</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kín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làm</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di </a:t>
            </a:r>
            <a:r>
              <a:rPr lang="en-US" altLang="ko-KR" sz="950" dirty="0" err="1" smtClean="0">
                <a:latin typeface="Arial Narrow" pitchFamily="34" charset="0"/>
                <a:cs typeface="Times New Roman" panose="02020603050405020304" pitchFamily="18" charset="0"/>
              </a:rPr>
              <a:t>chuyển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ra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phía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cửa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xả</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và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xả</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không</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có</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sự</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thay</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đổi</a:t>
            </a:r>
            <a:r>
              <a:rPr lang="en-US" altLang="ko-KR" sz="950" dirty="0" smtClean="0">
                <a:latin typeface="Arial Narrow" pitchFamily="34" charset="0"/>
                <a:cs typeface="Times New Roman" panose="02020603050405020304" pitchFamily="18" charset="0"/>
              </a:rPr>
              <a:t> dung </a:t>
            </a:r>
            <a:r>
              <a:rPr lang="en-US" altLang="ko-KR" sz="950" dirty="0" err="1" smtClean="0">
                <a:latin typeface="Arial Narrow" pitchFamily="34" charset="0"/>
                <a:cs typeface="Times New Roman" panose="02020603050405020304" pitchFamily="18" charset="0"/>
              </a:rPr>
              <a:t>tích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nào</a:t>
            </a:r>
            <a:r>
              <a:rPr lang="en-US" altLang="ko-KR" sz="950" dirty="0" smtClean="0">
                <a:latin typeface="Arial Narrow" pitchFamily="34" charset="0"/>
                <a:cs typeface="Times New Roman" panose="02020603050405020304" pitchFamily="18" charset="0"/>
              </a:rPr>
              <a:t>?</a:t>
            </a:r>
            <a:endParaRPr lang="en-US" altLang="ko-KR" sz="950" dirty="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khí</a:t>
            </a:r>
            <a:r>
              <a:rPr lang="en-US" altLang="ko-KR" sz="950" smtClean="0">
                <a:latin typeface="Arial Narrow" pitchFamily="34" charset="0"/>
                <a:cs typeface="Times New Roman" panose="02020603050405020304" pitchFamily="18" charset="0"/>
              </a:rPr>
              <a:t> piston </a:t>
            </a:r>
            <a:r>
              <a:rPr lang="en-US" altLang="ko-KR" sz="950" err="1" smtClean="0">
                <a:latin typeface="Arial Narrow" pitchFamily="34" charset="0"/>
                <a:cs typeface="Times New Roman" panose="02020603050405020304" pitchFamily="18" charset="0"/>
              </a:rPr>
              <a:t>đa</a:t>
            </a:r>
            <a:r>
              <a:rPr lang="en-US" altLang="ko-KR" sz="950" smtClean="0">
                <a:latin typeface="Arial Narrow" pitchFamily="34" charset="0"/>
                <a:cs typeface="Times New Roman" panose="02020603050405020304" pitchFamily="18" charset="0"/>
              </a:rPr>
              <a:t> tần</a:t>
            </a: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trục</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Vít</a:t>
            </a:r>
            <a:r>
              <a:rPr lang="en-US" altLang="ko-KR" sz="950" smtClean="0">
                <a:latin typeface="Arial Narrow" pitchFamily="34" charset="0"/>
                <a:cs typeface="Times New Roman" panose="02020603050405020304" pitchFamily="18" charset="0"/>
              </a:rPr>
              <a:t> Screw</a:t>
            </a:r>
            <a:endParaRPr lang="en-US" altLang="ko-KR" sz="950" dirty="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cánh</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quạt</a:t>
            </a:r>
            <a:r>
              <a:rPr lang="ko-KR" altLang="en-US" sz="950" smtClean="0">
                <a:latin typeface="Arial Narrow" pitchFamily="34" charset="0"/>
                <a:cs typeface="Times New Roman" panose="02020603050405020304" pitchFamily="18" charset="0"/>
              </a:rPr>
              <a:t>               </a:t>
            </a:r>
            <a:endParaRPr lang="en-US" altLang="ko-KR" sz="950" smtClean="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latin typeface="Arial Narrow" pitchFamily="34" charset="0"/>
                <a:cs typeface="Times New Roman" panose="02020603050405020304" pitchFamily="18" charset="0"/>
              </a:rPr>
              <a:t>Root </a:t>
            </a:r>
            <a:r>
              <a:rPr lang="en-US" altLang="ko-KR" sz="950" dirty="0" smtClean="0">
                <a:latin typeface="Arial Narrow" pitchFamily="34" charset="0"/>
                <a:cs typeface="Times New Roman" panose="02020603050405020304" pitchFamily="18" charset="0"/>
              </a:rPr>
              <a:t>Blower</a:t>
            </a:r>
            <a:endParaRPr lang="ko-KR" altLang="en-US" sz="950" dirty="0">
              <a:latin typeface="Arial Narrow" pitchFamily="34" charset="0"/>
              <a:cs typeface="Times New Roman" panose="02020603050405020304" pitchFamily="18" charset="0"/>
            </a:endParaRPr>
          </a:p>
        </p:txBody>
      </p:sp>
      <p:grpSp>
        <p:nvGrpSpPr>
          <p:cNvPr id="29" name="Group 28"/>
          <p:cNvGrpSpPr/>
          <p:nvPr/>
        </p:nvGrpSpPr>
        <p:grpSpPr>
          <a:xfrm>
            <a:off x="3429000" y="8002782"/>
            <a:ext cx="3225232" cy="1495794"/>
            <a:chOff x="188640" y="4669405"/>
            <a:chExt cx="3225232" cy="1495794"/>
          </a:xfrm>
        </p:grpSpPr>
        <p:sp>
          <p:nvSpPr>
            <p:cNvPr id="30" name="Rectangle 45"/>
            <p:cNvSpPr>
              <a:spLocks noChangeArrowheads="1"/>
            </p:cNvSpPr>
            <p:nvPr/>
          </p:nvSpPr>
          <p:spPr bwMode="auto">
            <a:xfrm>
              <a:off x="188640" y="4669405"/>
              <a:ext cx="3124200"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giải</a:t>
              </a:r>
              <a:r>
                <a:rPr lang="en-US" altLang="ko-KR" sz="950" smtClean="0">
                  <a:latin typeface="Times New Roman" pitchFamily="18" charset="0"/>
                  <a:ea typeface="돋움" pitchFamily="50" charset="-127"/>
                  <a:cs typeface="Times New Roman" pitchFamily="18" charset="0"/>
                </a:rPr>
                <a:t> </a:t>
              </a:r>
            </a:p>
            <a:p>
              <a:pPr eaLnBrk="1" hangingPunct="1">
                <a:lnSpc>
                  <a:spcPct val="120000"/>
                </a:lnSpc>
              </a:pPr>
              <a:r>
                <a:rPr lang="en-US" altLang="ko-KR" sz="950" smtClean="0">
                  <a:latin typeface="Times New Roman" pitchFamily="18" charset="0"/>
                  <a:ea typeface="돋움" pitchFamily="50" charset="-127"/>
                  <a:cs typeface="Times New Roman" pitchFamily="18" charset="0"/>
                </a:rPr>
                <a:t>thích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kép</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B. Là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phương</a:t>
              </a:r>
              <a:r>
                <a:rPr lang="en-US" altLang="ko-KR" sz="950" smtClean="0">
                  <a:latin typeface="Times New Roman" pitchFamily="18" charset="0"/>
                  <a:ea typeface="돋움" pitchFamily="50" charset="-127"/>
                  <a:cs typeface="Times New Roman" pitchFamily="18" charset="0"/>
                </a:rPr>
                <a:t> thức meter </a:t>
              </a:r>
            </a:p>
            <a:p>
              <a:pPr eaLnBrk="1" hangingPunct="1">
                <a:lnSpc>
                  <a:spcPct val="120000"/>
                </a:lnSpc>
              </a:pPr>
              <a:r>
                <a:rPr lang="en-US" altLang="ko-KR" sz="950" smtClean="0">
                  <a:latin typeface="Times New Roman" pitchFamily="18" charset="0"/>
                  <a:ea typeface="돋움" pitchFamily="50" charset="-127"/>
                  <a:cs typeface="Times New Roman" pitchFamily="18" charset="0"/>
                </a:rPr>
                <a:t>out .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phía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C. Vị </a:t>
              </a:r>
              <a:r>
                <a:rPr lang="en-US" altLang="ko-KR" sz="950" dirty="0" err="1" smtClean="0">
                  <a:latin typeface="Times New Roman" pitchFamily="18" charset="0"/>
                  <a:ea typeface="돋움" pitchFamily="50" charset="-127"/>
                  <a:cs typeface="Times New Roman" pitchFamily="18" charset="0"/>
                </a:rPr>
                <a:t>trí</a:t>
              </a:r>
              <a:r>
                <a:rPr lang="en-US" altLang="ko-KR" sz="950" dirty="0" smtClean="0">
                  <a:latin typeface="Times New Roman" pitchFamily="18" charset="0"/>
                  <a:ea typeface="돋움" pitchFamily="50" charset="-127"/>
                  <a:cs typeface="Times New Roman" pitchFamily="18" charset="0"/>
                </a:rPr>
                <a:t> ban </a:t>
              </a:r>
              <a:r>
                <a:rPr lang="en-US" altLang="ko-KR" sz="950" dirty="0" err="1" smtClean="0">
                  <a:latin typeface="Times New Roman" pitchFamily="18" charset="0"/>
                  <a:ea typeface="돋움" pitchFamily="50" charset="-127"/>
                  <a:cs typeface="Times New Roman" pitchFamily="18" charset="0"/>
                </a:rPr>
                <a:t>đầu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ở </a:t>
              </a:r>
              <a:r>
                <a:rPr lang="en-US" altLang="ko-KR" sz="950" err="1" smtClean="0">
                  <a:latin typeface="Times New Roman" pitchFamily="18" charset="0"/>
                  <a:ea typeface="돋움" pitchFamily="50" charset="-127"/>
                  <a:cs typeface="Times New Roman" pitchFamily="18" charset="0"/>
                </a:rPr>
                <a:t>trạng</a:t>
              </a:r>
              <a:r>
                <a:rPr lang="en-US" altLang="ko-KR" sz="950" smtClean="0">
                  <a:latin typeface="Times New Roman" pitchFamily="18" charset="0"/>
                  <a:ea typeface="돋움" pitchFamily="50" charset="-127"/>
                  <a:cs typeface="Times New Roman" pitchFamily="18" charset="0"/>
                </a:rPr>
                <a:t> thái</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D. Đang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5/2 </a:t>
              </a:r>
              <a:r>
                <a:rPr lang="en-US" altLang="ko-KR" sz="950" dirty="0">
                  <a:latin typeface="Times New Roman" pitchFamily="18" charset="0"/>
                  <a:ea typeface="돋움" pitchFamily="50" charset="-127"/>
                  <a:cs typeface="Times New Roman" pitchFamily="18" charset="0"/>
                </a:rPr>
                <a:t>Way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hai</a:t>
              </a:r>
              <a:r>
                <a:rPr lang="en-US" altLang="ko-KR" sz="950" dirty="0" smtClean="0">
                  <a:latin typeface="Times New Roman" pitchFamily="18" charset="0"/>
                  <a:ea typeface="돋움" pitchFamily="50" charset="-127"/>
                  <a:cs typeface="Times New Roman" pitchFamily="18" charset="0"/>
                </a:rPr>
                <a:t> solenoid</a:t>
              </a:r>
              <a:endParaRPr lang="en-US" altLang="ko-KR" sz="950" dirty="0">
                <a:latin typeface="Times New Roman" pitchFamily="18" charset="0"/>
                <a:ea typeface="돋움" pitchFamily="50" charset="-127"/>
                <a:cs typeface="Times New Roman" pitchFamily="18" charset="0"/>
              </a:endParaRPr>
            </a:p>
          </p:txBody>
        </p:sp>
        <p:pic>
          <p:nvPicPr>
            <p:cNvPr id="31" name="Picture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822381"/>
              <a:ext cx="1204072" cy="1045019"/>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32" name="Group 31"/>
          <p:cNvGrpSpPr/>
          <p:nvPr/>
        </p:nvGrpSpPr>
        <p:grpSpPr>
          <a:xfrm>
            <a:off x="288032" y="8049617"/>
            <a:ext cx="3429000" cy="1257300"/>
            <a:chOff x="3384550" y="7489826"/>
            <a:chExt cx="3429000" cy="1257300"/>
          </a:xfrm>
        </p:grpSpPr>
        <p:grpSp>
          <p:nvGrpSpPr>
            <p:cNvPr id="33" name="Group 40"/>
            <p:cNvGrpSpPr>
              <a:grpSpLocks/>
            </p:cNvGrpSpPr>
            <p:nvPr/>
          </p:nvGrpSpPr>
          <p:grpSpPr bwMode="auto">
            <a:xfrm>
              <a:off x="3709988" y="7623175"/>
              <a:ext cx="2057400" cy="1123951"/>
              <a:chOff x="397" y="4667"/>
              <a:chExt cx="1296" cy="708"/>
            </a:xfrm>
          </p:grpSpPr>
          <p:pic>
            <p:nvPicPr>
              <p:cNvPr id="35" name="Picture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9"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09"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 name="Rectangle 33"/>
            <p:cNvSpPr>
              <a:spLocks noChangeArrowheads="1"/>
            </p:cNvSpPr>
            <p:nvPr/>
          </p:nvSpPr>
          <p:spPr bwMode="auto">
            <a:xfrm>
              <a:off x="3384550" y="7489826"/>
              <a:ext cx="34290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6</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Valve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loại</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đúng </a:t>
              </a:r>
              <a:r>
                <a:rPr lang="en-US" altLang="ko-KR" sz="950" dirty="0" smtClean="0">
                  <a:latin typeface="Times New Roman" pitchFamily="18" charset="0"/>
                  <a:ea typeface="돋움" pitchFamily="50" charset="-127"/>
                  <a:cs typeface="Times New Roman" pitchFamily="18" charset="0"/>
                </a:rPr>
                <a:t>3/2 Way?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B.</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D.</a:t>
              </a:r>
              <a:endParaRPr lang="en-US" altLang="ko-KR" sz="950" dirty="0">
                <a:latin typeface="Times New Roman" pitchFamily="18" charset="0"/>
                <a:ea typeface="돋움" pitchFamily="50" charset="-127"/>
                <a:cs typeface="Times New Roman" pitchFamily="18" charset="0"/>
              </a:endParaRPr>
            </a:p>
          </p:txBody>
        </p:sp>
      </p:grpSp>
      <p:sp>
        <p:nvSpPr>
          <p:cNvPr id="41" name="Rectangle 83"/>
          <p:cNvSpPr>
            <a:spLocks noChangeArrowheads="1"/>
          </p:cNvSpPr>
          <p:nvPr/>
        </p:nvSpPr>
        <p:spPr bwMode="auto">
          <a:xfrm>
            <a:off x="222977" y="927086"/>
            <a:ext cx="3113087"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bụi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Air Filter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bởi</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 filter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vào</a:t>
            </a:r>
            <a:r>
              <a:rPr lang="en-US" altLang="ko-KR" sz="950" smtClean="0">
                <a:latin typeface="Times New Roman" pitchFamily="18" charset="0"/>
                <a:ea typeface="돋움" pitchFamily="50" charset="-127"/>
                <a:cs typeface="Times New Roman" pitchFamily="18" charset="0"/>
              </a:rPr>
              <a:t> trong ngoặc?</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Deflector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a:t>
            </a:r>
            <a:r>
              <a:rPr lang="en-US" altLang="ko-KR" sz="950" smtClean="0">
                <a:latin typeface="Times New Roman" pitchFamily="18" charset="0"/>
                <a:ea typeface="돋움" pitchFamily="50" charset="-127"/>
                <a:cs typeface="Times New Roman" pitchFamily="18" charset="0"/>
              </a:rPr>
              <a:t>affle</a:t>
            </a:r>
            <a:r>
              <a:rPr lang="ko-KR" altLang="en-US" sz="95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Diaphramg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E</a:t>
            </a:r>
            <a:r>
              <a:rPr lang="en-US" altLang="ko-KR" sz="950" smtClean="0">
                <a:latin typeface="Times New Roman" pitchFamily="18" charset="0"/>
                <a:ea typeface="돋움" pitchFamily="50" charset="-127"/>
                <a:cs typeface="Times New Roman" pitchFamily="18" charset="0"/>
              </a:rPr>
              <a:t>lement</a:t>
            </a:r>
            <a:endParaRPr lang="ko-KR" altLang="en-US" sz="950" dirty="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28316718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9" name="TextBox 8"/>
          <p:cNvSpPr txBox="1"/>
          <p:nvPr/>
        </p:nvSpPr>
        <p:spPr>
          <a:xfrm>
            <a:off x="3212976" y="9690720"/>
            <a:ext cx="627095" cy="238527"/>
          </a:xfrm>
          <a:prstGeom prst="rect">
            <a:avLst/>
          </a:prstGeom>
          <a:noFill/>
        </p:spPr>
        <p:txBody>
          <a:bodyPr wrap="non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sz="950" b="0" i="0" u="none" strike="noStrike" kern="1200" cap="none" spc="0" normalizeH="0" baseline="0" noProof="0" smtClean="0">
                <a:ln>
                  <a:noFill/>
                </a:ln>
                <a:effectLst/>
                <a:uLnTx/>
                <a:uFillTx/>
                <a:latin typeface="Times New Roman" pitchFamily="18" charset="0"/>
                <a:ea typeface="Dotum" pitchFamily="50" charset="-127"/>
                <a:cs typeface="Times New Roman" pitchFamily="18" charset="0"/>
              </a:rPr>
              <a:t>Trang 09</a:t>
            </a:r>
            <a:endParaRPr kumimoji="1" 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grpSp>
        <p:nvGrpSpPr>
          <p:cNvPr id="2" name="Group 1"/>
          <p:cNvGrpSpPr/>
          <p:nvPr/>
        </p:nvGrpSpPr>
        <p:grpSpPr>
          <a:xfrm>
            <a:off x="184150" y="2608613"/>
            <a:ext cx="3180502" cy="969496"/>
            <a:chOff x="184150" y="2608613"/>
            <a:chExt cx="3180502" cy="969496"/>
          </a:xfrm>
        </p:grpSpPr>
        <p:sp>
          <p:nvSpPr>
            <p:cNvPr id="37" name="Rectangle 7"/>
            <p:cNvSpPr>
              <a:spLocks noChangeArrowheads="1"/>
            </p:cNvSpPr>
            <p:nvPr/>
          </p:nvSpPr>
          <p:spPr bwMode="auto">
            <a:xfrm>
              <a:off x="184150" y="2608613"/>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Hình ảnh dưới </a:t>
              </a:r>
              <a:r>
                <a:rPr lang="en-US" altLang="ko-KR" sz="950">
                  <a:latin typeface="Times New Roman" pitchFamily="18" charset="0"/>
                  <a:ea typeface="LG Smart_H Regular" panose="020B0600000101010101" pitchFamily="34" charset="-127"/>
                  <a:cs typeface="Times New Roman" pitchFamily="18" charset="0"/>
                </a:rPr>
                <a:t>đ</a:t>
              </a:r>
              <a:r>
                <a:rPr lang="vi-VN" altLang="ko-KR" sz="950" smtClean="0">
                  <a:latin typeface="Times New Roman" pitchFamily="18" charset="0"/>
                  <a:ea typeface="LG Smart_H Regular" panose="020B0600000101010101" pitchFamily="34" charset="-127"/>
                  <a:cs typeface="Times New Roman" pitchFamily="18" charset="0"/>
                </a:rPr>
                <a:t>ây </a:t>
              </a:r>
              <a:r>
                <a:rPr lang="vi-VN" altLang="ko-KR" sz="950">
                  <a:latin typeface="Times New Roman" pitchFamily="18" charset="0"/>
                  <a:ea typeface="LG Smart_H Regular" panose="020B0600000101010101" pitchFamily="34" charset="-127"/>
                  <a:cs typeface="Times New Roman" pitchFamily="18" charset="0"/>
                </a:rPr>
                <a:t>là của mặt tiết xúc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Mặt </a:t>
              </a:r>
              <a:r>
                <a:rPr lang="vi-VN" altLang="ko-KR" sz="950">
                  <a:latin typeface="Times New Roman" pitchFamily="18" charset="0"/>
                  <a:ea typeface="LG Smart_H Regular" panose="020B0600000101010101" pitchFamily="34" charset="-127"/>
                  <a:cs typeface="Times New Roman" pitchFamily="18" charset="0"/>
                </a:rPr>
                <a:t>tiếp xúc trượt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xoay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tròn </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b="-200"/>
            <a:stretch>
              <a:fillRect/>
            </a:stretch>
          </p:blipFill>
          <p:spPr bwMode="auto">
            <a:xfrm>
              <a:off x="1628800" y="2837845"/>
              <a:ext cx="144735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 name="Rectangle 7"/>
          <p:cNvSpPr>
            <a:spLocks noChangeArrowheads="1"/>
          </p:cNvSpPr>
          <p:nvPr/>
        </p:nvSpPr>
        <p:spPr bwMode="auto">
          <a:xfrm>
            <a:off x="228600"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Khi đường kính trục quá lớn hay cần loại trục nhẹ, người ta sẽ sử dụng trục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Solid </a:t>
            </a:r>
            <a:r>
              <a:rPr lang="vi-VN" altLang="ko-KR" sz="950" smtClean="0">
                <a:latin typeface="Times New Roman" pitchFamily="18" charset="0"/>
                <a:ea typeface="LG Smart_H Regular" panose="020B0600000101010101" pitchFamily="34" charset="-127"/>
                <a:cs typeface="Times New Roman" pitchFamily="18" charset="0"/>
              </a:rPr>
              <a:t>Shaft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Hollow </a:t>
            </a:r>
            <a:r>
              <a:rPr lang="en-US" altLang="ko-KR" sz="950" smtClean="0">
                <a:latin typeface="Times New Roman" pitchFamily="18" charset="0"/>
                <a:ea typeface="LG Smart_H Regular" panose="020B0600000101010101" pitchFamily="34" charset="-127"/>
                <a:cs typeface="Times New Roman" pitchFamily="18" charset="0"/>
              </a:rPr>
              <a:t>Shaft</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Square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Hexagonal</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204048" y="4376936"/>
            <a:ext cx="3180502" cy="969496"/>
            <a:chOff x="204048" y="4376936"/>
            <a:chExt cx="3180502" cy="969496"/>
          </a:xfrm>
        </p:grpSpPr>
        <p:sp>
          <p:nvSpPr>
            <p:cNvPr id="38" name="Rectangle 7"/>
            <p:cNvSpPr>
              <a:spLocks noChangeArrowheads="1"/>
            </p:cNvSpPr>
            <p:nvPr/>
          </p:nvSpPr>
          <p:spPr bwMode="auto">
            <a:xfrm>
              <a:off x="204048" y="4376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Cho số ký hiệu vòng bi dưới đây. Vậy đáp án nào </a:t>
              </a:r>
              <a:r>
                <a:rPr lang="vi-VN" altLang="ko-KR" sz="950" b="1">
                  <a:latin typeface="Times New Roman" pitchFamily="18" charset="0"/>
                  <a:ea typeface="LG Smart_H Regular" panose="020B0600000101010101" pitchFamily="34" charset="-127"/>
                  <a:cs typeface="Times New Roman" pitchFamily="18" charset="0"/>
                </a:rPr>
                <a:t>không phải</a:t>
              </a:r>
              <a:r>
                <a:rPr lang="vi-VN" altLang="ko-KR" sz="950">
                  <a:latin typeface="Times New Roman" pitchFamily="18" charset="0"/>
                  <a:ea typeface="LG Smart_H Regular" panose="020B0600000101010101" pitchFamily="34" charset="-127"/>
                  <a:cs typeface="Times New Roman" pitchFamily="18" charset="0"/>
                </a:rPr>
                <a:t> cách gọi của </a:t>
              </a:r>
              <a:r>
                <a:rPr lang="vi-VN" altLang="ko-KR" sz="950" smtClean="0">
                  <a:latin typeface="Times New Roman" pitchFamily="18" charset="0"/>
                  <a:ea typeface="LG Smart_H Regular" panose="020B0600000101010101" pitchFamily="34" charset="-127"/>
                  <a:cs typeface="Times New Roman" pitchFamily="18" charset="0"/>
                </a:rPr>
                <a:t>nó?</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hiệu ký hiệu.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Đường kính trong là </a:t>
              </a:r>
              <a:r>
                <a:rPr lang="fr-FR" altLang="ko-KR" sz="950" smtClean="0">
                  <a:latin typeface="Times New Roman" pitchFamily="18" charset="0"/>
                  <a:ea typeface="LG Smart_H Regular" panose="020B0600000101010101" pitchFamily="34" charset="-127"/>
                  <a:cs typeface="Times New Roman" pitchFamily="18" charset="0"/>
                </a:rPr>
                <a:t>8mm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Ký hiệu khe hở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chính xác gia công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p:cNvPicPr>
            <p:nvPr/>
          </p:nvPicPr>
          <p:blipFill>
            <a:blip r:embed="rId4"/>
            <a:stretch>
              <a:fillRect/>
            </a:stretch>
          </p:blipFill>
          <p:spPr>
            <a:xfrm>
              <a:off x="1830913" y="4736976"/>
              <a:ext cx="1526079" cy="436500"/>
            </a:xfrm>
            <a:prstGeom prst="rect">
              <a:avLst/>
            </a:prstGeom>
          </p:spPr>
        </p:pic>
      </p:grpSp>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Đinh ốc thường thường được sử dụng nhiều </a:t>
            </a:r>
            <a:r>
              <a:rPr lang="en-US" altLang="ko-KR" sz="950" smtClean="0">
                <a:latin typeface="Times New Roman" pitchFamily="18" charset="0"/>
                <a:ea typeface="LG Smart_H Regular" panose="020B0600000101010101" pitchFamily="34" charset="-127"/>
                <a:cs typeface="Times New Roman" pitchFamily="18" charset="0"/>
              </a:rPr>
              <a:t> nhất </a:t>
            </a:r>
            <a:r>
              <a:rPr lang="vi-VN" altLang="ko-KR" sz="950" smtClean="0">
                <a:latin typeface="Times New Roman" pitchFamily="18" charset="0"/>
                <a:ea typeface="LG Smart_H Regular" panose="020B0600000101010101" pitchFamily="34" charset="-127"/>
                <a:cs typeface="Times New Roman" pitchFamily="18" charset="0"/>
              </a:rPr>
              <a:t>theo </a:t>
            </a:r>
            <a:r>
              <a:rPr lang="vi-VN" altLang="ko-KR" sz="950">
                <a:latin typeface="Times New Roman" pitchFamily="18" charset="0"/>
                <a:ea typeface="LG Smart_H Regular" panose="020B0600000101010101" pitchFamily="34" charset="-127"/>
                <a:cs typeface="Times New Roman" pitchFamily="18" charset="0"/>
              </a:rPr>
              <a:t>hướng xoắn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đa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xoắn </a:t>
            </a:r>
            <a:r>
              <a:rPr lang="vi-VN" altLang="ko-KR" sz="950" smtClean="0">
                <a:latin typeface="Times New Roman" pitchFamily="18" charset="0"/>
                <a:ea typeface="LG Smart_H Regular" panose="020B0600000101010101" pitchFamily="34" charset="-127"/>
                <a:cs typeface="Times New Roman" pitchFamily="18" charset="0"/>
              </a:rPr>
              <a:t>phải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một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xoắn trái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304708"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là điểm hạn chế của Đinh ốc đa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số vòng xoắn ít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Dễ mở ra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Độ lệch pha là 120 </a:t>
            </a:r>
            <a:r>
              <a:rPr lang="fr-FR" altLang="ko-KR" sz="950" smtClean="0">
                <a:latin typeface="Times New Roman" pitchFamily="18" charset="0"/>
                <a:ea typeface="LG Smart_H Regular" panose="020B0600000101010101" pitchFamily="34" charset="-127"/>
                <a:cs typeface="Times New Roman" pitchFamily="18" charset="0"/>
              </a:rPr>
              <a:t>độ</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Độ lệch pha là 180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Chọn đáp án đúng khi nói về đặc điểm máy giảm tốc bánh răng đa </a:t>
            </a:r>
            <a:r>
              <a:rPr lang="vi-VN" altLang="ko-KR" sz="950" smtClean="0">
                <a:latin typeface="Times New Roman" pitchFamily="18" charset="0"/>
                <a:ea typeface="LG Smart_H Regular" panose="020B0600000101010101" pitchFamily="34" charset="-127"/>
                <a:cs typeface="Times New Roman" pitchFamily="18" charset="0"/>
              </a:rPr>
              <a:t>hệ?</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Đạt tỷ lệ giảm tốc lớn trong máy giảm tốc 1 </a:t>
            </a:r>
            <a:r>
              <a:rPr lang="vi-VN" altLang="ko-KR" sz="950" smtClean="0">
                <a:latin typeface="Times New Roman" pitchFamily="18" charset="0"/>
                <a:ea typeface="LG Smart_H Regular" panose="020B0600000101010101" pitchFamily="34" charset="-127"/>
                <a:cs typeface="Times New Roman" pitchFamily="18" charset="0"/>
              </a:rPr>
              <a:t>thì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Kích thước nhỏ và </a:t>
            </a:r>
            <a:r>
              <a:rPr lang="vi-VN" altLang="ko-KR" sz="950" smtClean="0">
                <a:latin typeface="Times New Roman" pitchFamily="18" charset="0"/>
                <a:ea typeface="LG Smart_H Regular" panose="020B0600000101010101" pitchFamily="34" charset="-127"/>
                <a:cs typeface="Times New Roman" pitchFamily="18" charset="0"/>
              </a:rPr>
              <a:t>nhẹ</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Cấu tạo chắc chắn và tuổi thọ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quay nhanh hay định tốc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5" name="Rectangle 7"/>
          <p:cNvSpPr>
            <a:spLocks noChangeArrowheads="1"/>
          </p:cNvSpPr>
          <p:nvPr/>
        </p:nvSpPr>
        <p:spPr bwMode="auto">
          <a:xfrm>
            <a:off x="3395092" y="4417730"/>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Backlash cực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Hiệu suất </a:t>
            </a:r>
            <a:r>
              <a:rPr lang="en-US" altLang="ko-KR" sz="950" smtClean="0">
                <a:latin typeface="Times New Roman" pitchFamily="18" charset="0"/>
                <a:ea typeface="LG Smart_H Regular" panose="020B0600000101010101" pitchFamily="34" charset="-127"/>
                <a:cs typeface="Times New Roman" pitchFamily="18" charset="0"/>
              </a:rPr>
              <a:t>cao</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bền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Lực kháng lăn cao</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379882" y="6071736"/>
            <a:ext cx="3180502" cy="969496"/>
            <a:chOff x="3379882" y="5406769"/>
            <a:chExt cx="3180502" cy="969496"/>
          </a:xfrm>
        </p:grpSpPr>
        <p:sp>
          <p:nvSpPr>
            <p:cNvPr id="46" name="Rectangle 7"/>
            <p:cNvSpPr>
              <a:spLocks noChangeArrowheads="1"/>
            </p:cNvSpPr>
            <p:nvPr/>
          </p:nvSpPr>
          <p:spPr bwMode="auto">
            <a:xfrm>
              <a:off x="3379882" y="5406769"/>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Hình ảnh dưới đây là phương pháp Preload nào của Ball Screw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Offset </a:t>
              </a:r>
              <a:r>
                <a:rPr lang="vi-VN" altLang="ko-KR" sz="950" smtClean="0">
                  <a:latin typeface="Times New Roman" pitchFamily="18" charset="0"/>
                  <a:ea typeface="LG Smart_H Regular" panose="020B0600000101010101" pitchFamily="34" charset="-127"/>
                  <a:cs typeface="Times New Roman" pitchFamily="18" charset="0"/>
                </a:rPr>
                <a:t>Preload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Static </a:t>
              </a:r>
              <a:r>
                <a:rPr lang="en-US" altLang="ko-KR" sz="950" smtClean="0">
                  <a:latin typeface="Times New Roman" pitchFamily="18" charset="0"/>
                  <a:ea typeface="LG Smart_H Regular" panose="020B0600000101010101" pitchFamily="34" charset="-127"/>
                  <a:cs typeface="Times New Roman" pitchFamily="18" charset="0"/>
                </a:rPr>
                <a:t>Pressure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Double </a:t>
              </a:r>
              <a:r>
                <a:rPr lang="vi-VN" altLang="ko-KR" sz="950" smtClean="0">
                  <a:latin typeface="Times New Roman" pitchFamily="18" charset="0"/>
                  <a:ea typeface="LG Smart_H Regular" panose="020B0600000101010101" pitchFamily="34" charset="-127"/>
                  <a:cs typeface="Times New Roman" pitchFamily="18" charset="0"/>
                </a:rPr>
                <a:t>Nut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Triple Nut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8" name="Picture 47"/>
            <p:cNvPicPr>
              <a:picLocks noChangeAspect="1"/>
            </p:cNvPicPr>
            <p:nvPr/>
          </p:nvPicPr>
          <p:blipFill>
            <a:blip r:embed="rId5"/>
            <a:stretch>
              <a:fillRect/>
            </a:stretch>
          </p:blipFill>
          <p:spPr>
            <a:xfrm>
              <a:off x="4869160" y="5650886"/>
              <a:ext cx="1447800" cy="725144"/>
            </a:xfrm>
            <a:prstGeom prst="rect">
              <a:avLst/>
            </a:prstGeom>
          </p:spPr>
        </p:pic>
      </p:grpSp>
      <p:sp>
        <p:nvSpPr>
          <p:cNvPr id="29" name="Rectangle 7"/>
          <p:cNvSpPr>
            <a:spLocks noChangeArrowheads="1"/>
          </p:cNvSpPr>
          <p:nvPr/>
        </p:nvSpPr>
        <p:spPr bwMode="auto">
          <a:xfrm>
            <a:off x="3384550" y="7977336"/>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là phương pháp chiếu góc nhìn vào vật </a:t>
            </a:r>
            <a:r>
              <a:rPr lang="vi-VN" altLang="ko-KR" sz="950" smtClean="0">
                <a:latin typeface="Times New Roman" pitchFamily="18" charset="0"/>
                <a:ea typeface="LG Smart_H Regular" panose="020B0600000101010101" pitchFamily="34" charset="-127"/>
                <a:cs typeface="Times New Roman" pitchFamily="18" charset="0"/>
              </a:rPr>
              <a:t>thể?</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Hình chiếu </a:t>
            </a:r>
            <a:r>
              <a:rPr lang="nb-NO" altLang="ko-KR" sz="950" smtClean="0">
                <a:latin typeface="Times New Roman" pitchFamily="18" charset="0"/>
                <a:ea typeface="LG Smart_H Regular" panose="020B0600000101010101" pitchFamily="34" charset="-127"/>
                <a:cs typeface="Times New Roman" pitchFamily="18" charset="0"/>
              </a:rPr>
              <a:t>bằng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đứng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cạnh</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30" name="Group 29"/>
          <p:cNvGrpSpPr/>
          <p:nvPr/>
        </p:nvGrpSpPr>
        <p:grpSpPr>
          <a:xfrm>
            <a:off x="155332" y="1233227"/>
            <a:ext cx="3229218" cy="969496"/>
            <a:chOff x="188640" y="1208584"/>
            <a:chExt cx="3229218" cy="969496"/>
          </a:xfrm>
        </p:grpSpPr>
        <p:sp>
          <p:nvSpPr>
            <p:cNvPr id="31" name="Rectangle 7"/>
            <p:cNvSpPr>
              <a:spLocks noChangeArrowheads="1"/>
            </p:cNvSpPr>
            <p:nvPr/>
          </p:nvSpPr>
          <p:spPr bwMode="auto">
            <a:xfrm>
              <a:off x="188640" y="1208584"/>
              <a:ext cx="322921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Hình ảnh dưới đây đang thể hiện khi lắp ghép dung sai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khít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chặt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lỏng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độ dôi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0808" y="1496615"/>
              <a:ext cx="1134343" cy="63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212975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228600" y="809164"/>
            <a:ext cx="3215481"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16" name="Rectangle 15"/>
          <p:cNvSpPr/>
          <p:nvPr/>
        </p:nvSpPr>
        <p:spPr>
          <a:xfrm>
            <a:off x="3467726" y="6577970"/>
            <a:ext cx="3130550" cy="823302"/>
          </a:xfrm>
          <a:prstGeom prst="rect">
            <a:avLst/>
          </a:prstGeom>
        </p:spPr>
        <p:txBody>
          <a:bodyPr wrap="square">
            <a:spAutoFit/>
          </a:bodyPr>
          <a:lstStyle/>
          <a:p>
            <a:pPr marL="109538" lvl="0" indent="-109538"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79. </a:t>
            </a:r>
            <a:r>
              <a:rPr kumimoji="1" lang="vi-VN" altLang="ko-KR" sz="950" smtClean="0">
                <a:latin typeface="Times New Roman" pitchFamily="18" charset="0"/>
                <a:ea typeface="LG Smart_H Regular" panose="020B0600000101010101" pitchFamily="34" charset="-127"/>
                <a:cs typeface="Times New Roman" pitchFamily="18" charset="0"/>
              </a:rPr>
              <a:t>Pin </a:t>
            </a:r>
            <a:r>
              <a:rPr kumimoji="1" lang="vi-VN" altLang="ko-KR" sz="950">
                <a:latin typeface="Times New Roman" pitchFamily="18" charset="0"/>
                <a:ea typeface="LG Smart_H Regular" panose="020B0600000101010101" pitchFamily="34" charset="-127"/>
                <a:cs typeface="Times New Roman" pitchFamily="18" charset="0"/>
              </a:rPr>
              <a:t>nào được sử dụng để gắn kết bản lề và tránh nới lỏng của bu lông và đai </a:t>
            </a:r>
            <a:r>
              <a:rPr kumimoji="1" lang="vi-VN" altLang="ko-KR" sz="950" smtClean="0">
                <a:latin typeface="Times New Roman" pitchFamily="18" charset="0"/>
                <a:ea typeface="LG Smart_H Regular" panose="020B0600000101010101" pitchFamily="34" charset="-127"/>
                <a:cs typeface="Times New Roman" pitchFamily="18" charset="0"/>
              </a:rPr>
              <a:t>ốc</a:t>
            </a:r>
            <a:r>
              <a:rPr kumimoji="1" lang="en-US" altLang="ko-KR" sz="950" smtClean="0">
                <a:latin typeface="Times New Roman" pitchFamily="18" charset="0"/>
                <a:ea typeface="LG Smart_H Regular" panose="020B0600000101010101" pitchFamily="34" charset="-127"/>
                <a:cs typeface="Times New Roman" pitchFamily="18" charset="0"/>
              </a:rPr>
              <a:t>?</a:t>
            </a:r>
          </a:p>
          <a:p>
            <a:pPr lvl="0" fontAlgn="base">
              <a:spcBef>
                <a:spcPct val="0"/>
              </a:spcBef>
              <a:spcAft>
                <a:spcPct val="0"/>
              </a:spcAft>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lvl="0"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A</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Pin </a:t>
            </a:r>
            <a:r>
              <a:rPr kumimoji="1" lang="vi-VN" altLang="ko-KR" sz="950" smtClean="0">
                <a:latin typeface="Times New Roman" pitchFamily="18" charset="0"/>
                <a:ea typeface="LG Smart_H Regular" panose="020B0600000101010101" pitchFamily="34" charset="-127"/>
                <a:cs typeface="Times New Roman" pitchFamily="18" charset="0"/>
              </a:rPr>
              <a:t>spring</a:t>
            </a:r>
            <a:r>
              <a:rPr kumimoji="1" lang="en-US" altLang="ko-KR" sz="950">
                <a:latin typeface="Times New Roman" pitchFamily="18" charset="0"/>
                <a:ea typeface="LG Smart_H Regular" panose="020B0600000101010101" pitchFamily="34" charset="-127"/>
                <a:cs typeface="Times New Roman" pitchFamily="18" charset="0"/>
              </a:rPr>
              <a:t>	</a:t>
            </a:r>
            <a:r>
              <a:rPr kumimoji="1" lang="en-US" altLang="ko-KR" sz="950" smtClean="0">
                <a:latin typeface="Times New Roman" pitchFamily="18" charset="0"/>
                <a:ea typeface="LG Smart_H Regular" panose="020B0600000101010101" pitchFamily="34" charset="-127"/>
                <a:cs typeface="Times New Roman" pitchFamily="18" charset="0"/>
              </a:rPr>
              <a:t>	B</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smtClean="0">
                <a:latin typeface="Times New Roman" pitchFamily="18" charset="0"/>
                <a:ea typeface="LG Smart_H Regular" panose="020B0600000101010101" pitchFamily="34" charset="-127"/>
                <a:cs typeface="Times New Roman" pitchFamily="18" charset="0"/>
              </a:rPr>
              <a:t>Pin </a:t>
            </a:r>
            <a:r>
              <a:rPr kumimoji="1" lang="en-US" altLang="ko-KR" sz="950">
                <a:latin typeface="Times New Roman" pitchFamily="18" charset="0"/>
                <a:ea typeface="LG Smart_H Regular" panose="020B0600000101010101" pitchFamily="34" charset="-127"/>
                <a:cs typeface="Times New Roman" pitchFamily="18" charset="0"/>
              </a:rPr>
              <a:t>t</a:t>
            </a:r>
            <a:r>
              <a:rPr kumimoji="1" lang="vi-VN" altLang="ko-KR" sz="950">
                <a:latin typeface="Times New Roman" pitchFamily="18" charset="0"/>
                <a:ea typeface="LG Smart_H Regular" panose="020B0600000101010101" pitchFamily="34" charset="-127"/>
                <a:cs typeface="Times New Roman" pitchFamily="18" charset="0"/>
              </a:rPr>
              <a:t>aper</a:t>
            </a:r>
            <a:endParaRPr kumimoji="1" lang="en-US" altLang="ko-KR" sz="950">
              <a:latin typeface="Times New Roman" pitchFamily="18" charset="0"/>
              <a:ea typeface="LG Smart_H Regular" panose="020B0600000101010101" pitchFamily="34" charset="-127"/>
              <a:cs typeface="Times New Roman" pitchFamily="18" charset="0"/>
            </a:endParaRPr>
          </a:p>
          <a:p>
            <a:pPr marL="457200" lvl="0" indent="-457200"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C</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smtClean="0">
                <a:latin typeface="Times New Roman" pitchFamily="18" charset="0"/>
                <a:ea typeface="LG Smart_H Regular" panose="020B0600000101010101" pitchFamily="34" charset="-127"/>
                <a:cs typeface="Times New Roman" pitchFamily="18" charset="0"/>
              </a:rPr>
              <a:t>Pin tách</a:t>
            </a:r>
            <a:r>
              <a:rPr kumimoji="1" lang="en-US" altLang="ko-KR" sz="950" smtClean="0">
                <a:latin typeface="Times New Roman" pitchFamily="18" charset="0"/>
                <a:ea typeface="LG Smart_H Regular" panose="020B0600000101010101" pitchFamily="34" charset="-127"/>
                <a:cs typeface="Times New Roman" pitchFamily="18" charset="0"/>
              </a:rPr>
              <a:t>		D</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Pin song song</a:t>
            </a:r>
            <a:r>
              <a:rPr kumimoji="1" lang="ko-KR" altLang="en-US" sz="950">
                <a:latin typeface="Times New Roman" pitchFamily="18" charset="0"/>
                <a:ea typeface="LG Smart_H Regular" panose="020B0600000101010101" pitchFamily="34" charset="-127"/>
                <a:cs typeface="Times New Roman" pitchFamily="18" charset="0"/>
              </a:rPr>
              <a:t> </a:t>
            </a:r>
            <a:endParaRPr kumimoji="1"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81086" y="7790127"/>
            <a:ext cx="3176081" cy="1627369"/>
            <a:chOff x="4362832" y="3589035"/>
            <a:chExt cx="3176081" cy="1627369"/>
          </a:xfrm>
        </p:grpSpPr>
        <p:sp>
          <p:nvSpPr>
            <p:cNvPr id="23" name="Rectangle 26"/>
            <p:cNvSpPr>
              <a:spLocks noChangeArrowheads="1"/>
            </p:cNvSpPr>
            <p:nvPr/>
          </p:nvSpPr>
          <p:spPr bwMode="auto">
            <a:xfrm>
              <a:off x="4362832" y="3589035"/>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09538" indent="-109538"/>
              <a:r>
                <a:rPr lang="en-US" altLang="ko-KR" sz="950" smtClean="0">
                  <a:latin typeface="Times New Roman" panose="02020603050405020304" pitchFamily="18" charset="0"/>
                  <a:ea typeface="돋움" pitchFamily="50" charset="-127"/>
                  <a:cs typeface="Times New Roman" panose="02020603050405020304" pitchFamily="18" charset="0"/>
                </a:rPr>
                <a:t>80. </a:t>
              </a:r>
              <a:r>
                <a:rPr lang="en-US" altLang="ko-KR" sz="950">
                  <a:latin typeface="Times New Roman" panose="02020603050405020304" pitchFamily="18" charset="0"/>
                  <a:ea typeface="돋움" pitchFamily="50" charset="-127"/>
                  <a:cs typeface="Times New Roman" panose="02020603050405020304" pitchFamily="18" charset="0"/>
                </a:rPr>
                <a:t>Chọn loại răng của Timing Belt mà mang lại thành công hiệu quả backlash tối thiểu, giảm tiếng ồn, độ tin cậy cao và tuổi thọ dài?</a:t>
              </a:r>
            </a:p>
            <a:p>
              <a:endParaRPr lang="en-US" altLang="ko-KR" sz="950">
                <a:latin typeface="Times New Roman" panose="02020603050405020304" pitchFamily="18" charset="0"/>
                <a:ea typeface="돋움" pitchFamily="50" charset="-127"/>
                <a:cs typeface="Times New Roman" panose="02020603050405020304" pitchFamily="18" charset="0"/>
              </a:endParaRPr>
            </a:p>
            <a:p>
              <a:r>
                <a:rPr lang="en-US" altLang="ko-KR" sz="950" smtClean="0">
                  <a:latin typeface="Times New Roman" panose="02020603050405020304" pitchFamily="18" charset="0"/>
                  <a:ea typeface="돋움" pitchFamily="50" charset="-127"/>
                  <a:cs typeface="Times New Roman" panose="02020603050405020304" pitchFamily="18" charset="0"/>
                </a:rPr>
                <a:t>A.                                                  B.</a:t>
              </a:r>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r>
                <a:rPr lang="en-US" altLang="ko-KR" sz="950" smtClean="0">
                  <a:latin typeface="Times New Roman" panose="02020603050405020304" pitchFamily="18" charset="0"/>
                  <a:ea typeface="돋움" pitchFamily="50" charset="-127"/>
                  <a:cs typeface="Times New Roman" panose="02020603050405020304" pitchFamily="18" charset="0"/>
                </a:rPr>
                <a:t>C.                                                  D.   </a:t>
              </a:r>
              <a:endParaRPr lang="en-US" altLang="ko-KR" sz="950">
                <a:latin typeface="Times New Roman" panose="02020603050405020304" pitchFamily="18" charset="0"/>
                <a:ea typeface="돋움" pitchFamily="50" charset="-127"/>
                <a:cs typeface="Times New Roman" panose="02020603050405020304" pitchFamily="18" charset="0"/>
              </a:endParaRPr>
            </a:p>
            <a:p>
              <a:pPr>
                <a:spcBef>
                  <a:spcPct val="50000"/>
                </a:spcBef>
              </a:pPr>
              <a:endParaRPr lang="en-US" altLang="ko-KR" sz="950">
                <a:latin typeface="Times New Roman" panose="02020603050405020304" pitchFamily="18" charset="0"/>
                <a:ea typeface="돋움" pitchFamily="50" charset="-127"/>
                <a:cs typeface="Times New Roman" panose="02020603050405020304" pitchFamily="18" charset="0"/>
              </a:endParaRPr>
            </a:p>
          </p:txBody>
        </p:sp>
        <p:pic>
          <p:nvPicPr>
            <p:cNvPr id="24"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59" y="4124849"/>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6243513" y="3993275"/>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4663064" y="4612477"/>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6319713" y="4639960"/>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0" name="Rectangle 19"/>
          <p:cNvSpPr/>
          <p:nvPr/>
        </p:nvSpPr>
        <p:spPr>
          <a:xfrm>
            <a:off x="3467726" y="3008784"/>
            <a:ext cx="3145562" cy="969496"/>
          </a:xfrm>
          <a:prstGeom prst="rect">
            <a:avLst/>
          </a:prstGeom>
        </p:spPr>
        <p:txBody>
          <a:bodyPr wrap="square">
            <a:spAutoFit/>
          </a:bodyPr>
          <a:lstStyle/>
          <a:p>
            <a:pPr lvl="0" fontAlgn="base">
              <a:spcBef>
                <a:spcPct val="0"/>
              </a:spcBef>
              <a:spcAft>
                <a:spcPct val="0"/>
              </a:spcAft>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7.  </a:t>
            </a:r>
            <a:r>
              <a:rPr kumimoji="1" lang="vi-VN" altLang="ko-KR" sz="950" smtClean="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Đâu </a:t>
            </a:r>
            <a:r>
              <a:rPr kumimoji="1" lang="vi-VN" altLang="ko-KR" sz="950" b="1">
                <a:latin typeface="Times New Roman" pitchFamily="18" charset="0"/>
                <a:ea typeface="LG Smart_H Regular" panose="020B0600000101010101" pitchFamily="34" charset="-127"/>
                <a:cs typeface="Times New Roman" pitchFamily="18" charset="0"/>
              </a:rPr>
              <a:t>không phải </a:t>
            </a:r>
            <a:r>
              <a:rPr kumimoji="1" lang="vi-VN" altLang="ko-KR" sz="950">
                <a:latin typeface="Times New Roman" pitchFamily="18" charset="0"/>
                <a:ea typeface="LG Smart_H Regular" panose="020B0600000101010101" pitchFamily="34" charset="-127"/>
                <a:cs typeface="Times New Roman" pitchFamily="18" charset="0"/>
              </a:rPr>
              <a:t>là đặc tính </a:t>
            </a:r>
            <a:r>
              <a:rPr kumimoji="1" lang="en-US" altLang="ko-KR" sz="950">
                <a:latin typeface="Times New Roman" pitchFamily="18" charset="0"/>
                <a:ea typeface="LG Smart_H Regular" panose="020B0600000101010101" pitchFamily="34" charset="-127"/>
                <a:cs typeface="Times New Roman" pitchFamily="18" charset="0"/>
              </a:rPr>
              <a:t>Ball Screw</a:t>
            </a:r>
            <a:r>
              <a:rPr kumimoji="1" lang="en-US" altLang="ko-KR" sz="950" smtClean="0">
                <a:latin typeface="Times New Roman" pitchFamily="18" charset="0"/>
                <a:ea typeface="LG Smart_H Regular" panose="020B0600000101010101" pitchFamily="34" charset="-127"/>
                <a:cs typeface="Times New Roman" pitchFamily="18" charset="0"/>
              </a:rPr>
              <a:t>?</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Hiệu </a:t>
            </a:r>
            <a:r>
              <a:rPr kumimoji="1" lang="vi-VN" altLang="ko-KR" sz="950">
                <a:latin typeface="Times New Roman" pitchFamily="18" charset="0"/>
                <a:ea typeface="LG Smart_H Regular" panose="020B0600000101010101" pitchFamily="34" charset="-127"/>
                <a:cs typeface="Times New Roman" pitchFamily="18" charset="0"/>
              </a:rPr>
              <a:t>quả cao do chuyển động bằng ma sát </a:t>
            </a:r>
            <a:r>
              <a:rPr kumimoji="1" lang="vi-VN" altLang="ko-KR" sz="950" smtClean="0">
                <a:latin typeface="Times New Roman" pitchFamily="18" charset="0"/>
                <a:ea typeface="LG Smart_H Regular" panose="020B0600000101010101" pitchFamily="34" charset="-127"/>
                <a:cs typeface="Times New Roman" pitchFamily="18" charset="0"/>
              </a:rPr>
              <a:t>lăn</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Có </a:t>
            </a:r>
            <a:r>
              <a:rPr kumimoji="1" lang="vi-VN" altLang="ko-KR" sz="950">
                <a:latin typeface="Times New Roman" pitchFamily="18" charset="0"/>
                <a:ea typeface="LG Smart_H Regular" panose="020B0600000101010101" pitchFamily="34" charset="-127"/>
                <a:cs typeface="Times New Roman" pitchFamily="18" charset="0"/>
              </a:rPr>
              <a:t>thể giảm thiểu </a:t>
            </a:r>
            <a:r>
              <a:rPr kumimoji="1" lang="vi-VN" altLang="ko-KR" sz="950" smtClean="0">
                <a:latin typeface="Times New Roman" pitchFamily="18" charset="0"/>
                <a:ea typeface="LG Smart_H Regular" panose="020B0600000101010101" pitchFamily="34" charset="-127"/>
                <a:cs typeface="Times New Roman" pitchFamily="18" charset="0"/>
              </a:rPr>
              <a:t>backlash</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Khả </a:t>
            </a:r>
            <a:r>
              <a:rPr kumimoji="1" lang="vi-VN" altLang="ko-KR" sz="950">
                <a:latin typeface="Times New Roman" pitchFamily="18" charset="0"/>
                <a:ea typeface="LG Smart_H Regular" panose="020B0600000101010101" pitchFamily="34" charset="-127"/>
                <a:cs typeface="Times New Roman" pitchFamily="18" charset="0"/>
              </a:rPr>
              <a:t>năng chống lăn </a:t>
            </a:r>
            <a:r>
              <a:rPr kumimoji="1" lang="vi-VN" altLang="ko-KR" sz="950" smtClean="0">
                <a:latin typeface="Times New Roman" pitchFamily="18" charset="0"/>
                <a:ea typeface="LG Smart_H Regular" panose="020B0600000101010101" pitchFamily="34" charset="-127"/>
                <a:cs typeface="Times New Roman" pitchFamily="18" charset="0"/>
              </a:rPr>
              <a:t>cao</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Tuổi </a:t>
            </a:r>
            <a:r>
              <a:rPr kumimoji="1" lang="vi-VN" altLang="ko-KR" sz="950">
                <a:latin typeface="Times New Roman" pitchFamily="18" charset="0"/>
                <a:ea typeface="LG Smart_H Regular" panose="020B0600000101010101" pitchFamily="34" charset="-127"/>
                <a:cs typeface="Times New Roman" pitchFamily="18" charset="0"/>
              </a:rPr>
              <a:t>thọ cao hơn so với ma sát trượt</a:t>
            </a:r>
            <a:endParaRPr kumimoji="1"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27"/>
          <p:cNvSpPr/>
          <p:nvPr/>
        </p:nvSpPr>
        <p:spPr>
          <a:xfrm>
            <a:off x="225216" y="1208584"/>
            <a:ext cx="3299118" cy="677108"/>
          </a:xfrm>
          <a:prstGeom prst="rect">
            <a:avLst/>
          </a:prstGeom>
        </p:spPr>
        <p:txBody>
          <a:bodyPr wrap="square">
            <a:spAutoFit/>
          </a:bodyPr>
          <a:lstStyle/>
          <a:p>
            <a:pPr lvl="0" fontAlgn="base">
              <a:spcBef>
                <a:spcPct val="0"/>
              </a:spcBef>
              <a:spcAft>
                <a:spcPct val="0"/>
              </a:spcAft>
              <a:defRPr/>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1.   </a:t>
            </a:r>
            <a:r>
              <a:rPr kumimoji="1" lang="vi-VN" altLang="ko-KR" sz="950" smtClean="0">
                <a:latin typeface="Times New Roman" pitchFamily="18" charset="0"/>
                <a:ea typeface="LG Smart_H Regular" panose="020B0600000101010101" pitchFamily="34" charset="-127"/>
                <a:cs typeface="Times New Roman" pitchFamily="18" charset="0"/>
              </a:rPr>
              <a:t>Đâu </a:t>
            </a:r>
            <a:r>
              <a:rPr kumimoji="1" lang="vi-VN" altLang="ko-KR" sz="950" b="1">
                <a:latin typeface="Times New Roman" pitchFamily="18" charset="0"/>
                <a:ea typeface="LG Smart_H Regular" panose="020B0600000101010101" pitchFamily="34" charset="-127"/>
                <a:cs typeface="Times New Roman" pitchFamily="18" charset="0"/>
              </a:rPr>
              <a:t>không phải </a:t>
            </a:r>
            <a:r>
              <a:rPr kumimoji="1" lang="vi-VN" altLang="ko-KR" sz="950">
                <a:latin typeface="Times New Roman" pitchFamily="18" charset="0"/>
                <a:ea typeface="LG Smart_H Regular" panose="020B0600000101010101" pitchFamily="34" charset="-127"/>
                <a:cs typeface="Times New Roman" pitchFamily="18" charset="0"/>
              </a:rPr>
              <a:t>là yếu tố cấu thành của Harmonic Driver? </a:t>
            </a:r>
            <a:endParaRPr kumimoji="1" lang="en-US" altLang="ko-KR" sz="950">
              <a:latin typeface="Times New Roman" pitchFamily="18" charset="0"/>
              <a:ea typeface="LG Smart_H Regular" panose="020B0600000101010101" pitchFamily="34" charset="-127"/>
              <a:cs typeface="Times New Roman" pitchFamily="18" charset="0"/>
            </a:endParaRPr>
          </a:p>
          <a:p>
            <a:pPr lvl="0" fontAlgn="base">
              <a:spcBef>
                <a:spcPct val="0"/>
              </a:spcBef>
              <a:spcAft>
                <a:spcPct val="0"/>
              </a:spcAft>
              <a:defRPr/>
            </a:pPr>
            <a:r>
              <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rPr>
              <a:t>   </a:t>
            </a:r>
          </a:p>
          <a:p>
            <a:pPr lvl="0" fontAlgn="base">
              <a:spcBef>
                <a:spcPct val="0"/>
              </a:spcBef>
              <a:spcAft>
                <a:spcPct val="0"/>
              </a:spcAft>
              <a:defRPr/>
            </a:pPr>
            <a:r>
              <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rPr>
              <a:t> </a:t>
            </a:r>
            <a:r>
              <a:rPr kumimoji="1" lang="en-US" altLang="ko-KR" sz="950" smtClean="0">
                <a:latin typeface="Times New Roman" pitchFamily="18" charset="0"/>
                <a:ea typeface="LG Smart_H Regular" panose="020B0600000101010101" pitchFamily="34" charset="-127"/>
                <a:cs typeface="Times New Roman" pitchFamily="18" charset="0"/>
              </a:rPr>
              <a:t>A. </a:t>
            </a:r>
            <a:r>
              <a:rPr kumimoji="1" lang="en-US" altLang="ko-KR" sz="950">
                <a:latin typeface="Times New Roman" pitchFamily="18" charset="0"/>
                <a:ea typeface="LG Smart_H Regular" panose="020B0600000101010101" pitchFamily="34" charset="-127"/>
                <a:cs typeface="Times New Roman" pitchFamily="18" charset="0"/>
              </a:rPr>
              <a:t>Circular spline </a:t>
            </a: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en-US" altLang="ko-KR" sz="950">
                <a:latin typeface="Times New Roman" pitchFamily="18" charset="0"/>
                <a:ea typeface="LG Smart_H Regular" panose="020B0600000101010101" pitchFamily="34" charset="-127"/>
                <a:cs typeface="Times New Roman" pitchFamily="18" charset="0"/>
              </a:rPr>
              <a:t>B. Máy tạo sóng</a:t>
            </a:r>
          </a:p>
          <a:p>
            <a:pPr lvl="0"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 C. </a:t>
            </a:r>
            <a:r>
              <a:rPr kumimoji="1" lang="en-US" altLang="ko-KR" sz="950">
                <a:latin typeface="Times New Roman" pitchFamily="18" charset="0"/>
                <a:ea typeface="LG Smart_H Regular" panose="020B0600000101010101" pitchFamily="34" charset="-127"/>
                <a:cs typeface="Times New Roman" pitchFamily="18" charset="0"/>
              </a:rPr>
              <a:t>Ổ Momen –xoắn </a:t>
            </a:r>
            <a:r>
              <a:rPr kumimoji="1" lang="en-US" altLang="ko-KR" sz="950" smtClean="0">
                <a:latin typeface="Times New Roman" pitchFamily="18" charset="0"/>
                <a:ea typeface="LG Smart_H Regular" panose="020B0600000101010101" pitchFamily="34" charset="-127"/>
                <a:cs typeface="Times New Roman" pitchFamily="18" charset="0"/>
              </a:rPr>
              <a:t>	D.</a:t>
            </a:r>
            <a:r>
              <a:rPr kumimoji="1" lang="ko-KR" altLang="en-US"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rPr>
              <a:t> </a:t>
            </a:r>
            <a:r>
              <a:rPr kumimoji="1" lang="en-US" altLang="ko-KR" sz="950">
                <a:latin typeface="Times New Roman" pitchFamily="18" charset="0"/>
                <a:ea typeface="LG Smart_H Regular" panose="020B0600000101010101" pitchFamily="34" charset="-127"/>
                <a:cs typeface="Times New Roman" pitchFamily="18" charset="0"/>
              </a:rPr>
              <a:t>Flex spline</a:t>
            </a:r>
          </a:p>
        </p:txBody>
      </p:sp>
      <p:sp>
        <p:nvSpPr>
          <p:cNvPr id="29" name="TextBox 28"/>
          <p:cNvSpPr txBox="1"/>
          <p:nvPr/>
        </p:nvSpPr>
        <p:spPr>
          <a:xfrm>
            <a:off x="257962" y="2975392"/>
            <a:ext cx="3124200" cy="969496"/>
          </a:xfrm>
          <a:prstGeom prst="rect">
            <a:avLst/>
          </a:prstGeom>
          <a:noFill/>
        </p:spPr>
        <p:txBody>
          <a:bodyPr wrap="square" rtlCol="0">
            <a:spAutoFit/>
          </a:bodyPr>
          <a:lstStyle/>
          <a:p>
            <a:pPr marL="231775" lvl="0" indent="-231775" fontAlgn="base">
              <a:spcBef>
                <a:spcPct val="0"/>
              </a:spcBef>
              <a:spcAft>
                <a:spcPct val="0"/>
              </a:spcAft>
              <a:tabLst>
                <a:tab pos="0" algn="l"/>
              </a:tabLst>
              <a:defRPr/>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2.   Giá</a:t>
            </a:r>
            <a:r>
              <a:rPr kumimoji="1" lang="vi-VN" altLang="ko-KR" sz="950" smtClean="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trị đo tối thiểu của một thước kẹp </a:t>
            </a:r>
            <a:r>
              <a:rPr kumimoji="1" lang="en-US" altLang="ko-KR" sz="950">
                <a:latin typeface="Times New Roman" pitchFamily="18" charset="0"/>
                <a:ea typeface="LG Smart_H Regular" panose="020B0600000101010101" pitchFamily="34" charset="-127"/>
                <a:cs typeface="Times New Roman" pitchFamily="18" charset="0"/>
              </a:rPr>
              <a:t>Vernier calipers </a:t>
            </a:r>
            <a:r>
              <a:rPr kumimoji="1" lang="vi-VN" altLang="ko-KR" sz="950" smtClean="0">
                <a:latin typeface="Times New Roman" pitchFamily="18" charset="0"/>
                <a:ea typeface="LG Smart_H Regular" panose="020B0600000101010101" pitchFamily="34" charset="-127"/>
                <a:cs typeface="Times New Roman" pitchFamily="18" charset="0"/>
              </a:rPr>
              <a:t>khi </a:t>
            </a:r>
            <a:r>
              <a:rPr kumimoji="1" lang="vi-VN" altLang="ko-KR" sz="950">
                <a:latin typeface="Times New Roman" pitchFamily="18" charset="0"/>
                <a:ea typeface="LG Smart_H Regular" panose="020B0600000101010101" pitchFamily="34" charset="-127"/>
                <a:cs typeface="Times New Roman" pitchFamily="18" charset="0"/>
              </a:rPr>
              <a:t>chia thành 20 phần </a:t>
            </a:r>
            <a:r>
              <a:rPr kumimoji="1" lang="vi-VN" altLang="ko-KR" sz="950" smtClean="0">
                <a:latin typeface="Times New Roman" pitchFamily="18" charset="0"/>
                <a:ea typeface="LG Smart_H Regular" panose="020B0600000101010101" pitchFamily="34" charset="-127"/>
                <a:cs typeface="Times New Roman" pitchFamily="18" charset="0"/>
              </a:rPr>
              <a:t>bằng</a:t>
            </a: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vi-VN" altLang="ko-KR" sz="950" smtClean="0">
                <a:latin typeface="Times New Roman" pitchFamily="18" charset="0"/>
                <a:ea typeface="LG Smart_H Regular" panose="020B0600000101010101" pitchFamily="34" charset="-127"/>
                <a:cs typeface="Times New Roman" pitchFamily="18" charset="0"/>
              </a:rPr>
              <a:t>nhau</a:t>
            </a: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là bao </a:t>
            </a:r>
            <a:r>
              <a:rPr kumimoji="1" lang="vi-VN" altLang="ko-KR" sz="950" smtClean="0">
                <a:latin typeface="Times New Roman" pitchFamily="18" charset="0"/>
                <a:ea typeface="LG Smart_H Regular" panose="020B0600000101010101" pitchFamily="34" charset="-127"/>
                <a:cs typeface="Times New Roman" pitchFamily="18" charset="0"/>
              </a:rPr>
              <a:t>nhiêu</a:t>
            </a:r>
            <a:r>
              <a:rPr kumimoji="1" lang="en-US" altLang="ko-KR" sz="950" smtClean="0">
                <a:latin typeface="Times New Roman" pitchFamily="18" charset="0"/>
                <a:ea typeface="LG Smart_H Regular" panose="020B0600000101010101" pitchFamily="34" charset="-127"/>
                <a:cs typeface="Times New Roman" pitchFamily="18" charset="0"/>
              </a:rPr>
              <a:t> ?</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en-US" altLang="ko-KR" sz="950" smtClean="0">
                <a:latin typeface="Times New Roman" pitchFamily="18" charset="0"/>
                <a:ea typeface="LG Smart_H Regular" panose="020B0600000101010101" pitchFamily="34" charset="-127"/>
                <a:cs typeface="Times New Roman" pitchFamily="18" charset="0"/>
              </a:rPr>
              <a:t>0.01 ㎜</a:t>
            </a:r>
          </a:p>
          <a:p>
            <a:pPr marL="228600" lvl="0" indent="-228600" fontAlgn="base">
              <a:spcBef>
                <a:spcPct val="0"/>
              </a:spcBef>
              <a:spcAft>
                <a:spcPct val="0"/>
              </a:spcAft>
              <a:buFont typeface="+mj-lt"/>
              <a:buAutoNum type="alphaUcPeriod"/>
              <a:tabLst>
                <a:tab pos="0" algn="l"/>
              </a:tabLst>
              <a:defRPr/>
            </a:pPr>
            <a:r>
              <a:rPr kumimoji="1" lang="en-US" altLang="ko-KR" sz="950" smtClean="0">
                <a:latin typeface="Times New Roman" pitchFamily="18" charset="0"/>
                <a:ea typeface="LG Smart_H Regular" panose="020B0600000101010101" pitchFamily="34" charset="-127"/>
                <a:cs typeface="Times New Roman" pitchFamily="18" charset="0"/>
              </a:rPr>
              <a:t>0.05 ㎜</a:t>
            </a:r>
          </a:p>
          <a:p>
            <a:pPr marL="228600" lvl="0" indent="-228600" fontAlgn="base">
              <a:spcBef>
                <a:spcPct val="0"/>
              </a:spcBef>
              <a:spcAft>
                <a:spcPct val="0"/>
              </a:spcAft>
              <a:buFont typeface="+mj-lt"/>
              <a:buAutoNum type="alphaUcPeriod"/>
              <a:tabLst>
                <a:tab pos="0" algn="l"/>
              </a:tabLst>
              <a:defRPr/>
            </a:pPr>
            <a:r>
              <a:rPr kumimoji="1" lang="en-US" altLang="ko-KR" sz="950" smtClean="0">
                <a:latin typeface="Times New Roman" pitchFamily="18" charset="0"/>
                <a:ea typeface="LG Smart_H Regular" panose="020B0600000101010101" pitchFamily="34" charset="-127"/>
                <a:cs typeface="Times New Roman" pitchFamily="18" charset="0"/>
              </a:rPr>
              <a:t>0.04 ㎜</a:t>
            </a:r>
          </a:p>
          <a:p>
            <a:pPr marL="228600" lvl="0" indent="-228600" fontAlgn="base">
              <a:spcBef>
                <a:spcPct val="0"/>
              </a:spcBef>
              <a:spcAft>
                <a:spcPct val="0"/>
              </a:spcAft>
              <a:buFont typeface="+mj-lt"/>
              <a:buAutoNum type="alphaUcPeriod"/>
              <a:tabLst>
                <a:tab pos="0" algn="l"/>
              </a:tabLst>
              <a:defRPr/>
            </a:pPr>
            <a:r>
              <a:rPr kumimoji="1" lang="en-US" altLang="ko-KR" sz="950" smtClean="0">
                <a:latin typeface="Times New Roman" pitchFamily="18" charset="0"/>
                <a:ea typeface="LG Smart_H Regular" panose="020B0600000101010101" pitchFamily="34" charset="-127"/>
                <a:cs typeface="Times New Roman" pitchFamily="18" charset="0"/>
              </a:rPr>
              <a:t>0.06 </a:t>
            </a:r>
            <a:r>
              <a:rPr kumimoji="1" lang="en-US" altLang="ko-KR" sz="950">
                <a:latin typeface="Times New Roman" pitchFamily="18" charset="0"/>
                <a:ea typeface="LG Smart_H Regular" panose="020B0600000101010101" pitchFamily="34" charset="-127"/>
                <a:cs typeface="Times New Roman" pitchFamily="18" charset="0"/>
              </a:rPr>
              <a:t>㎜</a:t>
            </a:r>
          </a:p>
        </p:txBody>
      </p:sp>
      <p:sp>
        <p:nvSpPr>
          <p:cNvPr id="30" name="Rectangle 29"/>
          <p:cNvSpPr/>
          <p:nvPr/>
        </p:nvSpPr>
        <p:spPr>
          <a:xfrm>
            <a:off x="3457058" y="1220269"/>
            <a:ext cx="3123902" cy="1115690"/>
          </a:xfrm>
          <a:prstGeom prst="rect">
            <a:avLst/>
          </a:prstGeom>
        </p:spPr>
        <p:txBody>
          <a:bodyPr wrap="square">
            <a:spAutoFit/>
          </a:bodyPr>
          <a:lstStyle/>
          <a:p>
            <a:pPr lvl="0" fontAlgn="base">
              <a:spcBef>
                <a:spcPct val="0"/>
              </a:spcBef>
              <a:spcAft>
                <a:spcPct val="0"/>
              </a:spcAft>
              <a:defRPr/>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6.   </a:t>
            </a:r>
            <a:r>
              <a:rPr kumimoji="1" lang="vi-VN" altLang="ko-KR" sz="950" smtClean="0">
                <a:latin typeface="Times New Roman" pitchFamily="18" charset="0"/>
                <a:ea typeface="LG Smart_H Regular" panose="020B0600000101010101" pitchFamily="34" charset="-127"/>
                <a:cs typeface="Times New Roman" pitchFamily="18" charset="0"/>
              </a:rPr>
              <a:t>Câu </a:t>
            </a:r>
            <a:r>
              <a:rPr kumimoji="1" lang="vi-VN" altLang="ko-KR" sz="950">
                <a:latin typeface="Times New Roman" pitchFamily="18" charset="0"/>
                <a:ea typeface="LG Smart_H Regular" panose="020B0600000101010101" pitchFamily="34" charset="-127"/>
                <a:cs typeface="Times New Roman" pitchFamily="18" charset="0"/>
              </a:rPr>
              <a:t>nào </a:t>
            </a:r>
            <a:r>
              <a:rPr kumimoji="1" lang="vi-VN" altLang="ko-KR" sz="950" b="1">
                <a:latin typeface="Times New Roman" pitchFamily="18" charset="0"/>
                <a:ea typeface="LG Smart_H Regular" panose="020B0600000101010101" pitchFamily="34" charset="-127"/>
                <a:cs typeface="Times New Roman" pitchFamily="18" charset="0"/>
              </a:rPr>
              <a:t>sai</a:t>
            </a:r>
            <a:r>
              <a:rPr kumimoji="1" lang="vi-VN" altLang="ko-KR" sz="950">
                <a:latin typeface="Times New Roman" pitchFamily="18" charset="0"/>
                <a:ea typeface="LG Smart_H Regular" panose="020B0600000101010101" pitchFamily="34" charset="-127"/>
                <a:cs typeface="Times New Roman" pitchFamily="18" charset="0"/>
              </a:rPr>
              <a:t> khi nói về đặc tính </a:t>
            </a:r>
            <a:r>
              <a:rPr kumimoji="1" lang="en-US" altLang="ko-KR" sz="950">
                <a:latin typeface="Times New Roman" pitchFamily="18" charset="0"/>
                <a:ea typeface="LG Smart_H Regular" panose="020B0600000101010101" pitchFamily="34" charset="-127"/>
                <a:cs typeface="Times New Roman" pitchFamily="18" charset="0"/>
              </a:rPr>
              <a:t>LM Guide ? </a:t>
            </a:r>
          </a:p>
          <a:p>
            <a:pPr marL="228600" lvl="0" indent="-228600" fontAlgn="base">
              <a:spcBef>
                <a:spcPct val="0"/>
              </a:spcBef>
              <a:spcAft>
                <a:spcPct val="0"/>
              </a:spcAft>
              <a:buFont typeface="+mj-lt"/>
              <a:buAutoNum type="alphaUcPeriod"/>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latin typeface="Times New Roman" pitchFamily="18" charset="0"/>
                <a:ea typeface="LG Smart_H Regular" panose="020B0600000101010101" pitchFamily="34" charset="-127"/>
                <a:cs typeface="Times New Roman" pitchFamily="18" charset="0"/>
              </a:rPr>
              <a:t>Có </a:t>
            </a:r>
            <a:r>
              <a:rPr kumimoji="1" lang="vi-VN" altLang="ko-KR" sz="950">
                <a:latin typeface="Times New Roman" pitchFamily="18" charset="0"/>
                <a:ea typeface="LG Smart_H Regular" panose="020B0600000101010101" pitchFamily="34" charset="-127"/>
                <a:cs typeface="Times New Roman" pitchFamily="18" charset="0"/>
              </a:rPr>
              <a:t>thể tạo ra độ cứng cao bằng cách đặt tải trước</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Khả năng duy trì trong thời gian dài </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Xuất hiện hiện tượng stick slip</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 trượt thanh) mà không bị mất chuyển động roast</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latin typeface="Times New Roman" pitchFamily="18" charset="0"/>
                <a:ea typeface="LG Smart_H Regular" panose="020B0600000101010101" pitchFamily="34" charset="-127"/>
                <a:cs typeface="Times New Roman" pitchFamily="18" charset="0"/>
              </a:rPr>
              <a:t>Hệ </a:t>
            </a:r>
            <a:r>
              <a:rPr kumimoji="1" lang="vi-VN" altLang="ko-KR" sz="950">
                <a:latin typeface="Times New Roman" pitchFamily="18" charset="0"/>
                <a:ea typeface="LG Smart_H Regular" panose="020B0600000101010101" pitchFamily="34" charset="-127"/>
                <a:cs typeface="Times New Roman" pitchFamily="18" charset="0"/>
              </a:rPr>
              <a:t>số ma sát thấp sẽ tiết kiệm chi phí vận hành máy</a:t>
            </a:r>
          </a:p>
        </p:txBody>
      </p:sp>
      <p:sp>
        <p:nvSpPr>
          <p:cNvPr id="31" name="Rectangle 30"/>
          <p:cNvSpPr/>
          <p:nvPr/>
        </p:nvSpPr>
        <p:spPr>
          <a:xfrm>
            <a:off x="214083" y="6359768"/>
            <a:ext cx="3314199" cy="969496"/>
          </a:xfrm>
          <a:prstGeom prst="rect">
            <a:avLst/>
          </a:prstGeom>
        </p:spPr>
        <p:txBody>
          <a:bodyPr wrap="square">
            <a:spAutoFit/>
          </a:bodyPr>
          <a:lstStyle/>
          <a:p>
            <a:pPr lvl="0" fontAlgn="base">
              <a:spcBef>
                <a:spcPct val="0"/>
              </a:spcBef>
              <a:spcAft>
                <a:spcPct val="0"/>
              </a:spcAft>
              <a:tabLst>
                <a:tab pos="0" algn="l"/>
              </a:tabLst>
              <a:defRPr/>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4.   </a:t>
            </a:r>
            <a:r>
              <a:rPr kumimoji="1" lang="vi-VN" altLang="ko-KR" sz="950" smtClean="0">
                <a:latin typeface="Times New Roman" pitchFamily="18" charset="0"/>
                <a:ea typeface="LG Smart_H Regular" panose="020B0600000101010101" pitchFamily="34" charset="-127"/>
                <a:cs typeface="Times New Roman" pitchFamily="18" charset="0"/>
              </a:rPr>
              <a:t>Câu </a:t>
            </a:r>
            <a:r>
              <a:rPr kumimoji="1" lang="vi-VN" altLang="ko-KR" sz="950">
                <a:latin typeface="Times New Roman" pitchFamily="18" charset="0"/>
                <a:ea typeface="LG Smart_H Regular" panose="020B0600000101010101" pitchFamily="34" charset="-127"/>
                <a:cs typeface="Times New Roman" pitchFamily="18" charset="0"/>
              </a:rPr>
              <a:t>nào giải thích </a:t>
            </a:r>
            <a:r>
              <a:rPr kumimoji="1" lang="vi-VN" altLang="ko-KR" sz="950" b="1">
                <a:latin typeface="Times New Roman" pitchFamily="18" charset="0"/>
                <a:ea typeface="LG Smart_H Regular" panose="020B0600000101010101" pitchFamily="34" charset="-127"/>
                <a:cs typeface="Times New Roman" pitchFamily="18" charset="0"/>
              </a:rPr>
              <a:t>không đúng </a:t>
            </a:r>
            <a:r>
              <a:rPr kumimoji="1" lang="vi-VN" altLang="ko-KR" sz="950">
                <a:latin typeface="Times New Roman" pitchFamily="18" charset="0"/>
                <a:ea typeface="LG Smart_H Regular" panose="020B0600000101010101" pitchFamily="34" charset="-127"/>
                <a:cs typeface="Times New Roman" pitchFamily="18" charset="0"/>
              </a:rPr>
              <a:t>về chất bôi </a:t>
            </a:r>
            <a:r>
              <a:rPr kumimoji="1" lang="vi-VN" altLang="ko-KR" sz="950" smtClean="0">
                <a:latin typeface="Times New Roman" pitchFamily="18" charset="0"/>
                <a:ea typeface="LG Smart_H Regular" panose="020B0600000101010101" pitchFamily="34" charset="-127"/>
                <a:cs typeface="Times New Roman" pitchFamily="18" charset="0"/>
              </a:rPr>
              <a:t>trơn</a:t>
            </a:r>
            <a:r>
              <a:rPr kumimoji="1" lang="en-US" altLang="ko-KR" sz="950" smtClean="0">
                <a:latin typeface="Times New Roman" pitchFamily="18" charset="0"/>
                <a:ea typeface="LG Smart_H Regular" panose="020B0600000101010101" pitchFamily="34" charset="-127"/>
                <a:cs typeface="Times New Roman" pitchFamily="18" charset="0"/>
              </a:rPr>
              <a:t>?</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smtClean="0">
                <a:latin typeface="Times New Roman" pitchFamily="18" charset="0"/>
                <a:ea typeface="LG Smart_H Regular" panose="020B0600000101010101" pitchFamily="34" charset="-127"/>
                <a:cs typeface="Times New Roman" pitchFamily="18" charset="0"/>
              </a:rPr>
              <a:t>Hầu </a:t>
            </a:r>
            <a:r>
              <a:rPr kumimoji="1" lang="vi-VN" altLang="ko-KR" sz="950">
                <a:latin typeface="Times New Roman" pitchFamily="18" charset="0"/>
                <a:ea typeface="LG Smart_H Regular" panose="020B0600000101010101" pitchFamily="34" charset="-127"/>
                <a:cs typeface="Times New Roman" pitchFamily="18" charset="0"/>
              </a:rPr>
              <a:t>hết chất bôi trơn đều có nguồn gốc từ dầu </a:t>
            </a:r>
            <a:r>
              <a:rPr kumimoji="1" lang="vi-VN" altLang="ko-KR" sz="950" smtClean="0">
                <a:latin typeface="Times New Roman" pitchFamily="18" charset="0"/>
                <a:ea typeface="LG Smart_H Regular" panose="020B0600000101010101" pitchFamily="34" charset="-127"/>
                <a:cs typeface="Times New Roman" pitchFamily="18" charset="0"/>
              </a:rPr>
              <a:t>khoáng</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tabLst>
                <a:tab pos="0" algn="l"/>
              </a:tabLst>
              <a:defRPr/>
            </a:pPr>
            <a:r>
              <a:rPr kumimoji="1" lang="vi-VN" altLang="ko-KR" sz="950">
                <a:latin typeface="Times New Roman" pitchFamily="18" charset="0"/>
                <a:ea typeface="LG Smart_H Regular" panose="020B0600000101010101" pitchFamily="34" charset="-127"/>
                <a:cs typeface="Times New Roman" pitchFamily="18" charset="0"/>
              </a:rPr>
              <a:t>Phải có độ nhớt chịu được trong trạng thái bôi trơn hạn </a:t>
            </a:r>
            <a:r>
              <a:rPr kumimoji="1" lang="vi-VN" altLang="ko-KR" sz="950" smtClean="0">
                <a:latin typeface="Times New Roman" pitchFamily="18" charset="0"/>
                <a:ea typeface="LG Smart_H Regular" panose="020B0600000101010101" pitchFamily="34" charset="-127"/>
                <a:cs typeface="Times New Roman" pitchFamily="18" charset="0"/>
              </a:rPr>
              <a:t>chế</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a:latin typeface="Times New Roman" pitchFamily="18" charset="0"/>
                <a:ea typeface="LG Smart_H Regular" panose="020B0600000101010101" pitchFamily="34" charset="-127"/>
                <a:cs typeface="Times New Roman" pitchFamily="18" charset="0"/>
              </a:rPr>
              <a:t>Cần có đủ độ nhớt</a:t>
            </a: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smtClean="0">
                <a:latin typeface="Times New Roman" pitchFamily="18" charset="0"/>
                <a:ea typeface="LG Smart_H Regular" panose="020B0600000101010101" pitchFamily="34" charset="-127"/>
                <a:cs typeface="Times New Roman" pitchFamily="18" charset="0"/>
              </a:rPr>
              <a:t>Có </a:t>
            </a:r>
            <a:r>
              <a:rPr kumimoji="1" lang="vi-VN" altLang="ko-KR" sz="950">
                <a:latin typeface="Times New Roman" pitchFamily="18" charset="0"/>
                <a:ea typeface="LG Smart_H Regular" panose="020B0600000101010101" pitchFamily="34" charset="-127"/>
                <a:cs typeface="Times New Roman" pitchFamily="18" charset="0"/>
              </a:rPr>
              <a:t>độ ổn định cao trong quá trình oxy hóa hoặc chịu nhiệt</a:t>
            </a:r>
            <a:endParaRPr kumimoji="1" lang="en-US" altLang="ko-KR" sz="950">
              <a:latin typeface="Times New Roman" pitchFamily="18" charset="0"/>
              <a:ea typeface="LG Smart_H Regular" panose="020B0600000101010101" pitchFamily="34" charset="-127"/>
              <a:cs typeface="Times New Roman" pitchFamily="18" charset="0"/>
            </a:endParaRPr>
          </a:p>
        </p:txBody>
      </p:sp>
      <p:sp>
        <p:nvSpPr>
          <p:cNvPr id="32" name="Rectangle 31"/>
          <p:cNvSpPr/>
          <p:nvPr/>
        </p:nvSpPr>
        <p:spPr>
          <a:xfrm>
            <a:off x="223113" y="7761312"/>
            <a:ext cx="3205887" cy="1408078"/>
          </a:xfrm>
          <a:prstGeom prst="rect">
            <a:avLst/>
          </a:prstGeom>
        </p:spPr>
        <p:txBody>
          <a:bodyPr wrap="square">
            <a:spAutoFit/>
          </a:bodyPr>
          <a:lstStyle/>
          <a:p>
            <a:pPr lvl="0" fontAlgn="base">
              <a:spcBef>
                <a:spcPct val="0"/>
              </a:spcBef>
              <a:spcAft>
                <a:spcPct val="0"/>
              </a:spcAft>
              <a:defRPr/>
            </a:pPr>
            <a:r>
              <a:rPr kumimoji="1" lang="en-US" altLang="ko-KR" sz="950">
                <a:latin typeface="Times New Roman" pitchFamily="18" charset="0"/>
                <a:ea typeface="LG Smart_H Regular" panose="020B0600000101010101" pitchFamily="34" charset="-127"/>
                <a:cs typeface="Times New Roman" pitchFamily="18" charset="0"/>
              </a:rPr>
              <a:t>7</a:t>
            </a:r>
            <a:r>
              <a:rPr kumimoji="1" lang="en-US" altLang="ko-KR" sz="950" smtClean="0">
                <a:latin typeface="Times New Roman" pitchFamily="18" charset="0"/>
                <a:ea typeface="LG Smart_H Regular" panose="020B0600000101010101" pitchFamily="34" charset="-127"/>
                <a:cs typeface="Times New Roman" pitchFamily="18" charset="0"/>
              </a:rPr>
              <a:t>5.   </a:t>
            </a:r>
            <a:r>
              <a:rPr kumimoji="1" lang="vi-VN" altLang="ko-KR" sz="950" smtClean="0">
                <a:latin typeface="Times New Roman" pitchFamily="18" charset="0"/>
                <a:ea typeface="LG Smart_H Regular" panose="020B0600000101010101" pitchFamily="34" charset="-127"/>
                <a:cs typeface="Times New Roman" pitchFamily="18" charset="0"/>
              </a:rPr>
              <a:t>Loại </a:t>
            </a:r>
            <a:r>
              <a:rPr kumimoji="1" lang="vi-VN" altLang="ko-KR" sz="950">
                <a:latin typeface="Times New Roman" pitchFamily="18" charset="0"/>
                <a:ea typeface="LG Smart_H Regular" panose="020B0600000101010101" pitchFamily="34" charset="-127"/>
                <a:cs typeface="Times New Roman" pitchFamily="18" charset="0"/>
              </a:rPr>
              <a:t>key nào được giải thích dưới đây?</a:t>
            </a:r>
          </a:p>
          <a:p>
            <a:pPr marL="171450" lvl="0" indent="-171450"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vi-VN" altLang="ko-KR" sz="950" smtClean="0">
                <a:latin typeface="Times New Roman" pitchFamily="18" charset="0"/>
                <a:ea typeface="LG Smart_H Regular" panose="020B0600000101010101" pitchFamily="34" charset="-127"/>
                <a:cs typeface="Times New Roman" pitchFamily="18" charset="0"/>
              </a:rPr>
              <a:t>(</a:t>
            </a:r>
            <a:r>
              <a:rPr kumimoji="1" lang="vi-VN" altLang="ko-KR" sz="950">
                <a:latin typeface="Times New Roman" pitchFamily="18" charset="0"/>
                <a:ea typeface="LG Smart_H Regular" panose="020B0600000101010101" pitchFamily="34" charset="-127"/>
                <a:cs typeface="Times New Roman" pitchFamily="18" charset="0"/>
              </a:rPr>
              <a:t>Còn được gọi là khóa chôn,là chìa có tiết diện hình vuông hoặc chữ nhật được sử dụng bằng cách gia công rãnh then trên cả trục và box và là chìa thông dụng nhất</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smtClean="0">
                <a:latin typeface="Times New Roman" pitchFamily="18" charset="0"/>
                <a:ea typeface="LG Smart_H Regular" panose="020B0600000101010101" pitchFamily="34" charset="-127"/>
                <a:cs typeface="Times New Roman" pitchFamily="18" charset="0"/>
              </a:rPr>
              <a:t>Khóa </a:t>
            </a:r>
            <a:r>
              <a:rPr kumimoji="1" lang="vi-VN" altLang="ko-KR" sz="950">
                <a:latin typeface="Times New Roman" pitchFamily="18" charset="0"/>
                <a:ea typeface="LG Smart_H Regular" panose="020B0600000101010101" pitchFamily="34" charset="-127"/>
                <a:cs typeface="Times New Roman" pitchFamily="18" charset="0"/>
              </a:rPr>
              <a:t>chìm (sunk key</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latin typeface="Times New Roman" pitchFamily="18" charset="0"/>
                <a:ea typeface="LG Smart_H Regular" panose="020B0600000101010101" pitchFamily="34" charset="-127"/>
                <a:cs typeface="Times New Roman" pitchFamily="18" charset="0"/>
              </a:rPr>
              <a:t>Key </a:t>
            </a:r>
            <a:r>
              <a:rPr kumimoji="1" lang="vi-VN" altLang="ko-KR" sz="950">
                <a:latin typeface="Times New Roman" pitchFamily="18" charset="0"/>
                <a:ea typeface="LG Smart_H Regular" panose="020B0600000101010101" pitchFamily="34" charset="-127"/>
                <a:cs typeface="Times New Roman" pitchFamily="18" charset="0"/>
              </a:rPr>
              <a:t>tròn(round </a:t>
            </a:r>
            <a:r>
              <a:rPr kumimoji="1" lang="vi-VN" altLang="ko-KR" sz="950" smtClean="0">
                <a:latin typeface="Times New Roman" pitchFamily="18" charset="0"/>
                <a:ea typeface="LG Smart_H Regular" panose="020B0600000101010101" pitchFamily="34" charset="-127"/>
                <a:cs typeface="Times New Roman" pitchFamily="18" charset="0"/>
              </a:rPr>
              <a:t>key</a:t>
            </a:r>
            <a:r>
              <a:rPr kumimoji="1" lang="en-US" altLang="ko-KR" sz="950" smtClean="0">
                <a:latin typeface="Times New Roman" pitchFamily="18" charset="0"/>
                <a:ea typeface="LG Smart_H Regular" panose="020B0600000101010101" pitchFamily="34" charset="-127"/>
                <a:cs typeface="Times New Roman" pitchFamily="18" charset="0"/>
              </a:rPr>
              <a:t>)</a:t>
            </a:r>
          </a:p>
          <a:p>
            <a:pPr marL="228600" lvl="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Key bán nguyệt(woodruff key)</a:t>
            </a:r>
          </a:p>
          <a:p>
            <a:pPr marL="228600" lvl="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Khóa trượt(sliding key</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vi-VN" altLang="ko-KR" sz="95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242433" y="4398755"/>
            <a:ext cx="3124200" cy="1130309"/>
            <a:chOff x="242433" y="3124274"/>
            <a:chExt cx="3124200" cy="1130309"/>
          </a:xfrm>
        </p:grpSpPr>
        <p:sp>
          <p:nvSpPr>
            <p:cNvPr id="33" name="Rectangle 36"/>
            <p:cNvSpPr>
              <a:spLocks noChangeArrowheads="1"/>
            </p:cNvSpPr>
            <p:nvPr/>
          </p:nvSpPr>
          <p:spPr bwMode="auto">
            <a:xfrm>
              <a:off x="242433" y="3124274"/>
              <a:ext cx="3124200" cy="1130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anose="02020603050405020304" pitchFamily="18" charset="0"/>
                  <a:cs typeface="Times New Roman" panose="02020603050405020304" pitchFamily="18" charset="0"/>
                </a:rPr>
                <a:t>7</a:t>
              </a:r>
              <a:r>
                <a:rPr lang="en-US" altLang="ko-KR" sz="950" smtClean="0">
                  <a:latin typeface="Times New Roman" panose="02020603050405020304" pitchFamily="18" charset="0"/>
                  <a:cs typeface="Times New Roman" panose="02020603050405020304" pitchFamily="18" charset="0"/>
                </a:rPr>
                <a:t>3. </a:t>
              </a:r>
              <a:r>
                <a:rPr lang="en-US" altLang="ko-KR" sz="950">
                  <a:latin typeface="Times New Roman" panose="02020603050405020304" pitchFamily="18" charset="0"/>
                  <a:cs typeface="Times New Roman" panose="02020603050405020304" pitchFamily="18" charset="0"/>
                </a:rPr>
                <a:t>Tên gọi của phần A ở hình sau là gì</a:t>
              </a:r>
              <a:r>
                <a:rPr lang="ko-KR" altLang="en-US" sz="950">
                  <a:latin typeface="Times New Roman" panose="02020603050405020304" pitchFamily="18" charset="0"/>
                  <a:cs typeface="Times New Roman" panose="02020603050405020304" pitchFamily="18" charset="0"/>
                </a:rPr>
                <a:t> </a:t>
              </a:r>
              <a:r>
                <a:rPr lang="en-US" altLang="ko-KR" sz="950" smtClean="0">
                  <a:latin typeface="Times New Roman" panose="02020603050405020304" pitchFamily="18" charset="0"/>
                  <a:cs typeface="Times New Roman" panose="02020603050405020304" pitchFamily="18" charset="0"/>
                </a:rPr>
                <a:t>?</a:t>
              </a:r>
              <a:endParaRPr lang="en-US" altLang="ko-KR" sz="950">
                <a:latin typeface="Times New Roman" panose="02020603050405020304" pitchFamily="18" charset="0"/>
                <a:cs typeface="Times New Roman" panose="02020603050405020304" pitchFamily="18" charset="0"/>
              </a:endParaRPr>
            </a:p>
            <a:p>
              <a:pPr>
                <a:lnSpc>
                  <a:spcPct val="70000"/>
                </a:lnSpc>
                <a:spcBef>
                  <a:spcPct val="50000"/>
                </a:spcBef>
              </a:pPr>
              <a:endParaRPr lang="en-US" altLang="ko-KR" sz="950" smtClean="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a:latin typeface="Times New Roman" panose="02020603050405020304" pitchFamily="18" charset="0"/>
                  <a:ea typeface="돋움" pitchFamily="50" charset="-127"/>
                  <a:cs typeface="Times New Roman" panose="02020603050405020304" pitchFamily="18" charset="0"/>
                </a:rPr>
                <a:t>C</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cap</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B.</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Ống ngoài</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End </a:t>
              </a:r>
              <a:r>
                <a:rPr lang="en-US" altLang="ko-KR" sz="950">
                  <a:latin typeface="Times New Roman" panose="02020603050405020304" pitchFamily="18" charset="0"/>
                  <a:ea typeface="돋움" pitchFamily="50" charset="-127"/>
                  <a:cs typeface="Times New Roman" panose="02020603050405020304" pitchFamily="18" charset="0"/>
                </a:rPr>
                <a:t>Plate</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D.</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Base Plate</a:t>
              </a:r>
              <a:endParaRPr lang="ko-KR" altLang="en-US" sz="950">
                <a:latin typeface="Times New Roman" panose="02020603050405020304" pitchFamily="18" charset="0"/>
                <a:ea typeface="돋움" pitchFamily="50" charset="-127"/>
                <a:cs typeface="Times New Roman" panose="02020603050405020304" pitchFamily="18" charset="0"/>
              </a:endParaRPr>
            </a:p>
          </p:txBody>
        </p:sp>
        <p:grpSp>
          <p:nvGrpSpPr>
            <p:cNvPr id="34" name="Group 37"/>
            <p:cNvGrpSpPr>
              <a:grpSpLocks/>
            </p:cNvGrpSpPr>
            <p:nvPr/>
          </p:nvGrpSpPr>
          <p:grpSpPr bwMode="auto">
            <a:xfrm>
              <a:off x="1922008" y="3324299"/>
              <a:ext cx="1295400" cy="855663"/>
              <a:chOff x="1056" y="848"/>
              <a:chExt cx="816" cy="539"/>
            </a:xfrm>
          </p:grpSpPr>
          <p:sp>
            <p:nvSpPr>
              <p:cNvPr id="35"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anose="02020603050405020304" pitchFamily="18" charset="0"/>
                  <a:cs typeface="Times New Roman" panose="02020603050405020304" pitchFamily="18" charset="0"/>
                </a:endParaRPr>
              </a:p>
            </p:txBody>
          </p:sp>
          <p:pic>
            <p:nvPicPr>
              <p:cNvPr id="36"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anose="02020603050405020304" pitchFamily="18" charset="0"/>
                    <a:cs typeface="Times New Roman" panose="02020603050405020304" pitchFamily="18" charset="0"/>
                  </a:rPr>
                  <a:t>A</a:t>
                </a:r>
              </a:p>
            </p:txBody>
          </p:sp>
        </p:grpSp>
      </p:grpSp>
      <p:grpSp>
        <p:nvGrpSpPr>
          <p:cNvPr id="5" name="Group 4"/>
          <p:cNvGrpSpPr/>
          <p:nvPr/>
        </p:nvGrpSpPr>
        <p:grpSpPr>
          <a:xfrm>
            <a:off x="3446970" y="4404662"/>
            <a:ext cx="3429000" cy="1700466"/>
            <a:chOff x="3446970" y="4404662"/>
            <a:chExt cx="3429000" cy="1700466"/>
          </a:xfrm>
        </p:grpSpPr>
        <p:sp>
          <p:nvSpPr>
            <p:cNvPr id="19" name="Rectangle 18"/>
            <p:cNvSpPr/>
            <p:nvPr/>
          </p:nvSpPr>
          <p:spPr>
            <a:xfrm>
              <a:off x="3446970" y="4404662"/>
              <a:ext cx="3429000" cy="1700466"/>
            </a:xfrm>
            <a:prstGeom prst="rect">
              <a:avLst/>
            </a:prstGeom>
          </p:spPr>
          <p:txBody>
            <a:bodyPr>
              <a:spAutoFit/>
            </a:bodyPr>
            <a:lstStyle/>
            <a:p>
              <a:pPr fontAlgn="base">
                <a:spcBef>
                  <a:spcPct val="0"/>
                </a:spcBef>
                <a:spcAft>
                  <a:spcPct val="0"/>
                </a:spcAft>
                <a:defRPr/>
              </a:pPr>
              <a:r>
                <a:rPr kumimoji="1" lang="en-US" altLang="ko-KR" sz="950" smtClean="0">
                  <a:latin typeface="Times New Roman" pitchFamily="18" charset="0"/>
                  <a:ea typeface="LG Smart_H Regular" panose="020B0600000101010101" pitchFamily="34" charset="-127"/>
                  <a:cs typeface="Times New Roman" pitchFamily="18" charset="0"/>
                </a:rPr>
                <a:t>78.   </a:t>
              </a:r>
              <a:r>
                <a:rPr kumimoji="1" lang="vi-VN" altLang="ko-KR" sz="950">
                  <a:latin typeface="Times New Roman" pitchFamily="18" charset="0"/>
                  <a:ea typeface="LG Smart_H Regular" panose="020B0600000101010101" pitchFamily="34" charset="-127"/>
                  <a:cs typeface="Times New Roman" pitchFamily="18" charset="0"/>
                </a:rPr>
                <a:t>Tên gọi linh kiện dưới đây là gì ? </a:t>
              </a:r>
            </a:p>
            <a:p>
              <a:pPr lvl="0" fontAlgn="base">
                <a:spcBef>
                  <a:spcPct val="0"/>
                </a:spcBef>
                <a:spcAft>
                  <a:spcPct val="0"/>
                </a:spcAft>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latin typeface="Times New Roman" pitchFamily="18" charset="0"/>
                  <a:ea typeface="LG Smart_H Regular" panose="020B0600000101010101" pitchFamily="34" charset="-127"/>
                  <a:cs typeface="Times New Roman" pitchFamily="18" charset="0"/>
                </a:rPr>
                <a:t>Khớp </a:t>
              </a:r>
              <a:r>
                <a:rPr kumimoji="1" lang="vi-VN" altLang="ko-KR" sz="950">
                  <a:latin typeface="Times New Roman" pitchFamily="18" charset="0"/>
                  <a:ea typeface="LG Smart_H Regular" panose="020B0600000101010101" pitchFamily="34" charset="-127"/>
                  <a:cs typeface="Times New Roman" pitchFamily="18" charset="0"/>
                </a:rPr>
                <a:t>nối Muff(Muff Coupling) </a:t>
              </a:r>
            </a:p>
            <a:p>
              <a:pPr marL="228600" lvl="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Khớp nối Seller’s (Seller’s Coupling</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Khớp nối kẹp (Clamp Coupling</a:t>
              </a:r>
              <a:r>
                <a:rPr kumimoji="1" lang="vi-VN" altLang="ko-KR" sz="950" smtClean="0">
                  <a:latin typeface="Times New Roman" pitchFamily="18" charset="0"/>
                  <a:ea typeface="LG Smart_H Regular" panose="020B0600000101010101" pitchFamily="34" charset="-127"/>
                  <a:cs typeface="Times New Roman" pitchFamily="18" charset="0"/>
                </a:rPr>
                <a:t>) </a:t>
              </a:r>
              <a:endParaRPr kumimoji="1" lang="vi-VN" altLang="ko-KR" sz="950">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a:latin typeface="Times New Roman" pitchFamily="18" charset="0"/>
                  <a:ea typeface="LG Smart_H Regular" panose="020B0600000101010101" pitchFamily="34" charset="-127"/>
                  <a:cs typeface="Times New Roman" pitchFamily="18" charset="0"/>
                </a:rPr>
                <a:t>Khớp nối mặt bích(Flange Coupling</a:t>
              </a:r>
              <a:endParaRPr kumimoji="1" lang="ko-KR" altLang="en-US" sz="950">
                <a:latin typeface="Times New Roman" pitchFamily="18" charset="0"/>
                <a:ea typeface="LG Smart_H Regular" panose="020B0600000101010101" pitchFamily="34" charset="-127"/>
                <a:cs typeface="Times New Roman" pitchFamily="18" charset="0"/>
              </a:endParaRPr>
            </a:p>
          </p:txBody>
        </p:sp>
        <p:pic>
          <p:nvPicPr>
            <p:cNvPr id="17" name="Picture 1" descr="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6382" y="4781908"/>
              <a:ext cx="3014578" cy="53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761847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19141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Độ cao thấp của dòng điện được gọi là </a:t>
            </a:r>
            <a:r>
              <a:rPr lang="vi-VN" altLang="ko-KR" sz="950" smtClean="0">
                <a:latin typeface="Times New Roman" pitchFamily="18" charset="0"/>
                <a:ea typeface="LG Smart_H Regular" panose="020B0600000101010101" pitchFamily="34" charset="-127"/>
                <a:cs typeface="Times New Roman" pitchFamily="18" charset="0"/>
              </a:rPr>
              <a:t>gì</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thế(electric potential</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điện thế(potential difference)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áp(electric voltage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Lực điện động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775592"/>
            <a:ext cx="3384376"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 nào sau đây là thiết bị ngắt quá </a:t>
            </a:r>
            <a:r>
              <a:rPr lang="vi-VN" altLang="ko-KR" sz="950" smtClean="0">
                <a:latin typeface="Times New Roman" pitchFamily="18" charset="0"/>
                <a:ea typeface="LG Smart_H Regular" panose="020B0600000101010101" pitchFamily="34" charset="-127"/>
                <a:cs typeface="Times New Roman" pitchFamily="18" charset="0"/>
              </a:rPr>
              <a:t>tải?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ELB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smtClean="0">
                <a:latin typeface="Times New Roman" pitchFamily="18" charset="0"/>
                <a:ea typeface="LG Smart_H Regular" panose="020B0600000101010101" pitchFamily="34" charset="-127"/>
                <a:cs typeface="Times New Roman" pitchFamily="18" charset="0"/>
              </a:rPr>
              <a:t>ELCC</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MCCB</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hiệu khoảng cách giữa 2 bản điện cực của 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1933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Giá trị đỉnh: là  giá trị lớn nhất trong giá trị tức thời. Có ký hiệu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VP_P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VRMS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5614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nói về chức năng sau: "Chức năng vận hành trôi chảy mạch điện bằng việc giới hạn dòng điện và là một trong những linh kiện không thể thiếu của một mạch 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Điện </a:t>
            </a:r>
            <a:r>
              <a:rPr lang="vi-VN" altLang="ko-KR" sz="950" smtClean="0">
                <a:latin typeface="Times New Roman" pitchFamily="18" charset="0"/>
                <a:ea typeface="LG Smart_H Regular" panose="020B0600000101010101" pitchFamily="34" charset="-127"/>
                <a:cs typeface="Times New Roman" pitchFamily="18" charset="0"/>
              </a:rPr>
              <a:t>trở</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Cuộn </a:t>
            </a:r>
            <a:r>
              <a:rPr lang="en-US" altLang="ko-KR" sz="950" smtClean="0">
                <a:latin typeface="Times New Roman" pitchFamily="18" charset="0"/>
                <a:ea typeface="LG Smart_H Regular" panose="020B0600000101010101" pitchFamily="34" charset="-127"/>
                <a:cs typeface="Times New Roman" pitchFamily="18" charset="0"/>
              </a:rPr>
              <a:t>cảm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Điot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84076" y="6681192"/>
            <a:ext cx="3239810" cy="969496"/>
            <a:chOff x="184076" y="6969224"/>
            <a:chExt cx="3239810" cy="969496"/>
          </a:xfrm>
        </p:grpSpPr>
        <p:sp>
          <p:nvSpPr>
            <p:cNvPr id="57"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D</a:t>
              </a:r>
              <a:r>
                <a:rPr lang="en-US" altLang="ko-KR" sz="950">
                  <a:latin typeface="Times New Roman" pitchFamily="18" charset="0"/>
                  <a:ea typeface="LG Smart_H Regular" panose="020B0600000101010101" pitchFamily="34" charset="-127"/>
                  <a:cs typeface="Times New Roman" pitchFamily="18" charset="0"/>
                </a:rPr>
                <a:t>. 0 [C]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5" name="Group 34"/>
            <p:cNvGrpSpPr>
              <a:grpSpLocks noChangeAspect="1"/>
            </p:cNvGrpSpPr>
            <p:nvPr/>
          </p:nvGrpSpPr>
          <p:grpSpPr bwMode="auto">
            <a:xfrm>
              <a:off x="1982793" y="7288253"/>
              <a:ext cx="1374199" cy="187062"/>
              <a:chOff x="0" y="-4"/>
              <a:chExt cx="145" cy="45"/>
            </a:xfrm>
          </p:grpSpPr>
          <p:sp>
            <p:nvSpPr>
              <p:cNvPr id="36"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37" name="Rectangle 36"/>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38" name="Rectangle 37"/>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39" name="Rectangle 38"/>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40" name="Rectangle 39"/>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41" name="Rectangle 40"/>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42" name="Rectangle 41"/>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43" name="Rectangle 42"/>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44" name="Rectangle 43"/>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45" name="Rectangle 44"/>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46" name="Rectangle 45"/>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47" name="Rectangle 46"/>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nvGrpSpPr>
            <p:cNvPr id="48" name="Group 47"/>
            <p:cNvGrpSpPr>
              <a:grpSpLocks noChangeAspect="1"/>
            </p:cNvGrpSpPr>
            <p:nvPr/>
          </p:nvGrpSpPr>
          <p:grpSpPr bwMode="auto">
            <a:xfrm>
              <a:off x="476672" y="7699402"/>
              <a:ext cx="1260472" cy="187956"/>
              <a:chOff x="0" y="-2"/>
              <a:chExt cx="145" cy="33"/>
            </a:xfrm>
          </p:grpSpPr>
          <p:sp>
            <p:nvSpPr>
              <p:cNvPr id="49"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50" name="Rectangle 49"/>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1" name="Rectangle 5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2" name="Rectangle 51"/>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53" name="Rectangle 52"/>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54" name="Rectangle 53"/>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5" name="Rectangle 54"/>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56" name="Rectangle 55"/>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58" name="Rectangle 57"/>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62" name="Rectangle 61"/>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63" name="Rectangle 62"/>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64" name="Rectangle 63"/>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grpSp>
        <p:nvGrpSpPr>
          <p:cNvPr id="4" name="Group 3"/>
          <p:cNvGrpSpPr/>
          <p:nvPr/>
        </p:nvGrpSpPr>
        <p:grpSpPr>
          <a:xfrm>
            <a:off x="3429000" y="6393160"/>
            <a:ext cx="3239810" cy="1046053"/>
            <a:chOff x="3429000" y="6431776"/>
            <a:chExt cx="3239810" cy="1046053"/>
          </a:xfrm>
        </p:grpSpPr>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kí hiệu của "Light-Emitting Diode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 </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65" name="Picture 64" descr="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921" y="6681192"/>
              <a:ext cx="582199" cy="38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5" descr="ze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01" y="6693963"/>
              <a:ext cx="497679" cy="388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descr="brid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230" y="7104337"/>
              <a:ext cx="563323" cy="37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71" descr="shottok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216" y="7041232"/>
              <a:ext cx="575499" cy="4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3" name="Rectangle 7"/>
          <p:cNvSpPr>
            <a:spLocks noChangeArrowheads="1"/>
          </p:cNvSpPr>
          <p:nvPr/>
        </p:nvSpPr>
        <p:spPr bwMode="auto">
          <a:xfrm>
            <a:off x="142443" y="147095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Vật có độ dẫn điện ở mức trung gian so với vật dẫn điện và vật cách điện là loại nào sau </a:t>
            </a:r>
            <a:r>
              <a:rPr lang="vi-VN" altLang="ko-KR" sz="950" smtClean="0">
                <a:latin typeface="Times New Roman" pitchFamily="18" charset="0"/>
                <a:ea typeface="LG Smart_H Regular" panose="020B0600000101010101" pitchFamily="34" charset="-127"/>
                <a:cs typeface="Times New Roman" pitchFamily="18" charset="0"/>
              </a:rPr>
              <a:t>đây? </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Conductor</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Non-Conductor</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Semi-Conductor</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Non</a:t>
            </a:r>
            <a:r>
              <a:rPr lang="en-US" altLang="ko-KR" sz="950">
                <a:latin typeface="Times New Roman" pitchFamily="18" charset="0"/>
                <a:ea typeface="LG Smart_H Regular" panose="020B0600000101010101" pitchFamily="34" charset="-127"/>
                <a:cs typeface="Times New Roman" pitchFamily="18" charset="0"/>
              </a:rPr>
              <a:t>, Semi-Conductor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84" name="Rectangle 7"/>
          <p:cNvSpPr>
            <a:spLocks noChangeArrowheads="1"/>
          </p:cNvSpPr>
          <p:nvPr/>
        </p:nvSpPr>
        <p:spPr bwMode="auto">
          <a:xfrm>
            <a:off x="3425736" y="8214949"/>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"Tốc độ đóng mở cực lớn, nên được sử dụng cho đóng mở tốc độ cao hoặc máy trộn có sóng cực ngắn. Có đặc điểm là sụt áp chiều thuận thấp khoảng 0.2 V" là đặc điểm của Diode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Diode PIN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Diode Schottky </a:t>
            </a:r>
            <a:r>
              <a:rPr lang="en-US" altLang="ko-KR" sz="950" smtClean="0">
                <a:latin typeface="Times New Roman" pitchFamily="18" charset="0"/>
                <a:ea typeface="LG Smart_H Regular" panose="020B0600000101010101" pitchFamily="34" charset="-127"/>
                <a:cs typeface="Times New Roman" pitchFamily="18" charset="0"/>
              </a:rPr>
              <a:t>Barrier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Diode thông </a:t>
            </a:r>
            <a:r>
              <a:rPr lang="vi-VN" altLang="ko-KR" sz="950" smtClean="0">
                <a:latin typeface="Times New Roman" pitchFamily="18" charset="0"/>
                <a:ea typeface="LG Smart_H Regular" panose="020B0600000101010101" pitchFamily="34" charset="-127"/>
                <a:cs typeface="Times New Roman" pitchFamily="18" charset="0"/>
              </a:rPr>
              <a:t>thường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Diode zener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85" name="Group 84"/>
          <p:cNvGrpSpPr/>
          <p:nvPr/>
        </p:nvGrpSpPr>
        <p:grpSpPr>
          <a:xfrm>
            <a:off x="3926921" y="4313252"/>
            <a:ext cx="2738624" cy="1215812"/>
            <a:chOff x="4869160" y="3460140"/>
            <a:chExt cx="6264146" cy="1060812"/>
          </a:xfrm>
        </p:grpSpPr>
        <p:sp>
          <p:nvSpPr>
            <p:cNvPr id="86" name="Rectangle 7"/>
            <p:cNvSpPr>
              <a:spLocks noChangeArrowheads="1"/>
            </p:cNvSpPr>
            <p:nvPr/>
          </p:nvSpPr>
          <p:spPr bwMode="auto">
            <a:xfrm>
              <a:off x="7893496" y="346014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mạch bên 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Smoothing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Timer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Low-pass </a:t>
              </a:r>
              <a:r>
                <a:rPr lang="vi-VN" altLang="ko-KR" sz="950" smtClean="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87" name="Picture 86"/>
            <p:cNvPicPr>
              <a:picLocks noChangeAspect="1"/>
            </p:cNvPicPr>
            <p:nvPr/>
          </p:nvPicPr>
          <p:blipFill rotWithShape="1">
            <a:blip r:embed="rId7">
              <a:extLst>
                <a:ext uri="{28A0092B-C50C-407E-A947-70E740481C1C}">
                  <a14:useLocalDpi xmlns:a14="http://schemas.microsoft.com/office/drawing/2010/main" val="0"/>
                </a:ext>
              </a:extLst>
            </a:blip>
            <a:srcRect t="38355"/>
            <a:stretch/>
          </p:blipFill>
          <p:spPr>
            <a:xfrm>
              <a:off x="4869160" y="3944888"/>
              <a:ext cx="1584176" cy="576064"/>
            </a:xfrm>
            <a:prstGeom prst="rect">
              <a:avLst/>
            </a:prstGeom>
          </p:spPr>
        </p:pic>
      </p:grpSp>
    </p:spTree>
    <p:extLst>
      <p:ext uri="{BB962C8B-B14F-4D97-AF65-F5344CB8AC3E}">
        <p14:creationId xmlns:p14="http://schemas.microsoft.com/office/powerpoint/2010/main" val="19711354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6" name="Rectangle 132"/>
          <p:cNvSpPr>
            <a:spLocks noChangeArrowheads="1"/>
          </p:cNvSpPr>
          <p:nvPr/>
        </p:nvSpPr>
        <p:spPr bwMode="auto">
          <a:xfrm>
            <a:off x="147512" y="2644969"/>
            <a:ext cx="3125788"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12. </a:t>
            </a:r>
            <a:r>
              <a:rPr lang="en-US" altLang="ko-KR" sz="900" dirty="0" smtClean="0">
                <a:latin typeface="Arial" panose="020B0604020202020204" pitchFamily="34" charset="0"/>
                <a:cs typeface="Arial" panose="020B0604020202020204" pitchFamily="34" charset="0"/>
              </a:rPr>
              <a:t>TRANSISTOR </a:t>
            </a:r>
            <a:r>
              <a:rPr lang="en-US" altLang="ko-KR" sz="900" dirty="0" err="1" smtClean="0">
                <a:latin typeface="Arial" panose="020B0604020202020204" pitchFamily="34" charset="0"/>
                <a:cs typeface="Arial" panose="020B0604020202020204" pitchFamily="34" charset="0"/>
              </a:rPr>
              <a:t>tần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PNP Type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phân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a:latin typeface="Arial" panose="020B0604020202020204" pitchFamily="34" charset="0"/>
                <a:cs typeface="Arial" panose="020B0604020202020204" pitchFamily="34" charset="0"/>
              </a:rPr>
              <a:t> TRANSISTOR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Part No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2SAxx     </a:t>
            </a:r>
            <a:r>
              <a:rPr lang="en-US" altLang="ko-KR" sz="900" smtClean="0">
                <a:latin typeface="Arial" panose="020B0604020202020204" pitchFamily="34" charset="0"/>
                <a:cs typeface="Arial" panose="020B0604020202020204" pitchFamily="34" charset="0"/>
              </a:rPr>
              <a:t>B. </a:t>
            </a:r>
            <a:r>
              <a:rPr lang="en-US" altLang="ko-KR" sz="900">
                <a:latin typeface="Arial" panose="020B0604020202020204" pitchFamily="34" charset="0"/>
                <a:cs typeface="Arial" panose="020B0604020202020204" pitchFamily="34" charset="0"/>
              </a:rPr>
              <a:t>2SBxx     </a:t>
            </a:r>
            <a:r>
              <a:rPr lang="en-US" altLang="ko-KR" sz="900" smtClean="0">
                <a:latin typeface="Arial" panose="020B0604020202020204" pitchFamily="34" charset="0"/>
                <a:cs typeface="Arial" panose="020B0604020202020204" pitchFamily="34" charset="0"/>
              </a:rPr>
              <a:t>C. </a:t>
            </a:r>
            <a:r>
              <a:rPr lang="en-US" altLang="ko-KR" sz="900">
                <a:latin typeface="Arial" panose="020B0604020202020204" pitchFamily="34" charset="0"/>
                <a:cs typeface="Arial" panose="020B0604020202020204" pitchFamily="34" charset="0"/>
              </a:rPr>
              <a:t>2SCxx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2SDxx</a:t>
            </a:r>
          </a:p>
        </p:txBody>
      </p:sp>
      <p:sp>
        <p:nvSpPr>
          <p:cNvPr id="7" name="Rectangle 166"/>
          <p:cNvSpPr>
            <a:spLocks noChangeArrowheads="1"/>
          </p:cNvSpPr>
          <p:nvPr/>
        </p:nvSpPr>
        <p:spPr bwMode="auto">
          <a:xfrm>
            <a:off x="3438436" y="931604"/>
            <a:ext cx="318135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16.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Sensor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phát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mặt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gương</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Loại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hồi</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quy</a:t>
            </a:r>
            <a:r>
              <a:rPr lang="en-US" altLang="ko-KR" sz="900" smtClean="0">
                <a:latin typeface="Arial" panose="020B0604020202020204" pitchFamily="34" charset="0"/>
                <a:cs typeface="Arial" panose="020B0604020202020204" pitchFamily="34" charset="0"/>
              </a:rPr>
              <a:t>           B.</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xuyên</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thấu</a:t>
            </a:r>
            <a:r>
              <a:rPr lang="ko-KR" altLang="en-US" sz="900" smtClean="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khuếch</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tán</a:t>
            </a:r>
            <a:r>
              <a:rPr lang="ko-KR" altLang="en-US" sz="90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Sensor </a:t>
            </a:r>
            <a:r>
              <a:rPr lang="en-US" altLang="ko-KR" sz="900" dirty="0" err="1" smtClean="0">
                <a:latin typeface="Arial" panose="020B0604020202020204" pitchFamily="34" charset="0"/>
                <a:cs typeface="Arial" panose="020B0604020202020204" pitchFamily="34" charset="0"/>
              </a:rPr>
              <a:t>móng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ngựa</a:t>
            </a:r>
            <a:endParaRPr lang="ko-KR" altLang="en-US" sz="900" dirty="0">
              <a:latin typeface="Arial" panose="020B0604020202020204" pitchFamily="34" charset="0"/>
              <a:cs typeface="Arial" panose="020B0604020202020204" pitchFamily="34" charset="0"/>
            </a:endParaRPr>
          </a:p>
        </p:txBody>
      </p:sp>
      <p:sp>
        <p:nvSpPr>
          <p:cNvPr id="8" name="Rectangle 103"/>
          <p:cNvSpPr>
            <a:spLocks noChangeArrowheads="1"/>
          </p:cNvSpPr>
          <p:nvPr/>
        </p:nvSpPr>
        <p:spPr bwMode="auto">
          <a:xfrm>
            <a:off x="140359" y="8051085"/>
            <a:ext cx="3080690"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        B. </a:t>
            </a:r>
            <a:r>
              <a:rPr lang="en-US" altLang="ko-KR" sz="900">
                <a:latin typeface="Arial" panose="020B0604020202020204" pitchFamily="34" charset="0"/>
                <a:cs typeface="Arial" panose="020B0604020202020204" pitchFamily="34" charset="0"/>
              </a:rPr>
              <a:t>NTC </a:t>
            </a:r>
            <a:r>
              <a:rPr lang="en-US" altLang="ko-KR" sz="900" smtClean="0">
                <a:latin typeface="Arial" panose="020B0604020202020204" pitchFamily="34" charset="0"/>
                <a:cs typeface="Arial" panose="020B0604020202020204" pitchFamily="34" charset="0"/>
              </a:rPr>
              <a:t>          C. </a:t>
            </a:r>
            <a:r>
              <a:rPr lang="en-US" altLang="ko-KR" sz="900">
                <a:latin typeface="Arial" panose="020B0604020202020204" pitchFamily="34" charset="0"/>
                <a:cs typeface="Arial" panose="020B0604020202020204" pitchFamily="34" charset="0"/>
              </a:rPr>
              <a:t>PTC </a:t>
            </a:r>
            <a:r>
              <a:rPr lang="en-US" altLang="ko-KR" sz="900" smtClean="0">
                <a:latin typeface="Arial" panose="020B0604020202020204" pitchFamily="34" charset="0"/>
                <a:cs typeface="Arial" panose="020B0604020202020204" pitchFamily="34" charset="0"/>
              </a:rPr>
              <a:t>        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9" name="Rectangle 8"/>
          <p:cNvSpPr/>
          <p:nvPr/>
        </p:nvSpPr>
        <p:spPr>
          <a:xfrm>
            <a:off x="134017" y="920552"/>
            <a:ext cx="3429000" cy="646331"/>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1</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Điện áp ngưỡng thuận của diode Zener 9.1V / </a:t>
            </a:r>
            <a:r>
              <a:rPr lang="vi-VN" altLang="ko-KR" sz="900" smtClean="0">
                <a:latin typeface="Arial" pitchFamily="34" charset="0"/>
                <a:ea typeface="돋움" pitchFamily="50" charset="-127"/>
                <a:cs typeface="Arial" pitchFamily="34" charset="0"/>
              </a:rPr>
              <a:t>Si </a:t>
            </a:r>
            <a:r>
              <a:rPr lang="vi-VN" altLang="ko-KR" sz="900">
                <a:latin typeface="Arial" pitchFamily="34" charset="0"/>
                <a:ea typeface="돋움" pitchFamily="50" charset="-127"/>
                <a:cs typeface="Arial" pitchFamily="34" charset="0"/>
              </a:rPr>
              <a:t>là bao nhiêu?</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0,2V        </a:t>
            </a:r>
            <a:r>
              <a:rPr lang="en-US" altLang="ko-KR" sz="900" smtClean="0">
                <a:latin typeface="Arial" pitchFamily="34" charset="0"/>
                <a:ea typeface="돋움" pitchFamily="50" charset="-127"/>
                <a:cs typeface="Arial" pitchFamily="34" charset="0"/>
              </a:rPr>
              <a:t>    B 0,7V         C </a:t>
            </a:r>
            <a:r>
              <a:rPr lang="en-US" altLang="ko-KR" sz="900">
                <a:latin typeface="Arial" pitchFamily="34" charset="0"/>
                <a:ea typeface="돋움" pitchFamily="50" charset="-127"/>
                <a:cs typeface="Arial" pitchFamily="34" charset="0"/>
              </a:rPr>
              <a:t>2,9V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9.1V</a:t>
            </a:r>
          </a:p>
        </p:txBody>
      </p:sp>
      <p:sp>
        <p:nvSpPr>
          <p:cNvPr id="10" name="Rectangle 9"/>
          <p:cNvSpPr/>
          <p:nvPr/>
        </p:nvSpPr>
        <p:spPr>
          <a:xfrm>
            <a:off x="116632" y="4306669"/>
            <a:ext cx="3429000" cy="646331"/>
          </a:xfrm>
          <a:prstGeom prst="rect">
            <a:avLst/>
          </a:prstGeom>
        </p:spPr>
        <p:txBody>
          <a:bodyPr>
            <a:spAutoFit/>
          </a:bodyPr>
          <a:lstStyle/>
          <a:p>
            <a:r>
              <a:rPr lang="en-US" altLang="ko-KR" sz="900" smtClean="0">
                <a:latin typeface="Arial" pitchFamily="34" charset="0"/>
                <a:ea typeface="돋움" pitchFamily="50" charset="-127"/>
                <a:cs typeface="Arial" pitchFamily="34" charset="0"/>
              </a:rPr>
              <a:t>13</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G</a:t>
            </a:r>
            <a:r>
              <a:rPr lang="vi-VN" altLang="ko-KR" sz="900">
                <a:latin typeface="Arial" pitchFamily="34" charset="0"/>
                <a:ea typeface="돋움" pitchFamily="50" charset="-127"/>
                <a:cs typeface="Arial" pitchFamily="34" charset="0"/>
              </a:rPr>
              <a:t>iá trị đỉnh</a:t>
            </a:r>
            <a:r>
              <a:rPr lang="en-US" altLang="ko-KR" sz="90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 đỉnh là 10V</a:t>
            </a:r>
            <a:r>
              <a:rPr lang="en-US" altLang="ko-KR" sz="900">
                <a:latin typeface="Arial" pitchFamily="34" charset="0"/>
                <a:ea typeface="돋움" pitchFamily="50" charset="-127"/>
                <a:cs typeface="Arial" pitchFamily="34" charset="0"/>
              </a:rPr>
              <a:t>. Vậy giá trị Vave</a:t>
            </a:r>
            <a:r>
              <a:rPr lang="vi-VN" altLang="ko-KR" sz="900">
                <a:latin typeface="Arial" pitchFamily="34" charset="0"/>
                <a:ea typeface="돋움" pitchFamily="50" charset="-127"/>
                <a:cs typeface="Arial" pitchFamily="34" charset="0"/>
              </a:rPr>
              <a:t> là bao nhiêu?</a:t>
            </a: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7,07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6,37  </a:t>
            </a:r>
            <a:r>
              <a:rPr lang="en-US" altLang="ko-KR" sz="900" smtClean="0">
                <a:latin typeface="Arial" pitchFamily="34" charset="0"/>
                <a:ea typeface="돋움" pitchFamily="50" charset="-127"/>
                <a:cs typeface="Arial" pitchFamily="34" charset="0"/>
              </a:rPr>
              <a:t>         C. 3,535              D. </a:t>
            </a:r>
            <a:r>
              <a:rPr lang="en-US" altLang="ko-KR" sz="900">
                <a:latin typeface="Arial" pitchFamily="34" charset="0"/>
                <a:ea typeface="돋움" pitchFamily="50" charset="-127"/>
                <a:cs typeface="Arial" pitchFamily="34" charset="0"/>
              </a:rPr>
              <a:t>3,185</a:t>
            </a:r>
          </a:p>
          <a:p>
            <a:endParaRPr lang="en-US" altLang="ko-KR" sz="900">
              <a:latin typeface="Arial" pitchFamily="34" charset="0"/>
              <a:ea typeface="돋움" pitchFamily="50" charset="-127"/>
              <a:cs typeface="Arial" pitchFamily="34" charset="0"/>
            </a:endParaRPr>
          </a:p>
        </p:txBody>
      </p:sp>
      <p:sp>
        <p:nvSpPr>
          <p:cNvPr id="11" name="Rectangle 10"/>
          <p:cNvSpPr/>
          <p:nvPr/>
        </p:nvSpPr>
        <p:spPr>
          <a:xfrm>
            <a:off x="124329" y="6045894"/>
            <a:ext cx="3429000" cy="923330"/>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4</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a:t>
            </a:r>
            <a:r>
              <a:rPr lang="en-US" altLang="ko-KR" sz="900">
                <a:latin typeface="Arial" pitchFamily="34" charset="0"/>
                <a:ea typeface="돋움" pitchFamily="50" charset="-127"/>
                <a:cs typeface="Arial" pitchFamily="34" charset="0"/>
              </a:rPr>
              <a:t>âu</a:t>
            </a:r>
            <a:r>
              <a:rPr lang="vi-VN" altLang="ko-KR" sz="900">
                <a:latin typeface="Arial" pitchFamily="34" charset="0"/>
                <a:ea typeface="돋움" pitchFamily="50" charset="-127"/>
                <a:cs typeface="Arial" pitchFamily="34" charset="0"/>
              </a:rPr>
              <a:t> không phải là đặc điểm của Photo Coupler?</a:t>
            </a:r>
          </a:p>
          <a:p>
            <a:r>
              <a:rPr lang="en-US" altLang="ko-KR" sz="900">
                <a:latin typeface="Arial" pitchFamily="34" charset="0"/>
                <a:ea typeface="돋움" pitchFamily="50" charset="-127"/>
                <a:cs typeface="Arial" pitchFamily="34" charset="0"/>
              </a:rPr>
              <a:t>  </a:t>
            </a:r>
          </a:p>
          <a:p>
            <a:r>
              <a:rPr lang="vi-VN" altLang="ko-KR"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Tốc độ phản hồi nhanh</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Truyền tín hiệu dạng hai chiều</a:t>
            </a:r>
          </a:p>
          <a:p>
            <a:r>
              <a:rPr lang="vi-VN"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Có độ tin cậy cao</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Chống </a:t>
            </a:r>
            <a:r>
              <a:rPr lang="en-US" altLang="ko-KR" sz="900" smtClean="0">
                <a:latin typeface="Arial" pitchFamily="34" charset="0"/>
                <a:ea typeface="돋움" pitchFamily="50" charset="-127"/>
                <a:cs typeface="Arial" pitchFamily="34" charset="0"/>
              </a:rPr>
              <a:t>ồn</a:t>
            </a:r>
            <a:endParaRPr lang="en-US" altLang="ko-KR" sz="900">
              <a:latin typeface="Arial" pitchFamily="34" charset="0"/>
              <a:ea typeface="돋움" pitchFamily="50" charset="-127"/>
              <a:cs typeface="Arial" pitchFamily="34" charset="0"/>
            </a:endParaRPr>
          </a:p>
        </p:txBody>
      </p:sp>
      <p:sp>
        <p:nvSpPr>
          <p:cNvPr id="12" name="Rectangle 161"/>
          <p:cNvSpPr>
            <a:spLocks noChangeArrowheads="1"/>
          </p:cNvSpPr>
          <p:nvPr/>
        </p:nvSpPr>
        <p:spPr bwMode="auto">
          <a:xfrm>
            <a:off x="3460960" y="2589510"/>
            <a:ext cx="326822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17.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không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đặc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a:t>
            </a:r>
            <a:r>
              <a:rPr lang="en-US" altLang="ko-KR" sz="900" dirty="0" err="1" smtClean="0">
                <a:latin typeface="Arial" panose="020B0604020202020204" pitchFamily="34" charset="0"/>
                <a:cs typeface="Arial" panose="020B0604020202020204" pitchFamily="34" charset="0"/>
              </a:rPr>
              <a:t>Cấu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trúc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thiết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kế</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B.Không nhạy với áp suất và từ tính</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xuất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trà</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tốt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khả</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cung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lượng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lớn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ổn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định</a:t>
            </a:r>
            <a:endParaRPr lang="ko-KR" altLang="en-US"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tiếp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tin </a:t>
            </a:r>
            <a:r>
              <a:rPr lang="en-US" altLang="ko-KR" sz="900" dirty="0" err="1" smtClean="0">
                <a:latin typeface="Arial" panose="020B0604020202020204" pitchFamily="34" charset="0"/>
                <a:cs typeface="Arial" panose="020B0604020202020204" pitchFamily="34" charset="0"/>
              </a:rPr>
              <a:t>cậy</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cao</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ít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bị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biến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đổi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p:txBody>
      </p:sp>
      <p:sp>
        <p:nvSpPr>
          <p:cNvPr id="13" name="Rectangle 196"/>
          <p:cNvSpPr>
            <a:spLocks noChangeArrowheads="1"/>
          </p:cNvSpPr>
          <p:nvPr/>
        </p:nvSpPr>
        <p:spPr bwMode="auto">
          <a:xfrm>
            <a:off x="3456384" y="4304928"/>
            <a:ext cx="3429000" cy="5078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18.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mạch</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SCR?</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B.                      C.                     D.</a:t>
            </a:r>
            <a:endParaRPr lang="en-US" altLang="ko-KR" sz="900" dirty="0">
              <a:latin typeface="Arial" panose="020B0604020202020204" pitchFamily="34" charset="0"/>
              <a:cs typeface="Arial" panose="020B0604020202020204" pitchFamily="34" charset="0"/>
            </a:endParaRPr>
          </a:p>
        </p:txBody>
      </p:sp>
      <p:pic>
        <p:nvPicPr>
          <p:cNvPr id="14"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74" y="4754809"/>
            <a:ext cx="6175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9984" y="4764829"/>
            <a:ext cx="688975"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6546" y="4755306"/>
            <a:ext cx="4667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584" y="4771256"/>
            <a:ext cx="39686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13"/>
          <p:cNvSpPr>
            <a:spLocks noChangeArrowheads="1"/>
          </p:cNvSpPr>
          <p:nvPr/>
        </p:nvSpPr>
        <p:spPr bwMode="auto">
          <a:xfrm>
            <a:off x="3428614" y="6062444"/>
            <a:ext cx="3179763" cy="133882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19.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đúng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áp</a:t>
            </a:r>
            <a:r>
              <a:rPr lang="en-US" altLang="ko-KR" sz="900" dirty="0" smtClean="0">
                <a:latin typeface="Arial" panose="020B0604020202020204" pitchFamily="34" charset="0"/>
                <a:cs typeface="Arial" panose="020B0604020202020204" pitchFamily="34" charset="0"/>
              </a:rPr>
              <a:t> ở </a:t>
            </a:r>
            <a:r>
              <a:rPr lang="en-US" altLang="ko-KR" sz="900" dirty="0" err="1" smtClean="0">
                <a:latin typeface="Arial" panose="020B0604020202020204" pitchFamily="34" charset="0"/>
                <a:cs typeface="Arial" panose="020B0604020202020204" pitchFamily="34" charset="0"/>
              </a:rPr>
              <a:t>hai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đầu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 </a:t>
            </a:r>
            <a:r>
              <a:rPr lang="en-US" altLang="ko-KR" sz="900" dirty="0" err="1" smtClean="0">
                <a:latin typeface="Arial" panose="020B0604020202020204" pitchFamily="34" charset="0"/>
                <a:cs typeface="Arial" panose="020B0604020202020204" pitchFamily="34" charset="0"/>
              </a:rPr>
              <a:t>trong</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mạch</a:t>
            </a:r>
            <a:r>
              <a:rPr lang="en-US" altLang="ko-KR" sz="900" smtClean="0">
                <a:latin typeface="Arial" panose="020B0604020202020204" pitchFamily="34" charset="0"/>
                <a:cs typeface="Arial" panose="020B0604020202020204" pitchFamily="34" charset="0"/>
              </a:rPr>
              <a:t> sau?</a:t>
            </a:r>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0V</a:t>
            </a:r>
          </a:p>
          <a:p>
            <a:pPr eaLnBrk="1" hangingPunct="1"/>
            <a:r>
              <a:rPr lang="en-US" altLang="ko-KR" sz="900" smtClean="0">
                <a:latin typeface="Arial" panose="020B0604020202020204" pitchFamily="34" charset="0"/>
                <a:cs typeface="Arial" panose="020B0604020202020204" pitchFamily="34" charset="0"/>
              </a:rPr>
              <a:t>B. 15V</a:t>
            </a:r>
          </a:p>
          <a:p>
            <a:pPr eaLnBrk="1" hangingPunct="1"/>
            <a:r>
              <a:rPr lang="en-US" altLang="ko-KR" sz="900" smtClean="0">
                <a:latin typeface="Arial" panose="020B0604020202020204" pitchFamily="34" charset="0"/>
                <a:cs typeface="Arial" panose="020B0604020202020204" pitchFamily="34" charset="0"/>
              </a:rPr>
              <a:t>C. 0.7V</a:t>
            </a:r>
          </a:p>
          <a:p>
            <a:pPr eaLnBrk="1" hangingPunct="1"/>
            <a:r>
              <a:rPr lang="en-US" altLang="ko-KR" sz="900" smtClean="0">
                <a:latin typeface="Arial" panose="020B0604020202020204" pitchFamily="34" charset="0"/>
                <a:cs typeface="Arial" panose="020B0604020202020204" pitchFamily="34" charset="0"/>
              </a:rPr>
              <a:t>D. 14.3V</a:t>
            </a:r>
          </a:p>
          <a:p>
            <a:pPr eaLnBrk="1" hangingPunct="1"/>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p:txBody>
      </p:sp>
      <p:grpSp>
        <p:nvGrpSpPr>
          <p:cNvPr id="19" name="Group 214"/>
          <p:cNvGrpSpPr>
            <a:grpSpLocks/>
          </p:cNvGrpSpPr>
          <p:nvPr/>
        </p:nvGrpSpPr>
        <p:grpSpPr bwMode="auto">
          <a:xfrm>
            <a:off x="4967533" y="6350484"/>
            <a:ext cx="1409700" cy="952500"/>
            <a:chOff x="3095" y="2537"/>
            <a:chExt cx="888" cy="600"/>
          </a:xfrm>
        </p:grpSpPr>
        <p:sp>
          <p:nvSpPr>
            <p:cNvPr id="20" name="Line 215"/>
            <p:cNvSpPr>
              <a:spLocks noChangeShapeType="1"/>
            </p:cNvSpPr>
            <p:nvPr/>
          </p:nvSpPr>
          <p:spPr bwMode="auto">
            <a:xfrm>
              <a:off x="3392" y="2546"/>
              <a:ext cx="0" cy="2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1" name="Line 216"/>
            <p:cNvSpPr>
              <a:spLocks noChangeShapeType="1"/>
            </p:cNvSpPr>
            <p:nvPr/>
          </p:nvSpPr>
          <p:spPr bwMode="auto">
            <a:xfrm>
              <a:off x="3388" y="2546"/>
              <a:ext cx="3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2" name="Line 217"/>
            <p:cNvSpPr>
              <a:spLocks noChangeShapeType="1"/>
            </p:cNvSpPr>
            <p:nvPr/>
          </p:nvSpPr>
          <p:spPr bwMode="auto">
            <a:xfrm>
              <a:off x="3711" y="2546"/>
              <a:ext cx="0" cy="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nvGrpSpPr>
            <p:cNvPr id="23" name="Group 218"/>
            <p:cNvGrpSpPr>
              <a:grpSpLocks/>
            </p:cNvGrpSpPr>
            <p:nvPr/>
          </p:nvGrpSpPr>
          <p:grpSpPr bwMode="auto">
            <a:xfrm>
              <a:off x="3679" y="2633"/>
              <a:ext cx="64" cy="109"/>
              <a:chOff x="1488" y="1152"/>
              <a:chExt cx="192" cy="336"/>
            </a:xfrm>
          </p:grpSpPr>
          <p:sp>
            <p:nvSpPr>
              <p:cNvPr id="39" name="Line 21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0" name="Line 22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1" name="Line 22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2" name="Line 22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3" name="Line 22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4" name="Line 22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5" name="Line 22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24" name="Line 226"/>
            <p:cNvSpPr>
              <a:spLocks noChangeShapeType="1"/>
            </p:cNvSpPr>
            <p:nvPr/>
          </p:nvSpPr>
          <p:spPr bwMode="auto">
            <a:xfrm>
              <a:off x="3711" y="2742"/>
              <a:ext cx="0" cy="1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5" name="AutoShape 227"/>
            <p:cNvSpPr>
              <a:spLocks noChangeArrowheads="1"/>
            </p:cNvSpPr>
            <p:nvPr/>
          </p:nvSpPr>
          <p:spPr bwMode="auto">
            <a:xfrm flipV="1">
              <a:off x="3668" y="2932"/>
              <a:ext cx="85" cy="54"/>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00">
                <a:latin typeface="Arial" pitchFamily="34" charset="0"/>
                <a:cs typeface="Arial" panose="020B0604020202020204" pitchFamily="34" charset="0"/>
              </a:endParaRPr>
            </a:p>
          </p:txBody>
        </p:sp>
        <p:sp>
          <p:nvSpPr>
            <p:cNvPr id="26" name="Line 228"/>
            <p:cNvSpPr>
              <a:spLocks noChangeShapeType="1"/>
            </p:cNvSpPr>
            <p:nvPr/>
          </p:nvSpPr>
          <p:spPr bwMode="auto">
            <a:xfrm>
              <a:off x="3392" y="3137"/>
              <a:ext cx="319"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7" name="Line 229"/>
            <p:cNvSpPr>
              <a:spLocks noChangeShapeType="1"/>
            </p:cNvSpPr>
            <p:nvPr/>
          </p:nvSpPr>
          <p:spPr bwMode="auto">
            <a:xfrm>
              <a:off x="3711" y="2984"/>
              <a:ext cx="0" cy="15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8" name="Line 230"/>
            <p:cNvSpPr>
              <a:spLocks noChangeShapeType="1"/>
            </p:cNvSpPr>
            <p:nvPr/>
          </p:nvSpPr>
          <p:spPr bwMode="auto">
            <a:xfrm flipV="1">
              <a:off x="3392" y="2846"/>
              <a:ext cx="0" cy="282"/>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9" name="Line 231"/>
            <p:cNvSpPr>
              <a:spLocks noChangeShapeType="1"/>
            </p:cNvSpPr>
            <p:nvPr/>
          </p:nvSpPr>
          <p:spPr bwMode="auto">
            <a:xfrm>
              <a:off x="3352" y="2828"/>
              <a:ext cx="83"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0" name="Line 232"/>
            <p:cNvSpPr>
              <a:spLocks noChangeShapeType="1"/>
            </p:cNvSpPr>
            <p:nvPr/>
          </p:nvSpPr>
          <p:spPr bwMode="auto">
            <a:xfrm>
              <a:off x="3324" y="2849"/>
              <a:ext cx="15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1" name="Text Box 233"/>
            <p:cNvSpPr txBox="1">
              <a:spLocks noChangeArrowheads="1"/>
            </p:cNvSpPr>
            <p:nvPr/>
          </p:nvSpPr>
          <p:spPr bwMode="auto">
            <a:xfrm>
              <a:off x="3095" y="2695"/>
              <a:ext cx="32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+5V</a:t>
              </a:r>
            </a:p>
          </p:txBody>
        </p:sp>
        <p:grpSp>
          <p:nvGrpSpPr>
            <p:cNvPr id="32" name="Group 234"/>
            <p:cNvGrpSpPr>
              <a:grpSpLocks/>
            </p:cNvGrpSpPr>
            <p:nvPr/>
          </p:nvGrpSpPr>
          <p:grpSpPr bwMode="auto">
            <a:xfrm rot="10800000">
              <a:off x="3667" y="2932"/>
              <a:ext cx="86" cy="54"/>
              <a:chOff x="3667" y="2932"/>
              <a:chExt cx="86" cy="54"/>
            </a:xfrm>
          </p:grpSpPr>
          <p:sp>
            <p:nvSpPr>
              <p:cNvPr id="37" name="Line 235"/>
              <p:cNvSpPr>
                <a:spLocks noChangeShapeType="1"/>
              </p:cNvSpPr>
              <p:nvPr/>
            </p:nvSpPr>
            <p:spPr bwMode="auto">
              <a:xfrm flipV="1">
                <a:off x="3668" y="2986"/>
                <a:ext cx="8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8" name="Line 236"/>
              <p:cNvSpPr>
                <a:spLocks noChangeShapeType="1"/>
              </p:cNvSpPr>
              <p:nvPr/>
            </p:nvSpPr>
            <p:spPr bwMode="auto">
              <a:xfrm flipV="1">
                <a:off x="3667" y="2932"/>
                <a:ext cx="8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33" name="Text Box 237"/>
            <p:cNvSpPr txBox="1">
              <a:spLocks noChangeArrowheads="1"/>
            </p:cNvSpPr>
            <p:nvPr/>
          </p:nvSpPr>
          <p:spPr bwMode="auto">
            <a:xfrm>
              <a:off x="3458" y="2930"/>
              <a:ext cx="225"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Si</a:t>
              </a:r>
            </a:p>
          </p:txBody>
        </p:sp>
        <p:sp>
          <p:nvSpPr>
            <p:cNvPr id="34" name="Line 238"/>
            <p:cNvSpPr>
              <a:spLocks noChangeShapeType="1"/>
            </p:cNvSpPr>
            <p:nvPr/>
          </p:nvSpPr>
          <p:spPr bwMode="auto">
            <a:xfrm flipH="1" flipV="1">
              <a:off x="3744" y="2537"/>
              <a:ext cx="80" cy="99"/>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5" name="Line 239"/>
            <p:cNvSpPr>
              <a:spLocks noChangeShapeType="1"/>
            </p:cNvSpPr>
            <p:nvPr/>
          </p:nvSpPr>
          <p:spPr bwMode="auto">
            <a:xfrm flipH="1">
              <a:off x="3744" y="2767"/>
              <a:ext cx="105" cy="66"/>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6" name="Text Box 240"/>
            <p:cNvSpPr txBox="1">
              <a:spLocks noChangeArrowheads="1"/>
            </p:cNvSpPr>
            <p:nvPr/>
          </p:nvSpPr>
          <p:spPr bwMode="auto">
            <a:xfrm>
              <a:off x="3693" y="2640"/>
              <a:ext cx="29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A </a:t>
              </a:r>
            </a:p>
          </p:txBody>
        </p:sp>
      </p:grpSp>
      <p:sp>
        <p:nvSpPr>
          <p:cNvPr id="46" name="Rectangle 45"/>
          <p:cNvSpPr/>
          <p:nvPr/>
        </p:nvSpPr>
        <p:spPr>
          <a:xfrm>
            <a:off x="4363936" y="4779823"/>
            <a:ext cx="323563" cy="12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Drain</a:t>
            </a:r>
            <a:endParaRPr lang="en-US" sz="900" dirty="0">
              <a:solidFill>
                <a:schemeClr val="tx1"/>
              </a:solidFill>
              <a:latin typeface="Arial" pitchFamily="34" charset="0"/>
              <a:cs typeface="Arial" pitchFamily="34" charset="0"/>
            </a:endParaRPr>
          </a:p>
        </p:txBody>
      </p:sp>
      <p:sp>
        <p:nvSpPr>
          <p:cNvPr id="47" name="Rectangle 46"/>
          <p:cNvSpPr/>
          <p:nvPr/>
        </p:nvSpPr>
        <p:spPr>
          <a:xfrm>
            <a:off x="4098840" y="5070295"/>
            <a:ext cx="266686" cy="81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Gate</a:t>
            </a:r>
            <a:endParaRPr lang="en-US" sz="900" dirty="0">
              <a:solidFill>
                <a:schemeClr val="tx1"/>
              </a:solidFill>
              <a:latin typeface="Arial" pitchFamily="34" charset="0"/>
              <a:cs typeface="Arial" pitchFamily="34" charset="0"/>
            </a:endParaRPr>
          </a:p>
        </p:txBody>
      </p:sp>
      <p:sp>
        <p:nvSpPr>
          <p:cNvPr id="48" name="Rectangle 47"/>
          <p:cNvSpPr/>
          <p:nvPr/>
        </p:nvSpPr>
        <p:spPr>
          <a:xfrm>
            <a:off x="4386879" y="5243457"/>
            <a:ext cx="380779" cy="135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Source</a:t>
            </a:r>
            <a:endParaRPr lang="en-US" sz="900" dirty="0">
              <a:solidFill>
                <a:schemeClr val="tx1"/>
              </a:solidFill>
              <a:latin typeface="Arial" pitchFamily="34" charset="0"/>
              <a:cs typeface="Arial" pitchFamily="34" charset="0"/>
            </a:endParaRPr>
          </a:p>
        </p:txBody>
      </p:sp>
      <p:sp>
        <p:nvSpPr>
          <p:cNvPr id="49" name="Rectangle 48"/>
          <p:cNvSpPr/>
          <p:nvPr/>
        </p:nvSpPr>
        <p:spPr>
          <a:xfrm>
            <a:off x="5472664" y="4751245"/>
            <a:ext cx="366875" cy="2067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Emitter</a:t>
            </a:r>
            <a:endParaRPr lang="en-US" sz="900" dirty="0">
              <a:solidFill>
                <a:schemeClr val="tx1"/>
              </a:solidFill>
              <a:latin typeface="Arial" pitchFamily="34" charset="0"/>
              <a:cs typeface="Arial" pitchFamily="34" charset="0"/>
            </a:endParaRPr>
          </a:p>
        </p:txBody>
      </p:sp>
      <p:sp>
        <p:nvSpPr>
          <p:cNvPr id="50" name="Rectangle 49"/>
          <p:cNvSpPr/>
          <p:nvPr/>
        </p:nvSpPr>
        <p:spPr>
          <a:xfrm>
            <a:off x="6076303" y="4736956"/>
            <a:ext cx="476511" cy="212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Collector</a:t>
            </a:r>
            <a:endParaRPr lang="en-US" sz="900" dirty="0">
              <a:solidFill>
                <a:schemeClr val="tx1"/>
              </a:solidFill>
              <a:latin typeface="Arial" pitchFamily="34" charset="0"/>
              <a:cs typeface="Arial" pitchFamily="34" charset="0"/>
            </a:endParaRPr>
          </a:p>
        </p:txBody>
      </p:sp>
      <p:sp>
        <p:nvSpPr>
          <p:cNvPr id="51" name="Rectangle 50"/>
          <p:cNvSpPr/>
          <p:nvPr/>
        </p:nvSpPr>
        <p:spPr>
          <a:xfrm>
            <a:off x="5805726" y="5169016"/>
            <a:ext cx="266686" cy="170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Base</a:t>
            </a:r>
            <a:endParaRPr lang="en-US" sz="900" dirty="0">
              <a:solidFill>
                <a:schemeClr val="tx1"/>
              </a:solidFill>
              <a:latin typeface="Arial" pitchFamily="34" charset="0"/>
              <a:cs typeface="Arial" pitchFamily="34" charset="0"/>
            </a:endParaRPr>
          </a:p>
        </p:txBody>
      </p:sp>
      <p:sp>
        <p:nvSpPr>
          <p:cNvPr id="52" name="Rectangle 51"/>
          <p:cNvSpPr/>
          <p:nvPr/>
        </p:nvSpPr>
        <p:spPr>
          <a:xfrm>
            <a:off x="3428614" y="8049344"/>
            <a:ext cx="3429000" cy="923330"/>
          </a:xfrm>
          <a:prstGeom prst="rect">
            <a:avLst/>
          </a:prstGeom>
        </p:spPr>
        <p:txBody>
          <a:bodyPr>
            <a:spAutoFit/>
          </a:bodyPr>
          <a:lstStyle/>
          <a:p>
            <a:r>
              <a:rPr lang="en-US" altLang="ko-KR" sz="900" smtClean="0">
                <a:latin typeface="Arial" pitchFamily="34" charset="0"/>
                <a:ea typeface="돋움" pitchFamily="50" charset="-127"/>
                <a:cs typeface="Arial" pitchFamily="34" charset="0"/>
              </a:rPr>
              <a:t>20</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Đáp án</a:t>
            </a:r>
            <a:r>
              <a:rPr lang="vi-VN" altLang="ko-KR" sz="900">
                <a:latin typeface="Arial" pitchFamily="34" charset="0"/>
                <a:ea typeface="돋움" pitchFamily="50" charset="-127"/>
                <a:cs typeface="Arial" pitchFamily="34" charset="0"/>
              </a:rPr>
              <a:t> nào sau đây không phải là </a:t>
            </a:r>
            <a:r>
              <a:rPr lang="en-US" altLang="ko-KR" sz="900">
                <a:latin typeface="Arial" pitchFamily="34" charset="0"/>
                <a:ea typeface="돋움" pitchFamily="50" charset="-127"/>
                <a:cs typeface="Arial" pitchFamily="34" charset="0"/>
              </a:rPr>
              <a:t>một loại </a:t>
            </a:r>
            <a:r>
              <a:rPr lang="vi-VN" altLang="ko-KR" sz="900">
                <a:latin typeface="Arial" pitchFamily="34" charset="0"/>
                <a:ea typeface="돋움" pitchFamily="50" charset="-127"/>
                <a:cs typeface="Arial" pitchFamily="34" charset="0"/>
              </a:rPr>
              <a:t>của biến trở?</a:t>
            </a:r>
          </a:p>
          <a:p>
            <a:r>
              <a:rPr lang="en-US" altLang="ko-KR" sz="900">
                <a:latin typeface="Arial" pitchFamily="34" charset="0"/>
                <a:ea typeface="돋움" pitchFamily="50" charset="-127"/>
                <a:cs typeface="Arial" pitchFamily="34" charset="0"/>
              </a:rPr>
              <a:t>  </a:t>
            </a:r>
          </a:p>
          <a:p>
            <a:r>
              <a:rPr lang="en-US" altLang="ko-KR" sz="900">
                <a:latin typeface="Arial" pitchFamily="34" charset="0"/>
                <a:ea typeface="돋움" pitchFamily="50" charset="-127"/>
                <a:cs typeface="Arial" pitchFamily="34" charset="0"/>
              </a:rPr>
              <a:t>  A</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Màng carbon</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Màng kim loại</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Cuộn dây</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Silicone</a:t>
            </a:r>
          </a:p>
        </p:txBody>
      </p:sp>
    </p:spTree>
    <p:extLst>
      <p:ext uri="{BB962C8B-B14F-4D97-AF65-F5344CB8AC3E}">
        <p14:creationId xmlns:p14="http://schemas.microsoft.com/office/powerpoint/2010/main" val="7476636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7" name="Rectangle 7"/>
          <p:cNvSpPr>
            <a:spLocks noChangeArrowheads="1"/>
          </p:cNvSpPr>
          <p:nvPr/>
        </p:nvSpPr>
        <p:spPr bwMode="auto">
          <a:xfrm>
            <a:off x="201890" y="4016896"/>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Chọn giải thích đúng về Device </a:t>
            </a:r>
            <a:r>
              <a:rPr lang="vi-VN" altLang="ko-KR" sz="950" smtClean="0">
                <a:latin typeface="Times New Roman" pitchFamily="18" charset="0"/>
                <a:ea typeface="LG Smart_H Regular" panose="020B0600000101010101" pitchFamily="34" charset="-127"/>
                <a:cs typeface="Times New Roman" pitchFamily="18" charset="0"/>
              </a:rPr>
              <a:t>Timer?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khả năng hoán đổi thông tin Data giữa các Local Station,  Master Station →  Local Station, Local Station → Master Station trong Link Register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DATA REGISTER lưu trữ kết quả tính toán của  mệnh lệnh ứng dụng , mệnh lệnh cơ bản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bộ đếm thời gian Timer công thức cộng, và có 3 loại là 100ms Timer,10ms Timer, và Timer hơn 100ms</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2 loại là Interrupt sử dụng Interrupt Sequence Program và Counter sử dụng  Sequence Program trong công thức cộng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251556"/>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muốn sửa Program hiện tại thì sử dụng phím tắt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F1              B. F</a:t>
            </a: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smtClean="0">
                <a:latin typeface="Times New Roman" pitchFamily="18" charset="0"/>
                <a:ea typeface="LG Smart_H Regular" panose="020B0600000101010101" pitchFamily="34" charset="-127"/>
                <a:cs typeface="Times New Roman" pitchFamily="18" charset="0"/>
              </a:rPr>
              <a:t>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497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"Là nơi cài đặt thời gian Scan lớn nhất, trong trường hợp thời gian Run Scan chậm  hơn thời gian cài đặt sẽ phát sinh PLC Error" là định nghĩa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Mode vận hành khi có </a:t>
            </a:r>
            <a:r>
              <a:rPr lang="vi-VN" altLang="ko-KR" sz="950" smtClean="0">
                <a:latin typeface="Times New Roman" pitchFamily="18" charset="0"/>
                <a:ea typeface="LG Smart_H Regular" panose="020B0600000101010101" pitchFamily="34" charset="-127"/>
                <a:cs typeface="Times New Roman" pitchFamily="18" charset="0"/>
              </a:rPr>
              <a:t>Error </a:t>
            </a:r>
            <a:r>
              <a:rPr lang="vi-VN" altLang="ko-KR" sz="95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WDT.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Constant Scan.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Error Check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4413374"/>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đặt 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1~1024M</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1~1024K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163863" y="617713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Thao tác Latch Clear</a:t>
            </a:r>
            <a:endParaRPr lang="vi-VN" altLang="ko-KR" sz="95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2542" y="2504728"/>
            <a:ext cx="3239810" cy="1408078"/>
            <a:chOff x="182542" y="2504728"/>
            <a:chExt cx="3239810" cy="1408078"/>
          </a:xfrm>
        </p:grpSpPr>
        <p:sp>
          <p:nvSpPr>
            <p:cNvPr id="26" name="Rectangle 7"/>
            <p:cNvSpPr>
              <a:spLocks noChangeArrowheads="1"/>
            </p:cNvSpPr>
            <p:nvPr/>
          </p:nvSpPr>
          <p:spPr bwMode="auto">
            <a:xfrm>
              <a:off x="182542" y="2504728"/>
              <a:ext cx="323981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"Slot trống" dưới đây có I/O kết thúc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2F               B. 30                 C. 3</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smtClean="0">
                  <a:latin typeface="Times New Roman" pitchFamily="18" charset="0"/>
                  <a:ea typeface="LG Smart_H Regular" panose="020B0600000101010101" pitchFamily="34" charset="-127"/>
                  <a:cs typeface="Times New Roman" pitchFamily="18" charset="0"/>
                </a:rPr>
                <a:t>               D. 40</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192365" y="2792760"/>
              <a:ext cx="3227110" cy="773991"/>
              <a:chOff x="-14824" y="-1"/>
              <a:chExt cx="5022370" cy="1157242"/>
            </a:xfrm>
          </p:grpSpPr>
          <p:sp>
            <p:nvSpPr>
              <p:cNvPr id="28" name="Rectangle 27"/>
              <p:cNvSpPr>
                <a:spLocks noChangeArrowheads="1"/>
              </p:cNvSpPr>
              <p:nvPr/>
            </p:nvSpPr>
            <p:spPr bwMode="auto">
              <a:xfrm>
                <a:off x="1395413" y="-1"/>
                <a:ext cx="693737" cy="115724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r>
                  <a:rPr lang="en-US" altLang="ko-KR" sz="800">
                    <a:latin typeface="Times New Roman" panose="02020603050405020304" pitchFamily="18" charset="0"/>
                    <a:cs typeface="Times New Roman" panose="02020603050405020304" pitchFamily="18" charset="0"/>
                  </a:rPr>
                  <a:t>QX41 </a:t>
                </a:r>
              </a:p>
            </p:txBody>
          </p:sp>
          <p:sp>
            <p:nvSpPr>
              <p:cNvPr id="29" name="Rectangle 28"/>
              <p:cNvSpPr>
                <a:spLocks noChangeArrowheads="1"/>
              </p:cNvSpPr>
              <p:nvPr/>
            </p:nvSpPr>
            <p:spPr bwMode="auto">
              <a:xfrm>
                <a:off x="2102192" y="856"/>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QY40</a:t>
                </a:r>
              </a:p>
            </p:txBody>
          </p:sp>
          <p:sp>
            <p:nvSpPr>
              <p:cNvPr id="30" name="Rectangle 29"/>
              <p:cNvSpPr>
                <a:spLocks noChangeArrowheads="1"/>
              </p:cNvSpPr>
              <p:nvPr/>
            </p:nvSpPr>
            <p:spPr bwMode="auto">
              <a:xfrm>
                <a:off x="2788342" y="856"/>
                <a:ext cx="63067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ko-KR" altLang="en-US" sz="800">
                    <a:latin typeface="Times New Roman" panose="02020603050405020304" pitchFamily="18" charset="0"/>
                    <a:cs typeface="Times New Roman" panose="02020603050405020304" pitchFamily="18" charset="0"/>
                  </a:rPr>
                  <a:t> </a:t>
                </a:r>
                <a:r>
                  <a:rPr lang="en-US" altLang="ko-KR" sz="800">
                    <a:latin typeface="Times New Roman" panose="02020603050405020304" pitchFamily="18" charset="0"/>
                    <a:cs typeface="Times New Roman" panose="02020603050405020304" pitchFamily="18" charset="0"/>
                  </a:rPr>
                  <a:t>Slot trống</a:t>
                </a:r>
              </a:p>
            </p:txBody>
          </p:sp>
          <p:sp>
            <p:nvSpPr>
              <p:cNvPr id="31" name="Rectangle 30"/>
              <p:cNvSpPr>
                <a:spLocks noChangeArrowheads="1"/>
              </p:cNvSpPr>
              <p:nvPr/>
            </p:nvSpPr>
            <p:spPr bwMode="auto">
              <a:xfrm>
                <a:off x="3424464" y="856"/>
                <a:ext cx="80065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Q64AD</a:t>
                </a:r>
              </a:p>
            </p:txBody>
          </p:sp>
          <p:sp>
            <p:nvSpPr>
              <p:cNvPr id="32" name="Rectangle 31"/>
              <p:cNvSpPr>
                <a:spLocks noChangeArrowheads="1"/>
              </p:cNvSpPr>
              <p:nvPr/>
            </p:nvSpPr>
            <p:spPr bwMode="auto">
              <a:xfrm>
                <a:off x="4222525" y="856"/>
                <a:ext cx="78502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70000"/>
                  </a:lnSpc>
                  <a:spcBef>
                    <a:spcPct val="50000"/>
                  </a:spcBef>
                  <a:buFontTx/>
                  <a:buNone/>
                </a:pPr>
                <a:r>
                  <a:rPr lang="en-US" altLang="ko-KR" sz="800">
                    <a:latin typeface="Times New Roman" panose="02020603050405020304" pitchFamily="18" charset="0"/>
                    <a:cs typeface="Times New Roman" panose="02020603050405020304" pitchFamily="18" charset="0"/>
                  </a:rPr>
                  <a:t>Q62DA</a:t>
                </a:r>
              </a:p>
            </p:txBody>
          </p:sp>
          <p:sp>
            <p:nvSpPr>
              <p:cNvPr id="33" name="Text Box 12"/>
              <p:cNvSpPr txBox="1">
                <a:spLocks noChangeArrowheads="1"/>
              </p:cNvSpPr>
              <p:nvPr/>
            </p:nvSpPr>
            <p:spPr bwMode="auto">
              <a:xfrm>
                <a:off x="33050" y="300969"/>
                <a:ext cx="697219" cy="54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Nguồn</a:t>
                </a:r>
              </a:p>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Cấp</a:t>
                </a:r>
                <a:endParaRPr lang="ko-KR" altLang="en-US" sz="700">
                  <a:latin typeface="Times New Roman" panose="02020603050405020304" pitchFamily="18" charset="0"/>
                  <a:cs typeface="Times New Roman" panose="02020603050405020304" pitchFamily="18" charset="0"/>
                </a:endParaRPr>
              </a:p>
            </p:txBody>
          </p:sp>
          <p:sp>
            <p:nvSpPr>
              <p:cNvPr id="34" name="Text Box 13"/>
              <p:cNvSpPr txBox="1">
                <a:spLocks noChangeArrowheads="1"/>
              </p:cNvSpPr>
              <p:nvPr/>
            </p:nvSpPr>
            <p:spPr bwMode="auto">
              <a:xfrm>
                <a:off x="704186" y="413444"/>
                <a:ext cx="691146" cy="32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CPU</a:t>
                </a:r>
              </a:p>
            </p:txBody>
          </p:sp>
          <p:sp>
            <p:nvSpPr>
              <p:cNvPr id="35" name="Rectangle 34"/>
              <p:cNvSpPr>
                <a:spLocks noChangeArrowheads="1"/>
              </p:cNvSpPr>
              <p:nvPr/>
            </p:nvSpPr>
            <p:spPr bwMode="auto">
              <a:xfrm>
                <a:off x="700088" y="856"/>
                <a:ext cx="693738"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sp>
            <p:nvSpPr>
              <p:cNvPr id="36" name="Rectangle 35"/>
              <p:cNvSpPr>
                <a:spLocks noChangeArrowheads="1"/>
              </p:cNvSpPr>
              <p:nvPr/>
            </p:nvSpPr>
            <p:spPr bwMode="auto">
              <a:xfrm>
                <a:off x="-14824" y="857"/>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grpSp>
      </p:grpSp>
      <p:sp>
        <p:nvSpPr>
          <p:cNvPr id="37" name="Rectangle 7"/>
          <p:cNvSpPr>
            <a:spLocks noChangeArrowheads="1"/>
          </p:cNvSpPr>
          <p:nvPr/>
        </p:nvSpPr>
        <p:spPr bwMode="auto">
          <a:xfrm>
            <a:off x="155622" y="790532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Clear".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a:t>
            </a:r>
            <a:r>
              <a:rPr lang="en-US" altLang="ko-KR" sz="950" smtClean="0">
                <a:latin typeface="Times New Roman" pitchFamily="18" charset="0"/>
                <a:ea typeface="LG Smart_H Regular" panose="020B0600000101010101" pitchFamily="34" charset="-127"/>
                <a:cs typeface="Times New Roman" pitchFamily="18" charset="0"/>
              </a:rPr>
              <a:t>-&gt; </a:t>
            </a:r>
            <a:r>
              <a:rPr lang="en-US" altLang="ko-KR" sz="950">
                <a:latin typeface="Times New Roman" pitchFamily="18" charset="0"/>
                <a:ea typeface="LG Smart_H Regular" panose="020B0600000101010101" pitchFamily="34" charset="-127"/>
                <a:cs typeface="Times New Roman" pitchFamily="18" charset="0"/>
              </a:rPr>
              <a:t>(2) Stop PLC -&gt;  PLC Memory Clear -&gt; 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Clear -&gt; (4)Reset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Clear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Clear -&gt; (3)Stop PLC -&gt;  (4)Reset PLC</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3429000" y="5601072"/>
            <a:ext cx="323320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a:t>
            </a:r>
            <a:r>
              <a:rPr lang="vi-VN" altLang="ko-KR" sz="950" smtClean="0">
                <a:latin typeface="Times New Roman" pitchFamily="18" charset="0"/>
                <a:ea typeface="LG Smart_H Regular" panose="020B0600000101010101" pitchFamily="34" charset="-127"/>
                <a:cs typeface="Times New Roman" pitchFamily="18" charset="0"/>
              </a:rPr>
              <a:t>đặt </a:t>
            </a:r>
            <a:r>
              <a:rPr lang="vi-VN" altLang="ko-KR" sz="950">
                <a:latin typeface="Times New Roman" pitchFamily="18" charset="0"/>
                <a:ea typeface="LG Smart_H Regular" panose="020B0600000101010101" pitchFamily="34" charset="-127"/>
                <a:cs typeface="Times New Roman" pitchFamily="18" charset="0"/>
              </a:rPr>
              <a:t>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Giá trị cài đặt Timer là </a:t>
            </a:r>
            <a:r>
              <a:rPr lang="vi-VN" altLang="ko-KR" sz="950" smtClean="0">
                <a:latin typeface="Times New Roman" pitchFamily="18" charset="0"/>
                <a:ea typeface="LG Smart_H Regular" panose="020B0600000101010101" pitchFamily="34" charset="-127"/>
                <a:cs typeface="Times New Roman" pitchFamily="18" charset="0"/>
              </a:rPr>
              <a:t>K1~K32768</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cài đặt trực tiếp giá trị cài đặt </a:t>
            </a:r>
            <a:r>
              <a:rPr lang="vi-VN" altLang="ko-KR" sz="950" smtClean="0">
                <a:latin typeface="Times New Roman" pitchFamily="18" charset="0"/>
                <a:ea typeface="LG Smart_H Regular" panose="020B0600000101010101" pitchFamily="34" charset="-127"/>
                <a:cs typeface="Times New Roman" pitchFamily="18" charset="0"/>
              </a:rPr>
              <a:t>thì </a:t>
            </a:r>
            <a:r>
              <a:rPr lang="vi-VN" altLang="ko-KR" sz="950">
                <a:latin typeface="Times New Roman" pitchFamily="18" charset="0"/>
                <a:ea typeface="LG Smart_H Regular" panose="020B0600000101010101" pitchFamily="34" charset="-127"/>
                <a:cs typeface="Times New Roman" pitchFamily="18" charset="0"/>
              </a:rPr>
              <a:t>chỉ có thể cài đặt bằng </a:t>
            </a:r>
            <a:r>
              <a:rPr lang="vi-VN" altLang="ko-KR" sz="950" smtClean="0">
                <a:latin typeface="Times New Roman" pitchFamily="18" charset="0"/>
                <a:ea typeface="LG Smart_H Regular" panose="020B0600000101010101" pitchFamily="34" charset="-127"/>
                <a:cs typeface="Times New Roman" pitchFamily="18" charset="0"/>
              </a:rPr>
              <a:t>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là lệnh 4 Step. (Tuy nhiên </a:t>
            </a:r>
            <a:r>
              <a:rPr lang="vi-VN" altLang="ko-KR" sz="950" smtClean="0">
                <a:latin typeface="Times New Roman" pitchFamily="18" charset="0"/>
                <a:ea typeface="LG Smart_H Regular" panose="020B0600000101010101" pitchFamily="34" charset="-127"/>
                <a:cs typeface="Times New Roman" pitchFamily="18" charset="0"/>
              </a:rPr>
              <a:t>tiếp</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của Timer chỉ là 1 Step)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Parameter có thể biến đổi đơn </a:t>
            </a:r>
            <a:r>
              <a:rPr lang="vi-VN" altLang="ko-KR" sz="950" smtClean="0">
                <a:latin typeface="Times New Roman" pitchFamily="18" charset="0"/>
                <a:ea typeface="LG Smart_H Regular" panose="020B0600000101010101" pitchFamily="34" charset="-127"/>
                <a:cs typeface="Times New Roman" pitchFamily="18" charset="0"/>
              </a:rPr>
              <a:t>vị </a:t>
            </a:r>
            <a:r>
              <a:rPr lang="vi-VN" altLang="ko-KR" sz="950">
                <a:latin typeface="Times New Roman" pitchFamily="18" charset="0"/>
                <a:ea typeface="LG Smart_H Regular" panose="020B0600000101010101" pitchFamily="34" charset="-127"/>
                <a:cs typeface="Times New Roman" pitchFamily="18" charset="0"/>
              </a:rPr>
              <a:t>của từng Timer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Chọn đáp án sai khi nói về bộ nhớ ROM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Có </a:t>
            </a:r>
            <a:r>
              <a:rPr lang="vi-VN" altLang="ko-KR" sz="950">
                <a:latin typeface="Times New Roman" pitchFamily="18" charset="0"/>
                <a:ea typeface="LG Smart_H Regular" panose="020B0600000101010101" pitchFamily="34" charset="-127"/>
                <a:cs typeface="Times New Roman" pitchFamily="18" charset="0"/>
              </a:rPr>
              <a:t>thể thay đổi nội dung </a:t>
            </a:r>
            <a:r>
              <a:rPr lang="vi-VN" altLang="ko-KR" sz="950" smtClean="0">
                <a:latin typeface="Times New Roman" pitchFamily="18" charset="0"/>
                <a:ea typeface="LG Smart_H Regular" panose="020B0600000101010101" pitchFamily="34" charset="-127"/>
                <a:cs typeface="Times New Roman" pitchFamily="18" charset="0"/>
              </a:rPr>
              <a:t>Memory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Không bị mất dữ liệu ngay cả khi mất </a:t>
            </a:r>
            <a:r>
              <a:rPr lang="vi-VN" altLang="ko-KR" sz="950" smtClean="0">
                <a:latin typeface="Times New Roman" pitchFamily="18" charset="0"/>
                <a:ea typeface="LG Smart_H Regular" panose="020B0600000101010101" pitchFamily="34" charset="-127"/>
                <a:cs typeface="Times New Roman" pitchFamily="18" charset="0"/>
              </a:rPr>
              <a:t>nguồn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bộ nhớ chuyên dùng để </a:t>
            </a:r>
            <a:r>
              <a:rPr lang="vi-VN" altLang="ko-KR" sz="950" smtClean="0">
                <a:latin typeface="Times New Roman" pitchFamily="18" charset="0"/>
                <a:ea typeface="LG Smart_H Regular" panose="020B0600000101010101" pitchFamily="34" charset="-127"/>
                <a:cs typeface="Times New Roman" pitchFamily="18" charset="0"/>
              </a:rPr>
              <a:t>đọc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Là IC Memory</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1" name="Group 40"/>
          <p:cNvGrpSpPr/>
          <p:nvPr/>
        </p:nvGrpSpPr>
        <p:grpSpPr>
          <a:xfrm>
            <a:off x="3455294" y="7113240"/>
            <a:ext cx="3254621" cy="2285241"/>
            <a:chOff x="3455294" y="4816575"/>
            <a:chExt cx="3254621" cy="2285241"/>
          </a:xfrm>
        </p:grpSpPr>
        <p:sp>
          <p:nvSpPr>
            <p:cNvPr id="42" name="Rectangle 7"/>
            <p:cNvSpPr>
              <a:spLocks noChangeArrowheads="1"/>
            </p:cNvSpPr>
            <p:nvPr/>
          </p:nvSpPr>
          <p:spPr bwMode="auto">
            <a:xfrm>
              <a:off x="3455294" y="4816575"/>
              <a:ext cx="3148706"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X1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X2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M0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Y0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그림 3"/>
            <p:cNvPicPr>
              <a:picLocks noChangeAspect="1"/>
            </p:cNvPicPr>
            <p:nvPr/>
          </p:nvPicPr>
          <p:blipFill>
            <a:blip r:embed="rId3"/>
            <a:stretch>
              <a:fillRect/>
            </a:stretch>
          </p:blipFill>
          <p:spPr>
            <a:xfrm>
              <a:off x="3562969" y="5226081"/>
              <a:ext cx="3146946" cy="1466227"/>
            </a:xfrm>
            <a:prstGeom prst="rect">
              <a:avLst/>
            </a:prstGeom>
          </p:spPr>
        </p:pic>
      </p:grpSp>
    </p:spTree>
    <p:extLst>
      <p:ext uri="{BB962C8B-B14F-4D97-AF65-F5344CB8AC3E}">
        <p14:creationId xmlns:p14="http://schemas.microsoft.com/office/powerpoint/2010/main" val="3639488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7" name="Group 6"/>
          <p:cNvGrpSpPr/>
          <p:nvPr/>
        </p:nvGrpSpPr>
        <p:grpSpPr>
          <a:xfrm>
            <a:off x="188640" y="2936776"/>
            <a:ext cx="3183502" cy="1892826"/>
            <a:chOff x="3306989" y="6950075"/>
            <a:chExt cx="3429000" cy="1892826"/>
          </a:xfrm>
        </p:grpSpPr>
        <p:sp>
          <p:nvSpPr>
            <p:cNvPr id="8" name="Rectangle 101"/>
            <p:cNvSpPr>
              <a:spLocks noChangeArrowheads="1"/>
            </p:cNvSpPr>
            <p:nvPr/>
          </p:nvSpPr>
          <p:spPr bwMode="auto">
            <a:xfrm>
              <a:off x="3306989" y="6950075"/>
              <a:ext cx="3429000"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a:latin typeface="Times New Roman" panose="02020603050405020304" pitchFamily="18" charset="0"/>
                  <a:ea typeface="돋움" pitchFamily="50" charset="-127"/>
                  <a:cs typeface="Times New Roman" panose="02020603050405020304" pitchFamily="18" charset="0"/>
                </a:rPr>
                <a:t>3</a:t>
              </a:r>
              <a:r>
                <a:rPr lang="en-US" altLang="ko-KR" sz="900" smtClean="0">
                  <a:latin typeface="Times New Roman" panose="02020603050405020304" pitchFamily="18" charset="0"/>
                  <a:ea typeface="돋움" pitchFamily="50" charset="-127"/>
                  <a:cs typeface="Times New Roman" panose="02020603050405020304" pitchFamily="18" charset="0"/>
                </a:rPr>
                <a:t>2. </a:t>
              </a:r>
              <a:r>
                <a:rPr lang="en-US" altLang="ko-KR" sz="900" dirty="0">
                  <a:latin typeface="Times New Roman" panose="02020603050405020304" pitchFamily="18" charset="0"/>
                  <a:ea typeface="돋움" pitchFamily="50" charset="-127"/>
                  <a:cs typeface="Times New Roman" panose="02020603050405020304" pitchFamily="18" charset="0"/>
                </a:rPr>
                <a:t>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1</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a:latin typeface="Times New Roman" panose="02020603050405020304" pitchFamily="18" charset="0"/>
                  <a:ea typeface="돋움" pitchFamily="50" charset="-127"/>
                  <a:cs typeface="Times New Roman" panose="02020603050405020304" pitchFamily="18" charset="0"/>
                </a:rPr>
                <a:t>ON → 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2</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a:latin typeface="Times New Roman" panose="02020603050405020304" pitchFamily="18" charset="0"/>
                  <a:ea typeface="돋움" pitchFamily="50" charset="-127"/>
                  <a:cs typeface="Times New Roman" panose="02020603050405020304" pitchFamily="18" charset="0"/>
                </a:rPr>
                <a:t>ON → P/B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Số 1</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OFF </a:t>
              </a:r>
              <a:r>
                <a:rPr lang="en-US" altLang="ko-KR" sz="900" dirty="0">
                  <a:latin typeface="Times New Roman" panose="02020603050405020304" pitchFamily="18" charset="0"/>
                  <a:ea typeface="돋움" pitchFamily="50" charset="-127"/>
                  <a:cs typeface="Times New Roman" panose="02020603050405020304" pitchFamily="18" charset="0"/>
                </a:rPr>
                <a:t>→ 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2</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ON. </a:t>
              </a:r>
              <a:r>
                <a:rPr lang="en-US" altLang="ko-KR" sz="900" dirty="0" err="1" smtClean="0">
                  <a:latin typeface="Times New Roman" panose="02020603050405020304" pitchFamily="18" charset="0"/>
                  <a:ea typeface="돋움" pitchFamily="50" charset="-127"/>
                  <a:cs typeface="Times New Roman" panose="02020603050405020304" pitchFamily="18" charset="0"/>
                </a:rPr>
                <a:t>Rơ</a:t>
              </a:r>
              <a:r>
                <a:rPr lang="en-US" altLang="ko-KR" sz="900" dirty="0" smtClean="0">
                  <a:latin typeface="Times New Roman" panose="02020603050405020304" pitchFamily="18" charset="0"/>
                  <a:ea typeface="돋움" pitchFamily="50" charset="-127"/>
                  <a:cs typeface="Times New Roman" panose="02020603050405020304" pitchFamily="18" charset="0"/>
                </a:rPr>
                <a:t> le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sẽ</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hoạt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động</a:t>
              </a:r>
              <a:r>
                <a:rPr lang="en-US" altLang="ko-KR" sz="900" smtClean="0">
                  <a:latin typeface="Times New Roman" panose="02020603050405020304" pitchFamily="18" charset="0"/>
                  <a:ea typeface="돋움" pitchFamily="50" charset="-127"/>
                  <a:cs typeface="Times New Roman" panose="02020603050405020304" pitchFamily="18" charset="0"/>
                </a:rPr>
                <a:t>?</a:t>
              </a:r>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a:t>
              </a:r>
              <a:r>
                <a:rPr lang="en-US" altLang="ko-KR" sz="900">
                  <a:latin typeface="Times New Roman" panose="02020603050405020304" pitchFamily="18" charset="0"/>
                  <a:ea typeface="돋움" pitchFamily="50" charset="-127"/>
                  <a:cs typeface="Times New Roman" panose="02020603050405020304" pitchFamily="18" charset="0"/>
                </a:rPr>
                <a:t>.  R1    B.  R2   C.  Cả R1,R2</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D. </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Không có</a:t>
              </a:r>
              <a:endParaRPr lang="ko-KR" altLang="en-US" sz="90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9" name="Picture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4900" y="7337425"/>
              <a:ext cx="2554288" cy="110172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grpSp>
      <p:sp>
        <p:nvSpPr>
          <p:cNvPr id="31" name="Rectangle 44"/>
          <p:cNvSpPr>
            <a:spLocks noChangeArrowheads="1"/>
          </p:cNvSpPr>
          <p:nvPr/>
        </p:nvSpPr>
        <p:spPr bwMode="auto">
          <a:xfrm>
            <a:off x="3405750" y="4607828"/>
            <a:ext cx="309708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a:t>
            </a:r>
            <a:r>
              <a:rPr lang="en-US" altLang="ko-KR" sz="900">
                <a:latin typeface="Times New Roman" panose="02020603050405020304" pitchFamily="18" charset="0"/>
                <a:ea typeface="돋움" pitchFamily="50" charset="-127"/>
                <a:cs typeface="Times New Roman" panose="02020603050405020304" pitchFamily="18" charset="0"/>
              </a:rPr>
              <a:t>8</a:t>
            </a:r>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Đây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điều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gì</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chương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chỉ</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chạy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tốc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thấp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cài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dư</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của</a:t>
            </a:r>
            <a:r>
              <a:rPr lang="en-US" altLang="ko-KR" sz="900" dirty="0" smtClean="0">
                <a:latin typeface="Times New Roman" panose="02020603050405020304" pitchFamily="18" charset="0"/>
                <a:ea typeface="돋움" pitchFamily="50" charset="-127"/>
                <a:cs typeface="Times New Roman" panose="02020603050405020304" pitchFamily="18" charset="0"/>
              </a:rPr>
              <a:t> Constant Scan).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ưu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tiên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mức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điều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khiển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Scan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quy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cài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Constant Scan]</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ban đầu</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B.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theo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kỳ</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cố</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endParaRPr lang="ko-KR" altLang="en-US"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C.  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tốc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thấp</a:t>
            </a:r>
            <a:r>
              <a:rPr lang="ko-KR" altLang="en-US" sz="900" smtClean="0">
                <a:latin typeface="Times New Roman" panose="02020603050405020304" pitchFamily="18" charset="0"/>
                <a:ea typeface="돋움" pitchFamily="50" charset="-127"/>
                <a:cs typeface="Times New Roman" panose="02020603050405020304" pitchFamily="18" charset="0"/>
              </a:rPr>
              <a:t>  </a:t>
            </a:r>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D.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Scan</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sp>
        <p:nvSpPr>
          <p:cNvPr id="57" name="Rectangle 101"/>
          <p:cNvSpPr>
            <a:spLocks noChangeArrowheads="1"/>
          </p:cNvSpPr>
          <p:nvPr/>
        </p:nvSpPr>
        <p:spPr bwMode="auto">
          <a:xfrm>
            <a:off x="3428622" y="8049344"/>
            <a:ext cx="3312746"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4</a:t>
            </a:r>
            <a:r>
              <a:rPr lang="en-US" altLang="ko-KR" sz="900" smtClean="0">
                <a:latin typeface="Times New Roman" panose="02020603050405020304" pitchFamily="18" charset="0"/>
                <a:ea typeface="돋움" pitchFamily="50" charset="-127"/>
                <a:cs typeface="Times New Roman" panose="02020603050405020304" pitchFamily="18" charset="0"/>
              </a:rPr>
              <a:t>0. Đáp án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sai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những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về</a:t>
            </a:r>
            <a:r>
              <a:rPr lang="en-US" altLang="ko-KR" sz="900" dirty="0" smtClean="0">
                <a:latin typeface="Times New Roman" panose="02020603050405020304" pitchFamily="18" charset="0"/>
                <a:ea typeface="돋움" pitchFamily="50" charset="-127"/>
                <a:cs typeface="Times New Roman" panose="02020603050405020304" pitchFamily="18" charset="0"/>
              </a:rPr>
              <a:t> MC/MCR</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sau</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trị</a:t>
            </a:r>
            <a:r>
              <a:rPr lang="en-US" altLang="ko-KR" sz="900" dirty="0" smtClean="0">
                <a:latin typeface="Times New Roman" panose="02020603050405020304" pitchFamily="18" charset="0"/>
                <a:ea typeface="돋움" pitchFamily="50" charset="-127"/>
                <a:cs typeface="Times New Roman" panose="02020603050405020304" pitchFamily="18" charset="0"/>
              </a:rPr>
              <a:t> COUNT </a:t>
            </a:r>
            <a:r>
              <a:rPr lang="en-US" altLang="ko-KR" sz="900" err="1" smtClean="0">
                <a:latin typeface="Times New Roman" panose="02020603050405020304" pitchFamily="18" charset="0"/>
                <a:ea typeface="돋움" pitchFamily="50" charset="-127"/>
                <a:cs typeface="Times New Roman" panose="02020603050405020304" pitchFamily="18" charset="0"/>
              </a:rPr>
              <a:t>trong</a:t>
            </a:r>
            <a:r>
              <a:rPr lang="en-US" altLang="ko-KR" sz="900" smtClean="0">
                <a:latin typeface="Times New Roman" panose="02020603050405020304" pitchFamily="18" charset="0"/>
                <a:ea typeface="돋움" pitchFamily="50" charset="-127"/>
                <a:cs typeface="Times New Roman" panose="02020603050405020304" pitchFamily="18" charset="0"/>
              </a:rPr>
              <a:t> MC tương </a:t>
            </a:r>
            <a:r>
              <a:rPr lang="en-US" altLang="ko-KR" sz="900" dirty="0" err="1" smtClean="0">
                <a:latin typeface="Times New Roman" panose="02020603050405020304" pitchFamily="18" charset="0"/>
                <a:ea typeface="돋움" pitchFamily="50" charset="-127"/>
                <a:cs typeface="Times New Roman" panose="02020603050405020304" pitchFamily="18" charset="0"/>
              </a:rPr>
              <a:t>ứng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tất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cả</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OUT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MC tương ứng </a:t>
            </a:r>
            <a:r>
              <a:rPr lang="en-US" altLang="ko-KR" sz="900" err="1" smtClean="0">
                <a:latin typeface="Times New Roman" panose="02020603050405020304" pitchFamily="18" charset="0"/>
                <a:ea typeface="돋움" pitchFamily="50" charset="-127"/>
                <a:cs typeface="Times New Roman" panose="02020603050405020304" pitchFamily="18" charset="0"/>
              </a:rPr>
              <a:t>đều</a:t>
            </a:r>
            <a:r>
              <a:rPr lang="en-US" altLang="ko-KR" sz="900" smtClean="0">
                <a:latin typeface="Times New Roman" panose="02020603050405020304" pitchFamily="18" charset="0"/>
                <a:ea typeface="돋움" pitchFamily="50" charset="-127"/>
                <a:cs typeface="Times New Roman" panose="02020603050405020304" pitchFamily="18" charset="0"/>
              </a:rPr>
              <a:t> OFF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smtClean="0">
                <a:latin typeface="Times New Roman" panose="02020603050405020304" pitchFamily="18" charset="0"/>
                <a:ea typeface="돋움" pitchFamily="50" charset="-127"/>
                <a:cs typeface="Times New Roman" panose="02020603050405020304" pitchFamily="18" charset="0"/>
              </a:rPr>
              <a:t>C.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SET/RST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MC </a:t>
            </a:r>
            <a:r>
              <a:rPr lang="en-US" altLang="ko-KR" sz="900" err="1" smtClean="0">
                <a:latin typeface="Times New Roman" panose="02020603050405020304" pitchFamily="18" charset="0"/>
                <a:ea typeface="돋움" pitchFamily="50" charset="-127"/>
                <a:cs typeface="Times New Roman" panose="02020603050405020304" pitchFamily="18" charset="0"/>
              </a:rPr>
              <a:t>tương</a:t>
            </a:r>
            <a:r>
              <a:rPr lang="en-US" altLang="ko-KR" sz="900" smtClean="0">
                <a:latin typeface="Times New Roman" panose="02020603050405020304" pitchFamily="18" charset="0"/>
                <a:ea typeface="돋움" pitchFamily="50" charset="-127"/>
                <a:cs typeface="Times New Roman" panose="02020603050405020304" pitchFamily="18" charset="0"/>
              </a:rPr>
              <a:t> ứng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D.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10ms Timer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MC </a:t>
            </a:r>
            <a:r>
              <a:rPr lang="en-US" altLang="ko-KR" sz="900" err="1" smtClean="0">
                <a:latin typeface="Times New Roman" panose="02020603050405020304" pitchFamily="18" charset="0"/>
                <a:ea typeface="돋움" pitchFamily="50" charset="-127"/>
                <a:cs typeface="Times New Roman" panose="02020603050405020304" pitchFamily="18" charset="0"/>
              </a:rPr>
              <a:t>tương</a:t>
            </a:r>
            <a:r>
              <a:rPr lang="en-US" altLang="ko-KR" sz="900" smtClean="0">
                <a:latin typeface="Times New Roman" panose="02020603050405020304" pitchFamily="18" charset="0"/>
                <a:ea typeface="돋움" pitchFamily="50" charset="-127"/>
                <a:cs typeface="Times New Roman" panose="02020603050405020304" pitchFamily="18" charset="0"/>
              </a:rPr>
              <a:t> ứng vẫn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trị</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p:txBody>
      </p:sp>
      <p:sp>
        <p:nvSpPr>
          <p:cNvPr id="58" name="Line 6"/>
          <p:cNvSpPr>
            <a:spLocks noChangeShapeType="1"/>
          </p:cNvSpPr>
          <p:nvPr/>
        </p:nvSpPr>
        <p:spPr bwMode="auto">
          <a:xfrm>
            <a:off x="8786018"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59" name="Line 7"/>
          <p:cNvSpPr>
            <a:spLocks noChangeShapeType="1"/>
          </p:cNvSpPr>
          <p:nvPr/>
        </p:nvSpPr>
        <p:spPr bwMode="auto">
          <a:xfrm>
            <a:off x="8786018"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3458171" y="6264739"/>
            <a:ext cx="3111500" cy="1754326"/>
            <a:chOff x="3424651" y="1547580"/>
            <a:chExt cx="3111500" cy="1754326"/>
          </a:xfrm>
        </p:grpSpPr>
        <p:sp>
          <p:nvSpPr>
            <p:cNvPr id="61"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39</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Nếu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viết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mạch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tự</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smtClean="0">
                  <a:latin typeface="Times New Roman" panose="02020603050405020304" pitchFamily="18" charset="0"/>
                  <a:ea typeface="돋움" pitchFamily="50" charset="-127"/>
                  <a:cs typeface="Times New Roman" panose="02020603050405020304" pitchFamily="18" charset="0"/>
                </a:rPr>
                <a:t>( ?  </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sẽ</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gì</a:t>
              </a:r>
              <a:r>
                <a:rPr lang="en-US" altLang="ko-KR" sz="900" smtClean="0">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A. CO            B.  Y40           C.  SET T40</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D.</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X1</a:t>
              </a:r>
              <a:endParaRPr lang="ko-KR" altLang="en-US" sz="90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grpSp>
        <p:nvGrpSpPr>
          <p:cNvPr id="72" name="Group 71"/>
          <p:cNvGrpSpPr/>
          <p:nvPr/>
        </p:nvGrpSpPr>
        <p:grpSpPr>
          <a:xfrm>
            <a:off x="165991" y="4879591"/>
            <a:ext cx="3095625" cy="2577629"/>
            <a:chOff x="-27384" y="3013059"/>
            <a:chExt cx="3095625" cy="2577629"/>
          </a:xfrm>
        </p:grpSpPr>
        <p:sp>
          <p:nvSpPr>
            <p:cNvPr id="73" name="Rectangle 2"/>
            <p:cNvSpPr>
              <a:spLocks noChangeArrowheads="1"/>
            </p:cNvSpPr>
            <p:nvPr/>
          </p:nvSpPr>
          <p:spPr bwMode="auto">
            <a:xfrm>
              <a:off x="-27384" y="3013059"/>
              <a:ext cx="3095625"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smtClean="0">
                  <a:latin typeface="Times New Roman" pitchFamily="18" charset="0"/>
                  <a:ea typeface="돋움" pitchFamily="50" charset="-127"/>
                  <a:cs typeface="Times New Roman" pitchFamily="18" charset="0"/>
                </a:rPr>
                <a:t>Câu 33. Sơ </a:t>
              </a:r>
              <a:r>
                <a:rPr lang="en-US" altLang="ko-KR" sz="950">
                  <a:latin typeface="Times New Roman" pitchFamily="18" charset="0"/>
                  <a:ea typeface="돋움" pitchFamily="50" charset="-127"/>
                  <a:cs typeface="Times New Roman" pitchFamily="18" charset="0"/>
                </a:rPr>
                <a:t>đồ Sequence sau là sơ đồ mạch nào?</a:t>
              </a: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Mạch ưu tiên khởi </a:t>
              </a:r>
              <a:r>
                <a:rPr lang="en-US" altLang="ko-KR" sz="950" smtClean="0">
                  <a:latin typeface="Times New Roman" pitchFamily="18" charset="0"/>
                  <a:ea typeface="돋움" pitchFamily="50" charset="-127"/>
                  <a:cs typeface="Times New Roman" pitchFamily="18" charset="0"/>
                </a:rPr>
                <a:t>động</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dừng </a:t>
              </a:r>
              <a:endParaRPr lang="en-US" altLang="ko-KR" sz="950" smtClean="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C.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a:t>
              </a:r>
              <a:r>
                <a:rPr lang="en-US" altLang="ko-KR" sz="950" smtClean="0">
                  <a:latin typeface="Times New Roman" pitchFamily="18" charset="0"/>
                  <a:ea typeface="돋움" pitchFamily="50" charset="-127"/>
                  <a:cs typeface="Times New Roman" pitchFamily="18" charset="0"/>
                </a:rPr>
                <a:t>OR</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Inter Lock</a:t>
              </a:r>
              <a:endParaRPr lang="ko-KR" altLang="en-US" sz="950">
                <a:latin typeface="Times New Roman" pitchFamily="18" charset="0"/>
                <a:ea typeface="돋움" pitchFamily="50" charset="-127"/>
                <a:cs typeface="Times New Roman" pitchFamily="18" charset="0"/>
              </a:endParaRPr>
            </a:p>
          </p:txBody>
        </p:sp>
        <p:grpSp>
          <p:nvGrpSpPr>
            <p:cNvPr id="74" name="Group 153"/>
            <p:cNvGrpSpPr>
              <a:grpSpLocks/>
            </p:cNvGrpSpPr>
            <p:nvPr/>
          </p:nvGrpSpPr>
          <p:grpSpPr bwMode="auto">
            <a:xfrm>
              <a:off x="266576" y="3368824"/>
              <a:ext cx="2742660" cy="1368425"/>
              <a:chOff x="3368" y="1165"/>
              <a:chExt cx="2275" cy="950"/>
            </a:xfrm>
          </p:grpSpPr>
          <p:sp>
            <p:nvSpPr>
              <p:cNvPr id="75" name="Line 73"/>
              <p:cNvSpPr>
                <a:spLocks noChangeShapeType="1"/>
              </p:cNvSpPr>
              <p:nvPr/>
            </p:nvSpPr>
            <p:spPr bwMode="auto">
              <a:xfrm>
                <a:off x="3368" y="1233"/>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6" name="Line 74"/>
              <p:cNvSpPr>
                <a:spLocks noChangeShapeType="1"/>
              </p:cNvSpPr>
              <p:nvPr/>
            </p:nvSpPr>
            <p:spPr bwMode="auto">
              <a:xfrm>
                <a:off x="5643" y="1225"/>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7" name="Oval 75"/>
              <p:cNvSpPr>
                <a:spLocks noChangeArrowheads="1"/>
              </p:cNvSpPr>
              <p:nvPr/>
            </p:nvSpPr>
            <p:spPr bwMode="auto">
              <a:xfrm>
                <a:off x="3685"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8" name="Oval 76"/>
              <p:cNvSpPr>
                <a:spLocks noChangeArrowheads="1"/>
              </p:cNvSpPr>
              <p:nvPr/>
            </p:nvSpPr>
            <p:spPr bwMode="auto">
              <a:xfrm>
                <a:off x="3821"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9" name="Line 77"/>
              <p:cNvSpPr>
                <a:spLocks noChangeShapeType="1"/>
              </p:cNvSpPr>
              <p:nvPr/>
            </p:nvSpPr>
            <p:spPr bwMode="auto">
              <a:xfrm>
                <a:off x="3685" y="1345"/>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0" name="Line 78"/>
              <p:cNvSpPr>
                <a:spLocks noChangeShapeType="1"/>
              </p:cNvSpPr>
              <p:nvPr/>
            </p:nvSpPr>
            <p:spPr bwMode="auto">
              <a:xfrm flipV="1">
                <a:off x="3775" y="1317"/>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2" name="Oval 80"/>
              <p:cNvSpPr>
                <a:spLocks noChangeArrowheads="1"/>
              </p:cNvSpPr>
              <p:nvPr/>
            </p:nvSpPr>
            <p:spPr bwMode="auto">
              <a:xfrm>
                <a:off x="3685"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3" name="Oval 81"/>
              <p:cNvSpPr>
                <a:spLocks noChangeArrowheads="1"/>
              </p:cNvSpPr>
              <p:nvPr/>
            </p:nvSpPr>
            <p:spPr bwMode="auto">
              <a:xfrm>
                <a:off x="3821"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4" name="Line 82"/>
              <p:cNvSpPr>
                <a:spLocks noChangeShapeType="1"/>
              </p:cNvSpPr>
              <p:nvPr/>
            </p:nvSpPr>
            <p:spPr bwMode="auto">
              <a:xfrm>
                <a:off x="3685" y="1880"/>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nvGrpSpPr>
              <p:cNvPr id="85" name="Group 83"/>
              <p:cNvGrpSpPr>
                <a:grpSpLocks/>
              </p:cNvGrpSpPr>
              <p:nvPr/>
            </p:nvGrpSpPr>
            <p:grpSpPr bwMode="auto">
              <a:xfrm>
                <a:off x="4997" y="1282"/>
                <a:ext cx="238" cy="192"/>
                <a:chOff x="2928" y="1832"/>
                <a:chExt cx="252" cy="297"/>
              </a:xfrm>
            </p:grpSpPr>
            <p:sp>
              <p:nvSpPr>
                <p:cNvPr id="110" name="Oval 84"/>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11" name="Text Box 85"/>
                <p:cNvSpPr txBox="1">
                  <a:spLocks noChangeArrowheads="1"/>
                </p:cNvSpPr>
                <p:nvPr/>
              </p:nvSpPr>
              <p:spPr bwMode="auto">
                <a:xfrm>
                  <a:off x="2939" y="1832"/>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sp>
            <p:nvSpPr>
              <p:cNvPr id="86" name="Line 86"/>
              <p:cNvSpPr>
                <a:spLocks noChangeShapeType="1"/>
              </p:cNvSpPr>
              <p:nvPr/>
            </p:nvSpPr>
            <p:spPr bwMode="auto">
              <a:xfrm flipH="1">
                <a:off x="3368" y="1388"/>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7" name="Line 87"/>
              <p:cNvSpPr>
                <a:spLocks noChangeShapeType="1"/>
              </p:cNvSpPr>
              <p:nvPr/>
            </p:nvSpPr>
            <p:spPr bwMode="auto">
              <a:xfrm>
                <a:off x="5224" y="1388"/>
                <a:ext cx="40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8" name="Line 88"/>
              <p:cNvSpPr>
                <a:spLocks noChangeShapeType="1"/>
              </p:cNvSpPr>
              <p:nvPr/>
            </p:nvSpPr>
            <p:spPr bwMode="auto">
              <a:xfrm flipH="1">
                <a:off x="3368" y="1923"/>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9" name="Text Box 89"/>
              <p:cNvSpPr txBox="1">
                <a:spLocks noChangeArrowheads="1"/>
              </p:cNvSpPr>
              <p:nvPr/>
            </p:nvSpPr>
            <p:spPr bwMode="auto">
              <a:xfrm>
                <a:off x="3587" y="1165"/>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A</a:t>
                </a:r>
              </a:p>
            </p:txBody>
          </p:sp>
          <p:sp>
            <p:nvSpPr>
              <p:cNvPr id="90" name="Text Box 90"/>
              <p:cNvSpPr txBox="1">
                <a:spLocks noChangeArrowheads="1"/>
              </p:cNvSpPr>
              <p:nvPr/>
            </p:nvSpPr>
            <p:spPr bwMode="auto">
              <a:xfrm>
                <a:off x="4183" y="1507"/>
                <a:ext cx="3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nvGrpSpPr>
              <p:cNvPr id="91" name="Group 91"/>
              <p:cNvGrpSpPr>
                <a:grpSpLocks/>
              </p:cNvGrpSpPr>
              <p:nvPr/>
            </p:nvGrpSpPr>
            <p:grpSpPr bwMode="auto">
              <a:xfrm>
                <a:off x="4997" y="1802"/>
                <a:ext cx="238" cy="192"/>
                <a:chOff x="2928" y="1826"/>
                <a:chExt cx="252" cy="297"/>
              </a:xfrm>
            </p:grpSpPr>
            <p:sp>
              <p:nvSpPr>
                <p:cNvPr id="108" name="Oval 92"/>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9" name="Text Box 93"/>
                <p:cNvSpPr txBox="1">
                  <a:spLocks noChangeArrowheads="1"/>
                </p:cNvSpPr>
                <p:nvPr/>
              </p:nvSpPr>
              <p:spPr bwMode="auto">
                <a:xfrm>
                  <a:off x="2939" y="1826"/>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L</a:t>
                  </a:r>
                </a:p>
              </p:txBody>
            </p:sp>
          </p:grpSp>
          <p:sp>
            <p:nvSpPr>
              <p:cNvPr id="92" name="Line 94"/>
              <p:cNvSpPr>
                <a:spLocks noChangeShapeType="1"/>
              </p:cNvSpPr>
              <p:nvPr/>
            </p:nvSpPr>
            <p:spPr bwMode="auto">
              <a:xfrm>
                <a:off x="3866" y="1923"/>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3" name="Line 95"/>
              <p:cNvSpPr>
                <a:spLocks noChangeShapeType="1"/>
              </p:cNvSpPr>
              <p:nvPr/>
            </p:nvSpPr>
            <p:spPr bwMode="auto">
              <a:xfrm flipV="1">
                <a:off x="5224" y="1913"/>
                <a:ext cx="419" cy="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4" name="Oval 96"/>
              <p:cNvSpPr>
                <a:spLocks noChangeArrowheads="1"/>
              </p:cNvSpPr>
              <p:nvPr/>
            </p:nvSpPr>
            <p:spPr bwMode="auto">
              <a:xfrm>
                <a:off x="3692" y="1679"/>
                <a:ext cx="46"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5" name="Oval 97"/>
              <p:cNvSpPr>
                <a:spLocks noChangeArrowheads="1"/>
              </p:cNvSpPr>
              <p:nvPr/>
            </p:nvSpPr>
            <p:spPr bwMode="auto">
              <a:xfrm>
                <a:off x="3828" y="1679"/>
                <a:ext cx="45"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6" name="Line 98"/>
              <p:cNvSpPr>
                <a:spLocks noChangeShapeType="1"/>
              </p:cNvSpPr>
              <p:nvPr/>
            </p:nvSpPr>
            <p:spPr bwMode="auto">
              <a:xfrm>
                <a:off x="3692" y="1721"/>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7" name="Line 99"/>
              <p:cNvSpPr>
                <a:spLocks noChangeShapeType="1"/>
              </p:cNvSpPr>
              <p:nvPr/>
            </p:nvSpPr>
            <p:spPr bwMode="auto">
              <a:xfrm flipV="1">
                <a:off x="3783" y="1685"/>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8" name="Text Box 100"/>
              <p:cNvSpPr txBox="1">
                <a:spLocks noChangeArrowheads="1"/>
              </p:cNvSpPr>
              <p:nvPr/>
            </p:nvSpPr>
            <p:spPr bwMode="auto">
              <a:xfrm>
                <a:off x="3587" y="1525"/>
                <a:ext cx="5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B</a:t>
                </a:r>
              </a:p>
            </p:txBody>
          </p:sp>
          <p:sp>
            <p:nvSpPr>
              <p:cNvPr id="99" name="Line 101"/>
              <p:cNvSpPr>
                <a:spLocks noChangeShapeType="1"/>
              </p:cNvSpPr>
              <p:nvPr/>
            </p:nvSpPr>
            <p:spPr bwMode="auto">
              <a:xfrm flipH="1">
                <a:off x="3368"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0" name="Line 102"/>
              <p:cNvSpPr>
                <a:spLocks noChangeShapeType="1"/>
              </p:cNvSpPr>
              <p:nvPr/>
            </p:nvSpPr>
            <p:spPr bwMode="auto">
              <a:xfrm flipH="1">
                <a:off x="3866"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1" name="Oval 104"/>
              <p:cNvSpPr>
                <a:spLocks noChangeArrowheads="1"/>
              </p:cNvSpPr>
              <p:nvPr/>
            </p:nvSpPr>
            <p:spPr bwMode="auto">
              <a:xfrm>
                <a:off x="4183"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2" name="Oval 105"/>
              <p:cNvSpPr>
                <a:spLocks noChangeArrowheads="1"/>
              </p:cNvSpPr>
              <p:nvPr/>
            </p:nvSpPr>
            <p:spPr bwMode="auto">
              <a:xfrm>
                <a:off x="4319"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3" name="Line 106"/>
              <p:cNvSpPr>
                <a:spLocks noChangeShapeType="1"/>
              </p:cNvSpPr>
              <p:nvPr/>
            </p:nvSpPr>
            <p:spPr bwMode="auto">
              <a:xfrm>
                <a:off x="4183" y="1657"/>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4" name="Text Box 107"/>
              <p:cNvSpPr txBox="1">
                <a:spLocks noChangeArrowheads="1"/>
              </p:cNvSpPr>
              <p:nvPr/>
            </p:nvSpPr>
            <p:spPr bwMode="auto">
              <a:xfrm>
                <a:off x="3684" y="1738"/>
                <a:ext cx="3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sp>
            <p:nvSpPr>
              <p:cNvPr id="105" name="Line 108"/>
              <p:cNvSpPr>
                <a:spLocks noChangeShapeType="1"/>
              </p:cNvSpPr>
              <p:nvPr/>
            </p:nvSpPr>
            <p:spPr bwMode="auto">
              <a:xfrm>
                <a:off x="4364" y="1700"/>
                <a:ext cx="1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6" name="Line 109"/>
              <p:cNvSpPr>
                <a:spLocks noChangeShapeType="1"/>
              </p:cNvSpPr>
              <p:nvPr/>
            </p:nvSpPr>
            <p:spPr bwMode="auto">
              <a:xfrm flipV="1">
                <a:off x="4499" y="1389"/>
                <a:ext cx="0" cy="3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7" name="Line 110"/>
              <p:cNvSpPr>
                <a:spLocks noChangeShapeType="1"/>
              </p:cNvSpPr>
              <p:nvPr/>
            </p:nvSpPr>
            <p:spPr bwMode="auto">
              <a:xfrm>
                <a:off x="3866" y="1389"/>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grpSp>
      <p:sp>
        <p:nvSpPr>
          <p:cNvPr id="112" name="Rectangle 31"/>
          <p:cNvSpPr>
            <a:spLocks noChangeArrowheads="1"/>
          </p:cNvSpPr>
          <p:nvPr/>
        </p:nvSpPr>
        <p:spPr bwMode="auto">
          <a:xfrm>
            <a:off x="193886" y="7545288"/>
            <a:ext cx="3141663"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34.</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Đây </a:t>
            </a:r>
            <a:r>
              <a:rPr lang="en-US" altLang="ko-KR" sz="900">
                <a:latin typeface="Times New Roman" pitchFamily="18" charset="0"/>
                <a:ea typeface="돋움" pitchFamily="50" charset="-127"/>
                <a:cs typeface="Times New Roman" pitchFamily="18" charset="0"/>
              </a:rPr>
              <a:t>là giải thích về LED của CPU PLC. Giải thích nào </a:t>
            </a:r>
            <a:r>
              <a:rPr lang="en-US" altLang="ko-KR" sz="900" u="sng">
                <a:latin typeface="Times New Roman" pitchFamily="18" charset="0"/>
                <a:ea typeface="돋움" pitchFamily="50" charset="-127"/>
                <a:cs typeface="Times New Roman" pitchFamily="18" charset="0"/>
              </a:rPr>
              <a:t>sai</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RUN LED : Sáng đèn khi đang vận hành bằng RUN.</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USER LED : Nhấp nháy khi thực hiện Latch Clear. </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BAT. LED : Nhấp nháy khi điện áp Battery của thân máy CPU và Memory Card thấp đi làm phát sinh Error của Battery.</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MODE LED : Nếu sáng đèn màu da cam thì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Q</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Mode. </a:t>
            </a:r>
          </a:p>
          <a:p>
            <a:pPr eaLnBrk="1" hangingPunct="1">
              <a:lnSpc>
                <a:spcPct val="130000"/>
              </a:lnSpc>
              <a:spcBef>
                <a:spcPct val="0"/>
              </a:spcBef>
              <a:buFontTx/>
              <a:buNone/>
            </a:pPr>
            <a:endParaRPr lang="en-US" altLang="ko-KR" sz="900">
              <a:latin typeface="Times New Roman" pitchFamily="18" charset="0"/>
              <a:ea typeface="돋움" pitchFamily="50" charset="-127"/>
              <a:cs typeface="Times New Roman" pitchFamily="18" charset="0"/>
            </a:endParaRPr>
          </a:p>
        </p:txBody>
      </p:sp>
      <p:sp>
        <p:nvSpPr>
          <p:cNvPr id="113" name="Rectangle 112"/>
          <p:cNvSpPr/>
          <p:nvPr/>
        </p:nvSpPr>
        <p:spPr>
          <a:xfrm>
            <a:off x="3428622" y="920552"/>
            <a:ext cx="3198018" cy="677108"/>
          </a:xfrm>
          <a:prstGeom prst="rect">
            <a:avLst/>
          </a:prstGeom>
        </p:spPr>
        <p:txBody>
          <a:bodyPr wrap="square">
            <a:spAutoFit/>
          </a:bodyPr>
          <a:lstStyle/>
          <a:p>
            <a:pPr>
              <a:defRPr/>
            </a:pPr>
            <a:r>
              <a:rPr lang="en-US" altLang="ko-KR" sz="950" smtClean="0">
                <a:latin typeface="Times New Roman" pitchFamily="18" charset="0"/>
                <a:cs typeface="Times New Roman" pitchFamily="18" charset="0"/>
              </a:rPr>
              <a:t>35. Relay chuyên </a:t>
            </a:r>
            <a:r>
              <a:rPr lang="en-US" altLang="ko-KR" sz="950">
                <a:latin typeface="Times New Roman" pitchFamily="18" charset="0"/>
                <a:cs typeface="Times New Roman" pitchFamily="18" charset="0"/>
              </a:rPr>
              <a:t>sử dụng cho Data link là </a:t>
            </a:r>
            <a:r>
              <a:rPr lang="en-US" altLang="ko-KR" sz="950" smtClean="0">
                <a:latin typeface="Times New Roman" pitchFamily="18" charset="0"/>
                <a:cs typeface="Times New Roman" pitchFamily="18" charset="0"/>
              </a:rPr>
              <a:t>Bit </a:t>
            </a:r>
            <a:r>
              <a:rPr lang="en-US" altLang="ko-KR" sz="950">
                <a:latin typeface="Times New Roman" pitchFamily="18" charset="0"/>
                <a:cs typeface="Times New Roman" pitchFamily="18" charset="0"/>
              </a:rPr>
              <a:t>device nào dưới đây? </a:t>
            </a:r>
          </a:p>
          <a:p>
            <a:pPr>
              <a:defRPr/>
            </a:pPr>
            <a:endParaRPr lang="en-US" altLang="ko-KR" sz="950">
              <a:latin typeface="Times New Roman" pitchFamily="18" charset="0"/>
              <a:cs typeface="Times New Roman" pitchFamily="18" charset="0"/>
            </a:endParaRPr>
          </a:p>
          <a:p>
            <a:pPr>
              <a:defRPr/>
            </a:pPr>
            <a:r>
              <a:rPr lang="en-US" altLang="ko-KR" sz="950" smtClean="0">
                <a:latin typeface="Times New Roman" pitchFamily="18" charset="0"/>
                <a:cs typeface="Times New Roman" pitchFamily="18" charset="0"/>
              </a:rPr>
              <a:t>A. </a:t>
            </a:r>
            <a:r>
              <a:rPr lang="en-US" altLang="ko-KR" sz="950" b="1"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B.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Z                     C. </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R                  </a:t>
            </a:r>
            <a:r>
              <a:rPr lang="en-US" altLang="ko-KR" sz="950" smtClean="0">
                <a:latin typeface="Times New Roman" pitchFamily="18" charset="0"/>
                <a:cs typeface="Times New Roman" pitchFamily="18" charset="0"/>
              </a:rPr>
              <a:t> D.</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W</a:t>
            </a:r>
            <a:r>
              <a:rPr lang="ko-KR" altLang="en-US" sz="950">
                <a:latin typeface="Times New Roman" pitchFamily="18" charset="0"/>
                <a:cs typeface="Times New Roman" pitchFamily="18" charset="0"/>
              </a:rPr>
              <a:t> </a:t>
            </a:r>
          </a:p>
        </p:txBody>
      </p:sp>
      <p:sp>
        <p:nvSpPr>
          <p:cNvPr id="114" name="Rectangle 8"/>
          <p:cNvSpPr>
            <a:spLocks noChangeArrowheads="1"/>
          </p:cNvSpPr>
          <p:nvPr/>
        </p:nvSpPr>
        <p:spPr bwMode="auto">
          <a:xfrm>
            <a:off x="3459181" y="2936776"/>
            <a:ext cx="31416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anose="02020603050405020304" pitchFamily="18" charset="0"/>
                <a:ea typeface="돋움" pitchFamily="50" charset="-127"/>
                <a:cs typeface="Times New Roman" pitchFamily="18" charset="0"/>
              </a:rPr>
              <a:t>37.  </a:t>
            </a:r>
            <a:r>
              <a:rPr lang="en-US" altLang="ko-KR" sz="900">
                <a:latin typeface="Times New Roman" pitchFamily="18" charset="0"/>
                <a:ea typeface="돋움" pitchFamily="50" charset="-127"/>
                <a:cs typeface="Times New Roman" pitchFamily="18" charset="0"/>
              </a:rPr>
              <a:t>Address cuối cùng của Slot </a:t>
            </a:r>
            <a:r>
              <a:rPr lang="en-US" altLang="ko-KR" sz="900" smtClean="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 ảnh cấu tạo PLC dưới đây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CF         </a:t>
            </a: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DF         </a:t>
            </a: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EF         </a:t>
            </a: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FF</a:t>
            </a:r>
          </a:p>
        </p:txBody>
      </p:sp>
      <p:grpSp>
        <p:nvGrpSpPr>
          <p:cNvPr id="115" name="Group 114"/>
          <p:cNvGrpSpPr/>
          <p:nvPr/>
        </p:nvGrpSpPr>
        <p:grpSpPr>
          <a:xfrm>
            <a:off x="3589264" y="3312832"/>
            <a:ext cx="2936080" cy="631825"/>
            <a:chOff x="373063" y="2144713"/>
            <a:chExt cx="2936080" cy="631825"/>
          </a:xfrm>
        </p:grpSpPr>
        <p:sp>
          <p:nvSpPr>
            <p:cNvPr id="116" name="Rectangle 9"/>
            <p:cNvSpPr>
              <a:spLocks noChangeArrowheads="1"/>
            </p:cNvSpPr>
            <p:nvPr/>
          </p:nvSpPr>
          <p:spPr bwMode="auto">
            <a:xfrm>
              <a:off x="496888" y="2200275"/>
              <a:ext cx="2665412" cy="576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endParaRPr lang="ko-KR" altLang="ko-KR" sz="800">
                <a:latin typeface="Times New Roman" panose="02020603050405020304" pitchFamily="18" charset="0"/>
                <a:ea typeface="돋움" pitchFamily="50" charset="-127"/>
                <a:cs typeface="Times New Roman" pitchFamily="18" charset="0"/>
              </a:endParaRPr>
            </a:p>
          </p:txBody>
        </p:sp>
        <p:sp>
          <p:nvSpPr>
            <p:cNvPr id="117" name="Line 10"/>
            <p:cNvSpPr>
              <a:spLocks noChangeShapeType="1"/>
            </p:cNvSpPr>
            <p:nvPr/>
          </p:nvSpPr>
          <p:spPr bwMode="auto">
            <a:xfrm>
              <a:off x="75565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8" name="Line 11"/>
            <p:cNvSpPr>
              <a:spLocks noChangeShapeType="1"/>
            </p:cNvSpPr>
            <p:nvPr/>
          </p:nvSpPr>
          <p:spPr bwMode="auto">
            <a:xfrm>
              <a:off x="100330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9" name="Line 12"/>
            <p:cNvSpPr>
              <a:spLocks noChangeShapeType="1"/>
            </p:cNvSpPr>
            <p:nvPr/>
          </p:nvSpPr>
          <p:spPr bwMode="auto">
            <a:xfrm>
              <a:off x="13128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0" name="Line 13"/>
            <p:cNvSpPr>
              <a:spLocks noChangeShapeType="1"/>
            </p:cNvSpPr>
            <p:nvPr/>
          </p:nvSpPr>
          <p:spPr bwMode="auto">
            <a:xfrm>
              <a:off x="1622425"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1" name="Line 14"/>
            <p:cNvSpPr>
              <a:spLocks noChangeShapeType="1"/>
            </p:cNvSpPr>
            <p:nvPr/>
          </p:nvSpPr>
          <p:spPr bwMode="auto">
            <a:xfrm>
              <a:off x="193198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2" name="Text Box 15"/>
            <p:cNvSpPr txBox="1">
              <a:spLocks noChangeArrowheads="1"/>
            </p:cNvSpPr>
            <p:nvPr/>
          </p:nvSpPr>
          <p:spPr bwMode="auto">
            <a:xfrm>
              <a:off x="373063" y="2144713"/>
              <a:ext cx="463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UNIT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điện</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nguồn</a:t>
              </a:r>
            </a:p>
          </p:txBody>
        </p:sp>
        <p:sp>
          <p:nvSpPr>
            <p:cNvPr id="123" name="Text Box 16"/>
            <p:cNvSpPr txBox="1">
              <a:spLocks noChangeArrowheads="1"/>
            </p:cNvSpPr>
            <p:nvPr/>
          </p:nvSpPr>
          <p:spPr bwMode="auto">
            <a:xfrm>
              <a:off x="687388" y="2201863"/>
              <a:ext cx="500062"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CPU</a:t>
              </a:r>
            </a:p>
          </p:txBody>
        </p:sp>
        <p:sp>
          <p:nvSpPr>
            <p:cNvPr id="124" name="Text Box 17"/>
            <p:cNvSpPr txBox="1">
              <a:spLocks noChangeArrowheads="1"/>
            </p:cNvSpPr>
            <p:nvPr/>
          </p:nvSpPr>
          <p:spPr bwMode="auto">
            <a:xfrm>
              <a:off x="936625" y="2197100"/>
              <a:ext cx="5540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5" name="Text Box 18"/>
            <p:cNvSpPr txBox="1">
              <a:spLocks noChangeArrowheads="1"/>
            </p:cNvSpPr>
            <p:nvPr/>
          </p:nvSpPr>
          <p:spPr bwMode="auto">
            <a:xfrm>
              <a:off x="1555750" y="2198688"/>
              <a:ext cx="4826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6" name="Text Box 19"/>
            <p:cNvSpPr txBox="1">
              <a:spLocks noChangeArrowheads="1"/>
            </p:cNvSpPr>
            <p:nvPr/>
          </p:nvSpPr>
          <p:spPr bwMode="auto">
            <a:xfrm>
              <a:off x="1246188" y="2198688"/>
              <a:ext cx="4540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QY42</a:t>
              </a:r>
            </a:p>
          </p:txBody>
        </p:sp>
        <p:sp>
          <p:nvSpPr>
            <p:cNvPr id="127" name="Text Box 20"/>
            <p:cNvSpPr txBox="1">
              <a:spLocks noChangeArrowheads="1"/>
            </p:cNvSpPr>
            <p:nvPr/>
          </p:nvSpPr>
          <p:spPr bwMode="auto">
            <a:xfrm>
              <a:off x="2804318" y="2216945"/>
              <a:ext cx="5048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QY40</a:t>
              </a:r>
            </a:p>
          </p:txBody>
        </p:sp>
        <p:sp>
          <p:nvSpPr>
            <p:cNvPr id="128" name="Line 21"/>
            <p:cNvSpPr>
              <a:spLocks noChangeShapeType="1"/>
            </p:cNvSpPr>
            <p:nvPr/>
          </p:nvSpPr>
          <p:spPr bwMode="auto">
            <a:xfrm>
              <a:off x="224313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9" name="Text Box 22"/>
            <p:cNvSpPr txBox="1">
              <a:spLocks noChangeArrowheads="1"/>
            </p:cNvSpPr>
            <p:nvPr/>
          </p:nvSpPr>
          <p:spPr bwMode="auto">
            <a:xfrm>
              <a:off x="1797050" y="2216945"/>
              <a:ext cx="5810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Slot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trống</a:t>
              </a:r>
            </a:p>
          </p:txBody>
        </p:sp>
        <p:sp>
          <p:nvSpPr>
            <p:cNvPr id="130" name="Line 23"/>
            <p:cNvSpPr>
              <a:spLocks noChangeShapeType="1"/>
            </p:cNvSpPr>
            <p:nvPr/>
          </p:nvSpPr>
          <p:spPr bwMode="auto">
            <a:xfrm>
              <a:off x="255111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1" name="Text Box 24"/>
            <p:cNvSpPr txBox="1">
              <a:spLocks noChangeArrowheads="1"/>
            </p:cNvSpPr>
            <p:nvPr/>
          </p:nvSpPr>
          <p:spPr bwMode="auto">
            <a:xfrm>
              <a:off x="2192338" y="2200275"/>
              <a:ext cx="4476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Q64</a:t>
              </a:r>
            </a:p>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AD</a:t>
              </a:r>
            </a:p>
          </p:txBody>
        </p:sp>
        <p:sp>
          <p:nvSpPr>
            <p:cNvPr id="132" name="Text Box 25"/>
            <p:cNvSpPr txBox="1">
              <a:spLocks noChangeArrowheads="1"/>
            </p:cNvSpPr>
            <p:nvPr/>
          </p:nvSpPr>
          <p:spPr bwMode="auto">
            <a:xfrm>
              <a:off x="2478088" y="2200275"/>
              <a:ext cx="4984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QX42</a:t>
              </a:r>
            </a:p>
          </p:txBody>
        </p:sp>
        <p:sp>
          <p:nvSpPr>
            <p:cNvPr id="133" name="Line 26"/>
            <p:cNvSpPr>
              <a:spLocks noChangeShapeType="1"/>
            </p:cNvSpPr>
            <p:nvPr/>
          </p:nvSpPr>
          <p:spPr bwMode="auto">
            <a:xfrm>
              <a:off x="28622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4" name="Rectangle 38"/>
            <p:cNvSpPr>
              <a:spLocks noChangeArrowheads="1"/>
            </p:cNvSpPr>
            <p:nvPr/>
          </p:nvSpPr>
          <p:spPr bwMode="auto">
            <a:xfrm>
              <a:off x="2551113" y="2489200"/>
              <a:ext cx="4651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 ? )</a:t>
              </a:r>
            </a:p>
          </p:txBody>
        </p:sp>
      </p:grpSp>
      <p:sp>
        <p:nvSpPr>
          <p:cNvPr id="138" name="Rectangle 137"/>
          <p:cNvSpPr/>
          <p:nvPr/>
        </p:nvSpPr>
        <p:spPr>
          <a:xfrm>
            <a:off x="186888" y="913656"/>
            <a:ext cx="3358744" cy="1919756"/>
          </a:xfrm>
          <a:prstGeom prst="rect">
            <a:avLst/>
          </a:prstGeom>
        </p:spPr>
        <p:txBody>
          <a:bodyPr wrap="square">
            <a:spAutoFit/>
          </a:bodyPr>
          <a:lstStyle/>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31. </a:t>
            </a:r>
            <a:r>
              <a:rPr lang="vi-VN" altLang="ko-KR" sz="950">
                <a:latin typeface="Arial" pitchFamily="34" charset="0"/>
                <a:ea typeface="LG Smart_H Regular" panose="020B0600000101010101" pitchFamily="34" charset="-127"/>
                <a:cs typeface="Arial" pitchFamily="34" charset="0"/>
              </a:rPr>
              <a:t>Điều gì đúng khi giải thích về </a:t>
            </a:r>
            <a:r>
              <a:rPr lang="en-US" altLang="ko-KR" sz="950">
                <a:latin typeface="Arial" pitchFamily="34" charset="0"/>
                <a:ea typeface="LG Smart_H Regular" panose="020B0600000101010101" pitchFamily="34" charset="-127"/>
                <a:cs typeface="Arial" pitchFamily="34" charset="0"/>
              </a:rPr>
              <a:t>DEVICE "Y</a:t>
            </a:r>
            <a:r>
              <a:rPr lang="vi-VN" altLang="ko-KR" sz="950">
                <a:latin typeface="Arial" pitchFamily="34" charset="0"/>
                <a:ea typeface="LG Smart_H Regular" panose="020B0600000101010101" pitchFamily="34" charset="-127"/>
                <a:cs typeface="Arial" pitchFamily="34" charset="0"/>
              </a:rPr>
              <a:t>’’ đầu ra</a:t>
            </a:r>
            <a:r>
              <a:rPr lang="en-US" altLang="ko-KR" sz="950">
                <a:latin typeface="Arial" pitchFamily="34" charset="0"/>
                <a:ea typeface="LG Smart_H Regular" panose="020B0600000101010101" pitchFamily="34" charset="-127"/>
                <a:cs typeface="Arial" pitchFamily="34" charset="0"/>
              </a:rPr>
              <a:t>?   </a:t>
            </a:r>
            <a:endParaRPr lang="en-US" altLang="ko-KR" sz="950" smtClean="0">
              <a:latin typeface="Arial" pitchFamily="34" charset="0"/>
              <a:ea typeface="LG Smart_H Regular" panose="020B0600000101010101" pitchFamily="34" charset="-127"/>
              <a:cs typeface="Arial" pitchFamily="34" charset="0"/>
            </a:endParaRPr>
          </a:p>
          <a:p>
            <a:pPr lvl="0" fontAlgn="base">
              <a:spcBef>
                <a:spcPct val="0"/>
              </a:spcBef>
              <a:spcAft>
                <a:spcPct val="0"/>
              </a:spcAft>
            </a:pPr>
            <a:endParaRPr lang="en-US" altLang="ko-KR" sz="950">
              <a:latin typeface="Arial" pitchFamily="34" charset="0"/>
              <a:ea typeface="LG Smart_H Regular" panose="020B0600000101010101" pitchFamily="34" charset="-127"/>
              <a:cs typeface="Arial" pitchFamily="34" charset="0"/>
            </a:endParaRPr>
          </a:p>
          <a:p>
            <a:pPr fontAlgn="base">
              <a:spcBef>
                <a:spcPct val="0"/>
              </a:spcBef>
              <a:spcAft>
                <a:spcPct val="0"/>
              </a:spcAft>
              <a:buFontTx/>
              <a:buAutoNum type="alphaUcPeriod"/>
            </a:pPr>
            <a:r>
              <a:rPr lang="vi-VN" altLang="ko-KR" sz="950">
                <a:latin typeface="Arial" pitchFamily="34" charset="0"/>
                <a:ea typeface="LG Smart_H Regular" panose="020B0600000101010101" pitchFamily="34" charset="-127"/>
                <a:cs typeface="Arial" pitchFamily="34" charset="0"/>
              </a:rPr>
              <a:t>Khi sử dụng Relay M bên trong Y có khả năng duy trì tĩnh điện</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B.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Kết quả được tạo ra trong quá trình hoạt động của </a:t>
            </a:r>
            <a:endParaRPr lang="en-US" altLang="ko-KR"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latin typeface="Arial" pitchFamily="34" charset="0"/>
                <a:ea typeface="LG Smart_H Regular" panose="020B0600000101010101" pitchFamily="34" charset="-127"/>
                <a:cs typeface="Arial" pitchFamily="34" charset="0"/>
              </a:rPr>
              <a:t>c</a:t>
            </a:r>
            <a:r>
              <a:rPr lang="vi-VN" altLang="ko-KR" sz="950">
                <a:latin typeface="Arial" pitchFamily="34" charset="0"/>
                <a:ea typeface="LG Smart_H Regular" panose="020B0600000101010101" pitchFamily="34" charset="-127"/>
                <a:cs typeface="Arial" pitchFamily="34" charset="0"/>
              </a:rPr>
              <a:t>hương trình chính được lưu trong vùng đầu ra.</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latin typeface="Arial" pitchFamily="34" charset="0"/>
                <a:ea typeface="LG Smart_H Regular" panose="020B0600000101010101" pitchFamily="34" charset="-127"/>
                <a:cs typeface="Arial" pitchFamily="34" charset="0"/>
              </a:rPr>
              <a:t>C</a:t>
            </a:r>
            <a:r>
              <a:rPr lang="en-US" altLang="ko-KR" sz="950" smtClean="0">
                <a:latin typeface="Arial" pitchFamily="34" charset="0"/>
                <a:ea typeface="LG Smart_H Regular" panose="020B0600000101010101" pitchFamily="34" charset="-127"/>
                <a:cs typeface="Arial" pitchFamily="34" charset="0"/>
              </a:rPr>
              <a:t>.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Y không thể được sử dụng làm tiếp điểm  trong </a:t>
            </a:r>
            <a:endParaRPr lang="en-US" altLang="ko-KR"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vi-VN" altLang="ko-KR" sz="950">
                <a:latin typeface="Arial" pitchFamily="34" charset="0"/>
                <a:ea typeface="LG Smart_H Regular" panose="020B0600000101010101" pitchFamily="34" charset="-127"/>
                <a:cs typeface="Arial" pitchFamily="34" charset="0"/>
              </a:rPr>
              <a:t>chương trình.</a:t>
            </a:r>
            <a:endParaRPr lang="ko-KR" altLang="en-US"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D.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Là </a:t>
            </a:r>
            <a:r>
              <a:rPr lang="en-US" altLang="ko-KR" sz="950">
                <a:latin typeface="Arial" pitchFamily="34" charset="0"/>
                <a:ea typeface="LG Smart_H Regular" panose="020B0600000101010101" pitchFamily="34" charset="-127"/>
                <a:cs typeface="Arial" pitchFamily="34" charset="0"/>
              </a:rPr>
              <a:t>DEVICE</a:t>
            </a:r>
            <a:r>
              <a:rPr lang="vi-VN" altLang="ko-KR" sz="950">
                <a:latin typeface="Arial" pitchFamily="34" charset="0"/>
                <a:ea typeface="LG Smart_H Regular" panose="020B0600000101010101" pitchFamily="34" charset="-127"/>
                <a:cs typeface="Arial" pitchFamily="34" charset="0"/>
              </a:rPr>
              <a:t> lưu trữ / xuất dữ liệu đưa kết quả hoạt </a:t>
            </a:r>
            <a:endParaRPr lang="en-US" altLang="ko-KR"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latin typeface="Arial" pitchFamily="34" charset="0"/>
                <a:ea typeface="LG Smart_H Regular" panose="020B0600000101010101" pitchFamily="34" charset="-127"/>
                <a:cs typeface="Arial" pitchFamily="34" charset="0"/>
              </a:rPr>
              <a:t>động đến thiết bị đầu ra được kết nối với bộ đầu ra </a:t>
            </a:r>
            <a:endParaRPr lang="en-US" altLang="ko-KR"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latin typeface="Arial" pitchFamily="34" charset="0"/>
                <a:ea typeface="LG Smart_H Regular" panose="020B0600000101010101" pitchFamily="34" charset="-127"/>
                <a:cs typeface="Arial" pitchFamily="34" charset="0"/>
              </a:rPr>
              <a:t>PLC</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endParaRPr lang="ko-KR" altLang="en-US" sz="950">
              <a:latin typeface="Arial" pitchFamily="34" charset="0"/>
              <a:ea typeface="LG Smart_H Regular" panose="020B0600000101010101" pitchFamily="34" charset="-127"/>
              <a:cs typeface="Arial" pitchFamily="34" charset="0"/>
            </a:endParaRPr>
          </a:p>
        </p:txBody>
      </p:sp>
      <p:sp>
        <p:nvSpPr>
          <p:cNvPr id="139" name="Rectangle 138"/>
          <p:cNvSpPr/>
          <p:nvPr/>
        </p:nvSpPr>
        <p:spPr>
          <a:xfrm>
            <a:off x="3414264" y="1873534"/>
            <a:ext cx="3255096" cy="969496"/>
          </a:xfrm>
          <a:prstGeom prst="rect">
            <a:avLst/>
          </a:prstGeom>
        </p:spPr>
        <p:txBody>
          <a:bodyPr wrap="square">
            <a:spAutoFit/>
          </a:bodyPr>
          <a:lstStyle/>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36  </a:t>
            </a:r>
            <a:r>
              <a:rPr lang="vi-VN" altLang="ko-KR" sz="950">
                <a:latin typeface="Arial" pitchFamily="34" charset="0"/>
                <a:ea typeface="LG Smart_H Regular" panose="020B0600000101010101" pitchFamily="34" charset="-127"/>
                <a:cs typeface="Arial" pitchFamily="34" charset="0"/>
              </a:rPr>
              <a:t>Khi lập trình PLC Ladder thì điều gì là viết để mô tả về nội dung đặc biệt của Ladder? </a:t>
            </a:r>
            <a:endParaRPr lang="en-US" altLang="ko-KR" sz="950">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smtClean="0">
                <a:latin typeface="Arial" pitchFamily="34" charset="0"/>
                <a:ea typeface="LG Smart_H Regular" panose="020B0600000101010101" pitchFamily="34" charset="-127"/>
                <a:cs typeface="Arial" pitchFamily="34" charset="0"/>
              </a:rPr>
              <a:t>Biên </a:t>
            </a:r>
            <a:r>
              <a:rPr lang="vi-VN" altLang="ko-KR" sz="950">
                <a:latin typeface="Arial" pitchFamily="34" charset="0"/>
                <a:ea typeface="LG Smart_H Regular" panose="020B0600000101010101" pitchFamily="34" charset="-127"/>
                <a:cs typeface="Arial" pitchFamily="34" charset="0"/>
              </a:rPr>
              <a:t>tập comment</a:t>
            </a:r>
            <a:endParaRPr lang="en-US" altLang="ko-KR" sz="950">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a:latin typeface="Arial" pitchFamily="34" charset="0"/>
                <a:ea typeface="LG Smart_H Regular" panose="020B0600000101010101" pitchFamily="34" charset="-127"/>
                <a:cs typeface="Arial" pitchFamily="34" charset="0"/>
              </a:rPr>
              <a:t>Biên tập note</a:t>
            </a:r>
          </a:p>
          <a:p>
            <a:pPr marL="228600" lvl="0" indent="-228600" fontAlgn="base">
              <a:spcBef>
                <a:spcPct val="0"/>
              </a:spcBef>
              <a:spcAft>
                <a:spcPct val="0"/>
              </a:spcAft>
              <a:buFont typeface="+mj-lt"/>
              <a:buAutoNum type="alphaUcPeriod"/>
            </a:pPr>
            <a:r>
              <a:rPr lang="vi-VN" altLang="ko-KR" sz="950" smtClean="0">
                <a:latin typeface="Arial" pitchFamily="34" charset="0"/>
                <a:ea typeface="LG Smart_H Regular" panose="020B0600000101010101" pitchFamily="34" charset="-127"/>
                <a:cs typeface="Arial" pitchFamily="34" charset="0"/>
              </a:rPr>
              <a:t>Parameter</a:t>
            </a:r>
            <a:endParaRPr lang="en-US" altLang="ko-KR" sz="950" smtClean="0">
              <a:latin typeface="Arial" pitchFamily="34" charset="0"/>
              <a:ea typeface="LG Smart_H Regular" panose="020B0600000101010101" pitchFamily="34" charset="-127"/>
              <a:cs typeface="Arial" pitchFamily="34" charset="0"/>
            </a:endParaRPr>
          </a:p>
          <a:p>
            <a:pPr marL="228600" indent="-228600" fontAlgn="base">
              <a:spcBef>
                <a:spcPct val="0"/>
              </a:spcBef>
              <a:spcAft>
                <a:spcPct val="0"/>
              </a:spcAft>
              <a:buFont typeface="+mj-lt"/>
              <a:buAutoNum type="alphaUcPeriod"/>
            </a:pPr>
            <a:r>
              <a:rPr lang="vi-VN" altLang="ko-KR" sz="950">
                <a:latin typeface="Arial" pitchFamily="34" charset="0"/>
                <a:ea typeface="LG Smart_H Regular" panose="020B0600000101010101" pitchFamily="34" charset="-127"/>
                <a:cs typeface="Arial" pitchFamily="34" charset="0"/>
              </a:rPr>
              <a:t>Biên tập </a:t>
            </a:r>
            <a:r>
              <a:rPr lang="vi-VN" altLang="ko-KR" sz="950" smtClean="0">
                <a:latin typeface="Arial" pitchFamily="34" charset="0"/>
                <a:ea typeface="LG Smart_H Regular" panose="020B0600000101010101" pitchFamily="34" charset="-127"/>
                <a:cs typeface="Arial" pitchFamily="34" charset="0"/>
              </a:rPr>
              <a:t>statement</a:t>
            </a:r>
            <a:endParaRPr lang="en-US" altLang="ko-KR" sz="950">
              <a:latin typeface="Arial" pitchFamily="34" charset="0"/>
              <a:ea typeface="LG Smart_H Regular" panose="020B0600000101010101" pitchFamily="34" charset="-127"/>
              <a:cs typeface="Arial" pitchFamily="34" charset="0"/>
            </a:endParaRPr>
          </a:p>
        </p:txBody>
      </p:sp>
    </p:spTree>
    <p:extLst>
      <p:ext uri="{BB962C8B-B14F-4D97-AF65-F5344CB8AC3E}">
        <p14:creationId xmlns:p14="http://schemas.microsoft.com/office/powerpoint/2010/main" val="5709568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8" name="Rectangle 7"/>
          <p:cNvSpPr>
            <a:spLocks noChangeArrowheads="1"/>
          </p:cNvSpPr>
          <p:nvPr/>
        </p:nvSpPr>
        <p:spPr bwMode="auto">
          <a:xfrm>
            <a:off x="232792" y="476905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Không khí khí quyển là một dạng vật chất; do có khối lượng nên chịu ảnh hưởng của lực hút trái đất,áp suất khí quyển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Relay có những tính năng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chia,</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khếch </a:t>
            </a:r>
            <a:r>
              <a:rPr lang="vi-VN" altLang="ko-KR" sz="950" smtClean="0">
                <a:latin typeface="Times New Roman" pitchFamily="18" charset="0"/>
                <a:ea typeface="LG Smart_H Regular" panose="020B0600000101010101" pitchFamily="34" charset="-127"/>
                <a:cs typeface="Times New Roman" pitchFamily="18" charset="0"/>
              </a:rPr>
              <a:t>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a:t>
            </a:r>
            <a:r>
              <a:rPr lang="vi-VN" altLang="ko-KR" sz="950">
                <a:latin typeface="Times New Roman" pitchFamily="18" charset="0"/>
                <a:ea typeface="LG Smart_H Regular" panose="020B0600000101010101" pitchFamily="34" charset="-127"/>
                <a:cs typeface="Times New Roman" pitchFamily="18" charset="0"/>
              </a:rPr>
              <a:t>nhớ.</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1064568"/>
            <a:ext cx="3239810" cy="1554272"/>
            <a:chOff x="206479" y="1064568"/>
            <a:chExt cx="3239810" cy="1554272"/>
          </a:xfrm>
        </p:grpSpPr>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Điền </a:t>
              </a:r>
              <a:r>
                <a:rPr lang="en-US" altLang="ko-KR" sz="950">
                  <a:latin typeface="Times New Roman" pitchFamily="18" charset="0"/>
                  <a:ea typeface="LG Smart_H Regular" panose="020B0600000101010101" pitchFamily="34" charset="-127"/>
                  <a:cs typeface="Times New Roman" pitchFamily="18" charset="0"/>
                </a:rPr>
                <a:t>vào chỗ </a:t>
              </a:r>
              <a:r>
                <a:rPr lang="en-US" altLang="ko-KR" sz="950" smtClean="0">
                  <a:latin typeface="Times New Roman" pitchFamily="18" charset="0"/>
                  <a:ea typeface="LG Smart_H Regular" panose="020B0600000101010101" pitchFamily="34" charset="-127"/>
                  <a:cs typeface="Times New Roman" pitchFamily="18" charset="0"/>
                </a:rPr>
                <a:t> ?????  Trong </a:t>
              </a:r>
              <a:r>
                <a:rPr lang="en-US" altLang="ko-KR" sz="950">
                  <a:latin typeface="Times New Roman" pitchFamily="18" charset="0"/>
                  <a:ea typeface="LG Smart_H Regular" panose="020B0600000101010101" pitchFamily="34" charset="-127"/>
                  <a:cs typeface="Times New Roman" pitchFamily="18" charset="0"/>
                </a:rPr>
                <a:t>hình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Regulator </a:t>
              </a:r>
              <a:r>
                <a:rPr lang="vi-VN" altLang="ko-KR" sz="950" smtClean="0">
                  <a:latin typeface="Times New Roman" pitchFamily="18" charset="0"/>
                  <a:ea typeface="LG Smart_H Regular" panose="020B0600000101010101" pitchFamily="34" charset="-127"/>
                  <a:cs typeface="Times New Roman" pitchFamily="18" charset="0"/>
                </a:rPr>
                <a:t>pressure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Filter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Lubricator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Service unit</a:t>
              </a:r>
            </a:p>
          </p:txBody>
        </p:sp>
        <p:pic>
          <p:nvPicPr>
            <p:cNvPr id="31" name="Picture 30"/>
            <p:cNvPicPr>
              <a:picLocks noChangeAspect="1"/>
            </p:cNvPicPr>
            <p:nvPr/>
          </p:nvPicPr>
          <p:blipFill>
            <a:blip r:embed="rId3"/>
            <a:stretch>
              <a:fillRect/>
            </a:stretch>
          </p:blipFill>
          <p:spPr>
            <a:xfrm>
              <a:off x="1052736" y="1281577"/>
              <a:ext cx="1879093" cy="725942"/>
            </a:xfrm>
            <a:prstGeom prst="rect">
              <a:avLst/>
            </a:prstGeom>
          </p:spPr>
        </p:pic>
      </p:grpSp>
      <p:grpSp>
        <p:nvGrpSpPr>
          <p:cNvPr id="6" name="Group 5"/>
          <p:cNvGrpSpPr/>
          <p:nvPr/>
        </p:nvGrpSpPr>
        <p:grpSpPr>
          <a:xfrm>
            <a:off x="259544" y="6215752"/>
            <a:ext cx="3180502" cy="969496"/>
            <a:chOff x="259544" y="6211396"/>
            <a:chExt cx="3180502" cy="969496"/>
          </a:xfrm>
        </p:grpSpPr>
        <p:sp>
          <p:nvSpPr>
            <p:cNvPr id="30" name="Rectangle 7"/>
            <p:cNvSpPr>
              <a:spLocks noChangeArrowheads="1"/>
            </p:cNvSpPr>
            <p:nvPr/>
          </p:nvSpPr>
          <p:spPr bwMode="auto">
            <a:xfrm>
              <a:off x="259544" y="621139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trong+ngoài.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453" y="6537176"/>
              <a:ext cx="1077523" cy="53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2" name="Rectangle 7"/>
          <p:cNvSpPr>
            <a:spLocks noChangeArrowheads="1"/>
          </p:cNvSpPr>
          <p:nvPr/>
        </p:nvSpPr>
        <p:spPr bwMode="auto">
          <a:xfrm>
            <a:off x="243036" y="786464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Filter là thiết bị xử lý các tín hiệu nhiễu loạn có trong thành phần khí nén trong đó có bụi.Bộ lọc chính xác có thể loại bỏ hạt bụi có đường kính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Trên </a:t>
            </a:r>
            <a:r>
              <a:rPr lang="vi-VN" altLang="ko-KR" sz="950" smtClean="0">
                <a:latin typeface="Times New Roman" pitchFamily="18" charset="0"/>
                <a:ea typeface="LG Smart_H Regular" panose="020B0600000101010101" pitchFamily="34" charset="-127"/>
                <a:cs typeface="Times New Roman" pitchFamily="18" charset="0"/>
              </a:rPr>
              <a:t>50um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30um~45um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5um~20um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a:t>
            </a:r>
            <a:r>
              <a:rPr lang="vi-VN" altLang="ko-KR" sz="950" smtClean="0">
                <a:latin typeface="Times New Roman" pitchFamily="18" charset="0"/>
                <a:ea typeface="LG Smart_H Regular" panose="020B0600000101010101" pitchFamily="34" charset="-127"/>
                <a:cs typeface="Times New Roman" pitchFamily="18" charset="0"/>
              </a:rPr>
              <a:t>ưới </a:t>
            </a:r>
            <a:r>
              <a:rPr lang="vi-VN" altLang="ko-KR" sz="950">
                <a:latin typeface="Times New Roman" pitchFamily="18" charset="0"/>
                <a:ea typeface="LG Smart_H Regular" panose="020B0600000101010101" pitchFamily="34" charset="-127"/>
                <a:cs typeface="Times New Roman" pitchFamily="18" charset="0"/>
              </a:rPr>
              <a:t>5um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9" name="Group 8"/>
          <p:cNvGrpSpPr/>
          <p:nvPr/>
        </p:nvGrpSpPr>
        <p:grpSpPr>
          <a:xfrm>
            <a:off x="3473132" y="1092294"/>
            <a:ext cx="3180502" cy="1700466"/>
            <a:chOff x="3473132" y="1096650"/>
            <a:chExt cx="3180502" cy="1700466"/>
          </a:xfrm>
        </p:grpSpPr>
        <p:sp>
          <p:nvSpPr>
            <p:cNvPr id="46" name="Rectangle 7"/>
            <p:cNvSpPr>
              <a:spLocks noChangeArrowheads="1"/>
            </p:cNvSpPr>
            <p:nvPr/>
          </p:nvSpPr>
          <p:spPr bwMode="auto">
            <a:xfrm>
              <a:off x="3473132" y="109665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Đệm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Rod </a:t>
              </a:r>
              <a:r>
                <a:rPr lang="vi-VN" altLang="ko-KR" sz="950" smtClean="0">
                  <a:latin typeface="Times New Roman" pitchFamily="18" charset="0"/>
                  <a:ea typeface="LG Smart_H Regular" panose="020B0600000101010101" pitchFamily="34" charset="-127"/>
                  <a:cs typeface="Times New Roman" pitchFamily="18" charset="0"/>
                </a:rPr>
                <a:t>cover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làm kín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5"/>
            <a:stretch>
              <a:fillRect/>
            </a:stretch>
          </p:blipFill>
          <p:spPr>
            <a:xfrm>
              <a:off x="3819992" y="1299680"/>
              <a:ext cx="2175069" cy="804530"/>
            </a:xfrm>
            <a:prstGeom prst="rect">
              <a:avLst/>
            </a:prstGeom>
          </p:spPr>
        </p:pic>
        <p:sp>
          <p:nvSpPr>
            <p:cNvPr id="7" name="Rectangle 6"/>
            <p:cNvSpPr/>
            <p:nvPr/>
          </p:nvSpPr>
          <p:spPr bwMode="auto">
            <a:xfrm>
              <a:off x="4907526" y="1946883"/>
              <a:ext cx="353090" cy="197805"/>
            </a:xfrm>
            <a:prstGeom prst="rect">
              <a:avLst/>
            </a:prstGeom>
            <a:solidFill>
              <a:schemeClr val="bg1"/>
            </a:solidFill>
            <a:ln w="317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r>
                <a:rPr kumimoji="1" lang="en-US" sz="900" b="0" i="0" u="none" strike="noStrike" cap="none" normalizeH="0" baseline="0" smtClean="0">
                  <a:ln>
                    <a:noFill/>
                  </a:ln>
                  <a:effectLst/>
                  <a:latin typeface="Arial" charset="0"/>
                  <a:ea typeface="돋움" pitchFamily="50" charset="-127"/>
                </a:rPr>
                <a:t>???</a:t>
              </a:r>
            </a:p>
          </p:txBody>
        </p:sp>
      </p:grpSp>
      <p:grpSp>
        <p:nvGrpSpPr>
          <p:cNvPr id="10" name="Group 9"/>
          <p:cNvGrpSpPr/>
          <p:nvPr/>
        </p:nvGrpSpPr>
        <p:grpSpPr>
          <a:xfrm>
            <a:off x="3468850" y="2864768"/>
            <a:ext cx="3180502" cy="1471032"/>
            <a:chOff x="3468850" y="2864768"/>
            <a:chExt cx="3180502" cy="1471032"/>
          </a:xfrm>
        </p:grpSpPr>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smtClean="0">
                  <a:latin typeface="Times New Roman" pitchFamily="18" charset="0"/>
                  <a:ea typeface="LG Smart_H Regular" panose="020B0600000101010101" pitchFamily="34" charset="-127"/>
                  <a:cs typeface="Times New Roman" pitchFamily="18" charset="0"/>
                </a:rPr>
                <a:t>Dùng </a:t>
              </a:r>
              <a:r>
                <a:rPr lang="vi-VN" altLang="ko-KR" sz="950">
                  <a:latin typeface="Times New Roman" pitchFamily="18" charset="0"/>
                  <a:ea typeface="LG Smart_H Regular" panose="020B0600000101010101" pitchFamily="34" charset="-127"/>
                  <a:cs typeface="Times New Roman" pitchFamily="18" charset="0"/>
                </a:rPr>
                <a:t>trong trường hợp tải rung hay có khả năng sẽ rung trong mặt phẳng, cho dù là sẽ chuyển động theo đường thẳng. Đâu không phải kiểu </a:t>
              </a:r>
              <a:r>
                <a:rPr lang="vi-VN" altLang="ko-KR" sz="950" smtClean="0">
                  <a:latin typeface="Times New Roman" pitchFamily="18" charset="0"/>
                  <a:ea typeface="LG Smart_H Regular" panose="020B0600000101010101" pitchFamily="34" charset="-127"/>
                  <a:cs typeface="Times New Roman" pitchFamily="18" charset="0"/>
                </a:rPr>
                <a:t>trunnion)?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47"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9817" y="3990608"/>
              <a:ext cx="630686" cy="345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652" y="3492908"/>
              <a:ext cx="576467" cy="347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224" y="3481842"/>
              <a:ext cx="605279" cy="358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2252" y="3968360"/>
              <a:ext cx="565599" cy="31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2" name="Group 11"/>
          <p:cNvGrpSpPr/>
          <p:nvPr/>
        </p:nvGrpSpPr>
        <p:grpSpPr>
          <a:xfrm>
            <a:off x="3449538" y="4991616"/>
            <a:ext cx="3180502" cy="969496"/>
            <a:chOff x="3449538" y="4991616"/>
            <a:chExt cx="3180502" cy="969496"/>
          </a:xfrm>
        </p:grpSpPr>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Đây là ký hiệu của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5184" y="5279485"/>
              <a:ext cx="1089694" cy="609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Group 12"/>
          <p:cNvGrpSpPr/>
          <p:nvPr/>
        </p:nvGrpSpPr>
        <p:grpSpPr>
          <a:xfrm>
            <a:off x="3473132" y="6357590"/>
            <a:ext cx="3180502" cy="1554272"/>
            <a:chOff x="3473132" y="6357590"/>
            <a:chExt cx="3180502" cy="1554272"/>
          </a:xfrm>
        </p:grpSpPr>
        <p:sp>
          <p:nvSpPr>
            <p:cNvPr id="52" name="Rectangle 7"/>
            <p:cNvSpPr>
              <a:spLocks noChangeArrowheads="1"/>
            </p:cNvSpPr>
            <p:nvPr/>
          </p:nvSpPr>
          <p:spPr bwMode="auto">
            <a:xfrm>
              <a:off x="3473132" y="635759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là gải thích ký hiệu sai về van điều khiển </a:t>
              </a:r>
              <a:r>
                <a:rPr lang="vi-VN" altLang="ko-KR" sz="950" smtClean="0">
                  <a:latin typeface="Times New Roman" pitchFamily="18" charset="0"/>
                  <a:ea typeface="LG Smart_H Regular" panose="020B0600000101010101" pitchFamily="34" charset="-127"/>
                  <a:cs typeface="Times New Roman" pitchFamily="18" charset="0"/>
                </a:rPr>
                <a:t>hướng?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ô vuông là số vị trí điều khiển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r>
                <a:rPr lang="vi-VN" altLang="ko-KR" sz="950" smtClean="0">
                  <a:latin typeface="Times New Roman" pitchFamily="18" charset="0"/>
                  <a:ea typeface="LG Smart_H Regular" panose="020B0600000101010101" pitchFamily="34" charset="-127"/>
                  <a:cs typeface="Times New Roman" pitchFamily="18" charset="0"/>
                </a:rPr>
                <a:t>ý </a:t>
              </a:r>
              <a:r>
                <a:rPr lang="vi-VN" altLang="ko-KR" sz="950">
                  <a:latin typeface="Times New Roman" pitchFamily="18" charset="0"/>
                  <a:ea typeface="LG Smart_H Regular" panose="020B0600000101010101" pitchFamily="34" charset="-127"/>
                  <a:cs typeface="Times New Roman" pitchFamily="18" charset="0"/>
                </a:rPr>
                <a:t>hiệu T là dòng chảy bị ngắt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Đường thẳng thể hiện hướng </a:t>
              </a:r>
              <a:r>
                <a:rPr lang="vi-VN" altLang="ko-KR" sz="950" smtClean="0">
                  <a:latin typeface="Times New Roman" pitchFamily="18" charset="0"/>
                  <a:ea typeface="LG Smart_H Regular" panose="020B0600000101010101" pitchFamily="34" charset="-127"/>
                  <a:cs typeface="Times New Roman" pitchFamily="18" charset="0"/>
                </a:rPr>
                <a:t>chảy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van </a:t>
              </a:r>
              <a:r>
                <a:rPr lang="en-US" altLang="ko-KR" sz="950" smtClean="0">
                  <a:latin typeface="Times New Roman" pitchFamily="18" charset="0"/>
                  <a:ea typeface="LG Smart_H Regular" panose="020B0600000101010101" pitchFamily="34" charset="-127"/>
                  <a:cs typeface="Times New Roman" pitchFamily="18" charset="0"/>
                </a:rPr>
                <a:t>bằng</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vạch ngắn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bên </a:t>
              </a:r>
              <a:r>
                <a:rPr lang="vi-VN" altLang="ko-KR" sz="950">
                  <a:latin typeface="Times New Roman" pitchFamily="18" charset="0"/>
                  <a:ea typeface="LG Smart_H Regular" panose="020B0600000101010101" pitchFamily="34" charset="-127"/>
                  <a:cs typeface="Times New Roman" pitchFamily="18" charset="0"/>
                </a:rPr>
                <a:t>ngoài hình vuông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1" name="Picture 60"/>
            <p:cNvPicPr>
              <a:picLocks noChangeAspect="1"/>
            </p:cNvPicPr>
            <p:nvPr/>
          </p:nvPicPr>
          <p:blipFill>
            <a:blip r:embed="rId11"/>
            <a:stretch>
              <a:fillRect/>
            </a:stretch>
          </p:blipFill>
          <p:spPr>
            <a:xfrm>
              <a:off x="5630031" y="6611358"/>
              <a:ext cx="607281" cy="204101"/>
            </a:xfrm>
            <a:prstGeom prst="rect">
              <a:avLst/>
            </a:prstGeom>
          </p:spPr>
        </p:pic>
        <p:pic>
          <p:nvPicPr>
            <p:cNvPr id="62" name="Picture 61"/>
            <p:cNvPicPr>
              <a:picLocks noChangeAspect="1"/>
            </p:cNvPicPr>
            <p:nvPr/>
          </p:nvPicPr>
          <p:blipFill>
            <a:blip r:embed="rId12"/>
            <a:stretch>
              <a:fillRect/>
            </a:stretch>
          </p:blipFill>
          <p:spPr>
            <a:xfrm>
              <a:off x="5652885" y="7257256"/>
              <a:ext cx="584427" cy="184329"/>
            </a:xfrm>
            <a:prstGeom prst="rect">
              <a:avLst/>
            </a:prstGeom>
          </p:spPr>
        </p:pic>
        <p:pic>
          <p:nvPicPr>
            <p:cNvPr id="63" name="Picture 62"/>
            <p:cNvPicPr>
              <a:picLocks noChangeAspect="1"/>
            </p:cNvPicPr>
            <p:nvPr/>
          </p:nvPicPr>
          <p:blipFill>
            <a:blip r:embed="rId13"/>
            <a:stretch>
              <a:fillRect/>
            </a:stretch>
          </p:blipFill>
          <p:spPr>
            <a:xfrm>
              <a:off x="5630031" y="6897217"/>
              <a:ext cx="607282" cy="237510"/>
            </a:xfrm>
            <a:prstGeom prst="rect">
              <a:avLst/>
            </a:prstGeom>
          </p:spPr>
        </p:pic>
        <p:pic>
          <p:nvPicPr>
            <p:cNvPr id="64" name="Picture 63"/>
            <p:cNvPicPr>
              <a:picLocks noChangeAspect="1"/>
            </p:cNvPicPr>
            <p:nvPr/>
          </p:nvPicPr>
          <p:blipFill>
            <a:blip r:embed="rId14"/>
            <a:stretch>
              <a:fillRect/>
            </a:stretch>
          </p:blipFill>
          <p:spPr>
            <a:xfrm>
              <a:off x="5654982" y="7545288"/>
              <a:ext cx="582331" cy="216024"/>
            </a:xfrm>
            <a:prstGeom prst="rect">
              <a:avLst/>
            </a:prstGeom>
          </p:spPr>
        </p:pic>
      </p:grpSp>
      <p:grpSp>
        <p:nvGrpSpPr>
          <p:cNvPr id="2" name="Group 1"/>
          <p:cNvGrpSpPr/>
          <p:nvPr/>
        </p:nvGrpSpPr>
        <p:grpSpPr>
          <a:xfrm>
            <a:off x="248498" y="2894672"/>
            <a:ext cx="3180502" cy="1626280"/>
            <a:chOff x="248498" y="2894672"/>
            <a:chExt cx="3180502" cy="1626280"/>
          </a:xfrm>
        </p:grpSpPr>
        <p:grpSp>
          <p:nvGrpSpPr>
            <p:cNvPr id="5" name="Group 4"/>
            <p:cNvGrpSpPr/>
            <p:nvPr/>
          </p:nvGrpSpPr>
          <p:grpSpPr>
            <a:xfrm>
              <a:off x="248498" y="2894672"/>
              <a:ext cx="3180502" cy="1626280"/>
              <a:chOff x="248498" y="2894672"/>
              <a:chExt cx="3180502" cy="1626280"/>
            </a:xfrm>
          </p:grpSpPr>
          <p:sp>
            <p:nvSpPr>
              <p:cNvPr id="40" name="Rectangle 7"/>
              <p:cNvSpPr>
                <a:spLocks noChangeArrowheads="1"/>
              </p:cNvSpPr>
              <p:nvPr/>
            </p:nvSpPr>
            <p:spPr bwMode="auto">
              <a:xfrm>
                <a:off x="248498" y="2894672"/>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Áp dụng nguyên lý di chuyển động lực học của không khi để quay đĩa quay với tốc độ cao, tăng lượng chuyển động của chất khí thông qua cánh từ đó làm tăng  tốc độ và áp suất.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về MNK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49" name="Picture 4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0688" y="3594345"/>
                <a:ext cx="398346"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04864" y="3620675"/>
                <a:ext cx="363861"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04864" y="4098401"/>
                <a:ext cx="465779"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5" name="Picture 5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7924" y="4098400"/>
              <a:ext cx="386518"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1509651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01848"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 name="Rectangle 243"/>
          <p:cNvSpPr>
            <a:spLocks noChangeArrowheads="1"/>
          </p:cNvSpPr>
          <p:nvPr/>
        </p:nvSpPr>
        <p:spPr bwMode="auto">
          <a:xfrm>
            <a:off x="233091" y="5133454"/>
            <a:ext cx="331311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gỉ</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thước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50~75</a:t>
            </a:r>
            <a:r>
              <a:rPr lang="en-US" altLang="ko-KR" sz="950" dirty="0" smtClean="0">
                <a:latin typeface="Times New Roman" pitchFamily="18" charset="0"/>
                <a:cs typeface="Times New Roman" pitchFamily="18" charset="0"/>
              </a:rPr>
              <a:t>㎛</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Main line </a:t>
            </a:r>
            <a:r>
              <a:rPr lang="en-US" altLang="ko-KR" sz="950" smtClean="0">
                <a:latin typeface="Times New Roman" pitchFamily="18" charset="0"/>
                <a:cs typeface="Times New Roman" pitchFamily="18" charset="0"/>
              </a:rPr>
              <a:t>filter</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Air </a:t>
            </a:r>
            <a:r>
              <a:rPr lang="en-US" altLang="ko-KR" sz="950" smtClean="0">
                <a:latin typeface="Times New Roman" pitchFamily="18" charset="0"/>
                <a:cs typeface="Times New Roman" pitchFamily="18" charset="0"/>
              </a:rPr>
              <a:t>dryer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a:t>
            </a:r>
            <a:endParaRPr lang="ko-KR" altLang="en-US" sz="950" dirty="0">
              <a:latin typeface="Times New Roman" pitchFamily="18" charset="0"/>
              <a:cs typeface="Times New Roman" pitchFamily="18" charset="0"/>
            </a:endParaRPr>
          </a:p>
        </p:txBody>
      </p:sp>
      <p:sp>
        <p:nvSpPr>
          <p:cNvPr id="8" name="Rectangle 121"/>
          <p:cNvSpPr>
            <a:spLocks noChangeArrowheads="1"/>
          </p:cNvSpPr>
          <p:nvPr/>
        </p:nvSpPr>
        <p:spPr bwMode="auto">
          <a:xfrm>
            <a:off x="223566" y="7062425"/>
            <a:ext cx="313372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mạch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loại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trao</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đổi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vào</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thảo</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hồi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mạch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hay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nhớt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đồng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nối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sảy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Ở </a:t>
            </a:r>
            <a:r>
              <a:rPr lang="en-US" altLang="ko-KR" sz="950" dirty="0" err="1">
                <a:latin typeface="Times New Roman" pitchFamily="18" charset="0"/>
                <a:cs typeface="Times New Roman" pitchFamily="18" charset="0"/>
              </a:rPr>
              <a:t>khía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cạnh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di </a:t>
            </a:r>
            <a:r>
              <a:rPr lang="en-US" altLang="ko-KR" sz="950" dirty="0" err="1">
                <a:latin typeface="Times New Roman" pitchFamily="18" charset="0"/>
                <a:cs typeface="Times New Roman" pitchFamily="18" charset="0"/>
              </a:rPr>
              <a:t>chuyển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lắp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đến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góc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a:t>
            </a:r>
          </a:p>
          <a:p>
            <a:pPr eaLnBrk="1" hangingPunct="1"/>
            <a:endParaRPr lang="en-US" altLang="ko-KR" sz="950" dirty="0">
              <a:latin typeface="Times New Roman" pitchFamily="18" charset="0"/>
              <a:cs typeface="Times New Roman" pitchFamily="18" charset="0"/>
            </a:endParaRPr>
          </a:p>
        </p:txBody>
      </p:sp>
      <p:sp>
        <p:nvSpPr>
          <p:cNvPr id="9" name="Rectangle 34"/>
          <p:cNvSpPr>
            <a:spLocks noChangeArrowheads="1"/>
          </p:cNvSpPr>
          <p:nvPr/>
        </p:nvSpPr>
        <p:spPr bwMode="auto">
          <a:xfrm>
            <a:off x="233090" y="2576736"/>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Cylinder </a:t>
            </a:r>
            <a:r>
              <a:rPr lang="en-US" altLang="ko-KR" sz="950" err="1" smtClean="0">
                <a:latin typeface="Times New Roman" pitchFamily="18" charset="0"/>
                <a:cs typeface="Times New Roman" pitchFamily="18" charset="0"/>
              </a:rPr>
              <a:t>thép</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Compact cylinder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do</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Tie Rod Cylinder</a:t>
            </a:r>
            <a:endParaRPr lang="ko-KR" altLang="en-US" sz="950" dirty="0">
              <a:latin typeface="Times New Roman" pitchFamily="18" charset="0"/>
              <a:cs typeface="Times New Roman" pitchFamily="18" charset="0"/>
            </a:endParaRPr>
          </a:p>
        </p:txBody>
      </p:sp>
      <p:sp>
        <p:nvSpPr>
          <p:cNvPr id="20" name="Rectangle 49"/>
          <p:cNvSpPr>
            <a:spLocks noChangeArrowheads="1"/>
          </p:cNvSpPr>
          <p:nvPr/>
        </p:nvSpPr>
        <p:spPr bwMode="auto">
          <a:xfrm>
            <a:off x="3429000" y="2576736"/>
            <a:ext cx="324036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Chọn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đặc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điểm</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valve </a:t>
            </a:r>
            <a:r>
              <a:rPr lang="en-US" altLang="ko-KR" sz="950" smtClean="0">
                <a:latin typeface="Times New Roman" pitchFamily="18" charset="0"/>
                <a:cs typeface="Times New Roman" pitchFamily="18" charset="0"/>
              </a:rPr>
              <a:t>dạng Poppet ?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Hiệu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Spring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hại</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nhờ</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hợp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hole </a:t>
            </a:r>
            <a:r>
              <a:rPr lang="en-US" altLang="ko-KR" sz="950" dirty="0" err="1">
                <a:latin typeface="Times New Roman" pitchFamily="18" charset="0"/>
                <a:cs typeface="Times New Roman" pitchFamily="18" charset="0"/>
              </a:rPr>
              <a:t>lớn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C.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hơn</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Quãng</a:t>
            </a:r>
            <a:r>
              <a:rPr lang="en-US" altLang="ko-KR" sz="950" dirty="0">
                <a:latin typeface="Times New Roman" pitchFamily="18" charset="0"/>
                <a:cs typeface="Times New Roman" pitchFamily="18" charset="0"/>
              </a:rPr>
              <a:t> </a:t>
            </a:r>
            <a:r>
              <a:rPr lang="en-US" altLang="ko-KR" sz="950" err="1">
                <a:latin typeface="Times New Roman" pitchFamily="18" charset="0"/>
                <a:cs typeface="Times New Roman" pitchFamily="18" charset="0"/>
              </a:rPr>
              <a:t>đường</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di chuyển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hành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ngắn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mở</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nhanh</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21" name="Rectangle 21"/>
          <p:cNvSpPr>
            <a:spLocks noChangeArrowheads="1"/>
          </p:cNvSpPr>
          <p:nvPr/>
        </p:nvSpPr>
        <p:spPr bwMode="auto">
          <a:xfrm>
            <a:off x="3429000" y="4808984"/>
            <a:ext cx="3268220" cy="183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Ejector?</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pump chân</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không </a:t>
            </a:r>
            <a:r>
              <a:rPr lang="en-US" altLang="ko-KR" sz="950" dirty="0" err="1" smtClean="0">
                <a:latin typeface="Times New Roman" pitchFamily="18" charset="0"/>
                <a:cs typeface="Times New Roman" pitchFamily="18" charset="0"/>
              </a:rPr>
              <a:t>khác</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tế</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tỷ</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lệ</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cấp</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chi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lặp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 ON-OFF </a:t>
            </a:r>
            <a:r>
              <a:rPr lang="en-US" altLang="ko-KR" sz="950" dirty="0" err="1" smtClean="0">
                <a:latin typeface="Times New Roman" pitchFamily="18" charset="0"/>
                <a:cs typeface="Times New Roman" pitchFamily="18" charset="0"/>
              </a:rPr>
              <a:t>nhiều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endParaRPr lang="en-US" altLang="ko-KR" sz="950" dirty="0">
              <a:latin typeface="Times New Roman" pitchFamily="18" charset="0"/>
              <a:cs typeface="Times New Roman" pitchFamily="18" charset="0"/>
            </a:endParaRPr>
          </a:p>
        </p:txBody>
      </p:sp>
      <p:sp>
        <p:nvSpPr>
          <p:cNvPr id="22" name="Rectangle 13"/>
          <p:cNvSpPr>
            <a:spLocks noChangeArrowheads="1"/>
          </p:cNvSpPr>
          <p:nvPr/>
        </p:nvSpPr>
        <p:spPr bwMode="auto">
          <a:xfrm>
            <a:off x="3429000" y="6897216"/>
            <a:ext cx="324036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cơ</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smtClean="0">
                <a:latin typeface="Times New Roman" pitchFamily="18" charset="0"/>
                <a:cs typeface="Times New Roman" pitchFamily="18" charset="0"/>
              </a:rPr>
              <a:t>pin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endParaRPr lang="ko-KR" altLang="en-US" sz="950" dirty="0">
              <a:latin typeface="Times New Roman" pitchFamily="18" charset="0"/>
              <a:cs typeface="Times New Roman" pitchFamily="18" charset="0"/>
            </a:endParaRPr>
          </a:p>
        </p:txBody>
      </p:sp>
      <p:grpSp>
        <p:nvGrpSpPr>
          <p:cNvPr id="26" name="Group 25"/>
          <p:cNvGrpSpPr/>
          <p:nvPr/>
        </p:nvGrpSpPr>
        <p:grpSpPr>
          <a:xfrm>
            <a:off x="260648" y="3779837"/>
            <a:ext cx="3124200" cy="969496"/>
            <a:chOff x="3356992" y="3779837"/>
            <a:chExt cx="3124200" cy="969496"/>
          </a:xfrm>
        </p:grpSpPr>
        <p:sp>
          <p:nvSpPr>
            <p:cNvPr id="27" name="Rectangle 39"/>
            <p:cNvSpPr>
              <a:spLocks noChangeArrowheads="1"/>
            </p:cNvSpPr>
            <p:nvPr/>
          </p:nvSpPr>
          <p:spPr bwMode="auto">
            <a:xfrm>
              <a:off x="3356992" y="3779837"/>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53.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Van Speed Control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Van Check</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Van tiết lưu Needle</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 Van Pilot</a:t>
              </a:r>
              <a:endParaRPr lang="en-US" altLang="ko-KR" sz="950" dirty="0">
                <a:latin typeface="Times New Roman" pitchFamily="18" charset="0"/>
                <a:ea typeface="돋움" pitchFamily="50" charset="-127"/>
                <a:cs typeface="Times New Roman" pitchFamily="18" charset="0"/>
              </a:endParaRPr>
            </a:p>
          </p:txBody>
        </p:sp>
        <p:pic>
          <p:nvPicPr>
            <p:cNvPr id="28" name="Picture 40" descr="Untitled-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0988" y="4078609"/>
              <a:ext cx="685800" cy="51435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32" name="Rectangle 111"/>
          <p:cNvSpPr>
            <a:spLocks noChangeArrowheads="1"/>
          </p:cNvSpPr>
          <p:nvPr/>
        </p:nvSpPr>
        <p:spPr bwMode="auto">
          <a:xfrm>
            <a:off x="3499195" y="8049344"/>
            <a:ext cx="3130639"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None/>
            </a:pPr>
            <a:r>
              <a:rPr lang="en-US" altLang="ko-KR" sz="950" smtClean="0">
                <a:latin typeface="Arial Narrow" pitchFamily="34" charset="0"/>
                <a:ea typeface="LG Smart_H Regular" panose="020B0600000101010101" pitchFamily="34" charset="-127"/>
                <a:cs typeface="Times New Roman" pitchFamily="18" charset="0"/>
              </a:rPr>
              <a:t>60. </a:t>
            </a:r>
            <a:r>
              <a:rPr lang="vi-VN" sz="950" smtClean="0">
                <a:latin typeface="Times New Roman" pitchFamily="18" charset="0"/>
                <a:ea typeface="LG Smart_H Regular" panose="020B0600000101010101" pitchFamily="34" charset="-127"/>
                <a:cs typeface="Times New Roman" pitchFamily="18" charset="0"/>
              </a:rPr>
              <a:t>Van </a:t>
            </a:r>
            <a:r>
              <a:rPr lang="vi-VN" sz="950">
                <a:latin typeface="Times New Roman" pitchFamily="18" charset="0"/>
                <a:ea typeface="LG Smart_H Regular" panose="020B0600000101010101" pitchFamily="34" charset="-127"/>
                <a:cs typeface="Times New Roman" pitchFamily="18" charset="0"/>
              </a:rPr>
              <a:t>điều khiển bằng áp suất ngoài thay cho lò xo </a:t>
            </a:r>
            <a:endParaRPr lang="en-US" sz="950" smtClean="0">
              <a:latin typeface="Arial Narrow" pitchFamily="34" charset="0"/>
              <a:ea typeface="LG Smart_H Regular" panose="020B0600000101010101" pitchFamily="34" charset="-127"/>
              <a:cs typeface="Times New Roman" pitchFamily="18" charset="0"/>
            </a:endParaRPr>
          </a:p>
          <a:p>
            <a:pPr marL="171450" eaLnBrk="1" hangingPunct="1">
              <a:spcBef>
                <a:spcPct val="0"/>
              </a:spcBef>
              <a:buNone/>
            </a:pPr>
            <a:r>
              <a:rPr lang="vi-VN" sz="950" smtClean="0">
                <a:latin typeface="Times New Roman" pitchFamily="18" charset="0"/>
                <a:ea typeface="LG Smart_H Regular" panose="020B0600000101010101" pitchFamily="34" charset="-127"/>
                <a:cs typeface="Times New Roman" pitchFamily="18" charset="0"/>
              </a:rPr>
              <a:t>điều </a:t>
            </a:r>
            <a:r>
              <a:rPr lang="vi-VN" sz="950">
                <a:latin typeface="Times New Roman" pitchFamily="18" charset="0"/>
                <a:ea typeface="LG Smart_H Regular" panose="020B0600000101010101" pitchFamily="34" charset="-127"/>
                <a:cs typeface="Times New Roman" pitchFamily="18" charset="0"/>
              </a:rPr>
              <a:t>chỉnh của van giảm áp là gì</a:t>
            </a:r>
            <a:r>
              <a:rPr lang="vi-VN" sz="950" smtClean="0">
                <a:latin typeface="Times New Roman" pitchFamily="18" charset="0"/>
                <a:ea typeface="LG Smart_H Regular" panose="020B0600000101010101" pitchFamily="34" charset="-127"/>
                <a:cs typeface="Times New Roman" pitchFamily="18" charset="0"/>
              </a:rPr>
              <a:t>?</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tác động trực tiếp </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pilot bên trong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pilot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pilot bên ngoài </a:t>
            </a:r>
            <a:endParaRPr lang="ko-KR" altLang="en-US" sz="950" dirty="0">
              <a:latin typeface="Arial Narrow" pitchFamily="34" charset="0"/>
              <a:ea typeface="LG Smart_H Regular" panose="020B0600000101010101" pitchFamily="34" charset="-127"/>
              <a:cs typeface="Times New Roman" pitchFamily="18" charset="0"/>
            </a:endParaRPr>
          </a:p>
        </p:txBody>
      </p:sp>
      <p:sp>
        <p:nvSpPr>
          <p:cNvPr id="33" name="Rectangle 58"/>
          <p:cNvSpPr>
            <a:spLocks noChangeArrowheads="1"/>
          </p:cNvSpPr>
          <p:nvPr/>
        </p:nvSpPr>
        <p:spPr bwMode="auto">
          <a:xfrm>
            <a:off x="233412" y="92055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hangingPunct="1">
              <a:spcBef>
                <a:spcPct val="0"/>
              </a:spcBef>
              <a:spcAft>
                <a:spcPct val="0"/>
              </a:spcAft>
            </a:pPr>
            <a:r>
              <a:rPr lang="en-US" altLang="ko-KR" sz="950">
                <a:latin typeface="Arial Narrow" pitchFamily="34" charset="0"/>
                <a:ea typeface="LG Smart_H Regular" panose="020B0600000101010101" pitchFamily="34" charset="-127"/>
                <a:cs typeface="Times New Roman" pitchFamily="18" charset="0"/>
              </a:rPr>
              <a:t>5</a:t>
            </a:r>
            <a:r>
              <a:rPr lang="en-US" altLang="ko-KR" sz="950" smtClean="0">
                <a:latin typeface="Arial Narrow" pitchFamily="34" charset="0"/>
                <a:ea typeface="LG Smart_H Regular" panose="020B0600000101010101" pitchFamily="34" charset="-127"/>
                <a:cs typeface="Times New Roman" pitchFamily="18" charset="0"/>
              </a:rPr>
              <a:t>1.  </a:t>
            </a: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cấu tạo của </a:t>
            </a:r>
            <a:r>
              <a:rPr lang="vi-VN" altLang="ko-KR" sz="950" smtClean="0">
                <a:latin typeface="Times New Roman" pitchFamily="18" charset="0"/>
                <a:ea typeface="LG Smart_H Regular" panose="020B0600000101010101" pitchFamily="34" charset="-127"/>
                <a:cs typeface="Times New Roman" pitchFamily="18" charset="0"/>
              </a:rPr>
              <a:t>Cylinder(cylinder</a:t>
            </a:r>
            <a:r>
              <a:rPr lang="vi-VN" altLang="ko-KR" sz="950">
                <a:latin typeface="Times New Roman" pitchFamily="18" charset="0"/>
                <a:ea typeface="LG Smart_H Regular" panose="020B0600000101010101" pitchFamily="34" charset="-127"/>
                <a:cs typeface="Times New Roman" pitchFamily="18" charset="0"/>
              </a:rPr>
              <a:t>) khí nén, phần nào truyền chuyển động trượt bên trong ống </a:t>
            </a:r>
            <a:r>
              <a:rPr lang="vi-VN" altLang="ko-KR" sz="950" smtClean="0">
                <a:latin typeface="Times New Roman" pitchFamily="18" charset="0"/>
                <a:ea typeface="LG Smart_H Regular" panose="020B0600000101010101" pitchFamily="34" charset="-127"/>
                <a:cs typeface="Times New Roman" pitchFamily="18" charset="0"/>
              </a:rPr>
              <a:t>Cylinder</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(cylinder </a:t>
            </a:r>
            <a:r>
              <a:rPr lang="vi-VN" altLang="ko-KR" sz="950">
                <a:latin typeface="Times New Roman" pitchFamily="18" charset="0"/>
                <a:ea typeface="LG Smart_H Regular" panose="020B0600000101010101" pitchFamily="34" charset="-127"/>
                <a:cs typeface="Times New Roman" pitchFamily="18" charset="0"/>
              </a:rPr>
              <a:t>tube) dưới áp suất không khí và va chạm trên head cover với tốc độ cao? </a:t>
            </a:r>
            <a:endParaRPr lang="en-US" altLang="ko-KR" sz="950" dirty="0">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Arial Narrow" pitchFamily="34" charset="0"/>
                <a:ea typeface="LG Smart_H Regular" panose="020B0600000101010101" pitchFamily="34" charset="-127"/>
                <a:cs typeface="Times New Roman" pitchFamily="18" charset="0"/>
              </a:rPr>
              <a:t> A. </a:t>
            </a:r>
            <a:r>
              <a:rPr lang="vi-VN" altLang="ko-KR" sz="950">
                <a:latin typeface="Times New Roman" pitchFamily="18" charset="0"/>
                <a:cs typeface="Times New Roman" pitchFamily="18" charset="0"/>
              </a:rPr>
              <a:t>Cushioning </a:t>
            </a:r>
            <a:r>
              <a:rPr lang="en-US" altLang="ko-KR" sz="950" smtClean="0">
                <a:latin typeface="Arial Narrow" pitchFamily="34" charset="0"/>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B</a:t>
            </a:r>
            <a:r>
              <a:rPr lang="en-US" altLang="ko-KR" sz="950">
                <a:latin typeface="Arial Narrow" pitchFamily="34" charset="0"/>
                <a:ea typeface="LG Smart_H Regular" panose="020B0600000101010101" pitchFamily="34" charset="-127"/>
                <a:cs typeface="Times New Roman" pitchFamily="18" charset="0"/>
              </a:rPr>
              <a:t>. Piston </a:t>
            </a:r>
            <a:r>
              <a:rPr lang="en-US" altLang="ko-KR" sz="950" smtClean="0">
                <a:latin typeface="Arial Narrow" pitchFamily="34" charset="0"/>
                <a:ea typeface="LG Smart_H Regular" panose="020B0600000101010101" pitchFamily="34" charset="-127"/>
                <a:cs typeface="Times New Roman" pitchFamily="18" charset="0"/>
              </a:rPr>
              <a:t>rod</a:t>
            </a:r>
            <a:endParaRPr lang="ko-KR" altLang="en-US" sz="950" smtClean="0">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ko-KR" altLang="en-US" sz="950" smtClean="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C. </a:t>
            </a:r>
            <a:r>
              <a:rPr lang="vi-VN" altLang="ko-KR" sz="950" smtClean="0">
                <a:latin typeface="Times New Roman" pitchFamily="18" charset="0"/>
                <a:cs typeface="Times New Roman" pitchFamily="18" charset="0"/>
              </a:rPr>
              <a:t>Piston </a:t>
            </a:r>
            <a:r>
              <a:rPr lang="en-US" altLang="ko-KR" sz="950" smtClean="0">
                <a:latin typeface="Arial Narrow" pitchFamily="34" charset="0"/>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D.</a:t>
            </a:r>
            <a:r>
              <a:rPr lang="vi-VN" altLang="ko-KR" sz="950">
                <a:latin typeface="Times New Roman" pitchFamily="18" charset="0"/>
                <a:ea typeface="LG Smart_H Regular" panose="020B0600000101010101" pitchFamily="34" charset="-127"/>
                <a:cs typeface="Times New Roman" pitchFamily="18" charset="0"/>
              </a:rPr>
              <a:t> Bearing bush</a:t>
            </a:r>
          </a:p>
          <a:p>
            <a:pPr eaLnBrk="1" fontAlgn="base" hangingPunct="1">
              <a:spcBef>
                <a:spcPct val="0"/>
              </a:spcBef>
              <a:spcAft>
                <a:spcPct val="0"/>
              </a:spcAft>
            </a:pPr>
            <a:endParaRPr lang="ko-KR" altLang="en-US" sz="950" dirty="0">
              <a:latin typeface="Arial Narrow" pitchFamily="34" charset="0"/>
              <a:ea typeface="LG Smart_H Regular" panose="020B0600000101010101" pitchFamily="34" charset="-127"/>
              <a:cs typeface="Times New Roman" pitchFamily="18" charset="0"/>
            </a:endParaRPr>
          </a:p>
        </p:txBody>
      </p:sp>
      <p:sp>
        <p:nvSpPr>
          <p:cNvPr id="34" name="Rectangle 28"/>
          <p:cNvSpPr>
            <a:spLocks noChangeArrowheads="1"/>
          </p:cNvSpPr>
          <p:nvPr/>
        </p:nvSpPr>
        <p:spPr bwMode="auto">
          <a:xfrm>
            <a:off x="3454570" y="1064568"/>
            <a:ext cx="3110096"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hangingPunct="1">
              <a:spcBef>
                <a:spcPct val="0"/>
              </a:spcBef>
              <a:spcAft>
                <a:spcPct val="0"/>
              </a:spcAft>
            </a:pPr>
            <a:r>
              <a:rPr lang="en-US" altLang="ko-KR" sz="950">
                <a:latin typeface="Arial Narrow" pitchFamily="34" charset="0"/>
                <a:ea typeface="LG Smart_H Regular" panose="020B0600000101010101" pitchFamily="34" charset="-127"/>
                <a:cs typeface="Times New Roman" pitchFamily="18" charset="0"/>
              </a:rPr>
              <a:t>5</a:t>
            </a:r>
            <a:r>
              <a:rPr lang="en-US" altLang="ko-KR" sz="950" smtClean="0">
                <a:latin typeface="Arial Narrow" pitchFamily="34" charset="0"/>
                <a:ea typeface="LG Smart_H Regular" panose="020B0600000101010101" pitchFamily="34" charset="-127"/>
                <a:cs typeface="Times New Roman" pitchFamily="18" charset="0"/>
              </a:rPr>
              <a:t>6.   </a:t>
            </a:r>
            <a:r>
              <a:rPr lang="vi-VN" altLang="ko-KR" sz="950" smtClean="0">
                <a:latin typeface="Times New Roman" pitchFamily="18" charset="0"/>
                <a:ea typeface="LG Smart_H Regular" panose="020B0600000101010101" pitchFamily="34" charset="-127"/>
                <a:cs typeface="Times New Roman" pitchFamily="18" charset="0"/>
              </a:rPr>
              <a:t>Đâu </a:t>
            </a:r>
            <a:r>
              <a:rPr lang="vi-VN" altLang="ko-KR" sz="950" b="1" dirty="0">
                <a:latin typeface="Times New Roman" pitchFamily="18" charset="0"/>
                <a:ea typeface="LG Smart_H Regular" panose="020B0600000101010101" pitchFamily="34" charset="-127"/>
                <a:cs typeface="Times New Roman" pitchFamily="18" charset="0"/>
              </a:rPr>
              <a:t>không phải </a:t>
            </a:r>
            <a:r>
              <a:rPr lang="vi-VN" altLang="ko-KR" sz="950" dirty="0">
                <a:latin typeface="Times New Roman" pitchFamily="18" charset="0"/>
                <a:ea typeface="LG Smart_H Regular" panose="020B0600000101010101" pitchFamily="34" charset="-127"/>
                <a:cs typeface="Times New Roman" pitchFamily="18" charset="0"/>
              </a:rPr>
              <a:t>là đặc tính của máy nén Screw nén không khí sử dụng nguyên lí thay đổi </a:t>
            </a:r>
            <a:r>
              <a:rPr lang="vi-VN" altLang="ko-KR" sz="950">
                <a:latin typeface="Times New Roman" pitchFamily="18" charset="0"/>
                <a:ea typeface="LG Smart_H Regular" panose="020B0600000101010101" pitchFamily="34" charset="-127"/>
                <a:cs typeface="Times New Roman" pitchFamily="18" charset="0"/>
              </a:rPr>
              <a:t>tối ưu</a:t>
            </a:r>
            <a:r>
              <a:rPr lang="en-US" altLang="ko-KR" sz="950" dirty="0">
                <a:latin typeface="Arial Narrow" pitchFamily="34" charset="0"/>
                <a:ea typeface="LG Smart_H Regular" panose="020B0600000101010101" pitchFamily="34" charset="-127"/>
                <a:cs typeface="Times New Roman" pitchFamily="18" charset="0"/>
              </a:rPr>
              <a:t> </a:t>
            </a:r>
            <a:r>
              <a:rPr lang="en-US" altLang="ko-KR" sz="950">
                <a:latin typeface="Arial Narrow" pitchFamily="34" charset="0"/>
                <a:ea typeface="LG Smart_H Regular" panose="020B0600000101010101" pitchFamily="34" charset="-127"/>
                <a:cs typeface="Times New Roman" pitchFamily="18" charset="0"/>
              </a:rPr>
              <a:t>?        </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Tiếng </a:t>
            </a:r>
            <a:r>
              <a:rPr lang="vi-VN" altLang="ko-KR" sz="950" dirty="0">
                <a:latin typeface="Times New Roman" pitchFamily="18" charset="0"/>
                <a:ea typeface="LG Smart_H Regular" panose="020B0600000101010101" pitchFamily="34" charset="-127"/>
                <a:cs typeface="Times New Roman" pitchFamily="18" charset="0"/>
              </a:rPr>
              <a:t>ồn tần số thấp và dễ dàng </a:t>
            </a:r>
            <a:r>
              <a:rPr lang="vi-VN" altLang="ko-KR" sz="950">
                <a:latin typeface="Times New Roman" pitchFamily="18" charset="0"/>
                <a:ea typeface="LG Smart_H Regular" panose="020B0600000101010101" pitchFamily="34" charset="-127"/>
                <a:cs typeface="Times New Roman" pitchFamily="18" charset="0"/>
              </a:rPr>
              <a:t>loại </a:t>
            </a:r>
            <a:r>
              <a:rPr lang="vi-VN" altLang="ko-KR" sz="950" smtClean="0">
                <a:latin typeface="Times New Roman" pitchFamily="18" charset="0"/>
                <a:ea typeface="LG Smart_H Regular" panose="020B0600000101010101" pitchFamily="34" charset="-127"/>
                <a:cs typeface="Times New Roman" pitchFamily="18" charset="0"/>
              </a:rPr>
              <a:t>bỏ</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sz="950">
                <a:latin typeface="Times New Roman" pitchFamily="18" charset="0"/>
                <a:ea typeface="LG Smart_H Regular" panose="020B0600000101010101" pitchFamily="34" charset="-127"/>
                <a:cs typeface="Times New Roman" pitchFamily="18" charset="0"/>
              </a:rPr>
              <a:t>Không rung và không cần Tank Air</a:t>
            </a:r>
            <a:r>
              <a:rPr lang="en-US" sz="950" dirty="0">
                <a:latin typeface="Arial Narrow" pitchFamily="34" charset="0"/>
                <a:ea typeface="LG Smart_H Regular" panose="020B0600000101010101" pitchFamily="34" charset="-127"/>
                <a:cs typeface="Times New Roman" pitchFamily="18" charset="0"/>
              </a:rPr>
              <a:t> </a:t>
            </a:r>
            <a:r>
              <a:rPr lang="vi-VN" sz="950">
                <a:latin typeface="Times New Roman" pitchFamily="18" charset="0"/>
                <a:ea typeface="LG Smart_H Regular" panose="020B0600000101010101" pitchFamily="34" charset="-127"/>
                <a:cs typeface="Times New Roman" pitchFamily="18" charset="0"/>
              </a:rPr>
              <a:t>lớn</a:t>
            </a:r>
            <a:r>
              <a:rPr lang="en-US" sz="950" dirty="0">
                <a:latin typeface="Arial Narrow" pitchFamily="34" charset="0"/>
                <a:ea typeface="LG Smart_H Regular" panose="020B0600000101010101" pitchFamily="34" charset="-127"/>
                <a:cs typeface="Times New Roman" pitchFamily="18" charset="0"/>
              </a:rPr>
              <a:t> </a:t>
            </a:r>
            <a:endParaRPr lang="en-US" sz="950" dirty="0" smtClean="0">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sz="950" smtClean="0">
                <a:latin typeface="Times New Roman" pitchFamily="18" charset="0"/>
                <a:ea typeface="LG Smart_H Regular" panose="020B0600000101010101" pitchFamily="34" charset="-127"/>
                <a:cs typeface="Times New Roman" pitchFamily="18" charset="0"/>
              </a:rPr>
              <a:t>Bên </a:t>
            </a:r>
            <a:r>
              <a:rPr lang="vi-VN" sz="950" dirty="0">
                <a:latin typeface="Times New Roman" pitchFamily="18" charset="0"/>
                <a:ea typeface="LG Smart_H Regular" panose="020B0600000101010101" pitchFamily="34" charset="-127"/>
                <a:cs typeface="Times New Roman" pitchFamily="18" charset="0"/>
              </a:rPr>
              <a:t>trong máy nén có ít  nhiễu </a:t>
            </a:r>
            <a:r>
              <a:rPr lang="vi-VN" sz="950">
                <a:latin typeface="Times New Roman" pitchFamily="18" charset="0"/>
                <a:ea typeface="LG Smart_H Regular" panose="020B0600000101010101" pitchFamily="34" charset="-127"/>
                <a:cs typeface="Times New Roman" pitchFamily="18" charset="0"/>
              </a:rPr>
              <a:t>loạn </a:t>
            </a:r>
            <a:r>
              <a:rPr lang="vi-VN" sz="950" smtClean="0">
                <a:latin typeface="Times New Roman" pitchFamily="18" charset="0"/>
                <a:ea typeface="LG Smart_H Regular" panose="020B0600000101010101" pitchFamily="34" charset="-127"/>
                <a:cs typeface="Times New Roman" pitchFamily="18" charset="0"/>
              </a:rPr>
              <a:t>nên</a:t>
            </a:r>
            <a:r>
              <a:rPr lang="en-US" sz="950" smtClean="0">
                <a:latin typeface="Arial Narrow" pitchFamily="34"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không cần</a:t>
            </a:r>
            <a:r>
              <a:rPr lang="en-US" sz="950" smtClean="0">
                <a:latin typeface="Arial Narrow" pitchFamily="34"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bôi trơn</a:t>
            </a:r>
            <a:endParaRPr lang="en-US" sz="950" smtClean="0">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Arial Narrow" pitchFamily="34"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Có </a:t>
            </a:r>
            <a:r>
              <a:rPr lang="vi-VN" altLang="ko-KR" sz="950">
                <a:latin typeface="Times New Roman" pitchFamily="18" charset="0"/>
                <a:ea typeface="LG Smart_H Regular" panose="020B0600000101010101" pitchFamily="34" charset="-127"/>
                <a:cs typeface="Times New Roman" pitchFamily="18" charset="0"/>
              </a:rPr>
              <a:t>thể tạo ra áp suất lớn và khả năng quay tốc </a:t>
            </a:r>
            <a:r>
              <a:rPr lang="vi-VN" altLang="ko-KR" sz="950" smtClean="0">
                <a:latin typeface="Times New Roman" pitchFamily="18" charset="0"/>
                <a:ea typeface="LG Smart_H Regular" panose="020B0600000101010101" pitchFamily="34" charset="-127"/>
                <a:cs typeface="Times New Roman" pitchFamily="18" charset="0"/>
              </a:rPr>
              <a:t>độ</a:t>
            </a:r>
            <a:r>
              <a:rPr lang="en-US" altLang="ko-KR" sz="950" smtClean="0">
                <a:latin typeface="Arial Narrow" pitchFamily="34"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ko-KR" altLang="en-US" sz="950" dirty="0">
              <a:latin typeface="Arial Narrow" pitchFamily="34"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15263122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Coupling nào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Clamp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Seller’s </a:t>
            </a:r>
            <a:r>
              <a:rPr lang="en-US"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Muff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Universal </a:t>
            </a:r>
            <a:r>
              <a:rPr lang="en-US" altLang="ko-KR" sz="950" smtClean="0">
                <a:latin typeface="Times New Roman" pitchFamily="18" charset="0"/>
                <a:ea typeface="LG Smart_H Regular" panose="020B0600000101010101" pitchFamily="34" charset="-127"/>
                <a:cs typeface="Times New Roman" pitchFamily="18" charset="0"/>
              </a:rPr>
              <a:t>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đai Belt hình chữ </a:t>
            </a:r>
            <a:r>
              <a:rPr lang="vi-VN" altLang="ko-KR" sz="950" smtClean="0">
                <a:latin typeface="Times New Roman" pitchFamily="18" charset="0"/>
                <a:ea typeface="LG Smart_H Regular" panose="020B0600000101010101" pitchFamily="34" charset="-127"/>
                <a:cs typeface="Times New Roman" pitchFamily="18" charset="0"/>
              </a:rPr>
              <a:t>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dài của belt có thể thay </a:t>
            </a:r>
            <a:r>
              <a:rPr lang="vi-VN" altLang="ko-KR" sz="950" smtClean="0">
                <a:latin typeface="Times New Roman" pitchFamily="18" charset="0"/>
                <a:ea typeface="LG Smart_H Regular" panose="020B0600000101010101" pitchFamily="34" charset="-127"/>
                <a:cs typeface="Times New Roman" pitchFamily="18" charset="0"/>
              </a:rPr>
              <a:t>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Không cần lo lắng belt bị tuột ra </a:t>
            </a:r>
            <a:r>
              <a:rPr lang="en-US" altLang="ko-KR" sz="950" smtClean="0">
                <a:latin typeface="Times New Roman" pitchFamily="18" charset="0"/>
                <a:ea typeface="LG Smart_H Regular" panose="020B0600000101010101" pitchFamily="34" charset="-127"/>
                <a:cs typeface="Times New Roman" pitchFamily="18" charset="0"/>
              </a:rPr>
              <a:t>ngoài</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suất truyền có thể đạt 99</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lắp đặt tại nơi chật hẹp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Chi tiết nào được lắp trong LM Block giúp tuần hoàn nhiệt của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Plate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LM </a:t>
            </a:r>
            <a:r>
              <a:rPr lang="vi-VN" altLang="ko-KR" sz="950" smtClean="0">
                <a:latin typeface="Times New Roman" pitchFamily="18" charset="0"/>
                <a:ea typeface="LG Smart_H Regular" panose="020B0600000101010101" pitchFamily="34" charset="-127"/>
                <a:cs typeface="Times New Roman" pitchFamily="18" charset="0"/>
              </a:rPr>
              <a:t>Rail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Seal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Base Plate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251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Đâu không phải những đặc tính thông thường của d</a:t>
            </a:r>
            <a:r>
              <a:rPr lang="vi-VN" altLang="ko-KR" sz="950" smtClean="0">
                <a:latin typeface="Times New Roman" pitchFamily="18" charset="0"/>
                <a:ea typeface="LG Smart_H Regular" panose="020B0600000101010101" pitchFamily="34" charset="-127"/>
                <a:cs typeface="Times New Roman" pitchFamily="18" charset="0"/>
              </a:rPr>
              <a:t>ầu </a:t>
            </a:r>
            <a:r>
              <a:rPr lang="vi-VN" altLang="ko-KR" sz="950">
                <a:latin typeface="Times New Roman" pitchFamily="18" charset="0"/>
                <a:ea typeface="LG Smart_H Regular" panose="020B0600000101010101" pitchFamily="34" charset="-127"/>
                <a:cs typeface="Times New Roman" pitchFamily="18" charset="0"/>
              </a:rPr>
              <a:t>bôi trơn dạng </a:t>
            </a:r>
            <a:r>
              <a:rPr lang="vi-VN" altLang="ko-KR" sz="950" smtClean="0">
                <a:latin typeface="Times New Roman" pitchFamily="18" charset="0"/>
                <a:ea typeface="LG Smart_H Regular" panose="020B0600000101010101" pitchFamily="34" charset="-127"/>
                <a:cs typeface="Times New Roman" pitchFamily="18" charset="0"/>
              </a:rPr>
              <a:t>lỏng?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độ dính đủ cần trong trạng thái sử dụng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tính dầu có thể chịu </a:t>
            </a:r>
            <a:r>
              <a:rPr lang="vi-VN" altLang="ko-KR" sz="950" smtClean="0">
                <a:latin typeface="Times New Roman" pitchFamily="18" charset="0"/>
                <a:ea typeface="LG Smart_H Regular" panose="020B0600000101010101" pitchFamily="34" charset="-127"/>
                <a:cs typeface="Times New Roman" pitchFamily="18" charset="0"/>
              </a:rPr>
              <a:t>được </a:t>
            </a:r>
            <a:r>
              <a:rPr lang="en-US" altLang="ko-KR" sz="950" smtClean="0">
                <a:latin typeface="Times New Roman" pitchFamily="18" charset="0"/>
                <a:ea typeface="LG Smart_H Regular" panose="020B0600000101010101" pitchFamily="34" charset="-127"/>
                <a:cs typeface="Times New Roman" pitchFamily="18" charset="0"/>
              </a:rPr>
              <a:t>ở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bôi trơn </a:t>
            </a:r>
            <a:r>
              <a:rPr lang="vi-VN" altLang="ko-KR" sz="950" smtClean="0">
                <a:latin typeface="Times New Roman" pitchFamily="18" charset="0"/>
                <a:ea typeface="LG Smart_H Regular" panose="020B0600000101010101" pitchFamily="34" charset="-127"/>
                <a:cs typeface="Times New Roman" pitchFamily="18" charset="0"/>
              </a:rPr>
              <a:t>giới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bền ô xi hóa và nhiệt cao, mang tính trơ hóa học có thể, sạch mà đồng chất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Chất làm cô đặc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không phải là đặc điểm của khóa Key bán nguyệt (woodruff key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dàng lắp đặt và sửa </a:t>
            </a:r>
            <a:r>
              <a:rPr lang="vi-VN" altLang="ko-KR" sz="950" smtClean="0">
                <a:latin typeface="Times New Roman" pitchFamily="18" charset="0"/>
                <a:ea typeface="LG Smart_H Regular" panose="020B0600000101010101" pitchFamily="34" charset="-127"/>
                <a:cs typeface="Times New Roman" pitchFamily="18" charset="0"/>
              </a:rPr>
              <a:t>chữa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home sâu nên làm giảm độ bền của trục.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dạng khóa hình bán nguyệt thường dùng trên các trục nhỏ(60mm trở xuống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Thường dùng trong trục chính của xe ô </a:t>
            </a:r>
            <a:r>
              <a:rPr lang="vi-VN" altLang="ko-KR" sz="950" smtClean="0">
                <a:latin typeface="Times New Roman" pitchFamily="18" charset="0"/>
                <a:ea typeface="LG Smart_H Regular" panose="020B0600000101010101" pitchFamily="34" charset="-127"/>
                <a:cs typeface="Times New Roman" pitchFamily="18" charset="0"/>
              </a:rPr>
              <a:t>tô</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Đâu là đặc điểm không đúng của bôi trơn </a:t>
            </a: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Hệ thống bôi trơn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dầu cần </a:t>
            </a:r>
            <a:r>
              <a:rPr lang="vi-VN" altLang="ko-KR" sz="950" smtClean="0">
                <a:latin typeface="Times New Roman" pitchFamily="18" charset="0"/>
                <a:ea typeface="LG Smart_H Regular" panose="020B0600000101010101" pitchFamily="34" charset="-127"/>
                <a:cs typeface="Times New Roman" pitchFamily="18" charset="0"/>
              </a:rPr>
              <a:t>nhiều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bịt kín phức </a:t>
            </a:r>
            <a:r>
              <a:rPr lang="en-US" altLang="ko-KR" sz="950" smtClean="0">
                <a:latin typeface="Times New Roman" pitchFamily="18" charset="0"/>
                <a:ea typeface="LG Smart_H Regular" panose="020B0600000101010101" pitchFamily="34" charset="-127"/>
                <a:cs typeface="Times New Roman" pitchFamily="18" charset="0"/>
              </a:rPr>
              <a:t>tạp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liên tục loại bỏ tạp chất</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176490" y="4415552"/>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Đâu không phải đặc điểm của vòng bi Angular ball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Bearing có tính chuẩn xác cao và tốc độ quay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 với loại tiêu chuẩn vòng bi một rãnh sâu thì có khả năng chịu tải cao hơn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hình thái đại diện cho Rolling Bearing và có mục đích sử dụng rộng.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chịu tải trong theo hướng dọc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3884" y="8193360"/>
            <a:ext cx="3253973" cy="1067550"/>
            <a:chOff x="163884" y="8193360"/>
            <a:chExt cx="3253973" cy="1067550"/>
          </a:xfrm>
        </p:grpSpPr>
        <p:sp>
          <p:nvSpPr>
            <p:cNvPr id="42" name="Rectangle 7"/>
            <p:cNvSpPr>
              <a:spLocks noChangeArrowheads="1"/>
            </p:cNvSpPr>
            <p:nvPr/>
          </p:nvSpPr>
          <p:spPr bwMode="auto">
            <a:xfrm>
              <a:off x="163884" y="8193360"/>
              <a:ext cx="325397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chốt ( Pin)  trong hình bên dưới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Spring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Knuckle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0" name="Picture 29"/>
            <p:cNvPicPr>
              <a:picLocks noChangeAspect="1"/>
            </p:cNvPicPr>
            <p:nvPr/>
          </p:nvPicPr>
          <p:blipFill>
            <a:blip r:embed="rId3"/>
            <a:stretch>
              <a:fillRect/>
            </a:stretch>
          </p:blipFill>
          <p:spPr>
            <a:xfrm>
              <a:off x="1467879" y="8465802"/>
              <a:ext cx="1457065" cy="795108"/>
            </a:xfrm>
            <a:prstGeom prst="rect">
              <a:avLst/>
            </a:prstGeom>
          </p:spPr>
        </p:pic>
      </p:grpSp>
      <p:sp>
        <p:nvSpPr>
          <p:cNvPr id="21"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Trong bảng tiêu chuẩn công nghiệp. Vậy đâu là ký hiệu tiêu chuẩn công nghiệp của Quốc </a:t>
            </a:r>
            <a:r>
              <a:rPr lang="vi-VN" altLang="ko-KR" sz="950" smtClean="0">
                <a:latin typeface="Times New Roman" pitchFamily="18" charset="0"/>
                <a:ea typeface="LG Smart_H Regular" panose="020B0600000101010101" pitchFamily="34" charset="-127"/>
                <a:cs typeface="Times New Roman" pitchFamily="18" charset="0"/>
              </a:rPr>
              <a:t>tế?</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ISO.</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JIS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ANSI</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3" name="Group 22"/>
          <p:cNvGrpSpPr/>
          <p:nvPr/>
        </p:nvGrpSpPr>
        <p:grpSpPr>
          <a:xfrm>
            <a:off x="3409102" y="7868815"/>
            <a:ext cx="3180502" cy="684585"/>
            <a:chOff x="3412579" y="6845605"/>
            <a:chExt cx="3180502" cy="684585"/>
          </a:xfrm>
        </p:grpSpPr>
        <p:sp>
          <p:nvSpPr>
            <p:cNvPr id="24" name="Rectangle 7"/>
            <p:cNvSpPr>
              <a:spLocks noChangeArrowheads="1"/>
            </p:cNvSpPr>
            <p:nvPr/>
          </p:nvSpPr>
          <p:spPr bwMode="auto">
            <a:xfrm>
              <a:off x="3412579" y="6845605"/>
              <a:ext cx="318050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Trong bảng quy đổi đơn vị đo chiều dài. Vậy 1Km sẽ gấp bao nhiêu lần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B.                     C.                     D.</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Picture 24"/>
            <p:cNvPicPr>
              <a:picLocks noChangeAspect="1"/>
            </p:cNvPicPr>
            <p:nvPr/>
          </p:nvPicPr>
          <p:blipFill>
            <a:blip r:embed="rId4"/>
            <a:stretch>
              <a:fillRect/>
            </a:stretch>
          </p:blipFill>
          <p:spPr>
            <a:xfrm>
              <a:off x="4511582" y="7257256"/>
              <a:ext cx="357578" cy="247619"/>
            </a:xfrm>
            <a:prstGeom prst="rect">
              <a:avLst/>
            </a:prstGeom>
          </p:spPr>
        </p:pic>
        <p:pic>
          <p:nvPicPr>
            <p:cNvPr id="26" name="Picture 25"/>
            <p:cNvPicPr>
              <a:picLocks noChangeAspect="1"/>
            </p:cNvPicPr>
            <p:nvPr/>
          </p:nvPicPr>
          <p:blipFill>
            <a:blip r:embed="rId5"/>
            <a:stretch>
              <a:fillRect/>
            </a:stretch>
          </p:blipFill>
          <p:spPr>
            <a:xfrm>
              <a:off x="5264088" y="7287332"/>
              <a:ext cx="328972" cy="223810"/>
            </a:xfrm>
            <a:prstGeom prst="rect">
              <a:avLst/>
            </a:prstGeom>
          </p:spPr>
        </p:pic>
        <p:pic>
          <p:nvPicPr>
            <p:cNvPr id="27" name="Picture 26"/>
            <p:cNvPicPr>
              <a:picLocks noChangeAspect="1"/>
            </p:cNvPicPr>
            <p:nvPr/>
          </p:nvPicPr>
          <p:blipFill>
            <a:blip r:embed="rId6"/>
            <a:stretch>
              <a:fillRect/>
            </a:stretch>
          </p:blipFill>
          <p:spPr>
            <a:xfrm>
              <a:off x="6021288" y="7259998"/>
              <a:ext cx="376648" cy="261905"/>
            </a:xfrm>
            <a:prstGeom prst="rect">
              <a:avLst/>
            </a:prstGeom>
          </p:spPr>
        </p:pic>
        <p:pic>
          <p:nvPicPr>
            <p:cNvPr id="31" name="Picture 30"/>
            <p:cNvPicPr>
              <a:picLocks noChangeAspect="1"/>
            </p:cNvPicPr>
            <p:nvPr/>
          </p:nvPicPr>
          <p:blipFill>
            <a:blip r:embed="rId7"/>
            <a:stretch>
              <a:fillRect/>
            </a:stretch>
          </p:blipFill>
          <p:spPr>
            <a:xfrm>
              <a:off x="3645024" y="7273047"/>
              <a:ext cx="386184" cy="257143"/>
            </a:xfrm>
            <a:prstGeom prst="rect">
              <a:avLst/>
            </a:prstGeom>
          </p:spPr>
        </p:pic>
      </p:grpSp>
    </p:spTree>
    <p:extLst>
      <p:ext uri="{BB962C8B-B14F-4D97-AF65-F5344CB8AC3E}">
        <p14:creationId xmlns:p14="http://schemas.microsoft.com/office/powerpoint/2010/main" val="41600545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6" name="Rectangle 52"/>
          <p:cNvSpPr>
            <a:spLocks noChangeArrowheads="1"/>
          </p:cNvSpPr>
          <p:nvPr/>
        </p:nvSpPr>
        <p:spPr bwMode="auto">
          <a:xfrm>
            <a:off x="260648" y="1208584"/>
            <a:ext cx="3124200" cy="155427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1</a:t>
            </a:r>
            <a:r>
              <a:rPr lang="en-US" altLang="ko-KR" sz="950">
                <a:latin typeface="Times New Roman" pitchFamily="18" charset="0"/>
                <a:cs typeface="Times New Roman" pitchFamily="18" charset="0"/>
              </a:rPr>
              <a:t>. Dưới đây là giải nghĩa về một thuật ngữ thể hiện đặc tính của LM Block. Hãy chọn đáp án đúng điền </a:t>
            </a:r>
            <a:r>
              <a:rPr lang="en-US" altLang="ko-KR" sz="950" smtClean="0">
                <a:latin typeface="Times New Roman" pitchFamily="18" charset="0"/>
                <a:cs typeface="Times New Roman" pitchFamily="18" charset="0"/>
              </a:rPr>
              <a:t>vào</a:t>
            </a:r>
            <a:endParaRPr lang="en-US" altLang="ko-KR" sz="950">
              <a:latin typeface="Times New Roman" pitchFamily="18" charset="0"/>
              <a:cs typeface="Times New Roman" pitchFamily="18" charset="0"/>
            </a:endParaRPr>
          </a:p>
          <a:p>
            <a:r>
              <a:rPr lang="en-US" altLang="ko-KR" sz="950" smtClean="0">
                <a:latin typeface="Times New Roman" pitchFamily="18" charset="0"/>
                <a:cs typeface="Times New Roman" pitchFamily="18" charset="0"/>
              </a:rPr>
              <a:t>“Tải </a:t>
            </a:r>
            <a:r>
              <a:rPr lang="en-US" altLang="ko-KR" sz="950">
                <a:latin typeface="Times New Roman" pitchFamily="18" charset="0"/>
                <a:cs typeface="Times New Roman" pitchFamily="18" charset="0"/>
              </a:rPr>
              <a:t>trọng bên trong được cho trước vào phần truyền động với mục đích để </a:t>
            </a:r>
            <a:r>
              <a:rPr lang="en-US" altLang="ko-KR" sz="950" smtClean="0">
                <a:latin typeface="Times New Roman" pitchFamily="18" charset="0"/>
                <a:cs typeface="Times New Roman" pitchFamily="18" charset="0"/>
              </a:rPr>
              <a:t>tăng </a:t>
            </a:r>
            <a:r>
              <a:rPr lang="en-US" altLang="ko-KR" sz="950">
                <a:latin typeface="Times New Roman" pitchFamily="18" charset="0"/>
                <a:cs typeface="Times New Roman" pitchFamily="18" charset="0"/>
              </a:rPr>
              <a:t>tính mạnh cho LM Block và loại bỏ khe hở được gọi là </a:t>
            </a:r>
            <a:r>
              <a:rPr lang="en-US" altLang="ko-KR" sz="950" smtClean="0">
                <a:latin typeface="Times New Roman" pitchFamily="18" charset="0"/>
                <a:cs typeface="Times New Roman" pitchFamily="18" charset="0"/>
              </a:rPr>
              <a:t>gì?”.</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Mô men xoắn</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Tính </a:t>
            </a:r>
            <a:r>
              <a:rPr lang="en-US" altLang="ko-KR" sz="950">
                <a:latin typeface="Times New Roman" pitchFamily="18" charset="0"/>
                <a:cs typeface="Times New Roman" pitchFamily="18" charset="0"/>
              </a:rPr>
              <a:t>mạnh</a:t>
            </a:r>
            <a:r>
              <a:rPr lang="ko-KR" altLang="en-US"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Backlash</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Preloaded </a:t>
            </a:r>
            <a:endParaRPr lang="ko-KR" altLang="en-US" sz="950">
              <a:latin typeface="Times New Roman" pitchFamily="18" charset="0"/>
              <a:cs typeface="Times New Roman" pitchFamily="18" charset="0"/>
            </a:endParaRPr>
          </a:p>
        </p:txBody>
      </p:sp>
      <p:grpSp>
        <p:nvGrpSpPr>
          <p:cNvPr id="7" name="Group 6"/>
          <p:cNvGrpSpPr/>
          <p:nvPr/>
        </p:nvGrpSpPr>
        <p:grpSpPr>
          <a:xfrm>
            <a:off x="260648" y="3224808"/>
            <a:ext cx="3124200" cy="965200"/>
            <a:chOff x="3429000" y="3851275"/>
            <a:chExt cx="3124200" cy="965200"/>
          </a:xfrm>
        </p:grpSpPr>
        <p:sp>
          <p:nvSpPr>
            <p:cNvPr id="8" name="Rectangle 53"/>
            <p:cNvSpPr>
              <a:spLocks noChangeArrowheads="1"/>
            </p:cNvSpPr>
            <p:nvPr/>
          </p:nvSpPr>
          <p:spPr bwMode="auto">
            <a:xfrm>
              <a:off x="3429000" y="3851275"/>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A” ở hình dưới đây </a:t>
              </a:r>
              <a:r>
                <a:rPr lang="en-US" altLang="ko-KR" sz="950" smtClean="0">
                  <a:latin typeface="Times New Roman" pitchFamily="18" charset="0"/>
                  <a:ea typeface="돋움" pitchFamily="50" charset="-127"/>
                  <a:cs typeface="Times New Roman" pitchFamily="18" charset="0"/>
                </a:rPr>
                <a:t>được gọi </a:t>
              </a:r>
              <a:r>
                <a:rPr lang="en-US" altLang="ko-KR" sz="950">
                  <a:latin typeface="Times New Roman" pitchFamily="18" charset="0"/>
                  <a:ea typeface="돋움" pitchFamily="50" charset="-127"/>
                  <a:cs typeface="Times New Roman" pitchFamily="18" charset="0"/>
                </a:rPr>
                <a:t>là gì?</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Phần kết nối</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key</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Spring</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chốt</a:t>
              </a:r>
              <a:endParaRPr lang="ko-KR" altLang="en-US" sz="950">
                <a:latin typeface="Times New Roman" pitchFamily="18" charset="0"/>
                <a:ea typeface="돋움" pitchFamily="50" charset="-127"/>
                <a:cs typeface="Times New Roman" pitchFamily="18" charset="0"/>
              </a:endParaRPr>
            </a:p>
          </p:txBody>
        </p:sp>
        <p:grpSp>
          <p:nvGrpSpPr>
            <p:cNvPr id="9" name="Group 54"/>
            <p:cNvGrpSpPr>
              <a:grpSpLocks/>
            </p:cNvGrpSpPr>
            <p:nvPr/>
          </p:nvGrpSpPr>
          <p:grpSpPr bwMode="auto">
            <a:xfrm>
              <a:off x="4941888" y="4067175"/>
              <a:ext cx="1366837" cy="749300"/>
              <a:chOff x="3113" y="2426"/>
              <a:chExt cx="861" cy="472"/>
            </a:xfrm>
          </p:grpSpPr>
          <p:pic>
            <p:nvPicPr>
              <p:cNvPr id="10" name="Picture 55" descr="thkd051_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3" y="2426"/>
                <a:ext cx="86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6"/>
              <p:cNvSpPr>
                <a:spLocks noChangeArrowheads="1"/>
              </p:cNvSpPr>
              <p:nvPr/>
            </p:nvSpPr>
            <p:spPr bwMode="auto">
              <a:xfrm>
                <a:off x="3484" y="2804"/>
                <a:ext cx="168" cy="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ea typeface="돋움" pitchFamily="50" charset="-127"/>
                    <a:cs typeface="Times New Roman" pitchFamily="18" charset="0"/>
                  </a:rPr>
                  <a:t>A</a:t>
                </a:r>
              </a:p>
            </p:txBody>
          </p:sp>
        </p:grpSp>
      </p:grpSp>
      <p:sp>
        <p:nvSpPr>
          <p:cNvPr id="12" name="Rectangle 57"/>
          <p:cNvSpPr>
            <a:spLocks noChangeArrowheads="1"/>
          </p:cNvSpPr>
          <p:nvPr/>
        </p:nvSpPr>
        <p:spPr bwMode="auto">
          <a:xfrm>
            <a:off x="188640" y="4448944"/>
            <a:ext cx="325833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3.Chọn </a:t>
            </a:r>
            <a:r>
              <a:rPr lang="en-US" altLang="ko-KR" sz="950">
                <a:latin typeface="Times New Roman" pitchFamily="18" charset="0"/>
                <a:ea typeface="돋움" pitchFamily="50" charset="-127"/>
                <a:cs typeface="Times New Roman" pitchFamily="18" charset="0"/>
              </a:rPr>
              <a:t>đáp án không phải là đặc điểm của bôi trơn dầu?</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Phù hợp với sử dụng nhiệt độ thấp hoặc tốc độ thấp hơn là bôi trơn bằng mỡ.</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thích 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a:p>
            <a:endParaRPr lang="en-US" altLang="ko-KR" sz="950">
              <a:latin typeface="Times New Roman" pitchFamily="18" charset="0"/>
              <a:ea typeface="돋움" pitchFamily="50" charset="-127"/>
              <a:cs typeface="Times New Roman" pitchFamily="18" charset="0"/>
            </a:endParaRPr>
          </a:p>
        </p:txBody>
      </p:sp>
      <p:sp>
        <p:nvSpPr>
          <p:cNvPr id="13" name="Rectangle 58"/>
          <p:cNvSpPr>
            <a:spLocks noChangeArrowheads="1"/>
          </p:cNvSpPr>
          <p:nvPr/>
        </p:nvSpPr>
        <p:spPr bwMode="auto">
          <a:xfrm>
            <a:off x="260648" y="5961112"/>
            <a:ext cx="3212504"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4</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15" name="Group 14"/>
          <p:cNvGrpSpPr/>
          <p:nvPr/>
        </p:nvGrpSpPr>
        <p:grpSpPr>
          <a:xfrm>
            <a:off x="260648" y="7140575"/>
            <a:ext cx="3124200" cy="1571327"/>
            <a:chOff x="3429000" y="7140575"/>
            <a:chExt cx="3124200" cy="1571327"/>
          </a:xfrm>
        </p:grpSpPr>
        <p:sp>
          <p:nvSpPr>
            <p:cNvPr id="16" name="Rectangle 59"/>
            <p:cNvSpPr>
              <a:spLocks noChangeArrowheads="1"/>
            </p:cNvSpPr>
            <p:nvPr/>
          </p:nvSpPr>
          <p:spPr bwMode="auto">
            <a:xfrm>
              <a:off x="3429000" y="7140575"/>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Chọn hình có </a:t>
              </a:r>
              <a:r>
                <a:rPr lang="en-US" altLang="ko-KR" sz="950" smtClean="0">
                  <a:latin typeface="Times New Roman" pitchFamily="18" charset="0"/>
                  <a:ea typeface="돋움" pitchFamily="50" charset="-127"/>
                  <a:cs typeface="Times New Roman" pitchFamily="18" charset="0"/>
                </a:rPr>
                <a:t>cách </a:t>
              </a:r>
              <a:r>
                <a:rPr lang="en-US" altLang="ko-KR" sz="950">
                  <a:latin typeface="Times New Roman" pitchFamily="18" charset="0"/>
                  <a:ea typeface="돋움" pitchFamily="50" charset="-127"/>
                  <a:cs typeface="Times New Roman" pitchFamily="18" charset="0"/>
                </a:rPr>
                <a:t>sử dụng </a:t>
              </a:r>
              <a:r>
                <a:rPr lang="en-US" altLang="ko-KR" sz="950" smtClean="0">
                  <a:latin typeface="Times New Roman" pitchFamily="18" charset="0"/>
                  <a:ea typeface="돋움" pitchFamily="50" charset="-127"/>
                  <a:cs typeface="Times New Roman" pitchFamily="18" charset="0"/>
                </a:rPr>
                <a:t>Búa Hammer đúng</a:t>
              </a:r>
              <a:r>
                <a:rPr lang="en-US" altLang="ko-KR" sz="950">
                  <a:latin typeface="Times New Roman" pitchFamily="18" charset="0"/>
                  <a:ea typeface="돋움" pitchFamily="50" charset="-127"/>
                  <a:cs typeface="Times New Roman" pitchFamily="18" charset="0"/>
                </a:rPr>
                <a: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D.</a:t>
              </a:r>
              <a:endParaRPr lang="en-US" altLang="ko-KR" sz="950">
                <a:latin typeface="Times New Roman" pitchFamily="18" charset="0"/>
                <a:ea typeface="돋움" pitchFamily="50" charset="-127"/>
                <a:cs typeface="Times New Roman" pitchFamily="18" charset="0"/>
              </a:endParaRPr>
            </a:p>
          </p:txBody>
        </p:sp>
        <p:pic>
          <p:nvPicPr>
            <p:cNvPr id="17"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6338" y="7500938"/>
              <a:ext cx="936832"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7240" y="7500938"/>
              <a:ext cx="936028"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338" y="8239125"/>
              <a:ext cx="936832" cy="47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240" y="8218488"/>
              <a:ext cx="936028" cy="468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3560398" y="1208584"/>
            <a:ext cx="3180970" cy="1773562"/>
            <a:chOff x="304800" y="971550"/>
            <a:chExt cx="3180970" cy="1773562"/>
          </a:xfrm>
        </p:grpSpPr>
        <p:sp>
          <p:nvSpPr>
            <p:cNvPr id="22" name="Rectangle 41"/>
            <p:cNvSpPr>
              <a:spLocks noChangeArrowheads="1"/>
            </p:cNvSpPr>
            <p:nvPr/>
          </p:nvSpPr>
          <p:spPr bwMode="auto">
            <a:xfrm>
              <a:off x="304800" y="971550"/>
              <a:ext cx="3180970" cy="17735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6</a:t>
              </a:r>
              <a:r>
                <a:rPr lang="en-US" altLang="ko-KR" sz="950">
                  <a:latin typeface="Times New Roman" pitchFamily="18" charset="0"/>
                  <a:ea typeface="돋움" pitchFamily="50" charset="-127"/>
                  <a:cs typeface="Times New Roman" pitchFamily="18" charset="0"/>
                </a:rPr>
                <a:t>. Chọn đáp án </a:t>
              </a:r>
              <a:r>
                <a:rPr lang="en-US" altLang="ko-KR" sz="950" smtClean="0">
                  <a:latin typeface="Times New Roman" pitchFamily="18" charset="0"/>
                  <a:ea typeface="돋움" pitchFamily="50" charset="-127"/>
                  <a:cs typeface="Times New Roman" pitchFamily="18" charset="0"/>
                </a:rPr>
                <a:t>đường kẻ biểu </a:t>
              </a:r>
              <a:r>
                <a:rPr lang="en-US" altLang="ko-KR" sz="950">
                  <a:latin typeface="Times New Roman" pitchFamily="18" charset="0"/>
                  <a:ea typeface="돋움" pitchFamily="50" charset="-127"/>
                  <a:cs typeface="Times New Roman" pitchFamily="18" charset="0"/>
                </a:rPr>
                <a:t>thị phần xử lí bề mặt của vật thể?</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3" name="Group 42"/>
            <p:cNvGrpSpPr>
              <a:grpSpLocks/>
            </p:cNvGrpSpPr>
            <p:nvPr/>
          </p:nvGrpSpPr>
          <p:grpSpPr bwMode="auto">
            <a:xfrm>
              <a:off x="549275" y="1548100"/>
              <a:ext cx="1447800" cy="863600"/>
              <a:chOff x="384" y="1008"/>
              <a:chExt cx="912" cy="544"/>
            </a:xfrm>
          </p:grpSpPr>
          <p:sp>
            <p:nvSpPr>
              <p:cNvPr id="24" name="Line 43"/>
              <p:cNvSpPr>
                <a:spLocks noChangeShapeType="1"/>
              </p:cNvSpPr>
              <p:nvPr/>
            </p:nvSpPr>
            <p:spPr bwMode="auto">
              <a:xfrm>
                <a:off x="432" y="1008"/>
                <a:ext cx="86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5" name="Line 44"/>
              <p:cNvSpPr>
                <a:spLocks noChangeShapeType="1"/>
              </p:cNvSpPr>
              <p:nvPr/>
            </p:nvSpPr>
            <p:spPr bwMode="auto">
              <a:xfrm>
                <a:off x="432" y="1152"/>
                <a:ext cx="864" cy="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6" name="Line 45"/>
              <p:cNvSpPr>
                <a:spLocks noChangeShapeType="1"/>
              </p:cNvSpPr>
              <p:nvPr/>
            </p:nvSpPr>
            <p:spPr bwMode="auto">
              <a:xfrm>
                <a:off x="432" y="1344"/>
                <a:ext cx="864" cy="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7" name="Freeform 46"/>
              <p:cNvSpPr>
                <a:spLocks/>
              </p:cNvSpPr>
              <p:nvPr/>
            </p:nvSpPr>
            <p:spPr bwMode="auto">
              <a:xfrm>
                <a:off x="384" y="1440"/>
                <a:ext cx="912" cy="112"/>
              </a:xfrm>
              <a:custGeom>
                <a:avLst/>
                <a:gdLst>
                  <a:gd name="T0" fmla="*/ 0 w 912"/>
                  <a:gd name="T1" fmla="*/ 96 h 112"/>
                  <a:gd name="T2" fmla="*/ 48 w 912"/>
                  <a:gd name="T3" fmla="*/ 96 h 112"/>
                  <a:gd name="T4" fmla="*/ 240 w 912"/>
                  <a:gd name="T5" fmla="*/ 0 h 112"/>
                  <a:gd name="T6" fmla="*/ 432 w 912"/>
                  <a:gd name="T7" fmla="*/ 96 h 112"/>
                  <a:gd name="T8" fmla="*/ 768 w 912"/>
                  <a:gd name="T9" fmla="*/ 48 h 112"/>
                  <a:gd name="T10" fmla="*/ 912 w 912"/>
                  <a:gd name="T11" fmla="*/ 96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 h="112">
                    <a:moveTo>
                      <a:pt x="0" y="96"/>
                    </a:moveTo>
                    <a:cubicBezTo>
                      <a:pt x="4" y="104"/>
                      <a:pt x="8" y="112"/>
                      <a:pt x="48" y="96"/>
                    </a:cubicBezTo>
                    <a:cubicBezTo>
                      <a:pt x="88" y="80"/>
                      <a:pt x="176" y="0"/>
                      <a:pt x="240" y="0"/>
                    </a:cubicBezTo>
                    <a:cubicBezTo>
                      <a:pt x="304" y="0"/>
                      <a:pt x="344" y="88"/>
                      <a:pt x="432" y="96"/>
                    </a:cubicBezTo>
                    <a:cubicBezTo>
                      <a:pt x="520" y="104"/>
                      <a:pt x="688" y="48"/>
                      <a:pt x="768" y="48"/>
                    </a:cubicBezTo>
                    <a:cubicBezTo>
                      <a:pt x="848" y="48"/>
                      <a:pt x="896" y="88"/>
                      <a:pt x="912" y="96"/>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grpSp>
      <p:sp>
        <p:nvSpPr>
          <p:cNvPr id="28" name="Rectangle 47"/>
          <p:cNvSpPr>
            <a:spLocks noChangeArrowheads="1"/>
          </p:cNvSpPr>
          <p:nvPr/>
        </p:nvSpPr>
        <p:spPr bwMode="auto">
          <a:xfrm>
            <a:off x="3429000" y="3224808"/>
            <a:ext cx="3124200"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7</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30" name="Group 29"/>
          <p:cNvGrpSpPr/>
          <p:nvPr/>
        </p:nvGrpSpPr>
        <p:grpSpPr>
          <a:xfrm>
            <a:off x="3501008" y="7833320"/>
            <a:ext cx="3124200" cy="1381221"/>
            <a:chOff x="245410" y="5494338"/>
            <a:chExt cx="3124200" cy="1381221"/>
          </a:xfrm>
        </p:grpSpPr>
        <p:sp>
          <p:nvSpPr>
            <p:cNvPr id="31" name="Rectangle 106"/>
            <p:cNvSpPr>
              <a:spLocks noChangeArrowheads="1"/>
            </p:cNvSpPr>
            <p:nvPr/>
          </p:nvSpPr>
          <p:spPr bwMode="auto">
            <a:xfrm>
              <a:off x="245410" y="5494338"/>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a:t>
              </a:r>
              <a:r>
                <a:rPr lang="en-US" altLang="ko-KR" sz="950">
                  <a:latin typeface="Times New Roman" pitchFamily="18" charset="0"/>
                  <a:cs typeface="Times New Roman" pitchFamily="18" charset="0"/>
                </a:rPr>
                <a:t>. Dưới đây là hình của</a:t>
              </a:r>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Ball Screw.</a:t>
              </a:r>
              <a:endParaRPr lang="en-US" altLang="ko-KR" sz="950">
                <a:latin typeface="Times New Roman" pitchFamily="18" charset="0"/>
                <a:cs typeface="Times New Roman" pitchFamily="18" charset="0"/>
              </a:endParaRPr>
            </a:p>
            <a:p>
              <a:r>
                <a:rPr lang="en-US" altLang="ko-KR" sz="950">
                  <a:latin typeface="Times New Roman" pitchFamily="18" charset="0"/>
                  <a:cs typeface="Times New Roman" pitchFamily="18" charset="0"/>
                </a:rPr>
                <a:t>       Tấm nhấn </a:t>
              </a:r>
              <a:r>
                <a:rPr lang="en-US" altLang="ko-KR" sz="950" smtClean="0">
                  <a:latin typeface="Times New Roman" pitchFamily="18" charset="0"/>
                  <a:cs typeface="Times New Roman" pitchFamily="18" charset="0"/>
                </a:rPr>
                <a:t>Pipe </a:t>
              </a:r>
              <a:r>
                <a:rPr lang="en-US" altLang="ko-KR" sz="950">
                  <a:latin typeface="Times New Roman" pitchFamily="18" charset="0"/>
                  <a:cs typeface="Times New Roman" pitchFamily="18" charset="0"/>
                </a:rPr>
                <a:t>cố </a:t>
              </a:r>
              <a:r>
                <a:rPr lang="en-US" altLang="ko-KR" sz="950" smtClean="0">
                  <a:latin typeface="Times New Roman" pitchFamily="18" charset="0"/>
                  <a:cs typeface="Times New Roman" pitchFamily="18" charset="0"/>
                </a:rPr>
                <a:t>định </a:t>
              </a:r>
              <a:r>
                <a:rPr lang="en-US" altLang="ko-KR" sz="950">
                  <a:latin typeface="Times New Roman" pitchFamily="18" charset="0"/>
                  <a:cs typeface="Times New Roman" pitchFamily="18" charset="0"/>
                </a:rPr>
                <a:t>R</a:t>
              </a:r>
              <a:r>
                <a:rPr lang="en-US" altLang="ko-KR" sz="950" smtClean="0">
                  <a:latin typeface="Times New Roman" pitchFamily="18" charset="0"/>
                  <a:cs typeface="Times New Roman" pitchFamily="18" charset="0"/>
                </a:rPr>
                <a:t>eturn </a:t>
              </a:r>
              <a:r>
                <a:rPr lang="en-US" altLang="ko-KR" sz="950">
                  <a:latin typeface="Times New Roman" pitchFamily="18" charset="0"/>
                  <a:cs typeface="Times New Roman" pitchFamily="18" charset="0"/>
                </a:rPr>
                <a:t>pipe  và </a:t>
              </a:r>
              <a:r>
                <a:rPr lang="en-US" altLang="ko-KR" sz="950" smtClean="0">
                  <a:latin typeface="Times New Roman" pitchFamily="18" charset="0"/>
                  <a:cs typeface="Times New Roman" pitchFamily="18" charset="0"/>
                </a:rPr>
                <a:t>Return </a:t>
              </a:r>
              <a:r>
                <a:rPr lang="en-US" altLang="ko-KR" sz="950">
                  <a:latin typeface="Times New Roman" pitchFamily="18" charset="0"/>
                  <a:cs typeface="Times New Roman" pitchFamily="18" charset="0"/>
                </a:rPr>
                <a:t>pipe, là một yếu tố làm </a:t>
              </a:r>
              <a:r>
                <a:rPr lang="en-US" altLang="ko-KR" sz="950" smtClean="0">
                  <a:latin typeface="Times New Roman" pitchFamily="18" charset="0"/>
                  <a:cs typeface="Times New Roman" pitchFamily="18" charset="0"/>
                </a:rPr>
                <a:t>Ball </a:t>
              </a:r>
              <a:r>
                <a:rPr lang="en-US" altLang="ko-KR" sz="950">
                  <a:latin typeface="Times New Roman" pitchFamily="18" charset="0"/>
                  <a:cs typeface="Times New Roman" pitchFamily="18" charset="0"/>
                </a:rPr>
                <a:t>xoay linh hoạt hơn là số </a:t>
              </a:r>
              <a:r>
                <a:rPr lang="en-US" altLang="ko-KR" sz="950" smtClean="0">
                  <a:latin typeface="Times New Roman" pitchFamily="18" charset="0"/>
                  <a:cs typeface="Times New Roman" pitchFamily="18" charset="0"/>
                </a:rPr>
                <a:t>mấy ở hình dưới đây?</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2,1</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1, 4</a:t>
              </a:r>
              <a:r>
                <a:rPr lang="ko-KR" altLang="en-US" sz="950">
                  <a:latin typeface="Times New Roman" pitchFamily="18" charset="0"/>
                  <a:ea typeface="돋움" pitchFamily="50" charset="-127"/>
                  <a:cs typeface="Times New Roman" pitchFamily="18" charset="0"/>
                </a:rPr>
                <a:t>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2,5</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2,6</a:t>
              </a:r>
              <a:endParaRPr lang="ko-KR" altLang="en-US" sz="950">
                <a:latin typeface="Times New Roman" pitchFamily="18" charset="0"/>
                <a:ea typeface="돋움" pitchFamily="50" charset="-127"/>
                <a:cs typeface="Times New Roman" pitchFamily="18" charset="0"/>
              </a:endParaRPr>
            </a:p>
          </p:txBody>
        </p:sp>
        <p:grpSp>
          <p:nvGrpSpPr>
            <p:cNvPr id="32" name="Group 107"/>
            <p:cNvGrpSpPr>
              <a:grpSpLocks/>
            </p:cNvGrpSpPr>
            <p:nvPr/>
          </p:nvGrpSpPr>
          <p:grpSpPr bwMode="auto">
            <a:xfrm>
              <a:off x="1312293" y="5927932"/>
              <a:ext cx="1717538" cy="947627"/>
              <a:chOff x="1694" y="132"/>
              <a:chExt cx="1405" cy="1355"/>
            </a:xfrm>
          </p:grpSpPr>
          <p:pic>
            <p:nvPicPr>
              <p:cNvPr id="33" name="Picture 1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9" y="370"/>
                <a:ext cx="1281" cy="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 Box 109"/>
              <p:cNvSpPr txBox="1">
                <a:spLocks noChangeArrowheads="1"/>
              </p:cNvSpPr>
              <p:nvPr/>
            </p:nvSpPr>
            <p:spPr bwMode="auto">
              <a:xfrm>
                <a:off x="2319" y="23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1</a:t>
                </a:r>
                <a:endParaRPr lang="ko-KR" altLang="en-US" sz="950" b="1">
                  <a:latin typeface="Times New Roman" pitchFamily="18" charset="0"/>
                  <a:cs typeface="Times New Roman" pitchFamily="18" charset="0"/>
                </a:endParaRPr>
              </a:p>
            </p:txBody>
          </p:sp>
          <p:sp>
            <p:nvSpPr>
              <p:cNvPr id="35" name="Text Box 110"/>
              <p:cNvSpPr txBox="1">
                <a:spLocks noChangeArrowheads="1"/>
              </p:cNvSpPr>
              <p:nvPr/>
            </p:nvSpPr>
            <p:spPr bwMode="auto">
              <a:xfrm>
                <a:off x="2575" y="13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3</a:t>
                </a:r>
                <a:endParaRPr lang="ko-KR" altLang="en-US" sz="950" b="1">
                  <a:latin typeface="Times New Roman" pitchFamily="18" charset="0"/>
                  <a:cs typeface="Times New Roman" pitchFamily="18" charset="0"/>
                </a:endParaRPr>
              </a:p>
            </p:txBody>
          </p:sp>
          <p:sp>
            <p:nvSpPr>
              <p:cNvPr id="36" name="Text Box 111"/>
              <p:cNvSpPr txBox="1">
                <a:spLocks noChangeArrowheads="1"/>
              </p:cNvSpPr>
              <p:nvPr/>
            </p:nvSpPr>
            <p:spPr bwMode="auto">
              <a:xfrm>
                <a:off x="2898" y="77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4</a:t>
                </a:r>
                <a:endParaRPr lang="ko-KR" altLang="en-US" sz="950" b="1">
                  <a:latin typeface="Times New Roman" pitchFamily="18" charset="0"/>
                  <a:cs typeface="Times New Roman" pitchFamily="18" charset="0"/>
                </a:endParaRPr>
              </a:p>
            </p:txBody>
          </p:sp>
          <p:sp>
            <p:nvSpPr>
              <p:cNvPr id="37" name="Text Box 112"/>
              <p:cNvSpPr txBox="1">
                <a:spLocks noChangeArrowheads="1"/>
              </p:cNvSpPr>
              <p:nvPr/>
            </p:nvSpPr>
            <p:spPr bwMode="auto">
              <a:xfrm>
                <a:off x="2770" y="94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5</a:t>
                </a:r>
                <a:endParaRPr lang="ko-KR" altLang="en-US" sz="950" b="1">
                  <a:latin typeface="Times New Roman" pitchFamily="18" charset="0"/>
                  <a:cs typeface="Times New Roman" pitchFamily="18" charset="0"/>
                </a:endParaRPr>
              </a:p>
            </p:txBody>
          </p:sp>
          <p:sp>
            <p:nvSpPr>
              <p:cNvPr id="38" name="Text Box 113"/>
              <p:cNvSpPr txBox="1">
                <a:spLocks noChangeArrowheads="1"/>
              </p:cNvSpPr>
              <p:nvPr/>
            </p:nvSpPr>
            <p:spPr bwMode="auto">
              <a:xfrm>
                <a:off x="2102" y="369"/>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6</a:t>
                </a:r>
                <a:endParaRPr lang="ko-KR" altLang="en-US" sz="950" b="1">
                  <a:latin typeface="Times New Roman" pitchFamily="18" charset="0"/>
                  <a:cs typeface="Times New Roman" pitchFamily="18" charset="0"/>
                </a:endParaRPr>
              </a:p>
            </p:txBody>
          </p:sp>
          <p:sp>
            <p:nvSpPr>
              <p:cNvPr id="39" name="Text Box 114"/>
              <p:cNvSpPr txBox="1">
                <a:spLocks noChangeArrowheads="1"/>
              </p:cNvSpPr>
              <p:nvPr/>
            </p:nvSpPr>
            <p:spPr bwMode="auto">
              <a:xfrm>
                <a:off x="1961" y="48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2</a:t>
                </a:r>
                <a:endParaRPr lang="ko-KR" altLang="en-US" sz="950" b="1">
                  <a:latin typeface="Times New Roman" pitchFamily="18" charset="0"/>
                  <a:cs typeface="Times New Roman" pitchFamily="18" charset="0"/>
                </a:endParaRPr>
              </a:p>
            </p:txBody>
          </p:sp>
          <p:sp>
            <p:nvSpPr>
              <p:cNvPr id="40" name="Text Box 115"/>
              <p:cNvSpPr txBox="1">
                <a:spLocks noChangeArrowheads="1"/>
              </p:cNvSpPr>
              <p:nvPr/>
            </p:nvSpPr>
            <p:spPr bwMode="auto">
              <a:xfrm>
                <a:off x="1694" y="634"/>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7</a:t>
                </a:r>
                <a:endParaRPr lang="ko-KR" altLang="en-US" sz="950" b="1">
                  <a:latin typeface="Times New Roman" pitchFamily="18" charset="0"/>
                  <a:cs typeface="Times New Roman" pitchFamily="18" charset="0"/>
                </a:endParaRPr>
              </a:p>
            </p:txBody>
          </p:sp>
          <p:sp>
            <p:nvSpPr>
              <p:cNvPr id="41" name="Text Box 116"/>
              <p:cNvSpPr txBox="1">
                <a:spLocks noChangeArrowheads="1"/>
              </p:cNvSpPr>
              <p:nvPr/>
            </p:nvSpPr>
            <p:spPr bwMode="auto">
              <a:xfrm>
                <a:off x="2516" y="114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8</a:t>
                </a:r>
                <a:endParaRPr lang="ko-KR" altLang="en-US" sz="950" b="1">
                  <a:latin typeface="Times New Roman" pitchFamily="18" charset="0"/>
                  <a:cs typeface="Times New Roman" pitchFamily="18" charset="0"/>
                </a:endParaRPr>
              </a:p>
            </p:txBody>
          </p:sp>
        </p:grpSp>
      </p:grpSp>
      <p:sp>
        <p:nvSpPr>
          <p:cNvPr id="42" name="Rectangle 117"/>
          <p:cNvSpPr>
            <a:spLocks noChangeArrowheads="1"/>
          </p:cNvSpPr>
          <p:nvPr/>
        </p:nvSpPr>
        <p:spPr bwMode="auto">
          <a:xfrm>
            <a:off x="3429000" y="4448944"/>
            <a:ext cx="325559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điều kiện </a:t>
            </a:r>
            <a:r>
              <a:rPr lang="en-US" altLang="ko-KR" sz="950" smtClean="0">
                <a:latin typeface="Times New Roman" pitchFamily="18" charset="0"/>
                <a:ea typeface="돋움" pitchFamily="50" charset="-127"/>
                <a:cs typeface="Times New Roman" pitchFamily="18" charset="0"/>
              </a:rPr>
              <a:t>mà </a:t>
            </a:r>
            <a:r>
              <a:rPr lang="en-US" altLang="ko-KR" sz="950">
                <a:latin typeface="Times New Roman" pitchFamily="18" charset="0"/>
                <a:ea typeface="돋움" pitchFamily="50" charset="-127"/>
                <a:cs typeface="Times New Roman" pitchFamily="18" charset="0"/>
              </a:rPr>
              <a:t>chất bôi trơn phải có?</a:t>
            </a:r>
          </a:p>
          <a:p>
            <a:r>
              <a:rPr lang="en-US" altLang="ko-KR" sz="950" smtClean="0">
                <a:latin typeface="Times New Roman" pitchFamily="18" charset="0"/>
                <a:ea typeface="돋움" pitchFamily="50" charset="-127"/>
                <a:cs typeface="Times New Roman" pitchFamily="18" charset="0"/>
              </a:rPr>
              <a:t>A. Cường </a:t>
            </a:r>
            <a:r>
              <a:rPr lang="en-US" altLang="ko-KR" sz="950">
                <a:latin typeface="Times New Roman" pitchFamily="18" charset="0"/>
                <a:ea typeface="돋움" pitchFamily="50" charset="-127"/>
                <a:cs typeface="Times New Roman" pitchFamily="18" charset="0"/>
              </a:rPr>
              <a:t>độ màng dầu phải mạnh</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Khả năng chống mòn nhỏ</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Ma </a:t>
            </a:r>
            <a:r>
              <a:rPr lang="en-US" altLang="ko-KR" sz="950">
                <a:latin typeface="Times New Roman" pitchFamily="18" charset="0"/>
                <a:ea typeface="돋움" pitchFamily="50" charset="-127"/>
                <a:cs typeface="Times New Roman" pitchFamily="18" charset="0"/>
              </a:rPr>
              <a:t>sát ít</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Dù </a:t>
            </a:r>
            <a:r>
              <a:rPr lang="en-US" altLang="ko-KR" sz="950">
                <a:latin typeface="Times New Roman" pitchFamily="18" charset="0"/>
                <a:ea typeface="돋움" pitchFamily="50" charset="-127"/>
                <a:cs typeface="Times New Roman" pitchFamily="18" charset="0"/>
              </a:rPr>
              <a:t>bị thay nhiều lần nhưng </a:t>
            </a:r>
            <a:r>
              <a:rPr lang="en-US" altLang="ko-KR" sz="950" smtClean="0">
                <a:latin typeface="Times New Roman" pitchFamily="18" charset="0"/>
                <a:ea typeface="돋움" pitchFamily="50" charset="-127"/>
                <a:cs typeface="Times New Roman" pitchFamily="18" charset="0"/>
              </a:rPr>
              <a:t>tác dụng</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không </a:t>
            </a:r>
            <a:r>
              <a:rPr lang="en-US" altLang="ko-KR" sz="950">
                <a:latin typeface="Times New Roman" pitchFamily="18" charset="0"/>
                <a:ea typeface="돋움" pitchFamily="50" charset="-127"/>
                <a:cs typeface="Times New Roman" pitchFamily="18" charset="0"/>
              </a:rPr>
              <a:t>thay đổi lớn</a:t>
            </a:r>
            <a:endParaRPr lang="ko-KR" altLang="en-US" sz="950">
              <a:latin typeface="Times New Roman" pitchFamily="18" charset="0"/>
              <a:ea typeface="돋움" pitchFamily="50" charset="-127"/>
              <a:cs typeface="Times New Roman" pitchFamily="18" charset="0"/>
            </a:endParaRPr>
          </a:p>
        </p:txBody>
      </p:sp>
      <p:sp>
        <p:nvSpPr>
          <p:cNvPr id="43"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Cần có lực căng ban đầu cao.</a:t>
            </a:r>
          </a:p>
        </p:txBody>
      </p:sp>
    </p:spTree>
    <p:extLst>
      <p:ext uri="{BB962C8B-B14F-4D97-AF65-F5344CB8AC3E}">
        <p14:creationId xmlns:p14="http://schemas.microsoft.com/office/powerpoint/2010/main" val="38790456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420170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trung bình (average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VP_P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5569858"/>
            <a:ext cx="338437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Số hiệu nguyên tử Na (Natri) là 11, Lớp ngoài cùng là lớp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Lớp </a:t>
            </a:r>
            <a:r>
              <a:rPr lang="vi-VN" altLang="ko-KR" sz="950" smtClean="0">
                <a:latin typeface="Times New Roman" pitchFamily="18" charset="0"/>
                <a:ea typeface="LG Smart_H Regular" panose="020B0600000101010101" pitchFamily="34" charset="-127"/>
                <a:cs typeface="Times New Roman" pitchFamily="18" charset="0"/>
              </a:rPr>
              <a:t>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Lớp  L</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a:t>
            </a:r>
            <a:r>
              <a:rPr lang="vi-VN" altLang="ko-KR" sz="950">
                <a:latin typeface="Times New Roman" pitchFamily="18" charset="0"/>
                <a:ea typeface="LG Smart_H Regular" panose="020B0600000101010101" pitchFamily="34" charset="-127"/>
                <a:cs typeface="Times New Roman" pitchFamily="18" charset="0"/>
              </a:rPr>
              <a:t>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36071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Smoothing circuit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a:t>
            </a:r>
            <a:r>
              <a:rPr lang="vi-VN" altLang="ko-KR" sz="950" smtClean="0">
                <a:latin typeface="Times New Roman" pitchFamily="18" charset="0"/>
                <a:ea typeface="LG Smart_H Regular" panose="020B0600000101010101" pitchFamily="34" charset="-127"/>
                <a:cs typeface="Times New Roman" pitchFamily="18" charset="0"/>
              </a:rPr>
              <a:t>circuit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2877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dưới đây về phương thức nối dây cảm </a:t>
            </a:r>
            <a:r>
              <a:rPr lang="vi-VN" altLang="ko-KR" sz="950" smtClean="0">
                <a:latin typeface="Times New Roman" pitchFamily="18" charset="0"/>
                <a:ea typeface="LG Smart_H Regular" panose="020B0600000101010101" pitchFamily="34" charset="-127"/>
                <a:cs typeface="Times New Roman" pitchFamily="18" charset="0"/>
              </a:rPr>
              <a:t>biến?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 dây trắng(+), dây đen(out),dây hồng(option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Dây nâu(+),dây xanh(-),dây trắng(out),dây hồng(option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xanh(-),dây đen(out),dây trắng(option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đen(-),dây xanh(out),dây hồng(option)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01377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en-US" altLang="ko-KR" sz="950">
                <a:latin typeface="Times New Roman" pitchFamily="18" charset="0"/>
                <a:ea typeface="LG Smart_H Regular" panose="020B0600000101010101" pitchFamily="34" charset="-127"/>
                <a:cs typeface="Times New Roman" pitchFamily="18" charset="0"/>
              </a:rPr>
              <a:t>Thermistor "negative temperature coefficient thermistor" có đặc điểm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giảm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tăng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a:t>
            </a:r>
            <a:r>
              <a:rPr lang="vi-VN" altLang="ko-KR" sz="950" smtClean="0">
                <a:latin typeface="Times New Roman" pitchFamily="18" charset="0"/>
                <a:ea typeface="LG Smart_H Regular" panose="020B0600000101010101" pitchFamily="34" charset="-127"/>
                <a:cs typeface="Times New Roman" pitchFamily="18" charset="0"/>
              </a:rPr>
              <a:t>giảm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tăng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671763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cách điện không hết khiến một phần dòng điện chạy ra ngoài và chạy vào vật dẫn xung quanh.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Rò điện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Đoạn dây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Chập </a:t>
            </a:r>
            <a:r>
              <a:rPr lang="en-US" altLang="ko-KR" sz="950" smtClean="0">
                <a:latin typeface="Times New Roman" pitchFamily="18" charset="0"/>
                <a:ea typeface="LG Smart_H Regular" panose="020B0600000101010101" pitchFamily="34" charset="-127"/>
                <a:cs typeface="Times New Roman" pitchFamily="18" charset="0"/>
              </a:rPr>
              <a:t>dây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địa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136576"/>
            <a:ext cx="3239810" cy="2723823"/>
            <a:chOff x="188640" y="1255253"/>
            <a:chExt cx="3239810" cy="2723823"/>
          </a:xfrm>
        </p:grpSpPr>
        <p:sp>
          <p:nvSpPr>
            <p:cNvPr id="59" name="Rectangle 7"/>
            <p:cNvSpPr>
              <a:spLocks noChangeArrowheads="1"/>
            </p:cNvSpPr>
            <p:nvPr/>
          </p:nvSpPr>
          <p:spPr bwMode="auto">
            <a:xfrm>
              <a:off x="188640" y="1255253"/>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Vậy A là hiện tượng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Kích </a:t>
              </a:r>
              <a:r>
                <a:rPr lang="en-US" altLang="ko-KR" sz="950">
                  <a:latin typeface="Times New Roman" pitchFamily="18" charset="0"/>
                  <a:ea typeface="LG Smart_H Regular" panose="020B0600000101010101" pitchFamily="34" charset="-127"/>
                  <a:cs typeface="Times New Roman" pitchFamily="18" charset="0"/>
                </a:rPr>
                <a:t>thích(excitation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I-ôn hóa(ionization)(Điện ly)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Phóng xung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tử ánh sáng(Proton)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6" name="Group 55"/>
            <p:cNvGrpSpPr/>
            <p:nvPr/>
          </p:nvGrpSpPr>
          <p:grpSpPr>
            <a:xfrm>
              <a:off x="718317" y="1610235"/>
              <a:ext cx="1990603" cy="1470557"/>
              <a:chOff x="0" y="0"/>
              <a:chExt cx="3846157" cy="2239736"/>
            </a:xfrm>
          </p:grpSpPr>
          <p:pic>
            <p:nvPicPr>
              <p:cNvPr id="64" name="Picture 63"/>
              <p:cNvPicPr>
                <a:picLocks noChangeAspect="1" noChangeArrowheads="1"/>
              </p:cNvPicPr>
              <p:nvPr/>
            </p:nvPicPr>
            <p:blipFill>
              <a:blip r:embed="rId3">
                <a:extLst>
                  <a:ext uri="{28A0092B-C50C-407E-A947-70E740481C1C}">
                    <a14:useLocalDpi xmlns:a14="http://schemas.microsoft.com/office/drawing/2010/main" val="0"/>
                  </a:ext>
                </a:extLst>
              </a:blip>
              <a:srcRect l="3677" t="6573"/>
              <a:stretch>
                <a:fillRect/>
              </a:stretch>
            </p:blipFill>
            <p:spPr bwMode="auto">
              <a:xfrm>
                <a:off x="0" y="0"/>
                <a:ext cx="3846157" cy="223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직사각형 7"/>
              <p:cNvSpPr>
                <a:spLocks noChangeArrowheads="1"/>
              </p:cNvSpPr>
              <p:nvPr/>
            </p:nvSpPr>
            <p:spPr bwMode="auto">
              <a:xfrm>
                <a:off x="481694" y="1095373"/>
                <a:ext cx="304800" cy="2476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C</a:t>
                </a:r>
                <a:endParaRPr lang="ko-KR" altLang="en-US" sz="1100" b="1">
                  <a:latin typeface="Times New Roman" pitchFamily="18" charset="0"/>
                  <a:cs typeface="Times New Roman" pitchFamily="18" charset="0"/>
                </a:endParaRPr>
              </a:p>
            </p:txBody>
          </p:sp>
          <p:sp>
            <p:nvSpPr>
              <p:cNvPr id="66" name="직사각형 8"/>
              <p:cNvSpPr>
                <a:spLocks noChangeArrowheads="1"/>
              </p:cNvSpPr>
              <p:nvPr/>
            </p:nvSpPr>
            <p:spPr bwMode="auto">
              <a:xfrm>
                <a:off x="1236891" y="361949"/>
                <a:ext cx="322488" cy="2857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sp>
            <p:nvSpPr>
              <p:cNvPr id="67" name="직사각형 9"/>
              <p:cNvSpPr>
                <a:spLocks noChangeArrowheads="1"/>
              </p:cNvSpPr>
              <p:nvPr/>
            </p:nvSpPr>
            <p:spPr bwMode="auto">
              <a:xfrm>
                <a:off x="511629" y="48985"/>
                <a:ext cx="346983" cy="34426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sp>
        <p:nvSpPr>
          <p:cNvPr id="68" name="Rectangle 7"/>
          <p:cNvSpPr>
            <a:spLocks noChangeArrowheads="1"/>
          </p:cNvSpPr>
          <p:nvPr/>
        </p:nvSpPr>
        <p:spPr bwMode="auto">
          <a:xfrm>
            <a:off x="162099" y="8121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Potential </a:t>
            </a:r>
            <a:r>
              <a:rPr lang="vi-VN" altLang="ko-KR" sz="950" smtClean="0">
                <a:latin typeface="Times New Roman" pitchFamily="18" charset="0"/>
                <a:ea typeface="LG Smart_H Regular" panose="020B0600000101010101" pitchFamily="34" charset="-127"/>
                <a:cs typeface="Times New Roman" pitchFamily="18" charset="0"/>
              </a:rPr>
              <a:t>difference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a:t>
            </a:r>
            <a:r>
              <a:rPr lang="en-US" altLang="ko-KR" sz="950" smtClean="0">
                <a:latin typeface="Times New Roman" pitchFamily="18" charset="0"/>
                <a:ea typeface="LG Smart_H Regular" panose="020B0600000101010101" pitchFamily="34" charset="-127"/>
                <a:cs typeface="Times New Roman" pitchFamily="18" charset="0"/>
              </a:rPr>
              <a:t>voltage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định luật sau: "Tại bất kỳ nút (ngã rẽ) nào trong một mạch điện, thì tổng cường độ dòng điện chạy đến nút phải bằng tổng cường độ dòng điện từ nút chạy 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Ohm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Kirchhoff</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Định luật </a:t>
            </a:r>
            <a:r>
              <a:rPr lang="en-US" altLang="ko-KR" sz="950" smtClean="0">
                <a:latin typeface="Times New Roman" pitchFamily="18" charset="0"/>
                <a:ea typeface="LG Smart_H Regular" panose="020B0600000101010101" pitchFamily="34" charset="-127"/>
                <a:cs typeface="Times New Roman" pitchFamily="18" charset="0"/>
              </a:rPr>
              <a:t>Lenz</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Newton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4" name="Picture 7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1854" y="2576736"/>
            <a:ext cx="1706245" cy="899666"/>
          </a:xfrm>
          <a:prstGeom prst="rect">
            <a:avLst/>
          </a:prstGeom>
        </p:spPr>
      </p:pic>
      <p:grpSp>
        <p:nvGrpSpPr>
          <p:cNvPr id="3" name="Group 2"/>
          <p:cNvGrpSpPr/>
          <p:nvPr/>
        </p:nvGrpSpPr>
        <p:grpSpPr>
          <a:xfrm>
            <a:off x="3448472" y="4199528"/>
            <a:ext cx="3239810" cy="1473552"/>
            <a:chOff x="3448472" y="4199528"/>
            <a:chExt cx="3239810" cy="1473552"/>
          </a:xfrm>
        </p:grpSpPr>
        <p:sp>
          <p:nvSpPr>
            <p:cNvPr id="70" name="Rectangle 7"/>
            <p:cNvSpPr>
              <a:spLocks noChangeArrowheads="1"/>
            </p:cNvSpPr>
            <p:nvPr/>
          </p:nvSpPr>
          <p:spPr bwMode="auto">
            <a:xfrm>
              <a:off x="3448472" y="41995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Trong hình, điện áp đặt vào 2 đầu của Diode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0.2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0.5 (V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0.7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0.7 (V)</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5"/>
            <a:stretch>
              <a:fillRect/>
            </a:stretch>
          </p:blipFill>
          <p:spPr>
            <a:xfrm>
              <a:off x="4682565" y="4395370"/>
              <a:ext cx="1626755" cy="1277710"/>
            </a:xfrm>
            <a:prstGeom prst="rect">
              <a:avLst/>
            </a:prstGeom>
          </p:spPr>
        </p:pic>
      </p:grpSp>
    </p:spTree>
    <p:extLst>
      <p:ext uri="{BB962C8B-B14F-4D97-AF65-F5344CB8AC3E}">
        <p14:creationId xmlns:p14="http://schemas.microsoft.com/office/powerpoint/2010/main" val="8344871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111" name="Rectangle 173"/>
          <p:cNvSpPr>
            <a:spLocks noChangeArrowheads="1"/>
          </p:cNvSpPr>
          <p:nvPr/>
        </p:nvSpPr>
        <p:spPr bwMode="auto">
          <a:xfrm>
            <a:off x="188640" y="8454533"/>
            <a:ext cx="3308896"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15.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P =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B.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VI    </a:t>
            </a:r>
            <a:r>
              <a:rPr lang="en-US" altLang="ko-KR" sz="950" smtClean="0">
                <a:latin typeface="Times New Roman" pitchFamily="18" charset="0"/>
                <a:cs typeface="Times New Roman" pitchFamily="18" charset="0"/>
              </a:rPr>
              <a:t>C.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D.  P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IB*V</a:t>
            </a:r>
            <a:endParaRPr lang="en-US" altLang="ko-KR" sz="950" dirty="0">
              <a:latin typeface="Times New Roman" pitchFamily="18" charset="0"/>
              <a:cs typeface="Times New Roman" pitchFamily="18" charset="0"/>
            </a:endParaRPr>
          </a:p>
        </p:txBody>
      </p:sp>
      <p:sp>
        <p:nvSpPr>
          <p:cNvPr id="112" name="Rectangle 398"/>
          <p:cNvSpPr>
            <a:spLocks noChangeArrowheads="1"/>
          </p:cNvSpPr>
          <p:nvPr/>
        </p:nvSpPr>
        <p:spPr bwMode="auto">
          <a:xfrm>
            <a:off x="3466740" y="1073588"/>
            <a:ext cx="3308896"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228600" indent="-228600" eaLnBrk="1" hangingPunct="1"/>
            <a:r>
              <a:rPr lang="en-US" altLang="ko-KR" sz="950" dirty="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a:t>
            </a:r>
            <a:r>
              <a:rPr lang="en-US" altLang="ko-KR" sz="950" smtClean="0">
                <a:latin typeface="Times New Roman" pitchFamily="18" charset="0"/>
                <a:cs typeface="Times New Roman" pitchFamily="18" charset="0"/>
              </a:rPr>
              <a:t>ưu </a:t>
            </a:r>
            <a:r>
              <a:rPr lang="en-US" altLang="ko-KR" sz="950" dirty="0" err="1" smtClean="0">
                <a:latin typeface="Times New Roman" pitchFamily="18" charset="0"/>
                <a:cs typeface="Times New Roman" pitchFamily="18" charset="0"/>
              </a:rPr>
              <a:t>huỳnh</a:t>
            </a:r>
            <a:endParaRPr lang="ko-KR" altLang="en-US" sz="950" dirty="0">
              <a:latin typeface="Times New Roman" pitchFamily="18" charset="0"/>
              <a:cs typeface="Times New Roman" pitchFamily="18" charset="0"/>
            </a:endParaRPr>
          </a:p>
        </p:txBody>
      </p:sp>
      <p:sp>
        <p:nvSpPr>
          <p:cNvPr id="113" name="Rectangle 283"/>
          <p:cNvSpPr>
            <a:spLocks noChangeArrowheads="1"/>
          </p:cNvSpPr>
          <p:nvPr/>
        </p:nvSpPr>
        <p:spPr bwMode="auto">
          <a:xfrm>
            <a:off x="160784" y="1064568"/>
            <a:ext cx="327926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11.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coil?</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Đặc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Áp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tượng</a:t>
            </a:r>
            <a:r>
              <a:rPr lang="en-US" altLang="ko-KR" sz="950" smtClean="0">
                <a:latin typeface="Times New Roman" pitchFamily="18" charset="0"/>
                <a:cs typeface="Times New Roman" pitchFamily="18" charset="0"/>
              </a:rPr>
              <a:t> hỗ </a:t>
            </a:r>
            <a:r>
              <a:rPr lang="en-US" altLang="ko-KR" sz="950" dirty="0" err="1" smtClean="0">
                <a:latin typeface="Times New Roman" pitchFamily="18" charset="0"/>
                <a:cs typeface="Times New Roman" pitchFamily="18" charset="0"/>
              </a:rPr>
              <a:t>cảm</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nam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khuếch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grpSp>
        <p:nvGrpSpPr>
          <p:cNvPr id="115" name="Group 114"/>
          <p:cNvGrpSpPr/>
          <p:nvPr/>
        </p:nvGrpSpPr>
        <p:grpSpPr>
          <a:xfrm>
            <a:off x="188640" y="2144688"/>
            <a:ext cx="3240360" cy="823302"/>
            <a:chOff x="3353817" y="3720680"/>
            <a:chExt cx="3240360" cy="823302"/>
          </a:xfrm>
        </p:grpSpPr>
        <p:sp>
          <p:nvSpPr>
            <p:cNvPr id="116" name="Rectangle 178"/>
            <p:cNvSpPr>
              <a:spLocks noChangeArrowheads="1"/>
            </p:cNvSpPr>
            <p:nvPr/>
          </p:nvSpPr>
          <p:spPr bwMode="auto">
            <a:xfrm>
              <a:off x="3353817" y="3720680"/>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12</a:t>
              </a:r>
              <a:r>
                <a:rPr lang="en-US" altLang="ko-KR" sz="950">
                  <a:latin typeface="Times New Roman" pitchFamily="18" charset="0"/>
                  <a:cs typeface="Times New Roman" pitchFamily="18" charset="0"/>
                </a:rPr>
                <a:t>. </a:t>
              </a:r>
              <a:r>
                <a:rPr lang="vi-VN" altLang="ko-KR" sz="950">
                  <a:latin typeface="Times New Roman" pitchFamily="18" charset="0"/>
                  <a:cs typeface="Times New Roman" pitchFamily="18" charset="0"/>
                </a:rPr>
                <a:t>Giá trị của điện trở sau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5.6 </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560 </a:t>
              </a:r>
              <a:r>
                <a:rPr lang="en-US" altLang="ko-KR" sz="950">
                  <a:latin typeface="Times New Roman" pitchFamily="18" charset="0"/>
                  <a:cs typeface="Times New Roman" pitchFamily="18" charset="0"/>
                </a:rPr>
                <a:t>[</a:t>
              </a:r>
              <a:r>
                <a:rPr lang="en-US" altLang="ko-KR" sz="950" smtClean="0">
                  <a:latin typeface="Times New Roman" pitchFamily="18" charset="0"/>
                  <a:cs typeface="Times New Roman" pitchFamily="18" charset="0"/>
                </a:rPr>
                <a:t>Ω]   </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650 [Ω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D. </a:t>
              </a:r>
              <a:r>
                <a:rPr lang="en-US" altLang="ko-KR" sz="950" dirty="0">
                  <a:latin typeface="Times New Roman" pitchFamily="18" charset="0"/>
                  <a:cs typeface="Times New Roman" pitchFamily="18" charset="0"/>
                </a:rPr>
                <a:t>65 [</a:t>
              </a:r>
              <a:r>
                <a:rPr lang="en-US" altLang="ko-KR" sz="950" dirty="0" err="1">
                  <a:latin typeface="Times New Roman" pitchFamily="18" charset="0"/>
                  <a:cs typeface="Times New Roman" pitchFamily="18" charset="0"/>
                </a:rPr>
                <a:t>kΩ</a:t>
              </a:r>
              <a:r>
                <a:rPr lang="en-US" altLang="ko-KR" sz="950" dirty="0">
                  <a:latin typeface="Times New Roman" pitchFamily="18" charset="0"/>
                  <a:cs typeface="Times New Roman" pitchFamily="18" charset="0"/>
                </a:rPr>
                <a:t>]</a:t>
              </a:r>
            </a:p>
          </p:txBody>
        </p:sp>
        <p:grpSp>
          <p:nvGrpSpPr>
            <p:cNvPr id="117" name="Group 179"/>
            <p:cNvGrpSpPr>
              <a:grpSpLocks/>
            </p:cNvGrpSpPr>
            <p:nvPr/>
          </p:nvGrpSpPr>
          <p:grpSpPr bwMode="auto">
            <a:xfrm>
              <a:off x="5258636" y="3995932"/>
              <a:ext cx="1119188" cy="390526"/>
              <a:chOff x="1341" y="5808"/>
              <a:chExt cx="774" cy="246"/>
            </a:xfrm>
          </p:grpSpPr>
          <p:graphicFrame>
            <p:nvGraphicFramePr>
              <p:cNvPr id="119" name="Object 180"/>
              <p:cNvGraphicFramePr>
                <a:graphicFrameLocks noChangeAspect="1"/>
              </p:cNvGraphicFramePr>
              <p:nvPr>
                <p:extLst>
                  <p:ext uri="{D42A27DB-BD31-4B8C-83A1-F6EECF244321}">
                    <p14:modId xmlns:p14="http://schemas.microsoft.com/office/powerpoint/2010/main" val="2132343509"/>
                  </p:ext>
                </p:extLst>
              </p:nvPr>
            </p:nvGraphicFramePr>
            <p:xfrm>
              <a:off x="1341" y="5808"/>
              <a:ext cx="774" cy="108"/>
            </p:xfrm>
            <a:graphic>
              <a:graphicData uri="http://schemas.openxmlformats.org/presentationml/2006/ole">
                <mc:AlternateContent xmlns:mc="http://schemas.openxmlformats.org/markup-compatibility/2006">
                  <mc:Choice xmlns:v="urn:schemas-microsoft-com:vml" Requires="v">
                    <p:oleObj spid="_x0000_s1062" name="비트맵 이미지" r:id="rId4" imgW="1228571" imgH="171338" progId="Paint.Picture">
                      <p:embed/>
                    </p:oleObj>
                  </mc:Choice>
                  <mc:Fallback>
                    <p:oleObj name="비트맵 이미지" r:id="rId4" imgW="1228571" imgH="1713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 y="5808"/>
                            <a:ext cx="774"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Text Box 181"/>
              <p:cNvSpPr txBox="1">
                <a:spLocks noChangeArrowheads="1"/>
              </p:cNvSpPr>
              <p:nvPr/>
            </p:nvSpPr>
            <p:spPr bwMode="auto">
              <a:xfrm>
                <a:off x="1478" y="5904"/>
                <a:ext cx="465"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ko-KR" altLang="en-US" sz="950" b="1">
                    <a:latin typeface="Times New Roman" pitchFamily="18" charset="0"/>
                    <a:cs typeface="Times New Roman" pitchFamily="18" charset="0"/>
                  </a:rPr>
                  <a:t>녹청갈금</a:t>
                </a:r>
              </a:p>
            </p:txBody>
          </p:sp>
        </p:grpSp>
        <p:sp>
          <p:nvSpPr>
            <p:cNvPr id="118" name="Rectangle 173"/>
            <p:cNvSpPr>
              <a:spLocks noChangeArrowheads="1"/>
            </p:cNvSpPr>
            <p:nvPr/>
          </p:nvSpPr>
          <p:spPr bwMode="auto">
            <a:xfrm>
              <a:off x="5239807" y="4152728"/>
              <a:ext cx="1354370" cy="384721"/>
            </a:xfrm>
            <a:prstGeom prst="rect">
              <a:avLst/>
            </a:prstGeom>
            <a:solidFill>
              <a:schemeClr val="bg1"/>
            </a:solidFill>
            <a:ln>
              <a:noFill/>
            </a:ln>
            <a:effectLs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smtClean="0">
                  <a:latin typeface="Times New Roman" pitchFamily="18" charset="0"/>
                  <a:cs typeface="Times New Roman" pitchFamily="18" charset="0"/>
                </a:rPr>
                <a:t>Xanh lục , Xanh lam, Nâu, Gold</a:t>
              </a:r>
              <a:endParaRPr lang="en-US" altLang="ko-KR" sz="950" b="1">
                <a:latin typeface="Times New Roman" pitchFamily="18" charset="0"/>
                <a:cs typeface="Times New Roman" pitchFamily="18" charset="0"/>
              </a:endParaRPr>
            </a:p>
          </p:txBody>
        </p:sp>
      </p:grpSp>
      <p:sp>
        <p:nvSpPr>
          <p:cNvPr id="121" name="Rectangle 591"/>
          <p:cNvSpPr>
            <a:spLocks noChangeArrowheads="1"/>
          </p:cNvSpPr>
          <p:nvPr/>
        </p:nvSpPr>
        <p:spPr bwMode="auto">
          <a:xfrm>
            <a:off x="3501008" y="6073914"/>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Trong lượng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dây</a:t>
            </a:r>
            <a:r>
              <a:rPr lang="en-US" altLang="ko-KR" sz="950" smtClean="0">
                <a:latin typeface="Times New Roman" pitchFamily="18" charset="0"/>
                <a:cs typeface="Times New Roman" pitchFamily="18" charset="0"/>
              </a:rPr>
              <a:t> điện</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
        <p:nvSpPr>
          <p:cNvPr id="122" name="Rectangle 174"/>
          <p:cNvSpPr>
            <a:spLocks noChangeArrowheads="1"/>
          </p:cNvSpPr>
          <p:nvPr/>
        </p:nvSpPr>
        <p:spPr bwMode="auto">
          <a:xfrm>
            <a:off x="3501008" y="7802106"/>
            <a:ext cx="32403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20. </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carbon?</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kim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loại</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cement </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carbon </a:t>
            </a:r>
            <a:r>
              <a:rPr lang="en-US" altLang="ko-KR" sz="950" err="1" smtClean="0">
                <a:latin typeface="Times New Roman" pitchFamily="18" charset="0"/>
                <a:cs typeface="Times New Roman" pitchFamily="18" charset="0"/>
              </a:rPr>
              <a:t>nhỏ</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endParaRPr lang="ko-KR" altLang="en-US" sz="950" dirty="0">
              <a:latin typeface="Times New Roman" pitchFamily="18" charset="0"/>
              <a:cs typeface="Times New Roman" pitchFamily="18" charset="0"/>
            </a:endParaRPr>
          </a:p>
        </p:txBody>
      </p:sp>
      <p:sp>
        <p:nvSpPr>
          <p:cNvPr id="123" name="Rectangle 122"/>
          <p:cNvSpPr/>
          <p:nvPr/>
        </p:nvSpPr>
        <p:spPr>
          <a:xfrm>
            <a:off x="3429000" y="2635736"/>
            <a:ext cx="3275792" cy="1261884"/>
          </a:xfrm>
          <a:prstGeom prst="rect">
            <a:avLst/>
          </a:prstGeom>
        </p:spPr>
        <p:txBody>
          <a:bodyPr wrap="square">
            <a:spAutoFit/>
          </a:bodyPr>
          <a:lstStyle/>
          <a:p>
            <a:r>
              <a:rPr lang="vi-VN" altLang="ko-KR" sz="950" smtClean="0">
                <a:latin typeface="Times New Roman" pitchFamily="18" charset="0"/>
                <a:ea typeface="돋움" pitchFamily="50" charset="-127"/>
                <a:cs typeface="Times New Roman" pitchFamily="18" charset="0"/>
              </a:rPr>
              <a:t>1</a:t>
            </a:r>
            <a:r>
              <a:rPr lang="en-US" altLang="ko-KR" sz="950" smtClean="0">
                <a:latin typeface="Times New Roman" pitchFamily="18" charset="0"/>
                <a:ea typeface="돋움" pitchFamily="50" charset="-127"/>
                <a:cs typeface="Times New Roman" pitchFamily="18" charset="0"/>
              </a:rPr>
              <a:t>7</a:t>
            </a:r>
            <a:r>
              <a:rPr lang="vi-VN" altLang="ko-KR"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Điều gì được mô tả tiếp theo?</a:t>
            </a:r>
          </a:p>
          <a:p>
            <a:r>
              <a:rPr lang="vi-VN" altLang="ko-KR"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nhận được năng lượng và năng lượng của nó tăng lên, nó sẽ rời khỏi </a:t>
            </a:r>
            <a:r>
              <a:rPr lang="en-US" altLang="ko-KR" sz="950">
                <a:latin typeface="Times New Roman" pitchFamily="18" charset="0"/>
                <a:ea typeface="돋움" pitchFamily="50" charset="-127"/>
                <a:cs typeface="Times New Roman" pitchFamily="18" charset="0"/>
              </a:rPr>
              <a:t>quỹ đạo </a:t>
            </a:r>
            <a:r>
              <a:rPr lang="vi-VN" altLang="ko-KR" sz="950">
                <a:latin typeface="Times New Roman" pitchFamily="18" charset="0"/>
                <a:ea typeface="돋움" pitchFamily="50" charset="-127"/>
                <a:cs typeface="Times New Roman" pitchFamily="18" charset="0"/>
              </a:rPr>
              <a:t>và trở thành một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tự do, và tự do di chuyển giữa các nguyên tử. Điện năng được tạo ra theo cách này được gọi là (</a:t>
            </a:r>
            <a:r>
              <a:rPr lang="en-US" altLang="ko-KR" sz="950">
                <a:latin typeface="Times New Roman" pitchFamily="18" charset="0"/>
                <a:ea typeface="돋움" pitchFamily="50" charset="-127"/>
                <a:cs typeface="Times New Roman" pitchFamily="18" charset="0"/>
              </a:rPr>
              <a:t>…</a:t>
            </a:r>
            <a:r>
              <a:rPr lang="vi-VN" altLang="ko-KR" sz="950">
                <a:latin typeface="Times New Roman" pitchFamily="18" charset="0"/>
                <a:ea typeface="돋움" pitchFamily="50" charset="-127"/>
                <a:cs typeface="Times New Roman" pitchFamily="18" charset="0"/>
              </a:rPr>
              <a:t>)]</a:t>
            </a:r>
          </a:p>
          <a:p>
            <a:r>
              <a:rPr lang="en-US" altLang="ko-KR" sz="950">
                <a:latin typeface="Times New Roman" pitchFamily="18" charset="0"/>
                <a:ea typeface="돋움" pitchFamily="50" charset="-127"/>
                <a:cs typeface="Times New Roman" pitchFamily="18" charset="0"/>
              </a:rPr>
              <a:t>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Lượng tử ánh </a:t>
            </a:r>
            <a:r>
              <a:rPr lang="en-US" altLang="ko-KR" sz="950" smtClean="0">
                <a:latin typeface="Times New Roman" pitchFamily="18" charset="0"/>
                <a:ea typeface="돋움" pitchFamily="50" charset="-127"/>
                <a:cs typeface="Times New Roman" pitchFamily="18" charset="0"/>
              </a:rPr>
              <a:t>sáng    B. </a:t>
            </a:r>
            <a:r>
              <a:rPr lang="en-US" altLang="ko-KR" sz="950">
                <a:latin typeface="Times New Roman" pitchFamily="18" charset="0"/>
                <a:ea typeface="돋움" pitchFamily="50" charset="-127"/>
                <a:cs typeface="Times New Roman" pitchFamily="18" charset="0"/>
              </a:rPr>
              <a:t>Kích thích</a:t>
            </a:r>
            <a:endParaRPr lang="vi-VN" altLang="ko-KR" sz="950">
              <a:latin typeface="Times New Roman" pitchFamily="18" charset="0"/>
              <a:ea typeface="돋움" pitchFamily="50" charset="-127"/>
              <a:cs typeface="Times New Roman" pitchFamily="18" charset="0"/>
            </a:endParaRPr>
          </a:p>
          <a:p>
            <a:r>
              <a:rPr lang="vi-VN"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vi-VN"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Điện </a:t>
            </a:r>
            <a:r>
              <a:rPr lang="en-US" altLang="ko-KR" sz="950" smtClean="0">
                <a:latin typeface="Times New Roman" pitchFamily="18" charset="0"/>
                <a:ea typeface="돋움" pitchFamily="50" charset="-127"/>
                <a:cs typeface="Times New Roman" pitchFamily="18" charset="0"/>
              </a:rPr>
              <a:t>tích                     D. </a:t>
            </a:r>
            <a:r>
              <a:rPr lang="en-US" altLang="ko-KR" sz="950">
                <a:latin typeface="Times New Roman" pitchFamily="18" charset="0"/>
                <a:ea typeface="돋움" pitchFamily="50" charset="-127"/>
                <a:cs typeface="Times New Roman" pitchFamily="18" charset="0"/>
              </a:rPr>
              <a:t>Electron tự do</a:t>
            </a:r>
          </a:p>
        </p:txBody>
      </p:sp>
      <p:sp>
        <p:nvSpPr>
          <p:cNvPr id="124" name="Rectangle 123"/>
          <p:cNvSpPr/>
          <p:nvPr/>
        </p:nvSpPr>
        <p:spPr>
          <a:xfrm>
            <a:off x="3501008" y="4147946"/>
            <a:ext cx="3127376" cy="1115690"/>
          </a:xfrm>
          <a:prstGeom prst="rect">
            <a:avLst/>
          </a:prstGeom>
        </p:spPr>
        <p:txBody>
          <a:bodyPr wrap="square">
            <a:spAutoFit/>
          </a:bodyPr>
          <a:lstStyle/>
          <a:p>
            <a:pPr eaLnBrk="1" hangingPunct="1"/>
            <a:r>
              <a:rPr lang="en-US" altLang="ko-KR" sz="950" smtClean="0">
                <a:latin typeface="Times New Roman" pitchFamily="18" charset="0"/>
                <a:ea typeface="돋움" pitchFamily="50" charset="-127"/>
                <a:cs typeface="Times New Roman" pitchFamily="18" charset="0"/>
              </a:rPr>
              <a:t>18</a:t>
            </a:r>
            <a:r>
              <a:rPr lang="en-US" altLang="ko-KR" sz="950">
                <a:latin typeface="Times New Roman" pitchFamily="18" charset="0"/>
                <a:ea typeface="돋움" pitchFamily="50" charset="-127"/>
                <a:cs typeface="Times New Roman" pitchFamily="18" charset="0"/>
              </a:rPr>
              <a:t>. Chọn từ điền vào chỗ trống?</a:t>
            </a:r>
          </a:p>
          <a:p>
            <a:pPr eaLnBrk="1" hangingPunct="1"/>
            <a:r>
              <a:rPr lang="en-US" altLang="ko-KR" sz="950">
                <a:latin typeface="Times New Roman" pitchFamily="18" charset="0"/>
                <a:ea typeface="돋움" pitchFamily="50" charset="-127"/>
                <a:cs typeface="Times New Roman" pitchFamily="18" charset="0"/>
              </a:rPr>
              <a:t> - Tất cả các vật chất đều được tạo thành bởi tập hợp các phân tử hoặc nguyên tủ, nguyên tử được cấu trúc bở hạt nhân nguyên tử và các (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 quay xung quanh nó.</a:t>
            </a:r>
          </a:p>
          <a:p>
            <a:pPr eaLnBrk="1" hangingPunct="1"/>
            <a:endParaRPr lang="en-US" altLang="ko-KR" sz="95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Hạt </a:t>
            </a:r>
            <a:r>
              <a:rPr lang="en-US" altLang="ko-KR" sz="950">
                <a:latin typeface="Times New Roman" pitchFamily="18" charset="0"/>
                <a:ea typeface="돋움" pitchFamily="50" charset="-127"/>
                <a:cs typeface="Times New Roman" pitchFamily="18" charset="0"/>
              </a:rPr>
              <a:t>nhân nguyên tử</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en-US" altLang="ko-KR" sz="950">
                <a:latin typeface="Times New Roman" pitchFamily="18" charset="0"/>
                <a:ea typeface="돋움" pitchFamily="50" charset="-127"/>
                <a:cs typeface="Times New Roman" pitchFamily="18" charset="0"/>
              </a:rPr>
              <a:t>.</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Nguyên tố</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a:t>
            </a:r>
            <a:r>
              <a:rPr lang="en-US" altLang="ko-KR" sz="950" smtClean="0">
                <a:latin typeface="Times New Roman" pitchFamily="18" charset="0"/>
                <a:ea typeface="돋움" pitchFamily="50" charset="-127"/>
                <a:cs typeface="Times New Roman" pitchFamily="18" charset="0"/>
              </a:rPr>
              <a:t>eutron</a:t>
            </a:r>
            <a:endParaRPr lang="ko-KR" altLang="en-US" sz="950" dirty="0">
              <a:latin typeface="Times New Roman" pitchFamily="18" charset="0"/>
              <a:ea typeface="돋움" pitchFamily="50" charset="-127"/>
              <a:cs typeface="Times New Roman" pitchFamily="18" charset="0"/>
            </a:endParaRPr>
          </a:p>
        </p:txBody>
      </p:sp>
      <p:grpSp>
        <p:nvGrpSpPr>
          <p:cNvPr id="125" name="Group 124"/>
          <p:cNvGrpSpPr/>
          <p:nvPr/>
        </p:nvGrpSpPr>
        <p:grpSpPr>
          <a:xfrm>
            <a:off x="174625" y="3636238"/>
            <a:ext cx="3429000" cy="1992853"/>
            <a:chOff x="3442740" y="4805152"/>
            <a:chExt cx="3429000" cy="1992853"/>
          </a:xfrm>
        </p:grpSpPr>
        <p:sp>
          <p:nvSpPr>
            <p:cNvPr id="126" name="Rectangle 82"/>
            <p:cNvSpPr>
              <a:spLocks noChangeArrowheads="1"/>
            </p:cNvSpPr>
            <p:nvPr/>
          </p:nvSpPr>
          <p:spPr bwMode="auto">
            <a:xfrm>
              <a:off x="3442740" y="4805152"/>
              <a:ext cx="34290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13. Giá trị Vp_p(Peak-peak)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 </a:t>
              </a:r>
              <a:r>
                <a:rPr lang="en-US" altLang="ko-KR" sz="950" dirty="0">
                  <a:latin typeface="Times New Roman" pitchFamily="18" charset="0"/>
                  <a:cs typeface="Times New Roman" pitchFamily="18" charset="0"/>
                </a:rPr>
                <a:t>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6[V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12[V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24[V</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27" name="Group 83"/>
            <p:cNvGrpSpPr>
              <a:grpSpLocks/>
            </p:cNvGrpSpPr>
            <p:nvPr/>
          </p:nvGrpSpPr>
          <p:grpSpPr bwMode="auto">
            <a:xfrm>
              <a:off x="3822760" y="5111494"/>
              <a:ext cx="2312456" cy="1210309"/>
              <a:chOff x="3112" y="3353"/>
              <a:chExt cx="920" cy="777"/>
            </a:xfrm>
          </p:grpSpPr>
          <p:graphicFrame>
            <p:nvGraphicFramePr>
              <p:cNvPr id="128" name="Object 84"/>
              <p:cNvGraphicFramePr>
                <a:graphicFrameLocks noChangeAspect="1"/>
              </p:cNvGraphicFramePr>
              <p:nvPr>
                <p:extLst>
                  <p:ext uri="{D42A27DB-BD31-4B8C-83A1-F6EECF244321}">
                    <p14:modId xmlns:p14="http://schemas.microsoft.com/office/powerpoint/2010/main" val="1230906165"/>
                  </p:ext>
                </p:extLst>
              </p:nvPr>
            </p:nvGraphicFramePr>
            <p:xfrm>
              <a:off x="3156" y="3353"/>
              <a:ext cx="876" cy="624"/>
            </p:xfrm>
            <a:graphic>
              <a:graphicData uri="http://schemas.openxmlformats.org/presentationml/2006/ole">
                <mc:AlternateContent xmlns:mc="http://schemas.openxmlformats.org/markup-compatibility/2006">
                  <mc:Choice xmlns:v="urn:schemas-microsoft-com:vml" Requires="v">
                    <p:oleObj spid="_x0000_s1063" name="비트맵 이미지" r:id="rId6" imgW="2781688" imgH="1980952" progId="Paint.Picture">
                      <p:embed/>
                    </p:oleObj>
                  </mc:Choice>
                  <mc:Fallback>
                    <p:oleObj name="비트맵 이미지" r:id="rId6"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6" y="3353"/>
                            <a:ext cx="876"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Text Box 85"/>
              <p:cNvSpPr txBox="1">
                <a:spLocks noChangeArrowheads="1"/>
              </p:cNvSpPr>
              <p:nvPr/>
            </p:nvSpPr>
            <p:spPr bwMode="auto">
              <a:xfrm>
                <a:off x="3112" y="3977"/>
                <a:ext cx="29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0" name="Text Box 86"/>
              <p:cNvSpPr txBox="1">
                <a:spLocks noChangeArrowheads="1"/>
              </p:cNvSpPr>
              <p:nvPr/>
            </p:nvSpPr>
            <p:spPr bwMode="auto">
              <a:xfrm>
                <a:off x="3557" y="3968"/>
                <a:ext cx="24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grpSp>
      <p:grpSp>
        <p:nvGrpSpPr>
          <p:cNvPr id="131" name="Group 130"/>
          <p:cNvGrpSpPr/>
          <p:nvPr/>
        </p:nvGrpSpPr>
        <p:grpSpPr>
          <a:xfrm>
            <a:off x="198483" y="6105128"/>
            <a:ext cx="3124200" cy="1992853"/>
            <a:chOff x="3429000" y="7003812"/>
            <a:chExt cx="3124200" cy="1992853"/>
          </a:xfrm>
        </p:grpSpPr>
        <p:sp>
          <p:nvSpPr>
            <p:cNvPr id="132" name="Rectangle 173"/>
            <p:cNvSpPr>
              <a:spLocks noChangeArrowheads="1"/>
            </p:cNvSpPr>
            <p:nvPr/>
          </p:nvSpPr>
          <p:spPr bwMode="auto">
            <a:xfrm>
              <a:off x="3429000" y="7003812"/>
              <a:ext cx="31242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14. Giá </a:t>
              </a:r>
              <a:r>
                <a:rPr lang="en-US" altLang="ko-KR" sz="950" smtClean="0">
                  <a:latin typeface="Times New Roman" pitchFamily="18" charset="0"/>
                  <a:cs typeface="Times New Roman" pitchFamily="18" charset="0"/>
                </a:rPr>
                <a:t>trị </a:t>
              </a:r>
              <a:r>
                <a:rPr lang="en-US" altLang="ko-KR" sz="950">
                  <a:latin typeface="Times New Roman" pitchFamily="18" charset="0"/>
                  <a:cs typeface="Times New Roman" pitchFamily="18" charset="0"/>
                </a:rPr>
                <a:t>hiệu dụng là bao </a:t>
              </a:r>
              <a:r>
                <a:rPr lang="en-US" altLang="ko-KR" sz="950" smtClean="0">
                  <a:latin typeface="Times New Roman" pitchFamily="18" charset="0"/>
                  <a:cs typeface="Times New Roman" pitchFamily="18" charset="0"/>
                </a:rPr>
                <a:t>nhiêu?</a:t>
              </a:r>
              <a:endParaRPr lang="en-US" altLang="ko-KR" sz="95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t>
              </a: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a:t>
              </a:r>
              <a:r>
                <a:rPr lang="en-US" altLang="ko-KR" sz="950">
                  <a:latin typeface="Times New Roman" pitchFamily="18" charset="0"/>
                  <a:cs typeface="Times New Roman" pitchFamily="18" charset="0"/>
                </a:rPr>
                <a:t>. 4.242[V]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B. 3.822[V]  </a:t>
              </a:r>
              <a:r>
                <a:rPr lang="en-US" altLang="ko-KR" sz="950" smtClean="0">
                  <a:latin typeface="Times New Roman" pitchFamily="18" charset="0"/>
                  <a:cs typeface="Times New Roman" pitchFamily="18" charset="0"/>
                </a:rPr>
                <a:t>  C</a:t>
              </a:r>
              <a:r>
                <a:rPr lang="en-US" altLang="ko-KR" sz="950">
                  <a:latin typeface="Times New Roman" pitchFamily="18" charset="0"/>
                  <a:cs typeface="Times New Roman" pitchFamily="18" charset="0"/>
                </a:rPr>
                <a:t>. 4.2[V]    D. 3.8[V]</a:t>
              </a:r>
              <a:endParaRPr lang="en-US" altLang="ko-KR" sz="950" dirty="0">
                <a:latin typeface="Times New Roman" pitchFamily="18" charset="0"/>
                <a:cs typeface="Times New Roman" pitchFamily="18" charset="0"/>
              </a:endParaRPr>
            </a:p>
          </p:txBody>
        </p:sp>
        <p:graphicFrame>
          <p:nvGraphicFramePr>
            <p:cNvPr id="133" name="Object 84"/>
            <p:cNvGraphicFramePr>
              <a:graphicFrameLocks noChangeAspect="1"/>
            </p:cNvGraphicFramePr>
            <p:nvPr>
              <p:extLst>
                <p:ext uri="{D42A27DB-BD31-4B8C-83A1-F6EECF244321}">
                  <p14:modId xmlns:p14="http://schemas.microsoft.com/office/powerpoint/2010/main" val="660901517"/>
                </p:ext>
              </p:extLst>
            </p:nvPr>
          </p:nvGraphicFramePr>
          <p:xfrm>
            <a:off x="3747489" y="7272523"/>
            <a:ext cx="2201861" cy="971987"/>
          </p:xfrm>
          <a:graphic>
            <a:graphicData uri="http://schemas.openxmlformats.org/presentationml/2006/ole">
              <mc:AlternateContent xmlns:mc="http://schemas.openxmlformats.org/markup-compatibility/2006">
                <mc:Choice xmlns:v="urn:schemas-microsoft-com:vml" Requires="v">
                  <p:oleObj spid="_x0000_s1064" name="비트맵 이미지" r:id="rId8" imgW="2781688" imgH="1980952" progId="Paint.Picture">
                    <p:embed/>
                  </p:oleObj>
                </mc:Choice>
                <mc:Fallback>
                  <p:oleObj name="비트맵 이미지" r:id="rId8"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7489" y="7272523"/>
                          <a:ext cx="2201861" cy="9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 name="Text Box 85"/>
            <p:cNvSpPr txBox="1">
              <a:spLocks noChangeArrowheads="1"/>
            </p:cNvSpPr>
            <p:nvPr/>
          </p:nvSpPr>
          <p:spPr bwMode="auto">
            <a:xfrm>
              <a:off x="3645030" y="8230005"/>
              <a:ext cx="74732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5" name="Text Box 86"/>
            <p:cNvSpPr txBox="1">
              <a:spLocks noChangeArrowheads="1"/>
            </p:cNvSpPr>
            <p:nvPr/>
          </p:nvSpPr>
          <p:spPr bwMode="auto">
            <a:xfrm>
              <a:off x="4947044" y="8230005"/>
              <a:ext cx="620683"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spTree>
    <p:extLst>
      <p:ext uri="{BB962C8B-B14F-4D97-AF65-F5344CB8AC3E}">
        <p14:creationId xmlns:p14="http://schemas.microsoft.com/office/powerpoint/2010/main" val="16878999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Transfer Contact là tên dùng để chỉ tiếp điểm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Tiếp điểm 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B</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Cả A B 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Thời gian sao chép condensor khi thay thế PIN của CPU là 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 </a:t>
            </a:r>
            <a:r>
              <a:rPr lang="en-US" altLang="ko-KR" sz="950" smtClean="0">
                <a:latin typeface="Times New Roman" pitchFamily="18" charset="0"/>
                <a:ea typeface="LG Smart_H Regular" panose="020B0600000101010101" pitchFamily="34" charset="-127"/>
                <a:cs typeface="Times New Roman" pitchFamily="18" charset="0"/>
              </a:rPr>
              <a:t>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phút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Relay đặc biệt nào sẽ chuyển trạng thái On khi phát hiện PIN của CPU sắp </a:t>
            </a:r>
            <a:r>
              <a:rPr lang="vi-VN" altLang="ko-KR" sz="950" smtClean="0">
                <a:latin typeface="Times New Roman" pitchFamily="18" charset="0"/>
                <a:ea typeface="LG Smart_H Regular" panose="020B0600000101010101" pitchFamily="34" charset="-127"/>
                <a:cs typeface="Times New Roman" pitchFamily="18" charset="0"/>
              </a:rPr>
              <a:t>hết?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SM51</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SM604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SM605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SM501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Là Device xuất ra bên ngoài (SOLENOID, cầu giao điện tử, đèn báo, máy biểu thị DIGITAL) v.v kết quả điều khiển Program </a:t>
            </a:r>
            <a:r>
              <a:rPr lang="vi-VN" altLang="ko-KR" sz="950" smtClean="0">
                <a:latin typeface="Times New Roman" pitchFamily="18" charset="0"/>
                <a:ea typeface="LG Smart_H Regular" panose="020B0600000101010101" pitchFamily="34" charset="-127"/>
                <a:cs typeface="Times New Roman" pitchFamily="18" charset="0"/>
              </a:rPr>
              <a:t>nhập?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 Y</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D. W</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Để vào được chế độ chỉnh sửa chương trình chế độ Offline trên GX Work 2(GX Developer ). Cần thực hiện tổ hợp phím tắt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F2</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 </a:t>
            </a:r>
            <a:r>
              <a:rPr lang="vi-VN" altLang="ko-KR" sz="950">
                <a:latin typeface="Times New Roman" pitchFamily="18" charset="0"/>
                <a:ea typeface="LG Smart_H Regular" panose="020B0600000101010101" pitchFamily="34" charset="-127"/>
                <a:cs typeface="Times New Roman" pitchFamily="18" charset="0"/>
              </a:rPr>
              <a:t>Shift +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F4</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a:latin typeface="Times New Roman" pitchFamily="18" charset="0"/>
                <a:ea typeface="LG Smart_H Regular" panose="020B0600000101010101" pitchFamily="34" charset="-127"/>
                <a:cs typeface="Times New Roman" pitchFamily="18" charset="0"/>
              </a:rPr>
              <a:t>Shift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Trong GX Developer để cài đặt số ký tự Comment tối đa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8</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16</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24</a:t>
            </a:r>
            <a:r>
              <a:rPr lang="en-US" altLang="ko-KR" sz="950" smtClean="0">
                <a:latin typeface="Times New Roman" pitchFamily="18" charset="0"/>
                <a:ea typeface="LG Smart_H Regular" panose="020B0600000101010101" pitchFamily="34" charset="-127"/>
                <a:cs typeface="Times New Roman" pitchFamily="18" charset="0"/>
              </a:rPr>
              <a:t>                D</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32</a:t>
            </a: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2432720"/>
            <a:ext cx="3233208"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Đâu không phải là mục đích sử dụng của Program dạng </a:t>
            </a:r>
            <a:r>
              <a:rPr lang="vi-VN" altLang="ko-KR" sz="950" smtClean="0">
                <a:latin typeface="Times New Roman" pitchFamily="18" charset="0"/>
                <a:ea typeface="LG Smart_H Regular" panose="020B0600000101010101" pitchFamily="34" charset="-127"/>
                <a:cs typeface="Times New Roman" pitchFamily="18" charset="0"/>
              </a:rPr>
              <a:t>chờ?</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 mục hóa Program thành các Subroutine Program, chuyển Interrupt Program sang Program dạng chờ và quản lý riêng so với Main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Dùng khi quản lý riêng Subroutine Program, Interrupt Program so với Main Routine </a:t>
            </a:r>
            <a:r>
              <a:rPr lang="en-US" altLang="ko-KR" sz="950" smtClean="0">
                <a:latin typeface="Times New Roman" pitchFamily="18" charset="0"/>
                <a:ea typeface="LG Smart_H Regular" panose="020B0600000101010101" pitchFamily="34" charset="-127"/>
                <a:cs typeface="Times New Roman" pitchFamily="18" charset="0"/>
              </a:rPr>
              <a:t>Program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Thay đổi trình tự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ngừng thực hiện Program dạng chờ thì sẽ tiến hành Program ngay sau đó.</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01890" y="506279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thuật ngữ liên quan đến dung lượng của thiết bị bộ nhớ, 1 Quarter bằng bao nhiêu BIT?. Chọn đáp áp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Quarter </a:t>
            </a:r>
            <a:r>
              <a:rPr lang="en-US" altLang="ko-KR" sz="950">
                <a:latin typeface="Times New Roman" pitchFamily="18" charset="0"/>
                <a:ea typeface="LG Smart_H Regular" panose="020B0600000101010101" pitchFamily="34" charset="-127"/>
                <a:cs typeface="Times New Roman" pitchFamily="18" charset="0"/>
              </a:rPr>
              <a:t>= 4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2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1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8 bit (tức 1/4byte)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25951" y="4664968"/>
            <a:ext cx="3239810" cy="2139047"/>
            <a:chOff x="3425951" y="4664968"/>
            <a:chExt cx="3239810" cy="2139047"/>
          </a:xfrm>
        </p:grpSpPr>
        <p:sp>
          <p:nvSpPr>
            <p:cNvPr id="183" name="Rectangle 7"/>
            <p:cNvSpPr>
              <a:spLocks noChangeArrowheads="1"/>
            </p:cNvSpPr>
            <p:nvPr/>
          </p:nvSpPr>
          <p:spPr bwMode="auto">
            <a:xfrm>
              <a:off x="3425951" y="466496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K2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K3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7" name="그림 6"/>
            <p:cNvPicPr>
              <a:picLocks noChangeAspect="1"/>
            </p:cNvPicPr>
            <p:nvPr/>
          </p:nvPicPr>
          <p:blipFill>
            <a:blip r:embed="rId3"/>
            <a:stretch>
              <a:fillRect/>
            </a:stretch>
          </p:blipFill>
          <p:spPr>
            <a:xfrm>
              <a:off x="3527302" y="5063108"/>
              <a:ext cx="3076698" cy="1402060"/>
            </a:xfrm>
            <a:prstGeom prst="rect">
              <a:avLst/>
            </a:prstGeom>
          </p:spPr>
        </p:pic>
      </p:grpSp>
      <p:grpSp>
        <p:nvGrpSpPr>
          <p:cNvPr id="3" name="Group 2"/>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4.4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0.4 </a:t>
              </a:r>
              <a:r>
                <a:rPr lang="en-US" altLang="ko-KR" sz="950">
                  <a:latin typeface="Times New Roman" pitchFamily="18" charset="0"/>
                  <a:ea typeface="LG Smart_H Regular" panose="020B0600000101010101" pitchFamily="34" charset="-127"/>
                  <a:cs typeface="Times New Roman" pitchFamily="18" charset="0"/>
                </a:rPr>
                <a:t>giây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그림 19"/>
            <p:cNvPicPr>
              <a:picLocks noChangeAspect="1"/>
            </p:cNvPicPr>
            <p:nvPr/>
          </p:nvPicPr>
          <p:blipFill>
            <a:blip r:embed="rId4"/>
            <a:stretch>
              <a:fillRect/>
            </a:stretch>
          </p:blipFill>
          <p:spPr>
            <a:xfrm>
              <a:off x="3493643" y="7460446"/>
              <a:ext cx="3110358" cy="1380986"/>
            </a:xfrm>
            <a:prstGeom prst="rect">
              <a:avLst/>
            </a:prstGeom>
          </p:spPr>
        </p:pic>
      </p:grpSp>
    </p:spTree>
    <p:extLst>
      <p:ext uri="{BB962C8B-B14F-4D97-AF65-F5344CB8AC3E}">
        <p14:creationId xmlns:p14="http://schemas.microsoft.com/office/powerpoint/2010/main" val="8817537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31" name="Rectangle 101"/>
          <p:cNvSpPr>
            <a:spLocks noChangeArrowheads="1"/>
          </p:cNvSpPr>
          <p:nvPr/>
        </p:nvSpPr>
        <p:spPr bwMode="auto">
          <a:xfrm>
            <a:off x="215627" y="4134053"/>
            <a:ext cx="34290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3.</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Hãy đổi F14 hệ 16 thành hệ nhị phân </a:t>
            </a:r>
            <a:r>
              <a:rPr lang="vi-VN" altLang="ko-KR" sz="950" smtClean="0">
                <a:latin typeface="Times New Roman" pitchFamily="18" charset="0"/>
                <a:ea typeface="돋움" pitchFamily="50" charset="-127"/>
                <a:cs typeface="Times New Roman" pitchFamily="18" charset="0"/>
              </a:rPr>
              <a:t>.</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A</a:t>
            </a:r>
            <a:r>
              <a:rPr lang="en-US" altLang="ko-KR" sz="950" smtClean="0">
                <a:latin typeface="Times New Roman" pitchFamily="18" charset="0"/>
                <a:ea typeface="돋움" pitchFamily="50" charset="-127"/>
                <a:cs typeface="Times New Roman" pitchFamily="18" charset="0"/>
              </a:rPr>
              <a:t>. </a:t>
            </a:r>
            <a:r>
              <a:rPr lang="vi-VN" altLang="ko-KR" sz="950" smtClean="0">
                <a:latin typeface="Times New Roman" pitchFamily="18" charset="0"/>
                <a:ea typeface="돋움" pitchFamily="50" charset="-127"/>
                <a:cs typeface="Times New Roman" pitchFamily="18" charset="0"/>
              </a:rPr>
              <a:t>1110 </a:t>
            </a:r>
            <a:r>
              <a:rPr lang="vi-VN" altLang="ko-KR" sz="950">
                <a:latin typeface="Times New Roman" pitchFamily="18" charset="0"/>
                <a:ea typeface="돋움" pitchFamily="50" charset="-127"/>
                <a:cs typeface="Times New Roman" pitchFamily="18" charset="0"/>
              </a:rPr>
              <a:t>0001 0100      </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B</a:t>
            </a:r>
            <a:r>
              <a:rPr lang="vi-VN" altLang="ko-KR" sz="950">
                <a:latin typeface="Times New Roman" pitchFamily="18" charset="0"/>
                <a:ea typeface="돋움" pitchFamily="50" charset="-127"/>
                <a:cs typeface="Times New Roman" pitchFamily="18" charset="0"/>
              </a:rPr>
              <a:t>. 1010 1001 0110  </a:t>
            </a:r>
          </a:p>
          <a:p>
            <a:pPr eaLnBrk="1" hangingPunct="1"/>
            <a:r>
              <a:rPr lang="vi-VN" altLang="ko-KR" sz="950" smtClean="0">
                <a:latin typeface="Times New Roman" pitchFamily="18" charset="0"/>
                <a:ea typeface="돋움" pitchFamily="50" charset="-127"/>
                <a:cs typeface="Times New Roman" pitchFamily="18" charset="0"/>
              </a:rPr>
              <a:t>C</a:t>
            </a:r>
            <a:r>
              <a:rPr lang="vi-VN" altLang="ko-KR" sz="950">
                <a:latin typeface="Times New Roman" pitchFamily="18" charset="0"/>
                <a:ea typeface="돋움" pitchFamily="50" charset="-127"/>
                <a:cs typeface="Times New Roman" pitchFamily="18" charset="0"/>
              </a:rPr>
              <a:t>. 1111 1110 1011      </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D</a:t>
            </a:r>
            <a:r>
              <a:rPr lang="vi-VN" altLang="ko-KR" sz="950">
                <a:latin typeface="Times New Roman" pitchFamily="18" charset="0"/>
                <a:ea typeface="돋움" pitchFamily="50" charset="-127"/>
                <a:cs typeface="Times New Roman" pitchFamily="18" charset="0"/>
              </a:rPr>
              <a:t>. 1111 0001 0100</a:t>
            </a:r>
            <a:endParaRPr lang="vi-VN" altLang="ko-KR" sz="950" dirty="0" err="1">
              <a:latin typeface="Times New Roman" pitchFamily="18" charset="0"/>
              <a:ea typeface="돋움" pitchFamily="50" charset="-127"/>
              <a:cs typeface="Times New Roman" pitchFamily="18" charset="0"/>
            </a:endParaRPr>
          </a:p>
        </p:txBody>
      </p:sp>
      <p:sp>
        <p:nvSpPr>
          <p:cNvPr id="32" name="Rectangle 101"/>
          <p:cNvSpPr>
            <a:spLocks noChangeArrowheads="1"/>
          </p:cNvSpPr>
          <p:nvPr/>
        </p:nvSpPr>
        <p:spPr bwMode="auto">
          <a:xfrm>
            <a:off x="188640" y="1035532"/>
            <a:ext cx="32677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1.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thay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tục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như</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dòng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nhiệt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tốc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digital</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Analog</a:t>
            </a:r>
            <a:r>
              <a:rPr lang="ko-KR" altLang="en-US"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digital/ </a:t>
            </a:r>
            <a:r>
              <a:rPr lang="en-US" altLang="ko-KR" sz="950" smtClean="0">
                <a:latin typeface="Times New Roman" pitchFamily="18" charset="0"/>
                <a:ea typeface="돋움" pitchFamily="50" charset="-127"/>
                <a:cs typeface="Times New Roman" pitchFamily="18" charset="0"/>
              </a:rPr>
              <a:t>analog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analog/</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digital</a:t>
            </a:r>
            <a:endParaRPr lang="ko-KR" altLang="en-US" sz="950" dirty="0">
              <a:latin typeface="Times New Roman" pitchFamily="18" charset="0"/>
              <a:ea typeface="돋움" pitchFamily="50" charset="-127"/>
              <a:cs typeface="Times New Roman" pitchFamily="18" charset="0"/>
            </a:endParaRPr>
          </a:p>
        </p:txBody>
      </p:sp>
      <p:sp>
        <p:nvSpPr>
          <p:cNvPr id="34" name="Rectangle 101"/>
          <p:cNvSpPr>
            <a:spLocks noChangeArrowheads="1"/>
          </p:cNvSpPr>
          <p:nvPr/>
        </p:nvSpPr>
        <p:spPr bwMode="auto">
          <a:xfrm>
            <a:off x="215627" y="5286181"/>
            <a:ext cx="3429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4.</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Hãy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458 </a:t>
            </a:r>
            <a:r>
              <a:rPr lang="en-US" altLang="ko-KR" sz="950" dirty="0" err="1" smtClean="0">
                <a:latin typeface="Times New Roman" pitchFamily="18" charset="0"/>
                <a:ea typeface="돋움" pitchFamily="50" charset="-127"/>
                <a:cs typeface="Times New Roman" pitchFamily="18" charset="0"/>
              </a:rPr>
              <a:t>hệ</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thập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thành</a:t>
            </a:r>
            <a:r>
              <a:rPr lang="en-US" altLang="ko-KR" sz="950" dirty="0" smtClean="0">
                <a:latin typeface="Times New Roman" pitchFamily="18" charset="0"/>
                <a:ea typeface="돋움" pitchFamily="50" charset="-127"/>
                <a:cs typeface="Times New Roman" pitchFamily="18" charset="0"/>
              </a:rPr>
              <a:t> code </a:t>
            </a:r>
            <a:r>
              <a:rPr lang="ko-KR" altLang="en-US"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BCD </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a:latin typeface="Times New Roman" pitchFamily="18" charset="0"/>
                <a:ea typeface="돋움" pitchFamily="50" charset="-127"/>
                <a:cs typeface="Times New Roman" pitchFamily="18" charset="0"/>
              </a:rPr>
              <a:t>1100 0101 </a:t>
            </a:r>
            <a:r>
              <a:rPr lang="en-US" altLang="ko-KR" sz="950">
                <a:latin typeface="Times New Roman" pitchFamily="18" charset="0"/>
                <a:ea typeface="돋움" pitchFamily="50" charset="-127"/>
                <a:cs typeface="Times New Roman" pitchFamily="18" charset="0"/>
              </a:rPr>
              <a:t>1000    </a:t>
            </a:r>
            <a:r>
              <a:rPr lang="en-US" altLang="ko-KR" sz="950" smtClean="0">
                <a:latin typeface="Times New Roman" pitchFamily="18" charset="0"/>
                <a:ea typeface="돋움" pitchFamily="50" charset="-127"/>
                <a:cs typeface="Times New Roman" pitchFamily="18" charset="0"/>
              </a:rPr>
              <a:t>  B. </a:t>
            </a:r>
            <a:r>
              <a:rPr lang="en-US" altLang="ko-KR" sz="950" dirty="0">
                <a:latin typeface="Times New Roman" pitchFamily="18" charset="0"/>
                <a:ea typeface="돋움" pitchFamily="50" charset="-127"/>
                <a:cs typeface="Times New Roman" pitchFamily="18" charset="0"/>
              </a:rPr>
              <a:t>100 0101 1000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en-US" altLang="ko-KR" sz="950" dirty="0">
                <a:latin typeface="Times New Roman" pitchFamily="18" charset="0"/>
                <a:ea typeface="돋움" pitchFamily="50" charset="-127"/>
                <a:cs typeface="Times New Roman" pitchFamily="18" charset="0"/>
              </a:rPr>
              <a:t>101 1010 </a:t>
            </a:r>
            <a:r>
              <a:rPr lang="en-US" altLang="ko-KR" sz="950">
                <a:latin typeface="Times New Roman" pitchFamily="18" charset="0"/>
                <a:ea typeface="돋움" pitchFamily="50" charset="-127"/>
                <a:cs typeface="Times New Roman" pitchFamily="18" charset="0"/>
              </a:rPr>
              <a:t>0001       </a:t>
            </a:r>
            <a:r>
              <a:rPr lang="en-US" altLang="ko-KR" sz="950" smtClean="0">
                <a:latin typeface="Times New Roman" pitchFamily="18" charset="0"/>
                <a:ea typeface="돋움" pitchFamily="50" charset="-127"/>
                <a:cs typeface="Times New Roman" pitchFamily="18" charset="0"/>
              </a:rPr>
              <a:t> D. </a:t>
            </a:r>
            <a:r>
              <a:rPr lang="en-US" altLang="ko-KR" sz="950" dirty="0">
                <a:latin typeface="Times New Roman" pitchFamily="18" charset="0"/>
                <a:ea typeface="돋움" pitchFamily="50" charset="-127"/>
                <a:cs typeface="Times New Roman" pitchFamily="18" charset="0"/>
              </a:rPr>
              <a:t>100 0101 1001</a:t>
            </a:r>
            <a:endParaRPr lang="ko-KR" altLang="en-US" sz="950" dirty="0">
              <a:latin typeface="Times New Roman" pitchFamily="18" charset="0"/>
              <a:ea typeface="돋움" pitchFamily="50" charset="-127"/>
              <a:cs typeface="Times New Roman" pitchFamily="18" charset="0"/>
            </a:endParaRPr>
          </a:p>
        </p:txBody>
      </p:sp>
      <p:sp>
        <p:nvSpPr>
          <p:cNvPr id="35" name="Rectangle 101"/>
          <p:cNvSpPr>
            <a:spLocks noChangeArrowheads="1"/>
          </p:cNvSpPr>
          <p:nvPr/>
        </p:nvSpPr>
        <p:spPr bwMode="auto">
          <a:xfrm>
            <a:off x="215627" y="6281226"/>
            <a:ext cx="34290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5</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Hãy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Device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nhận</a:t>
            </a:r>
            <a:r>
              <a:rPr lang="en-US" altLang="ko-KR" sz="950" dirty="0" smtClean="0">
                <a:latin typeface="Times New Roman" pitchFamily="18" charset="0"/>
                <a:ea typeface="돋움" pitchFamily="50" charset="-127"/>
                <a:cs typeface="Times New Roman" pitchFamily="18" charset="0"/>
              </a:rPr>
              <a:t> input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CPU </a:t>
            </a:r>
            <a:r>
              <a:rPr lang="en-US" altLang="ko-KR" sz="950" dirty="0" err="1" smtClean="0">
                <a:latin typeface="Times New Roman" pitchFamily="18" charset="0"/>
                <a:ea typeface="돋움" pitchFamily="50" charset="-127"/>
                <a:cs typeface="Times New Roman" pitchFamily="18" charset="0"/>
              </a:rPr>
              <a:t>hpawcj</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Device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ở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CPU,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trước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CPU.</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Bit Device </a:t>
            </a:r>
            <a:r>
              <a:rPr lang="en-US" altLang="ko-KR" sz="950" dirty="0" smtClean="0">
                <a:latin typeface="Times New Roman" pitchFamily="18" charset="0"/>
                <a:ea typeface="돋움" pitchFamily="50" charset="-127"/>
                <a:cs typeface="Times New Roman" pitchFamily="18" charset="0"/>
              </a:rPr>
              <a:t>: Device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On/Off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thuần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hệ</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bát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0~7</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dirty="0">
                <a:latin typeface="Times New Roman" pitchFamily="18" charset="0"/>
                <a:ea typeface="돋움" pitchFamily="50" charset="-127"/>
                <a:cs typeface="Times New Roman" pitchFamily="18" charset="0"/>
              </a:rPr>
              <a:t>Word Device :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Bit.Word</a:t>
            </a:r>
            <a:endParaRPr lang="ko-KR" altLang="en-US" sz="950" dirty="0">
              <a:latin typeface="Times New Roman" pitchFamily="18" charset="0"/>
              <a:ea typeface="돋움" pitchFamily="50" charset="-127"/>
              <a:cs typeface="Times New Roman" pitchFamily="18" charset="0"/>
            </a:endParaRPr>
          </a:p>
        </p:txBody>
      </p:sp>
      <p:sp>
        <p:nvSpPr>
          <p:cNvPr id="36" name="Rectangle 101"/>
          <p:cNvSpPr>
            <a:spLocks noChangeArrowheads="1"/>
          </p:cNvSpPr>
          <p:nvPr/>
        </p:nvSpPr>
        <p:spPr bwMode="auto">
          <a:xfrm>
            <a:off x="188640" y="8380348"/>
            <a:ext cx="32344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6</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vùng</a:t>
            </a:r>
            <a:r>
              <a:rPr lang="en-US" altLang="ko-KR"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USER </a:t>
            </a:r>
            <a:r>
              <a:rPr lang="en-US" altLang="ko-KR" sz="950" dirty="0" smtClean="0">
                <a:latin typeface="Times New Roman" pitchFamily="18" charset="0"/>
                <a:ea typeface="돋움" pitchFamily="50" charset="-127"/>
                <a:cs typeface="Times New Roman" pitchFamily="18" charset="0"/>
              </a:rPr>
              <a:t>MEMORY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mở</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rộng</a:t>
            </a:r>
            <a:r>
              <a:rPr lang="en-US" altLang="ko-KR" sz="950" dirty="0" smtClean="0">
                <a:latin typeface="Times New Roman" pitchFamily="18" charset="0"/>
                <a:ea typeface="돋움" pitchFamily="50" charset="-127"/>
                <a:cs typeface="Times New Roman" pitchFamily="18" charset="0"/>
              </a:rPr>
              <a:t> data Resister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R   </a:t>
            </a:r>
            <a:r>
              <a:rPr lang="en-US" altLang="ko-KR" sz="950" smtClean="0">
                <a:latin typeface="Times New Roman" pitchFamily="18" charset="0"/>
                <a:ea typeface="돋움" pitchFamily="50" charset="-127"/>
                <a:cs typeface="Times New Roman" pitchFamily="18" charset="0"/>
              </a:rPr>
              <a:t>          B. </a:t>
            </a:r>
            <a:r>
              <a:rPr lang="en-US" altLang="ko-KR" sz="950">
                <a:latin typeface="Times New Roman" pitchFamily="18" charset="0"/>
                <a:ea typeface="돋움" pitchFamily="50" charset="-127"/>
                <a:cs typeface="Times New Roman" pitchFamily="18" charset="0"/>
              </a:rPr>
              <a:t>W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D   </a:t>
            </a:r>
            <a:r>
              <a:rPr lang="en-US" altLang="ko-KR"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4 .M</a:t>
            </a:r>
            <a:endParaRPr lang="ko-KR" altLang="en-US" sz="950" dirty="0">
              <a:latin typeface="Times New Roman" pitchFamily="18" charset="0"/>
              <a:ea typeface="돋움" pitchFamily="50" charset="-127"/>
              <a:cs typeface="Times New Roman" pitchFamily="18" charset="0"/>
            </a:endParaRPr>
          </a:p>
        </p:txBody>
      </p:sp>
      <p:sp>
        <p:nvSpPr>
          <p:cNvPr id="37" name="Rectangle 101"/>
          <p:cNvSpPr>
            <a:spLocks noChangeArrowheads="1"/>
          </p:cNvSpPr>
          <p:nvPr/>
        </p:nvSpPr>
        <p:spPr bwMode="auto">
          <a:xfrm>
            <a:off x="3439443" y="1034950"/>
            <a:ext cx="324075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7</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Word Device?</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 . </a:t>
            </a:r>
            <a:r>
              <a:rPr lang="en-US" altLang="ko-KR" sz="950">
                <a:latin typeface="Times New Roman" pitchFamily="18" charset="0"/>
                <a:ea typeface="돋움" pitchFamily="50" charset="-127"/>
                <a:cs typeface="Times New Roman" pitchFamily="18" charset="0"/>
              </a:rPr>
              <a:t>T  </a:t>
            </a:r>
            <a:r>
              <a:rPr lang="en-US" altLang="ko-KR" sz="950" smtClean="0">
                <a:latin typeface="Times New Roman" pitchFamily="18" charset="0"/>
                <a:ea typeface="돋움" pitchFamily="50" charset="-127"/>
                <a:cs typeface="Times New Roman" pitchFamily="18" charset="0"/>
              </a:rPr>
              <a:t>         B. F               C. D          D. R</a:t>
            </a:r>
            <a:endParaRPr lang="ko-KR" altLang="en-US" sz="950" dirty="0">
              <a:latin typeface="Times New Roman" pitchFamily="18" charset="0"/>
              <a:ea typeface="돋움" pitchFamily="50" charset="-127"/>
              <a:cs typeface="Times New Roman" pitchFamily="18" charset="0"/>
            </a:endParaRPr>
          </a:p>
        </p:txBody>
      </p:sp>
      <p:sp>
        <p:nvSpPr>
          <p:cNvPr id="39" name="Rectangle 99"/>
          <p:cNvSpPr>
            <a:spLocks noChangeArrowheads="1"/>
          </p:cNvSpPr>
          <p:nvPr/>
        </p:nvSpPr>
        <p:spPr bwMode="auto">
          <a:xfrm>
            <a:off x="3429000" y="2144688"/>
            <a:ext cx="32793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3</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Hãy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án</a:t>
            </a:r>
            <a:r>
              <a:rPr lang="en-US" altLang="ko-KR" sz="950" smtClean="0">
                <a:latin typeface="Times New Roman" pitchFamily="18" charset="0"/>
                <a:cs typeface="Times New Roman" pitchFamily="18" charset="0"/>
              </a:rPr>
              <a:t> không đúng giải </a:t>
            </a:r>
            <a:r>
              <a:rPr lang="en-US" altLang="ko-KR" sz="950" err="1" smtClean="0">
                <a:latin typeface="Times New Roman" pitchFamily="18" charset="0"/>
                <a:cs typeface="Times New Roman" pitchFamily="18" charset="0"/>
              </a:rPr>
              <a:t>thích</a:t>
            </a:r>
            <a:r>
              <a:rPr lang="en-US" altLang="ko-KR" sz="950" smtClean="0">
                <a:latin typeface="Times New Roman" pitchFamily="18" charset="0"/>
                <a:cs typeface="Times New Roman" pitchFamily="18" charset="0"/>
              </a:rPr>
              <a:t> về Byte?</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Gộp</a:t>
            </a:r>
            <a:r>
              <a:rPr lang="en-US" altLang="ko-KR" sz="950" dirty="0" smtClean="0">
                <a:latin typeface="Times New Roman" pitchFamily="18" charset="0"/>
                <a:cs typeface="Times New Roman" pitchFamily="18" charset="0"/>
              </a:rPr>
              <a:t> 8ea Bit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Byte.</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biểu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256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thông</a:t>
            </a:r>
            <a:r>
              <a:rPr lang="en-US" altLang="ko-KR" sz="950" dirty="0" smtClean="0">
                <a:latin typeface="Times New Roman" pitchFamily="18" charset="0"/>
                <a:cs typeface="Times New Roman" pitchFamily="18" charset="0"/>
              </a:rPr>
              <a:t> tin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biểu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chữ</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chữ</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biệt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smtClean="0">
                <a:latin typeface="Times New Roman" pitchFamily="18" charset="0"/>
                <a:cs typeface="Times New Roman" pitchFamily="18" charset="0"/>
              </a:rPr>
              <a:t>1 Byte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1 </a:t>
            </a:r>
            <a:r>
              <a:rPr lang="en-US" altLang="ko-KR" sz="950" smtClean="0">
                <a:latin typeface="Times New Roman" pitchFamily="18" charset="0"/>
                <a:cs typeface="Times New Roman" pitchFamily="18" charset="0"/>
              </a:rPr>
              <a:t>bit.</a:t>
            </a:r>
            <a:endParaRPr lang="en-US" altLang="ko-KR" sz="950" dirty="0">
              <a:latin typeface="Times New Roman" pitchFamily="18" charset="0"/>
              <a:cs typeface="Times New Roman" pitchFamily="18" charset="0"/>
            </a:endParaRPr>
          </a:p>
        </p:txBody>
      </p:sp>
      <p:sp>
        <p:nvSpPr>
          <p:cNvPr id="41" name="Rectangle 99"/>
          <p:cNvSpPr>
            <a:spLocks noChangeArrowheads="1"/>
          </p:cNvSpPr>
          <p:nvPr/>
        </p:nvSpPr>
        <p:spPr bwMode="auto">
          <a:xfrm>
            <a:off x="3456384" y="7579548"/>
            <a:ext cx="34290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40. </a:t>
            </a:r>
            <a:r>
              <a:rPr lang="en-US" altLang="ko-KR" sz="950" dirty="0" err="1">
                <a:latin typeface="Times New Roman" pitchFamily="18" charset="0"/>
                <a:cs typeface="Times New Roman" pitchFamily="18" charset="0"/>
              </a:rPr>
              <a:t>H</a:t>
            </a:r>
            <a:r>
              <a:rPr lang="en-US" altLang="ko-KR" sz="950" smtClean="0">
                <a:latin typeface="Times New Roman" pitchFamily="18" charset="0"/>
                <a:cs typeface="Times New Roman" pitchFamily="18" charset="0"/>
              </a:rPr>
              <a:t>ãy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những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về</a:t>
            </a:r>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câu </a:t>
            </a:r>
            <a:r>
              <a:rPr lang="en-US" altLang="ko-KR" sz="950" dirty="0" err="1" smtClean="0">
                <a:latin typeface="Times New Roman" pitchFamily="18" charset="0"/>
                <a:cs typeface="Times New Roman" pitchFamily="18" charset="0"/>
              </a:rPr>
              <a:t>lệnh</a:t>
            </a:r>
            <a:r>
              <a:rPr lang="en-US" altLang="ko-KR" sz="950" dirty="0" smtClean="0">
                <a:latin typeface="Times New Roman" pitchFamily="18" charset="0"/>
                <a:cs typeface="Times New Roman" pitchFamily="18" charset="0"/>
              </a:rPr>
              <a:t> Count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tăng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lên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smtClean="0">
                <a:latin typeface="Times New Roman" pitchFamily="18" charset="0"/>
                <a:cs typeface="Times New Roman" pitchFamily="18" charset="0"/>
              </a:rPr>
              <a:t>Sau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Count up, </a:t>
            </a:r>
            <a:r>
              <a:rPr lang="en-US" altLang="ko-KR" sz="950" dirty="0" err="1" smtClean="0">
                <a:latin typeface="Times New Roman" pitchFamily="18" charset="0"/>
                <a:cs typeface="Times New Roman" pitchFamily="18" charset="0"/>
              </a:rPr>
              <a:t>nếu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vẫn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đếm</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K1~K32767.</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việc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thông</a:t>
            </a:r>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qua </a:t>
            </a:r>
            <a:r>
              <a:rPr lang="en-US" altLang="ko-KR" sz="950" dirty="0" smtClean="0">
                <a:latin typeface="Times New Roman" pitchFamily="18" charset="0"/>
                <a:cs typeface="Times New Roman" pitchFamily="18" charset="0"/>
              </a:rPr>
              <a:t>K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gián</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thông</a:t>
            </a:r>
            <a:r>
              <a:rPr lang="en-US" altLang="ko-KR" sz="950" dirty="0" smtClean="0">
                <a:latin typeface="Times New Roman" pitchFamily="18" charset="0"/>
                <a:cs typeface="Times New Roman" pitchFamily="18" charset="0"/>
              </a:rPr>
              <a:t> qua D</a:t>
            </a:r>
            <a:endParaRPr lang="en-US" altLang="ko-KR" sz="950" dirty="0">
              <a:latin typeface="Times New Roman" pitchFamily="18" charset="0"/>
              <a:cs typeface="Times New Roman" pitchFamily="18" charset="0"/>
            </a:endParaRPr>
          </a:p>
        </p:txBody>
      </p:sp>
      <p:grpSp>
        <p:nvGrpSpPr>
          <p:cNvPr id="6" name="Group 5"/>
          <p:cNvGrpSpPr/>
          <p:nvPr/>
        </p:nvGrpSpPr>
        <p:grpSpPr>
          <a:xfrm>
            <a:off x="189087" y="1928664"/>
            <a:ext cx="3252613" cy="1700466"/>
            <a:chOff x="189087" y="1928664"/>
            <a:chExt cx="3252613" cy="1700466"/>
          </a:xfrm>
        </p:grpSpPr>
        <p:sp>
          <p:nvSpPr>
            <p:cNvPr id="30" name="Rectangle 101"/>
            <p:cNvSpPr>
              <a:spLocks noChangeArrowheads="1"/>
            </p:cNvSpPr>
            <p:nvPr/>
          </p:nvSpPr>
          <p:spPr bwMode="auto">
            <a:xfrm>
              <a:off x="189087" y="1928664"/>
              <a:ext cx="3252613"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 Đây là cấu trúc hệ thống PLC cơ bản. Hãy trả lời vào chỗ trống bên dưới</a:t>
              </a:r>
              <a:endParaRPr lang="ko-KR" altLang="en-US"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32.</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Phạm</a:t>
              </a:r>
              <a:r>
                <a:rPr lang="en-US" altLang="ko-KR" sz="950" dirty="0" smtClean="0">
                  <a:latin typeface="Times New Roman" pitchFamily="18" charset="0"/>
                  <a:ea typeface="돋움" pitchFamily="50" charset="-127"/>
                  <a:cs typeface="Times New Roman" pitchFamily="18" charset="0"/>
                </a:rPr>
                <a:t> vi I/O </a:t>
              </a:r>
              <a:r>
                <a:rPr lang="en-US" altLang="ko-KR" sz="950" dirty="0" err="1" smtClean="0">
                  <a:latin typeface="Times New Roman" pitchFamily="18" charset="0"/>
                  <a:ea typeface="돋움" pitchFamily="50" charset="-127"/>
                  <a:cs typeface="Times New Roman" pitchFamily="18" charset="0"/>
                </a:rPr>
                <a:t>vào</a:t>
              </a:r>
              <a:r>
                <a:rPr lang="en-US" altLang="ko-KR" sz="950" dirty="0" smtClean="0">
                  <a:latin typeface="Times New Roman" pitchFamily="18" charset="0"/>
                  <a:ea typeface="돋움" pitchFamily="50" charset="-127"/>
                  <a:cs typeface="Times New Roman" pitchFamily="18" charset="0"/>
                </a:rPr>
                <a:t> Card ở </a:t>
              </a:r>
              <a:r>
                <a:rPr lang="en-US" altLang="ko-KR" sz="950" dirty="0" err="1" smtClean="0">
                  <a:latin typeface="Times New Roman" pitchFamily="18" charset="0"/>
                  <a:ea typeface="돋움" pitchFamily="50" charset="-127"/>
                  <a:cs typeface="Times New Roman" pitchFamily="18" charset="0"/>
                </a:rPr>
                <a:t>vị</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trí</a:t>
              </a:r>
              <a:r>
                <a:rPr lang="en-US" altLang="ko-KR" sz="950" smtClean="0">
                  <a:latin typeface="Times New Roman" pitchFamily="18" charset="0"/>
                  <a:ea typeface="돋움" pitchFamily="50" charset="-127"/>
                  <a:cs typeface="Times New Roman" pitchFamily="18" charset="0"/>
                </a:rPr>
                <a:t> (1) </a:t>
              </a:r>
              <a:r>
                <a:rPr lang="ko-KR" altLang="en-US"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ở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Y100~Y10F        </a:t>
              </a:r>
              <a:r>
                <a:rPr lang="en-US" altLang="ko-KR" sz="950" smtClean="0">
                  <a:latin typeface="Times New Roman" pitchFamily="18" charset="0"/>
                  <a:ea typeface="돋움" pitchFamily="50" charset="-127"/>
                  <a:cs typeface="Times New Roman" pitchFamily="18" charset="0"/>
                </a:rPr>
                <a:t>B  </a:t>
              </a:r>
              <a:r>
                <a:rPr lang="en-US" altLang="ko-KR" sz="950" dirty="0">
                  <a:latin typeface="Times New Roman" pitchFamily="18" charset="0"/>
                  <a:ea typeface="돋움" pitchFamily="50" charset="-127"/>
                  <a:cs typeface="Times New Roman" pitchFamily="18" charset="0"/>
                </a:rPr>
                <a:t>X100~X10F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Y110~Y11F        </a:t>
              </a:r>
              <a:r>
                <a:rPr lang="en-US" altLang="ko-KR" sz="950" smtClean="0">
                  <a:latin typeface="Times New Roman" pitchFamily="18" charset="0"/>
                  <a:ea typeface="돋움" pitchFamily="50" charset="-127"/>
                  <a:cs typeface="Times New Roman" pitchFamily="18" charset="0"/>
                </a:rPr>
                <a:t>D  </a:t>
              </a:r>
              <a:r>
                <a:rPr lang="en-US" altLang="ko-KR" sz="950" dirty="0">
                  <a:latin typeface="Times New Roman" pitchFamily="18" charset="0"/>
                  <a:ea typeface="돋움" pitchFamily="50" charset="-127"/>
                  <a:cs typeface="Times New Roman" pitchFamily="18" charset="0"/>
                </a:rPr>
                <a:t>X120~X12F</a:t>
              </a:r>
              <a:endParaRPr lang="ko-KR" altLang="en-US" sz="950" dirty="0">
                <a:latin typeface="Times New Roman" pitchFamily="18" charset="0"/>
                <a:ea typeface="돋움" pitchFamily="50" charset="-127"/>
                <a:cs typeface="Times New Roman" pitchFamily="18" charset="0"/>
              </a:endParaRPr>
            </a:p>
          </p:txBody>
        </p:sp>
        <p:pic>
          <p:nvPicPr>
            <p:cNvPr id="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77" y="2288704"/>
              <a:ext cx="3173413"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8" name="Rectangle 37"/>
          <p:cNvSpPr/>
          <p:nvPr/>
        </p:nvSpPr>
        <p:spPr>
          <a:xfrm>
            <a:off x="302054" y="2322612"/>
            <a:ext cx="246063" cy="586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n-US" sz="800" dirty="0" err="1" smtClean="0">
                <a:solidFill>
                  <a:schemeClr val="tx1"/>
                </a:solidFill>
                <a:latin typeface="Times New Roman" pitchFamily="18" charset="0"/>
                <a:cs typeface="Times New Roman" pitchFamily="18" charset="0"/>
              </a:rPr>
              <a:t>Nguồn</a:t>
            </a:r>
            <a:endParaRPr lang="en-US" sz="800" dirty="0">
              <a:solidFill>
                <a:schemeClr val="tx1"/>
              </a:solidFill>
              <a:latin typeface="Times New Roman" pitchFamily="18" charset="0"/>
              <a:cs typeface="Times New Roman" pitchFamily="18" charset="0"/>
            </a:endParaRPr>
          </a:p>
        </p:txBody>
      </p:sp>
      <p:grpSp>
        <p:nvGrpSpPr>
          <p:cNvPr id="5" name="Group 4"/>
          <p:cNvGrpSpPr/>
          <p:nvPr/>
        </p:nvGrpSpPr>
        <p:grpSpPr>
          <a:xfrm>
            <a:off x="3390019" y="3900200"/>
            <a:ext cx="3318321" cy="2925008"/>
            <a:chOff x="3495055" y="2216696"/>
            <a:chExt cx="3318321" cy="2925008"/>
          </a:xfrm>
        </p:grpSpPr>
        <p:pic>
          <p:nvPicPr>
            <p:cNvPr id="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847" y="2489200"/>
              <a:ext cx="2986087"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 name="Group 41"/>
            <p:cNvGrpSpPr/>
            <p:nvPr/>
          </p:nvGrpSpPr>
          <p:grpSpPr>
            <a:xfrm>
              <a:off x="3495055" y="2216696"/>
              <a:ext cx="3318321" cy="2925008"/>
              <a:chOff x="227013" y="2252663"/>
              <a:chExt cx="3429000" cy="2925008"/>
            </a:xfrm>
          </p:grpSpPr>
          <p:sp>
            <p:nvSpPr>
              <p:cNvPr id="43" name="Rectangle 99"/>
              <p:cNvSpPr>
                <a:spLocks noChangeArrowheads="1"/>
              </p:cNvSpPr>
              <p:nvPr/>
            </p:nvSpPr>
            <p:spPr bwMode="auto">
              <a:xfrm>
                <a:off x="227013" y="2252663"/>
                <a:ext cx="342900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3</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Nhìn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hình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lời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1</a:t>
                </a:r>
                <a:r>
                  <a:rPr lang="en-US" altLang="ko-KR" sz="950" dirty="0">
                    <a:latin typeface="Times New Roman" pitchFamily="18" charset="0"/>
                    <a:cs typeface="Times New Roman" pitchFamily="18" charset="0"/>
                  </a:rPr>
                  <a:t>, 2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44" name="Rectangle 99"/>
              <p:cNvSpPr>
                <a:spLocks noChangeArrowheads="1"/>
              </p:cNvSpPr>
              <p:nvPr/>
            </p:nvSpPr>
            <p:spPr bwMode="auto">
              <a:xfrm>
                <a:off x="304800" y="4500563"/>
                <a:ext cx="30861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toán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Scan </a:t>
                </a:r>
                <a:r>
                  <a:rPr lang="en-US" altLang="ko-KR" sz="950" dirty="0" smtClean="0">
                    <a:latin typeface="Times New Roman" pitchFamily="18" charset="0"/>
                    <a:cs typeface="Times New Roman" pitchFamily="18" charset="0"/>
                  </a:rPr>
                  <a:t>program</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Strat</a:t>
                </a:r>
              </a:p>
              <a:p>
                <a:pPr eaLnBrk="1" hangingPunct="1"/>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a:latin typeface="Times New Roman" pitchFamily="18" charset="0"/>
                    <a:cs typeface="Times New Roman" pitchFamily="18" charset="0"/>
                  </a:rPr>
                  <a:t>tiến hành Sub Program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Scan </a:t>
                </a:r>
                <a:endParaRPr lang="en-US" altLang="ko-KR" sz="950" dirty="0">
                  <a:latin typeface="Times New Roman" pitchFamily="18" charset="0"/>
                  <a:cs typeface="Times New Roman" pitchFamily="18" charset="0"/>
                </a:endParaRPr>
              </a:p>
            </p:txBody>
          </p:sp>
          <p:sp>
            <p:nvSpPr>
              <p:cNvPr id="45" name="Rectangle 44"/>
              <p:cNvSpPr/>
              <p:nvPr/>
            </p:nvSpPr>
            <p:spPr>
              <a:xfrm>
                <a:off x="1101058" y="2525168"/>
                <a:ext cx="1008140" cy="138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50" dirty="0" err="1" smtClean="0">
                    <a:solidFill>
                      <a:schemeClr val="tx1"/>
                    </a:solidFill>
                    <a:latin typeface="Times New Roman" pitchFamily="18" charset="0"/>
                    <a:cs typeface="Times New Roman" pitchFamily="18" charset="0"/>
                  </a:rPr>
                  <a:t>Bắt</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đầu</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vận</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hành</a:t>
                </a:r>
                <a:endParaRPr lang="en-US" sz="950" dirty="0">
                  <a:solidFill>
                    <a:schemeClr val="tx1"/>
                  </a:solidFill>
                  <a:latin typeface="Times New Roman" pitchFamily="18" charset="0"/>
                  <a:cs typeface="Times New Roman" pitchFamily="18" charset="0"/>
                </a:endParaRPr>
              </a:p>
            </p:txBody>
          </p:sp>
          <p:sp>
            <p:nvSpPr>
              <p:cNvPr id="46" name="Rectangle 45"/>
              <p:cNvSpPr/>
              <p:nvPr/>
            </p:nvSpPr>
            <p:spPr>
              <a:xfrm>
                <a:off x="1063898" y="2840626"/>
                <a:ext cx="588474" cy="196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Input </a:t>
                </a:r>
                <a:endParaRPr lang="en-US" sz="800" dirty="0">
                  <a:solidFill>
                    <a:schemeClr val="tx1"/>
                  </a:solidFill>
                  <a:latin typeface="Times New Roman" pitchFamily="18" charset="0"/>
                  <a:cs typeface="Times New Roman" pitchFamily="18" charset="0"/>
                </a:endParaRPr>
              </a:p>
            </p:txBody>
          </p:sp>
          <p:sp>
            <p:nvSpPr>
              <p:cNvPr id="47" name="Rectangle 46"/>
              <p:cNvSpPr/>
              <p:nvPr/>
            </p:nvSpPr>
            <p:spPr>
              <a:xfrm>
                <a:off x="2465919" y="2828727"/>
                <a:ext cx="892455" cy="259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Input </a:t>
                </a:r>
                <a:endParaRPr lang="en-US" sz="800" dirty="0">
                  <a:solidFill>
                    <a:schemeClr val="tx1"/>
                  </a:solidFill>
                  <a:latin typeface="Times New Roman" pitchFamily="18" charset="0"/>
                  <a:cs typeface="Times New Roman" pitchFamily="18" charset="0"/>
                </a:endParaRPr>
              </a:p>
            </p:txBody>
          </p:sp>
          <p:sp>
            <p:nvSpPr>
              <p:cNvPr id="48" name="Rectangle 47"/>
              <p:cNvSpPr/>
              <p:nvPr/>
            </p:nvSpPr>
            <p:spPr>
              <a:xfrm>
                <a:off x="1080468" y="3166883"/>
                <a:ext cx="979344" cy="173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Bắt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đầu</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49" name="Rectangle 48"/>
              <p:cNvSpPr/>
              <p:nvPr/>
            </p:nvSpPr>
            <p:spPr>
              <a:xfrm>
                <a:off x="1075294" y="3325157"/>
                <a:ext cx="10081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Kết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thúc</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50" name="Rectangle 49"/>
              <p:cNvSpPr/>
              <p:nvPr/>
            </p:nvSpPr>
            <p:spPr>
              <a:xfrm>
                <a:off x="1051672" y="3903145"/>
                <a:ext cx="855740" cy="144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Ouput</a:t>
                </a:r>
                <a:endParaRPr lang="en-US" sz="800" dirty="0">
                  <a:solidFill>
                    <a:schemeClr val="tx1"/>
                  </a:solidFill>
                  <a:latin typeface="Times New Roman" pitchFamily="18" charset="0"/>
                  <a:cs typeface="Times New Roman" pitchFamily="18" charset="0"/>
                </a:endParaRPr>
              </a:p>
            </p:txBody>
          </p:sp>
          <p:sp>
            <p:nvSpPr>
              <p:cNvPr id="51" name="Rectangle 50"/>
              <p:cNvSpPr/>
              <p:nvPr/>
            </p:nvSpPr>
            <p:spPr>
              <a:xfrm>
                <a:off x="1097062" y="4214878"/>
                <a:ext cx="462510" cy="1260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Xử</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lí</a:t>
                </a:r>
                <a:r>
                  <a:rPr lang="en-US" sz="800" dirty="0" smtClean="0">
                    <a:solidFill>
                      <a:schemeClr val="tx1"/>
                    </a:solidFill>
                    <a:latin typeface="Times New Roman" pitchFamily="18" charset="0"/>
                    <a:cs typeface="Times New Roman" pitchFamily="18" charset="0"/>
                  </a:rPr>
                  <a:t> End</a:t>
                </a:r>
                <a:endParaRPr lang="en-US" sz="800" dirty="0">
                  <a:solidFill>
                    <a:schemeClr val="tx1"/>
                  </a:solidFill>
                  <a:latin typeface="Times New Roman" pitchFamily="18" charset="0"/>
                  <a:cs typeface="Times New Roman" pitchFamily="18" charset="0"/>
                </a:endParaRPr>
              </a:p>
            </p:txBody>
          </p:sp>
          <p:sp>
            <p:nvSpPr>
              <p:cNvPr id="52" name="Rectangle 51"/>
              <p:cNvSpPr/>
              <p:nvPr/>
            </p:nvSpPr>
            <p:spPr>
              <a:xfrm>
                <a:off x="2414670" y="3903225"/>
                <a:ext cx="956099" cy="17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Output</a:t>
                </a:r>
                <a:endParaRPr lang="en-US" sz="8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30193772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Khi lắp đặt máy nén khí ngoài việc chọn loại hình MNK, công suất sử dụng.Thì cần phải lựa chọn địa điểm lắp đặt phù hợp.</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nào </a:t>
            </a:r>
            <a:r>
              <a:rPr lang="vi-VN" altLang="ko-KR" sz="950" smtClean="0">
                <a:latin typeface="Times New Roman" pitchFamily="18" charset="0"/>
                <a:ea typeface="LG Smart_H Regular" panose="020B0600000101010101" pitchFamily="34" charset="-127"/>
                <a:cs typeface="Times New Roman" pitchFamily="18" charset="0"/>
              </a:rPr>
              <a:t>sai?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lắp đặt tại  địa điểm ít chất và khí độc hại.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lưu tâm lựa chọn gạch cách âm để chặn tiếng ồn và tránh nước mưa và ánh sáng mặt trời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dùng phương thức làm lạnh không khí: lắp quạt ở buồng máy nén để thông gió; máy nén dùng phương thức làm mát: trao đổi nhiệt, làm lạnh (after cooler) phần sau và thân máy nén sao cho chênh lệch nhiệt độ giữa  cửa ra và cửa vào nước làm lạnh dưới 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đặt tại nơi có nhiệt độ cao và độ ẩm thấp, lượng  phát sinh đường ống dẫn nhỏ. Nếu nhiệt độ của khí hút vào tăng 10℃ thì hiệu suất của máy nén giảm 3~4%.</a:t>
            </a:r>
          </a:p>
        </p:txBody>
      </p:sp>
      <p:sp>
        <p:nvSpPr>
          <p:cNvPr id="29" name="Rectangle 7"/>
          <p:cNvSpPr>
            <a:spLocks noChangeArrowheads="1"/>
          </p:cNvSpPr>
          <p:nvPr/>
        </p:nvSpPr>
        <p:spPr bwMode="auto">
          <a:xfrm>
            <a:off x="218009" y="358484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Chất nào gây ra rỉ và lỗi cách điện của coil, giảm tuổi thọ và dính chặt cuộn dây quấn (spool) ở thân  </a:t>
            </a:r>
            <a:r>
              <a:rPr lang="vi-VN" altLang="ko-KR" sz="950" smtClean="0">
                <a:latin typeface="Times New Roman" pitchFamily="18" charset="0"/>
                <a:ea typeface="LG Smart_H Regular" panose="020B0600000101010101" pitchFamily="34" charset="-127"/>
                <a:cs typeface="Times New Roman" pitchFamily="18" charset="0"/>
              </a:rPr>
              <a:t>van?</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Cacbon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Rỉ </a:t>
            </a:r>
            <a:r>
              <a:rPr lang="vi-VN" altLang="ko-KR" sz="950" smtClean="0">
                <a:latin typeface="Times New Roman" pitchFamily="18" charset="0"/>
                <a:ea typeface="LG Smart_H Regular" panose="020B0600000101010101" pitchFamily="34" charset="-127"/>
                <a:cs typeface="Times New Roman" pitchFamily="18" charset="0"/>
              </a:rPr>
              <a:t>sắt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Nước</a:t>
            </a:r>
          </a:p>
        </p:txBody>
      </p:sp>
      <p:sp>
        <p:nvSpPr>
          <p:cNvPr id="30" name="Rectangle 7"/>
          <p:cNvSpPr>
            <a:spLocks noChangeArrowheads="1"/>
          </p:cNvSpPr>
          <p:nvPr/>
        </p:nvSpPr>
        <p:spPr bwMode="auto">
          <a:xfrm>
            <a:off x="259544" y="588910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dùng nhiều trong việc vận chuyển vật liệu dụng cụ, công cụ khí nén, đường khí nén thông thường. Phạm vi nhiệt độ hóa sương(0.5℃</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Máy sấy kiểu hấp </a:t>
            </a:r>
            <a:r>
              <a:rPr lang="en-US" altLang="ko-KR" sz="950" smtClean="0">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Vì  xi lanh được cung cấp khí nén từ 2 piston nên cần piston có thể sinh ra lực gấp hai lần xi lanh tác động 2 chiều mà đường kính như nhau. Sử dụng áp suất thấp, công  suất nhỏ nên xi lanh được dùng ở nơi cần lực lớn và có giới hạn đường kính xi </a:t>
            </a:r>
            <a:r>
              <a:rPr lang="vi-VN" altLang="ko-KR" sz="950" smtClean="0">
                <a:latin typeface="Times New Roman" pitchFamily="18" charset="0"/>
                <a:ea typeface="LG Smart_H Regular" panose="020B0600000101010101" pitchFamily="34" charset="-127"/>
                <a:cs typeface="Times New Roman" pitchFamily="18" charset="0"/>
              </a:rPr>
              <a:t>lanh?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đa vị </a:t>
            </a:r>
            <a:r>
              <a:rPr lang="vi-VN" altLang="ko-KR" sz="950" smtClean="0">
                <a:latin typeface="Times New Roman" pitchFamily="18" charset="0"/>
                <a:ea typeface="LG Smart_H Regular" panose="020B0600000101010101" pitchFamily="34" charset="-127"/>
                <a:cs typeface="Times New Roman" pitchFamily="18" charset="0"/>
              </a:rPr>
              <a:t>trí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không </a:t>
            </a:r>
            <a:r>
              <a:rPr lang="en-US" altLang="ko-KR" sz="950" smtClean="0">
                <a:latin typeface="Times New Roman" pitchFamily="18" charset="0"/>
                <a:ea typeface="LG Smart_H Regular" panose="020B0600000101010101" pitchFamily="34" charset="-127"/>
                <a:cs typeface="Times New Roman" pitchFamily="18" charset="0"/>
              </a:rPr>
              <a:t>cần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a:t>
            </a:r>
            <a:r>
              <a:rPr lang="en-US" altLang="ko-KR" sz="950" smtClean="0">
                <a:latin typeface="Times New Roman" pitchFamily="18" charset="0"/>
                <a:ea typeface="LG Smart_H Regular" panose="020B0600000101010101" pitchFamily="34" charset="-127"/>
                <a:cs typeface="Times New Roman" pitchFamily="18" charset="0"/>
              </a:rPr>
              <a:t>tandem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hai cần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Van nào dưới đây không thuộc van điều khiển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Công tắc áp </a:t>
            </a:r>
            <a:r>
              <a:rPr lang="vi-VN" altLang="ko-KR" sz="950" smtClean="0">
                <a:latin typeface="Times New Roman" pitchFamily="18" charset="0"/>
                <a:ea typeface="LG Smart_H Regular" panose="020B0600000101010101" pitchFamily="34" charset="-127"/>
                <a:cs typeface="Times New Roman" pitchFamily="18" charset="0"/>
              </a:rPr>
              <a:t>suất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18009" y="470220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MNK 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MNK cánh </a:t>
            </a:r>
            <a:r>
              <a:rPr lang="en-US" altLang="ko-KR" sz="950" smtClean="0">
                <a:latin typeface="Times New Roman" pitchFamily="18" charset="0"/>
                <a:ea typeface="LG Smart_H Regular" panose="020B0600000101010101" pitchFamily="34" charset="-127"/>
                <a:cs typeface="Times New Roman" pitchFamily="18" charset="0"/>
              </a:rPr>
              <a:t>gạt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Root </a:t>
            </a:r>
            <a:r>
              <a:rPr lang="vi-VN" altLang="ko-KR" sz="950" smtClean="0">
                <a:latin typeface="Times New Roman" pitchFamily="18" charset="0"/>
                <a:ea typeface="LG Smart_H Regular" panose="020B0600000101010101" pitchFamily="34" charset="-127"/>
                <a:cs typeface="Times New Roman" pitchFamily="18" charset="0"/>
              </a:rPr>
              <a:t>blower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Trục vít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8498" y="7473280"/>
            <a:ext cx="3180502" cy="1881612"/>
            <a:chOff x="248498" y="7617296"/>
            <a:chExt cx="3180502" cy="1881612"/>
          </a:xfrm>
        </p:grpSpPr>
        <p:sp>
          <p:nvSpPr>
            <p:cNvPr id="32" name="Rectangle 7"/>
            <p:cNvSpPr>
              <a:spLocks noChangeArrowheads="1"/>
            </p:cNvSpPr>
            <p:nvPr/>
          </p:nvSpPr>
          <p:spPr bwMode="auto">
            <a:xfrm>
              <a:off x="248498" y="761729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1" name="Picture 30"/>
            <p:cNvPicPr>
              <a:picLocks noChangeAspect="1"/>
            </p:cNvPicPr>
            <p:nvPr/>
          </p:nvPicPr>
          <p:blipFill>
            <a:blip r:embed="rId3"/>
            <a:stretch>
              <a:fillRect/>
            </a:stretch>
          </p:blipFill>
          <p:spPr>
            <a:xfrm>
              <a:off x="562629" y="7812334"/>
              <a:ext cx="1138180" cy="761510"/>
            </a:xfrm>
            <a:prstGeom prst="rect">
              <a:avLst/>
            </a:prstGeom>
          </p:spPr>
        </p:pic>
        <p:pic>
          <p:nvPicPr>
            <p:cNvPr id="34"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477" y="7812334"/>
              <a:ext cx="1091499" cy="741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160" y="8769424"/>
              <a:ext cx="1071648" cy="729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40"/>
            <p:cNvPicPr>
              <a:picLocks noChangeAspect="1"/>
            </p:cNvPicPr>
            <p:nvPr/>
          </p:nvPicPr>
          <p:blipFill>
            <a:blip r:embed="rId6"/>
            <a:stretch>
              <a:fillRect/>
            </a:stretch>
          </p:blipFill>
          <p:spPr>
            <a:xfrm>
              <a:off x="2204864" y="8805953"/>
              <a:ext cx="1116504" cy="657666"/>
            </a:xfrm>
            <a:prstGeom prst="rect">
              <a:avLst/>
            </a:prstGeom>
          </p:spPr>
        </p:pic>
      </p:grpSp>
      <p:grpSp>
        <p:nvGrpSpPr>
          <p:cNvPr id="5" name="Group 4"/>
          <p:cNvGrpSpPr/>
          <p:nvPr/>
        </p:nvGrpSpPr>
        <p:grpSpPr>
          <a:xfrm>
            <a:off x="3473132" y="920552"/>
            <a:ext cx="3180502" cy="1846659"/>
            <a:chOff x="3473132" y="1136576"/>
            <a:chExt cx="3180502" cy="1846659"/>
          </a:xfrm>
        </p:grpSpPr>
        <p:sp>
          <p:nvSpPr>
            <p:cNvPr id="46" name="Rectangle 7"/>
            <p:cNvSpPr>
              <a:spLocks noChangeArrowheads="1"/>
            </p:cNvSpPr>
            <p:nvPr/>
          </p:nvSpPr>
          <p:spPr bwMode="auto">
            <a:xfrm>
              <a:off x="3473132" y="1136576"/>
              <a:ext cx="318050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Phương </a:t>
              </a:r>
              <a:r>
                <a:rPr lang="vi-VN" altLang="ko-KR" sz="950">
                  <a:latin typeface="Times New Roman" pitchFamily="18" charset="0"/>
                  <a:ea typeface="LG Smart_H Regular" panose="020B0600000101010101" pitchFamily="34" charset="-127"/>
                  <a:cs typeface="Times New Roman" pitchFamily="18" charset="0"/>
                </a:rPr>
                <a:t>thức lọc </a:t>
              </a:r>
              <a:r>
                <a:rPr lang="vi-VN" altLang="ko-KR" sz="950" smtClean="0">
                  <a:latin typeface="Times New Roman" pitchFamily="18" charset="0"/>
                  <a:ea typeface="LG Smart_H Regular" panose="020B0600000101010101" pitchFamily="34" charset="-127"/>
                  <a:cs typeface="Times New Roman" pitchFamily="18" charset="0"/>
                </a:rPr>
                <a:t>trong+ngoài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2"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3038" y="1496616"/>
              <a:ext cx="1417866" cy="707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 name="Group 5"/>
          <p:cNvGrpSpPr/>
          <p:nvPr/>
        </p:nvGrpSpPr>
        <p:grpSpPr>
          <a:xfrm>
            <a:off x="3473132" y="5313040"/>
            <a:ext cx="3180502" cy="2285241"/>
            <a:chOff x="3473132" y="5817096"/>
            <a:chExt cx="3180502" cy="2285241"/>
          </a:xfrm>
        </p:grpSpPr>
        <p:sp>
          <p:nvSpPr>
            <p:cNvPr id="52" name="Rectangle 7"/>
            <p:cNvSpPr>
              <a:spLocks noChangeArrowheads="1"/>
            </p:cNvSpPr>
            <p:nvPr/>
          </p:nvSpPr>
          <p:spPr bwMode="auto">
            <a:xfrm>
              <a:off x="3473132" y="5817096"/>
              <a:ext cx="318050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mất thời gian cho đến khi áp suất của phía ①  tăng vì tiết lưu khí được cung cấp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giữa ① và  ② không cân bằng -&gt; di chuyển không ổn </a:t>
              </a:r>
              <a:r>
                <a:rPr lang="vi-VN" altLang="ko-KR" sz="950" smtClean="0">
                  <a:latin typeface="Times New Roman" pitchFamily="18" charset="0"/>
                  <a:ea typeface="LG Smart_H Regular" panose="020B0600000101010101" pitchFamily="34" charset="-127"/>
                  <a:cs typeface="Times New Roman" pitchFamily="18" charset="0"/>
                </a:rPr>
                <a:t>đinh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8"/>
            <a:stretch>
              <a:fillRect/>
            </a:stretch>
          </p:blipFill>
          <p:spPr>
            <a:xfrm>
              <a:off x="4227684" y="6105128"/>
              <a:ext cx="1073524" cy="625605"/>
            </a:xfrm>
            <a:prstGeom prst="rect">
              <a:avLst/>
            </a:prstGeom>
          </p:spPr>
        </p:pic>
      </p:grpSp>
      <p:grpSp>
        <p:nvGrpSpPr>
          <p:cNvPr id="7" name="Group 6"/>
          <p:cNvGrpSpPr/>
          <p:nvPr/>
        </p:nvGrpSpPr>
        <p:grpSpPr>
          <a:xfrm>
            <a:off x="3457922" y="7545288"/>
            <a:ext cx="3180502" cy="2139047"/>
            <a:chOff x="3457922" y="7545288"/>
            <a:chExt cx="3180502" cy="2139047"/>
          </a:xfrm>
        </p:grpSpPr>
        <p:sp>
          <p:nvSpPr>
            <p:cNvPr id="53" name="Rectangle 7"/>
            <p:cNvSpPr>
              <a:spLocks noChangeArrowheads="1"/>
            </p:cNvSpPr>
            <p:nvPr/>
          </p:nvSpPr>
          <p:spPr bwMode="auto">
            <a:xfrm>
              <a:off x="3457922" y="7545288"/>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Nhìn về cấu tạo của Relay hãy điền vào ô </a:t>
              </a:r>
              <a:r>
                <a:rPr lang="vi-VN" altLang="ko-KR" sz="950" smtClean="0">
                  <a:latin typeface="Times New Roman" pitchFamily="18" charset="0"/>
                  <a:ea typeface="LG Smart_H Regular" panose="020B0600000101010101" pitchFamily="34" charset="-127"/>
                  <a:cs typeface="Times New Roman" pitchFamily="18" charset="0"/>
                </a:rPr>
                <a:t>trống?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Tiếp </a:t>
              </a:r>
              <a:r>
                <a:rPr lang="vi-VN" altLang="ko-KR" sz="950">
                  <a:latin typeface="Times New Roman" pitchFamily="18" charset="0"/>
                  <a:ea typeface="LG Smart_H Regular" panose="020B0600000101010101" pitchFamily="34" charset="-127"/>
                  <a:cs typeface="Times New Roman" pitchFamily="18" charset="0"/>
                </a:rPr>
                <a:t>điểm di chuyển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Nam châm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Tấm cách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Tấm sắt di chuyển.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7" name="그림 2"/>
            <p:cNvPicPr>
              <a:picLocks noChangeAspect="1"/>
            </p:cNvPicPr>
            <p:nvPr/>
          </p:nvPicPr>
          <p:blipFill>
            <a:blip r:embed="rId9"/>
            <a:stretch>
              <a:fillRect/>
            </a:stretch>
          </p:blipFill>
          <p:spPr>
            <a:xfrm>
              <a:off x="4343151" y="7833320"/>
              <a:ext cx="1916114" cy="1139111"/>
            </a:xfrm>
            <a:prstGeom prst="rect">
              <a:avLst/>
            </a:prstGeom>
          </p:spPr>
        </p:pic>
      </p:grpSp>
    </p:spTree>
    <p:extLst>
      <p:ext uri="{BB962C8B-B14F-4D97-AF65-F5344CB8AC3E}">
        <p14:creationId xmlns:p14="http://schemas.microsoft.com/office/powerpoint/2010/main" val="24665969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grpSp>
        <p:nvGrpSpPr>
          <p:cNvPr id="22" name="Group 21"/>
          <p:cNvGrpSpPr/>
          <p:nvPr/>
        </p:nvGrpSpPr>
        <p:grpSpPr>
          <a:xfrm>
            <a:off x="188640" y="1064568"/>
            <a:ext cx="3312368" cy="1261884"/>
            <a:chOff x="3284984" y="6588126"/>
            <a:chExt cx="3312368" cy="1261884"/>
          </a:xfrm>
        </p:grpSpPr>
        <p:sp>
          <p:nvSpPr>
            <p:cNvPr id="23" name="Rectangle 7"/>
            <p:cNvSpPr>
              <a:spLocks noChangeArrowheads="1"/>
            </p:cNvSpPr>
            <p:nvPr/>
          </p:nvSpPr>
          <p:spPr bwMode="auto">
            <a:xfrm>
              <a:off x="3284984" y="6588126"/>
              <a:ext cx="331236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err="1" smtClean="0">
                  <a:latin typeface="Times New Roman" pitchFamily="18" charset="0"/>
                  <a:ea typeface="돋움" pitchFamily="50" charset="-127"/>
                  <a:cs typeface="Times New Roman" pitchFamily="18" charset="0"/>
                </a:rPr>
                <a:t>Mức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100㎜.</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Chủ</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yếu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(clamping), </a:t>
              </a:r>
              <a:r>
                <a:rPr lang="en-US" altLang="ko-KR" sz="950" dirty="0" err="1" smtClean="0">
                  <a:latin typeface="Times New Roman" pitchFamily="18" charset="0"/>
                  <a:ea typeface="돋움" pitchFamily="50" charset="-127"/>
                  <a:cs typeface="Times New Roman" pitchFamily="18" charset="0"/>
                </a:rPr>
                <a:t>nhấn</a:t>
              </a:r>
              <a:r>
                <a:rPr lang="en-US" altLang="ko-KR" sz="950" dirty="0" smtClean="0">
                  <a:latin typeface="Times New Roman" pitchFamily="18" charset="0"/>
                  <a:ea typeface="돋움" pitchFamily="50" charset="-127"/>
                  <a:cs typeface="Times New Roman" pitchFamily="18" charset="0"/>
                </a:rPr>
                <a:t> (pressing),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p:txBody>
        </p:sp>
        <p:pic>
          <p:nvPicPr>
            <p:cNvPr id="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139" y="6855767"/>
              <a:ext cx="842962"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5" name="Rectangle 13"/>
          <p:cNvSpPr>
            <a:spLocks noChangeArrowheads="1"/>
          </p:cNvSpPr>
          <p:nvPr/>
        </p:nvSpPr>
        <p:spPr bwMode="auto">
          <a:xfrm>
            <a:off x="235248" y="268518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2</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a:latin typeface="Times New Roman" pitchFamily="18" charset="0"/>
                <a:ea typeface="돋움" pitchFamily="50" charset="-127"/>
                <a:cs typeface="Times New Roman" pitchFamily="18" charset="0"/>
              </a:rPr>
              <a:t>Piston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Piston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Tie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D. </a:t>
            </a:r>
            <a:r>
              <a:rPr lang="en-US" altLang="ko-KR" sz="950" dirty="0" err="1">
                <a:latin typeface="Times New Roman" pitchFamily="18" charset="0"/>
                <a:ea typeface="돋움" pitchFamily="50" charset="-127"/>
                <a:cs typeface="Times New Roman" pitchFamily="18" charset="0"/>
              </a:rPr>
              <a:t>Clavis</a:t>
            </a:r>
            <a:endParaRPr lang="en-US" altLang="ko-KR" sz="950" dirty="0">
              <a:latin typeface="Times New Roman" pitchFamily="18" charset="0"/>
              <a:ea typeface="돋움" pitchFamily="50" charset="-127"/>
              <a:cs typeface="Times New Roman" pitchFamily="18" charset="0"/>
            </a:endParaRPr>
          </a:p>
        </p:txBody>
      </p:sp>
      <p:sp>
        <p:nvSpPr>
          <p:cNvPr id="26" name="Rectangle 14"/>
          <p:cNvSpPr>
            <a:spLocks noChangeArrowheads="1"/>
          </p:cNvSpPr>
          <p:nvPr/>
        </p:nvSpPr>
        <p:spPr bwMode="auto">
          <a:xfrm>
            <a:off x="404665" y="2925648"/>
            <a:ext cx="2934718" cy="479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sắt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căng</a:t>
            </a:r>
            <a:r>
              <a:rPr lang="en-US" altLang="ko-KR" sz="950" dirty="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a:p>
            <a:pPr eaLnBrk="1" hangingPunct="1"/>
            <a:r>
              <a:rPr lang="en-US" altLang="ko-KR" sz="950" dirty="0" err="1">
                <a:latin typeface="Times New Roman" pitchFamily="18" charset="0"/>
                <a:cs typeface="Times New Roman" pitchFamily="18" charset="0"/>
              </a:rPr>
              <a:t>t</a:t>
            </a:r>
            <a:r>
              <a:rPr lang="en-US" altLang="ko-KR" sz="950" dirty="0" err="1" smtClean="0">
                <a:latin typeface="Times New Roman" pitchFamily="18" charset="0"/>
                <a:cs typeface="Times New Roman" pitchFamily="18" charset="0"/>
              </a:rPr>
              <a:t>rên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phủ</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Crom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p:txBody>
      </p:sp>
      <p:sp>
        <p:nvSpPr>
          <p:cNvPr id="27" name="Rectangle 16"/>
          <p:cNvSpPr>
            <a:spLocks noChangeArrowheads="1"/>
          </p:cNvSpPr>
          <p:nvPr/>
        </p:nvSpPr>
        <p:spPr bwMode="auto">
          <a:xfrm>
            <a:off x="188640" y="4262824"/>
            <a:ext cx="326791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3</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ưu</a:t>
            </a:r>
            <a:r>
              <a:rPr lang="en-US" altLang="ko-KR" sz="950" dirty="0" smtClean="0">
                <a:latin typeface="Times New Roman" pitchFamily="18" charset="0"/>
                <a:ea typeface="돋움" pitchFamily="50" charset="-127"/>
                <a:cs typeface="Times New Roman" pitchFamily="18" charset="0"/>
              </a:rPr>
              <a:t>/</a:t>
            </a:r>
            <a:r>
              <a:rPr lang="en-US" altLang="ko-KR" sz="950" dirty="0" err="1" smtClean="0">
                <a:latin typeface="Times New Roman" pitchFamily="18" charset="0"/>
                <a:ea typeface="돋움" pitchFamily="50" charset="-127"/>
                <a:cs typeface="Times New Roman" pitchFamily="18" charset="0"/>
              </a:rPr>
              <a:t>nhược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điểm</a:t>
            </a:r>
            <a:r>
              <a:rPr lang="en-US" altLang="ko-KR" sz="950" smtClean="0">
                <a:latin typeface="Times New Roman" pitchFamily="18" charset="0"/>
                <a:ea typeface="돋움" pitchFamily="50" charset="-127"/>
                <a:cs typeface="Times New Roman" pitchFamily="18" charset="0"/>
              </a:rPr>
              <a:t> của</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½  so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giảm</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C.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tổng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ngắn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so </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cùng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tube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ø6~ø300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hóa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p:txBody>
      </p:sp>
      <p:sp>
        <p:nvSpPr>
          <p:cNvPr id="28" name="Rectangle 18"/>
          <p:cNvSpPr>
            <a:spLocks noChangeArrowheads="1"/>
          </p:cNvSpPr>
          <p:nvPr/>
        </p:nvSpPr>
        <p:spPr bwMode="auto">
          <a:xfrm>
            <a:off x="233090" y="6287760"/>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4</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cũng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Nếu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p:txBody>
      </p:sp>
      <p:sp>
        <p:nvSpPr>
          <p:cNvPr id="39" name="Rectangle 33"/>
          <p:cNvSpPr>
            <a:spLocks noChangeArrowheads="1"/>
          </p:cNvSpPr>
          <p:nvPr/>
        </p:nvSpPr>
        <p:spPr bwMode="auto">
          <a:xfrm>
            <a:off x="233090" y="7575192"/>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chú</a:t>
            </a:r>
            <a:r>
              <a:rPr lang="en-US" altLang="ko-KR" sz="950" dirty="0" smtClean="0">
                <a:latin typeface="Times New Roman" pitchFamily="18" charset="0"/>
                <a:cs typeface="Times New Roman" pitchFamily="18" charset="0"/>
              </a:rPr>
              <a:t> ý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tối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Speed controller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pitting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mép</a:t>
            </a:r>
            <a:r>
              <a:rPr lang="en-US" altLang="ko-KR" sz="950" dirty="0" smtClean="0">
                <a:latin typeface="Times New Roman" pitchFamily="18" charset="0"/>
                <a:cs typeface="Times New Roman" pitchFamily="18" charset="0"/>
              </a:rPr>
              <a:t> stroke</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bởi</a:t>
            </a:r>
            <a:r>
              <a:rPr lang="en-US" altLang="ko-KR" sz="950" smtClean="0">
                <a:latin typeface="Times New Roman" pitchFamily="18" charset="0"/>
                <a:cs typeface="Times New Roman" pitchFamily="18" charset="0"/>
              </a:rPr>
              <a:t> piston </a:t>
            </a:r>
            <a:r>
              <a:rPr lang="en-US" altLang="ko-KR" sz="950" dirty="0" smtClean="0">
                <a:latin typeface="Times New Roman" pitchFamily="18" charset="0"/>
                <a:cs typeface="Times New Roman" pitchFamily="18" charset="0"/>
              </a:rPr>
              <a:t>rod </a:t>
            </a:r>
            <a:r>
              <a:rPr lang="en-US" altLang="ko-KR" sz="950" dirty="0" err="1" smtClean="0">
                <a:latin typeface="Times New Roman" pitchFamily="18" charset="0"/>
                <a:cs typeface="Times New Roman" pitchFamily="18" charset="0"/>
              </a:rPr>
              <a:t>nghiêng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nhắc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đặt</a:t>
            </a:r>
            <a:r>
              <a:rPr lang="en-US" altLang="ko-KR" sz="950" smtClean="0">
                <a:latin typeface="Times New Roman" pitchFamily="18" charset="0"/>
                <a:cs typeface="Times New Roman" pitchFamily="18" charset="0"/>
              </a:rPr>
              <a:t> dẫn hướng </a:t>
            </a:r>
            <a:r>
              <a:rPr lang="en-US" altLang="ko-KR" sz="950" dirty="0" err="1" smtClean="0">
                <a:latin typeface="Times New Roman" pitchFamily="18" charset="0"/>
                <a:cs typeface="Times New Roman" pitchFamily="18" charset="0"/>
              </a:rPr>
              <a:t>rồi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endParaRPr lang="ko-KR" altLang="en-US" sz="950" dirty="0">
              <a:latin typeface="Times New Roman" pitchFamily="18" charset="0"/>
              <a:cs typeface="Times New Roman" pitchFamily="18" charset="0"/>
            </a:endParaRPr>
          </a:p>
        </p:txBody>
      </p:sp>
      <p:sp>
        <p:nvSpPr>
          <p:cNvPr id="40" name="Rectangle 21"/>
          <p:cNvSpPr>
            <a:spLocks noChangeArrowheads="1"/>
          </p:cNvSpPr>
          <p:nvPr/>
        </p:nvSpPr>
        <p:spPr bwMode="auto">
          <a:xfrm>
            <a:off x="3441700" y="1064568"/>
            <a:ext cx="326822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(rotary actuator)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14300" indent="-1143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270~300℃.</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kép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90~120</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3 </a:t>
            </a:r>
            <a:r>
              <a:rPr lang="en-US" altLang="ko-KR" sz="950" dirty="0" err="1" smtClean="0">
                <a:latin typeface="Times New Roman" pitchFamily="18" charset="0"/>
                <a:cs typeface="Times New Roman" pitchFamily="18" charset="0"/>
              </a:rPr>
              <a:t>lớp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60℃</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47" name="Rectangle 25"/>
          <p:cNvSpPr>
            <a:spLocks noChangeArrowheads="1"/>
          </p:cNvSpPr>
          <p:nvPr/>
        </p:nvSpPr>
        <p:spPr bwMode="auto">
          <a:xfrm>
            <a:off x="3403426" y="2864768"/>
            <a:ext cx="329379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7.Trong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Torque valve </a:t>
            </a:r>
            <a:r>
              <a:rPr lang="ko-KR" altLang="en-US" sz="950" dirty="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tuần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p:txBody>
      </p:sp>
      <p:grpSp>
        <p:nvGrpSpPr>
          <p:cNvPr id="48" name="Group 47"/>
          <p:cNvGrpSpPr/>
          <p:nvPr/>
        </p:nvGrpSpPr>
        <p:grpSpPr>
          <a:xfrm>
            <a:off x="3419520" y="4415552"/>
            <a:ext cx="3124200" cy="969496"/>
            <a:chOff x="260350" y="7164388"/>
            <a:chExt cx="3124200" cy="969496"/>
          </a:xfrm>
        </p:grpSpPr>
        <p:grpSp>
          <p:nvGrpSpPr>
            <p:cNvPr id="49" name="Group 62"/>
            <p:cNvGrpSpPr>
              <a:grpSpLocks/>
            </p:cNvGrpSpPr>
            <p:nvPr/>
          </p:nvGrpSpPr>
          <p:grpSpPr bwMode="auto">
            <a:xfrm>
              <a:off x="1924050" y="7164389"/>
              <a:ext cx="1452689" cy="936625"/>
              <a:chOff x="621" y="2069"/>
              <a:chExt cx="1270" cy="696"/>
            </a:xfrm>
          </p:grpSpPr>
          <p:pic>
            <p:nvPicPr>
              <p:cNvPr id="51"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 y="2069"/>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64"/>
              <p:cNvSpPr txBox="1">
                <a:spLocks noChangeArrowheads="1"/>
              </p:cNvSpPr>
              <p:nvPr/>
            </p:nvSpPr>
            <p:spPr bwMode="auto">
              <a:xfrm>
                <a:off x="1148" y="2182"/>
                <a:ext cx="74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Times New Roman" pitchFamily="18" charset="0"/>
                    <a:cs typeface="Times New Roman" pitchFamily="18" charset="0"/>
                  </a:rPr>
                  <a:t>Chất</a:t>
                </a:r>
                <a:r>
                  <a:rPr lang="en-US" altLang="ko-KR" sz="950" smtClean="0">
                    <a:latin typeface="Times New Roman" pitchFamily="18" charset="0"/>
                    <a:cs typeface="Times New Roman" pitchFamily="18" charset="0"/>
                  </a:rPr>
                  <a:t> cách </a:t>
                </a:r>
                <a:r>
                  <a:rPr lang="en-US" altLang="ko-KR" sz="950" dirty="0" err="1" smtClean="0">
                    <a:latin typeface="Times New Roman" pitchFamily="18" charset="0"/>
                    <a:cs typeface="Times New Roman" pitchFamily="18" charset="0"/>
                  </a:rPr>
                  <a:t>âm</a:t>
                </a:r>
                <a:endParaRPr lang="ko-KR" altLang="en-US" sz="950" dirty="0">
                  <a:latin typeface="Times New Roman" pitchFamily="18" charset="0"/>
                  <a:cs typeface="Times New Roman" pitchFamily="18" charset="0"/>
                </a:endParaRPr>
              </a:p>
            </p:txBody>
          </p:sp>
          <p:sp>
            <p:nvSpPr>
              <p:cNvPr id="53" name="Text Box 65"/>
              <p:cNvSpPr txBox="1">
                <a:spLocks noChangeArrowheads="1"/>
              </p:cNvSpPr>
              <p:nvPr/>
            </p:nvSpPr>
            <p:spPr bwMode="auto">
              <a:xfrm>
                <a:off x="1268" y="2294"/>
                <a:ext cx="4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Cover </a:t>
                </a:r>
                <a:endParaRPr lang="ko-KR" altLang="en-US" sz="950" dirty="0">
                  <a:latin typeface="Times New Roman" pitchFamily="18" charset="0"/>
                  <a:cs typeface="Times New Roman" pitchFamily="18" charset="0"/>
                </a:endParaRPr>
              </a:p>
            </p:txBody>
          </p:sp>
          <p:sp>
            <p:nvSpPr>
              <p:cNvPr id="54" name="Text Box 66"/>
              <p:cNvSpPr txBox="1">
                <a:spLocks noChangeArrowheads="1"/>
              </p:cNvSpPr>
              <p:nvPr/>
            </p:nvSpPr>
            <p:spPr bwMode="auto">
              <a:xfrm>
                <a:off x="1314" y="2418"/>
                <a:ext cx="50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End cap</a:t>
                </a:r>
                <a:endParaRPr lang="ko-KR" altLang="en-US" sz="950" dirty="0">
                  <a:latin typeface="Times New Roman" pitchFamily="18" charset="0"/>
                  <a:cs typeface="Times New Roman" pitchFamily="18" charset="0"/>
                </a:endParaRPr>
              </a:p>
            </p:txBody>
          </p:sp>
        </p:grpSp>
        <p:sp>
          <p:nvSpPr>
            <p:cNvPr id="50" name="Rectangle 67"/>
            <p:cNvSpPr>
              <a:spLocks noChangeArrowheads="1"/>
            </p:cNvSpPr>
            <p:nvPr/>
          </p:nvSpPr>
          <p:spPr bwMode="auto">
            <a:xfrm>
              <a:off x="260350" y="7164388"/>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Hình ống giảm thanh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Giảm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ứng</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endParaRPr lang="ko-KR" altLang="en-US" sz="950" dirty="0">
                <a:latin typeface="Times New Roman" pitchFamily="18" charset="0"/>
                <a:cs typeface="Times New Roman" pitchFamily="18" charset="0"/>
              </a:endParaRPr>
            </a:p>
          </p:txBody>
        </p:sp>
      </p:grpSp>
      <p:sp>
        <p:nvSpPr>
          <p:cNvPr id="55" name="Rectangle 14"/>
          <p:cNvSpPr>
            <a:spLocks noChangeArrowheads="1"/>
          </p:cNvSpPr>
          <p:nvPr/>
        </p:nvSpPr>
        <p:spPr bwMode="auto">
          <a:xfrm>
            <a:off x="3433490" y="6220108"/>
            <a:ext cx="327643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counter?</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bộ</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nhớ</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Preset</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batch </a:t>
            </a:r>
            <a:r>
              <a:rPr lang="en-US" altLang="ko-KR" sz="950" smtClean="0">
                <a:latin typeface="Times New Roman" pitchFamily="18" charset="0"/>
                <a:cs typeface="Times New Roman" pitchFamily="18" charset="0"/>
              </a:rPr>
              <a:t>counter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 Scale </a:t>
            </a:r>
            <a:endParaRPr lang="ko-KR" altLang="en-US" sz="950" dirty="0">
              <a:latin typeface="Times New Roman" pitchFamily="18" charset="0"/>
              <a:cs typeface="Times New Roman" pitchFamily="18" charset="0"/>
            </a:endParaRPr>
          </a:p>
        </p:txBody>
      </p:sp>
      <p:sp>
        <p:nvSpPr>
          <p:cNvPr id="56" name="Rectangle 49"/>
          <p:cNvSpPr>
            <a:spLocks noChangeArrowheads="1"/>
          </p:cNvSpPr>
          <p:nvPr/>
        </p:nvSpPr>
        <p:spPr bwMode="auto">
          <a:xfrm>
            <a:off x="3429000" y="7503184"/>
            <a:ext cx="328092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6</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valve </a:t>
            </a:r>
            <a:r>
              <a:rPr lang="en-US" altLang="ko-KR" sz="950" err="1" smtClean="0">
                <a:latin typeface="Times New Roman" pitchFamily="18" charset="0"/>
                <a:cs typeface="Times New Roman" pitchFamily="18" charset="0"/>
              </a:rPr>
              <a:t>dạng</a:t>
            </a:r>
            <a:r>
              <a:rPr lang="en-US" altLang="ko-KR" sz="950" smtClean="0">
                <a:latin typeface="Times New Roman" pitchFamily="18" charset="0"/>
                <a:cs typeface="Times New Roman" pitchFamily="18" charset="0"/>
              </a:rPr>
              <a:t> Pofit? </a:t>
            </a:r>
            <a:endParaRPr lang="en-US" altLang="ko-KR" sz="950" dirty="0">
              <a:latin typeface="Times New Roman" pitchFamily="18" charset="0"/>
              <a:cs typeface="Times New Roman" pitchFamily="18" charset="0"/>
            </a:endParaRPr>
          </a:p>
          <a:p>
            <a:pPr marL="177800" indent="-177800" eaLnBrk="1" hangingPunct="1"/>
            <a:endParaRPr lang="en-US" altLang="ko-KR" sz="950" smtClean="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Spring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nhờ</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hole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so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Quãng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hành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Tree>
    <p:extLst>
      <p:ext uri="{BB962C8B-B14F-4D97-AF65-F5344CB8AC3E}">
        <p14:creationId xmlns:p14="http://schemas.microsoft.com/office/powerpoint/2010/main" val="21172786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Mặt tiếp xúc nào có khả năng xoay tròn của 2 linh kiện </a:t>
            </a:r>
            <a:r>
              <a:rPr lang="vi-VN" altLang="ko-KR" sz="950" smtClean="0">
                <a:latin typeface="Times New Roman" pitchFamily="18" charset="0"/>
                <a:ea typeface="LG Smart_H Regular" panose="020B0600000101010101" pitchFamily="34" charset="-127"/>
                <a:cs typeface="Times New Roman" pitchFamily="18" charset="0"/>
              </a:rPr>
              <a:t>máy?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a:t>
            </a:r>
            <a:r>
              <a:rPr lang="en-US" altLang="ko-KR" sz="950" smtClean="0">
                <a:latin typeface="Times New Roman" pitchFamily="18" charset="0"/>
                <a:ea typeface="LG Smart_H Regular" panose="020B0600000101010101" pitchFamily="34" charset="-127"/>
                <a:cs typeface="Times New Roman" pitchFamily="18" charset="0"/>
              </a:rPr>
              <a:t>xoay</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tròn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trượt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Thép nào mà việc tăng hàm lượng tác động đến việc tăng độ cứng, độ bền hay là giảm tỷ lệ giãn dài, tỷ lệ co lại của </a:t>
            </a:r>
            <a:r>
              <a:rPr lang="vi-VN" altLang="ko-KR" sz="950" smtClean="0">
                <a:latin typeface="Times New Roman" pitchFamily="18" charset="0"/>
                <a:ea typeface="LG Smart_H Regular" panose="020B0600000101010101" pitchFamily="34" charset="-127"/>
                <a:cs typeface="Times New Roman" pitchFamily="18" charset="0"/>
              </a:rPr>
              <a:t>thép?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Molybdeum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Thép </a:t>
            </a:r>
            <a:r>
              <a:rPr lang="en-US" altLang="ko-KR" sz="950" smtClean="0">
                <a:latin typeface="Times New Roman" pitchFamily="18" charset="0"/>
                <a:ea typeface="LG Smart_H Regular" panose="020B0600000101010101" pitchFamily="34" charset="-127"/>
                <a:cs typeface="Times New Roman" pitchFamily="18" charset="0"/>
              </a:rPr>
              <a:t>Crom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Niken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Cacbon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a:t>
            </a:r>
            <a:r>
              <a:rPr lang="vi-VN" altLang="ko-KR" sz="950" smtClean="0">
                <a:latin typeface="Times New Roman" pitchFamily="18" charset="0"/>
                <a:ea typeface="LG Smart_H Regular" panose="020B0600000101010101" pitchFamily="34" charset="-127"/>
                <a:cs typeface="Times New Roman" pitchFamily="18" charset="0"/>
              </a:rPr>
              <a:t>Gear?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chắc </a:t>
            </a:r>
            <a:r>
              <a:rPr lang="vi-VN" altLang="ko-KR" sz="950" smtClean="0">
                <a:latin typeface="Times New Roman" pitchFamily="18" charset="0"/>
                <a:ea typeface="LG Smart_H Regular" panose="020B0600000101010101" pitchFamily="34" charset="-127"/>
                <a:cs typeface="Times New Roman" pitchFamily="18" charset="0"/>
              </a:rPr>
              <a:t>chắn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Backlash </a:t>
            </a:r>
            <a:r>
              <a:rPr lang="en-US" altLang="ko-KR" sz="950" smtClean="0">
                <a:latin typeface="Times New Roman" pitchFamily="18" charset="0"/>
                <a:ea typeface="LG Smart_H Regular" panose="020B0600000101010101" pitchFamily="34" charset="-127"/>
                <a:cs typeface="Times New Roman" pitchFamily="18" charset="0"/>
              </a:rPr>
              <a:t>nhỏ</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động bằng tỷ lệ tốc độ vòng quay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cấu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Bánh răng nào biến chuyển động quay thành chuyển động thẳng và ngược lại biến chuyển động thẳng thành chuyển động </a:t>
            </a:r>
            <a:r>
              <a:rPr lang="vi-VN" altLang="ko-KR" sz="950" smtClean="0">
                <a:latin typeface="Times New Roman" pitchFamily="18" charset="0"/>
                <a:ea typeface="LG Smart_H Regular" panose="020B0600000101010101" pitchFamily="34" charset="-127"/>
                <a:cs typeface="Times New Roman" pitchFamily="18" charset="0"/>
              </a:rPr>
              <a:t>quay?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trụ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thẳng khớp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Rack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phương thức End Cap Type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Phù hợp nhất với việc di chuyển với tốc độ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 loại High-lead </a:t>
            </a:r>
            <a:r>
              <a:rPr lang="en-US" altLang="ko-KR" sz="950" smtClean="0">
                <a:latin typeface="Times New Roman" pitchFamily="18" charset="0"/>
                <a:ea typeface="LG Smart_H Regular" panose="020B0600000101010101" pitchFamily="34" charset="-127"/>
                <a:cs typeface="Times New Roman" pitchFamily="18" charset="0"/>
              </a:rPr>
              <a:t>Nut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có thể chuyển động liên tục không giới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Nut phổ biến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23197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thành phần của </a:t>
            </a:r>
            <a:r>
              <a:rPr lang="vi-VN" altLang="ko-KR" sz="950" smtClean="0">
                <a:latin typeface="Times New Roman" pitchFamily="18" charset="0"/>
                <a:ea typeface="LG Smart_H Regular" panose="020B0600000101010101" pitchFamily="34" charset="-127"/>
                <a:cs typeface="Times New Roman" pitchFamily="18" charset="0"/>
              </a:rPr>
              <a:t>mỡ?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Chất </a:t>
            </a:r>
            <a:r>
              <a:rPr lang="vi-VN" altLang="ko-KR" sz="950">
                <a:latin typeface="Times New Roman" pitchFamily="18" charset="0"/>
                <a:ea typeface="LG Smart_H Regular" panose="020B0600000101010101" pitchFamily="34" charset="-127"/>
                <a:cs typeface="Times New Roman" pitchFamily="18" charset="0"/>
              </a:rPr>
              <a:t>làm cô </a:t>
            </a:r>
            <a:r>
              <a:rPr lang="vi-VN" altLang="ko-KR" sz="950" smtClean="0">
                <a:latin typeface="Times New Roman" pitchFamily="18" charset="0"/>
                <a:ea typeface="LG Smart_H Regular" panose="020B0600000101010101" pitchFamily="34" charset="-127"/>
                <a:cs typeface="Times New Roman" pitchFamily="18" charset="0"/>
              </a:rPr>
              <a:t>đặc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Dầu khoáng hoặc dầu </a:t>
            </a:r>
            <a:r>
              <a:rPr lang="nb-NO" altLang="ko-KR" sz="950" smtClean="0">
                <a:latin typeface="Times New Roman" pitchFamily="18" charset="0"/>
                <a:ea typeface="LG Smart_H Regular" panose="020B0600000101010101" pitchFamily="34" charset="-127"/>
                <a:cs typeface="Times New Roman" pitchFamily="18" charset="0"/>
              </a:rPr>
              <a:t>D-ester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Chất xúc </a:t>
            </a:r>
            <a:r>
              <a:rPr lang="en-US" altLang="ko-KR" sz="950" smtClean="0">
                <a:latin typeface="Times New Roman" pitchFamily="18" charset="0"/>
                <a:ea typeface="LG Smart_H Regular" panose="020B0600000101010101" pitchFamily="34" charset="-127"/>
                <a:cs typeface="Times New Roman" pitchFamily="18" charset="0"/>
              </a:rPr>
              <a:t>tác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Chất chống đông mỡ</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Là loại muff coupling cải tiến,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Coupling Rigid.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Flexible </a:t>
            </a:r>
            <a:r>
              <a:rPr lang="fr-FR"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Seller’s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Flange 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smtClean="0">
                <a:latin typeface="Times New Roman" pitchFamily="18" charset="0"/>
                <a:ea typeface="LG Smart_H Regular" panose="020B0600000101010101" pitchFamily="34" charset="-127"/>
                <a:cs typeface="Times New Roman" pitchFamily="18" charset="0"/>
              </a:rPr>
              <a:t>không phải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Khoản mục cần chú ý khi thiết kế nối trục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lớn của lực truyền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sai của trọng tâm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Tốc độ quay của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Góc tiếp xúc của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63885" y="8231776"/>
            <a:ext cx="3180502" cy="1113712"/>
            <a:chOff x="163885" y="7871936"/>
            <a:chExt cx="3180502" cy="1113712"/>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khóa có hình ảnh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Spring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Sliding key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3"/>
            <a:stretch>
              <a:fillRect/>
            </a:stretch>
          </p:blipFill>
          <p:spPr>
            <a:xfrm>
              <a:off x="1818851" y="8161986"/>
              <a:ext cx="1116209" cy="823662"/>
            </a:xfrm>
            <a:prstGeom prst="rect">
              <a:avLst/>
            </a:prstGeom>
          </p:spPr>
        </p:pic>
      </p:grpSp>
      <p:grpSp>
        <p:nvGrpSpPr>
          <p:cNvPr id="3" name="Group 2"/>
          <p:cNvGrpSpPr/>
          <p:nvPr/>
        </p:nvGrpSpPr>
        <p:grpSpPr>
          <a:xfrm>
            <a:off x="3379882" y="6071736"/>
            <a:ext cx="3180502" cy="1677788"/>
            <a:chOff x="3379882" y="6071736"/>
            <a:chExt cx="3180502" cy="1677788"/>
          </a:xfrm>
        </p:grpSpPr>
        <p:sp>
          <p:nvSpPr>
            <p:cNvPr id="45" name="Rectangle 7"/>
            <p:cNvSpPr>
              <a:spLocks noChangeArrowheads="1"/>
            </p:cNvSpPr>
            <p:nvPr/>
          </p:nvSpPr>
          <p:spPr bwMode="auto">
            <a:xfrm>
              <a:off x="3379882" y="6071736"/>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Phương thức dẫn động nào sử dụng labyrinth seal để ngăn bụi </a:t>
              </a:r>
              <a:r>
                <a:rPr lang="vi-VN" altLang="ko-KR" sz="950" smtClean="0">
                  <a:latin typeface="Times New Roman" pitchFamily="18" charset="0"/>
                  <a:ea typeface="LG Smart_H Regular" panose="020B0600000101010101" pitchFamily="34" charset="-127"/>
                  <a:cs typeface="Times New Roman" pitchFamily="18" charset="0"/>
                </a:rPr>
                <a:t>bẩn?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0064" y="7176436"/>
              <a:ext cx="847775" cy="57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7-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1034" y="6460704"/>
              <a:ext cx="857005" cy="56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7-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8588" y="6475201"/>
              <a:ext cx="853159" cy="55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7-5-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62416" y="7183684"/>
              <a:ext cx="849523" cy="56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250922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39" name="Rectangle 11"/>
          <p:cNvSpPr>
            <a:spLocks noChangeArrowheads="1"/>
          </p:cNvSpPr>
          <p:nvPr/>
        </p:nvSpPr>
        <p:spPr bwMode="auto">
          <a:xfrm>
            <a:off x="188640" y="1245022"/>
            <a:ext cx="325833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Được gọi là động học cơ học.</a:t>
            </a:r>
          </a:p>
          <a:p>
            <a:pPr marL="111125" indent="-111125"/>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23" name="Rectangle 22"/>
          <p:cNvSpPr>
            <a:spLocks noChangeArrowheads="1"/>
          </p:cNvSpPr>
          <p:nvPr/>
        </p:nvSpPr>
        <p:spPr bwMode="auto">
          <a:xfrm>
            <a:off x="188640" y="2678068"/>
            <a:ext cx="325833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Chọn đáp án không phải là ưu điểm của V Belt?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Có thể lắp </a:t>
            </a:r>
            <a:r>
              <a:rPr lang="en-US" altLang="ko-KR" sz="950" smtClean="0">
                <a:latin typeface="Times New Roman" pitchFamily="18" charset="0"/>
                <a:ea typeface="돋움" pitchFamily="50" charset="-127"/>
                <a:cs typeface="Times New Roman" pitchFamily="18" charset="0"/>
              </a:rPr>
              <a:t>đặt ở </a:t>
            </a:r>
            <a:r>
              <a:rPr lang="en-US" altLang="ko-KR" sz="950">
                <a:latin typeface="Times New Roman" pitchFamily="18" charset="0"/>
                <a:ea typeface="돋움" pitchFamily="50" charset="-127"/>
                <a:cs typeface="Times New Roman" pitchFamily="18" charset="0"/>
              </a:rPr>
              <a:t>nơi </a:t>
            </a:r>
            <a:r>
              <a:rPr lang="en-US" altLang="ko-KR" sz="950" smtClean="0">
                <a:latin typeface="Times New Roman" pitchFamily="18" charset="0"/>
                <a:ea typeface="돋움" pitchFamily="50" charset="-127"/>
                <a:cs typeface="Times New Roman" pitchFamily="18" charset="0"/>
              </a:rPr>
              <a:t>chật hẹp</a:t>
            </a:r>
            <a:r>
              <a:rPr lang="en-US" altLang="ko-KR" sz="950">
                <a:latin typeface="Times New Roman" pitchFamily="18" charset="0"/>
                <a:ea typeface="돋움" pitchFamily="50" charset="-127"/>
                <a:cs typeface="Times New Roman" pitchFamily="18" charset="0"/>
              </a:rPr>
              <a:t>, vận </a:t>
            </a:r>
            <a:r>
              <a:rPr lang="en-US" altLang="ko-KR" sz="950" smtClean="0">
                <a:latin typeface="Times New Roman" pitchFamily="18" charset="0"/>
                <a:ea typeface="돋움" pitchFamily="50" charset="-127"/>
                <a:cs typeface="Times New Roman" pitchFamily="18" charset="0"/>
              </a:rPr>
              <a:t>hành </a:t>
            </a:r>
            <a:r>
              <a:rPr lang="en-US" altLang="ko-KR" sz="950">
                <a:latin typeface="Times New Roman" pitchFamily="18" charset="0"/>
                <a:ea typeface="돋움" pitchFamily="50" charset="-127"/>
                <a:cs typeface="Times New Roman" pitchFamily="18" charset="0"/>
              </a:rPr>
              <a:t>tĩnh và </a:t>
            </a:r>
            <a:r>
              <a:rPr lang="en-US" altLang="ko-KR" sz="950" smtClean="0">
                <a:latin typeface="Times New Roman" pitchFamily="18" charset="0"/>
                <a:ea typeface="돋움" pitchFamily="50" charset="-127"/>
                <a:cs typeface="Times New Roman" pitchFamily="18" charset="0"/>
              </a:rPr>
              <a:t>rung lắc ít</a:t>
            </a:r>
            <a:endParaRPr lang="en-US" altLang="ko-KR"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Hiệu suất truyền động khoảng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96~99%, lực kéo nhỏ nên tải trọng lên </a:t>
            </a:r>
            <a:r>
              <a:rPr lang="en-US" altLang="ko-KR" sz="950" smtClean="0">
                <a:latin typeface="Times New Roman" pitchFamily="18" charset="0"/>
                <a:ea typeface="돋움" pitchFamily="50" charset="-127"/>
                <a:cs typeface="Times New Roman" pitchFamily="18" charset="0"/>
              </a:rPr>
              <a:t>bánh răng </a:t>
            </a:r>
            <a:r>
              <a:rPr lang="en-US" altLang="ko-KR" sz="950">
                <a:latin typeface="Times New Roman" pitchFamily="18" charset="0"/>
                <a:ea typeface="돋움" pitchFamily="50" charset="-127"/>
                <a:cs typeface="Times New Roman" pitchFamily="18" charset="0"/>
              </a:rPr>
              <a:t>nhỏ.</a:t>
            </a:r>
          </a:p>
          <a:p>
            <a:r>
              <a:rPr lang="en-US" altLang="ko-KR" sz="950" smtClean="0">
                <a:latin typeface="Times New Roman" pitchFamily="18" charset="0"/>
                <a:ea typeface="돋움" pitchFamily="50" charset="-127"/>
                <a:cs typeface="Times New Roman" pitchFamily="18" charset="0"/>
              </a:rPr>
              <a:t>C. Chủ yếu sử dụng trong Pully </a:t>
            </a:r>
            <a:r>
              <a:rPr lang="en-US" altLang="ko-KR" sz="950">
                <a:latin typeface="Times New Roman" pitchFamily="18" charset="0"/>
                <a:ea typeface="돋움" pitchFamily="50" charset="-127"/>
                <a:cs typeface="Times New Roman" pitchFamily="18" charset="0"/>
              </a:rPr>
              <a:t>có đường kính tương đối nhỏ.</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Hầu như không có trơn trợt và thay đổi tốc độ.</a:t>
            </a:r>
          </a:p>
        </p:txBody>
      </p:sp>
      <p:grpSp>
        <p:nvGrpSpPr>
          <p:cNvPr id="24" name="Group 23"/>
          <p:cNvGrpSpPr/>
          <p:nvPr/>
        </p:nvGrpSpPr>
        <p:grpSpPr>
          <a:xfrm>
            <a:off x="188640" y="4630559"/>
            <a:ext cx="3124200" cy="1627369"/>
            <a:chOff x="3467106" y="3347830"/>
            <a:chExt cx="3124200" cy="1627369"/>
          </a:xfrm>
        </p:grpSpPr>
        <p:sp>
          <p:nvSpPr>
            <p:cNvPr id="25" name="Rectangle 26"/>
            <p:cNvSpPr>
              <a:spLocks noChangeArrowheads="1"/>
            </p:cNvSpPr>
            <p:nvPr/>
          </p:nvSpPr>
          <p:spPr bwMode="auto">
            <a:xfrm>
              <a:off x="3467106" y="3347830"/>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a:t>
              </a:r>
              <a:r>
                <a:rPr lang="en-US" altLang="ko-KR" sz="950">
                  <a:latin typeface="Times New Roman" pitchFamily="18" charset="0"/>
                  <a:ea typeface="돋움" pitchFamily="50" charset="-127"/>
                  <a:cs typeface="Times New Roman" pitchFamily="18" charset="0"/>
                </a:rPr>
                <a:t>. Chọn loại răng của Timing Belt mà mang lại thành công hiệu quả backlash tối thiểu, giảm tiếng ồn, độ tin cậy cao và tuổi thọ dài?</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D.   </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6" name="Group 25"/>
            <p:cNvGrpSpPr/>
            <p:nvPr/>
          </p:nvGrpSpPr>
          <p:grpSpPr>
            <a:xfrm>
              <a:off x="3717040" y="3824080"/>
              <a:ext cx="2736148" cy="1008140"/>
              <a:chOff x="3717040" y="3824080"/>
              <a:chExt cx="2736148" cy="1008140"/>
            </a:xfrm>
          </p:grpSpPr>
          <p:pic>
            <p:nvPicPr>
              <p:cNvPr id="27"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040" y="3871802"/>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5157788" y="3824080"/>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3717040" y="4443282"/>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5233988" y="4470765"/>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1" name="Rectangle 32"/>
          <p:cNvSpPr>
            <a:spLocks noChangeArrowheads="1"/>
          </p:cNvSpPr>
          <p:nvPr/>
        </p:nvSpPr>
        <p:spPr bwMode="auto">
          <a:xfrm>
            <a:off x="188640" y="6677417"/>
            <a:ext cx="3248212"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11125" indent="-111125"/>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4</a:t>
            </a:r>
            <a:r>
              <a:rPr lang="en-US" altLang="ko-KR" sz="950">
                <a:latin typeface="Times New Roman" pitchFamily="18" charset="0"/>
                <a:ea typeface="돋움" pitchFamily="50" charset="-127"/>
                <a:cs typeface="Times New Roman" pitchFamily="18" charset="0"/>
              </a:rPr>
              <a:t>. Chọn đáp án không được sử dụng như một vật liệu chịu bền kéo của Timing Belt  ?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PTFE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Loại SUS</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Glass Fiber Cord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Kevlar</a:t>
            </a:r>
          </a:p>
        </p:txBody>
      </p:sp>
      <p:sp>
        <p:nvSpPr>
          <p:cNvPr id="32" name="Rectangle 13"/>
          <p:cNvSpPr>
            <a:spLocks noChangeArrowheads="1"/>
          </p:cNvSpPr>
          <p:nvPr/>
        </p:nvSpPr>
        <p:spPr bwMode="auto">
          <a:xfrm>
            <a:off x="188640" y="7934652"/>
            <a:ext cx="3312368"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Giải thích nào sau đây không đúng với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LM Guide?</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Hệ </a:t>
            </a:r>
            <a:r>
              <a:rPr lang="en-US" altLang="ko-KR" sz="950">
                <a:latin typeface="Times New Roman" pitchFamily="18" charset="0"/>
                <a:ea typeface="돋움" pitchFamily="50" charset="-127"/>
                <a:cs typeface="Times New Roman" pitchFamily="18" charset="0"/>
              </a:rPr>
              <a:t>số ma sát là 0.002~0.005 nên giảm chi phí vận hành máy</a:t>
            </a:r>
            <a:r>
              <a:rPr lang="ko-KR" altLang="en-US" sz="95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a:p>
            <a:pPr marL="109538" indent="-109538"/>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Do </a:t>
            </a:r>
            <a:r>
              <a:rPr lang="en-US" altLang="ko-KR" sz="950" smtClean="0">
                <a:latin typeface="Times New Roman" pitchFamily="18" charset="0"/>
                <a:ea typeface="돋움" pitchFamily="50" charset="-127"/>
                <a:cs typeface="Times New Roman" pitchFamily="18" charset="0"/>
              </a:rPr>
              <a:t>rãnh </a:t>
            </a:r>
            <a:r>
              <a:rPr lang="en-US" altLang="ko-KR" sz="950">
                <a:latin typeface="Times New Roman" pitchFamily="18" charset="0"/>
                <a:ea typeface="돋움" pitchFamily="50" charset="-127"/>
                <a:cs typeface="Times New Roman" pitchFamily="18" charset="0"/>
              </a:rPr>
              <a:t>của ball được gia công bán </a:t>
            </a:r>
            <a:r>
              <a:rPr lang="en-US" altLang="ko-KR" sz="950" smtClean="0">
                <a:latin typeface="Times New Roman" pitchFamily="18" charset="0"/>
                <a:ea typeface="돋움" pitchFamily="50" charset="-127"/>
                <a:cs typeface="Times New Roman" pitchFamily="18" charset="0"/>
              </a:rPr>
              <a:t>kính đồng nhất với rãnh của </a:t>
            </a:r>
            <a:r>
              <a:rPr lang="en-US" altLang="ko-KR" sz="950">
                <a:latin typeface="Times New Roman" pitchFamily="18" charset="0"/>
                <a:ea typeface="돋움" pitchFamily="50" charset="-127"/>
                <a:cs typeface="Times New Roman" pitchFamily="18" charset="0"/>
              </a:rPr>
              <a:t>Bearing ball nên có thể tạo tải trước ( preload) .</a:t>
            </a:r>
            <a:endParaRPr lang="en-US" altLang="ko-KR" sz="950">
              <a:latin typeface="Times New Roman" pitchFamily="18" charset="0"/>
              <a:ea typeface="돋움" pitchFamily="50" charset="-127"/>
              <a:cs typeface="Times New Roman" pitchFamily="18" charset="0"/>
              <a:sym typeface="Wingdings" pitchFamily="2" charset="2"/>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Không có Stick slip , </a:t>
            </a:r>
            <a:r>
              <a:rPr lang="vi-VN" altLang="ko-KR" sz="950">
                <a:latin typeface="Times New Roman" pitchFamily="18" charset="0"/>
                <a:ea typeface="돋움" pitchFamily="50" charset="-127"/>
                <a:cs typeface="Times New Roman" pitchFamily="18" charset="0"/>
              </a:rPr>
              <a:t>hầu như không có chuyển động lỏng</a:t>
            </a:r>
            <a:r>
              <a:rPr lang="en-US" altLang="ko-KR" sz="950" smtClean="0">
                <a:latin typeface="Times New Roman" pitchFamily="18" charset="0"/>
                <a:ea typeface="돋움" pitchFamily="50" charset="-127"/>
                <a:cs typeface="Times New Roman" pitchFamily="18" charset="0"/>
              </a:rPr>
              <a:t>.</a:t>
            </a:r>
            <a:r>
              <a:rPr lang="en-US" altLang="ko-KR" sz="950" smtClean="0">
                <a:latin typeface="Times New Roman" pitchFamily="18" charset="0"/>
                <a:ea typeface="돋움" pitchFamily="50" charset="-127"/>
                <a:cs typeface="Times New Roman" pitchFamily="18" charset="0"/>
                <a:sym typeface="Wingdings" pitchFamily="2" charset="2"/>
              </a:rPr>
              <a:t> </a:t>
            </a:r>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Có thể thiết kế </a:t>
            </a:r>
            <a:r>
              <a:rPr lang="en-US" altLang="ko-KR" sz="950" smtClean="0">
                <a:latin typeface="Times New Roman" pitchFamily="18" charset="0"/>
                <a:ea typeface="돋움" pitchFamily="50" charset="-127"/>
                <a:cs typeface="Times New Roman" pitchFamily="18" charset="0"/>
              </a:rPr>
              <a:t> nhỏ gọn </a:t>
            </a:r>
            <a:r>
              <a:rPr lang="en-US" altLang="ko-KR" sz="950">
                <a:latin typeface="Times New Roman" pitchFamily="18" charset="0"/>
                <a:ea typeface="돋움" pitchFamily="50" charset="-127"/>
                <a:cs typeface="Times New Roman" pitchFamily="18" charset="0"/>
              </a:rPr>
              <a:t>bằng cách thay thế L</a:t>
            </a:r>
            <a:r>
              <a:rPr lang="en-US" altLang="ko-KR" sz="950" smtClean="0">
                <a:latin typeface="Times New Roman" pitchFamily="18" charset="0"/>
                <a:ea typeface="돋움" pitchFamily="50" charset="-127"/>
                <a:cs typeface="Times New Roman" pitchFamily="18" charset="0"/>
              </a:rPr>
              <a:t>inear Bush</a:t>
            </a:r>
            <a:endParaRPr lang="en-US" altLang="ko-KR" sz="950">
              <a:latin typeface="Times New Roman" pitchFamily="18" charset="0"/>
              <a:ea typeface="돋움" pitchFamily="50" charset="-127"/>
              <a:cs typeface="Times New Roman" pitchFamily="18" charset="0"/>
            </a:endParaRPr>
          </a:p>
        </p:txBody>
      </p:sp>
      <p:grpSp>
        <p:nvGrpSpPr>
          <p:cNvPr id="38" name="Group 37"/>
          <p:cNvGrpSpPr/>
          <p:nvPr/>
        </p:nvGrpSpPr>
        <p:grpSpPr>
          <a:xfrm>
            <a:off x="3436852" y="1280592"/>
            <a:ext cx="3124200" cy="1159548"/>
            <a:chOff x="3441700" y="7153275"/>
            <a:chExt cx="3124200" cy="1159548"/>
          </a:xfrm>
        </p:grpSpPr>
        <p:sp>
          <p:nvSpPr>
            <p:cNvPr id="50" name="Rectangle 36"/>
            <p:cNvSpPr>
              <a:spLocks noChangeArrowheads="1"/>
            </p:cNvSpPr>
            <p:nvPr/>
          </p:nvSpPr>
          <p:spPr bwMode="auto">
            <a:xfrm>
              <a:off x="3441700" y="7153275"/>
              <a:ext cx="3124200" cy="115954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6</a:t>
              </a:r>
              <a:r>
                <a:rPr lang="en-US" altLang="ko-KR" sz="950">
                  <a:latin typeface="Times New Roman" pitchFamily="18" charset="0"/>
                  <a:cs typeface="Times New Roman" pitchFamily="18" charset="0"/>
                </a:rPr>
                <a:t>. Tên gọi của phần A ở hình sau là gì</a:t>
              </a:r>
              <a:r>
                <a:rPr lang="ko-KR" altLang="en-US" sz="950">
                  <a:latin typeface="Times New Roman" pitchFamily="18" charset="0"/>
                  <a:cs typeface="Times New Roman" pitchFamily="18" charset="0"/>
                </a:rPr>
                <a:t> </a:t>
              </a:r>
              <a:r>
                <a:rPr lang="en-US" altLang="ko-KR" sz="950">
                  <a:latin typeface="Times New Roman" pitchFamily="18" charset="0"/>
                  <a:cs typeface="Times New Roman" pitchFamily="18" charset="0"/>
                </a:rPr>
                <a:t>?</a:t>
              </a:r>
            </a:p>
            <a:p>
              <a:pPr>
                <a:lnSpc>
                  <a:spcPct val="70000"/>
                </a:lnSpc>
              </a:pPr>
              <a:endParaRPr lang="en-US" altLang="ko-KR" sz="950">
                <a:latin typeface="Times New Roman" pitchFamily="18" charset="0"/>
                <a:cs typeface="Times New Roman" pitchFamily="18" charset="0"/>
              </a:endParaRPr>
            </a:p>
            <a:p>
              <a:pPr>
                <a:lnSpc>
                  <a:spcPct val="70000"/>
                </a:lnSpc>
              </a:pPr>
              <a:endParaRPr lang="en-US" altLang="ko-KR" sz="950">
                <a:latin typeface="Times New Roman" pitchFamily="18" charset="0"/>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cap</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Ống ngoài</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End </a:t>
              </a:r>
              <a:r>
                <a:rPr lang="en-US" altLang="ko-KR" sz="950">
                  <a:latin typeface="Times New Roman" pitchFamily="18" charset="0"/>
                  <a:ea typeface="돋움" pitchFamily="50" charset="-127"/>
                  <a:cs typeface="Times New Roman" pitchFamily="18" charset="0"/>
                </a:rPr>
                <a:t>Plate</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Base Plate</a:t>
              </a:r>
              <a:endParaRPr lang="ko-KR" altLang="en-US" sz="950">
                <a:latin typeface="Times New Roman" pitchFamily="18" charset="0"/>
                <a:ea typeface="돋움" pitchFamily="50" charset="-127"/>
                <a:cs typeface="Times New Roman" pitchFamily="18" charset="0"/>
              </a:endParaRPr>
            </a:p>
          </p:txBody>
        </p:sp>
        <p:grpSp>
          <p:nvGrpSpPr>
            <p:cNvPr id="51" name="Group 37"/>
            <p:cNvGrpSpPr>
              <a:grpSpLocks/>
            </p:cNvGrpSpPr>
            <p:nvPr/>
          </p:nvGrpSpPr>
          <p:grpSpPr bwMode="auto">
            <a:xfrm>
              <a:off x="5121275" y="7353300"/>
              <a:ext cx="1295400" cy="855663"/>
              <a:chOff x="1056" y="848"/>
              <a:chExt cx="816" cy="539"/>
            </a:xfrm>
          </p:grpSpPr>
          <p:sp>
            <p:nvSpPr>
              <p:cNvPr id="52"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itchFamily="18" charset="0"/>
                </a:endParaRPr>
              </a:p>
            </p:txBody>
          </p:sp>
          <p:pic>
            <p:nvPicPr>
              <p:cNvPr id="53"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itchFamily="18" charset="0"/>
                  </a:rPr>
                  <a:t>A</a:t>
                </a:r>
              </a:p>
            </p:txBody>
          </p:sp>
        </p:grpSp>
      </p:grpSp>
      <p:sp>
        <p:nvSpPr>
          <p:cNvPr id="55" name="Rectangle 46"/>
          <p:cNvSpPr>
            <a:spLocks noChangeArrowheads="1"/>
          </p:cNvSpPr>
          <p:nvPr/>
        </p:nvSpPr>
        <p:spPr bwMode="auto">
          <a:xfrm>
            <a:off x="3442965" y="3008784"/>
            <a:ext cx="321420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7</a:t>
            </a:r>
            <a:r>
              <a:rPr lang="en-US" altLang="ko-KR" sz="950">
                <a:latin typeface="Times New Roman" pitchFamily="18" charset="0"/>
                <a:ea typeface="돋움" pitchFamily="50" charset="-127"/>
                <a:cs typeface="Times New Roman" pitchFamily="18" charset="0"/>
              </a:rPr>
              <a:t>. Type nào tạo sao tải trọng định mức giống nhau cho cả 4 hướng trong cấu trúc của LM Guide?</a:t>
            </a:r>
          </a:p>
          <a:p>
            <a:r>
              <a:rPr lang="en-US" altLang="ko-KR" sz="950" smtClean="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HSR  </a:t>
            </a:r>
            <a:r>
              <a:rPr lang="en-US" altLang="ko-KR" sz="950" smtClean="0">
                <a:latin typeface="Times New Roman" pitchFamily="18" charset="0"/>
                <a:ea typeface="돋움" pitchFamily="50" charset="-127"/>
                <a:cs typeface="Times New Roman" pitchFamily="18" charset="0"/>
              </a:rPr>
              <a:t>    B. </a:t>
            </a:r>
            <a:r>
              <a:rPr lang="en-US" altLang="ko-KR" sz="950">
                <a:latin typeface="Times New Roman" pitchFamily="18" charset="0"/>
                <a:ea typeface="돋움" pitchFamily="50" charset="-127"/>
                <a:cs typeface="Times New Roman" pitchFamily="18" charset="0"/>
              </a:rPr>
              <a:t>SR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SRG   </a:t>
            </a:r>
            <a:r>
              <a:rPr lang="en-US" altLang="ko-KR" sz="950" smtClean="0">
                <a:latin typeface="Times New Roman" pitchFamily="18" charset="0"/>
                <a:ea typeface="돋움" pitchFamily="50" charset="-127"/>
                <a:cs typeface="Times New Roman" pitchFamily="18" charset="0"/>
              </a:rPr>
              <a:t>    D. </a:t>
            </a:r>
            <a:r>
              <a:rPr lang="en-US" altLang="ko-KR" sz="950">
                <a:latin typeface="Times New Roman" pitchFamily="18" charset="0"/>
                <a:ea typeface="돋움" pitchFamily="50" charset="-127"/>
                <a:cs typeface="Times New Roman" pitchFamily="18" charset="0"/>
              </a:rPr>
              <a:t>SRW</a:t>
            </a:r>
          </a:p>
        </p:txBody>
      </p:sp>
      <p:sp>
        <p:nvSpPr>
          <p:cNvPr id="56" name="Rectangle 14"/>
          <p:cNvSpPr>
            <a:spLocks noChangeArrowheads="1"/>
          </p:cNvSpPr>
          <p:nvPr/>
        </p:nvSpPr>
        <p:spPr bwMode="auto">
          <a:xfrm>
            <a:off x="3429000" y="4304928"/>
            <a:ext cx="3272982"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đặc điểm của bôi trơn dầu?</a:t>
            </a:r>
          </a:p>
          <a:p>
            <a:pPr marL="111125" indent="-111125"/>
            <a:endParaRPr lang="en-US" altLang="ko-KR" sz="950" smtClean="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Phù hợp với sử dụng nhiệt độ thấp hoặc tốc độ thấp hơn là bôi trơn bằng mỡ.</a:t>
            </a: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a:t>
            </a:r>
            <a:r>
              <a:rPr lang="en-US" altLang="ko-KR" sz="950" smtClean="0">
                <a:latin typeface="Times New Roman" pitchFamily="18" charset="0"/>
                <a:ea typeface="돋움" pitchFamily="50" charset="-127"/>
                <a:cs typeface="Times New Roman" pitchFamily="18" charset="0"/>
              </a:rPr>
              <a:t>phù </a:t>
            </a:r>
            <a:r>
              <a:rPr lang="en-US" altLang="ko-KR" sz="950">
                <a:latin typeface="Times New Roman" pitchFamily="18" charset="0"/>
                <a:ea typeface="돋움" pitchFamily="50" charset="-127"/>
                <a:cs typeface="Times New Roman" pitchFamily="18" charset="0"/>
              </a:rPr>
              <a:t>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pPr marL="111125" indent="-111125"/>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p:txBody>
      </p:sp>
      <p:sp>
        <p:nvSpPr>
          <p:cNvPr id="57" name="Rectangle 14"/>
          <p:cNvSpPr>
            <a:spLocks noChangeArrowheads="1"/>
          </p:cNvSpPr>
          <p:nvPr/>
        </p:nvSpPr>
        <p:spPr bwMode="auto">
          <a:xfrm>
            <a:off x="3429000" y="7689304"/>
            <a:ext cx="3272982"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8</a:t>
            </a:r>
            <a:r>
              <a:rPr lang="en-US" altLang="ko-KR" sz="950" smtClean="0">
                <a:latin typeface="Times New Roman" pitchFamily="18" charset="0"/>
                <a:ea typeface="돋움" pitchFamily="50" charset="-127"/>
                <a:cs typeface="Times New Roman" pitchFamily="18" charset="0"/>
              </a:rPr>
              <a:t>0</a:t>
            </a:r>
            <a:r>
              <a:rPr lang="en-US" altLang="ko-KR" sz="950">
                <a:latin typeface="Times New Roman" pitchFamily="18" charset="0"/>
                <a:ea typeface="돋움" pitchFamily="50" charset="-127"/>
                <a:cs typeface="Times New Roman" pitchFamily="18" charset="0"/>
              </a:rPr>
              <a:t>. Chọn đáp án biểu thị đúng thứ tự ưu tiên của </a:t>
            </a:r>
            <a:r>
              <a:rPr lang="en-US" altLang="ko-KR" sz="950" smtClean="0">
                <a:latin typeface="Times New Roman" pitchFamily="18" charset="0"/>
                <a:ea typeface="돋움" pitchFamily="50" charset="-127"/>
                <a:cs typeface="Times New Roman" pitchFamily="18" charset="0"/>
              </a:rPr>
              <a:t>đường kẻ trong bản vẽ?</a:t>
            </a:r>
            <a:endParaRPr lang="en-US" altLang="ko-KR" sz="950">
              <a:latin typeface="Times New Roman" pitchFamily="18" charset="0"/>
              <a:ea typeface="돋움" pitchFamily="50" charset="-127"/>
              <a:cs typeface="Times New Roman" pitchFamily="18" charset="0"/>
            </a:endParaRPr>
          </a:p>
          <a:p>
            <a:pPr marL="111125" indent="-111125"/>
            <a:endParaRPr lang="en-US" altLang="ko-KR" sz="950" smtClean="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A. 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sym typeface="Wingdings" pitchFamily="2" charset="2"/>
            </a:endParaRPr>
          </a:p>
          <a:p>
            <a:pPr marL="111125" indent="-111125"/>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smtClean="0">
                <a:latin typeface="Times New Roman" pitchFamily="18" charset="0"/>
                <a:ea typeface="돋움" pitchFamily="50" charset="-127"/>
                <a:cs typeface="Times New Roman" pitchFamily="18" charset="0"/>
                <a:sym typeface="Wingdings" pitchFamily="2" charset="2"/>
              </a:rPr>
              <a:t>đường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kích đề thước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phẳng </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sym typeface="Wingdings" pitchFamily="2" charset="2"/>
              </a:rPr>
              <a:t>Đ</a:t>
            </a:r>
            <a:r>
              <a:rPr lang="vi-VN" altLang="ko-KR" sz="950" smtClean="0">
                <a:latin typeface="Times New Roman" pitchFamily="18" charset="0"/>
                <a:ea typeface="돋움" pitchFamily="50" charset="-127"/>
                <a:cs typeface="Times New Roman" pitchFamily="18" charset="0"/>
                <a:sym typeface="Wingdings" pitchFamily="2" charset="2"/>
              </a:rPr>
              <a:t>ường </a:t>
            </a:r>
            <a:r>
              <a:rPr lang="vi-VN" altLang="ko-KR" sz="950">
                <a:latin typeface="Times New Roman" pitchFamily="18" charset="0"/>
                <a:ea typeface="돋움" pitchFamily="50" charset="-127"/>
                <a:cs typeface="Times New Roman" pitchFamily="18" charset="0"/>
                <a:sym typeface="Wingdings" pitchFamily="2" charset="2"/>
              </a:rPr>
              <a:t>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a:t>
            </a:r>
            <a:r>
              <a:rPr lang="en-US" altLang="ko-KR" sz="950" smtClean="0">
                <a:latin typeface="Times New Roman" pitchFamily="18" charset="0"/>
                <a:ea typeface="돋움" pitchFamily="50" charset="-127"/>
                <a:cs typeface="Times New Roman" pitchFamily="18" charset="0"/>
                <a:sym typeface="Wingdings" pitchFamily="2" charset="2"/>
              </a:rPr>
              <a:t>phẳng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vi-VN" altLang="ko-KR" sz="950" smtClean="0">
                <a:latin typeface="Times New Roman" pitchFamily="18" charset="0"/>
                <a:ea typeface="돋움" pitchFamily="50" charset="-127"/>
                <a:cs typeface="Times New Roman" pitchFamily="18" charset="0"/>
                <a:sym typeface="Wingdings" pitchFamily="2" charset="2"/>
              </a:rPr>
              <a:t>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đề kích thước</a:t>
            </a:r>
            <a:r>
              <a:rPr lang="vi-VN"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p:txBody>
      </p:sp>
      <p:sp>
        <p:nvSpPr>
          <p:cNvPr id="58" name="Rectangle 22"/>
          <p:cNvSpPr>
            <a:spLocks noChangeArrowheads="1"/>
          </p:cNvSpPr>
          <p:nvPr/>
        </p:nvSpPr>
        <p:spPr bwMode="auto">
          <a:xfrm>
            <a:off x="3428999" y="6465168"/>
            <a:ext cx="322816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9</a:t>
            </a:r>
            <a:r>
              <a:rPr lang="en-US" altLang="ko-KR" sz="950">
                <a:latin typeface="Times New Roman" pitchFamily="18" charset="0"/>
                <a:ea typeface="돋움" pitchFamily="50" charset="-127"/>
                <a:cs typeface="Times New Roman" pitchFamily="18" charset="0"/>
              </a:rPr>
              <a:t>. Chọn đáp án không đúng với mục đích của việc bôi trơn?</a:t>
            </a:r>
          </a:p>
          <a:p>
            <a:pPr marL="228600" indent="-228600">
              <a:buAutoNum type="alphaUcPeriod"/>
            </a:pPr>
            <a:r>
              <a:rPr lang="en-US" altLang="ko-KR" sz="950" smtClean="0">
                <a:latin typeface="Times New Roman" pitchFamily="18" charset="0"/>
                <a:ea typeface="돋움" pitchFamily="50" charset="-127"/>
                <a:cs typeface="Times New Roman" pitchFamily="18" charset="0"/>
              </a:rPr>
              <a:t>Giảm </a:t>
            </a:r>
            <a:r>
              <a:rPr lang="en-US" altLang="ko-KR" sz="950">
                <a:latin typeface="Times New Roman" pitchFamily="18" charset="0"/>
                <a:ea typeface="돋움" pitchFamily="50" charset="-127"/>
                <a:cs typeface="Times New Roman" pitchFamily="18" charset="0"/>
              </a:rPr>
              <a:t>ma sát và </a:t>
            </a:r>
            <a:r>
              <a:rPr lang="en-US" altLang="ko-KR" sz="950" smtClean="0">
                <a:latin typeface="Times New Roman" pitchFamily="18" charset="0"/>
                <a:ea typeface="돋움" pitchFamily="50" charset="-127"/>
                <a:cs typeface="Times New Roman" pitchFamily="18" charset="0"/>
              </a:rPr>
              <a:t>giảm mài </a:t>
            </a:r>
            <a:r>
              <a:rPr lang="en-US" altLang="ko-KR" sz="950">
                <a:latin typeface="Times New Roman" pitchFamily="18" charset="0"/>
                <a:ea typeface="돋움" pitchFamily="50" charset="-127"/>
                <a:cs typeface="Times New Roman" pitchFamily="18" charset="0"/>
              </a:rPr>
              <a:t>mòn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Giảm nhiệt </a:t>
            </a:r>
            <a:r>
              <a:rPr lang="en-US" altLang="ko-KR" sz="950">
                <a:latin typeface="Times New Roman" pitchFamily="18" charset="0"/>
                <a:ea typeface="돋움" pitchFamily="50" charset="-127"/>
                <a:cs typeface="Times New Roman" pitchFamily="18" charset="0"/>
              </a:rPr>
              <a:t>ma </a:t>
            </a:r>
            <a:r>
              <a:rPr lang="en-US" altLang="ko-KR" sz="950" smtClean="0">
                <a:latin typeface="Times New Roman" pitchFamily="18" charset="0"/>
                <a:ea typeface="돋움" pitchFamily="50" charset="-127"/>
                <a:cs typeface="Times New Roman" pitchFamily="18" charset="0"/>
              </a:rPr>
              <a:t>sát</a:t>
            </a:r>
            <a:endParaRPr lang="en-US" altLang="ko-KR" sz="95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Tăng </a:t>
            </a:r>
            <a:r>
              <a:rPr lang="en-US" altLang="ko-KR" sz="950">
                <a:latin typeface="Times New Roman" pitchFamily="18" charset="0"/>
                <a:ea typeface="돋움" pitchFamily="50" charset="-127"/>
                <a:cs typeface="Times New Roman" pitchFamily="18" charset="0"/>
              </a:rPr>
              <a:t>tuổi thọ của Bearing</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Ngăn </a:t>
            </a:r>
            <a:r>
              <a:rPr lang="en-US" altLang="ko-KR" sz="950">
                <a:latin typeface="Times New Roman" pitchFamily="18" charset="0"/>
                <a:ea typeface="돋움" pitchFamily="50" charset="-127"/>
                <a:cs typeface="Times New Roman" pitchFamily="18" charset="0"/>
              </a:rPr>
              <a:t>phân tán</a:t>
            </a:r>
            <a:endParaRPr lang="ko-KR" altLang="en-US" sz="95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38968542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59" name="Rectangle 7"/>
          <p:cNvSpPr>
            <a:spLocks noChangeArrowheads="1"/>
          </p:cNvSpPr>
          <p:nvPr/>
        </p:nvSpPr>
        <p:spPr bwMode="auto">
          <a:xfrm>
            <a:off x="188640" y="1255253"/>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Thứ tự đúng của các lớp Electron </a:t>
            </a:r>
            <a:r>
              <a:rPr lang="vi-VN" altLang="ko-KR" sz="950" smtClean="0">
                <a:latin typeface="Times New Roman" pitchFamily="18" charset="0"/>
                <a:ea typeface="LG Smart_H Regular" panose="020B0600000101010101" pitchFamily="34" charset="-127"/>
                <a:cs typeface="Times New Roman" pitchFamily="18" charset="0"/>
              </a:rPr>
              <a:t>là?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Lớp </a:t>
            </a:r>
            <a:r>
              <a:rPr lang="en-US" altLang="ko-KR" sz="950">
                <a:latin typeface="Times New Roman" pitchFamily="18" charset="0"/>
                <a:ea typeface="LG Smart_H Regular" panose="020B0600000101010101" pitchFamily="34" charset="-127"/>
                <a:cs typeface="Times New Roman" pitchFamily="18" charset="0"/>
              </a:rPr>
              <a:t>K→lớp M→lớp N→lớp </a:t>
            </a:r>
            <a:r>
              <a:rPr lang="en-US" altLang="ko-KR" sz="950" smtClean="0">
                <a:latin typeface="Times New Roman" pitchFamily="18" charset="0"/>
                <a:ea typeface="LG Smart_H Regular" panose="020B0600000101010101" pitchFamily="34" charset="-127"/>
                <a:cs typeface="Times New Roman" pitchFamily="18" charset="0"/>
              </a:rPr>
              <a:t>L</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Lớp K→lớp N→lớp L→lớp 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Lớp </a:t>
            </a:r>
            <a:r>
              <a:rPr lang="en-US" altLang="ko-KR" sz="950">
                <a:latin typeface="Times New Roman" pitchFamily="18" charset="0"/>
                <a:ea typeface="LG Smart_H Regular" panose="020B0600000101010101" pitchFamily="34" charset="-127"/>
                <a:cs typeface="Times New Roman" pitchFamily="18" charset="0"/>
              </a:rPr>
              <a:t>K→lớp L→lớp M→lớp </a:t>
            </a:r>
            <a:r>
              <a:rPr lang="en-US" altLang="ko-KR" sz="950" smtClean="0">
                <a:latin typeface="Times New Roman" pitchFamily="18" charset="0"/>
                <a:ea typeface="LG Smart_H Regular" panose="020B0600000101010101" pitchFamily="34" charset="-127"/>
                <a:cs typeface="Times New Roman" pitchFamily="18" charset="0"/>
              </a:rPr>
              <a:t>N</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Lớp </a:t>
            </a:r>
            <a:r>
              <a:rPr lang="en-US" altLang="ko-KR" sz="950">
                <a:latin typeface="Times New Roman" pitchFamily="18" charset="0"/>
                <a:ea typeface="LG Smart_H Regular" panose="020B0600000101010101" pitchFamily="34" charset="-127"/>
                <a:cs typeface="Times New Roman" pitchFamily="18" charset="0"/>
              </a:rPr>
              <a:t>L→lớp K→lớp M→lớp 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0" name="Rectangle 7"/>
          <p:cNvSpPr>
            <a:spLocks noChangeArrowheads="1"/>
          </p:cNvSpPr>
          <p:nvPr/>
        </p:nvSpPr>
        <p:spPr bwMode="auto">
          <a:xfrm>
            <a:off x="188640" y="23993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Bắt đầu từ việc co cơ, không thể tự thoát ra khỏi nguồn điện. Giá trị hiệu dụng của dòng điện là bao </a:t>
            </a:r>
            <a:r>
              <a:rPr lang="vi-VN" altLang="ko-KR" sz="950" smtClean="0">
                <a:latin typeface="Times New Roman" pitchFamily="18" charset="0"/>
                <a:ea typeface="LG Smart_H Regular" panose="020B0600000101010101" pitchFamily="34" charset="-127"/>
                <a:cs typeface="Times New Roman" pitchFamily="18" charset="0"/>
              </a:rPr>
              <a:t>nhiêu</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30~50mA</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50~100mA</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5~30mA</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Quá 100mA</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88640" y="365685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cấu tạo của hạt nhân nguyên </a:t>
            </a:r>
            <a:r>
              <a:rPr lang="vi-VN" altLang="ko-KR" sz="950" smtClean="0">
                <a:latin typeface="Times New Roman" pitchFamily="18" charset="0"/>
                <a:ea typeface="LG Smart_H Regular" panose="020B0600000101010101" pitchFamily="34" charset="-127"/>
                <a:cs typeface="Times New Roman" pitchFamily="18" charset="0"/>
              </a:rPr>
              <a:t>tử?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Hạt </a:t>
            </a:r>
            <a:r>
              <a:rPr lang="vi-VN" altLang="ko-KR" sz="950">
                <a:latin typeface="Times New Roman" pitchFamily="18" charset="0"/>
                <a:ea typeface="LG Smart_H Regular" panose="020B0600000101010101" pitchFamily="34" charset="-127"/>
                <a:cs typeface="Times New Roman" pitchFamily="18" charset="0"/>
              </a:rPr>
              <a:t>điện tích dương + hạt trung </a:t>
            </a:r>
            <a:r>
              <a:rPr lang="vi-VN" altLang="ko-KR" sz="950" smtClean="0">
                <a:latin typeface="Times New Roman" pitchFamily="18" charset="0"/>
                <a:ea typeface="LG Smart_H Regular" panose="020B0600000101010101" pitchFamily="34" charset="-127"/>
                <a:cs typeface="Times New Roman" pitchFamily="18" charset="0"/>
              </a:rPr>
              <a:t>tính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điện tích dương +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Hạt </a:t>
            </a:r>
            <a:r>
              <a:rPr lang="en-US" altLang="ko-KR" sz="950">
                <a:latin typeface="Times New Roman" pitchFamily="18" charset="0"/>
                <a:ea typeface="LG Smart_H Regular" panose="020B0600000101010101" pitchFamily="34" charset="-127"/>
                <a:cs typeface="Times New Roman" pitchFamily="18" charset="0"/>
              </a:rPr>
              <a:t>electron + hạt trung </a:t>
            </a:r>
            <a:r>
              <a:rPr lang="en-US" altLang="ko-KR" sz="950" smtClean="0">
                <a:latin typeface="Times New Roman" pitchFamily="18" charset="0"/>
                <a:ea typeface="LG Smart_H Regular" panose="020B0600000101010101" pitchFamily="34" charset="-127"/>
                <a:cs typeface="Times New Roman" pitchFamily="18" charset="0"/>
              </a:rPr>
              <a:t>tính</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điện tích dương + hạt electron + hạt trung tính</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1249701"/>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Tụ nào Chủ yếu được sử dụng ở dải tần số cao (tần số AM, FM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hóa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điện </a:t>
            </a:r>
            <a:r>
              <a:rPr lang="vi-VN" altLang="ko-KR" sz="950" smtClean="0">
                <a:latin typeface="Times New Roman" pitchFamily="18" charset="0"/>
                <a:ea typeface="LG Smart_H Regular" panose="020B0600000101010101" pitchFamily="34" charset="-127"/>
                <a:cs typeface="Times New Roman" pitchFamily="18" charset="0"/>
              </a:rPr>
              <a:t>phân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Tụ </a:t>
            </a:r>
            <a:r>
              <a:rPr lang="en-US" altLang="ko-KR" sz="950" smtClean="0">
                <a:latin typeface="Times New Roman" pitchFamily="18" charset="0"/>
                <a:ea typeface="LG Smart_H Regular" panose="020B0600000101010101" pitchFamily="34" charset="-127"/>
                <a:cs typeface="Times New Roman" pitchFamily="18" charset="0"/>
              </a:rPr>
              <a:t>Milar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Tụ gốm (tụ sứ)</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55146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"Tiết kiệm đi dây" là đặc tính của mạch đầu ra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NPN </a:t>
            </a:r>
            <a:r>
              <a:rPr lang="en-US" altLang="ko-KR" sz="950" smtClean="0">
                <a:latin typeface="Times New Roman" pitchFamily="18" charset="0"/>
                <a:ea typeface="LG Smart_H Regular" panose="020B0600000101010101" pitchFamily="34" charset="-127"/>
                <a:cs typeface="Times New Roman" pitchFamily="18" charset="0"/>
              </a:rPr>
              <a:t>Transistor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Photo </a:t>
            </a:r>
            <a:r>
              <a:rPr lang="en-US" altLang="ko-KR" sz="950" smtClean="0">
                <a:latin typeface="Times New Roman" pitchFamily="18" charset="0"/>
                <a:ea typeface="LG Smart_H Regular" panose="020B0600000101010101" pitchFamily="34" charset="-127"/>
                <a:cs typeface="Times New Roman" pitchFamily="18" charset="0"/>
              </a:rPr>
              <a:t>Transistor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DC two wire way</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7581726"/>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Giá trị </a:t>
            </a:r>
            <a:r>
              <a:rPr lang="vi-VN" altLang="ko-KR" sz="950" smtClean="0">
                <a:latin typeface="Times New Roman" pitchFamily="18" charset="0"/>
                <a:ea typeface="LG Smart_H Regular" panose="020B0600000101010101" pitchFamily="34" charset="-127"/>
                <a:cs typeface="Times New Roman" pitchFamily="18" charset="0"/>
              </a:rPr>
              <a:t>của</a:t>
            </a:r>
            <a:r>
              <a:rPr lang="en-US" altLang="ko-KR" sz="950" smtClean="0">
                <a:latin typeface="Times New Roman" pitchFamily="18" charset="0"/>
                <a:ea typeface="LG Smart_H Regular" panose="020B0600000101010101" pitchFamily="34" charset="-127"/>
                <a:cs typeface="Times New Roman" pitchFamily="18" charset="0"/>
              </a:rPr>
              <a:t> chỗ </a:t>
            </a:r>
            <a:r>
              <a:rPr lang="vi-VN" altLang="ko-KR" sz="950" smtClean="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trong hình </a:t>
            </a:r>
            <a:r>
              <a:rPr lang="vi-VN" altLang="ko-KR" sz="950" smtClean="0">
                <a:latin typeface="Times New Roman" pitchFamily="18" charset="0"/>
                <a:ea typeface="LG Smart_H Regular" panose="020B0600000101010101" pitchFamily="34" charset="-127"/>
                <a:cs typeface="Times New Roman" pitchFamily="18" charset="0"/>
              </a:rPr>
              <a:t>là</a:t>
            </a:r>
            <a:r>
              <a:rPr lang="en-US" altLang="ko-KR" sz="950" smtClean="0">
                <a:latin typeface="Times New Roman" pitchFamily="18" charset="0"/>
                <a:ea typeface="LG Smart_H Regular" panose="020B0600000101010101" pitchFamily="34" charset="-127"/>
                <a:cs typeface="Times New Roman" pitchFamily="18" charset="0"/>
              </a:rPr>
              <a:t> bao nhiêu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12.7(V)</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10.7(V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10(V</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7.3(V)</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 name="Group 4"/>
          <p:cNvGrpSpPr/>
          <p:nvPr/>
        </p:nvGrpSpPr>
        <p:grpSpPr>
          <a:xfrm>
            <a:off x="162099" y="4664968"/>
            <a:ext cx="3239810" cy="1846659"/>
            <a:chOff x="162099" y="4664968"/>
            <a:chExt cx="3239810" cy="1846659"/>
          </a:xfrm>
        </p:grpSpPr>
        <p:sp>
          <p:nvSpPr>
            <p:cNvPr id="62" name="Rectangle 7"/>
            <p:cNvSpPr>
              <a:spLocks noChangeArrowheads="1"/>
            </p:cNvSpPr>
            <p:nvPr/>
          </p:nvSpPr>
          <p:spPr bwMode="auto">
            <a:xfrm>
              <a:off x="162099" y="4664968"/>
              <a:ext cx="323981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 </a:t>
              </a:r>
              <a:r>
                <a:rPr lang="vi-VN" altLang="ko-KR" sz="950">
                  <a:latin typeface="Times New Roman" pitchFamily="18" charset="0"/>
                  <a:ea typeface="LG Smart_H Regular" panose="020B0600000101010101" pitchFamily="34" charset="-127"/>
                  <a:cs typeface="Times New Roman" pitchFamily="18" charset="0"/>
                </a:rPr>
                <a:t>Hình dưới đây là hiện tượng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Nhiễu sét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Nhiễu chuyển mạch</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6" name="Group 25"/>
            <p:cNvGrpSpPr/>
            <p:nvPr/>
          </p:nvGrpSpPr>
          <p:grpSpPr>
            <a:xfrm>
              <a:off x="773890" y="4959008"/>
              <a:ext cx="1719006" cy="903732"/>
              <a:chOff x="0" y="0"/>
              <a:chExt cx="2559755" cy="1605640"/>
            </a:xfrm>
          </p:grpSpPr>
          <p:pic>
            <p:nvPicPr>
              <p:cNvPr id="27" name="Picture 26"/>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6" y="0"/>
                <a:ext cx="2461258" cy="1197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Text Box 5"/>
              <p:cNvSpPr txBox="1">
                <a:spLocks noChangeArrowheads="1"/>
              </p:cNvSpPr>
              <p:nvPr/>
            </p:nvSpPr>
            <p:spPr bwMode="auto">
              <a:xfrm>
                <a:off x="0" y="1211187"/>
                <a:ext cx="2559755" cy="394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latinLnBrk="1" hangingPunct="1">
                  <a:lnSpc>
                    <a:spcPct val="100000"/>
                  </a:lnSpc>
                </a:pPr>
                <a:r>
                  <a:rPr lang="en-US" altLang="ko-KR" sz="950">
                    <a:latin typeface="Times New Roman" pitchFamily="18" charset="0"/>
                    <a:cs typeface="Times New Roman" pitchFamily="18" charset="0"/>
                  </a:rPr>
                  <a:t>&lt; Rung, nhiễu điểm tiếp điểm&gt;</a:t>
                </a:r>
              </a:p>
            </p:txBody>
          </p:sp>
        </p:grpSp>
      </p:grpSp>
      <p:sp>
        <p:nvSpPr>
          <p:cNvPr id="57" name="Rectangle 7"/>
          <p:cNvSpPr>
            <a:spLocks noChangeArrowheads="1"/>
          </p:cNvSpPr>
          <p:nvPr/>
        </p:nvSpPr>
        <p:spPr bwMode="auto">
          <a:xfrm>
            <a:off x="184076" y="8553400"/>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Linh kiện nào có tính chất tự cảm?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Điot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a:t>
            </a:r>
            <a:r>
              <a:rPr lang="en-US" altLang="ko-KR" sz="950" smtClean="0">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Cuộn cảm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7" name="Group 6"/>
          <p:cNvGrpSpPr/>
          <p:nvPr/>
        </p:nvGrpSpPr>
        <p:grpSpPr>
          <a:xfrm>
            <a:off x="3448472" y="3551456"/>
            <a:ext cx="3239810" cy="969496"/>
            <a:chOff x="3448472" y="3551456"/>
            <a:chExt cx="3239810" cy="969496"/>
          </a:xfrm>
        </p:grpSpPr>
        <p:sp>
          <p:nvSpPr>
            <p:cNvPr id="70" name="Rectangle 7"/>
            <p:cNvSpPr>
              <a:spLocks noChangeArrowheads="1"/>
            </p:cNvSpPr>
            <p:nvPr/>
          </p:nvSpPr>
          <p:spPr bwMode="auto">
            <a:xfrm>
              <a:off x="3448472" y="355145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Smoothing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Timer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Low-pass </a:t>
              </a:r>
              <a:r>
                <a:rPr lang="vi-VN" altLang="ko-KR" sz="950" smtClean="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58" name="Picture 57"/>
            <p:cNvPicPr>
              <a:picLocks noChangeAspect="1"/>
            </p:cNvPicPr>
            <p:nvPr/>
          </p:nvPicPr>
          <p:blipFill rotWithShape="1">
            <a:blip r:embed="rId4"/>
            <a:srcRect t="20363" b="49400"/>
            <a:stretch/>
          </p:blipFill>
          <p:spPr>
            <a:xfrm>
              <a:off x="4881855" y="3800872"/>
              <a:ext cx="1596598" cy="607277"/>
            </a:xfrm>
            <a:prstGeom prst="rect">
              <a:avLst/>
            </a:prstGeom>
          </p:spPr>
        </p:pic>
      </p:grpSp>
      <p:pic>
        <p:nvPicPr>
          <p:cNvPr id="72" name="Picture 71"/>
          <p:cNvPicPr>
            <a:picLocks noChangeAspect="1"/>
          </p:cNvPicPr>
          <p:nvPr/>
        </p:nvPicPr>
        <p:blipFill rotWithShape="1">
          <a:blip r:embed="rId5"/>
          <a:srcRect b="23269"/>
          <a:stretch/>
        </p:blipFill>
        <p:spPr>
          <a:xfrm>
            <a:off x="4149080" y="7797845"/>
            <a:ext cx="2517016" cy="1578857"/>
          </a:xfrm>
          <a:prstGeom prst="rect">
            <a:avLst/>
          </a:prstGeom>
        </p:spPr>
      </p:pic>
      <p:grpSp>
        <p:nvGrpSpPr>
          <p:cNvPr id="56" name="Group 55"/>
          <p:cNvGrpSpPr/>
          <p:nvPr/>
        </p:nvGrpSpPr>
        <p:grpSpPr>
          <a:xfrm>
            <a:off x="184076" y="6863824"/>
            <a:ext cx="3239810" cy="969496"/>
            <a:chOff x="184076" y="6969224"/>
            <a:chExt cx="3239810" cy="969496"/>
          </a:xfrm>
        </p:grpSpPr>
        <p:sp>
          <p:nvSpPr>
            <p:cNvPr id="64"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D</a:t>
              </a:r>
              <a:r>
                <a:rPr lang="en-US" altLang="ko-KR" sz="950">
                  <a:latin typeface="Times New Roman" pitchFamily="18" charset="0"/>
                  <a:ea typeface="LG Smart_H Regular" panose="020B0600000101010101" pitchFamily="34" charset="-127"/>
                  <a:cs typeface="Times New Roman" pitchFamily="18" charset="0"/>
                </a:rPr>
                <a:t>. 0 [C]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65" name="Group 64"/>
            <p:cNvGrpSpPr>
              <a:grpSpLocks noChangeAspect="1"/>
            </p:cNvGrpSpPr>
            <p:nvPr/>
          </p:nvGrpSpPr>
          <p:grpSpPr bwMode="auto">
            <a:xfrm>
              <a:off x="1982793" y="7288253"/>
              <a:ext cx="1374199" cy="187062"/>
              <a:chOff x="0" y="-4"/>
              <a:chExt cx="145" cy="45"/>
            </a:xfrm>
          </p:grpSpPr>
          <p:sp>
            <p:nvSpPr>
              <p:cNvPr id="84"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85" name="Rectangle 84"/>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86" name="Rectangle 85"/>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87" name="Rectangle 86"/>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88" name="Rectangle 87"/>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89" name="Rectangle 88"/>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90" name="Rectangle 89"/>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91" name="Rectangle 90"/>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92" name="Rectangle 91"/>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93" name="Rectangle 92"/>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94" name="Rectangle 93"/>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95" name="Rectangle 94"/>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nvGrpSpPr>
            <p:cNvPr id="66" name="Group 65"/>
            <p:cNvGrpSpPr>
              <a:grpSpLocks noChangeAspect="1"/>
            </p:cNvGrpSpPr>
            <p:nvPr/>
          </p:nvGrpSpPr>
          <p:grpSpPr bwMode="auto">
            <a:xfrm>
              <a:off x="476672" y="7699402"/>
              <a:ext cx="1260472" cy="187956"/>
              <a:chOff x="0" y="-2"/>
              <a:chExt cx="145" cy="33"/>
            </a:xfrm>
          </p:grpSpPr>
          <p:sp>
            <p:nvSpPr>
              <p:cNvPr id="67"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68" name="Rectangle 67"/>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71" name="Rectangle 7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74" name="Rectangle 73"/>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75" name="Rectangle 74"/>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77" name="Rectangle 76"/>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78" name="Rectangle 77"/>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79" name="Rectangle 78"/>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80" name="Rectangle 79"/>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81" name="Rectangle 80"/>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82" name="Rectangle 81"/>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83" name="Rectangle 82"/>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spTree>
    <p:extLst>
      <p:ext uri="{BB962C8B-B14F-4D97-AF65-F5344CB8AC3E}">
        <p14:creationId xmlns:p14="http://schemas.microsoft.com/office/powerpoint/2010/main" val="8691480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9848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97536" y="776288"/>
            <a:ext cx="313084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23" name="Rectangle 157"/>
          <p:cNvSpPr>
            <a:spLocks noChangeArrowheads="1"/>
          </p:cNvSpPr>
          <p:nvPr/>
        </p:nvSpPr>
        <p:spPr bwMode="auto">
          <a:xfrm>
            <a:off x="219920" y="2877542"/>
            <a:ext cx="3378670"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của</a:t>
            </a:r>
            <a:r>
              <a:rPr lang="en-US" altLang="ko-KR" sz="950" smtClean="0">
                <a:latin typeface="Times New Roman" pitchFamily="18" charset="0"/>
                <a:cs typeface="Times New Roman" pitchFamily="18" charset="0"/>
              </a:rPr>
              <a:t> Photo coupler?</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ảnh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hưởng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đến</a:t>
            </a:r>
            <a:r>
              <a:rPr lang="en-US" altLang="ko-KR" sz="950" dirty="0" smtClean="0">
                <a:latin typeface="Times New Roman" pitchFamily="18" charset="0"/>
                <a:cs typeface="Times New Roman" pitchFamily="18" charset="0"/>
              </a:rPr>
              <a:t> output.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Là loại hạng nhẹ và nhỏ nên có thể tăng mật độ đóng gói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Dễ</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truyền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thế</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nhau</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p:txBody>
      </p:sp>
      <p:grpSp>
        <p:nvGrpSpPr>
          <p:cNvPr id="25" name="Group 24"/>
          <p:cNvGrpSpPr/>
          <p:nvPr/>
        </p:nvGrpSpPr>
        <p:grpSpPr>
          <a:xfrm>
            <a:off x="188640" y="4539243"/>
            <a:ext cx="3124200" cy="1115690"/>
            <a:chOff x="317500" y="2862081"/>
            <a:chExt cx="3124200" cy="1115690"/>
          </a:xfrm>
        </p:grpSpPr>
        <p:sp>
          <p:nvSpPr>
            <p:cNvPr id="26" name="Rectangle 173"/>
            <p:cNvSpPr>
              <a:spLocks noChangeArrowheads="1"/>
            </p:cNvSpPr>
            <p:nvPr/>
          </p:nvSpPr>
          <p:spPr bwMode="auto">
            <a:xfrm>
              <a:off x="317500" y="2862081"/>
              <a:ext cx="312420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13.Yêu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hình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đồ</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Photocoupler</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gì</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Phototransistor</a:t>
              </a: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LED</a:t>
              </a: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Photocoupler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FET</a:t>
              </a:r>
            </a:p>
          </p:txBody>
        </p:sp>
        <p:grpSp>
          <p:nvGrpSpPr>
            <p:cNvPr id="27" name="Group 174"/>
            <p:cNvGrpSpPr>
              <a:grpSpLocks/>
            </p:cNvGrpSpPr>
            <p:nvPr/>
          </p:nvGrpSpPr>
          <p:grpSpPr bwMode="auto">
            <a:xfrm>
              <a:off x="2271713" y="3059790"/>
              <a:ext cx="758825" cy="538162"/>
              <a:chOff x="3204" y="3755"/>
              <a:chExt cx="515" cy="373"/>
            </a:xfrm>
          </p:grpSpPr>
          <p:grpSp>
            <p:nvGrpSpPr>
              <p:cNvPr id="28" name="Group 175"/>
              <p:cNvGrpSpPr>
                <a:grpSpLocks/>
              </p:cNvGrpSpPr>
              <p:nvPr/>
            </p:nvGrpSpPr>
            <p:grpSpPr bwMode="auto">
              <a:xfrm>
                <a:off x="3204" y="3755"/>
                <a:ext cx="492" cy="373"/>
                <a:chOff x="3204" y="5339"/>
                <a:chExt cx="492" cy="373"/>
              </a:xfrm>
            </p:grpSpPr>
            <p:sp>
              <p:nvSpPr>
                <p:cNvPr id="32" name="Rectangle 176"/>
                <p:cNvSpPr>
                  <a:spLocks noChangeArrowheads="1"/>
                </p:cNvSpPr>
                <p:nvPr/>
              </p:nvSpPr>
              <p:spPr bwMode="auto">
                <a:xfrm>
                  <a:off x="3204" y="5356"/>
                  <a:ext cx="492" cy="34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33" name="AutoShape 177"/>
                <p:cNvSpPr>
                  <a:spLocks noChangeArrowheads="1"/>
                </p:cNvSpPr>
                <p:nvPr/>
              </p:nvSpPr>
              <p:spPr bwMode="auto">
                <a:xfrm>
                  <a:off x="3278" y="5488"/>
                  <a:ext cx="98" cy="105"/>
                </a:xfrm>
                <a:prstGeom prst="flowChartMerge">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34" name="Line 178"/>
                <p:cNvSpPr>
                  <a:spLocks noChangeShapeType="1"/>
                </p:cNvSpPr>
                <p:nvPr/>
              </p:nvSpPr>
              <p:spPr bwMode="auto">
                <a:xfrm>
                  <a:off x="3287" y="5593"/>
                  <a:ext cx="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5" name="Line 179"/>
                <p:cNvSpPr>
                  <a:spLocks noChangeShapeType="1"/>
                </p:cNvSpPr>
                <p:nvPr/>
              </p:nvSpPr>
              <p:spPr bwMode="auto">
                <a:xfrm flipV="1">
                  <a:off x="3327" y="5356"/>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6" name="Line 180"/>
                <p:cNvSpPr>
                  <a:spLocks noChangeShapeType="1"/>
                </p:cNvSpPr>
                <p:nvPr/>
              </p:nvSpPr>
              <p:spPr bwMode="auto">
                <a:xfrm flipV="1">
                  <a:off x="3327" y="5593"/>
                  <a:ext cx="0" cy="1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8" name="Line 181"/>
                <p:cNvSpPr>
                  <a:spLocks noChangeShapeType="1"/>
                </p:cNvSpPr>
                <p:nvPr/>
              </p:nvSpPr>
              <p:spPr bwMode="auto">
                <a:xfrm>
                  <a:off x="3505" y="5458"/>
                  <a:ext cx="0" cy="1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9" name="Line 182"/>
                <p:cNvSpPr>
                  <a:spLocks noChangeShapeType="1"/>
                </p:cNvSpPr>
                <p:nvPr/>
              </p:nvSpPr>
              <p:spPr bwMode="auto">
                <a:xfrm flipV="1">
                  <a:off x="3505" y="5451"/>
                  <a:ext cx="74" cy="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0" name="Line 183"/>
                <p:cNvSpPr>
                  <a:spLocks noChangeShapeType="1"/>
                </p:cNvSpPr>
                <p:nvPr/>
              </p:nvSpPr>
              <p:spPr bwMode="auto">
                <a:xfrm rot="-1196941">
                  <a:off x="3515" y="5540"/>
                  <a:ext cx="73" cy="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1" name="Line 184"/>
                <p:cNvSpPr>
                  <a:spLocks noChangeShapeType="1"/>
                </p:cNvSpPr>
                <p:nvPr/>
              </p:nvSpPr>
              <p:spPr bwMode="auto">
                <a:xfrm flipV="1">
                  <a:off x="3573" y="5356"/>
                  <a:ext cx="0" cy="1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2" name="Line 185"/>
                <p:cNvSpPr>
                  <a:spLocks noChangeShapeType="1"/>
                </p:cNvSpPr>
                <p:nvPr/>
              </p:nvSpPr>
              <p:spPr bwMode="auto">
                <a:xfrm>
                  <a:off x="3582" y="5593"/>
                  <a:ext cx="0" cy="1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3" name="Oval 186"/>
                <p:cNvSpPr>
                  <a:spLocks noChangeArrowheads="1"/>
                </p:cNvSpPr>
                <p:nvPr/>
              </p:nvSpPr>
              <p:spPr bwMode="auto">
                <a:xfrm>
                  <a:off x="3315" y="5339"/>
                  <a:ext cx="24"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44" name="Oval 187"/>
                <p:cNvSpPr>
                  <a:spLocks noChangeArrowheads="1"/>
                </p:cNvSpPr>
                <p:nvPr/>
              </p:nvSpPr>
              <p:spPr bwMode="auto">
                <a:xfrm>
                  <a:off x="3315" y="5686"/>
                  <a:ext cx="24"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45" name="Oval 188"/>
                <p:cNvSpPr>
                  <a:spLocks noChangeArrowheads="1"/>
                </p:cNvSpPr>
                <p:nvPr/>
              </p:nvSpPr>
              <p:spPr bwMode="auto">
                <a:xfrm>
                  <a:off x="3570" y="5686"/>
                  <a:ext cx="25"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46" name="Oval 189"/>
                <p:cNvSpPr>
                  <a:spLocks noChangeArrowheads="1"/>
                </p:cNvSpPr>
                <p:nvPr/>
              </p:nvSpPr>
              <p:spPr bwMode="auto">
                <a:xfrm>
                  <a:off x="3564" y="5342"/>
                  <a:ext cx="24" cy="2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47" name="Line 190"/>
                <p:cNvSpPr>
                  <a:spLocks noChangeShapeType="1"/>
                </p:cNvSpPr>
                <p:nvPr/>
              </p:nvSpPr>
              <p:spPr bwMode="auto">
                <a:xfrm>
                  <a:off x="3425" y="5514"/>
                  <a:ext cx="74" cy="26"/>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8" name="Line 191"/>
                <p:cNvSpPr>
                  <a:spLocks noChangeShapeType="1"/>
                </p:cNvSpPr>
                <p:nvPr/>
              </p:nvSpPr>
              <p:spPr bwMode="auto">
                <a:xfrm>
                  <a:off x="3425" y="5514"/>
                  <a:ext cx="25" cy="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9" name="Line 192"/>
                <p:cNvSpPr>
                  <a:spLocks noChangeShapeType="1"/>
                </p:cNvSpPr>
                <p:nvPr/>
              </p:nvSpPr>
              <p:spPr bwMode="auto">
                <a:xfrm flipH="1" flipV="1">
                  <a:off x="3376" y="5514"/>
                  <a:ext cx="74" cy="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sp>
            <p:nvSpPr>
              <p:cNvPr id="29" name="Rectangle 193"/>
              <p:cNvSpPr>
                <a:spLocks noChangeArrowheads="1"/>
              </p:cNvSpPr>
              <p:nvPr/>
            </p:nvSpPr>
            <p:spPr bwMode="auto">
              <a:xfrm>
                <a:off x="3430" y="3794"/>
                <a:ext cx="245" cy="30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30" name="Text Box 194"/>
              <p:cNvSpPr txBox="1">
                <a:spLocks noChangeArrowheads="1"/>
              </p:cNvSpPr>
              <p:nvPr/>
            </p:nvSpPr>
            <p:spPr bwMode="auto">
              <a:xfrm>
                <a:off x="3501" y="3836"/>
                <a:ext cx="218"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a:t>
                </a:r>
              </a:p>
            </p:txBody>
          </p:sp>
        </p:grpSp>
      </p:grpSp>
      <p:sp>
        <p:nvSpPr>
          <p:cNvPr id="50" name="Rectangle 211"/>
          <p:cNvSpPr>
            <a:spLocks noChangeArrowheads="1"/>
          </p:cNvSpPr>
          <p:nvPr/>
        </p:nvSpPr>
        <p:spPr bwMode="auto">
          <a:xfrm>
            <a:off x="217030" y="6321152"/>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14</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Output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output sensor </a:t>
            </a:r>
            <a:r>
              <a:rPr lang="en-US" altLang="ko-KR" sz="950" err="1" smtClean="0">
                <a:latin typeface="Times New Roman" pitchFamily="18" charset="0"/>
                <a:cs typeface="Times New Roman" pitchFamily="18" charset="0"/>
              </a:rPr>
              <a:t>là</a:t>
            </a:r>
            <a:r>
              <a:rPr lang="en-US" altLang="ko-KR" sz="950" smtClean="0">
                <a:latin typeface="Times New Roman" pitchFamily="18" charset="0"/>
                <a:cs typeface="Times New Roman" pitchFamily="18" charset="0"/>
              </a:rPr>
              <a:t> gì?</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NPN transistor</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O</a:t>
            </a:r>
            <a:r>
              <a:rPr lang="en-US" altLang="ko-KR" sz="950" dirty="0" smtClean="0">
                <a:latin typeface="Times New Roman" pitchFamily="18" charset="0"/>
                <a:cs typeface="Times New Roman" pitchFamily="18" charset="0"/>
              </a:rPr>
              <a:t>pen Collector</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PNP transistor</a:t>
            </a:r>
            <a:r>
              <a:rPr lang="ko-KR" altLang="en-US" sz="950" dirty="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open Collector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xuyên</a:t>
            </a:r>
            <a:r>
              <a:rPr lang="en-US" altLang="ko-KR" sz="950" dirty="0" smtClean="0">
                <a:latin typeface="Times New Roman" pitchFamily="18" charset="0"/>
                <a:cs typeface="Times New Roman" pitchFamily="18" charset="0"/>
              </a:rPr>
              <a:t> qua</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Relay</a:t>
            </a:r>
            <a:endParaRPr lang="ko-KR" altLang="en-US" sz="950" dirty="0">
              <a:latin typeface="Times New Roman" pitchFamily="18" charset="0"/>
              <a:cs typeface="Times New Roman" pitchFamily="18" charset="0"/>
            </a:endParaRPr>
          </a:p>
        </p:txBody>
      </p:sp>
      <p:sp>
        <p:nvSpPr>
          <p:cNvPr id="51" name="Rectangle 216"/>
          <p:cNvSpPr>
            <a:spLocks noChangeArrowheads="1"/>
          </p:cNvSpPr>
          <p:nvPr/>
        </p:nvSpPr>
        <p:spPr bwMode="auto">
          <a:xfrm>
            <a:off x="219920" y="8211651"/>
            <a:ext cx="3277616"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không</a:t>
            </a:r>
            <a:r>
              <a:rPr lang="en-US" altLang="ko-KR" sz="950" b="1"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phải</a:t>
            </a:r>
            <a:r>
              <a:rPr lang="en-US" altLang="ko-KR" sz="950" b="1"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Diot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quang</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bằng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hay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xung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quang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output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tiêu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52" name="Rectangle 172"/>
          <p:cNvSpPr>
            <a:spLocks noChangeArrowheads="1"/>
          </p:cNvSpPr>
          <p:nvPr/>
        </p:nvSpPr>
        <p:spPr bwMode="auto">
          <a:xfrm>
            <a:off x="3518528" y="1174955"/>
            <a:ext cx="3132138"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16</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Ở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 B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tự</a:t>
            </a:r>
            <a:r>
              <a:rPr lang="en-US" altLang="ko-KR" sz="950" smtClean="0">
                <a:latin typeface="Times New Roman" pitchFamily="18" charset="0"/>
                <a:cs typeface="Times New Roman" pitchFamily="18" charset="0"/>
              </a:rPr>
              <a:t> là?</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11.3V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0.7V</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0.7V, 11.3V</a:t>
            </a: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2.9V, 9.1V</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9.1V, 2.9V</a:t>
            </a:r>
          </a:p>
        </p:txBody>
      </p:sp>
      <p:grpSp>
        <p:nvGrpSpPr>
          <p:cNvPr id="53" name="Group 173"/>
          <p:cNvGrpSpPr>
            <a:grpSpLocks/>
          </p:cNvGrpSpPr>
          <p:nvPr/>
        </p:nvGrpSpPr>
        <p:grpSpPr bwMode="auto">
          <a:xfrm>
            <a:off x="4581128" y="1496616"/>
            <a:ext cx="1706564" cy="1041400"/>
            <a:chOff x="835" y="2224"/>
            <a:chExt cx="1075" cy="656"/>
          </a:xfrm>
        </p:grpSpPr>
        <p:sp>
          <p:nvSpPr>
            <p:cNvPr id="54" name="Line 174"/>
            <p:cNvSpPr>
              <a:spLocks noChangeShapeType="1"/>
            </p:cNvSpPr>
            <p:nvPr/>
          </p:nvSpPr>
          <p:spPr bwMode="auto">
            <a:xfrm>
              <a:off x="1170" y="2233"/>
              <a:ext cx="0" cy="31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55" name="Line 175"/>
            <p:cNvSpPr>
              <a:spLocks noChangeShapeType="1"/>
            </p:cNvSpPr>
            <p:nvPr/>
          </p:nvSpPr>
          <p:spPr bwMode="auto">
            <a:xfrm>
              <a:off x="1165" y="2233"/>
              <a:ext cx="44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56" name="Line 176"/>
            <p:cNvSpPr>
              <a:spLocks noChangeShapeType="1"/>
            </p:cNvSpPr>
            <p:nvPr/>
          </p:nvSpPr>
          <p:spPr bwMode="auto">
            <a:xfrm>
              <a:off x="1617" y="2233"/>
              <a:ext cx="0" cy="9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nvGrpSpPr>
            <p:cNvPr id="58" name="Group 177"/>
            <p:cNvGrpSpPr>
              <a:grpSpLocks/>
            </p:cNvGrpSpPr>
            <p:nvPr/>
          </p:nvGrpSpPr>
          <p:grpSpPr bwMode="auto">
            <a:xfrm>
              <a:off x="1572" y="2329"/>
              <a:ext cx="90" cy="120"/>
              <a:chOff x="1488" y="1152"/>
              <a:chExt cx="192" cy="336"/>
            </a:xfrm>
          </p:grpSpPr>
          <p:sp>
            <p:nvSpPr>
              <p:cNvPr id="89" name="Line 178"/>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0" name="Line 179"/>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1" name="Line 180"/>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2" name="Line 181"/>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3" name="Line 182"/>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4" name="Line 183"/>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5" name="Line 184"/>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sp>
          <p:nvSpPr>
            <p:cNvPr id="60" name="Line 185"/>
            <p:cNvSpPr>
              <a:spLocks noChangeShapeType="1"/>
            </p:cNvSpPr>
            <p:nvPr/>
          </p:nvSpPr>
          <p:spPr bwMode="auto">
            <a:xfrm>
              <a:off x="1617" y="2449"/>
              <a:ext cx="0" cy="20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69" name="AutoShape 186"/>
            <p:cNvSpPr>
              <a:spLocks noChangeArrowheads="1"/>
            </p:cNvSpPr>
            <p:nvPr/>
          </p:nvSpPr>
          <p:spPr bwMode="auto">
            <a:xfrm>
              <a:off x="1557" y="2655"/>
              <a:ext cx="120" cy="6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70" name="Line 187"/>
            <p:cNvSpPr>
              <a:spLocks noChangeShapeType="1"/>
            </p:cNvSpPr>
            <p:nvPr/>
          </p:nvSpPr>
          <p:spPr bwMode="auto">
            <a:xfrm>
              <a:off x="1557" y="2715"/>
              <a:ext cx="1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1" name="Line 188"/>
            <p:cNvSpPr>
              <a:spLocks noChangeShapeType="1"/>
            </p:cNvSpPr>
            <p:nvPr/>
          </p:nvSpPr>
          <p:spPr bwMode="auto">
            <a:xfrm>
              <a:off x="1170" y="2874"/>
              <a:ext cx="44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2" name="Line 189"/>
            <p:cNvSpPr>
              <a:spLocks noChangeShapeType="1"/>
            </p:cNvSpPr>
            <p:nvPr/>
          </p:nvSpPr>
          <p:spPr bwMode="auto">
            <a:xfrm>
              <a:off x="1617" y="2712"/>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3" name="Text Box 190"/>
            <p:cNvSpPr txBox="1">
              <a:spLocks noChangeArrowheads="1"/>
            </p:cNvSpPr>
            <p:nvPr/>
          </p:nvSpPr>
          <p:spPr bwMode="auto">
            <a:xfrm>
              <a:off x="1442" y="2367"/>
              <a:ext cx="168"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R</a:t>
              </a:r>
            </a:p>
          </p:txBody>
        </p:sp>
        <p:sp>
          <p:nvSpPr>
            <p:cNvPr id="74" name="Line 191"/>
            <p:cNvSpPr>
              <a:spLocks noChangeShapeType="1"/>
            </p:cNvSpPr>
            <p:nvPr/>
          </p:nvSpPr>
          <p:spPr bwMode="auto">
            <a:xfrm flipV="1">
              <a:off x="1170" y="2561"/>
              <a:ext cx="0" cy="31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5" name="Line 192"/>
            <p:cNvSpPr>
              <a:spLocks noChangeShapeType="1"/>
            </p:cNvSpPr>
            <p:nvPr/>
          </p:nvSpPr>
          <p:spPr bwMode="auto">
            <a:xfrm>
              <a:off x="1114" y="2543"/>
              <a:ext cx="11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6" name="Line 193"/>
            <p:cNvSpPr>
              <a:spLocks noChangeShapeType="1"/>
            </p:cNvSpPr>
            <p:nvPr/>
          </p:nvSpPr>
          <p:spPr bwMode="auto">
            <a:xfrm>
              <a:off x="1132" y="2565"/>
              <a:ext cx="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7" name="Text Box 194"/>
            <p:cNvSpPr txBox="1">
              <a:spLocks noChangeArrowheads="1"/>
            </p:cNvSpPr>
            <p:nvPr/>
          </p:nvSpPr>
          <p:spPr bwMode="auto">
            <a:xfrm>
              <a:off x="1067" y="2457"/>
              <a:ext cx="160"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a:t>
              </a:r>
            </a:p>
          </p:txBody>
        </p:sp>
        <p:sp>
          <p:nvSpPr>
            <p:cNvPr id="78" name="Line 195"/>
            <p:cNvSpPr>
              <a:spLocks noChangeShapeType="1"/>
            </p:cNvSpPr>
            <p:nvPr/>
          </p:nvSpPr>
          <p:spPr bwMode="auto">
            <a:xfrm>
              <a:off x="1556" y="2655"/>
              <a:ext cx="121"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9" name="Line 196"/>
            <p:cNvSpPr>
              <a:spLocks noChangeShapeType="1"/>
            </p:cNvSpPr>
            <p:nvPr/>
          </p:nvSpPr>
          <p:spPr bwMode="auto">
            <a:xfrm>
              <a:off x="1677" y="2655"/>
              <a:ext cx="37" cy="3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0" name="Line 197"/>
            <p:cNvSpPr>
              <a:spLocks noChangeShapeType="1"/>
            </p:cNvSpPr>
            <p:nvPr/>
          </p:nvSpPr>
          <p:spPr bwMode="auto">
            <a:xfrm flipH="1" flipV="1">
              <a:off x="1514" y="2619"/>
              <a:ext cx="37" cy="3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1" name="Text Box 198"/>
            <p:cNvSpPr txBox="1">
              <a:spLocks noChangeArrowheads="1"/>
            </p:cNvSpPr>
            <p:nvPr/>
          </p:nvSpPr>
          <p:spPr bwMode="auto">
            <a:xfrm>
              <a:off x="1281" y="2600"/>
              <a:ext cx="31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  ZD</a:t>
              </a:r>
            </a:p>
            <a:p>
              <a:pPr eaLnBrk="1" hangingPunct="1"/>
              <a:r>
                <a:rPr lang="en-US" altLang="ko-KR" sz="950">
                  <a:latin typeface="Times New Roman" pitchFamily="18" charset="0"/>
                  <a:cs typeface="Times New Roman" pitchFamily="18" charset="0"/>
                </a:rPr>
                <a:t>(9.1V)</a:t>
              </a:r>
            </a:p>
          </p:txBody>
        </p:sp>
        <p:sp>
          <p:nvSpPr>
            <p:cNvPr id="82" name="Text Box 199"/>
            <p:cNvSpPr txBox="1">
              <a:spLocks noChangeArrowheads="1"/>
            </p:cNvSpPr>
            <p:nvPr/>
          </p:nvSpPr>
          <p:spPr bwMode="auto">
            <a:xfrm>
              <a:off x="835" y="2472"/>
              <a:ext cx="299"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12[V]</a:t>
              </a:r>
            </a:p>
          </p:txBody>
        </p:sp>
        <p:sp>
          <p:nvSpPr>
            <p:cNvPr id="83" name="Line 200"/>
            <p:cNvSpPr>
              <a:spLocks noChangeShapeType="1"/>
            </p:cNvSpPr>
            <p:nvPr/>
          </p:nvSpPr>
          <p:spPr bwMode="auto">
            <a:xfrm flipH="1" flipV="1">
              <a:off x="1663" y="2224"/>
              <a:ext cx="112" cy="109"/>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4" name="Line 201"/>
            <p:cNvSpPr>
              <a:spLocks noChangeShapeType="1"/>
            </p:cNvSpPr>
            <p:nvPr/>
          </p:nvSpPr>
          <p:spPr bwMode="auto">
            <a:xfrm flipH="1">
              <a:off x="1663" y="2476"/>
              <a:ext cx="149" cy="72"/>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5" name="Text Box 202"/>
            <p:cNvSpPr txBox="1">
              <a:spLocks noChangeArrowheads="1"/>
            </p:cNvSpPr>
            <p:nvPr/>
          </p:nvSpPr>
          <p:spPr bwMode="auto">
            <a:xfrm>
              <a:off x="1737" y="2325"/>
              <a:ext cx="172"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A</a:t>
              </a:r>
            </a:p>
          </p:txBody>
        </p:sp>
        <p:sp>
          <p:nvSpPr>
            <p:cNvPr id="86" name="Line 203"/>
            <p:cNvSpPr>
              <a:spLocks noChangeShapeType="1"/>
            </p:cNvSpPr>
            <p:nvPr/>
          </p:nvSpPr>
          <p:spPr bwMode="auto">
            <a:xfrm flipH="1" flipV="1">
              <a:off x="1668" y="2552"/>
              <a:ext cx="112" cy="109"/>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7" name="Line 204"/>
            <p:cNvSpPr>
              <a:spLocks noChangeShapeType="1"/>
            </p:cNvSpPr>
            <p:nvPr/>
          </p:nvSpPr>
          <p:spPr bwMode="auto">
            <a:xfrm flipH="1">
              <a:off x="1663" y="2799"/>
              <a:ext cx="149" cy="72"/>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8" name="Text Box 205"/>
            <p:cNvSpPr txBox="1">
              <a:spLocks noChangeArrowheads="1"/>
            </p:cNvSpPr>
            <p:nvPr/>
          </p:nvSpPr>
          <p:spPr bwMode="auto">
            <a:xfrm>
              <a:off x="1742" y="2663"/>
              <a:ext cx="168"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B</a:t>
              </a:r>
            </a:p>
          </p:txBody>
        </p:sp>
      </p:grpSp>
      <p:sp>
        <p:nvSpPr>
          <p:cNvPr id="96" name="Rectangle 209"/>
          <p:cNvSpPr>
            <a:spLocks noChangeArrowheads="1"/>
          </p:cNvSpPr>
          <p:nvPr/>
        </p:nvSpPr>
        <p:spPr bwMode="auto">
          <a:xfrm>
            <a:off x="3518528" y="2936776"/>
            <a:ext cx="3125788"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17</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Sau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err="1" smtClean="0">
                <a:latin typeface="Times New Roman" pitchFamily="18" charset="0"/>
                <a:cs typeface="Times New Roman" pitchFamily="18" charset="0"/>
              </a:rPr>
              <a:t>nào</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On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đưa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OFF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biến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mất</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Output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SCR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SSR      </a:t>
            </a:r>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nhiệt</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TRIAC</a:t>
            </a:r>
            <a:endParaRPr lang="ko-KR" altLang="en-US" sz="950" dirty="0">
              <a:latin typeface="Times New Roman" pitchFamily="18" charset="0"/>
              <a:cs typeface="Times New Roman" pitchFamily="18" charset="0"/>
            </a:endParaRPr>
          </a:p>
        </p:txBody>
      </p:sp>
      <p:sp>
        <p:nvSpPr>
          <p:cNvPr id="97" name="Rectangle 132"/>
          <p:cNvSpPr>
            <a:spLocks noChangeArrowheads="1"/>
          </p:cNvSpPr>
          <p:nvPr/>
        </p:nvSpPr>
        <p:spPr bwMode="auto">
          <a:xfrm>
            <a:off x="3502596" y="4592960"/>
            <a:ext cx="3125788"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18</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TRANSISTOR</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Part no, TRANSISTOR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PNP TYPE</a:t>
            </a:r>
            <a:r>
              <a:rPr lang="ko-KR" altLang="en-US"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là</a:t>
            </a:r>
            <a:r>
              <a:rPr lang="en-US" altLang="ko-KR" sz="950" smtClean="0">
                <a:latin typeface="Times New Roman" pitchFamily="18" charset="0"/>
                <a:cs typeface="Times New Roman" pitchFamily="18" charset="0"/>
              </a:rPr>
              <a:t> gì? </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2SAxx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2SBxx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2SCxx      </a:t>
            </a:r>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2SDxx</a:t>
            </a:r>
          </a:p>
        </p:txBody>
      </p:sp>
      <p:sp>
        <p:nvSpPr>
          <p:cNvPr id="98" name="직사각형 10"/>
          <p:cNvSpPr>
            <a:spLocks noChangeArrowheads="1"/>
          </p:cNvSpPr>
          <p:nvPr/>
        </p:nvSpPr>
        <p:spPr bwMode="auto">
          <a:xfrm>
            <a:off x="188640" y="1215842"/>
            <a:ext cx="330889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latin typeface="Times New Roman" pitchFamily="18" charset="0"/>
                <a:ea typeface="돋움" pitchFamily="50" charset="-127"/>
                <a:cs typeface="Times New Roman" pitchFamily="18" charset="0"/>
              </a:rPr>
              <a:t>11. </a:t>
            </a:r>
            <a:r>
              <a:rPr lang="en-US" altLang="ko-KR" sz="950" dirty="0" err="1" smtClean="0">
                <a:latin typeface="Times New Roman" pitchFamily="18" charset="0"/>
                <a:ea typeface="돋움" pitchFamily="50" charset="-127"/>
                <a:cs typeface="Times New Roman" pitchFamily="18" charset="0"/>
              </a:rPr>
              <a:t>Hiện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tượng</a:t>
            </a:r>
            <a:r>
              <a:rPr lang="en-US" altLang="ko-KR" sz="950" dirty="0" smtClean="0">
                <a:latin typeface="Times New Roman" pitchFamily="18" charset="0"/>
                <a:ea typeface="돋움" pitchFamily="50" charset="-127"/>
                <a:cs typeface="Times New Roman" pitchFamily="18" charset="0"/>
              </a:rPr>
              <a:t> electron </a:t>
            </a:r>
            <a:r>
              <a:rPr lang="en-US" altLang="ko-KR" sz="950" dirty="0" err="1" smtClean="0">
                <a:latin typeface="Times New Roman" pitchFamily="18" charset="0"/>
                <a:ea typeface="돋움" pitchFamily="50" charset="-127"/>
                <a:cs typeface="Times New Roman" pitchFamily="18" charset="0"/>
              </a:rPr>
              <a:t>quỹ</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đạo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nhận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năng</a:t>
            </a:r>
            <a:r>
              <a:rPr lang="en-US" altLang="ko-KR" sz="950" smtClean="0">
                <a:latin typeface="Times New Roman" pitchFamily="18" charset="0"/>
                <a:ea typeface="돋움" pitchFamily="50" charset="-127"/>
                <a:cs typeface="Times New Roman" pitchFamily="18" charset="0"/>
              </a:rPr>
              <a:t> lượng </a:t>
            </a:r>
            <a:r>
              <a:rPr lang="en-US" altLang="ko-KR" sz="950" dirty="0" err="1" smtClean="0">
                <a:latin typeface="Times New Roman" pitchFamily="18" charset="0"/>
                <a:ea typeface="돋움" pitchFamily="50" charset="-127"/>
                <a:cs typeface="Times New Roman" pitchFamily="18" charset="0"/>
              </a:rPr>
              <a:t>mạnh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rồi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trở</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thành</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electron tự </a:t>
            </a:r>
            <a:r>
              <a:rPr lang="en-US" altLang="ko-KR" sz="950" dirty="0" smtClean="0">
                <a:latin typeface="Times New Roman" pitchFamily="18" charset="0"/>
                <a:ea typeface="돋움" pitchFamily="50" charset="-127"/>
                <a:cs typeface="Times New Roman" pitchFamily="18" charset="0"/>
              </a:rPr>
              <a:t>do </a:t>
            </a:r>
            <a:r>
              <a:rPr lang="en-US" altLang="ko-KR" sz="950" err="1" smtClean="0">
                <a:latin typeface="Times New Roman" pitchFamily="18" charset="0"/>
                <a:ea typeface="돋움" pitchFamily="50" charset="-127"/>
                <a:cs typeface="Times New Roman" pitchFamily="18" charset="0"/>
              </a:rPr>
              <a:t>trong</a:t>
            </a:r>
            <a:r>
              <a:rPr lang="en-US" altLang="ko-KR"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nguyên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0" indent="0" eaLnBrk="1" hangingPunct="1"/>
            <a:endParaRPr lang="en-US" altLang="ko-KR" sz="950" dirty="0">
              <a:latin typeface="Times New Roman" pitchFamily="18" charset="0"/>
              <a:ea typeface="돋움" pitchFamily="50" charset="-127"/>
              <a:cs typeface="Times New Roman" pitchFamily="18" charset="0"/>
            </a:endParaRPr>
          </a:p>
          <a:p>
            <a:pPr marL="0" indent="0" eaLnBrk="1" hangingPunct="1"/>
            <a:r>
              <a:rPr lang="en-US" altLang="ko-KR" sz="950" smtClean="0">
                <a:latin typeface="Times New Roman" pitchFamily="18" charset="0"/>
                <a:ea typeface="돋움" pitchFamily="50" charset="-127"/>
                <a:cs typeface="Times New Roman" pitchFamily="18" charset="0"/>
              </a:rPr>
              <a:t>A. Kích </a:t>
            </a:r>
            <a:r>
              <a:rPr lang="en-US" altLang="ko-KR" sz="950" err="1" smtClean="0">
                <a:latin typeface="Times New Roman" pitchFamily="18" charset="0"/>
                <a:ea typeface="돋움" pitchFamily="50" charset="-127"/>
                <a:cs typeface="Times New Roman" pitchFamily="18" charset="0"/>
              </a:rPr>
              <a:t>thích</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Ion </a:t>
            </a:r>
            <a:r>
              <a:rPr lang="en-US" altLang="ko-KR" sz="950" err="1" smtClean="0">
                <a:latin typeface="Times New Roman" pitchFamily="18" charset="0"/>
                <a:ea typeface="돋움" pitchFamily="50" charset="-127"/>
                <a:cs typeface="Times New Roman" pitchFamily="18" charset="0"/>
              </a:rPr>
              <a:t>hóa</a:t>
            </a:r>
            <a:r>
              <a:rPr lang="ko-KR" altLang="en-US" sz="950" smtClean="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marL="0" indent="0"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a:t>
            </a:r>
            <a:r>
              <a:rPr lang="en-US" altLang="ko-KR" sz="950" smtClean="0">
                <a:latin typeface="Times New Roman" pitchFamily="18" charset="0"/>
                <a:ea typeface="돋움" pitchFamily="50" charset="-127"/>
                <a:cs typeface="Times New Roman" pitchFamily="18" charset="0"/>
              </a:rPr>
              <a:t>hoton</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P</a:t>
            </a:r>
            <a:r>
              <a:rPr lang="en-US" altLang="ko-KR" sz="950" smtClean="0">
                <a:latin typeface="Times New Roman" pitchFamily="18" charset="0"/>
                <a:ea typeface="돋움" pitchFamily="50" charset="-127"/>
                <a:cs typeface="Times New Roman" pitchFamily="18" charset="0"/>
              </a:rPr>
              <a:t>hóng </a:t>
            </a:r>
            <a:r>
              <a:rPr lang="en-US" altLang="ko-KR" sz="950" dirty="0" err="1" smtClean="0">
                <a:latin typeface="Times New Roman" pitchFamily="18" charset="0"/>
                <a:ea typeface="돋움" pitchFamily="50" charset="-127"/>
                <a:cs typeface="Times New Roman" pitchFamily="18" charset="0"/>
              </a:rPr>
              <a:t>bức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xạ</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điện</a:t>
            </a:r>
            <a:r>
              <a:rPr lang="en-US" altLang="ko-KR" sz="950" smtClean="0">
                <a:latin typeface="Times New Roman" pitchFamily="18" charset="0"/>
                <a:ea typeface="돋움" pitchFamily="50" charset="-127"/>
                <a:cs typeface="Times New Roman" pitchFamily="18" charset="0"/>
              </a:rPr>
              <a:t> từ</a:t>
            </a:r>
            <a:endParaRPr lang="ko-KR" altLang="en-US" sz="950" dirty="0">
              <a:latin typeface="Times New Roman" pitchFamily="18" charset="0"/>
              <a:ea typeface="돋움" pitchFamily="50" charset="-127"/>
              <a:cs typeface="Times New Roman" pitchFamily="18" charset="0"/>
            </a:endParaRPr>
          </a:p>
        </p:txBody>
      </p:sp>
      <p:sp>
        <p:nvSpPr>
          <p:cNvPr id="99" name="Rectangle 290"/>
          <p:cNvSpPr>
            <a:spLocks noChangeArrowheads="1"/>
          </p:cNvSpPr>
          <p:nvPr/>
        </p:nvSpPr>
        <p:spPr bwMode="auto">
          <a:xfrm>
            <a:off x="3501007" y="6339443"/>
            <a:ext cx="3190365"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không</a:t>
            </a:r>
            <a:r>
              <a:rPr lang="en-US" altLang="ko-KR" sz="950" smtClean="0">
                <a:latin typeface="Times New Roman" pitchFamily="18" charset="0"/>
                <a:cs typeface="Times New Roman" pitchFamily="18" charset="0"/>
              </a:rPr>
              <a:t> phải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Diot</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Cho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qua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Hầu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qua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hướng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xuôi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trở</a:t>
            </a:r>
            <a:r>
              <a:rPr lang="en-US" altLang="ko-KR" sz="950" smtClean="0">
                <a:latin typeface="Times New Roman" pitchFamily="18" charset="0"/>
                <a:cs typeface="Times New Roman" pitchFamily="18" charset="0"/>
              </a:rPr>
              <a:t> hướng ngược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diot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hướng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00" name="Group 99"/>
          <p:cNvGrpSpPr/>
          <p:nvPr/>
        </p:nvGrpSpPr>
        <p:grpSpPr>
          <a:xfrm>
            <a:off x="3501008" y="8193360"/>
            <a:ext cx="3190365" cy="677108"/>
            <a:chOff x="3335065" y="2091797"/>
            <a:chExt cx="3190365" cy="677108"/>
          </a:xfrm>
        </p:grpSpPr>
        <p:sp>
          <p:nvSpPr>
            <p:cNvPr id="101" name="Rectangle 287"/>
            <p:cNvSpPr>
              <a:spLocks noChangeArrowheads="1"/>
            </p:cNvSpPr>
            <p:nvPr/>
          </p:nvSpPr>
          <p:spPr bwMode="auto">
            <a:xfrm>
              <a:off x="3335065" y="2091797"/>
              <a:ext cx="3095625"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2</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thị</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Chip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ko-KR" altLang="en-US"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a:t>
              </a:r>
              <a:r>
                <a:rPr lang="en-US" altLang="ko-KR" sz="950">
                  <a:latin typeface="Times New Roman" pitchFamily="18" charset="0"/>
                  <a:cs typeface="Times New Roman" pitchFamily="18" charset="0"/>
                </a:rPr>
                <a:t>106</a:t>
              </a:r>
              <a:r>
                <a:rPr lang="en-US" altLang="ko-KR" sz="950" smtClean="0">
                  <a:latin typeface="Times New Roman" pitchFamily="18" charset="0"/>
                  <a:cs typeface="Times New Roman" pitchFamily="18" charset="0"/>
                </a:rPr>
                <a:t>”.Giá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bao</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106 </a:t>
              </a:r>
              <a:r>
                <a:rPr lang="en-US" altLang="ko-KR" sz="950">
                  <a:latin typeface="Times New Roman" pitchFamily="18" charset="0"/>
                  <a:cs typeface="Times New Roman" pitchFamily="18" charset="0"/>
                </a:rPr>
                <a:t>Ω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106 ㏀</a:t>
              </a: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10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10 ㏁</a:t>
              </a:r>
            </a:p>
          </p:txBody>
        </p:sp>
        <p:grpSp>
          <p:nvGrpSpPr>
            <p:cNvPr id="102" name="Group 293"/>
            <p:cNvGrpSpPr>
              <a:grpSpLocks/>
            </p:cNvGrpSpPr>
            <p:nvPr/>
          </p:nvGrpSpPr>
          <p:grpSpPr bwMode="auto">
            <a:xfrm>
              <a:off x="5376080" y="2385415"/>
              <a:ext cx="1149350" cy="314325"/>
              <a:chOff x="3174" y="1850"/>
              <a:chExt cx="724" cy="342"/>
            </a:xfrm>
          </p:grpSpPr>
          <p:pic>
            <p:nvPicPr>
              <p:cNvPr id="103" name="Picture 2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4" y="1850"/>
                <a:ext cx="72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Rectangle 295"/>
              <p:cNvSpPr>
                <a:spLocks noChangeArrowheads="1"/>
              </p:cNvSpPr>
              <p:nvPr/>
            </p:nvSpPr>
            <p:spPr bwMode="auto">
              <a:xfrm>
                <a:off x="3354" y="1930"/>
                <a:ext cx="363" cy="18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b="1">
                    <a:latin typeface="Times New Roman" pitchFamily="18" charset="0"/>
                    <a:cs typeface="Times New Roman" pitchFamily="18" charset="0"/>
                  </a:rPr>
                  <a:t>106</a:t>
                </a:r>
              </a:p>
            </p:txBody>
          </p:sp>
        </p:grpSp>
      </p:grpSp>
    </p:spTree>
    <p:extLst>
      <p:ext uri="{BB962C8B-B14F-4D97-AF65-F5344CB8AC3E}">
        <p14:creationId xmlns:p14="http://schemas.microsoft.com/office/powerpoint/2010/main" val="7300712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16632"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thuộc tín hiệu đầu vào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Push button 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Limit </a:t>
            </a:r>
            <a:r>
              <a:rPr lang="vi-VN" altLang="ko-KR" sz="950" smtClean="0">
                <a:latin typeface="Times New Roman" pitchFamily="18" charset="0"/>
                <a:ea typeface="LG Smart_H Regular" panose="020B0600000101010101" pitchFamily="34" charset="-127"/>
                <a:cs typeface="Times New Roman" pitchFamily="18" charset="0"/>
              </a:rPr>
              <a:t>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Toggle </a:t>
            </a:r>
            <a:r>
              <a:rPr lang="vi-VN" altLang="ko-KR" sz="950" smtClean="0">
                <a:latin typeface="Times New Roman" pitchFamily="18" charset="0"/>
                <a:ea typeface="LG Smart_H Regular" panose="020B0600000101010101" pitchFamily="34" charset="-127"/>
                <a:cs typeface="Times New Roman" pitchFamily="18" charset="0"/>
              </a:rPr>
              <a:t>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Van điện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615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File Register được lưu ở bộ nhớ nào bên trong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Program </a:t>
            </a:r>
            <a:r>
              <a:rPr lang="en-US" altLang="ko-KR" sz="950" smtClean="0">
                <a:latin typeface="Times New Roman" pitchFamily="18" charset="0"/>
                <a:ea typeface="LG Smart_H Regular" panose="020B0600000101010101" pitchFamily="34" charset="-127"/>
                <a:cs typeface="Times New Roman" pitchFamily="18" charset="0"/>
              </a:rPr>
              <a:t>memory</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ROM tiêu </a:t>
            </a:r>
            <a:r>
              <a:rPr lang="en-US" altLang="ko-KR" sz="950" smtClean="0">
                <a:latin typeface="Times New Roman" pitchFamily="18" charset="0"/>
                <a:ea typeface="LG Smart_H Regular" panose="020B0600000101010101" pitchFamily="34" charset="-127"/>
                <a:cs typeface="Times New Roman" pitchFamily="18" charset="0"/>
              </a:rPr>
              <a:t>chuẩn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SYSTEM </a:t>
            </a:r>
            <a:r>
              <a:rPr lang="en-US" altLang="ko-KR" sz="950" smtClean="0">
                <a:latin typeface="Times New Roman" pitchFamily="18" charset="0"/>
                <a:ea typeface="LG Smart_H Regular" panose="020B0600000101010101" pitchFamily="34" charset="-127"/>
                <a:cs typeface="Times New Roman" pitchFamily="18" charset="0"/>
              </a:rPr>
              <a:t>memory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RAM tiêu chuẩn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Để tiếng ồn của thiết bị bên ngoài không được truyền vào bên trong CPU, cần sử dụng cái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Photo Transistor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Card đặc </a:t>
            </a:r>
            <a:r>
              <a:rPr lang="vi-VN" altLang="ko-KR" sz="950" smtClean="0">
                <a:latin typeface="Times New Roman" pitchFamily="18" charset="0"/>
                <a:ea typeface="LG Smart_H Regular" panose="020B0600000101010101" pitchFamily="34" charset="-127"/>
                <a:cs typeface="Times New Roman" pitchFamily="18" charset="0"/>
              </a:rPr>
              <a:t>biệt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Photo </a:t>
            </a:r>
            <a:r>
              <a:rPr lang="en-US" altLang="ko-KR" sz="950" smtClean="0">
                <a:latin typeface="Times New Roman" pitchFamily="18" charset="0"/>
                <a:ea typeface="LG Smart_H Regular" panose="020B0600000101010101" pitchFamily="34" charset="-127"/>
                <a:cs typeface="Times New Roman" pitchFamily="18" charset="0"/>
              </a:rPr>
              <a:t>Coupler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Diot phân cực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Động tác như vậy được lặp lại với tốc độ cao và phương thức như vậy được gọi là “phương thức tính toán lặp lại” và thời gian để thực hiện 1 vòng được gọi là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en-US" altLang="ko-KR" sz="950">
                <a:latin typeface="Times New Roman" pitchFamily="18" charset="0"/>
                <a:ea typeface="LG Smart_H Regular" panose="020B0600000101010101" pitchFamily="34" charset="-127"/>
                <a:cs typeface="Times New Roman" pitchFamily="18" charset="0"/>
              </a:rPr>
              <a:t>1 </a:t>
            </a:r>
            <a:r>
              <a:rPr lang="en-US" altLang="ko-KR" sz="950" smtClean="0">
                <a:latin typeface="Times New Roman" pitchFamily="18" charset="0"/>
                <a:ea typeface="LG Smart_H Regular" panose="020B0600000101010101" pitchFamily="34" charset="-127"/>
                <a:cs typeface="Times New Roman" pitchFamily="18" charset="0"/>
              </a:rPr>
              <a:t>SCAN </a:t>
            </a:r>
            <a:r>
              <a:rPr lang="en-US" altLang="ko-KR" sz="950">
                <a:latin typeface="Times New Roman" pitchFamily="18" charset="0"/>
                <a:ea typeface="LG Smart_H Regular" panose="020B0600000101010101" pitchFamily="34" charset="-127"/>
                <a:cs typeface="Times New Roman" pitchFamily="18" charset="0"/>
              </a:rPr>
              <a:t>TIME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en-US" altLang="ko-KR" sz="950">
                <a:latin typeface="Times New Roman" pitchFamily="18" charset="0"/>
                <a:ea typeface="LG Smart_H Regular" panose="020B0600000101010101" pitchFamily="34" charset="-127"/>
                <a:cs typeface="Times New Roman" pitchFamily="18" charset="0"/>
              </a:rPr>
              <a:t>Xử lý END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en-US" altLang="ko-KR" sz="950">
                <a:latin typeface="Times New Roman" pitchFamily="18" charset="0"/>
                <a:ea typeface="LG Smart_H Regular" panose="020B0600000101010101" pitchFamily="34" charset="-127"/>
                <a:cs typeface="Times New Roman" pitchFamily="18" charset="0"/>
              </a:rPr>
              <a:t>Tiến hành Sub Program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P</a:t>
            </a:r>
            <a:r>
              <a:rPr lang="vi-VN" altLang="ko-KR" sz="950" smtClean="0">
                <a:latin typeface="Times New Roman" pitchFamily="18" charset="0"/>
                <a:ea typeface="LG Smart_H Regular" panose="020B0600000101010101" pitchFamily="34" charset="-127"/>
                <a:cs typeface="Times New Roman" pitchFamily="18" charset="0"/>
              </a:rPr>
              <a:t>hương </a:t>
            </a:r>
            <a:r>
              <a:rPr lang="vi-VN" altLang="ko-KR" sz="950">
                <a:latin typeface="Times New Roman" pitchFamily="18" charset="0"/>
                <a:ea typeface="LG Smart_H Regular" panose="020B0600000101010101" pitchFamily="34" charset="-127"/>
                <a:cs typeface="Times New Roman" pitchFamily="18" charset="0"/>
              </a:rPr>
              <a:t>thức tính toán lặp lại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Comment là giải thích về điều gì trong Program 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en-US" altLang="ko-KR" sz="950">
                <a:latin typeface="Times New Roman" pitchFamily="18" charset="0"/>
                <a:ea typeface="LG Smart_H Regular" panose="020B0600000101010101" pitchFamily="34" charset="-127"/>
                <a:cs typeface="Times New Roman" pitchFamily="18" charset="0"/>
              </a:rPr>
              <a:t>Giải thích về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Giải thích phần đặc trưng của Ladder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Giải thích phần đặc trưng của toàn bộ chương trình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Giải thích phần đặc trưng phần kết quả</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Cài đặt Driver giao tiếp USB giữa PLC và PC?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1.Computer </a:t>
            </a:r>
            <a:r>
              <a:rPr lang="vi-VN" altLang="ko-KR" sz="950">
                <a:latin typeface="Times New Roman" pitchFamily="18" charset="0"/>
                <a:ea typeface="LG Smart_H Regular" panose="020B0600000101010101" pitchFamily="34" charset="-127"/>
                <a:cs typeface="Times New Roman" pitchFamily="18" charset="0"/>
              </a:rPr>
              <a:t>của tôi → 2.Bảng điều khiển → 3.System → 4.Hardware → 5.Người quản lý thiết bị → 6.Universal serial bus controller. </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1.Computer của tôi → 2.System → 3.Bảng điều khiển →  4.Hardware → 5.Người quản lý thiết bị → 6.Universal serial bus controller.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1.Computer của tôi → 2.Bảng điều khiển → 3.System → 4.Người quản lý thiết bị → 5.Hardware →  6.Universal serial bus controller.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1.Computer của tôi → 2.Bảng điều khiển → 3.System → 4.Hardware → → 5.Universal serial bus controller.  6.Người quản lý thiết bị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47509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Để có thể biết được những card  đang được sử dụng có bình thường hay không thì phải sử dụng thao tác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System monitor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PLC </a:t>
            </a:r>
            <a:r>
              <a:rPr lang="en-US" altLang="ko-KR" sz="950" smtClean="0">
                <a:latin typeface="Times New Roman" pitchFamily="18" charset="0"/>
                <a:ea typeface="LG Smart_H Regular" panose="020B0600000101010101" pitchFamily="34" charset="-127"/>
                <a:cs typeface="Times New Roman" pitchFamily="18" charset="0"/>
              </a:rPr>
              <a:t>Diagnostics</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Ethernet </a:t>
            </a:r>
            <a:r>
              <a:rPr lang="en-US" altLang="ko-KR" sz="950" smtClean="0">
                <a:latin typeface="Times New Roman" pitchFamily="18" charset="0"/>
                <a:ea typeface="LG Smart_H Regular" panose="020B0600000101010101" pitchFamily="34" charset="-127"/>
                <a:cs typeface="Times New Roman" pitchFamily="18" charset="0"/>
              </a:rPr>
              <a:t>Diagnostics</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Melsecnet Diagnostics</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5169024"/>
            <a:ext cx="3239810" cy="1368152"/>
            <a:chOff x="206479" y="5169024"/>
            <a:chExt cx="3239810" cy="1368152"/>
          </a:xfrm>
        </p:grpSpPr>
        <p:sp>
          <p:nvSpPr>
            <p:cNvPr id="108" name="Rectangle 7"/>
            <p:cNvSpPr>
              <a:spLocks noChangeArrowheads="1"/>
            </p:cNvSpPr>
            <p:nvPr/>
          </p:nvSpPr>
          <p:spPr bwMode="auto">
            <a:xfrm>
              <a:off x="206479" y="5169024"/>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Switch nào của TIP SWITCH dùng để thiết lập connector hệ thống?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SW1</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SW2</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SW3</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SW4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3" name="Picture 22"/>
            <p:cNvPicPr>
              <a:picLocks noChangeAspect="1"/>
            </p:cNvPicPr>
            <p:nvPr/>
          </p:nvPicPr>
          <p:blipFill>
            <a:blip r:embed="rId3"/>
            <a:stretch>
              <a:fillRect/>
            </a:stretch>
          </p:blipFill>
          <p:spPr>
            <a:xfrm>
              <a:off x="1794530" y="5453062"/>
              <a:ext cx="1000125" cy="1084114"/>
            </a:xfrm>
            <a:prstGeom prst="rect">
              <a:avLst/>
            </a:prstGeom>
          </p:spPr>
        </p:pic>
      </p:grpSp>
      <p:grpSp>
        <p:nvGrpSpPr>
          <p:cNvPr id="6" name="Group 5"/>
          <p:cNvGrpSpPr/>
          <p:nvPr/>
        </p:nvGrpSpPr>
        <p:grpSpPr>
          <a:xfrm>
            <a:off x="3425951" y="4664968"/>
            <a:ext cx="3239810" cy="1992853"/>
            <a:chOff x="3425951" y="4664968"/>
            <a:chExt cx="3239810" cy="1992853"/>
          </a:xfrm>
        </p:grpSpPr>
        <p:sp>
          <p:nvSpPr>
            <p:cNvPr id="183" name="Rectangle 7"/>
            <p:cNvSpPr>
              <a:spLocks noChangeArrowheads="1"/>
            </p:cNvSpPr>
            <p:nvPr/>
          </p:nvSpPr>
          <p:spPr bwMode="auto">
            <a:xfrm>
              <a:off x="3425951" y="4664968"/>
              <a:ext cx="3239810"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K100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K10                  D</a:t>
              </a:r>
              <a:r>
                <a:rPr lang="en-US" altLang="ko-KR" sz="950">
                  <a:latin typeface="Times New Roman" pitchFamily="18" charset="0"/>
                  <a:ea typeface="LG Smart_H Regular" panose="020B0600000101010101" pitchFamily="34" charset="-127"/>
                  <a:cs typeface="Times New Roman" pitchFamily="18" charset="0"/>
                </a:rPr>
                <a:t>. K20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그림 4"/>
            <p:cNvPicPr>
              <a:picLocks noChangeAspect="1"/>
            </p:cNvPicPr>
            <p:nvPr/>
          </p:nvPicPr>
          <p:blipFill>
            <a:blip r:embed="rId4"/>
            <a:stretch>
              <a:fillRect/>
            </a:stretch>
          </p:blipFill>
          <p:spPr>
            <a:xfrm>
              <a:off x="3446289" y="5025008"/>
              <a:ext cx="3212995" cy="1296144"/>
            </a:xfrm>
            <a:prstGeom prst="rect">
              <a:avLst/>
            </a:prstGeom>
          </p:spPr>
        </p:pic>
      </p:grpSp>
      <p:grpSp>
        <p:nvGrpSpPr>
          <p:cNvPr id="2" name="Group 1"/>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4.4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0.4 </a:t>
              </a:r>
              <a:r>
                <a:rPr lang="en-US" altLang="ko-KR" sz="950">
                  <a:latin typeface="Times New Roman" pitchFamily="18" charset="0"/>
                  <a:ea typeface="LG Smart_H Regular" panose="020B0600000101010101" pitchFamily="34" charset="-127"/>
                  <a:cs typeface="Times New Roman" pitchFamily="18" charset="0"/>
                </a:rPr>
                <a:t>giây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947" y="7573977"/>
              <a:ext cx="3220735"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249429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8" name="Rectangle 99"/>
          <p:cNvSpPr>
            <a:spLocks noChangeArrowheads="1"/>
          </p:cNvSpPr>
          <p:nvPr/>
        </p:nvSpPr>
        <p:spPr bwMode="auto">
          <a:xfrm>
            <a:off x="174625" y="1034951"/>
            <a:ext cx="342900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31.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ngôn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ngữ</a:t>
            </a:r>
            <a:r>
              <a:rPr lang="en-US" altLang="ko-KR" sz="950" dirty="0" smtClean="0">
                <a:latin typeface="Times New Roman" pitchFamily="18" charset="0"/>
                <a:cs typeface="Times New Roman" pitchFamily="18" charset="0"/>
              </a:rPr>
              <a:t> PLC </a:t>
            </a:r>
            <a:r>
              <a:rPr lang="en-US" altLang="ko-KR" sz="950" dirty="0" err="1" smtClean="0">
                <a:latin typeface="Times New Roman" pitchFamily="18" charset="0"/>
                <a:cs typeface="Times New Roman" pitchFamily="18" charset="0"/>
              </a:rPr>
              <a:t>tiêu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chuẩn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quốc</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tế</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 . LD         B .IL                   C. SFC                  D. SBC</a:t>
            </a:r>
            <a:endParaRPr lang="en-US" altLang="ko-KR" sz="950" dirty="0">
              <a:latin typeface="Times New Roman" pitchFamily="18" charset="0"/>
              <a:cs typeface="Times New Roman" pitchFamily="18" charset="0"/>
            </a:endParaRPr>
          </a:p>
        </p:txBody>
      </p:sp>
      <p:sp>
        <p:nvSpPr>
          <p:cNvPr id="59" name="Rectangle 100"/>
          <p:cNvSpPr>
            <a:spLocks noChangeArrowheads="1"/>
          </p:cNvSpPr>
          <p:nvPr/>
        </p:nvSpPr>
        <p:spPr bwMode="auto">
          <a:xfrm>
            <a:off x="161680" y="1931566"/>
            <a:ext cx="34290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32.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thuật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ngữ</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nói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thức</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chia sẻ</a:t>
            </a:r>
          </a:p>
          <a:p>
            <a:pPr eaLnBrk="1" hangingPunct="1"/>
            <a:r>
              <a:rPr lang="en-US" altLang="ko-KR"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dùng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bởi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B</a:t>
            </a:r>
            <a:r>
              <a:rPr lang="en-US" altLang="ko-KR" sz="950" smtClean="0">
                <a:latin typeface="Times New Roman" pitchFamily="18" charset="0"/>
                <a:ea typeface="돋움" pitchFamily="50" charset="-127"/>
                <a:cs typeface="Times New Roman" pitchFamily="18" charset="0"/>
              </a:rPr>
              <a:t>, </a:t>
            </a:r>
          </a:p>
          <a:p>
            <a:pPr eaLnBrk="1" hangingPunct="1"/>
            <a:r>
              <a:rPr lang="en-US" altLang="ko-KR" sz="950" smtClean="0">
                <a:latin typeface="Times New Roman" pitchFamily="18" charset="0"/>
                <a:ea typeface="돋움" pitchFamily="50" charset="-127"/>
                <a:cs typeface="Times New Roman" pitchFamily="18" charset="0"/>
              </a:rPr>
              <a:t>còn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Transfer </a:t>
            </a:r>
            <a:r>
              <a:rPr lang="en-US" altLang="ko-KR" sz="950" dirty="0" smtClean="0">
                <a:latin typeface="Times New Roman" pitchFamily="18" charset="0"/>
                <a:ea typeface="돋움" pitchFamily="50" charset="-127"/>
                <a:cs typeface="Times New Roman" pitchFamily="18" charset="0"/>
              </a:rPr>
              <a:t>Contact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ý </a:t>
            </a:r>
            <a:r>
              <a:rPr lang="en-US" altLang="ko-KR" sz="950" dirty="0" err="1" smtClean="0">
                <a:latin typeface="Times New Roman" pitchFamily="18" charset="0"/>
                <a:ea typeface="돋움" pitchFamily="50" charset="-127"/>
                <a:cs typeface="Times New Roman" pitchFamily="18" charset="0"/>
              </a:rPr>
              <a:t>nghĩa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xúc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B </a:t>
            </a:r>
            <a:r>
              <a:rPr lang="en-US" altLang="ko-KR" sz="950" dirty="0" err="1" smtClean="0">
                <a:latin typeface="Times New Roman" pitchFamily="18" charset="0"/>
                <a:ea typeface="돋움" pitchFamily="50" charset="-127"/>
                <a:cs typeface="Times New Roman" pitchFamily="18" charset="0"/>
              </a:rPr>
              <a:t>hoặc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tín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Tiếp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Tiếp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Tiếp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endParaRPr lang="en-US" altLang="ko-KR" sz="950" dirty="0">
              <a:latin typeface="Times New Roman" pitchFamily="18" charset="0"/>
              <a:ea typeface="돋움" pitchFamily="50" charset="-127"/>
              <a:cs typeface="Times New Roman" pitchFamily="18" charset="0"/>
            </a:endParaRPr>
          </a:p>
        </p:txBody>
      </p:sp>
      <p:sp>
        <p:nvSpPr>
          <p:cNvPr id="60" name="Rectangle 101"/>
          <p:cNvSpPr>
            <a:spLocks noChangeArrowheads="1"/>
          </p:cNvSpPr>
          <p:nvPr/>
        </p:nvSpPr>
        <p:spPr bwMode="auto">
          <a:xfrm>
            <a:off x="154920" y="5931495"/>
            <a:ext cx="327151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34.</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Control Panel Relay?</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Tiếp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điểm</a:t>
            </a:r>
            <a:r>
              <a:rPr lang="en-US" altLang="ko-KR" sz="950" dirty="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cơ</a:t>
            </a:r>
            <a:r>
              <a:rPr lang="en-US" altLang="ko-KR" sz="950" smtClean="0">
                <a:latin typeface="Times New Roman" pitchFamily="18" charset="0"/>
                <a:ea typeface="돋움" pitchFamily="50" charset="-127"/>
                <a:cs typeface="Times New Roman" pitchFamily="18" charset="0"/>
              </a:rPr>
              <a:t>                   B.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lại</a:t>
            </a:r>
            <a:r>
              <a:rPr lang="en-US" altLang="ko-KR" sz="950" dirty="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mở</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hệ</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thống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Dễ</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bảo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chữa</a:t>
            </a:r>
            <a:endParaRPr lang="ko-KR" altLang="en-US" sz="950" dirty="0">
              <a:latin typeface="Times New Roman" pitchFamily="18" charset="0"/>
              <a:ea typeface="돋움" pitchFamily="50" charset="-127"/>
              <a:cs typeface="Times New Roman" pitchFamily="18" charset="0"/>
            </a:endParaRPr>
          </a:p>
        </p:txBody>
      </p:sp>
      <p:sp>
        <p:nvSpPr>
          <p:cNvPr id="61" name="Rectangle 102"/>
          <p:cNvSpPr>
            <a:spLocks noChangeArrowheads="1"/>
          </p:cNvSpPr>
          <p:nvPr/>
        </p:nvSpPr>
        <p:spPr bwMode="auto">
          <a:xfrm>
            <a:off x="196575" y="7329264"/>
            <a:ext cx="3245125" cy="2039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35</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Hãy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giải</a:t>
            </a:r>
            <a:r>
              <a:rPr lang="en-US" altLang="ko-KR" sz="950" smtClean="0">
                <a:latin typeface="Times New Roman" pitchFamily="18" charset="0"/>
                <a:ea typeface="돋움" pitchFamily="50" charset="-127"/>
                <a:cs typeface="Times New Roman" pitchFamily="18" charset="0"/>
              </a:rPr>
              <a:t> thích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cấu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trúc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PLC </a:t>
            </a:r>
            <a:r>
              <a:rPr lang="en-US" altLang="ko-KR" sz="950" dirty="0" err="1" smtClean="0">
                <a:latin typeface="Times New Roman" pitchFamily="18" charset="0"/>
                <a:ea typeface="돋움" pitchFamily="50" charset="-127"/>
                <a:cs typeface="Times New Roman" pitchFamily="18" charset="0"/>
              </a:rPr>
              <a:t>tương</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ứng</a:t>
            </a:r>
            <a:r>
              <a:rPr lang="en-US" altLang="ko-KR" sz="950" smtClean="0">
                <a:latin typeface="Times New Roman" pitchFamily="18" charset="0"/>
                <a:ea typeface="돋움" pitchFamily="50" charset="-127"/>
                <a:cs typeface="Times New Roman" pitchFamily="18" charset="0"/>
              </a:rPr>
              <a:t> với các </a:t>
            </a:r>
            <a:r>
              <a:rPr lang="en-US" altLang="ko-KR" sz="950" dirty="0" err="1" smtClean="0">
                <a:latin typeface="Times New Roman" pitchFamily="18" charset="0"/>
                <a:ea typeface="돋움" pitchFamily="50" charset="-127"/>
                <a:cs typeface="Times New Roman" pitchFamily="18" charset="0"/>
              </a:rPr>
              <a:t>câu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vào</a:t>
            </a:r>
            <a:r>
              <a:rPr lang="en-US" altLang="ko-KR" sz="950" dirty="0" smtClean="0">
                <a:latin typeface="Times New Roman" pitchFamily="18" charset="0"/>
                <a:ea typeface="돋움" pitchFamily="50" charset="-127"/>
                <a:cs typeface="Times New Roman" pitchFamily="18" charset="0"/>
              </a:rPr>
              <a:t> ô </a:t>
            </a:r>
            <a:r>
              <a:rPr lang="en-US" altLang="ko-KR" sz="950" err="1" smtClean="0">
                <a:latin typeface="Times New Roman" pitchFamily="18" charset="0"/>
                <a:ea typeface="돋움" pitchFamily="50" charset="-127"/>
                <a:cs typeface="Times New Roman" pitchFamily="18" charset="0"/>
              </a:rPr>
              <a:t>trống</a:t>
            </a:r>
            <a:r>
              <a:rPr lang="en-US" altLang="ko-KR"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1000">
                <a:latin typeface="Arial" panose="020B0604020202020204" pitchFamily="34" charset="0"/>
                <a:ea typeface="돋움" pitchFamily="50" charset="-127"/>
                <a:cs typeface="Arial" panose="020B0604020202020204" pitchFamily="34" charset="0"/>
              </a:rPr>
              <a:t>- ( </a:t>
            </a:r>
            <a:r>
              <a:rPr lang="en-US" altLang="ko-KR" sz="1000" smtClean="0">
                <a:latin typeface="Arial" panose="020B0604020202020204" pitchFamily="34" charset="0"/>
                <a:ea typeface="돋움" pitchFamily="50" charset="-127"/>
                <a:cs typeface="Arial" panose="020B0604020202020204" pitchFamily="34" charset="0"/>
              </a:rPr>
              <a:t> </a:t>
            </a:r>
            <a:r>
              <a:rPr lang="en-US" altLang="ko-KR" sz="1000">
                <a:latin typeface="Arial" panose="020B0604020202020204" pitchFamily="34" charset="0"/>
                <a:ea typeface="돋움" pitchFamily="50" charset="-127"/>
                <a:cs typeface="Arial" panose="020B0604020202020204" pitchFamily="34" charset="0"/>
              </a:rPr>
              <a:t>1  </a:t>
            </a:r>
            <a:r>
              <a:rPr lang="en-US" altLang="ko-KR" sz="1000" smtClean="0">
                <a:latin typeface="Arial" panose="020B0604020202020204" pitchFamily="34" charset="0"/>
                <a:ea typeface="돋움" pitchFamily="50" charset="-127"/>
                <a:cs typeface="Arial" panose="020B0604020202020204" pitchFamily="34" charset="0"/>
              </a:rPr>
              <a:t>) </a:t>
            </a:r>
            <a:r>
              <a:rPr lang="en-US" altLang="ko-KR" sz="1000">
                <a:latin typeface="Arial" panose="020B0604020202020204" pitchFamily="34" charset="0"/>
                <a:ea typeface="돋움" pitchFamily="50" charset="-127"/>
                <a:cs typeface="Arial" panose="020B0604020202020204" pitchFamily="34" charset="0"/>
              </a:rPr>
              <a:t>đóng vai trò là bộ não của system, được cấu trúc chủ yếu bằng Microprocessor và Memory.</a:t>
            </a:r>
          </a:p>
          <a:p>
            <a:pPr eaLnBrk="1" hangingPunct="1"/>
            <a:r>
              <a:rPr lang="en-US" altLang="ko-KR" sz="1000">
                <a:latin typeface="Arial" panose="020B0604020202020204" pitchFamily="34" charset="0"/>
                <a:ea typeface="돋움" pitchFamily="50" charset="-127"/>
                <a:cs typeface="Arial" panose="020B0604020202020204" pitchFamily="34" charset="0"/>
              </a:rPr>
              <a:t>- ( </a:t>
            </a:r>
            <a:r>
              <a:rPr lang="en-US" altLang="ko-KR" sz="1000" smtClean="0">
                <a:latin typeface="Arial" panose="020B0604020202020204" pitchFamily="34" charset="0"/>
                <a:ea typeface="돋움" pitchFamily="50" charset="-127"/>
                <a:cs typeface="Arial" panose="020B0604020202020204" pitchFamily="34" charset="0"/>
              </a:rPr>
              <a:t> </a:t>
            </a:r>
            <a:r>
              <a:rPr lang="en-US" altLang="ko-KR" sz="1000">
                <a:latin typeface="Arial" panose="020B0604020202020204" pitchFamily="34" charset="0"/>
                <a:ea typeface="돋움" pitchFamily="50" charset="-127"/>
                <a:cs typeface="Arial" panose="020B0604020202020204" pitchFamily="34" charset="0"/>
              </a:rPr>
              <a:t>2 </a:t>
            </a:r>
            <a:r>
              <a:rPr lang="en-US" altLang="ko-KR" sz="1000" smtClean="0">
                <a:latin typeface="Arial" panose="020B0604020202020204" pitchFamily="34" charset="0"/>
                <a:ea typeface="돋움" pitchFamily="50" charset="-127"/>
                <a:cs typeface="Arial" panose="020B0604020202020204" pitchFamily="34" charset="0"/>
              </a:rPr>
              <a:t> </a:t>
            </a:r>
            <a:r>
              <a:rPr lang="en-US" altLang="ko-KR" sz="1000">
                <a:latin typeface="Arial" panose="020B0604020202020204" pitchFamily="34" charset="0"/>
                <a:ea typeface="돋움" pitchFamily="50" charset="-127"/>
                <a:cs typeface="Arial" panose="020B0604020202020204" pitchFamily="34" charset="0"/>
              </a:rPr>
              <a:t>) có vai trò kết nối tín hiệu với các thiết bị bên ngoài</a:t>
            </a:r>
          </a:p>
          <a:p>
            <a:pPr eaLnBrk="1" hangingPunct="1"/>
            <a:r>
              <a:rPr lang="en-US" altLang="ko-KR" sz="1000">
                <a:latin typeface="Arial" panose="020B0604020202020204" pitchFamily="34" charset="0"/>
                <a:ea typeface="돋움" pitchFamily="50" charset="-127"/>
                <a:cs typeface="Arial" panose="020B0604020202020204" pitchFamily="34" charset="0"/>
              </a:rPr>
              <a:t>- ( </a:t>
            </a:r>
            <a:r>
              <a:rPr lang="en-US" altLang="ko-KR" sz="1000" smtClean="0">
                <a:latin typeface="Arial" panose="020B0604020202020204" pitchFamily="34" charset="0"/>
                <a:ea typeface="돋움" pitchFamily="50" charset="-127"/>
                <a:cs typeface="Arial" panose="020B0604020202020204" pitchFamily="34" charset="0"/>
              </a:rPr>
              <a:t> 3  </a:t>
            </a:r>
            <a:r>
              <a:rPr lang="en-US" altLang="ko-KR" sz="1000">
                <a:latin typeface="Arial" panose="020B0604020202020204" pitchFamily="34" charset="0"/>
                <a:ea typeface="돋움" pitchFamily="50" charset="-127"/>
                <a:cs typeface="Arial" panose="020B0604020202020204" pitchFamily="34" charset="0"/>
              </a:rPr>
              <a:t>) có vai trò cung cấp nguồn cho các bộ phận</a:t>
            </a:r>
          </a:p>
          <a:p>
            <a:pPr eaLnBrk="1" hangingPunct="1"/>
            <a:r>
              <a:rPr lang="en-US" altLang="ko-KR" sz="1000">
                <a:latin typeface="Arial" panose="020B0604020202020204" pitchFamily="34" charset="0"/>
                <a:ea typeface="돋움" pitchFamily="50" charset="-127"/>
                <a:cs typeface="Arial" panose="020B0604020202020204" pitchFamily="34" charset="0"/>
              </a:rPr>
              <a:t>- ( </a:t>
            </a:r>
            <a:r>
              <a:rPr lang="en-US" altLang="ko-KR" sz="1000" smtClean="0">
                <a:latin typeface="Arial" panose="020B0604020202020204" pitchFamily="34" charset="0"/>
                <a:ea typeface="돋움" pitchFamily="50" charset="-127"/>
                <a:cs typeface="Arial" panose="020B0604020202020204" pitchFamily="34" charset="0"/>
              </a:rPr>
              <a:t> 4  </a:t>
            </a:r>
            <a:r>
              <a:rPr lang="en-US" altLang="ko-KR" sz="1000">
                <a:latin typeface="Arial" panose="020B0604020202020204" pitchFamily="34" charset="0"/>
                <a:ea typeface="돋움" pitchFamily="50" charset="-127"/>
                <a:cs typeface="Arial" panose="020B0604020202020204" pitchFamily="34" charset="0"/>
              </a:rPr>
              <a:t>) có vai trò ghi chép lại chương trình vào bộ </a:t>
            </a:r>
            <a:r>
              <a:rPr lang="en-US" altLang="ko-KR" sz="1000" smtClean="0">
                <a:latin typeface="Arial" panose="020B0604020202020204" pitchFamily="34" charset="0"/>
                <a:ea typeface="돋움" pitchFamily="50" charset="-127"/>
                <a:cs typeface="Arial" panose="020B0604020202020204" pitchFamily="34" charset="0"/>
              </a:rPr>
              <a:t>nhớ</a:t>
            </a:r>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CPU, I / O Unit, Power part, thiết bị xung quanh </a:t>
            </a:r>
            <a:r>
              <a:rPr lang="ko-KR" altLang="en-US" sz="95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B. CPU, I / O Unit, Power part, Loader</a:t>
            </a:r>
          </a:p>
          <a:p>
            <a:pPr eaLnBrk="1" hangingPunct="1"/>
            <a:r>
              <a:rPr lang="en-US" altLang="ko-KR" sz="950">
                <a:latin typeface="Times New Roman" pitchFamily="18" charset="0"/>
                <a:ea typeface="돋움" pitchFamily="50" charset="-127"/>
                <a:cs typeface="Times New Roman" pitchFamily="18" charset="0"/>
              </a:rPr>
              <a:t>C. Micro Process. I / O Unit, Power part,Loader</a:t>
            </a:r>
          </a:p>
          <a:p>
            <a:pPr eaLnBrk="1" hangingPunct="1"/>
            <a:r>
              <a:rPr lang="en-US" altLang="ko-KR" sz="950">
                <a:latin typeface="Times New Roman" pitchFamily="18" charset="0"/>
                <a:ea typeface="돋움" pitchFamily="50" charset="-127"/>
                <a:cs typeface="Times New Roman" pitchFamily="18" charset="0"/>
              </a:rPr>
              <a:t>D. Micro Process. I / O Unit, Power </a:t>
            </a:r>
            <a:r>
              <a:rPr lang="en-US" altLang="ko-KR" sz="950" smtClean="0">
                <a:latin typeface="Times New Roman" pitchFamily="18" charset="0"/>
                <a:ea typeface="돋움" pitchFamily="50" charset="-127"/>
                <a:cs typeface="Times New Roman" pitchFamily="18" charset="0"/>
              </a:rPr>
              <a:t>part,CPU</a:t>
            </a:r>
            <a:endParaRPr lang="ko-KR" altLang="en-US" sz="950">
              <a:latin typeface="Times New Roman" pitchFamily="18" charset="0"/>
              <a:ea typeface="돋움" pitchFamily="50" charset="-127"/>
              <a:cs typeface="Times New Roman" pitchFamily="18" charset="0"/>
            </a:endParaRPr>
          </a:p>
        </p:txBody>
      </p:sp>
      <p:sp>
        <p:nvSpPr>
          <p:cNvPr id="62" name="Rectangle 103"/>
          <p:cNvSpPr>
            <a:spLocks noChangeArrowheads="1"/>
          </p:cNvSpPr>
          <p:nvPr/>
        </p:nvSpPr>
        <p:spPr bwMode="auto">
          <a:xfrm>
            <a:off x="3429000" y="4232920"/>
            <a:ext cx="3398838"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38</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thuộc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chương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Device??</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smtClean="0">
                <a:latin typeface="Times New Roman" pitchFamily="18" charset="0"/>
                <a:ea typeface="돋움" pitchFamily="50" charset="-127"/>
                <a:cs typeface="Times New Roman" pitchFamily="18" charset="0"/>
              </a:rPr>
              <a:t>   A. Program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Device</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F</a:t>
            </a:r>
            <a:r>
              <a:rPr lang="en-US" altLang="ko-KR" sz="950" smtClean="0">
                <a:latin typeface="Times New Roman" pitchFamily="18" charset="0"/>
                <a:ea typeface="돋움" pitchFamily="50" charset="-127"/>
                <a:cs typeface="Times New Roman" pitchFamily="18" charset="0"/>
              </a:rPr>
              <a:t>ile </a:t>
            </a:r>
            <a:r>
              <a:rPr lang="en-US" altLang="ko-KR" sz="950">
                <a:latin typeface="Times New Roman" pitchFamily="18" charset="0"/>
                <a:ea typeface="돋움" pitchFamily="50" charset="-127"/>
                <a:cs typeface="Times New Roman" pitchFamily="18" charset="0"/>
              </a:rPr>
              <a:t>register</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dirty="0" smtClean="0">
                <a:latin typeface="Times New Roman" pitchFamily="18" charset="0"/>
                <a:ea typeface="돋움" pitchFamily="50" charset="-127"/>
                <a:cs typeface="Times New Roman" pitchFamily="18" charset="0"/>
              </a:rPr>
              <a:t>Parameter</a:t>
            </a:r>
            <a:endParaRPr lang="ko-KR" altLang="en-US" sz="950" dirty="0">
              <a:latin typeface="Times New Roman" pitchFamily="18" charset="0"/>
              <a:ea typeface="돋움" pitchFamily="50" charset="-127"/>
              <a:cs typeface="Times New Roman" pitchFamily="18" charset="0"/>
            </a:endParaRPr>
          </a:p>
        </p:txBody>
      </p:sp>
      <p:grpSp>
        <p:nvGrpSpPr>
          <p:cNvPr id="4" name="Group 3"/>
          <p:cNvGrpSpPr/>
          <p:nvPr/>
        </p:nvGrpSpPr>
        <p:grpSpPr>
          <a:xfrm>
            <a:off x="144016" y="3972614"/>
            <a:ext cx="3429000" cy="1700466"/>
            <a:chOff x="144016" y="2792760"/>
            <a:chExt cx="3429000" cy="1700466"/>
          </a:xfrm>
        </p:grpSpPr>
        <p:sp>
          <p:nvSpPr>
            <p:cNvPr id="56" name="Rectangle 101"/>
            <p:cNvSpPr>
              <a:spLocks noChangeArrowheads="1"/>
            </p:cNvSpPr>
            <p:nvPr/>
          </p:nvSpPr>
          <p:spPr bwMode="auto">
            <a:xfrm>
              <a:off x="144016" y="2792760"/>
              <a:ext cx="34290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33. Đây </a:t>
              </a:r>
              <a:r>
                <a:rPr lang="en-US" altLang="ko-KR" sz="950">
                  <a:latin typeface="Times New Roman" pitchFamily="18" charset="0"/>
                  <a:ea typeface="돋움" pitchFamily="50" charset="-127"/>
                  <a:cs typeface="Times New Roman" pitchFamily="18" charset="0"/>
                </a:rPr>
                <a:t>là mạch gì</a:t>
              </a:r>
              <a:r>
                <a:rPr lang="en-US" altLang="ko-KR" sz="950" smtClean="0">
                  <a:latin typeface="Times New Roman" pitchFamily="18" charset="0"/>
                  <a:ea typeface="돋움" pitchFamily="50" charset="-127"/>
                  <a:cs typeface="Times New Roman" pitchFamily="18" charset="0"/>
                </a:rPr>
                <a:t>?</a:t>
              </a: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 </a:t>
              </a: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 A.</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Mạch </a:t>
              </a:r>
              <a:r>
                <a:rPr lang="en-US" altLang="ko-KR" sz="950">
                  <a:latin typeface="Times New Roman" pitchFamily="18" charset="0"/>
                  <a:ea typeface="돋움" pitchFamily="50" charset="-127"/>
                  <a:cs typeface="Times New Roman" pitchFamily="18" charset="0"/>
                </a:rPr>
                <a:t>ưu tiên chạy, mạch ưu tiên dừng</a:t>
              </a:r>
              <a:r>
                <a:rPr lang="ko-KR" altLang="en-US" sz="95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eaLnBrk="1" hangingPunct="1"/>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dừng. mạch OR</a:t>
              </a:r>
              <a:r>
                <a:rPr lang="ko-KR" altLang="en-US" sz="95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chạy, mạch OR </a:t>
              </a:r>
            </a:p>
            <a:p>
              <a:pPr eaLnBrk="1" hangingPunct="1"/>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chạy, mạch tự duy trì</a:t>
              </a:r>
              <a:r>
                <a:rPr lang="ko-KR" altLang="en-US" sz="950">
                  <a:latin typeface="Times New Roman" pitchFamily="18" charset="0"/>
                  <a:ea typeface="돋움" pitchFamily="50" charset="-127"/>
                  <a:cs typeface="Times New Roman" pitchFamily="18" charset="0"/>
                </a:rPr>
                <a:t> </a:t>
              </a:r>
            </a:p>
          </p:txBody>
        </p:sp>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109" y="3057064"/>
              <a:ext cx="3009900" cy="719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7" name="Rectangle 44"/>
          <p:cNvSpPr>
            <a:spLocks noChangeArrowheads="1"/>
          </p:cNvSpPr>
          <p:nvPr/>
        </p:nvSpPr>
        <p:spPr bwMode="auto">
          <a:xfrm>
            <a:off x="3426437" y="1064568"/>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36</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 </a:t>
            </a:r>
            <a:r>
              <a:rPr lang="en-US" altLang="ko-KR" sz="950" dirty="0" smtClean="0">
                <a:latin typeface="Times New Roman" pitchFamily="18" charset="0"/>
                <a:ea typeface="돋움" pitchFamily="50" charset="-127"/>
                <a:cs typeface="Times New Roman" pitchFamily="18" charset="0"/>
              </a:rPr>
              <a:t>Do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dùng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thay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Do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tin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định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biến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tin ở </a:t>
            </a:r>
            <a:r>
              <a:rPr lang="en-US" altLang="ko-KR" sz="950" dirty="0" err="1" smtClean="0">
                <a:latin typeface="Times New Roman" pitchFamily="18" charset="0"/>
                <a:ea typeface="돋움" pitchFamily="50" charset="-127"/>
                <a:cs typeface="Times New Roman" pitchFamily="18" charset="0"/>
              </a:rPr>
              <a:t>vùng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dù</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ngắt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vẫn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bảo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toàn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ROM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RAM </a:t>
            </a:r>
            <a:r>
              <a:rPr lang="en-US" altLang="ko-KR" sz="950" smtClean="0">
                <a:latin typeface="Times New Roman" pitchFamily="18" charset="0"/>
                <a:ea typeface="돋움" pitchFamily="50" charset="-127"/>
                <a:cs typeface="Times New Roman" pitchFamily="18" charset="0"/>
              </a:rPr>
              <a:t> C. </a:t>
            </a:r>
            <a:r>
              <a:rPr lang="en-US" altLang="ko-KR" sz="950" dirty="0" smtClean="0">
                <a:latin typeface="Times New Roman" pitchFamily="18" charset="0"/>
                <a:ea typeface="돋움" pitchFamily="50" charset="-127"/>
                <a:cs typeface="Times New Roman" pitchFamily="18" charset="0"/>
              </a:rPr>
              <a:t>Program </a:t>
            </a:r>
            <a:r>
              <a:rPr lang="en-US" altLang="ko-KR" sz="950" smtClean="0">
                <a:latin typeface="Times New Roman" pitchFamily="18" charset="0"/>
                <a:ea typeface="돋움" pitchFamily="50" charset="-127"/>
                <a:cs typeface="Times New Roman" pitchFamily="18" charset="0"/>
              </a:rPr>
              <a:t>Memory</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dirty="0">
                <a:latin typeface="Times New Roman" pitchFamily="18" charset="0"/>
                <a:ea typeface="돋움" pitchFamily="50" charset="-127"/>
                <a:cs typeface="Times New Roman" pitchFamily="18" charset="0"/>
              </a:rPr>
              <a:t>CPU</a:t>
            </a:r>
            <a:endParaRPr lang="ko-KR" altLang="en-US" sz="950" dirty="0">
              <a:latin typeface="Times New Roman" pitchFamily="18" charset="0"/>
              <a:ea typeface="돋움" pitchFamily="50" charset="-127"/>
              <a:cs typeface="Times New Roman" pitchFamily="18" charset="0"/>
            </a:endParaRPr>
          </a:p>
        </p:txBody>
      </p:sp>
      <p:sp>
        <p:nvSpPr>
          <p:cNvPr id="68" name="Rectangle 103"/>
          <p:cNvSpPr>
            <a:spLocks noChangeArrowheads="1"/>
          </p:cNvSpPr>
          <p:nvPr/>
        </p:nvSpPr>
        <p:spPr bwMode="auto">
          <a:xfrm>
            <a:off x="3441700" y="2683004"/>
            <a:ext cx="3398837"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37</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RAM?</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viết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tin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ngắt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tin </a:t>
            </a:r>
            <a:r>
              <a:rPr lang="en-US" altLang="ko-KR" sz="950" dirty="0" err="1" smtClean="0">
                <a:latin typeface="Times New Roman" pitchFamily="18" charset="0"/>
                <a:ea typeface="돋움" pitchFamily="50" charset="-127"/>
                <a:cs typeface="Times New Roman" pitchFamily="18" charset="0"/>
              </a:rPr>
              <a:t>đã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mất</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nhớ</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biến</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dirty="0" err="1">
                <a:latin typeface="Times New Roman" pitchFamily="18" charset="0"/>
                <a:ea typeface="돋움" pitchFamily="50" charset="-127"/>
                <a:cs typeface="Times New Roman" pitchFamily="18" charset="0"/>
              </a:rPr>
              <a:t>Không</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thể</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sử</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dụng</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như</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một</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bộ</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nhớ</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bất</a:t>
            </a:r>
            <a:r>
              <a:rPr lang="en-US" altLang="ko-KR" sz="950" dirty="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biến</a:t>
            </a:r>
            <a:r>
              <a:rPr lang="en-US" altLang="ko-KR" sz="950" dirty="0">
                <a:latin typeface="Times New Roman" pitchFamily="18" charset="0"/>
                <a:ea typeface="돋움" pitchFamily="50" charset="-127"/>
                <a:cs typeface="Times New Roman" pitchFamily="18" charset="0"/>
              </a:rPr>
              <a:t> do Battery backup 	</a:t>
            </a:r>
            <a:endParaRPr lang="ko-KR" altLang="en-US" sz="950" dirty="0">
              <a:latin typeface="Times New Roman" pitchFamily="18" charset="0"/>
              <a:ea typeface="돋움" pitchFamily="50" charset="-127"/>
              <a:cs typeface="Times New Roman" pitchFamily="18" charset="0"/>
            </a:endParaRPr>
          </a:p>
        </p:txBody>
      </p:sp>
      <p:sp>
        <p:nvSpPr>
          <p:cNvPr id="71" name="Rectangle 107"/>
          <p:cNvSpPr>
            <a:spLocks noChangeArrowheads="1"/>
          </p:cNvSpPr>
          <p:nvPr/>
        </p:nvSpPr>
        <p:spPr bwMode="auto">
          <a:xfrm>
            <a:off x="3441700" y="5673080"/>
            <a:ext cx="3227660"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39</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thay</a:t>
            </a:r>
            <a:r>
              <a:rPr lang="en-US" altLang="ko-KR" sz="950" dirty="0" smtClean="0">
                <a:latin typeface="Times New Roman" pitchFamily="18" charset="0"/>
                <a:ea typeface="돋움" pitchFamily="50" charset="-127"/>
                <a:cs typeface="Times New Roman" pitchFamily="18" charset="0"/>
              </a:rPr>
              <a:t> Pin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CPU, </a:t>
            </a:r>
            <a:r>
              <a:rPr lang="en-US" altLang="ko-KR" sz="950" dirty="0" err="1" smtClean="0">
                <a:latin typeface="Times New Roman" pitchFamily="18" charset="0"/>
                <a:ea typeface="돋움" pitchFamily="50" charset="-127"/>
                <a:cs typeface="Times New Roman" pitchFamily="18" charset="0"/>
              </a:rPr>
              <a:t>thời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gian</a:t>
            </a:r>
            <a:r>
              <a:rPr lang="en-US" altLang="ko-KR" sz="950" dirty="0" smtClean="0">
                <a:latin typeface="Times New Roman" pitchFamily="18" charset="0"/>
                <a:ea typeface="돋움" pitchFamily="50" charset="-127"/>
                <a:cs typeface="Times New Roman" pitchFamily="18" charset="0"/>
              </a:rPr>
              <a:t> Backup </a:t>
            </a:r>
            <a:r>
              <a:rPr lang="en-US" altLang="ko-KR" sz="950" dirty="0" err="1" smtClean="0">
                <a:latin typeface="Times New Roman" pitchFamily="18" charset="0"/>
                <a:ea typeface="돋움" pitchFamily="50" charset="-127"/>
                <a:cs typeface="Times New Roman" pitchFamily="18" charset="0"/>
              </a:rPr>
              <a:t>nhờ</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bỏ</a:t>
            </a:r>
            <a:r>
              <a:rPr lang="en-US" altLang="ko-KR" sz="950" dirty="0" smtClean="0">
                <a:latin typeface="Times New Roman" pitchFamily="18" charset="0"/>
                <a:ea typeface="돋움" pitchFamily="50" charset="-127"/>
                <a:cs typeface="Times New Roman" pitchFamily="18" charset="0"/>
              </a:rPr>
              <a:t> pin </a:t>
            </a:r>
            <a:r>
              <a:rPr lang="en-US" altLang="ko-KR" sz="950" err="1" smtClean="0">
                <a:latin typeface="Times New Roman" pitchFamily="18" charset="0"/>
                <a:ea typeface="돋움" pitchFamily="50" charset="-127"/>
                <a:cs typeface="Times New Roman" pitchFamily="18" charset="0"/>
              </a:rPr>
              <a:t>đi</a:t>
            </a:r>
            <a:r>
              <a:rPr lang="en-US" altLang="ko-KR" sz="950" smtClean="0">
                <a:latin typeface="Times New Roman" pitchFamily="18" charset="0"/>
                <a:ea typeface="돋움" pitchFamily="50" charset="-127"/>
                <a:cs typeface="Times New Roman" pitchFamily="18" charset="0"/>
              </a:rPr>
              <a:t> là bao nhiêu phút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p>
          <a:p>
            <a:pPr eaLnBrk="1" hangingPunct="1"/>
            <a:r>
              <a:rPr lang="en-US" altLang="ko-KR" sz="950" smtClean="0">
                <a:latin typeface="Times New Roman" pitchFamily="18" charset="0"/>
                <a:ea typeface="돋움" pitchFamily="50" charset="-127"/>
                <a:cs typeface="Times New Roman" pitchFamily="18" charset="0"/>
              </a:rPr>
              <a:t>A . 3 </a:t>
            </a:r>
            <a:r>
              <a:rPr lang="en-US" altLang="ko-KR" sz="950" err="1" smtClean="0">
                <a:latin typeface="Times New Roman" pitchFamily="18" charset="0"/>
                <a:ea typeface="돋움" pitchFamily="50" charset="-127"/>
                <a:cs typeface="Times New Roman" pitchFamily="18" charset="0"/>
              </a:rPr>
              <a:t>phút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4</a:t>
            </a:r>
            <a:r>
              <a:rPr lang="ko-KR" altLang="en-US" sz="95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phút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5 </a:t>
            </a:r>
            <a:r>
              <a:rPr lang="en-US" altLang="ko-KR" sz="950" err="1" smtClean="0">
                <a:latin typeface="Times New Roman" pitchFamily="18" charset="0"/>
                <a:ea typeface="돋움" pitchFamily="50" charset="-127"/>
                <a:cs typeface="Times New Roman" pitchFamily="18" charset="0"/>
              </a:rPr>
              <a:t>phút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10</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phút</a:t>
            </a:r>
            <a:endParaRPr lang="en-US" altLang="ko-KR" sz="950" dirty="0">
              <a:latin typeface="Times New Roman" pitchFamily="18" charset="0"/>
              <a:ea typeface="돋움" pitchFamily="50" charset="-127"/>
              <a:cs typeface="Times New Roman" pitchFamily="18" charset="0"/>
            </a:endParaRPr>
          </a:p>
        </p:txBody>
      </p:sp>
      <p:grpSp>
        <p:nvGrpSpPr>
          <p:cNvPr id="3" name="Group 2"/>
          <p:cNvGrpSpPr/>
          <p:nvPr/>
        </p:nvGrpSpPr>
        <p:grpSpPr>
          <a:xfrm>
            <a:off x="3441700" y="7041232"/>
            <a:ext cx="3429000" cy="2431435"/>
            <a:chOff x="3441700" y="6537176"/>
            <a:chExt cx="3429000" cy="2431435"/>
          </a:xfrm>
        </p:grpSpPr>
        <p:sp>
          <p:nvSpPr>
            <p:cNvPr id="72" name="Rectangle 104"/>
            <p:cNvSpPr>
              <a:spLocks noChangeArrowheads="1"/>
            </p:cNvSpPr>
            <p:nvPr/>
          </p:nvSpPr>
          <p:spPr bwMode="auto">
            <a:xfrm>
              <a:off x="3441700" y="6537176"/>
              <a:ext cx="3429000" cy="24314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4</a:t>
              </a:r>
              <a:r>
                <a:rPr lang="en-US" altLang="ko-KR" sz="950" smtClean="0">
                  <a:latin typeface="Times New Roman" pitchFamily="18" charset="0"/>
                  <a:ea typeface="돋움" pitchFamily="50" charset="-127"/>
                  <a:cs typeface="Times New Roman" pitchFamily="18" charset="0"/>
                </a:rPr>
                <a:t>0. </a:t>
              </a:r>
              <a:r>
                <a:rPr lang="en-US" altLang="ko-KR" sz="950" dirty="0" err="1" smtClean="0">
                  <a:latin typeface="Times New Roman" pitchFamily="18" charset="0"/>
                  <a:ea typeface="돋움" pitchFamily="50" charset="-127"/>
                  <a:cs typeface="Times New Roman" pitchFamily="18" charset="0"/>
                </a:rPr>
                <a:t>Hình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vấn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đề</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gì</a:t>
              </a:r>
              <a:r>
                <a:rPr lang="en-US" altLang="ko-KR" sz="950" smtClean="0">
                  <a:latin typeface="Times New Roman" pitchFamily="18" charset="0"/>
                  <a:ea typeface="돋움" pitchFamily="50" charset="-127"/>
                  <a:cs typeface="Times New Roman" pitchFamily="18" charset="0"/>
                </a:rPr>
                <a:t>?</a:t>
              </a: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latin typeface="Times New Roman" pitchFamily="18" charset="0"/>
                  <a:ea typeface="돋움" pitchFamily="50" charset="-127"/>
                  <a:cs typeface="Times New Roman" pitchFamily="18" charset="0"/>
                </a:rPr>
                <a:t>Input </a:t>
              </a:r>
              <a:r>
                <a:rPr lang="en-US" altLang="ko-KR" sz="950">
                  <a:latin typeface="Times New Roman" pitchFamily="18" charset="0"/>
                  <a:ea typeface="돋움" pitchFamily="50" charset="-127"/>
                  <a:cs typeface="Times New Roman" pitchFamily="18" charset="0"/>
                </a:rPr>
                <a:t>Unit  </a:t>
              </a:r>
              <a:endParaRPr lang="en-US" altLang="ko-KR" sz="950" smtClean="0">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latin typeface="Times New Roman" pitchFamily="18" charset="0"/>
                  <a:ea typeface="돋움" pitchFamily="50" charset="-127"/>
                  <a:cs typeface="Times New Roman" pitchFamily="18" charset="0"/>
                </a:rPr>
                <a:t>Output </a:t>
              </a:r>
              <a:r>
                <a:rPr lang="en-US" altLang="ko-KR" sz="950">
                  <a:latin typeface="Times New Roman" pitchFamily="18" charset="0"/>
                  <a:ea typeface="돋움" pitchFamily="50" charset="-127"/>
                  <a:cs typeface="Times New Roman" pitchFamily="18" charset="0"/>
                </a:rPr>
                <a:t>Unit  </a:t>
              </a:r>
              <a:endParaRPr lang="en-US" altLang="ko-KR" sz="950" smtClean="0">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latin typeface="Times New Roman" pitchFamily="18" charset="0"/>
                  <a:ea typeface="돋움" pitchFamily="50" charset="-127"/>
                  <a:cs typeface="Times New Roman" pitchFamily="18" charset="0"/>
                </a:rPr>
                <a:t>Unit </a:t>
              </a:r>
              <a:r>
                <a:rPr lang="en-US" altLang="ko-KR" sz="950">
                  <a:latin typeface="Times New Roman" pitchFamily="18" charset="0"/>
                  <a:ea typeface="돋움" pitchFamily="50" charset="-127"/>
                  <a:cs typeface="Times New Roman" pitchFamily="18" charset="0"/>
                </a:rPr>
                <a:t>đặc thù   </a:t>
              </a:r>
              <a:endParaRPr lang="en-US" altLang="ko-KR" sz="950" smtClean="0">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latin typeface="Times New Roman" pitchFamily="18" charset="0"/>
                  <a:ea typeface="돋움" pitchFamily="50" charset="-127"/>
                  <a:cs typeface="Times New Roman" pitchFamily="18" charset="0"/>
                </a:rPr>
                <a:t>Card </a:t>
              </a:r>
              <a:r>
                <a:rPr lang="en-US" altLang="ko-KR" sz="950">
                  <a:latin typeface="Times New Roman" pitchFamily="18" charset="0"/>
                  <a:ea typeface="돋움" pitchFamily="50" charset="-127"/>
                  <a:cs typeface="Times New Roman" pitchFamily="18" charset="0"/>
                </a:rPr>
                <a:t>đặc </a:t>
              </a:r>
              <a:r>
                <a:rPr lang="en-US" altLang="ko-KR" sz="950" smtClean="0">
                  <a:latin typeface="Times New Roman" pitchFamily="18" charset="0"/>
                  <a:ea typeface="돋움" pitchFamily="50" charset="-127"/>
                  <a:cs typeface="Times New Roman" pitchFamily="18" charset="0"/>
                </a:rPr>
                <a:t>thù</a:t>
              </a:r>
              <a:endParaRPr lang="ko-KR" altLang="en-US" sz="950">
                <a:latin typeface="Times New Roman" pitchFamily="18" charset="0"/>
                <a:ea typeface="돋움" pitchFamily="50" charset="-127"/>
                <a:cs typeface="Times New Roman" pitchFamily="18" charset="0"/>
              </a:endParaRPr>
            </a:p>
          </p:txBody>
        </p:sp>
        <p:grpSp>
          <p:nvGrpSpPr>
            <p:cNvPr id="2" name="Group 1"/>
            <p:cNvGrpSpPr/>
            <p:nvPr/>
          </p:nvGrpSpPr>
          <p:grpSpPr>
            <a:xfrm>
              <a:off x="3441700" y="6897216"/>
              <a:ext cx="2867620" cy="1296075"/>
              <a:chOff x="6955795" y="1691600"/>
              <a:chExt cx="2867620" cy="1296075"/>
            </a:xfrm>
          </p:grpSpPr>
          <p:pic>
            <p:nvPicPr>
              <p:cNvPr id="74" name="Picture 317" descr="clip_image003"/>
              <p:cNvPicPr>
                <a:picLocks noChangeAspect="1" noChangeArrowheads="1"/>
              </p:cNvPicPr>
              <p:nvPr/>
            </p:nvPicPr>
            <p:blipFill>
              <a:blip r:embed="rId4">
                <a:extLst>
                  <a:ext uri="{28A0092B-C50C-407E-A947-70E740481C1C}">
                    <a14:useLocalDpi xmlns:a14="http://schemas.microsoft.com/office/drawing/2010/main" val="0"/>
                  </a:ext>
                </a:extLst>
              </a:blip>
              <a:srcRect b="13994"/>
              <a:stretch>
                <a:fillRect/>
              </a:stretch>
            </p:blipFill>
            <p:spPr bwMode="auto">
              <a:xfrm>
                <a:off x="7263159" y="1692275"/>
                <a:ext cx="24114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Rectangle 74"/>
              <p:cNvSpPr/>
              <p:nvPr/>
            </p:nvSpPr>
            <p:spPr>
              <a:xfrm>
                <a:off x="6955795" y="1979640"/>
                <a:ext cx="420077" cy="576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Nguồn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ngoài</a:t>
                </a:r>
                <a:endParaRPr lang="en-US" sz="600" dirty="0">
                  <a:solidFill>
                    <a:schemeClr val="tx1"/>
                  </a:solidFill>
                  <a:latin typeface="Times New Roman" pitchFamily="18" charset="0"/>
                  <a:cs typeface="Times New Roman" pitchFamily="18" charset="0"/>
                </a:endParaRPr>
              </a:p>
            </p:txBody>
          </p:sp>
          <p:sp>
            <p:nvSpPr>
              <p:cNvPr id="76" name="Rectangle 75"/>
              <p:cNvSpPr/>
              <p:nvPr/>
            </p:nvSpPr>
            <p:spPr>
              <a:xfrm>
                <a:off x="7354219" y="1764285"/>
                <a:ext cx="448065"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Tiếp</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điểm</a:t>
                </a:r>
                <a:endParaRPr lang="en-US" sz="600" dirty="0">
                  <a:solidFill>
                    <a:schemeClr val="tx1"/>
                  </a:solidFill>
                  <a:latin typeface="Times New Roman" pitchFamily="18" charset="0"/>
                  <a:cs typeface="Times New Roman" pitchFamily="18" charset="0"/>
                </a:endParaRPr>
              </a:p>
            </p:txBody>
          </p:sp>
          <p:sp>
            <p:nvSpPr>
              <p:cNvPr id="77" name="Rectangle 76"/>
              <p:cNvSpPr/>
              <p:nvPr/>
            </p:nvSpPr>
            <p:spPr>
              <a:xfrm>
                <a:off x="7874294" y="1691600"/>
                <a:ext cx="448065"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LED </a:t>
                </a:r>
                <a:r>
                  <a:rPr lang="en-US" sz="600" dirty="0" err="1" smtClean="0">
                    <a:solidFill>
                      <a:schemeClr val="tx1"/>
                    </a:solidFill>
                    <a:latin typeface="Times New Roman" pitchFamily="18" charset="0"/>
                    <a:cs typeface="Times New Roman" pitchFamily="18" charset="0"/>
                  </a:rPr>
                  <a:t>hiển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thị</a:t>
                </a:r>
                <a:endParaRPr lang="en-US" sz="600" dirty="0">
                  <a:solidFill>
                    <a:schemeClr val="tx1"/>
                  </a:solidFill>
                  <a:latin typeface="Times New Roman" pitchFamily="18" charset="0"/>
                  <a:cs typeface="Times New Roman" pitchFamily="18" charset="0"/>
                </a:endParaRPr>
              </a:p>
            </p:txBody>
          </p:sp>
          <p:sp>
            <p:nvSpPr>
              <p:cNvPr id="78" name="Rectangle 77"/>
              <p:cNvSpPr/>
              <p:nvPr/>
            </p:nvSpPr>
            <p:spPr>
              <a:xfrm>
                <a:off x="8954444" y="1691600"/>
                <a:ext cx="720128"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CPU </a:t>
                </a:r>
                <a:endParaRPr lang="en-US" sz="600" dirty="0">
                  <a:solidFill>
                    <a:schemeClr val="tx1"/>
                  </a:solidFill>
                  <a:latin typeface="Times New Roman" pitchFamily="18" charset="0"/>
                  <a:cs typeface="Times New Roman" pitchFamily="18" charset="0"/>
                </a:endParaRPr>
              </a:p>
            </p:txBody>
          </p:sp>
          <p:sp>
            <p:nvSpPr>
              <p:cNvPr id="79" name="Rectangle 78"/>
              <p:cNvSpPr/>
              <p:nvPr/>
            </p:nvSpPr>
            <p:spPr>
              <a:xfrm>
                <a:off x="7175530" y="2676880"/>
                <a:ext cx="61647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Thiết</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bị</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ngoài</a:t>
                </a:r>
                <a:endParaRPr lang="en-US" sz="600" dirty="0">
                  <a:solidFill>
                    <a:schemeClr val="tx1"/>
                  </a:solidFill>
                  <a:latin typeface="Times New Roman" pitchFamily="18" charset="0"/>
                  <a:cs typeface="Times New Roman" pitchFamily="18" charset="0"/>
                </a:endParaRPr>
              </a:p>
            </p:txBody>
          </p:sp>
          <p:sp>
            <p:nvSpPr>
              <p:cNvPr id="80" name="Rectangle 79"/>
              <p:cNvSpPr/>
              <p:nvPr/>
            </p:nvSpPr>
            <p:spPr>
              <a:xfrm>
                <a:off x="9170475" y="2661640"/>
                <a:ext cx="6529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Thiết</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bị</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trong</a:t>
                </a:r>
                <a:endParaRPr lang="en-US" sz="600" dirty="0">
                  <a:solidFill>
                    <a:schemeClr val="tx1"/>
                  </a:solidFill>
                  <a:latin typeface="Times New Roman" pitchFamily="18" charset="0"/>
                  <a:cs typeface="Times New Roman" pitchFamily="18" charset="0"/>
                </a:endParaRPr>
              </a:p>
            </p:txBody>
          </p:sp>
          <p:sp>
            <p:nvSpPr>
              <p:cNvPr id="82" name="Rectangle 81"/>
              <p:cNvSpPr/>
              <p:nvPr/>
            </p:nvSpPr>
            <p:spPr>
              <a:xfrm>
                <a:off x="8954444" y="2123660"/>
                <a:ext cx="541378"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Photocoupler</a:t>
                </a:r>
                <a:endParaRPr lang="en-US" sz="600" dirty="0">
                  <a:solidFill>
                    <a:schemeClr val="tx1"/>
                  </a:solidFill>
                  <a:latin typeface="Times New Roman" pitchFamily="18" charset="0"/>
                  <a:cs typeface="Times New Roman" pitchFamily="18" charset="0"/>
                </a:endParaRPr>
              </a:p>
            </p:txBody>
          </p:sp>
          <p:sp>
            <p:nvSpPr>
              <p:cNvPr id="83" name="Rectangle 82"/>
              <p:cNvSpPr/>
              <p:nvPr/>
            </p:nvSpPr>
            <p:spPr>
              <a:xfrm>
                <a:off x="8291113" y="2665804"/>
                <a:ext cx="580957" cy="216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Unit Input</a:t>
                </a:r>
                <a:endParaRPr lang="en-US" sz="6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17105231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1365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Đâu không phải là ưu điểm của công nghệ khí nén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Có </a:t>
            </a:r>
            <a:r>
              <a:rPr lang="vi-VN" altLang="ko-KR" sz="950">
                <a:latin typeface="Times New Roman" pitchFamily="18" charset="0"/>
                <a:ea typeface="LG Smart_H Regular" panose="020B0600000101010101" pitchFamily="34" charset="-127"/>
                <a:cs typeface="Times New Roman" pitchFamily="18" charset="0"/>
              </a:rPr>
              <a:t>thể nhận được lực lớn nhờ van tăng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Điều khiển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Tích lũy dễ dàng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240892" y="214468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Đâu không phải là đặc điểm của ống dẫn khí nén ?</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Tiêu hao năng lượng truyền và can thiệp giữa các máy nhỏ nên có thể  dẫn khí nén đến từng góc của nhà máy..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Ống dẫn khí nén dễ bị rỉ sét do hơi nước của bình ngưng tụ và oxy có trong không khí. </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Mạch </a:t>
            </a:r>
            <a:r>
              <a:rPr lang="vi-VN" altLang="ko-KR" sz="950">
                <a:latin typeface="Times New Roman" pitchFamily="18" charset="0"/>
                <a:ea typeface="LG Smart_H Regular" panose="020B0600000101010101" pitchFamily="34" charset="-127"/>
                <a:cs typeface="Times New Roman" pitchFamily="18" charset="0"/>
              </a:rPr>
              <a:t>khí nén là hệ thống kín, tuần hoàn năng lượng.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khí bên trong đường ống khí nén có được nén hay không, thì nhiệt độ vẫn giảm, phát sinh lượng lớn ở bình ngưng tụ. </a:t>
            </a:r>
          </a:p>
        </p:txBody>
      </p:sp>
      <p:sp>
        <p:nvSpPr>
          <p:cNvPr id="30" name="Rectangle 7"/>
          <p:cNvSpPr>
            <a:spLocks noChangeArrowheads="1"/>
          </p:cNvSpPr>
          <p:nvPr/>
        </p:nvSpPr>
        <p:spPr bwMode="auto">
          <a:xfrm>
            <a:off x="232664" y="588910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Thao tác với ống dẫn đơn giản và nhanh chóng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Giá ống dẫn rẻ</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Vì dễ duy trì, bảo dưỡng ống seal nên rò rỉ khí ở  ống dẫn nhỏ, có khả năng tăng dung lượng nhiều hơn so với tỷ lệ đường kính 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Vì ống nhựa có tính mềm dẻo, linh động nên dễ thao tác nhưng chú ý khi sử dụng ống dẫn của máy có bộ phận quay.</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136576"/>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Actuaator truyền động quay kiểu cánh gạt có cấu tạo giống động cơ khí nén nhưng bị giới hạn góc độ quay và quyết định lực sinh ra qua áp suất khí sử dụng và diện tích nhận áp suất nước của cánh gạt.Loại cánh gạt kép có góc quay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270~300 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90~120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Dưới 60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150~210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Van gì có thể điều khiển thứ tự hoạt động trong mạch có từ 2 mạch trở </a:t>
            </a:r>
            <a:r>
              <a:rPr lang="vi-VN" altLang="ko-KR" sz="950" smtClean="0">
                <a:latin typeface="Times New Roman" pitchFamily="18" charset="0"/>
                <a:ea typeface="LG Smart_H Regular" panose="020B0600000101010101" pitchFamily="34" charset="-127"/>
                <a:cs typeface="Times New Roman" pitchFamily="18" charset="0"/>
              </a:rPr>
              <a:t>lên?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kiểm </a:t>
            </a:r>
            <a:r>
              <a:rPr lang="en-US" altLang="ko-KR" sz="950" smtClean="0">
                <a:latin typeface="Times New Roman" pitchFamily="18" charset="0"/>
                <a:ea typeface="LG Smart_H Regular" panose="020B0600000101010101" pitchFamily="34" charset="-127"/>
                <a:cs typeface="Times New Roman" pitchFamily="18" charset="0"/>
              </a:rPr>
              <a:t>tra</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tuần </a:t>
            </a:r>
            <a:r>
              <a:rPr lang="en-US" altLang="ko-KR" sz="950" smtClean="0">
                <a:latin typeface="Times New Roman" pitchFamily="18" charset="0"/>
                <a:ea typeface="LG Smart_H Regular" panose="020B0600000101010101" pitchFamily="34" charset="-127"/>
                <a:cs typeface="Times New Roman" pitchFamily="18" charset="0"/>
              </a:rPr>
              <a:t>tự</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016896"/>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out?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Vì </a:t>
            </a:r>
            <a:r>
              <a:rPr lang="vi-VN" altLang="ko-KR" sz="950">
                <a:latin typeface="Times New Roman" pitchFamily="18" charset="0"/>
                <a:ea typeface="LG Smart_H Regular" panose="020B0600000101010101" pitchFamily="34" charset="-127"/>
                <a:cs typeface="Times New Roman" pitchFamily="18" charset="0"/>
              </a:rPr>
              <a:t>trạng thái tự do phía ① nên khí áp tăng ngay lập tức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Piston di chuyển tương đối cân bằng bằng lực đẩy dựa vào chênh lệch áp suất của ① và </a:t>
            </a:r>
            <a:r>
              <a:rPr lang="vi-VN" altLang="ko-KR" sz="950" smtClean="0">
                <a:latin typeface="Times New Roman" pitchFamily="18" charset="0"/>
                <a:ea typeface="LG Smart_H Regular" panose="020B0600000101010101" pitchFamily="34" charset="-127"/>
                <a:cs typeface="Times New Roman" pitchFamily="18" charset="0"/>
              </a:rPr>
              <a:t>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49538" y="639316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Phân loại thiết bị sử dụng trong </a:t>
            </a:r>
            <a:r>
              <a:rPr lang="vi-VN" altLang="ko-KR" sz="950" smtClean="0">
                <a:latin typeface="Times New Roman" pitchFamily="18" charset="0"/>
                <a:ea typeface="LG Smart_H Regular" panose="020B0600000101010101" pitchFamily="34" charset="-127"/>
                <a:cs typeface="Times New Roman" pitchFamily="18" charset="0"/>
              </a:rPr>
              <a:t>mạch?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Công tắc  phân tích : Rơ le kiểm soát, rơ le time, rơ le nhiệt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Công tắc vận hành : nút nhấn, công tắc  selector, công tắc xoay</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vận hành : Chuông, đèn báo, còi,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kiểm soát : Chuông, đèn báo, còi,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7977336"/>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Tính năng của bộ hẹn giờ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xử lí tín hiệu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kiểm soát tuần tự ON, OFF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xử lí tín hiệu số.</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kiểm soát thời gian Delay ON, OFF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260648" y="3728864"/>
            <a:ext cx="3180502" cy="1872064"/>
            <a:chOff x="260648" y="4377080"/>
            <a:chExt cx="3180502" cy="1872064"/>
          </a:xfrm>
        </p:grpSpPr>
        <p:sp>
          <p:nvSpPr>
            <p:cNvPr id="23" name="Rectangle 7"/>
            <p:cNvSpPr>
              <a:spLocks noChangeArrowheads="1"/>
            </p:cNvSpPr>
            <p:nvPr/>
          </p:nvSpPr>
          <p:spPr bwMode="auto">
            <a:xfrm>
              <a:off x="260648" y="437708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43. Phân loại, máy khí nén theo nguyên lý hoạt động. Đâu không phải là loại máy nén khí dung tích?</a:t>
              </a: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3"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2856" y="5576577"/>
              <a:ext cx="624058" cy="67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8" y="4786277"/>
              <a:ext cx="697273" cy="649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696" y="4808984"/>
              <a:ext cx="654707" cy="626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696" y="5616542"/>
              <a:ext cx="660978" cy="63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Group 2"/>
          <p:cNvGrpSpPr/>
          <p:nvPr/>
        </p:nvGrpSpPr>
        <p:grpSpPr>
          <a:xfrm>
            <a:off x="206479" y="7617296"/>
            <a:ext cx="3180502" cy="1872208"/>
            <a:chOff x="3451715" y="1136576"/>
            <a:chExt cx="3180502" cy="1872208"/>
          </a:xfrm>
        </p:grpSpPr>
        <p:sp>
          <p:nvSpPr>
            <p:cNvPr id="32" name="Rectangle 7"/>
            <p:cNvSpPr>
              <a:spLocks noChangeArrowheads="1"/>
            </p:cNvSpPr>
            <p:nvPr/>
          </p:nvSpPr>
          <p:spPr bwMode="auto">
            <a:xfrm>
              <a:off x="3451715" y="113657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Charles?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3234" y="1332268"/>
              <a:ext cx="1198094" cy="807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9040" y="2144853"/>
              <a:ext cx="1108910" cy="86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p:cNvPicPr>
            <p:nvPr/>
          </p:nvPicPr>
          <p:blipFill>
            <a:blip r:embed="rId9"/>
            <a:stretch>
              <a:fillRect/>
            </a:stretch>
          </p:blipFill>
          <p:spPr>
            <a:xfrm>
              <a:off x="5313254" y="2288848"/>
              <a:ext cx="1068074" cy="719936"/>
            </a:xfrm>
            <a:prstGeom prst="rect">
              <a:avLst/>
            </a:prstGeom>
          </p:spPr>
        </p:pic>
        <p:pic>
          <p:nvPicPr>
            <p:cNvPr id="1026"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89041" y="1448084"/>
              <a:ext cx="1008112" cy="574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9" name="Picture 38"/>
          <p:cNvPicPr>
            <a:picLocks noChangeAspect="1"/>
          </p:cNvPicPr>
          <p:nvPr/>
        </p:nvPicPr>
        <p:blipFill>
          <a:blip r:embed="rId11"/>
          <a:stretch>
            <a:fillRect/>
          </a:stretch>
        </p:blipFill>
        <p:spPr>
          <a:xfrm>
            <a:off x="5229199" y="4319733"/>
            <a:ext cx="837521" cy="513266"/>
          </a:xfrm>
          <a:prstGeom prst="rect">
            <a:avLst/>
          </a:prstGeom>
        </p:spPr>
      </p:pic>
    </p:spTree>
    <p:extLst>
      <p:ext uri="{BB962C8B-B14F-4D97-AF65-F5344CB8AC3E}">
        <p14:creationId xmlns:p14="http://schemas.microsoft.com/office/powerpoint/2010/main" val="31396469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267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16808" y="776288"/>
            <a:ext cx="31750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9" name="Rectangle 603"/>
          <p:cNvSpPr>
            <a:spLocks noChangeArrowheads="1"/>
          </p:cNvSpPr>
          <p:nvPr/>
        </p:nvSpPr>
        <p:spPr bwMode="auto">
          <a:xfrm>
            <a:off x="260649" y="1136576"/>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51</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thuật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nén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09538" indent="-109538"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T</a:t>
            </a:r>
            <a:r>
              <a:rPr lang="en-US" altLang="ko-KR" sz="950" smtClean="0">
                <a:latin typeface="Times New Roman" pitchFamily="18" charset="0"/>
                <a:cs typeface="Times New Roman" pitchFamily="18" charset="0"/>
              </a:rPr>
              <a:t>ruyền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truyền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bất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0" name="Rectangle 621"/>
          <p:cNvSpPr>
            <a:spLocks noChangeArrowheads="1"/>
          </p:cNvSpPr>
          <p:nvPr/>
        </p:nvSpPr>
        <p:spPr bwMode="auto">
          <a:xfrm>
            <a:off x="260648" y="2263921"/>
            <a:ext cx="31242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lực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1013 </a:t>
            </a:r>
            <a:r>
              <a:rPr lang="en-US" altLang="ko-KR" sz="950">
                <a:latin typeface="Times New Roman" pitchFamily="18" charset="0"/>
                <a:cs typeface="Times New Roman" pitchFamily="18" charset="0"/>
              </a:rPr>
              <a:t>B</a:t>
            </a:r>
            <a:r>
              <a:rPr lang="en-US" altLang="ko-KR" sz="950" smtClean="0">
                <a:latin typeface="Times New Roman" pitchFamily="18" charset="0"/>
                <a:cs typeface="Times New Roman" pitchFamily="18" charset="0"/>
              </a:rPr>
              <a:t>ar                 B. 0.1013 </a:t>
            </a:r>
            <a:r>
              <a:rPr lang="en-US" altLang="ko-KR" sz="950" dirty="0">
                <a:latin typeface="Times New Roman" pitchFamily="18" charset="0"/>
                <a:cs typeface="Times New Roman" pitchFamily="18" charset="0"/>
              </a:rPr>
              <a:t>Pa </a:t>
            </a:r>
          </a:p>
          <a:p>
            <a:pPr eaLnBrk="1" hangingPunct="1"/>
            <a:r>
              <a:rPr lang="en-US" altLang="ko-KR" sz="950" smtClean="0">
                <a:latin typeface="Times New Roman" pitchFamily="18" charset="0"/>
                <a:cs typeface="Times New Roman" pitchFamily="18" charset="0"/>
              </a:rPr>
              <a:t>C. 1.033 </a:t>
            </a:r>
            <a:r>
              <a:rPr lang="en-US" altLang="ko-KR" sz="950" dirty="0" err="1">
                <a:latin typeface="Times New Roman" pitchFamily="18" charset="0"/>
                <a:cs typeface="Times New Roman" pitchFamily="18" charset="0"/>
              </a:rPr>
              <a:t>Kgf</a:t>
            </a:r>
            <a:r>
              <a:rPr lang="en-US" altLang="ko-KR" sz="950" dirty="0">
                <a:latin typeface="Times New Roman" pitchFamily="18" charset="0"/>
                <a:cs typeface="Times New Roman" pitchFamily="18" charset="0"/>
              </a:rPr>
              <a:t>/</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D. 760 </a:t>
            </a:r>
            <a:r>
              <a:rPr lang="en-US" altLang="ko-KR" sz="950" dirty="0">
                <a:latin typeface="Times New Roman" pitchFamily="18" charset="0"/>
                <a:cs typeface="Times New Roman" pitchFamily="18" charset="0"/>
              </a:rPr>
              <a:t>mmH2g</a:t>
            </a:r>
          </a:p>
        </p:txBody>
      </p:sp>
      <p:sp>
        <p:nvSpPr>
          <p:cNvPr id="31" name="Rectangle 46"/>
          <p:cNvSpPr>
            <a:spLocks noChangeArrowheads="1"/>
          </p:cNvSpPr>
          <p:nvPr/>
        </p:nvSpPr>
        <p:spPr bwMode="auto">
          <a:xfrm>
            <a:off x="260648" y="3063304"/>
            <a:ext cx="3168651"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09538" indent="-109538" eaLnBrk="1" hangingPunct="1"/>
            <a:r>
              <a:rPr lang="en-US" altLang="ko-KR" sz="950" smtClean="0">
                <a:latin typeface="Times New Roman" pitchFamily="18" charset="0"/>
                <a:cs typeface="Times New Roman" pitchFamily="18" charset="0"/>
              </a:rPr>
              <a:t>53</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trục</a:t>
            </a:r>
            <a:r>
              <a:rPr lang="en-US" altLang="ko-KR" sz="950" smtClean="0">
                <a:latin typeface="Times New Roman" pitchFamily="18" charset="0"/>
                <a:cs typeface="Times New Roman" pitchFamily="18" charset="0"/>
              </a:rPr>
              <a:t> vít</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Screw?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Trục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song </a:t>
            </a:r>
            <a:r>
              <a:rPr lang="en-US" altLang="ko-KR" sz="950" dirty="0" err="1" smtClean="0">
                <a:latin typeface="Times New Roman" pitchFamily="18" charset="0"/>
                <a:cs typeface="Times New Roman" pitchFamily="18" charset="0"/>
              </a:rPr>
              <a:t>song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rung.</a:t>
            </a:r>
            <a:endParaRPr lang="en-US" altLang="ko-KR" sz="950" dirty="0">
              <a:latin typeface="Times New Roman" pitchFamily="18" charset="0"/>
              <a:cs typeface="Times New Roman" pitchFamily="18" charset="0"/>
            </a:endParaRPr>
          </a:p>
          <a:p>
            <a:pPr marL="109538" indent="-109538"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09538" indent="-109538" eaLnBrk="1" hangingPunct="1"/>
            <a:r>
              <a:rPr lang="en-US" altLang="ko-KR" sz="950" smtClean="0">
                <a:latin typeface="Times New Roman" pitchFamily="18" charset="0"/>
                <a:cs typeface="Times New Roman" pitchFamily="18" charset="0"/>
              </a:rPr>
              <a:t>C. </a:t>
            </a:r>
            <a:r>
              <a:rPr lang="en-US" altLang="ko-KR" sz="950" dirty="0" smtClean="0">
                <a:latin typeface="Times New Roman" pitchFamily="18" charset="0"/>
                <a:cs typeface="Times New Roman" pitchFamily="18" charset="0"/>
              </a:rPr>
              <a:t>Do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nhiễu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sạch</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dễ</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ồn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2" name="Rectangle 238"/>
          <p:cNvSpPr>
            <a:spLocks noChangeArrowheads="1"/>
          </p:cNvSpPr>
          <p:nvPr/>
        </p:nvSpPr>
        <p:spPr bwMode="auto">
          <a:xfrm>
            <a:off x="260648" y="4605154"/>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pha</a:t>
            </a:r>
            <a:r>
              <a:rPr lang="en-US" altLang="ko-KR" sz="950" dirty="0" smtClean="0">
                <a:latin typeface="Times New Roman" pitchFamily="18" charset="0"/>
                <a:cs typeface="Times New Roman" pitchFamily="18" charset="0"/>
              </a:rPr>
              <a:t> 90’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hay rotor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casing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rotor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di </a:t>
            </a:r>
            <a:r>
              <a:rPr lang="en-US" altLang="ko-KR" sz="950" dirty="0" err="1" smtClean="0">
                <a:latin typeface="Times New Roman" pitchFamily="18" charset="0"/>
                <a:cs typeface="Times New Roman" pitchFamily="18" charset="0"/>
              </a:rPr>
              <a:t>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piston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tầng</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trục</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Vít</a:t>
            </a:r>
            <a:r>
              <a:rPr lang="en-US" altLang="ko-KR" sz="950" smtClean="0">
                <a:latin typeface="Times New Roman" pitchFamily="18" charset="0"/>
                <a:cs typeface="Times New Roman" pitchFamily="18" charset="0"/>
              </a:rPr>
              <a:t> Screw</a:t>
            </a:r>
            <a:endParaRPr lang="en-US" altLang="ko-KR" sz="950" dirty="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quạt</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Root </a:t>
            </a:r>
            <a:r>
              <a:rPr lang="en-US" altLang="ko-KR" sz="950" dirty="0" smtClean="0">
                <a:latin typeface="Times New Roman" pitchFamily="18" charset="0"/>
                <a:cs typeface="Times New Roman" pitchFamily="18" charset="0"/>
              </a:rPr>
              <a:t>Blower</a:t>
            </a:r>
            <a:endParaRPr lang="ko-KR" altLang="en-US" sz="950" dirty="0">
              <a:latin typeface="Times New Roman" pitchFamily="18" charset="0"/>
              <a:cs typeface="Times New Roman" pitchFamily="18" charset="0"/>
            </a:endParaRPr>
          </a:p>
        </p:txBody>
      </p:sp>
      <p:sp>
        <p:nvSpPr>
          <p:cNvPr id="33" name="Rectangle 240"/>
          <p:cNvSpPr>
            <a:spLocks noChangeArrowheads="1"/>
          </p:cNvSpPr>
          <p:nvPr/>
        </p:nvSpPr>
        <p:spPr bwMode="auto">
          <a:xfrm>
            <a:off x="260648" y="6066219"/>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950" smtClean="0">
                <a:latin typeface="Times New Roman" pitchFamily="18" charset="0"/>
                <a:cs typeface="Times New Roman" pitchFamily="18" charset="0"/>
              </a:rPr>
              <a:t>55</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ô </a:t>
            </a:r>
            <a:r>
              <a:rPr lang="en-US" altLang="ko-KR" sz="950" dirty="0" err="1" smtClean="0">
                <a:latin typeface="Times New Roman" pitchFamily="18" charset="0"/>
                <a:cs typeface="Times New Roman" pitchFamily="18" charset="0"/>
              </a:rPr>
              <a:t>nhiêm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nói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fontAlgn="b"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tuổi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thọ</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valve do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nổ</a:t>
            </a:r>
            <a:r>
              <a:rPr lang="en-US" altLang="ko-KR" sz="950" dirty="0" smtClean="0">
                <a:latin typeface="Times New Roman" pitchFamily="18" charset="0"/>
                <a:cs typeface="Times New Roman" pitchFamily="18" charset="0"/>
              </a:rPr>
              <a:t>, ô </a:t>
            </a:r>
            <a:r>
              <a:rPr lang="en-US" altLang="ko-KR" sz="950" dirty="0" err="1" smtClean="0">
                <a:latin typeface="Times New Roman" pitchFamily="18" charset="0"/>
                <a:cs typeface="Times New Roman" pitchFamily="18" charset="0"/>
              </a:rPr>
              <a:t>nhiễm</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NG Seal,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tụ</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fontAlgn="b" hangingPunct="1"/>
            <a:r>
              <a:rPr lang="en-US" altLang="ko-KR" sz="950" smtClean="0">
                <a:latin typeface="Times New Roman" pitchFamily="18" charset="0"/>
                <a:cs typeface="Times New Roman" pitchFamily="18" charset="0"/>
              </a:rPr>
              <a:t>     A.</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Carbon</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dầu</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err="1">
                <a:latin typeface="Times New Roman" pitchFamily="18" charset="0"/>
                <a:cs typeface="Times New Roman" pitchFamily="18" charset="0"/>
              </a:rPr>
              <a:t>N</a:t>
            </a:r>
            <a:r>
              <a:rPr lang="en-US" altLang="ko-KR" sz="950" smtClean="0">
                <a:latin typeface="Times New Roman" pitchFamily="18" charset="0"/>
                <a:cs typeface="Times New Roman" pitchFamily="18" charset="0"/>
              </a:rPr>
              <a:t>ước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a:t>
            </a:r>
            <a:r>
              <a:rPr lang="en-US" altLang="ko-KR" sz="950" smtClean="0">
                <a:latin typeface="Times New Roman" pitchFamily="18" charset="0"/>
                <a:cs typeface="Times New Roman" pitchFamily="18" charset="0"/>
              </a:rPr>
              <a:t>ụi</a:t>
            </a:r>
            <a:endParaRPr lang="ko-KR" altLang="en-US" sz="950" dirty="0">
              <a:latin typeface="Times New Roman" pitchFamily="18" charset="0"/>
              <a:cs typeface="Times New Roman" pitchFamily="18" charset="0"/>
            </a:endParaRPr>
          </a:p>
        </p:txBody>
      </p:sp>
      <p:sp>
        <p:nvSpPr>
          <p:cNvPr id="34" name="Rectangle 121"/>
          <p:cNvSpPr>
            <a:spLocks noChangeArrowheads="1"/>
          </p:cNvSpPr>
          <p:nvPr/>
        </p:nvSpPr>
        <p:spPr bwMode="auto">
          <a:xfrm>
            <a:off x="260648" y="7473280"/>
            <a:ext cx="3133725"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thảo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bên</a:t>
            </a:r>
            <a:r>
              <a:rPr lang="en-US" altLang="ko-KR" sz="950" smtClean="0">
                <a:latin typeface="Times New Roman" pitchFamily="18" charset="0"/>
                <a:cs typeface="Times New Roman" pitchFamily="18" charset="0"/>
              </a:rPr>
              <a:t> ngoài,cần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thủy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smtClean="0">
                <a:latin typeface="Times New Roman" pitchFamily="18" charset="0"/>
                <a:cs typeface="Times New Roman" pitchFamily="18" charset="0"/>
              </a:rPr>
              <a:t>Do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hay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nhớt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so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thủy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smtClean="0">
                <a:latin typeface="Times New Roman" pitchFamily="18" charset="0"/>
                <a:cs typeface="Times New Roman" pitchFamily="18" charset="0"/>
              </a:rPr>
              <a:t>Do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đồng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sảy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ảnh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hưởng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smtClean="0">
                <a:latin typeface="Times New Roman" pitchFamily="18" charset="0"/>
                <a:cs typeface="Times New Roman" pitchFamily="18" charset="0"/>
              </a:rPr>
              <a:t>Ở </a:t>
            </a:r>
            <a:r>
              <a:rPr lang="en-US" altLang="ko-KR" sz="950" dirty="0" err="1" smtClean="0">
                <a:latin typeface="Times New Roman" pitchFamily="18" charset="0"/>
                <a:cs typeface="Times New Roman" pitchFamily="18" charset="0"/>
              </a:rPr>
              <a:t>khía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di </a:t>
            </a:r>
            <a:r>
              <a:rPr lang="en-US" altLang="ko-KR" sz="950" dirty="0" err="1" smtClean="0">
                <a:latin typeface="Times New Roman" pitchFamily="18" charset="0"/>
                <a:cs typeface="Times New Roman" pitchFamily="18" charset="0"/>
              </a:rPr>
              <a:t>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ảnh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hưởng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5" name="Rectangle 7"/>
          <p:cNvSpPr>
            <a:spLocks noChangeArrowheads="1"/>
          </p:cNvSpPr>
          <p:nvPr/>
        </p:nvSpPr>
        <p:spPr bwMode="auto">
          <a:xfrm>
            <a:off x="3429000" y="1136576"/>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57</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nào</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OOOO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nguồn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máy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hoặc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thiết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Còn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chia </a:t>
            </a:r>
            <a:r>
              <a:rPr lang="en-US" altLang="ko-KR" sz="950" dirty="0" err="1" smtClean="0">
                <a:latin typeface="Times New Roman" pitchFamily="18" charset="0"/>
                <a:ea typeface="돋움" pitchFamily="50" charset="-127"/>
                <a:cs typeface="Times New Roman" pitchFamily="18" charset="0"/>
              </a:rPr>
              <a:t>làm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đặt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xưởng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nhánh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nối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máy</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xả</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Ố</a:t>
            </a:r>
            <a:r>
              <a:rPr lang="en-US" altLang="ko-KR" sz="950" smtClean="0">
                <a:latin typeface="Times New Roman" pitchFamily="18" charset="0"/>
                <a:ea typeface="돋움" pitchFamily="50" charset="-127"/>
                <a:cs typeface="Times New Roman" pitchFamily="18" charset="0"/>
              </a:rPr>
              <a:t>ng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khí</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Ống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khiển</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hút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endParaRPr lang="ko-KR" altLang="en-US" sz="950" dirty="0">
              <a:latin typeface="Times New Roman" pitchFamily="18" charset="0"/>
              <a:ea typeface="돋움" pitchFamily="50" charset="-127"/>
              <a:cs typeface="Times New Roman" pitchFamily="18" charset="0"/>
            </a:endParaRPr>
          </a:p>
        </p:txBody>
      </p:sp>
      <p:grpSp>
        <p:nvGrpSpPr>
          <p:cNvPr id="36" name="Group 35"/>
          <p:cNvGrpSpPr/>
          <p:nvPr/>
        </p:nvGrpSpPr>
        <p:grpSpPr>
          <a:xfrm>
            <a:off x="3458765" y="3080792"/>
            <a:ext cx="3138885" cy="1408078"/>
            <a:chOff x="3458765" y="1161871"/>
            <a:chExt cx="3138885" cy="1408078"/>
          </a:xfrm>
        </p:grpSpPr>
        <p:sp>
          <p:nvSpPr>
            <p:cNvPr id="37" name="Rectangle 23"/>
            <p:cNvSpPr>
              <a:spLocks noChangeArrowheads="1"/>
            </p:cNvSpPr>
            <p:nvPr/>
          </p:nvSpPr>
          <p:spPr bwMode="auto">
            <a:xfrm>
              <a:off x="3473450" y="1161871"/>
              <a:ext cx="312420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58</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dirty="0">
                  <a:latin typeface="Times New Roman" pitchFamily="18" charset="0"/>
                  <a:cs typeface="Times New Roman" pitchFamily="18" charset="0"/>
                </a:rPr>
                <a:t> </a:t>
              </a: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Cylinder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đơn</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đôi</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C</a:t>
              </a:r>
              <a:r>
                <a:rPr lang="en-US" altLang="ko-KR" sz="950" smtClean="0">
                  <a:latin typeface="Times New Roman" pitchFamily="18" charset="0"/>
                  <a:cs typeface="Times New Roman" pitchFamily="18" charset="0"/>
                </a:rPr>
                <a:t>ylinder </a:t>
              </a:r>
              <a:r>
                <a:rPr lang="en-US" altLang="ko-KR" sz="950">
                  <a:latin typeface="Times New Roman" pitchFamily="18" charset="0"/>
                  <a:cs typeface="Times New Roman" pitchFamily="18" charset="0"/>
                </a:rPr>
                <a:t>Diaphragm </a:t>
              </a:r>
              <a:r>
                <a:rPr lang="en-US" altLang="ko-KR" sz="950" smtClean="0">
                  <a:latin typeface="Times New Roman" pitchFamily="18" charset="0"/>
                  <a:cs typeface="Times New Roman" pitchFamily="18" charset="0"/>
                </a:rPr>
                <a:t>                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Cylinder Tandem</a:t>
              </a:r>
              <a:endParaRPr lang="ko-KR" altLang="en-US" sz="950" dirty="0">
                <a:latin typeface="Times New Roman" pitchFamily="18" charset="0"/>
                <a:cs typeface="Times New Roman" pitchFamily="18" charset="0"/>
              </a:endParaRPr>
            </a:p>
          </p:txBody>
        </p:sp>
        <p:sp>
          <p:nvSpPr>
            <p:cNvPr id="38" name="Rectangle 24"/>
            <p:cNvSpPr>
              <a:spLocks noChangeArrowheads="1"/>
            </p:cNvSpPr>
            <p:nvPr/>
          </p:nvSpPr>
          <p:spPr bwMode="auto">
            <a:xfrm>
              <a:off x="3458765" y="1371600"/>
              <a:ext cx="3094435" cy="641349"/>
            </a:xfrm>
            <a:prstGeom prst="rect">
              <a:avLst/>
            </a:prstGeom>
            <a:noFill/>
            <a:ln w="9525">
              <a:solidFill>
                <a:srgbClr val="80808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này</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thước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cấu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trúc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so </a:t>
              </a:r>
            </a:p>
            <a:p>
              <a:pPr eaLnBrk="1" hangingPunct="1"/>
              <a:r>
                <a:rPr lang="en-US" altLang="ko-KR" sz="950" dirty="0" err="1">
                  <a:latin typeface="Times New Roman" pitchFamily="18" charset="0"/>
                  <a:ea typeface="돋움" pitchFamily="50" charset="-127"/>
                  <a:cs typeface="Times New Roman" pitchFamily="18" charset="0"/>
                </a:rPr>
                <a:t>v</a:t>
              </a:r>
              <a:r>
                <a:rPr lang="en-US" altLang="ko-KR" sz="950" dirty="0" err="1" smtClean="0">
                  <a:latin typeface="Times New Roman" pitchFamily="18" charset="0"/>
                  <a:ea typeface="돋움" pitchFamily="50" charset="-127"/>
                  <a:cs typeface="Times New Roman" pitchFamily="18" charset="0"/>
                </a:rPr>
                <a:t>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pittong</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việc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đặt</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p>
            <a:p>
              <a:pPr eaLnBrk="1" hangingPunct="1"/>
              <a:r>
                <a:rPr lang="en-US" altLang="ko-KR" sz="950" dirty="0" err="1">
                  <a:latin typeface="Times New Roman" pitchFamily="18" charset="0"/>
                  <a:ea typeface="돋움" pitchFamily="50" charset="-127"/>
                  <a:cs typeface="Times New Roman" pitchFamily="18" charset="0"/>
                </a:rPr>
                <a:t>d</a:t>
              </a:r>
              <a:r>
                <a:rPr lang="en-US" altLang="ko-KR" sz="950" dirty="0" err="1" smtClean="0">
                  <a:latin typeface="Times New Roman" pitchFamily="18" charset="0"/>
                  <a:ea typeface="돋움" pitchFamily="50" charset="-127"/>
                  <a:cs typeface="Times New Roman" pitchFamily="18" charset="0"/>
                </a:rPr>
                <a:t>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clamping.</a:t>
              </a:r>
              <a:r>
                <a:rPr lang="en-US" altLang="ko-KR" sz="950" dirty="0">
                  <a:latin typeface="Times New Roman" pitchFamily="18" charset="0"/>
                  <a:ea typeface="돋움" pitchFamily="50" charset="-127"/>
                  <a:cs typeface="Times New Roman" pitchFamily="18" charset="0"/>
                </a:rPr>
                <a:t> </a:t>
              </a:r>
            </a:p>
            <a:p>
              <a:pPr eaLnBrk="1" hangingPunct="1"/>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tối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5[㎜] </a:t>
              </a:r>
              <a:endParaRPr lang="ko-KR" altLang="en-US" sz="950" dirty="0">
                <a:latin typeface="Times New Roman" pitchFamily="18" charset="0"/>
                <a:ea typeface="돋움" pitchFamily="50" charset="-127"/>
                <a:cs typeface="Times New Roman" pitchFamily="18" charset="0"/>
              </a:endParaRPr>
            </a:p>
          </p:txBody>
        </p:sp>
      </p:grpSp>
      <p:grpSp>
        <p:nvGrpSpPr>
          <p:cNvPr id="41" name="Group 40"/>
          <p:cNvGrpSpPr/>
          <p:nvPr/>
        </p:nvGrpSpPr>
        <p:grpSpPr>
          <a:xfrm>
            <a:off x="3429000" y="5366943"/>
            <a:ext cx="3190082" cy="2285241"/>
            <a:chOff x="3429000" y="2771775"/>
            <a:chExt cx="3190082" cy="2285241"/>
          </a:xfrm>
        </p:grpSpPr>
        <p:sp>
          <p:nvSpPr>
            <p:cNvPr id="42" name="Rectangle 26"/>
            <p:cNvSpPr>
              <a:spLocks noChangeArrowheads="1"/>
            </p:cNvSpPr>
            <p:nvPr/>
          </p:nvSpPr>
          <p:spPr bwMode="auto">
            <a:xfrm>
              <a:off x="3429000" y="2771775"/>
              <a:ext cx="319008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59</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dấu</a:t>
              </a:r>
              <a:r>
                <a:rPr lang="en-US" altLang="ko-KR" sz="950" smtClean="0">
                  <a:latin typeface="Times New Roman" pitchFamily="18" charset="0"/>
                  <a:ea typeface="돋움" pitchFamily="50" charset="-127"/>
                  <a:cs typeface="Times New Roman" pitchFamily="18" charset="0"/>
                </a:rPr>
                <a:t> (?) </a:t>
              </a:r>
              <a:r>
                <a:rPr lang="en-US" altLang="ko-KR" sz="950" dirty="0" err="1">
                  <a:latin typeface="Times New Roman" pitchFamily="18" charset="0"/>
                  <a:ea typeface="돋움" pitchFamily="50" charset="-127"/>
                  <a:cs typeface="Times New Roman" pitchFamily="18" charset="0"/>
                </a:rPr>
                <a:t>t</a:t>
              </a:r>
              <a:r>
                <a:rPr lang="en-US" altLang="ko-KR" sz="950" dirty="0" err="1" smtClean="0">
                  <a:latin typeface="Times New Roman" pitchFamily="18" charset="0"/>
                  <a:ea typeface="돋움" pitchFamily="50" charset="-127"/>
                  <a:cs typeface="Times New Roman" pitchFamily="18" charset="0"/>
                </a:rPr>
                <a: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smtClean="0">
                  <a:latin typeface="Times New Roman" panose="02020603050405020304" pitchFamily="18" charset="0"/>
                  <a:cs typeface="Times New Roman" panose="02020603050405020304" pitchFamily="18" charset="0"/>
                </a:rPr>
                <a:t>Vòng làm kín</a:t>
              </a:r>
              <a:r>
                <a:rPr lang="ko-KR" altLang="en-US" sz="950" smtClean="0">
                  <a:latin typeface="Times New Roman" panose="02020603050405020304" pitchFamily="18" charset="0"/>
                  <a:cs typeface="Times New Roman" panose="02020603050405020304"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Đệm giảm chấn</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anose="02020603050405020304" pitchFamily="18" charset="0"/>
                  <a:cs typeface="Times New Roman" panose="02020603050405020304" pitchFamily="18" charset="0"/>
                </a:rPr>
                <a:t>Piston</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Vòng giảm chấn</a:t>
              </a:r>
              <a:endParaRPr lang="ko-KR" altLang="en-US" sz="950" dirty="0">
                <a:latin typeface="Times New Roman" pitchFamily="18" charset="0"/>
                <a:ea typeface="돋움" pitchFamily="50" charset="-127"/>
                <a:cs typeface="Times New Roman" pitchFamily="18" charset="0"/>
              </a:endParaRPr>
            </a:p>
          </p:txBody>
        </p:sp>
        <p:grpSp>
          <p:nvGrpSpPr>
            <p:cNvPr id="43" name="Group 27"/>
            <p:cNvGrpSpPr>
              <a:grpSpLocks/>
            </p:cNvGrpSpPr>
            <p:nvPr/>
          </p:nvGrpSpPr>
          <p:grpSpPr bwMode="auto">
            <a:xfrm>
              <a:off x="3657600" y="3053780"/>
              <a:ext cx="2537934" cy="1343277"/>
              <a:chOff x="2215" y="4481"/>
              <a:chExt cx="1834" cy="984"/>
            </a:xfrm>
          </p:grpSpPr>
          <p:pic>
            <p:nvPicPr>
              <p:cNvPr id="44"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5" y="4481"/>
                <a:ext cx="1834"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29"/>
              <p:cNvSpPr txBox="1">
                <a:spLocks noChangeArrowheads="1"/>
              </p:cNvSpPr>
              <p:nvPr/>
            </p:nvSpPr>
            <p:spPr bwMode="auto">
              <a:xfrm>
                <a:off x="2777" y="5290"/>
                <a:ext cx="279"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a:latin typeface="Times New Roman" pitchFamily="18" charset="0"/>
                    <a:ea typeface="돋움" pitchFamily="50" charset="-127"/>
                    <a:cs typeface="Times New Roman" pitchFamily="18" charset="0"/>
                  </a:rPr>
                  <a:t>( ? )</a:t>
                </a:r>
              </a:p>
            </p:txBody>
          </p:sp>
        </p:grpSp>
      </p:grpSp>
      <p:sp>
        <p:nvSpPr>
          <p:cNvPr id="46" name="Rectangle 34"/>
          <p:cNvSpPr>
            <a:spLocks noChangeArrowheads="1"/>
          </p:cNvSpPr>
          <p:nvPr/>
        </p:nvSpPr>
        <p:spPr bwMode="auto">
          <a:xfrm>
            <a:off x="3429000" y="795933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phương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phù</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hợp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 </a:t>
            </a:r>
            <a:r>
              <a:rPr lang="en-US" altLang="ko-KR" sz="950" dirty="0" err="1" smtClean="0">
                <a:latin typeface="Times New Roman" pitchFamily="18" charset="0"/>
                <a:ea typeface="돋움" pitchFamily="50" charset="-127"/>
                <a:cs typeface="Times New Roman" pitchFamily="18" charset="0"/>
              </a:rPr>
              <a:t>Phụ</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tịnh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chắc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chắt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trục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tâm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hướng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tải</a:t>
            </a:r>
            <a:r>
              <a:rPr lang="en-US" altLang="ko-KR"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smtClean="0">
                <a:latin typeface="Times New Roman" pitchFamily="18" charset="0"/>
                <a:ea typeface="돋움" pitchFamily="50" charset="-127"/>
                <a:cs typeface="Times New Roman" pitchFamily="18" charset="0"/>
              </a:rPr>
              <a:t>Foot </a:t>
            </a:r>
            <a:r>
              <a:rPr lang="en-US" altLang="ko-KR" sz="950" smtClean="0">
                <a:latin typeface="Times New Roman" pitchFamily="18" charset="0"/>
                <a:ea typeface="돋움" pitchFamily="50" charset="-127"/>
                <a:cs typeface="Times New Roman" pitchFamily="18" charset="0"/>
              </a:rPr>
              <a:t>Type</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F</a:t>
            </a:r>
            <a:r>
              <a:rPr lang="en-US" altLang="ko-KR" sz="950" smtClean="0">
                <a:latin typeface="Times New Roman" pitchFamily="18" charset="0"/>
                <a:ea typeface="돋움" pitchFamily="50" charset="-127"/>
                <a:cs typeface="Times New Roman" pitchFamily="18" charset="0"/>
              </a:rPr>
              <a:t>lange </a:t>
            </a:r>
            <a:r>
              <a:rPr lang="en-US" altLang="ko-KR" sz="950" dirty="0" smtClean="0">
                <a:latin typeface="Times New Roman" pitchFamily="18" charset="0"/>
                <a:ea typeface="돋움" pitchFamily="50" charset="-127"/>
                <a:cs typeface="Times New Roman" pitchFamily="18" charset="0"/>
              </a:rPr>
              <a:t>type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L</a:t>
            </a:r>
            <a:r>
              <a:rPr lang="en-US" altLang="ko-KR" sz="950" smtClean="0">
                <a:latin typeface="Times New Roman" pitchFamily="18" charset="0"/>
                <a:ea typeface="돋움" pitchFamily="50" charset="-127"/>
                <a:cs typeface="Times New Roman" pitchFamily="18" charset="0"/>
              </a:rPr>
              <a:t>oại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chữ</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U</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L</a:t>
            </a:r>
            <a:r>
              <a:rPr lang="en-US" altLang="ko-KR" sz="950" smtClean="0">
                <a:latin typeface="Times New Roman" pitchFamily="18" charset="0"/>
                <a:ea typeface="돋움" pitchFamily="50" charset="-127"/>
                <a:cs typeface="Times New Roman" pitchFamily="18" charset="0"/>
              </a:rPr>
              <a:t>oại </a:t>
            </a:r>
            <a:r>
              <a:rPr lang="en-US" altLang="ko-KR" sz="950" dirty="0" err="1" smtClean="0">
                <a:latin typeface="Times New Roman" pitchFamily="18" charset="0"/>
                <a:ea typeface="돋움" pitchFamily="50" charset="-127"/>
                <a:cs typeface="Times New Roman" pitchFamily="18" charset="0"/>
              </a:rPr>
              <a:t>trục</a:t>
            </a:r>
            <a:r>
              <a:rPr lang="en-US" altLang="ko-KR" sz="950" dirty="0" smtClean="0">
                <a:latin typeface="Times New Roman" pitchFamily="18" charset="0"/>
                <a:ea typeface="돋움" pitchFamily="50" charset="-127"/>
                <a:cs typeface="Times New Roman" pitchFamily="18" charset="0"/>
              </a:rPr>
              <a:t> quay</a:t>
            </a:r>
            <a:endParaRPr lang="ko-KR" altLang="en-US" sz="950" dirty="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42109736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Trong tiêu chuẩn công nghiệp của Hàn Quốc có bao nhiêu ngành </a:t>
            </a:r>
            <a:r>
              <a:rPr lang="vi-VN" altLang="ko-KR" sz="950" smtClean="0">
                <a:latin typeface="Times New Roman" pitchFamily="18" charset="0"/>
                <a:ea typeface="LG Smart_H Regular" panose="020B0600000101010101" pitchFamily="34" charset="-127"/>
                <a:cs typeface="Times New Roman" pitchFamily="18" charset="0"/>
              </a:rPr>
              <a:t>nghề?</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15</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20</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25</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Trục nào cần phải quan tâm đến cả độ mài mòn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Spindl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Arbor</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Transmission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Axle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Chốt dùng để cố định ốc sau khi nối bolt với nut.Sau khi khoan lỗ trên bolt, gắn chốt pin và tách hai đầu chốt ra.Vậy loại nào đang được nhắc </a:t>
            </a:r>
            <a:r>
              <a:rPr lang="vi-VN" altLang="ko-KR" sz="950" smtClean="0">
                <a:latin typeface="Times New Roman" pitchFamily="18" charset="0"/>
                <a:ea typeface="LG Smart_H Regular" panose="020B0600000101010101" pitchFamily="34" charset="-127"/>
                <a:cs typeface="Times New Roman" pitchFamily="18" charset="0"/>
              </a:rPr>
              <a:t>tới?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Chốt </a:t>
            </a:r>
            <a:r>
              <a:rPr lang="vi-VN" altLang="ko-KR" sz="950">
                <a:latin typeface="Times New Roman" pitchFamily="18" charset="0"/>
                <a:ea typeface="LG Smart_H Regular" panose="020B0600000101010101" pitchFamily="34" charset="-127"/>
                <a:cs typeface="Times New Roman" pitchFamily="18" charset="0"/>
              </a:rPr>
              <a:t>hãm(split pin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Chốt côn(taper pin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Chốt bình hành(parallel pin</a:t>
            </a:r>
            <a:r>
              <a:rPr lang="fr-FR"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Knuckle pin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Máy giảm tốc nào có cấu tạo vỏ ngoài khép kín nên ngăn chặn được bụi bẩn từ bên </a:t>
            </a:r>
            <a:r>
              <a:rPr lang="vi-VN" altLang="ko-KR" sz="950" smtClean="0">
                <a:latin typeface="Times New Roman" pitchFamily="18" charset="0"/>
                <a:ea typeface="LG Smart_H Regular" panose="020B0600000101010101" pitchFamily="34" charset="-127"/>
                <a:cs typeface="Times New Roman" pitchFamily="18" charset="0"/>
              </a:rPr>
              <a:t>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giảm tốc </a:t>
            </a:r>
            <a:r>
              <a:rPr lang="vi-VN" altLang="ko-KR" sz="950" smtClean="0">
                <a:latin typeface="Times New Roman" pitchFamily="18" charset="0"/>
                <a:ea typeface="LG Smart_H Regular" panose="020B0600000101010101" pitchFamily="34" charset="-127"/>
                <a:cs typeface="Times New Roman" pitchFamily="18" charset="0"/>
              </a:rPr>
              <a:t>Cyclo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giảm tốc </a:t>
            </a:r>
            <a:r>
              <a:rPr lang="vi-VN" altLang="ko-KR" sz="950" smtClean="0">
                <a:latin typeface="Times New Roman" pitchFamily="18" charset="0"/>
                <a:ea typeface="LG Smart_H Regular" panose="020B0600000101010101" pitchFamily="34" charset="-127"/>
                <a:cs typeface="Times New Roman" pitchFamily="18" charset="0"/>
              </a:rPr>
              <a:t>RV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giảm tốc bánh răng hành </a:t>
            </a:r>
            <a:r>
              <a:rPr lang="vi-VN" altLang="ko-KR" sz="950" smtClean="0">
                <a:latin typeface="Times New Roman" pitchFamily="18" charset="0"/>
                <a:ea typeface="LG Smart_H Regular" panose="020B0600000101010101" pitchFamily="34" charset="-127"/>
                <a:cs typeface="Times New Roman" pitchFamily="18" charset="0"/>
              </a:rPr>
              <a:t>tinh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Harmonic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5" name="Rectangle 7"/>
          <p:cNvSpPr>
            <a:spLocks noChangeArrowheads="1"/>
          </p:cNvSpPr>
          <p:nvPr/>
        </p:nvSpPr>
        <p:spPr bwMode="auto">
          <a:xfrm>
            <a:off x="3379882"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Hình nào là </a:t>
            </a:r>
            <a:r>
              <a:rPr lang="en-US" altLang="ko-KR" sz="950">
                <a:latin typeface="Times New Roman" pitchFamily="18" charset="0"/>
                <a:ea typeface="LG Smart_H Regular" panose="020B0600000101010101" pitchFamily="34" charset="-127"/>
                <a:cs typeface="Times New Roman" pitchFamily="18" charset="0"/>
              </a:rPr>
              <a:t>Ball Spline dạng Straight-sided </a:t>
            </a:r>
            <a:r>
              <a:rPr lang="en-US" altLang="ko-KR" sz="950" smtClean="0">
                <a:latin typeface="Times New Roman" pitchFamily="18" charset="0"/>
                <a:ea typeface="LG Smart_H Regular" panose="020B0600000101010101" pitchFamily="34" charset="-127"/>
                <a:cs typeface="Times New Roman" pitchFamily="18" charset="0"/>
              </a:rPr>
              <a:t>spline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Phân loại theo phương thức chế tạo Ball Screw thì có tất cả mấy </a:t>
            </a:r>
            <a:r>
              <a:rPr lang="vi-VN" altLang="ko-KR" sz="950" smtClean="0">
                <a:latin typeface="Times New Roman" pitchFamily="18" charset="0"/>
                <a:ea typeface="LG Smart_H Regular" panose="020B0600000101010101" pitchFamily="34" charset="-127"/>
                <a:cs typeface="Times New Roman" pitchFamily="18" charset="0"/>
              </a:rPr>
              <a:t>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a:t>
            </a:r>
            <a:r>
              <a:rPr lang="vi-VN" altLang="ko-KR" sz="950" smtClean="0">
                <a:latin typeface="Times New Roman" pitchFamily="18" charset="0"/>
                <a:ea typeface="LG Smart_H Regular" panose="020B0600000101010101" pitchFamily="34" charset="-127"/>
                <a:cs typeface="Times New Roman" pitchFamily="18" charset="0"/>
              </a:rPr>
              <a:t>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 loại</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a:t>
            </a:r>
            <a:r>
              <a:rPr lang="vi-VN" altLang="ko-KR" sz="950" smtClean="0">
                <a:latin typeface="Times New Roman" pitchFamily="18" charset="0"/>
                <a:ea typeface="LG Smart_H Regular" panose="020B0600000101010101" pitchFamily="34" charset="-127"/>
                <a:cs typeface="Times New Roman" pitchFamily="18" charset="0"/>
              </a:rPr>
              <a:t> 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4</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7946122"/>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Loại mỡ sử dụng nhiều nhất trong phòng </a:t>
            </a:r>
            <a:r>
              <a:rPr lang="vi-VN" altLang="ko-KR" sz="950" smtClean="0">
                <a:latin typeface="Times New Roman" pitchFamily="18" charset="0"/>
                <a:ea typeface="LG Smart_H Regular" panose="020B0600000101010101" pitchFamily="34" charset="-127"/>
                <a:cs typeface="Times New Roman" pitchFamily="18" charset="0"/>
              </a:rPr>
              <a:t>sạch?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AFE</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AFF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DR-07</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DSF-3000</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6" name="Group 5"/>
          <p:cNvGrpSpPr/>
          <p:nvPr/>
        </p:nvGrpSpPr>
        <p:grpSpPr>
          <a:xfrm>
            <a:off x="204048" y="4376936"/>
            <a:ext cx="3180502" cy="969496"/>
            <a:chOff x="204048" y="4376936"/>
            <a:chExt cx="3180502" cy="969496"/>
          </a:xfrm>
        </p:grpSpPr>
        <p:sp>
          <p:nvSpPr>
            <p:cNvPr id="38" name="Rectangle 7"/>
            <p:cNvSpPr>
              <a:spLocks noChangeArrowheads="1"/>
            </p:cNvSpPr>
            <p:nvPr/>
          </p:nvSpPr>
          <p:spPr bwMode="auto">
            <a:xfrm>
              <a:off x="204048" y="4376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Hình ảnh của vòng bi sau đây có tên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Angular </a:t>
              </a:r>
              <a:r>
                <a:rPr lang="vi-VN" altLang="ko-KR" sz="950">
                  <a:latin typeface="Times New Roman" pitchFamily="18" charset="0"/>
                  <a:ea typeface="LG Smart_H Regular" panose="020B0600000101010101" pitchFamily="34" charset="-127"/>
                  <a:cs typeface="Times New Roman" pitchFamily="18" charset="0"/>
                </a:rPr>
                <a:t>ball bearing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smtClean="0">
                  <a:latin typeface="Times New Roman" pitchFamily="18" charset="0"/>
                  <a:ea typeface="LG Smart_H Regular" panose="020B0600000101010101" pitchFamily="34" charset="-127"/>
                  <a:cs typeface="Times New Roman" pitchFamily="18" charset="0"/>
                </a:rPr>
                <a:t>Self-aligning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Single row deep groove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Magneto ball bearing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9" name="Picture 28"/>
            <p:cNvPicPr>
              <a:picLocks noChangeAspect="1"/>
            </p:cNvPicPr>
            <p:nvPr/>
          </p:nvPicPr>
          <p:blipFill>
            <a:blip r:embed="rId3"/>
            <a:stretch>
              <a:fillRect/>
            </a:stretch>
          </p:blipFill>
          <p:spPr>
            <a:xfrm>
              <a:off x="2060848" y="4625042"/>
              <a:ext cx="903054" cy="721390"/>
            </a:xfrm>
            <a:prstGeom prst="rect">
              <a:avLst/>
            </a:prstGeom>
          </p:spPr>
        </p:pic>
      </p:grpSp>
      <p:grpSp>
        <p:nvGrpSpPr>
          <p:cNvPr id="8" name="Group 7"/>
          <p:cNvGrpSpPr/>
          <p:nvPr/>
        </p:nvGrpSpPr>
        <p:grpSpPr>
          <a:xfrm>
            <a:off x="228600" y="6071736"/>
            <a:ext cx="3180502" cy="1047953"/>
            <a:chOff x="228600" y="6071736"/>
            <a:chExt cx="3180502" cy="1047953"/>
          </a:xfrm>
        </p:grpSpPr>
        <p:sp>
          <p:nvSpPr>
            <p:cNvPr id="40" name="Rectangle 7"/>
            <p:cNvSpPr>
              <a:spLocks noChangeArrowheads="1"/>
            </p:cNvSpPr>
            <p:nvPr/>
          </p:nvSpPr>
          <p:spPr bwMode="auto">
            <a:xfrm>
              <a:off x="228600"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Hình ảnh của khớp nối của hình dưới đây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Flange 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Coupling cao </a:t>
              </a:r>
              <a:r>
                <a:rPr lang="en-US" altLang="ko-KR" sz="950" smtClean="0">
                  <a:latin typeface="Times New Roman" pitchFamily="18" charset="0"/>
                  <a:ea typeface="LG Smart_H Regular" panose="020B0600000101010101" pitchFamily="34" charset="-127"/>
                  <a:cs typeface="Times New Roman" pitchFamily="18" charset="0"/>
                </a:rPr>
                <a:t>su</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Gear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Serration Couplingl</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1" name="Picture 30"/>
            <p:cNvPicPr>
              <a:picLocks noChangeAspect="1"/>
            </p:cNvPicPr>
            <p:nvPr/>
          </p:nvPicPr>
          <p:blipFill>
            <a:blip r:embed="rId4"/>
            <a:stretch>
              <a:fillRect/>
            </a:stretch>
          </p:blipFill>
          <p:spPr>
            <a:xfrm>
              <a:off x="2060848" y="6328553"/>
              <a:ext cx="1094804" cy="791136"/>
            </a:xfrm>
            <a:prstGeom prst="rect">
              <a:avLst/>
            </a:prstGeom>
          </p:spPr>
        </p:pic>
      </p:grpSp>
      <p:grpSp>
        <p:nvGrpSpPr>
          <p:cNvPr id="10" name="Group 9"/>
          <p:cNvGrpSpPr/>
          <p:nvPr/>
        </p:nvGrpSpPr>
        <p:grpSpPr>
          <a:xfrm>
            <a:off x="163885" y="7871936"/>
            <a:ext cx="3180502" cy="969496"/>
            <a:chOff x="163885" y="7871936"/>
            <a:chExt cx="3180502" cy="969496"/>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Hình ảnh của chốt ( Pin)  trong hình bên dưới gọi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Knuckle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Chốt côn(taper pin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Spring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Chốt hãm(split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3" name="Picture 32"/>
            <p:cNvPicPr>
              <a:picLocks noChangeAspect="1"/>
            </p:cNvPicPr>
            <p:nvPr/>
          </p:nvPicPr>
          <p:blipFill>
            <a:blip r:embed="rId5"/>
            <a:stretch>
              <a:fillRect/>
            </a:stretch>
          </p:blipFill>
          <p:spPr>
            <a:xfrm>
              <a:off x="1987193" y="8121352"/>
              <a:ext cx="1081767" cy="649060"/>
            </a:xfrm>
            <a:prstGeom prst="rect">
              <a:avLst/>
            </a:prstGeom>
          </p:spPr>
        </p:pic>
      </p:grpSp>
      <p:grpSp>
        <p:nvGrpSpPr>
          <p:cNvPr id="11" name="Group 10"/>
          <p:cNvGrpSpPr/>
          <p:nvPr/>
        </p:nvGrpSpPr>
        <p:grpSpPr>
          <a:xfrm>
            <a:off x="4012953" y="6284283"/>
            <a:ext cx="2004858" cy="890333"/>
            <a:chOff x="4012953" y="6284283"/>
            <a:chExt cx="2004858" cy="890333"/>
          </a:xfrm>
        </p:grpSpPr>
        <p:pic>
          <p:nvPicPr>
            <p:cNvPr id="35" name="Picture 34"/>
            <p:cNvPicPr>
              <a:picLocks noChangeAspect="1"/>
            </p:cNvPicPr>
            <p:nvPr/>
          </p:nvPicPr>
          <p:blipFill>
            <a:blip r:embed="rId6"/>
            <a:stretch>
              <a:fillRect/>
            </a:stretch>
          </p:blipFill>
          <p:spPr>
            <a:xfrm>
              <a:off x="4012953" y="6284283"/>
              <a:ext cx="544693" cy="424748"/>
            </a:xfrm>
            <a:prstGeom prst="rect">
              <a:avLst/>
            </a:prstGeom>
          </p:spPr>
        </p:pic>
        <p:pic>
          <p:nvPicPr>
            <p:cNvPr id="36" name="Picture 35"/>
            <p:cNvPicPr>
              <a:picLocks noChangeAspect="1"/>
            </p:cNvPicPr>
            <p:nvPr/>
          </p:nvPicPr>
          <p:blipFill>
            <a:blip r:embed="rId7"/>
            <a:stretch>
              <a:fillRect/>
            </a:stretch>
          </p:blipFill>
          <p:spPr>
            <a:xfrm>
              <a:off x="5595610" y="6724121"/>
              <a:ext cx="422201" cy="418567"/>
            </a:xfrm>
            <a:prstGeom prst="rect">
              <a:avLst/>
            </a:prstGeom>
          </p:spPr>
        </p:pic>
        <p:pic>
          <p:nvPicPr>
            <p:cNvPr id="53" name="Picture 52"/>
            <p:cNvPicPr>
              <a:picLocks noChangeAspect="1"/>
            </p:cNvPicPr>
            <p:nvPr/>
          </p:nvPicPr>
          <p:blipFill>
            <a:blip r:embed="rId8"/>
            <a:stretch>
              <a:fillRect/>
            </a:stretch>
          </p:blipFill>
          <p:spPr>
            <a:xfrm>
              <a:off x="4073521" y="6756049"/>
              <a:ext cx="423556" cy="418567"/>
            </a:xfrm>
            <a:prstGeom prst="rect">
              <a:avLst/>
            </a:prstGeom>
          </p:spPr>
        </p:pic>
        <p:pic>
          <p:nvPicPr>
            <p:cNvPr id="54" name="Picture 53"/>
            <p:cNvPicPr>
              <a:picLocks noChangeAspect="1"/>
            </p:cNvPicPr>
            <p:nvPr/>
          </p:nvPicPr>
          <p:blipFill>
            <a:blip r:embed="rId9"/>
            <a:stretch>
              <a:fillRect/>
            </a:stretch>
          </p:blipFill>
          <p:spPr>
            <a:xfrm>
              <a:off x="5536809" y="6284283"/>
              <a:ext cx="420809" cy="406204"/>
            </a:xfrm>
            <a:prstGeom prst="rect">
              <a:avLst/>
            </a:prstGeom>
          </p:spPr>
        </p:pic>
      </p:grpSp>
    </p:spTree>
    <p:extLst>
      <p:ext uri="{BB962C8B-B14F-4D97-AF65-F5344CB8AC3E}">
        <p14:creationId xmlns:p14="http://schemas.microsoft.com/office/powerpoint/2010/main" val="18118915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228600" y="809164"/>
            <a:ext cx="3215481"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grpSp>
        <p:nvGrpSpPr>
          <p:cNvPr id="3" name="Group 2"/>
          <p:cNvGrpSpPr/>
          <p:nvPr/>
        </p:nvGrpSpPr>
        <p:grpSpPr>
          <a:xfrm>
            <a:off x="256445" y="4977432"/>
            <a:ext cx="3124200" cy="1055688"/>
            <a:chOff x="242433" y="3124274"/>
            <a:chExt cx="3124200" cy="1055688"/>
          </a:xfrm>
        </p:grpSpPr>
        <p:sp>
          <p:nvSpPr>
            <p:cNvPr id="33" name="Rectangle 36"/>
            <p:cNvSpPr>
              <a:spLocks noChangeArrowheads="1"/>
            </p:cNvSpPr>
            <p:nvPr/>
          </p:nvSpPr>
          <p:spPr bwMode="auto">
            <a:xfrm>
              <a:off x="242433" y="3124274"/>
              <a:ext cx="3124200" cy="95487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anose="02020603050405020304" pitchFamily="18" charset="0"/>
                  <a:cs typeface="Times New Roman" panose="02020603050405020304" pitchFamily="18" charset="0"/>
                </a:rPr>
                <a:t>7</a:t>
              </a:r>
              <a:r>
                <a:rPr lang="en-US" altLang="ko-KR" sz="950" smtClean="0">
                  <a:latin typeface="Times New Roman" panose="02020603050405020304" pitchFamily="18" charset="0"/>
                  <a:cs typeface="Times New Roman" panose="02020603050405020304" pitchFamily="18" charset="0"/>
                </a:rPr>
                <a:t>3. </a:t>
              </a:r>
              <a:r>
                <a:rPr lang="en-US" altLang="ko-KR" sz="950">
                  <a:latin typeface="Times New Roman" panose="02020603050405020304" pitchFamily="18" charset="0"/>
                  <a:cs typeface="Times New Roman" panose="02020603050405020304" pitchFamily="18" charset="0"/>
                </a:rPr>
                <a:t>Tên gọi của phần A ở hình sau là gì</a:t>
              </a:r>
              <a:r>
                <a:rPr lang="ko-KR" altLang="en-US" sz="950">
                  <a:latin typeface="Times New Roman" panose="02020603050405020304" pitchFamily="18" charset="0"/>
                  <a:cs typeface="Times New Roman" panose="02020603050405020304" pitchFamily="18" charset="0"/>
                </a:rPr>
                <a:t> </a:t>
              </a:r>
              <a:r>
                <a:rPr lang="en-US" altLang="ko-KR" sz="950" smtClean="0">
                  <a:latin typeface="Times New Roman" panose="02020603050405020304" pitchFamily="18" charset="0"/>
                  <a:cs typeface="Times New Roman" panose="02020603050405020304" pitchFamily="18" charset="0"/>
                </a:rPr>
                <a:t>?</a:t>
              </a:r>
              <a:endParaRPr lang="en-US" altLang="ko-KR" sz="950">
                <a:latin typeface="Times New Roman" panose="02020603050405020304" pitchFamily="18" charset="0"/>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a:latin typeface="Times New Roman" panose="02020603050405020304" pitchFamily="18" charset="0"/>
                  <a:ea typeface="돋움" pitchFamily="50" charset="-127"/>
                  <a:cs typeface="Times New Roman" panose="02020603050405020304" pitchFamily="18" charset="0"/>
                </a:rPr>
                <a:t>C</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cap</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B.</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Ống ngoài</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End </a:t>
              </a:r>
              <a:r>
                <a:rPr lang="en-US" altLang="ko-KR" sz="950">
                  <a:latin typeface="Times New Roman" panose="02020603050405020304" pitchFamily="18" charset="0"/>
                  <a:ea typeface="돋움" pitchFamily="50" charset="-127"/>
                  <a:cs typeface="Times New Roman" panose="02020603050405020304" pitchFamily="18" charset="0"/>
                </a:rPr>
                <a:t>Plate</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D.</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Base Plate</a:t>
              </a:r>
              <a:endParaRPr lang="ko-KR" altLang="en-US" sz="950">
                <a:latin typeface="Times New Roman" panose="02020603050405020304" pitchFamily="18" charset="0"/>
                <a:ea typeface="돋움" pitchFamily="50" charset="-127"/>
                <a:cs typeface="Times New Roman" panose="02020603050405020304" pitchFamily="18" charset="0"/>
              </a:endParaRPr>
            </a:p>
          </p:txBody>
        </p:sp>
        <p:grpSp>
          <p:nvGrpSpPr>
            <p:cNvPr id="34" name="Group 37"/>
            <p:cNvGrpSpPr>
              <a:grpSpLocks/>
            </p:cNvGrpSpPr>
            <p:nvPr/>
          </p:nvGrpSpPr>
          <p:grpSpPr bwMode="auto">
            <a:xfrm>
              <a:off x="1922008" y="3324299"/>
              <a:ext cx="1295400" cy="855663"/>
              <a:chOff x="1056" y="848"/>
              <a:chExt cx="816" cy="539"/>
            </a:xfrm>
          </p:grpSpPr>
          <p:sp>
            <p:nvSpPr>
              <p:cNvPr id="35"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anose="02020603050405020304" pitchFamily="18" charset="0"/>
                </a:endParaRPr>
              </a:p>
            </p:txBody>
          </p:sp>
          <p:pic>
            <p:nvPicPr>
              <p:cNvPr id="36"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anose="02020603050405020304" pitchFamily="18" charset="0"/>
                  </a:rPr>
                  <a:t>A</a:t>
                </a:r>
              </a:p>
            </p:txBody>
          </p:sp>
        </p:grpSp>
      </p:grpSp>
      <p:sp>
        <p:nvSpPr>
          <p:cNvPr id="39" name="Rectangle 11"/>
          <p:cNvSpPr>
            <a:spLocks noChangeArrowheads="1"/>
          </p:cNvSpPr>
          <p:nvPr/>
        </p:nvSpPr>
        <p:spPr bwMode="auto">
          <a:xfrm>
            <a:off x="260648" y="1245022"/>
            <a:ext cx="3186322"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Được gọi là động học cơ học.</a:t>
            </a:r>
          </a:p>
          <a:p>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40" name="Rectangle 18"/>
          <p:cNvSpPr>
            <a:spLocks noChangeArrowheads="1"/>
          </p:cNvSpPr>
          <p:nvPr/>
        </p:nvSpPr>
        <p:spPr bwMode="auto">
          <a:xfrm>
            <a:off x="228600" y="3413973"/>
            <a:ext cx="3133725"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72</a:t>
            </a:r>
            <a:r>
              <a:rPr lang="en-US" altLang="ko-KR" sz="950">
                <a:latin typeface="Times New Roman" pitchFamily="18" charset="0"/>
                <a:ea typeface="돋움" pitchFamily="50" charset="-127"/>
                <a:cs typeface="Times New Roman" pitchFamily="18" charset="0"/>
              </a:rPr>
              <a:t>. Trục có chiều dài ngắn hơn so với đường kính là trục?</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Arbor       B</a:t>
            </a:r>
            <a:r>
              <a:rPr lang="en-US" altLang="ko-KR" sz="950">
                <a:latin typeface="Times New Roman" pitchFamily="18" charset="0"/>
                <a:ea typeface="돋움" pitchFamily="50" charset="-127"/>
                <a:cs typeface="Times New Roman" pitchFamily="18" charset="0"/>
              </a:rPr>
              <a: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Transmission       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Spindle      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Journal </a:t>
            </a:r>
          </a:p>
        </p:txBody>
      </p:sp>
      <p:sp>
        <p:nvSpPr>
          <p:cNvPr id="41" name="Rectangle 29"/>
          <p:cNvSpPr>
            <a:spLocks noChangeArrowheads="1"/>
          </p:cNvSpPr>
          <p:nvPr/>
        </p:nvSpPr>
        <p:spPr bwMode="auto">
          <a:xfrm>
            <a:off x="261367" y="6796172"/>
            <a:ext cx="3201196"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74</a:t>
            </a:r>
            <a:r>
              <a:rPr lang="en-US" altLang="ko-KR" sz="950">
                <a:latin typeface="Times New Roman" pitchFamily="18" charset="0"/>
                <a:ea typeface="돋움" pitchFamily="50" charset="-127"/>
                <a:cs typeface="Times New Roman" pitchFamily="18" charset="0"/>
              </a:rPr>
              <a:t>. Dưới đây là nội dung nói về cái gì?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Chênh lệch kích thước khi lắp </a:t>
            </a:r>
            <a:r>
              <a:rPr lang="en-US" altLang="ko-KR" sz="950" smtClean="0">
                <a:latin typeface="Times New Roman" pitchFamily="18" charset="0"/>
                <a:ea typeface="돋움" pitchFamily="50" charset="-127"/>
                <a:cs typeface="Times New Roman" pitchFamily="18" charset="0"/>
              </a:rPr>
              <a:t>vào lỗ </a:t>
            </a:r>
            <a:r>
              <a:rPr lang="en-US" altLang="ko-KR" sz="950">
                <a:latin typeface="Times New Roman" pitchFamily="18" charset="0"/>
                <a:ea typeface="돋움" pitchFamily="50" charset="-127"/>
                <a:cs typeface="Times New Roman" pitchFamily="18" charset="0"/>
              </a:rPr>
              <a:t>nhỏ </a:t>
            </a:r>
            <a:r>
              <a:rPr lang="en-US" altLang="ko-KR" sz="950" smtClean="0">
                <a:latin typeface="Times New Roman" pitchFamily="18" charset="0"/>
                <a:ea typeface="돋움" pitchFamily="50" charset="-127"/>
                <a:cs typeface="Times New Roman" pitchFamily="18" charset="0"/>
              </a:rPr>
              <a:t>và trục lớn</a:t>
            </a:r>
            <a:endParaRPr lang="ko-KR" altLang="en-US" sz="950">
              <a:latin typeface="Times New Roman" pitchFamily="18" charset="0"/>
              <a:ea typeface="돋움" pitchFamily="50" charset="-127"/>
              <a:cs typeface="Times New Roman" pitchFamily="18" charset="0"/>
            </a:endParaRPr>
          </a:p>
          <a:p>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Lắp lỏng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t>
            </a:r>
            <a:r>
              <a:rPr lang="en-US" altLang="ko-KR" sz="950" smtClean="0">
                <a:latin typeface="Times New Roman" pitchFamily="18" charset="0"/>
                <a:ea typeface="돋움" pitchFamily="50" charset="-127"/>
                <a:cs typeface="Times New Roman" pitchFamily="18" charset="0"/>
              </a:rPr>
              <a:t>learance</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Lắp chặt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Lắp khít</a:t>
            </a:r>
            <a:endParaRPr lang="ko-KR" altLang="en-US" sz="950">
              <a:latin typeface="Times New Roman" pitchFamily="18" charset="0"/>
              <a:ea typeface="돋움" pitchFamily="50" charset="-127"/>
              <a:cs typeface="Times New Roman" pitchFamily="18" charset="0"/>
            </a:endParaRPr>
          </a:p>
        </p:txBody>
      </p:sp>
      <p:sp>
        <p:nvSpPr>
          <p:cNvPr id="42" name="Rectangle 39"/>
          <p:cNvSpPr>
            <a:spLocks noChangeArrowheads="1"/>
          </p:cNvSpPr>
          <p:nvPr/>
        </p:nvSpPr>
        <p:spPr bwMode="auto">
          <a:xfrm>
            <a:off x="256445" y="8265368"/>
            <a:ext cx="3116262"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75</a:t>
            </a:r>
            <a:r>
              <a:rPr lang="en-US" altLang="ko-KR" sz="950">
                <a:latin typeface="Times New Roman" pitchFamily="18" charset="0"/>
                <a:ea typeface="돋움" pitchFamily="50" charset="-127"/>
                <a:cs typeface="Times New Roman" pitchFamily="18" charset="0"/>
              </a:rPr>
              <a:t>. Hãy chọn đáp án đúng với giải thích về Coupling?</a:t>
            </a:r>
          </a:p>
          <a:p>
            <a:r>
              <a:rPr lang="en-US" altLang="ko-KR" sz="950">
                <a:latin typeface="Times New Roman" pitchFamily="18" charset="0"/>
                <a:ea typeface="돋움" pitchFamily="50" charset="-127"/>
                <a:cs typeface="Times New Roman" pitchFamily="18" charset="0"/>
              </a:rPr>
              <a:t> “ Chủ yếu sử dụng đường kính trục dưới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200mm.”</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Seller Coupling  </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Clamp coupling</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Gear Coupling</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F</a:t>
            </a:r>
            <a:r>
              <a:rPr lang="en-US" altLang="ko-KR" sz="950" smtClean="0">
                <a:latin typeface="Times New Roman" pitchFamily="18" charset="0"/>
                <a:ea typeface="돋움" pitchFamily="50" charset="-127"/>
                <a:cs typeface="Times New Roman" pitchFamily="18" charset="0"/>
              </a:rPr>
              <a:t>lange coupling</a:t>
            </a:r>
            <a:endParaRPr lang="ko-KR" altLang="en-US" sz="950">
              <a:latin typeface="Times New Roman" pitchFamily="18" charset="0"/>
              <a:ea typeface="돋움" pitchFamily="50" charset="-127"/>
              <a:cs typeface="Times New Roman" pitchFamily="18" charset="0"/>
            </a:endParaRPr>
          </a:p>
        </p:txBody>
      </p:sp>
      <p:sp>
        <p:nvSpPr>
          <p:cNvPr id="43" name="Rectangle 36"/>
          <p:cNvSpPr>
            <a:spLocks noChangeArrowheads="1"/>
          </p:cNvSpPr>
          <p:nvPr/>
        </p:nvSpPr>
        <p:spPr bwMode="auto">
          <a:xfrm>
            <a:off x="3485255" y="1136576"/>
            <a:ext cx="312420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76</a:t>
            </a:r>
            <a:r>
              <a:rPr lang="en-US" altLang="ko-KR" sz="950">
                <a:latin typeface="Times New Roman" pitchFamily="18" charset="0"/>
                <a:ea typeface="돋움" pitchFamily="50" charset="-127"/>
                <a:cs typeface="Times New Roman" pitchFamily="18" charset="0"/>
              </a:rPr>
              <a:t>. Chọn loại bearing </a:t>
            </a:r>
            <a:r>
              <a:rPr lang="en-US" altLang="ko-KR" sz="950" smtClean="0">
                <a:latin typeface="Times New Roman" pitchFamily="18" charset="0"/>
                <a:ea typeface="돋움" pitchFamily="50" charset="-127"/>
                <a:cs typeface="Times New Roman" pitchFamily="18" charset="0"/>
              </a:rPr>
              <a:t>có </a:t>
            </a:r>
            <a:r>
              <a:rPr lang="en-US" altLang="ko-KR" sz="950">
                <a:latin typeface="Times New Roman" pitchFamily="18" charset="0"/>
                <a:ea typeface="돋움" pitchFamily="50" charset="-127"/>
                <a:cs typeface="Times New Roman" pitchFamily="18" charset="0"/>
              </a:rPr>
              <a:t>phạm vi sử dụng lớn, là hình thức tiêu biểu nhất trong số các Rolling Bearing, có bán kính đường cong  home của quỹ đạo của vòng trong và vòng ngoài lớn </a:t>
            </a:r>
            <a:r>
              <a:rPr lang="en-US" altLang="ko-KR" sz="950" smtClean="0">
                <a:latin typeface="Times New Roman" pitchFamily="18" charset="0"/>
                <a:ea typeface="돋움" pitchFamily="50" charset="-127"/>
                <a:cs typeface="Times New Roman" pitchFamily="18" charset="0"/>
              </a:rPr>
              <a:t>hơn so với </a:t>
            </a:r>
            <a:r>
              <a:rPr lang="en-US" altLang="ko-KR" sz="950">
                <a:latin typeface="Times New Roman" pitchFamily="18" charset="0"/>
                <a:ea typeface="돋움" pitchFamily="50" charset="-127"/>
                <a:cs typeface="Times New Roman" pitchFamily="18" charset="0"/>
              </a:rPr>
              <a:t>bán kính của Ball truyền động một chút?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Single row deep groove </a:t>
            </a:r>
            <a:r>
              <a:rPr lang="en-US" altLang="ko-KR" sz="950" smtClean="0">
                <a:latin typeface="Times New Roman" pitchFamily="18" charset="0"/>
                <a:ea typeface="돋움" pitchFamily="50" charset="-127"/>
                <a:cs typeface="Times New Roman" pitchFamily="18" charset="0"/>
              </a:rPr>
              <a:t>         B. Angular ball brearing</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T</a:t>
            </a:r>
            <a:r>
              <a:rPr lang="en-US" altLang="ko-KR" sz="950" smtClean="0">
                <a:latin typeface="Times New Roman" pitchFamily="18" charset="0"/>
                <a:ea typeface="돋움" pitchFamily="50" charset="-127"/>
                <a:cs typeface="Times New Roman" pitchFamily="18" charset="0"/>
              </a:rPr>
              <a:t>hrust bearing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Magneto ball bearing</a:t>
            </a:r>
            <a:endParaRPr lang="ko-KR" altLang="en-US" sz="950">
              <a:latin typeface="Times New Roman" pitchFamily="18" charset="0"/>
              <a:ea typeface="돋움" pitchFamily="50" charset="-127"/>
              <a:cs typeface="Times New Roman" pitchFamily="18" charset="0"/>
            </a:endParaRPr>
          </a:p>
        </p:txBody>
      </p:sp>
      <p:sp>
        <p:nvSpPr>
          <p:cNvPr id="44" name="Rectangle 65"/>
          <p:cNvSpPr>
            <a:spLocks noChangeArrowheads="1"/>
          </p:cNvSpPr>
          <p:nvPr/>
        </p:nvSpPr>
        <p:spPr bwMode="auto">
          <a:xfrm>
            <a:off x="3462563" y="3042176"/>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77</a:t>
            </a:r>
            <a:r>
              <a:rPr lang="en-US" altLang="ko-KR" sz="950">
                <a:latin typeface="Times New Roman" pitchFamily="18" charset="0"/>
                <a:ea typeface="돋움" pitchFamily="50" charset="-127"/>
                <a:cs typeface="Times New Roman" pitchFamily="18" charset="0"/>
              </a:rPr>
              <a:t>.  Có một loại ốc gọi là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M6*1” .</a:t>
            </a:r>
          </a:p>
          <a:p>
            <a:r>
              <a:rPr lang="en-US" altLang="ko-KR" sz="950">
                <a:latin typeface="Times New Roman" pitchFamily="18" charset="0"/>
                <a:ea typeface="돋움" pitchFamily="50" charset="-127"/>
                <a:cs typeface="Times New Roman" pitchFamily="18" charset="0"/>
              </a:rPr>
              <a:t>      Sau khi gắn đai ốc vào trục và cho xoay vòng, thì đai ốc sẽ di chuyển được mấy 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0.5mm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1mm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3mm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6mm</a:t>
            </a:r>
          </a:p>
        </p:txBody>
      </p:sp>
      <p:sp>
        <p:nvSpPr>
          <p:cNvPr id="45" name="Rectangle 48"/>
          <p:cNvSpPr>
            <a:spLocks noChangeArrowheads="1"/>
          </p:cNvSpPr>
          <p:nvPr/>
        </p:nvSpPr>
        <p:spPr bwMode="auto">
          <a:xfrm>
            <a:off x="3454626" y="4403241"/>
            <a:ext cx="313213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78</a:t>
            </a:r>
            <a:r>
              <a:rPr lang="en-US" altLang="ko-KR" sz="950">
                <a:latin typeface="Times New Roman" pitchFamily="18" charset="0"/>
                <a:ea typeface="돋움" pitchFamily="50" charset="-127"/>
                <a:cs typeface="Times New Roman" pitchFamily="18" charset="0"/>
              </a:rPr>
              <a:t>. Chọn đáp án không phải là ưu điểm của gear?</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Truyền lực </a:t>
            </a:r>
            <a:r>
              <a:rPr lang="en-US" altLang="ko-KR" sz="950" smtClean="0">
                <a:latin typeface="Times New Roman" pitchFamily="18" charset="0"/>
                <a:ea typeface="돋움" pitchFamily="50" charset="-127"/>
                <a:cs typeface="Times New Roman" pitchFamily="18" charset="0"/>
              </a:rPr>
              <a:t>hay động lực </a:t>
            </a:r>
            <a:r>
              <a:rPr lang="en-US" altLang="ko-KR" sz="950">
                <a:latin typeface="Times New Roman" pitchFamily="18" charset="0"/>
                <a:ea typeface="돋움" pitchFamily="50" charset="-127"/>
                <a:cs typeface="Times New Roman" pitchFamily="18" charset="0"/>
              </a:rPr>
              <a:t>xoay chắc chắn.</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Cấu trúc khác đơn giản</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Tuổi thọ cao</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Truyền tải bằng chi phí vận hành chính xác</a:t>
            </a:r>
            <a:r>
              <a:rPr lang="ko-KR" altLang="en-US" sz="950">
                <a:latin typeface="Times New Roman" pitchFamily="18" charset="0"/>
                <a:ea typeface="돋움" pitchFamily="50" charset="-127"/>
                <a:cs typeface="Times New Roman" pitchFamily="18" charset="0"/>
              </a:rPr>
              <a:t> </a:t>
            </a:r>
          </a:p>
        </p:txBody>
      </p:sp>
      <p:sp>
        <p:nvSpPr>
          <p:cNvPr id="46" name="Rectangle 59"/>
          <p:cNvSpPr>
            <a:spLocks noChangeArrowheads="1"/>
          </p:cNvSpPr>
          <p:nvPr/>
        </p:nvSpPr>
        <p:spPr bwMode="auto">
          <a:xfrm>
            <a:off x="3485999" y="6145922"/>
            <a:ext cx="3132138"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79</a:t>
            </a:r>
            <a:r>
              <a:rPr lang="en-US" altLang="ko-KR" sz="950">
                <a:latin typeface="Times New Roman" pitchFamily="18" charset="0"/>
                <a:ea typeface="돋움" pitchFamily="50" charset="-127"/>
                <a:cs typeface="Times New Roman" pitchFamily="18" charset="0"/>
              </a:rPr>
              <a:t>. Dưới đây là nội dung giải thích về cái gì?</a:t>
            </a:r>
          </a:p>
          <a:p>
            <a:r>
              <a:rPr lang="en-US" altLang="ko-KR" sz="950">
                <a:latin typeface="Times New Roman" pitchFamily="18" charset="0"/>
                <a:ea typeface="돋움" pitchFamily="50" charset="-127"/>
                <a:cs typeface="Times New Roman" pitchFamily="18" charset="0"/>
              </a:rPr>
              <a:t>‘là thiết bị thay đổi tốc độ sử dụng Gear, có thể nhận được lực lớn đồng thời giảm được số lần quay của phần động cơ thành số lần quay mong muốn</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Gear</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Bộ giảm tốc</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Belt</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Chain</a:t>
            </a:r>
            <a:endParaRPr lang="ko-KR" altLang="en-US" sz="950">
              <a:latin typeface="Times New Roman" pitchFamily="18" charset="0"/>
              <a:ea typeface="돋움" pitchFamily="50" charset="-127"/>
              <a:cs typeface="Times New Roman" pitchFamily="18" charset="0"/>
            </a:endParaRPr>
          </a:p>
        </p:txBody>
      </p:sp>
      <p:grpSp>
        <p:nvGrpSpPr>
          <p:cNvPr id="47" name="Group 46"/>
          <p:cNvGrpSpPr/>
          <p:nvPr/>
        </p:nvGrpSpPr>
        <p:grpSpPr>
          <a:xfrm>
            <a:off x="3419475" y="7731315"/>
            <a:ext cx="3124200" cy="969496"/>
            <a:chOff x="3429000" y="971550"/>
            <a:chExt cx="3124200" cy="969496"/>
          </a:xfrm>
        </p:grpSpPr>
        <p:sp>
          <p:nvSpPr>
            <p:cNvPr id="48" name="Rectangle 69"/>
            <p:cNvSpPr>
              <a:spLocks noChangeArrowheads="1"/>
            </p:cNvSpPr>
            <p:nvPr/>
          </p:nvSpPr>
          <p:spPr bwMode="auto">
            <a:xfrm>
              <a:off x="3429000" y="971550"/>
              <a:ext cx="3124200"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0.Tên </a:t>
              </a:r>
              <a:r>
                <a:rPr lang="en-US" altLang="ko-KR" sz="950">
                  <a:latin typeface="Times New Roman" pitchFamily="18" charset="0"/>
                  <a:cs typeface="Times New Roman" pitchFamily="18" charset="0"/>
                </a:rPr>
                <a:t>của A trong hình dưới đây</a:t>
              </a:r>
              <a:r>
                <a:rPr lang="en-US" altLang="ko-KR" sz="950">
                  <a:latin typeface="Times New Roman" pitchFamily="18" charset="0"/>
                  <a:ea typeface="돋움" pitchFamily="50" charset="-127"/>
                  <a:cs typeface="Times New Roman" pitchFamily="18" charset="0"/>
                </a:rPr>
                <a:t>?</a:t>
              </a:r>
            </a:p>
            <a:p>
              <a:pPr>
                <a:lnSpc>
                  <a:spcPct val="50000"/>
                </a:lnSpc>
                <a:spcBef>
                  <a:spcPct val="50000"/>
                </a:spcBef>
              </a:pPr>
              <a:endParaRPr lang="en-US" altLang="ko-KR" sz="950">
                <a:latin typeface="Times New Roman" pitchFamily="18" charset="0"/>
                <a:ea typeface="돋움" pitchFamily="50" charset="-127"/>
                <a:cs typeface="Times New Roman" pitchFamily="18" charset="0"/>
              </a:endParaRPr>
            </a:p>
            <a:p>
              <a:pPr>
                <a:lnSpc>
                  <a:spcPct val="40000"/>
                </a:lnSpc>
                <a:spcBef>
                  <a:spcPct val="50000"/>
                </a:spcBef>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cs typeface="Times New Roman" pitchFamily="18" charset="0"/>
                </a:rPr>
                <a:t>Flexspline (phần giảm tốc)</a:t>
              </a:r>
              <a:endParaRPr lang="en-US" altLang="ko-KR" sz="950">
                <a:latin typeface="Times New Roman" pitchFamily="18" charset="0"/>
                <a:ea typeface="돋움" pitchFamily="50" charset="-127"/>
                <a:cs typeface="Times New Roman" pitchFamily="18" charset="0"/>
              </a:endParaRPr>
            </a:p>
            <a:p>
              <a:pPr>
                <a:lnSpc>
                  <a:spcPct val="60000"/>
                </a:lnSpc>
                <a:spcBef>
                  <a:spcPct val="50000"/>
                </a:spcBef>
              </a:pP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cs typeface="Times New Roman" pitchFamily="18" charset="0"/>
                </a:rPr>
                <a:t>Wave Generator </a:t>
              </a:r>
              <a:r>
                <a:rPr lang="en-US" altLang="ko-KR" sz="950" smtClean="0">
                  <a:latin typeface="Times New Roman" pitchFamily="18" charset="0"/>
                  <a:cs typeface="Times New Roman" pitchFamily="18" charset="0"/>
                </a:rPr>
                <a:t>(phần </a:t>
              </a:r>
              <a:r>
                <a:rPr lang="en-US" altLang="ko-KR" sz="950">
                  <a:latin typeface="Times New Roman" pitchFamily="18" charset="0"/>
                  <a:cs typeface="Times New Roman" pitchFamily="18" charset="0"/>
                </a:rPr>
                <a:t>Input) </a:t>
              </a:r>
              <a:endParaRPr lang="en-US" altLang="ko-KR" sz="950">
                <a:latin typeface="Times New Roman" pitchFamily="18" charset="0"/>
                <a:ea typeface="돋움" pitchFamily="50" charset="-127"/>
                <a:cs typeface="Times New Roman" pitchFamily="18" charset="0"/>
              </a:endParaRPr>
            </a:p>
            <a:p>
              <a:pPr>
                <a:lnSpc>
                  <a:spcPct val="50000"/>
                </a:lnSpc>
                <a:spcBef>
                  <a:spcPct val="50000"/>
                </a:spcBef>
              </a:pPr>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cs typeface="Times New Roman" pitchFamily="18" charset="0"/>
                </a:rPr>
                <a:t>Circular Spline </a:t>
              </a:r>
              <a:r>
                <a:rPr lang="en-US" altLang="ko-KR" sz="950" smtClean="0">
                  <a:latin typeface="Times New Roman" pitchFamily="18" charset="0"/>
                  <a:cs typeface="Times New Roman" pitchFamily="18" charset="0"/>
                </a:rPr>
                <a:t>(phần </a:t>
              </a:r>
              <a:r>
                <a:rPr lang="en-US" altLang="ko-KR" sz="950">
                  <a:latin typeface="Times New Roman" pitchFamily="18" charset="0"/>
                  <a:cs typeface="Times New Roman" pitchFamily="18" charset="0"/>
                </a:rPr>
                <a:t>truyền động)</a:t>
              </a:r>
              <a:r>
                <a:rPr lang="en-US" altLang="ko-KR" sz="950">
                  <a:latin typeface="Times New Roman" pitchFamily="18" charset="0"/>
                  <a:ea typeface="돋움" pitchFamily="50" charset="-127"/>
                  <a:cs typeface="Times New Roman" pitchFamily="18" charset="0"/>
                </a:rPr>
                <a:t> </a:t>
              </a:r>
            </a:p>
            <a:p>
              <a:pPr>
                <a:lnSpc>
                  <a:spcPct val="50000"/>
                </a:lnSpc>
                <a:spcBef>
                  <a:spcPct val="50000"/>
                </a:spcBef>
              </a:pPr>
              <a:r>
                <a:rPr lang="en-US" altLang="ko-KR" sz="950" smtClean="0">
                  <a:latin typeface="Times New Roman" pitchFamily="18" charset="0"/>
                  <a:ea typeface="돋움" pitchFamily="50" charset="-127"/>
                  <a:cs typeface="Times New Roman" pitchFamily="18" charset="0"/>
                </a:rPr>
                <a:t>D. Accelerator </a:t>
              </a:r>
              <a:r>
                <a:rPr lang="en-US" altLang="ko-KR" sz="950">
                  <a:latin typeface="Times New Roman" pitchFamily="18" charset="0"/>
                  <a:ea typeface="돋움" pitchFamily="50" charset="-127"/>
                  <a:cs typeface="Times New Roman" pitchFamily="18" charset="0"/>
                </a:rPr>
                <a:t>(phần gia tốc)</a:t>
              </a:r>
              <a:endParaRPr lang="en-US" altLang="ko-KR" sz="950">
                <a:latin typeface="Times New Roman" pitchFamily="18" charset="0"/>
                <a:cs typeface="Times New Roman" pitchFamily="18" charset="0"/>
              </a:endParaRPr>
            </a:p>
          </p:txBody>
        </p:sp>
        <p:pic>
          <p:nvPicPr>
            <p:cNvPr id="49" name="Picture 70"/>
            <p:cNvPicPr>
              <a:picLocks noChangeAspect="1" noChangeArrowheads="1"/>
            </p:cNvPicPr>
            <p:nvPr/>
          </p:nvPicPr>
          <p:blipFill>
            <a:blip r:embed="rId4">
              <a:extLst>
                <a:ext uri="{28A0092B-C50C-407E-A947-70E740481C1C}">
                  <a14:useLocalDpi xmlns:a14="http://schemas.microsoft.com/office/drawing/2010/main" val="0"/>
                </a:ext>
              </a:extLst>
            </a:blip>
            <a:srcRect l="36874" t="60834" r="45625" b="22499"/>
            <a:stretch>
              <a:fillRect/>
            </a:stretch>
          </p:blipFill>
          <p:spPr bwMode="auto">
            <a:xfrm>
              <a:off x="5386388" y="1052513"/>
              <a:ext cx="106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0567069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420170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trung bình (average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VP_P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5569858"/>
            <a:ext cx="338437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Số hiệu nguyên tử Na (Natri) là 11, Lớp ngoài cùng là lớp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Lớp </a:t>
            </a:r>
            <a:r>
              <a:rPr lang="vi-VN" altLang="ko-KR" sz="950" smtClean="0">
                <a:latin typeface="Times New Roman" pitchFamily="18" charset="0"/>
                <a:ea typeface="LG Smart_H Regular" panose="020B0600000101010101" pitchFamily="34" charset="-127"/>
                <a:cs typeface="Times New Roman" pitchFamily="18" charset="0"/>
              </a:rPr>
              <a:t>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Lớp  L</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a:t>
            </a:r>
            <a:r>
              <a:rPr lang="vi-VN" altLang="ko-KR" sz="950">
                <a:latin typeface="Times New Roman" pitchFamily="18" charset="0"/>
                <a:ea typeface="LG Smart_H Regular" panose="020B0600000101010101" pitchFamily="34" charset="-127"/>
                <a:cs typeface="Times New Roman" pitchFamily="18" charset="0"/>
              </a:rPr>
              <a:t>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36071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Smoothing circuit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a:t>
            </a:r>
            <a:r>
              <a:rPr lang="vi-VN" altLang="ko-KR" sz="950" smtClean="0">
                <a:latin typeface="Times New Roman" pitchFamily="18" charset="0"/>
                <a:ea typeface="LG Smart_H Regular" panose="020B0600000101010101" pitchFamily="34" charset="-127"/>
                <a:cs typeface="Times New Roman" pitchFamily="18" charset="0"/>
              </a:rPr>
              <a:t>circuit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2877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dưới đây về phương thức nối dây cảm </a:t>
            </a:r>
            <a:r>
              <a:rPr lang="vi-VN" altLang="ko-KR" sz="950" smtClean="0">
                <a:latin typeface="Times New Roman" pitchFamily="18" charset="0"/>
                <a:ea typeface="LG Smart_H Regular" panose="020B0600000101010101" pitchFamily="34" charset="-127"/>
                <a:cs typeface="Times New Roman" pitchFamily="18" charset="0"/>
              </a:rPr>
              <a:t>biến?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 dây trắng(+), dây đen(out),dây hồng(option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Dây nâu(+),dây xanh(-),dây trắng(out),dây hồng(option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xanh(-),dây đen(out),dây trắng(option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đen(-),dây xanh(out),dây hồng(option)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01377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en-US" altLang="ko-KR" sz="950">
                <a:latin typeface="Times New Roman" pitchFamily="18" charset="0"/>
                <a:ea typeface="LG Smart_H Regular" panose="020B0600000101010101" pitchFamily="34" charset="-127"/>
                <a:cs typeface="Times New Roman" pitchFamily="18" charset="0"/>
              </a:rPr>
              <a:t>Thermistor "negative temperature coefficient thermistor" có đặc điểm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giảm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tăng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a:t>
            </a:r>
            <a:r>
              <a:rPr lang="vi-VN" altLang="ko-KR" sz="950" smtClean="0">
                <a:latin typeface="Times New Roman" pitchFamily="18" charset="0"/>
                <a:ea typeface="LG Smart_H Regular" panose="020B0600000101010101" pitchFamily="34" charset="-127"/>
                <a:cs typeface="Times New Roman" pitchFamily="18" charset="0"/>
              </a:rPr>
              <a:t>giảm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tăng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671763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cách điện không hết khiến một phần dòng điện chạy ra ngoài và chạy vào vật dẫn xung quanh.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Rò điện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Đoạn dây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Chập </a:t>
            </a:r>
            <a:r>
              <a:rPr lang="en-US" altLang="ko-KR" sz="950" smtClean="0">
                <a:latin typeface="Times New Roman" pitchFamily="18" charset="0"/>
                <a:ea typeface="LG Smart_H Regular" panose="020B0600000101010101" pitchFamily="34" charset="-127"/>
                <a:cs typeface="Times New Roman" pitchFamily="18" charset="0"/>
              </a:rPr>
              <a:t>dây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địa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136576"/>
            <a:ext cx="3239810" cy="2723823"/>
            <a:chOff x="188640" y="1255253"/>
            <a:chExt cx="3239810" cy="2723823"/>
          </a:xfrm>
        </p:grpSpPr>
        <p:sp>
          <p:nvSpPr>
            <p:cNvPr id="59" name="Rectangle 7"/>
            <p:cNvSpPr>
              <a:spLocks noChangeArrowheads="1"/>
            </p:cNvSpPr>
            <p:nvPr/>
          </p:nvSpPr>
          <p:spPr bwMode="auto">
            <a:xfrm>
              <a:off x="188640" y="1255253"/>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Vậy A là hiện tượng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Kích </a:t>
              </a:r>
              <a:r>
                <a:rPr lang="en-US" altLang="ko-KR" sz="950">
                  <a:latin typeface="Times New Roman" pitchFamily="18" charset="0"/>
                  <a:ea typeface="LG Smart_H Regular" panose="020B0600000101010101" pitchFamily="34" charset="-127"/>
                  <a:cs typeface="Times New Roman" pitchFamily="18" charset="0"/>
                </a:rPr>
                <a:t>thích(excitation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I-ôn hóa(ionization)(Điện ly)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Phóng xung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tử ánh sáng(Proton)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6" name="Group 55"/>
            <p:cNvGrpSpPr/>
            <p:nvPr/>
          </p:nvGrpSpPr>
          <p:grpSpPr>
            <a:xfrm>
              <a:off x="718317" y="1610235"/>
              <a:ext cx="1990603" cy="1470557"/>
              <a:chOff x="0" y="0"/>
              <a:chExt cx="3846157" cy="2239736"/>
            </a:xfrm>
          </p:grpSpPr>
          <p:pic>
            <p:nvPicPr>
              <p:cNvPr id="64" name="Picture 63"/>
              <p:cNvPicPr>
                <a:picLocks noChangeAspect="1" noChangeArrowheads="1"/>
              </p:cNvPicPr>
              <p:nvPr/>
            </p:nvPicPr>
            <p:blipFill>
              <a:blip r:embed="rId3">
                <a:extLst>
                  <a:ext uri="{28A0092B-C50C-407E-A947-70E740481C1C}">
                    <a14:useLocalDpi xmlns:a14="http://schemas.microsoft.com/office/drawing/2010/main" val="0"/>
                  </a:ext>
                </a:extLst>
              </a:blip>
              <a:srcRect l="3677" t="6573"/>
              <a:stretch>
                <a:fillRect/>
              </a:stretch>
            </p:blipFill>
            <p:spPr bwMode="auto">
              <a:xfrm>
                <a:off x="0" y="0"/>
                <a:ext cx="3846157" cy="223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직사각형 7"/>
              <p:cNvSpPr>
                <a:spLocks noChangeArrowheads="1"/>
              </p:cNvSpPr>
              <p:nvPr/>
            </p:nvSpPr>
            <p:spPr bwMode="auto">
              <a:xfrm>
                <a:off x="481694" y="1095373"/>
                <a:ext cx="304800" cy="2476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C</a:t>
                </a:r>
                <a:endParaRPr lang="ko-KR" altLang="en-US" sz="1100" b="1">
                  <a:latin typeface="Times New Roman" pitchFamily="18" charset="0"/>
                  <a:cs typeface="Times New Roman" pitchFamily="18" charset="0"/>
                </a:endParaRPr>
              </a:p>
            </p:txBody>
          </p:sp>
          <p:sp>
            <p:nvSpPr>
              <p:cNvPr id="66" name="직사각형 8"/>
              <p:cNvSpPr>
                <a:spLocks noChangeArrowheads="1"/>
              </p:cNvSpPr>
              <p:nvPr/>
            </p:nvSpPr>
            <p:spPr bwMode="auto">
              <a:xfrm>
                <a:off x="1236891" y="361949"/>
                <a:ext cx="322488" cy="2857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sp>
            <p:nvSpPr>
              <p:cNvPr id="67" name="직사각형 9"/>
              <p:cNvSpPr>
                <a:spLocks noChangeArrowheads="1"/>
              </p:cNvSpPr>
              <p:nvPr/>
            </p:nvSpPr>
            <p:spPr bwMode="auto">
              <a:xfrm>
                <a:off x="511629" y="48985"/>
                <a:ext cx="346983" cy="34426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sp>
        <p:nvSpPr>
          <p:cNvPr id="68" name="Rectangle 7"/>
          <p:cNvSpPr>
            <a:spLocks noChangeArrowheads="1"/>
          </p:cNvSpPr>
          <p:nvPr/>
        </p:nvSpPr>
        <p:spPr bwMode="auto">
          <a:xfrm>
            <a:off x="162099" y="8121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Potential </a:t>
            </a:r>
            <a:r>
              <a:rPr lang="vi-VN" altLang="ko-KR" sz="950" smtClean="0">
                <a:latin typeface="Times New Roman" pitchFamily="18" charset="0"/>
                <a:ea typeface="LG Smart_H Regular" panose="020B0600000101010101" pitchFamily="34" charset="-127"/>
                <a:cs typeface="Times New Roman" pitchFamily="18" charset="0"/>
              </a:rPr>
              <a:t>difference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a:t>
            </a:r>
            <a:r>
              <a:rPr lang="en-US" altLang="ko-KR" sz="950" smtClean="0">
                <a:latin typeface="Times New Roman" pitchFamily="18" charset="0"/>
                <a:ea typeface="LG Smart_H Regular" panose="020B0600000101010101" pitchFamily="34" charset="-127"/>
                <a:cs typeface="Times New Roman" pitchFamily="18" charset="0"/>
              </a:rPr>
              <a:t>voltage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định luật sau: "Tại bất kỳ nút (ngã rẽ) nào trong một mạch điện, thì tổng cường độ dòng điện chạy đến nút phải bằng tổng cường độ dòng điện từ nút chạy 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Ohm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Kirchhoff</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Định luật </a:t>
            </a:r>
            <a:r>
              <a:rPr lang="en-US" altLang="ko-KR" sz="950" smtClean="0">
                <a:latin typeface="Times New Roman" pitchFamily="18" charset="0"/>
                <a:ea typeface="LG Smart_H Regular" panose="020B0600000101010101" pitchFamily="34" charset="-127"/>
                <a:cs typeface="Times New Roman" pitchFamily="18" charset="0"/>
              </a:rPr>
              <a:t>Lenz</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Newton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4" name="Picture 7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1854" y="2576736"/>
            <a:ext cx="1706245" cy="899666"/>
          </a:xfrm>
          <a:prstGeom prst="rect">
            <a:avLst/>
          </a:prstGeom>
        </p:spPr>
      </p:pic>
      <p:grpSp>
        <p:nvGrpSpPr>
          <p:cNvPr id="3" name="Group 2"/>
          <p:cNvGrpSpPr/>
          <p:nvPr/>
        </p:nvGrpSpPr>
        <p:grpSpPr>
          <a:xfrm>
            <a:off x="3448472" y="4199528"/>
            <a:ext cx="3239810" cy="1473552"/>
            <a:chOff x="3448472" y="4199528"/>
            <a:chExt cx="3239810" cy="1473552"/>
          </a:xfrm>
        </p:grpSpPr>
        <p:sp>
          <p:nvSpPr>
            <p:cNvPr id="70" name="Rectangle 7"/>
            <p:cNvSpPr>
              <a:spLocks noChangeArrowheads="1"/>
            </p:cNvSpPr>
            <p:nvPr/>
          </p:nvSpPr>
          <p:spPr bwMode="auto">
            <a:xfrm>
              <a:off x="3448472" y="41995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Trong hình, điện áp đặt vào 2 đầu của Diode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0.2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0.5 (V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0.7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0.7 (V)</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5"/>
            <a:stretch>
              <a:fillRect/>
            </a:stretch>
          </p:blipFill>
          <p:spPr>
            <a:xfrm>
              <a:off x="4682565" y="4395370"/>
              <a:ext cx="1626755" cy="1277710"/>
            </a:xfrm>
            <a:prstGeom prst="rect">
              <a:avLst/>
            </a:prstGeom>
          </p:spPr>
        </p:pic>
      </p:grpSp>
    </p:spTree>
    <p:extLst>
      <p:ext uri="{BB962C8B-B14F-4D97-AF65-F5344CB8AC3E}">
        <p14:creationId xmlns:p14="http://schemas.microsoft.com/office/powerpoint/2010/main" val="41070072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111" name="Rectangle 173"/>
          <p:cNvSpPr>
            <a:spLocks noChangeArrowheads="1"/>
          </p:cNvSpPr>
          <p:nvPr/>
        </p:nvSpPr>
        <p:spPr bwMode="auto">
          <a:xfrm>
            <a:off x="188640" y="8454533"/>
            <a:ext cx="3308896"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15.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P =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B.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VI    </a:t>
            </a:r>
            <a:r>
              <a:rPr lang="en-US" altLang="ko-KR" sz="950" smtClean="0">
                <a:latin typeface="Times New Roman" pitchFamily="18" charset="0"/>
                <a:cs typeface="Times New Roman" pitchFamily="18" charset="0"/>
              </a:rPr>
              <a:t>C.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D.  P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IB*V</a:t>
            </a:r>
            <a:endParaRPr lang="en-US" altLang="ko-KR" sz="950" dirty="0">
              <a:latin typeface="Times New Roman" pitchFamily="18" charset="0"/>
              <a:cs typeface="Times New Roman" pitchFamily="18" charset="0"/>
            </a:endParaRPr>
          </a:p>
        </p:txBody>
      </p:sp>
      <p:sp>
        <p:nvSpPr>
          <p:cNvPr id="112" name="Rectangle 398"/>
          <p:cNvSpPr>
            <a:spLocks noChangeArrowheads="1"/>
          </p:cNvSpPr>
          <p:nvPr/>
        </p:nvSpPr>
        <p:spPr bwMode="auto">
          <a:xfrm>
            <a:off x="3466740" y="1073588"/>
            <a:ext cx="3308896"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228600" indent="-228600" eaLnBrk="1" hangingPunct="1"/>
            <a:r>
              <a:rPr lang="en-US" altLang="ko-KR" sz="950" dirty="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a:t>
            </a:r>
            <a:r>
              <a:rPr lang="en-US" altLang="ko-KR" sz="950" smtClean="0">
                <a:latin typeface="Times New Roman" pitchFamily="18" charset="0"/>
                <a:cs typeface="Times New Roman" pitchFamily="18" charset="0"/>
              </a:rPr>
              <a:t>ưu </a:t>
            </a:r>
            <a:r>
              <a:rPr lang="en-US" altLang="ko-KR" sz="950" dirty="0" err="1" smtClean="0">
                <a:latin typeface="Times New Roman" pitchFamily="18" charset="0"/>
                <a:cs typeface="Times New Roman" pitchFamily="18" charset="0"/>
              </a:rPr>
              <a:t>huỳnh</a:t>
            </a:r>
            <a:endParaRPr lang="ko-KR" altLang="en-US" sz="950" dirty="0">
              <a:latin typeface="Times New Roman" pitchFamily="18" charset="0"/>
              <a:cs typeface="Times New Roman" pitchFamily="18" charset="0"/>
            </a:endParaRPr>
          </a:p>
        </p:txBody>
      </p:sp>
      <p:sp>
        <p:nvSpPr>
          <p:cNvPr id="113" name="Rectangle 283"/>
          <p:cNvSpPr>
            <a:spLocks noChangeArrowheads="1"/>
          </p:cNvSpPr>
          <p:nvPr/>
        </p:nvSpPr>
        <p:spPr bwMode="auto">
          <a:xfrm>
            <a:off x="160784" y="1064568"/>
            <a:ext cx="327926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11.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coil?</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Đặc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Áp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tượng</a:t>
            </a:r>
            <a:r>
              <a:rPr lang="en-US" altLang="ko-KR" sz="950" smtClean="0">
                <a:latin typeface="Times New Roman" pitchFamily="18" charset="0"/>
                <a:cs typeface="Times New Roman" pitchFamily="18" charset="0"/>
              </a:rPr>
              <a:t> hỗ </a:t>
            </a:r>
            <a:r>
              <a:rPr lang="en-US" altLang="ko-KR" sz="950" dirty="0" err="1" smtClean="0">
                <a:latin typeface="Times New Roman" pitchFamily="18" charset="0"/>
                <a:cs typeface="Times New Roman" pitchFamily="18" charset="0"/>
              </a:rPr>
              <a:t>cảm</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nam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khuếch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grpSp>
        <p:nvGrpSpPr>
          <p:cNvPr id="115" name="Group 114"/>
          <p:cNvGrpSpPr/>
          <p:nvPr/>
        </p:nvGrpSpPr>
        <p:grpSpPr>
          <a:xfrm>
            <a:off x="188640" y="2144688"/>
            <a:ext cx="3240360" cy="823302"/>
            <a:chOff x="3353817" y="3720680"/>
            <a:chExt cx="3240360" cy="823302"/>
          </a:xfrm>
        </p:grpSpPr>
        <p:sp>
          <p:nvSpPr>
            <p:cNvPr id="116" name="Rectangle 178"/>
            <p:cNvSpPr>
              <a:spLocks noChangeArrowheads="1"/>
            </p:cNvSpPr>
            <p:nvPr/>
          </p:nvSpPr>
          <p:spPr bwMode="auto">
            <a:xfrm>
              <a:off x="3353817" y="3720680"/>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12</a:t>
              </a:r>
              <a:r>
                <a:rPr lang="en-US" altLang="ko-KR" sz="950">
                  <a:latin typeface="Times New Roman" pitchFamily="18" charset="0"/>
                  <a:cs typeface="Times New Roman" pitchFamily="18" charset="0"/>
                </a:rPr>
                <a:t>. </a:t>
              </a:r>
              <a:r>
                <a:rPr lang="vi-VN" altLang="ko-KR" sz="950">
                  <a:latin typeface="Times New Roman" pitchFamily="18" charset="0"/>
                  <a:cs typeface="Times New Roman" pitchFamily="18" charset="0"/>
                </a:rPr>
                <a:t>Giá trị của điện trở sau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5.6 </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560 </a:t>
              </a:r>
              <a:r>
                <a:rPr lang="en-US" altLang="ko-KR" sz="950">
                  <a:latin typeface="Times New Roman" pitchFamily="18" charset="0"/>
                  <a:cs typeface="Times New Roman" pitchFamily="18" charset="0"/>
                </a:rPr>
                <a:t>[</a:t>
              </a:r>
              <a:r>
                <a:rPr lang="en-US" altLang="ko-KR" sz="950" smtClean="0">
                  <a:latin typeface="Times New Roman" pitchFamily="18" charset="0"/>
                  <a:cs typeface="Times New Roman" pitchFamily="18" charset="0"/>
                </a:rPr>
                <a:t>Ω]   </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650 [Ω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D. </a:t>
              </a:r>
              <a:r>
                <a:rPr lang="en-US" altLang="ko-KR" sz="950" dirty="0">
                  <a:latin typeface="Times New Roman" pitchFamily="18" charset="0"/>
                  <a:cs typeface="Times New Roman" pitchFamily="18" charset="0"/>
                </a:rPr>
                <a:t>65 [</a:t>
              </a:r>
              <a:r>
                <a:rPr lang="en-US" altLang="ko-KR" sz="950" dirty="0" err="1">
                  <a:latin typeface="Times New Roman" pitchFamily="18" charset="0"/>
                  <a:cs typeface="Times New Roman" pitchFamily="18" charset="0"/>
                </a:rPr>
                <a:t>kΩ</a:t>
              </a:r>
              <a:r>
                <a:rPr lang="en-US" altLang="ko-KR" sz="950" dirty="0">
                  <a:latin typeface="Times New Roman" pitchFamily="18" charset="0"/>
                  <a:cs typeface="Times New Roman" pitchFamily="18" charset="0"/>
                </a:rPr>
                <a:t>]</a:t>
              </a:r>
            </a:p>
          </p:txBody>
        </p:sp>
        <p:grpSp>
          <p:nvGrpSpPr>
            <p:cNvPr id="117" name="Group 179"/>
            <p:cNvGrpSpPr>
              <a:grpSpLocks/>
            </p:cNvGrpSpPr>
            <p:nvPr/>
          </p:nvGrpSpPr>
          <p:grpSpPr bwMode="auto">
            <a:xfrm>
              <a:off x="5258636" y="3995932"/>
              <a:ext cx="1119188" cy="390526"/>
              <a:chOff x="1341" y="5808"/>
              <a:chExt cx="774" cy="246"/>
            </a:xfrm>
          </p:grpSpPr>
          <p:graphicFrame>
            <p:nvGraphicFramePr>
              <p:cNvPr id="119" name="Object 180"/>
              <p:cNvGraphicFramePr>
                <a:graphicFrameLocks noChangeAspect="1"/>
              </p:cNvGraphicFramePr>
              <p:nvPr>
                <p:extLst>
                  <p:ext uri="{D42A27DB-BD31-4B8C-83A1-F6EECF244321}">
                    <p14:modId xmlns:p14="http://schemas.microsoft.com/office/powerpoint/2010/main" val="1039353450"/>
                  </p:ext>
                </p:extLst>
              </p:nvPr>
            </p:nvGraphicFramePr>
            <p:xfrm>
              <a:off x="1341" y="5808"/>
              <a:ext cx="774" cy="108"/>
            </p:xfrm>
            <a:graphic>
              <a:graphicData uri="http://schemas.openxmlformats.org/presentationml/2006/ole">
                <mc:AlternateContent xmlns:mc="http://schemas.openxmlformats.org/markup-compatibility/2006">
                  <mc:Choice xmlns:v="urn:schemas-microsoft-com:vml" Requires="v">
                    <p:oleObj spid="_x0000_s2086" name="비트맵 이미지" r:id="rId4" imgW="1228571" imgH="171338" progId="Paint.Picture">
                      <p:embed/>
                    </p:oleObj>
                  </mc:Choice>
                  <mc:Fallback>
                    <p:oleObj name="비트맵 이미지" r:id="rId4" imgW="1228571" imgH="1713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 y="5808"/>
                            <a:ext cx="774"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Text Box 181"/>
              <p:cNvSpPr txBox="1">
                <a:spLocks noChangeArrowheads="1"/>
              </p:cNvSpPr>
              <p:nvPr/>
            </p:nvSpPr>
            <p:spPr bwMode="auto">
              <a:xfrm>
                <a:off x="1478" y="5904"/>
                <a:ext cx="465"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ko-KR" altLang="en-US" sz="950" b="1">
                    <a:latin typeface="Times New Roman" pitchFamily="18" charset="0"/>
                    <a:cs typeface="Times New Roman" pitchFamily="18" charset="0"/>
                  </a:rPr>
                  <a:t>녹청갈금</a:t>
                </a:r>
              </a:p>
            </p:txBody>
          </p:sp>
        </p:grpSp>
        <p:sp>
          <p:nvSpPr>
            <p:cNvPr id="118" name="Rectangle 173"/>
            <p:cNvSpPr>
              <a:spLocks noChangeArrowheads="1"/>
            </p:cNvSpPr>
            <p:nvPr/>
          </p:nvSpPr>
          <p:spPr bwMode="auto">
            <a:xfrm>
              <a:off x="5239807" y="4152728"/>
              <a:ext cx="1354370" cy="384721"/>
            </a:xfrm>
            <a:prstGeom prst="rect">
              <a:avLst/>
            </a:prstGeom>
            <a:solidFill>
              <a:schemeClr val="bg1"/>
            </a:solidFill>
            <a:ln>
              <a:noFill/>
            </a:ln>
            <a:effectLs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smtClean="0">
                  <a:latin typeface="Times New Roman" pitchFamily="18" charset="0"/>
                  <a:cs typeface="Times New Roman" pitchFamily="18" charset="0"/>
                </a:rPr>
                <a:t>Xanh lục , Xanh lam, Nâu, Gold</a:t>
              </a:r>
              <a:endParaRPr lang="en-US" altLang="ko-KR" sz="950" b="1">
                <a:latin typeface="Times New Roman" pitchFamily="18" charset="0"/>
                <a:cs typeface="Times New Roman" pitchFamily="18" charset="0"/>
              </a:endParaRPr>
            </a:p>
          </p:txBody>
        </p:sp>
      </p:grpSp>
      <p:sp>
        <p:nvSpPr>
          <p:cNvPr id="121" name="Rectangle 591"/>
          <p:cNvSpPr>
            <a:spLocks noChangeArrowheads="1"/>
          </p:cNvSpPr>
          <p:nvPr/>
        </p:nvSpPr>
        <p:spPr bwMode="auto">
          <a:xfrm>
            <a:off x="3501008" y="6073914"/>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Trong lượng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dây</a:t>
            </a:r>
            <a:r>
              <a:rPr lang="en-US" altLang="ko-KR" sz="950" smtClean="0">
                <a:latin typeface="Times New Roman" pitchFamily="18" charset="0"/>
                <a:cs typeface="Times New Roman" pitchFamily="18" charset="0"/>
              </a:rPr>
              <a:t> điện</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
        <p:nvSpPr>
          <p:cNvPr id="122" name="Rectangle 174"/>
          <p:cNvSpPr>
            <a:spLocks noChangeArrowheads="1"/>
          </p:cNvSpPr>
          <p:nvPr/>
        </p:nvSpPr>
        <p:spPr bwMode="auto">
          <a:xfrm>
            <a:off x="3501008" y="7802106"/>
            <a:ext cx="32403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20. </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carbon?</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kim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loại</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cement </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carbon </a:t>
            </a:r>
            <a:r>
              <a:rPr lang="en-US" altLang="ko-KR" sz="950" err="1" smtClean="0">
                <a:latin typeface="Times New Roman" pitchFamily="18" charset="0"/>
                <a:cs typeface="Times New Roman" pitchFamily="18" charset="0"/>
              </a:rPr>
              <a:t>nhỏ</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endParaRPr lang="ko-KR" altLang="en-US" sz="950" dirty="0">
              <a:latin typeface="Times New Roman" pitchFamily="18" charset="0"/>
              <a:cs typeface="Times New Roman" pitchFamily="18" charset="0"/>
            </a:endParaRPr>
          </a:p>
        </p:txBody>
      </p:sp>
      <p:sp>
        <p:nvSpPr>
          <p:cNvPr id="123" name="Rectangle 122"/>
          <p:cNvSpPr/>
          <p:nvPr/>
        </p:nvSpPr>
        <p:spPr>
          <a:xfrm>
            <a:off x="3429000" y="2635736"/>
            <a:ext cx="3275792" cy="1261884"/>
          </a:xfrm>
          <a:prstGeom prst="rect">
            <a:avLst/>
          </a:prstGeom>
        </p:spPr>
        <p:txBody>
          <a:bodyPr wrap="square">
            <a:spAutoFit/>
          </a:bodyPr>
          <a:lstStyle/>
          <a:p>
            <a:r>
              <a:rPr lang="vi-VN" altLang="ko-KR" sz="950" smtClean="0">
                <a:latin typeface="Times New Roman" pitchFamily="18" charset="0"/>
                <a:ea typeface="돋움" pitchFamily="50" charset="-127"/>
                <a:cs typeface="Times New Roman" pitchFamily="18" charset="0"/>
              </a:rPr>
              <a:t>1</a:t>
            </a:r>
            <a:r>
              <a:rPr lang="en-US" altLang="ko-KR" sz="950" smtClean="0">
                <a:latin typeface="Times New Roman" pitchFamily="18" charset="0"/>
                <a:ea typeface="돋움" pitchFamily="50" charset="-127"/>
                <a:cs typeface="Times New Roman" pitchFamily="18" charset="0"/>
              </a:rPr>
              <a:t>7</a:t>
            </a:r>
            <a:r>
              <a:rPr lang="vi-VN" altLang="ko-KR"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Điều gì được mô tả tiếp theo?</a:t>
            </a:r>
          </a:p>
          <a:p>
            <a:r>
              <a:rPr lang="vi-VN" altLang="ko-KR"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nhận được năng lượng và năng lượng của nó tăng lên, nó sẽ rời khỏi </a:t>
            </a:r>
            <a:r>
              <a:rPr lang="en-US" altLang="ko-KR" sz="950">
                <a:latin typeface="Times New Roman" pitchFamily="18" charset="0"/>
                <a:ea typeface="돋움" pitchFamily="50" charset="-127"/>
                <a:cs typeface="Times New Roman" pitchFamily="18" charset="0"/>
              </a:rPr>
              <a:t>quỹ đạo </a:t>
            </a:r>
            <a:r>
              <a:rPr lang="vi-VN" altLang="ko-KR" sz="950">
                <a:latin typeface="Times New Roman" pitchFamily="18" charset="0"/>
                <a:ea typeface="돋움" pitchFamily="50" charset="-127"/>
                <a:cs typeface="Times New Roman" pitchFamily="18" charset="0"/>
              </a:rPr>
              <a:t>và trở thành một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tự do, và tự do di chuyển giữa các nguyên tử. Điện năng được tạo ra theo cách này được gọi là (</a:t>
            </a:r>
            <a:r>
              <a:rPr lang="en-US" altLang="ko-KR" sz="950">
                <a:latin typeface="Times New Roman" pitchFamily="18" charset="0"/>
                <a:ea typeface="돋움" pitchFamily="50" charset="-127"/>
                <a:cs typeface="Times New Roman" pitchFamily="18" charset="0"/>
              </a:rPr>
              <a:t>…</a:t>
            </a:r>
            <a:r>
              <a:rPr lang="vi-VN" altLang="ko-KR" sz="950">
                <a:latin typeface="Times New Roman" pitchFamily="18" charset="0"/>
                <a:ea typeface="돋움" pitchFamily="50" charset="-127"/>
                <a:cs typeface="Times New Roman" pitchFamily="18" charset="0"/>
              </a:rPr>
              <a:t>)]</a:t>
            </a:r>
          </a:p>
          <a:p>
            <a:r>
              <a:rPr lang="en-US" altLang="ko-KR" sz="950">
                <a:latin typeface="Times New Roman" pitchFamily="18" charset="0"/>
                <a:ea typeface="돋움" pitchFamily="50" charset="-127"/>
                <a:cs typeface="Times New Roman" pitchFamily="18" charset="0"/>
              </a:rPr>
              <a:t>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Lượng tử ánh </a:t>
            </a:r>
            <a:r>
              <a:rPr lang="en-US" altLang="ko-KR" sz="950" smtClean="0">
                <a:latin typeface="Times New Roman" pitchFamily="18" charset="0"/>
                <a:ea typeface="돋움" pitchFamily="50" charset="-127"/>
                <a:cs typeface="Times New Roman" pitchFamily="18" charset="0"/>
              </a:rPr>
              <a:t>sáng    B. </a:t>
            </a:r>
            <a:r>
              <a:rPr lang="en-US" altLang="ko-KR" sz="950">
                <a:latin typeface="Times New Roman" pitchFamily="18" charset="0"/>
                <a:ea typeface="돋움" pitchFamily="50" charset="-127"/>
                <a:cs typeface="Times New Roman" pitchFamily="18" charset="0"/>
              </a:rPr>
              <a:t>Kích thích</a:t>
            </a:r>
            <a:endParaRPr lang="vi-VN" altLang="ko-KR" sz="950">
              <a:latin typeface="Times New Roman" pitchFamily="18" charset="0"/>
              <a:ea typeface="돋움" pitchFamily="50" charset="-127"/>
              <a:cs typeface="Times New Roman" pitchFamily="18" charset="0"/>
            </a:endParaRPr>
          </a:p>
          <a:p>
            <a:r>
              <a:rPr lang="vi-VN"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vi-VN"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Điện </a:t>
            </a:r>
            <a:r>
              <a:rPr lang="en-US" altLang="ko-KR" sz="950" smtClean="0">
                <a:latin typeface="Times New Roman" pitchFamily="18" charset="0"/>
                <a:ea typeface="돋움" pitchFamily="50" charset="-127"/>
                <a:cs typeface="Times New Roman" pitchFamily="18" charset="0"/>
              </a:rPr>
              <a:t>tích                     D. </a:t>
            </a:r>
            <a:r>
              <a:rPr lang="en-US" altLang="ko-KR" sz="950">
                <a:latin typeface="Times New Roman" pitchFamily="18" charset="0"/>
                <a:ea typeface="돋움" pitchFamily="50" charset="-127"/>
                <a:cs typeface="Times New Roman" pitchFamily="18" charset="0"/>
              </a:rPr>
              <a:t>Electron tự do</a:t>
            </a:r>
          </a:p>
        </p:txBody>
      </p:sp>
      <p:sp>
        <p:nvSpPr>
          <p:cNvPr id="124" name="Rectangle 123"/>
          <p:cNvSpPr/>
          <p:nvPr/>
        </p:nvSpPr>
        <p:spPr>
          <a:xfrm>
            <a:off x="3501008" y="4147946"/>
            <a:ext cx="3127376" cy="1115690"/>
          </a:xfrm>
          <a:prstGeom prst="rect">
            <a:avLst/>
          </a:prstGeom>
        </p:spPr>
        <p:txBody>
          <a:bodyPr wrap="square">
            <a:spAutoFit/>
          </a:bodyPr>
          <a:lstStyle/>
          <a:p>
            <a:pPr eaLnBrk="1" hangingPunct="1"/>
            <a:r>
              <a:rPr lang="en-US" altLang="ko-KR" sz="950" smtClean="0">
                <a:latin typeface="Times New Roman" pitchFamily="18" charset="0"/>
                <a:ea typeface="돋움" pitchFamily="50" charset="-127"/>
                <a:cs typeface="Times New Roman" pitchFamily="18" charset="0"/>
              </a:rPr>
              <a:t>18</a:t>
            </a:r>
            <a:r>
              <a:rPr lang="en-US" altLang="ko-KR" sz="950">
                <a:latin typeface="Times New Roman" pitchFamily="18" charset="0"/>
                <a:ea typeface="돋움" pitchFamily="50" charset="-127"/>
                <a:cs typeface="Times New Roman" pitchFamily="18" charset="0"/>
              </a:rPr>
              <a:t>. Chọn từ điền vào chỗ trống?</a:t>
            </a:r>
          </a:p>
          <a:p>
            <a:pPr eaLnBrk="1" hangingPunct="1"/>
            <a:r>
              <a:rPr lang="en-US" altLang="ko-KR" sz="950">
                <a:latin typeface="Times New Roman" pitchFamily="18" charset="0"/>
                <a:ea typeface="돋움" pitchFamily="50" charset="-127"/>
                <a:cs typeface="Times New Roman" pitchFamily="18" charset="0"/>
              </a:rPr>
              <a:t> - Tất cả các vật chất đều được tạo thành bởi tập hợp các phân tử hoặc nguyên tủ, nguyên tử được cấu trúc bở hạt nhân nguyên tử và các (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 quay xung quanh nó.</a:t>
            </a:r>
          </a:p>
          <a:p>
            <a:pPr eaLnBrk="1" hangingPunct="1"/>
            <a:endParaRPr lang="en-US" altLang="ko-KR" sz="95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Hạt </a:t>
            </a:r>
            <a:r>
              <a:rPr lang="en-US" altLang="ko-KR" sz="950">
                <a:latin typeface="Times New Roman" pitchFamily="18" charset="0"/>
                <a:ea typeface="돋움" pitchFamily="50" charset="-127"/>
                <a:cs typeface="Times New Roman" pitchFamily="18" charset="0"/>
              </a:rPr>
              <a:t>nhân nguyên tử</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en-US" altLang="ko-KR" sz="950">
                <a:latin typeface="Times New Roman" pitchFamily="18" charset="0"/>
                <a:ea typeface="돋움" pitchFamily="50" charset="-127"/>
                <a:cs typeface="Times New Roman" pitchFamily="18" charset="0"/>
              </a:rPr>
              <a:t>.</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Nguyên tố</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a:t>
            </a:r>
            <a:r>
              <a:rPr lang="en-US" altLang="ko-KR" sz="950" smtClean="0">
                <a:latin typeface="Times New Roman" pitchFamily="18" charset="0"/>
                <a:ea typeface="돋움" pitchFamily="50" charset="-127"/>
                <a:cs typeface="Times New Roman" pitchFamily="18" charset="0"/>
              </a:rPr>
              <a:t>eutron</a:t>
            </a:r>
            <a:endParaRPr lang="ko-KR" altLang="en-US" sz="950" dirty="0">
              <a:latin typeface="Times New Roman" pitchFamily="18" charset="0"/>
              <a:ea typeface="돋움" pitchFamily="50" charset="-127"/>
              <a:cs typeface="Times New Roman" pitchFamily="18" charset="0"/>
            </a:endParaRPr>
          </a:p>
        </p:txBody>
      </p:sp>
      <p:grpSp>
        <p:nvGrpSpPr>
          <p:cNvPr id="125" name="Group 124"/>
          <p:cNvGrpSpPr/>
          <p:nvPr/>
        </p:nvGrpSpPr>
        <p:grpSpPr>
          <a:xfrm>
            <a:off x="174625" y="3636238"/>
            <a:ext cx="3429000" cy="1992853"/>
            <a:chOff x="3442740" y="4805152"/>
            <a:chExt cx="3429000" cy="1992853"/>
          </a:xfrm>
        </p:grpSpPr>
        <p:sp>
          <p:nvSpPr>
            <p:cNvPr id="126" name="Rectangle 82"/>
            <p:cNvSpPr>
              <a:spLocks noChangeArrowheads="1"/>
            </p:cNvSpPr>
            <p:nvPr/>
          </p:nvSpPr>
          <p:spPr bwMode="auto">
            <a:xfrm>
              <a:off x="3442740" y="4805152"/>
              <a:ext cx="34290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13. Giá trị Vp_p(Peak-peak)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 </a:t>
              </a:r>
              <a:r>
                <a:rPr lang="en-US" altLang="ko-KR" sz="950" dirty="0">
                  <a:latin typeface="Times New Roman" pitchFamily="18" charset="0"/>
                  <a:cs typeface="Times New Roman" pitchFamily="18" charset="0"/>
                </a:rPr>
                <a:t>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6[V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12[V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24[V</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27" name="Group 83"/>
            <p:cNvGrpSpPr>
              <a:grpSpLocks/>
            </p:cNvGrpSpPr>
            <p:nvPr/>
          </p:nvGrpSpPr>
          <p:grpSpPr bwMode="auto">
            <a:xfrm>
              <a:off x="3822760" y="5111494"/>
              <a:ext cx="2312456" cy="1210309"/>
              <a:chOff x="3112" y="3353"/>
              <a:chExt cx="920" cy="777"/>
            </a:xfrm>
          </p:grpSpPr>
          <p:graphicFrame>
            <p:nvGraphicFramePr>
              <p:cNvPr id="128" name="Object 84"/>
              <p:cNvGraphicFramePr>
                <a:graphicFrameLocks noChangeAspect="1"/>
              </p:cNvGraphicFramePr>
              <p:nvPr>
                <p:extLst>
                  <p:ext uri="{D42A27DB-BD31-4B8C-83A1-F6EECF244321}">
                    <p14:modId xmlns:p14="http://schemas.microsoft.com/office/powerpoint/2010/main" val="2192084999"/>
                  </p:ext>
                </p:extLst>
              </p:nvPr>
            </p:nvGraphicFramePr>
            <p:xfrm>
              <a:off x="3156" y="3353"/>
              <a:ext cx="876" cy="624"/>
            </p:xfrm>
            <a:graphic>
              <a:graphicData uri="http://schemas.openxmlformats.org/presentationml/2006/ole">
                <mc:AlternateContent xmlns:mc="http://schemas.openxmlformats.org/markup-compatibility/2006">
                  <mc:Choice xmlns:v="urn:schemas-microsoft-com:vml" Requires="v">
                    <p:oleObj spid="_x0000_s2087" name="비트맵 이미지" r:id="rId6" imgW="2781688" imgH="1980952" progId="Paint.Picture">
                      <p:embed/>
                    </p:oleObj>
                  </mc:Choice>
                  <mc:Fallback>
                    <p:oleObj name="비트맵 이미지" r:id="rId6"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6" y="3353"/>
                            <a:ext cx="876"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Text Box 85"/>
              <p:cNvSpPr txBox="1">
                <a:spLocks noChangeArrowheads="1"/>
              </p:cNvSpPr>
              <p:nvPr/>
            </p:nvSpPr>
            <p:spPr bwMode="auto">
              <a:xfrm>
                <a:off x="3112" y="3977"/>
                <a:ext cx="29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0" name="Text Box 86"/>
              <p:cNvSpPr txBox="1">
                <a:spLocks noChangeArrowheads="1"/>
              </p:cNvSpPr>
              <p:nvPr/>
            </p:nvSpPr>
            <p:spPr bwMode="auto">
              <a:xfrm>
                <a:off x="3557" y="3968"/>
                <a:ext cx="24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grpSp>
      <p:grpSp>
        <p:nvGrpSpPr>
          <p:cNvPr id="131" name="Group 130"/>
          <p:cNvGrpSpPr/>
          <p:nvPr/>
        </p:nvGrpSpPr>
        <p:grpSpPr>
          <a:xfrm>
            <a:off x="198483" y="6105128"/>
            <a:ext cx="3124200" cy="1992853"/>
            <a:chOff x="3429000" y="7003812"/>
            <a:chExt cx="3124200" cy="1992853"/>
          </a:xfrm>
        </p:grpSpPr>
        <p:sp>
          <p:nvSpPr>
            <p:cNvPr id="132" name="Rectangle 173"/>
            <p:cNvSpPr>
              <a:spLocks noChangeArrowheads="1"/>
            </p:cNvSpPr>
            <p:nvPr/>
          </p:nvSpPr>
          <p:spPr bwMode="auto">
            <a:xfrm>
              <a:off x="3429000" y="7003812"/>
              <a:ext cx="31242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14. Giá </a:t>
              </a:r>
              <a:r>
                <a:rPr lang="en-US" altLang="ko-KR" sz="950" smtClean="0">
                  <a:latin typeface="Times New Roman" pitchFamily="18" charset="0"/>
                  <a:cs typeface="Times New Roman" pitchFamily="18" charset="0"/>
                </a:rPr>
                <a:t>trị </a:t>
              </a:r>
              <a:r>
                <a:rPr lang="en-US" altLang="ko-KR" sz="950">
                  <a:latin typeface="Times New Roman" pitchFamily="18" charset="0"/>
                  <a:cs typeface="Times New Roman" pitchFamily="18" charset="0"/>
                </a:rPr>
                <a:t>hiệu dụng là bao </a:t>
              </a:r>
              <a:r>
                <a:rPr lang="en-US" altLang="ko-KR" sz="950" smtClean="0">
                  <a:latin typeface="Times New Roman" pitchFamily="18" charset="0"/>
                  <a:cs typeface="Times New Roman" pitchFamily="18" charset="0"/>
                </a:rPr>
                <a:t>nhiêu?</a:t>
              </a:r>
              <a:endParaRPr lang="en-US" altLang="ko-KR" sz="95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t>
              </a: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endParaRPr lang="en-US" altLang="ko-KR" sz="95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a:t>
              </a:r>
              <a:r>
                <a:rPr lang="en-US" altLang="ko-KR" sz="950">
                  <a:latin typeface="Times New Roman" pitchFamily="18" charset="0"/>
                  <a:cs typeface="Times New Roman" pitchFamily="18" charset="0"/>
                </a:rPr>
                <a:t>. 4.242[V]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B. 3.822[V]  </a:t>
              </a:r>
              <a:r>
                <a:rPr lang="en-US" altLang="ko-KR" sz="950" smtClean="0">
                  <a:latin typeface="Times New Roman" pitchFamily="18" charset="0"/>
                  <a:cs typeface="Times New Roman" pitchFamily="18" charset="0"/>
                </a:rPr>
                <a:t>  C</a:t>
              </a:r>
              <a:r>
                <a:rPr lang="en-US" altLang="ko-KR" sz="950">
                  <a:latin typeface="Times New Roman" pitchFamily="18" charset="0"/>
                  <a:cs typeface="Times New Roman" pitchFamily="18" charset="0"/>
                </a:rPr>
                <a:t>. 4.2[V]    D. 3.8[V]</a:t>
              </a:r>
              <a:endParaRPr lang="en-US" altLang="ko-KR" sz="950" dirty="0">
                <a:latin typeface="Times New Roman" pitchFamily="18" charset="0"/>
                <a:cs typeface="Times New Roman" pitchFamily="18" charset="0"/>
              </a:endParaRPr>
            </a:p>
          </p:txBody>
        </p:sp>
        <p:graphicFrame>
          <p:nvGraphicFramePr>
            <p:cNvPr id="133" name="Object 84"/>
            <p:cNvGraphicFramePr>
              <a:graphicFrameLocks noChangeAspect="1"/>
            </p:cNvGraphicFramePr>
            <p:nvPr>
              <p:extLst>
                <p:ext uri="{D42A27DB-BD31-4B8C-83A1-F6EECF244321}">
                  <p14:modId xmlns:p14="http://schemas.microsoft.com/office/powerpoint/2010/main" val="2000011907"/>
                </p:ext>
              </p:extLst>
            </p:nvPr>
          </p:nvGraphicFramePr>
          <p:xfrm>
            <a:off x="3747489" y="7272523"/>
            <a:ext cx="2201861" cy="971987"/>
          </p:xfrm>
          <a:graphic>
            <a:graphicData uri="http://schemas.openxmlformats.org/presentationml/2006/ole">
              <mc:AlternateContent xmlns:mc="http://schemas.openxmlformats.org/markup-compatibility/2006">
                <mc:Choice xmlns:v="urn:schemas-microsoft-com:vml" Requires="v">
                  <p:oleObj spid="_x0000_s2088" name="비트맵 이미지" r:id="rId8" imgW="2781688" imgH="1980952" progId="Paint.Picture">
                    <p:embed/>
                  </p:oleObj>
                </mc:Choice>
                <mc:Fallback>
                  <p:oleObj name="비트맵 이미지" r:id="rId8"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7489" y="7272523"/>
                          <a:ext cx="2201861" cy="9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 name="Text Box 85"/>
            <p:cNvSpPr txBox="1">
              <a:spLocks noChangeArrowheads="1"/>
            </p:cNvSpPr>
            <p:nvPr/>
          </p:nvSpPr>
          <p:spPr bwMode="auto">
            <a:xfrm>
              <a:off x="3645030" y="8230005"/>
              <a:ext cx="74732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5" name="Text Box 86"/>
            <p:cNvSpPr txBox="1">
              <a:spLocks noChangeArrowheads="1"/>
            </p:cNvSpPr>
            <p:nvPr/>
          </p:nvSpPr>
          <p:spPr bwMode="auto">
            <a:xfrm>
              <a:off x="4947044" y="8230005"/>
              <a:ext cx="620683"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spTree>
    <p:extLst>
      <p:ext uri="{BB962C8B-B14F-4D97-AF65-F5344CB8AC3E}">
        <p14:creationId xmlns:p14="http://schemas.microsoft.com/office/powerpoint/2010/main" val="18409220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Transfer Contact là tên dùng để chỉ tiếp điểm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Tiếp điểm 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B</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Cả A B 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Thời gian sao chép condensor khi thay thế PIN của CPU là 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 </a:t>
            </a:r>
            <a:r>
              <a:rPr lang="en-US" altLang="ko-KR" sz="950" smtClean="0">
                <a:latin typeface="Times New Roman" pitchFamily="18" charset="0"/>
                <a:ea typeface="LG Smart_H Regular" panose="020B0600000101010101" pitchFamily="34" charset="-127"/>
                <a:cs typeface="Times New Roman" pitchFamily="18" charset="0"/>
              </a:rPr>
              <a:t>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phút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Relay đặc biệt nào sẽ chuyển trạng thái On khi phát hiện PIN của CPU sắp </a:t>
            </a:r>
            <a:r>
              <a:rPr lang="vi-VN" altLang="ko-KR" sz="950" smtClean="0">
                <a:latin typeface="Times New Roman" pitchFamily="18" charset="0"/>
                <a:ea typeface="LG Smart_H Regular" panose="020B0600000101010101" pitchFamily="34" charset="-127"/>
                <a:cs typeface="Times New Roman" pitchFamily="18" charset="0"/>
              </a:rPr>
              <a:t>hết?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SM51</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SM604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SM605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SM501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Là Device xuất ra bên ngoài (SOLENOID, cầu giao điện tử, đèn báo, máy biểu thị DIGITAL) v.v kết quả điều khiển Program </a:t>
            </a:r>
            <a:r>
              <a:rPr lang="vi-VN" altLang="ko-KR" sz="950" smtClean="0">
                <a:latin typeface="Times New Roman" pitchFamily="18" charset="0"/>
                <a:ea typeface="LG Smart_H Regular" panose="020B0600000101010101" pitchFamily="34" charset="-127"/>
                <a:cs typeface="Times New Roman" pitchFamily="18" charset="0"/>
              </a:rPr>
              <a:t>nhập?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 Y</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D. W</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Để vào được chế độ chỉnh sửa chương trình chế độ Offline trên GX Work 2(GX Developer ). Cần thực hiện tổ hợp phím tắt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F2</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 </a:t>
            </a:r>
            <a:r>
              <a:rPr lang="vi-VN" altLang="ko-KR" sz="950">
                <a:latin typeface="Times New Roman" pitchFamily="18" charset="0"/>
                <a:ea typeface="LG Smart_H Regular" panose="020B0600000101010101" pitchFamily="34" charset="-127"/>
                <a:cs typeface="Times New Roman" pitchFamily="18" charset="0"/>
              </a:rPr>
              <a:t>Shift +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F4</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a:latin typeface="Times New Roman" pitchFamily="18" charset="0"/>
                <a:ea typeface="LG Smart_H Regular" panose="020B0600000101010101" pitchFamily="34" charset="-127"/>
                <a:cs typeface="Times New Roman" pitchFamily="18" charset="0"/>
              </a:rPr>
              <a:t>Shift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Trong GX Developer để cài đặt số ký tự Comment tối đa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8</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16</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24</a:t>
            </a:r>
            <a:r>
              <a:rPr lang="en-US" altLang="ko-KR" sz="950" smtClean="0">
                <a:latin typeface="Times New Roman" pitchFamily="18" charset="0"/>
                <a:ea typeface="LG Smart_H Regular" panose="020B0600000101010101" pitchFamily="34" charset="-127"/>
                <a:cs typeface="Times New Roman" pitchFamily="18" charset="0"/>
              </a:rPr>
              <a:t>                D</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32</a:t>
            </a: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2432720"/>
            <a:ext cx="3233208"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Đâu không phải là mục đích sử dụng của Program dạng </a:t>
            </a:r>
            <a:r>
              <a:rPr lang="vi-VN" altLang="ko-KR" sz="950" smtClean="0">
                <a:latin typeface="Times New Roman" pitchFamily="18" charset="0"/>
                <a:ea typeface="LG Smart_H Regular" panose="020B0600000101010101" pitchFamily="34" charset="-127"/>
                <a:cs typeface="Times New Roman" pitchFamily="18" charset="0"/>
              </a:rPr>
              <a:t>chờ?</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 mục hóa Program thành các Subroutine Program, chuyển Interrupt Program sang Program dạng chờ và quản lý riêng so với Main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Dùng khi quản lý riêng Subroutine Program, Interrupt Program so với Main Routine </a:t>
            </a:r>
            <a:r>
              <a:rPr lang="en-US" altLang="ko-KR" sz="950" smtClean="0">
                <a:latin typeface="Times New Roman" pitchFamily="18" charset="0"/>
                <a:ea typeface="LG Smart_H Regular" panose="020B0600000101010101" pitchFamily="34" charset="-127"/>
                <a:cs typeface="Times New Roman" pitchFamily="18" charset="0"/>
              </a:rPr>
              <a:t>Program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Thay đổi trình tự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ngừng thực hiện Program dạng chờ thì sẽ tiến hành Program ngay sau đó.</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01890" y="506279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thuật ngữ liên quan đến dung lượng của thiết bị bộ nhớ, 1 Quarter bằng bao nhiêu BIT?. Chọn đáp áp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Quarter </a:t>
            </a:r>
            <a:r>
              <a:rPr lang="en-US" altLang="ko-KR" sz="950">
                <a:latin typeface="Times New Roman" pitchFamily="18" charset="0"/>
                <a:ea typeface="LG Smart_H Regular" panose="020B0600000101010101" pitchFamily="34" charset="-127"/>
                <a:cs typeface="Times New Roman" pitchFamily="18" charset="0"/>
              </a:rPr>
              <a:t>= 4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2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1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8 bit (tức 1/4byte)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25951" y="4664968"/>
            <a:ext cx="3239810" cy="2139047"/>
            <a:chOff x="3425951" y="4664968"/>
            <a:chExt cx="3239810" cy="2139047"/>
          </a:xfrm>
        </p:grpSpPr>
        <p:sp>
          <p:nvSpPr>
            <p:cNvPr id="183" name="Rectangle 7"/>
            <p:cNvSpPr>
              <a:spLocks noChangeArrowheads="1"/>
            </p:cNvSpPr>
            <p:nvPr/>
          </p:nvSpPr>
          <p:spPr bwMode="auto">
            <a:xfrm>
              <a:off x="3425951" y="466496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K2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K3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7" name="그림 6"/>
            <p:cNvPicPr>
              <a:picLocks noChangeAspect="1"/>
            </p:cNvPicPr>
            <p:nvPr/>
          </p:nvPicPr>
          <p:blipFill>
            <a:blip r:embed="rId3"/>
            <a:stretch>
              <a:fillRect/>
            </a:stretch>
          </p:blipFill>
          <p:spPr>
            <a:xfrm>
              <a:off x="3527302" y="5063108"/>
              <a:ext cx="3076698" cy="1402060"/>
            </a:xfrm>
            <a:prstGeom prst="rect">
              <a:avLst/>
            </a:prstGeom>
          </p:spPr>
        </p:pic>
      </p:grpSp>
      <p:grpSp>
        <p:nvGrpSpPr>
          <p:cNvPr id="3" name="Group 2"/>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4.4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0.4 </a:t>
              </a:r>
              <a:r>
                <a:rPr lang="en-US" altLang="ko-KR" sz="950">
                  <a:latin typeface="Times New Roman" pitchFamily="18" charset="0"/>
                  <a:ea typeface="LG Smart_H Regular" panose="020B0600000101010101" pitchFamily="34" charset="-127"/>
                  <a:cs typeface="Times New Roman" pitchFamily="18" charset="0"/>
                </a:rPr>
                <a:t>giây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그림 19"/>
            <p:cNvPicPr>
              <a:picLocks noChangeAspect="1"/>
            </p:cNvPicPr>
            <p:nvPr/>
          </p:nvPicPr>
          <p:blipFill>
            <a:blip r:embed="rId4"/>
            <a:stretch>
              <a:fillRect/>
            </a:stretch>
          </p:blipFill>
          <p:spPr>
            <a:xfrm>
              <a:off x="3493643" y="7460446"/>
              <a:ext cx="3110358" cy="1380986"/>
            </a:xfrm>
            <a:prstGeom prst="rect">
              <a:avLst/>
            </a:prstGeom>
          </p:spPr>
        </p:pic>
      </p:grpSp>
    </p:spTree>
    <p:extLst>
      <p:ext uri="{BB962C8B-B14F-4D97-AF65-F5344CB8AC3E}">
        <p14:creationId xmlns:p14="http://schemas.microsoft.com/office/powerpoint/2010/main" val="162301673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31" name="Rectangle 101"/>
          <p:cNvSpPr>
            <a:spLocks noChangeArrowheads="1"/>
          </p:cNvSpPr>
          <p:nvPr/>
        </p:nvSpPr>
        <p:spPr bwMode="auto">
          <a:xfrm>
            <a:off x="215627" y="4134053"/>
            <a:ext cx="34290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3.</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Hãy đổi F14 hệ 16 thành hệ nhị phân </a:t>
            </a:r>
            <a:r>
              <a:rPr lang="vi-VN" altLang="ko-KR" sz="950" smtClean="0">
                <a:latin typeface="Times New Roman" pitchFamily="18" charset="0"/>
                <a:ea typeface="돋움" pitchFamily="50" charset="-127"/>
                <a:cs typeface="Times New Roman" pitchFamily="18" charset="0"/>
              </a:rPr>
              <a:t>.</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A</a:t>
            </a:r>
            <a:r>
              <a:rPr lang="en-US" altLang="ko-KR" sz="950" smtClean="0">
                <a:latin typeface="Times New Roman" pitchFamily="18" charset="0"/>
                <a:ea typeface="돋움" pitchFamily="50" charset="-127"/>
                <a:cs typeface="Times New Roman" pitchFamily="18" charset="0"/>
              </a:rPr>
              <a:t>. </a:t>
            </a:r>
            <a:r>
              <a:rPr lang="vi-VN" altLang="ko-KR" sz="950" smtClean="0">
                <a:latin typeface="Times New Roman" pitchFamily="18" charset="0"/>
                <a:ea typeface="돋움" pitchFamily="50" charset="-127"/>
                <a:cs typeface="Times New Roman" pitchFamily="18" charset="0"/>
              </a:rPr>
              <a:t>1110 </a:t>
            </a:r>
            <a:r>
              <a:rPr lang="vi-VN" altLang="ko-KR" sz="950">
                <a:latin typeface="Times New Roman" pitchFamily="18" charset="0"/>
                <a:ea typeface="돋움" pitchFamily="50" charset="-127"/>
                <a:cs typeface="Times New Roman" pitchFamily="18" charset="0"/>
              </a:rPr>
              <a:t>0001 0100      </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B</a:t>
            </a:r>
            <a:r>
              <a:rPr lang="vi-VN" altLang="ko-KR" sz="950">
                <a:latin typeface="Times New Roman" pitchFamily="18" charset="0"/>
                <a:ea typeface="돋움" pitchFamily="50" charset="-127"/>
                <a:cs typeface="Times New Roman" pitchFamily="18" charset="0"/>
              </a:rPr>
              <a:t>. 1010 1001 0110  </a:t>
            </a:r>
          </a:p>
          <a:p>
            <a:pPr eaLnBrk="1" hangingPunct="1"/>
            <a:r>
              <a:rPr lang="vi-VN" altLang="ko-KR" sz="950" smtClean="0">
                <a:latin typeface="Times New Roman" pitchFamily="18" charset="0"/>
                <a:ea typeface="돋움" pitchFamily="50" charset="-127"/>
                <a:cs typeface="Times New Roman" pitchFamily="18" charset="0"/>
              </a:rPr>
              <a:t>C</a:t>
            </a:r>
            <a:r>
              <a:rPr lang="vi-VN" altLang="ko-KR" sz="950">
                <a:latin typeface="Times New Roman" pitchFamily="18" charset="0"/>
                <a:ea typeface="돋움" pitchFamily="50" charset="-127"/>
                <a:cs typeface="Times New Roman" pitchFamily="18" charset="0"/>
              </a:rPr>
              <a:t>. 1111 1110 1011      </a:t>
            </a:r>
            <a:endParaRPr lang="en-US" altLang="ko-KR" sz="950" smtClean="0">
              <a:latin typeface="Times New Roman" pitchFamily="18" charset="0"/>
              <a:ea typeface="돋움" pitchFamily="50" charset="-127"/>
              <a:cs typeface="Times New Roman" pitchFamily="18" charset="0"/>
            </a:endParaRPr>
          </a:p>
          <a:p>
            <a:pPr eaLnBrk="1" hangingPunct="1"/>
            <a:r>
              <a:rPr lang="vi-VN" altLang="ko-KR" sz="950" smtClean="0">
                <a:latin typeface="Times New Roman" pitchFamily="18" charset="0"/>
                <a:ea typeface="돋움" pitchFamily="50" charset="-127"/>
                <a:cs typeface="Times New Roman" pitchFamily="18" charset="0"/>
              </a:rPr>
              <a:t>D</a:t>
            </a:r>
            <a:r>
              <a:rPr lang="vi-VN" altLang="ko-KR" sz="950">
                <a:latin typeface="Times New Roman" pitchFamily="18" charset="0"/>
                <a:ea typeface="돋움" pitchFamily="50" charset="-127"/>
                <a:cs typeface="Times New Roman" pitchFamily="18" charset="0"/>
              </a:rPr>
              <a:t>. 1111 0001 0100</a:t>
            </a:r>
            <a:endParaRPr lang="vi-VN" altLang="ko-KR" sz="950" dirty="0" err="1">
              <a:latin typeface="Times New Roman" pitchFamily="18" charset="0"/>
              <a:ea typeface="돋움" pitchFamily="50" charset="-127"/>
              <a:cs typeface="Times New Roman" pitchFamily="18" charset="0"/>
            </a:endParaRPr>
          </a:p>
        </p:txBody>
      </p:sp>
      <p:sp>
        <p:nvSpPr>
          <p:cNvPr id="32" name="Rectangle 101"/>
          <p:cNvSpPr>
            <a:spLocks noChangeArrowheads="1"/>
          </p:cNvSpPr>
          <p:nvPr/>
        </p:nvSpPr>
        <p:spPr bwMode="auto">
          <a:xfrm>
            <a:off x="188640" y="1035532"/>
            <a:ext cx="32677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1.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thay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tục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như</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dòng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nhiệt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tốc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digital</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Analog</a:t>
            </a:r>
            <a:r>
              <a:rPr lang="ko-KR" altLang="en-US"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digital/ </a:t>
            </a:r>
            <a:r>
              <a:rPr lang="en-US" altLang="ko-KR" sz="950" smtClean="0">
                <a:latin typeface="Times New Roman" pitchFamily="18" charset="0"/>
                <a:ea typeface="돋움" pitchFamily="50" charset="-127"/>
                <a:cs typeface="Times New Roman" pitchFamily="18" charset="0"/>
              </a:rPr>
              <a:t>analog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trị</a:t>
            </a:r>
            <a:r>
              <a:rPr lang="en-US" altLang="ko-KR" sz="950" dirty="0" smtClean="0">
                <a:latin typeface="Times New Roman" pitchFamily="18" charset="0"/>
                <a:ea typeface="돋움" pitchFamily="50" charset="-127"/>
                <a:cs typeface="Times New Roman" pitchFamily="18" charset="0"/>
              </a:rPr>
              <a:t> analog/</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digital</a:t>
            </a:r>
            <a:endParaRPr lang="ko-KR" altLang="en-US" sz="950" dirty="0">
              <a:latin typeface="Times New Roman" pitchFamily="18" charset="0"/>
              <a:ea typeface="돋움" pitchFamily="50" charset="-127"/>
              <a:cs typeface="Times New Roman" pitchFamily="18" charset="0"/>
            </a:endParaRPr>
          </a:p>
        </p:txBody>
      </p:sp>
      <p:sp>
        <p:nvSpPr>
          <p:cNvPr id="34" name="Rectangle 101"/>
          <p:cNvSpPr>
            <a:spLocks noChangeArrowheads="1"/>
          </p:cNvSpPr>
          <p:nvPr/>
        </p:nvSpPr>
        <p:spPr bwMode="auto">
          <a:xfrm>
            <a:off x="215627" y="5286181"/>
            <a:ext cx="3429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4.</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Hãy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đổi</a:t>
            </a:r>
            <a:r>
              <a:rPr lang="en-US" altLang="ko-KR" sz="950" dirty="0" smtClean="0">
                <a:latin typeface="Times New Roman" pitchFamily="18" charset="0"/>
                <a:ea typeface="돋움" pitchFamily="50" charset="-127"/>
                <a:cs typeface="Times New Roman" pitchFamily="18" charset="0"/>
              </a:rPr>
              <a:t> 458 </a:t>
            </a:r>
            <a:r>
              <a:rPr lang="en-US" altLang="ko-KR" sz="950" dirty="0" err="1" smtClean="0">
                <a:latin typeface="Times New Roman" pitchFamily="18" charset="0"/>
                <a:ea typeface="돋움" pitchFamily="50" charset="-127"/>
                <a:cs typeface="Times New Roman" pitchFamily="18" charset="0"/>
              </a:rPr>
              <a:t>hệ</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thập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thành</a:t>
            </a:r>
            <a:r>
              <a:rPr lang="en-US" altLang="ko-KR" sz="950" dirty="0" smtClean="0">
                <a:latin typeface="Times New Roman" pitchFamily="18" charset="0"/>
                <a:ea typeface="돋움" pitchFamily="50" charset="-127"/>
                <a:cs typeface="Times New Roman" pitchFamily="18" charset="0"/>
              </a:rPr>
              <a:t> code </a:t>
            </a:r>
            <a:r>
              <a:rPr lang="ko-KR" altLang="en-US"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BCD </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a:latin typeface="Times New Roman" pitchFamily="18" charset="0"/>
                <a:ea typeface="돋움" pitchFamily="50" charset="-127"/>
                <a:cs typeface="Times New Roman" pitchFamily="18" charset="0"/>
              </a:rPr>
              <a:t>1100 0101 </a:t>
            </a:r>
            <a:r>
              <a:rPr lang="en-US" altLang="ko-KR" sz="950">
                <a:latin typeface="Times New Roman" pitchFamily="18" charset="0"/>
                <a:ea typeface="돋움" pitchFamily="50" charset="-127"/>
                <a:cs typeface="Times New Roman" pitchFamily="18" charset="0"/>
              </a:rPr>
              <a:t>1000    </a:t>
            </a:r>
            <a:r>
              <a:rPr lang="en-US" altLang="ko-KR" sz="950" smtClean="0">
                <a:latin typeface="Times New Roman" pitchFamily="18" charset="0"/>
                <a:ea typeface="돋움" pitchFamily="50" charset="-127"/>
                <a:cs typeface="Times New Roman" pitchFamily="18" charset="0"/>
              </a:rPr>
              <a:t>  B. </a:t>
            </a:r>
            <a:r>
              <a:rPr lang="en-US" altLang="ko-KR" sz="950" dirty="0">
                <a:latin typeface="Times New Roman" pitchFamily="18" charset="0"/>
                <a:ea typeface="돋움" pitchFamily="50" charset="-127"/>
                <a:cs typeface="Times New Roman" pitchFamily="18" charset="0"/>
              </a:rPr>
              <a:t>100 0101 1000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en-US" altLang="ko-KR" sz="950" dirty="0">
                <a:latin typeface="Times New Roman" pitchFamily="18" charset="0"/>
                <a:ea typeface="돋움" pitchFamily="50" charset="-127"/>
                <a:cs typeface="Times New Roman" pitchFamily="18" charset="0"/>
              </a:rPr>
              <a:t>101 1010 </a:t>
            </a:r>
            <a:r>
              <a:rPr lang="en-US" altLang="ko-KR" sz="950">
                <a:latin typeface="Times New Roman" pitchFamily="18" charset="0"/>
                <a:ea typeface="돋움" pitchFamily="50" charset="-127"/>
                <a:cs typeface="Times New Roman" pitchFamily="18" charset="0"/>
              </a:rPr>
              <a:t>0001       </a:t>
            </a:r>
            <a:r>
              <a:rPr lang="en-US" altLang="ko-KR" sz="950" smtClean="0">
                <a:latin typeface="Times New Roman" pitchFamily="18" charset="0"/>
                <a:ea typeface="돋움" pitchFamily="50" charset="-127"/>
                <a:cs typeface="Times New Roman" pitchFamily="18" charset="0"/>
              </a:rPr>
              <a:t> D. </a:t>
            </a:r>
            <a:r>
              <a:rPr lang="en-US" altLang="ko-KR" sz="950" dirty="0">
                <a:latin typeface="Times New Roman" pitchFamily="18" charset="0"/>
                <a:ea typeface="돋움" pitchFamily="50" charset="-127"/>
                <a:cs typeface="Times New Roman" pitchFamily="18" charset="0"/>
              </a:rPr>
              <a:t>100 0101 1001</a:t>
            </a:r>
            <a:endParaRPr lang="ko-KR" altLang="en-US" sz="950" dirty="0">
              <a:latin typeface="Times New Roman" pitchFamily="18" charset="0"/>
              <a:ea typeface="돋움" pitchFamily="50" charset="-127"/>
              <a:cs typeface="Times New Roman" pitchFamily="18" charset="0"/>
            </a:endParaRPr>
          </a:p>
        </p:txBody>
      </p:sp>
      <p:sp>
        <p:nvSpPr>
          <p:cNvPr id="35" name="Rectangle 101"/>
          <p:cNvSpPr>
            <a:spLocks noChangeArrowheads="1"/>
          </p:cNvSpPr>
          <p:nvPr/>
        </p:nvSpPr>
        <p:spPr bwMode="auto">
          <a:xfrm>
            <a:off x="215627" y="6281226"/>
            <a:ext cx="34290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5</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Hãy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Device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nhận</a:t>
            </a:r>
            <a:r>
              <a:rPr lang="en-US" altLang="ko-KR" sz="950" dirty="0" smtClean="0">
                <a:latin typeface="Times New Roman" pitchFamily="18" charset="0"/>
                <a:ea typeface="돋움" pitchFamily="50" charset="-127"/>
                <a:cs typeface="Times New Roman" pitchFamily="18" charset="0"/>
              </a:rPr>
              <a:t> input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CPU </a:t>
            </a:r>
            <a:r>
              <a:rPr lang="en-US" altLang="ko-KR" sz="950" dirty="0" err="1" smtClean="0">
                <a:latin typeface="Times New Roman" pitchFamily="18" charset="0"/>
                <a:ea typeface="돋움" pitchFamily="50" charset="-127"/>
                <a:cs typeface="Times New Roman" pitchFamily="18" charset="0"/>
              </a:rPr>
              <a:t>hpawcj</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Device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ở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CPU,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trước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tiếp</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ngoài</a:t>
            </a:r>
            <a:r>
              <a:rPr lang="en-US" altLang="ko-KR" sz="950" dirty="0" smtClean="0">
                <a:latin typeface="Times New Roman" pitchFamily="18" charset="0"/>
                <a:ea typeface="돋움" pitchFamily="50" charset="-127"/>
                <a:cs typeface="Times New Roman" pitchFamily="18" charset="0"/>
              </a:rPr>
              <a:t> CPU.</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Bit Device </a:t>
            </a:r>
            <a:r>
              <a:rPr lang="en-US" altLang="ko-KR" sz="950" dirty="0" smtClean="0">
                <a:latin typeface="Times New Roman" pitchFamily="18" charset="0"/>
                <a:ea typeface="돋움" pitchFamily="50" charset="-127"/>
                <a:cs typeface="Times New Roman" pitchFamily="18" charset="0"/>
              </a:rPr>
              <a:t>: Device  </a:t>
            </a:r>
            <a:r>
              <a:rPr lang="en-US" altLang="ko-KR" sz="950" dirty="0" err="1" smtClean="0">
                <a:latin typeface="Times New Roman" pitchFamily="18" charset="0"/>
                <a:ea typeface="돋움" pitchFamily="50" charset="-127"/>
                <a:cs typeface="Times New Roman" pitchFamily="18" charset="0"/>
              </a:rPr>
              <a:t>chỉ</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On/Off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thuần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hệ</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bát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ko-KR" altLang="en-US" sz="950" dirty="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0~7</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dirty="0">
                <a:latin typeface="Times New Roman" pitchFamily="18" charset="0"/>
                <a:ea typeface="돋움" pitchFamily="50" charset="-127"/>
                <a:cs typeface="Times New Roman" pitchFamily="18" charset="0"/>
              </a:rPr>
              <a:t>Word Device :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Bit.Word</a:t>
            </a:r>
            <a:endParaRPr lang="ko-KR" altLang="en-US" sz="950" dirty="0">
              <a:latin typeface="Times New Roman" pitchFamily="18" charset="0"/>
              <a:ea typeface="돋움" pitchFamily="50" charset="-127"/>
              <a:cs typeface="Times New Roman" pitchFamily="18" charset="0"/>
            </a:endParaRPr>
          </a:p>
        </p:txBody>
      </p:sp>
      <p:sp>
        <p:nvSpPr>
          <p:cNvPr id="36" name="Rectangle 101"/>
          <p:cNvSpPr>
            <a:spLocks noChangeArrowheads="1"/>
          </p:cNvSpPr>
          <p:nvPr/>
        </p:nvSpPr>
        <p:spPr bwMode="auto">
          <a:xfrm>
            <a:off x="188640" y="8380348"/>
            <a:ext cx="32344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6</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DEVICE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vùng</a:t>
            </a:r>
            <a:r>
              <a:rPr lang="en-US" altLang="ko-KR"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USER </a:t>
            </a:r>
            <a:r>
              <a:rPr lang="en-US" altLang="ko-KR" sz="950" dirty="0" smtClean="0">
                <a:latin typeface="Times New Roman" pitchFamily="18" charset="0"/>
                <a:ea typeface="돋움" pitchFamily="50" charset="-127"/>
                <a:cs typeface="Times New Roman" pitchFamily="18" charset="0"/>
              </a:rPr>
              <a:t>MEMORY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mở</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rộng</a:t>
            </a:r>
            <a:r>
              <a:rPr lang="en-US" altLang="ko-KR" sz="950" dirty="0" smtClean="0">
                <a:latin typeface="Times New Roman" pitchFamily="18" charset="0"/>
                <a:ea typeface="돋움" pitchFamily="50" charset="-127"/>
                <a:cs typeface="Times New Roman" pitchFamily="18" charset="0"/>
              </a:rPr>
              <a:t> data Resister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R   </a:t>
            </a:r>
            <a:r>
              <a:rPr lang="en-US" altLang="ko-KR" sz="950" smtClean="0">
                <a:latin typeface="Times New Roman" pitchFamily="18" charset="0"/>
                <a:ea typeface="돋움" pitchFamily="50" charset="-127"/>
                <a:cs typeface="Times New Roman" pitchFamily="18" charset="0"/>
              </a:rPr>
              <a:t>          B. </a:t>
            </a:r>
            <a:r>
              <a:rPr lang="en-US" altLang="ko-KR" sz="950">
                <a:latin typeface="Times New Roman" pitchFamily="18" charset="0"/>
                <a:ea typeface="돋움" pitchFamily="50" charset="-127"/>
                <a:cs typeface="Times New Roman" pitchFamily="18" charset="0"/>
              </a:rPr>
              <a:t>W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D   </a:t>
            </a:r>
            <a:r>
              <a:rPr lang="en-US" altLang="ko-KR"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4 .M</a:t>
            </a:r>
            <a:endParaRPr lang="ko-KR" altLang="en-US" sz="950" dirty="0">
              <a:latin typeface="Times New Roman" pitchFamily="18" charset="0"/>
              <a:ea typeface="돋움" pitchFamily="50" charset="-127"/>
              <a:cs typeface="Times New Roman" pitchFamily="18" charset="0"/>
            </a:endParaRPr>
          </a:p>
        </p:txBody>
      </p:sp>
      <p:sp>
        <p:nvSpPr>
          <p:cNvPr id="37" name="Rectangle 101"/>
          <p:cNvSpPr>
            <a:spLocks noChangeArrowheads="1"/>
          </p:cNvSpPr>
          <p:nvPr/>
        </p:nvSpPr>
        <p:spPr bwMode="auto">
          <a:xfrm>
            <a:off x="3439443" y="1034950"/>
            <a:ext cx="324075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3</a:t>
            </a:r>
            <a:r>
              <a:rPr lang="en-US" altLang="ko-KR" sz="950" smtClean="0">
                <a:latin typeface="Times New Roman" pitchFamily="18" charset="0"/>
                <a:ea typeface="돋움" pitchFamily="50" charset="-127"/>
                <a:cs typeface="Times New Roman" pitchFamily="18" charset="0"/>
              </a:rPr>
              <a:t>7</a:t>
            </a:r>
            <a:r>
              <a:rPr lang="en-US" altLang="ko-KR" sz="950" dirty="0">
                <a:latin typeface="Times New Roman" pitchFamily="18" charset="0"/>
                <a:ea typeface="돋움" pitchFamily="50" charset="-127"/>
                <a:cs typeface="Times New Roman" pitchFamily="18" charset="0"/>
              </a:rPr>
              <a:t>.</a:t>
            </a:r>
            <a:r>
              <a:rPr lang="ko-KR" altLang="en-US"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Word Device?</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 . </a:t>
            </a:r>
            <a:r>
              <a:rPr lang="en-US" altLang="ko-KR" sz="950">
                <a:latin typeface="Times New Roman" pitchFamily="18" charset="0"/>
                <a:ea typeface="돋움" pitchFamily="50" charset="-127"/>
                <a:cs typeface="Times New Roman" pitchFamily="18" charset="0"/>
              </a:rPr>
              <a:t>T  </a:t>
            </a:r>
            <a:r>
              <a:rPr lang="en-US" altLang="ko-KR" sz="950" smtClean="0">
                <a:latin typeface="Times New Roman" pitchFamily="18" charset="0"/>
                <a:ea typeface="돋움" pitchFamily="50" charset="-127"/>
                <a:cs typeface="Times New Roman" pitchFamily="18" charset="0"/>
              </a:rPr>
              <a:t>         B. F               C. D          D. R</a:t>
            </a:r>
            <a:endParaRPr lang="ko-KR" altLang="en-US" sz="950" dirty="0">
              <a:latin typeface="Times New Roman" pitchFamily="18" charset="0"/>
              <a:ea typeface="돋움" pitchFamily="50" charset="-127"/>
              <a:cs typeface="Times New Roman" pitchFamily="18" charset="0"/>
            </a:endParaRPr>
          </a:p>
        </p:txBody>
      </p:sp>
      <p:sp>
        <p:nvSpPr>
          <p:cNvPr id="39" name="Rectangle 99"/>
          <p:cNvSpPr>
            <a:spLocks noChangeArrowheads="1"/>
          </p:cNvSpPr>
          <p:nvPr/>
        </p:nvSpPr>
        <p:spPr bwMode="auto">
          <a:xfrm>
            <a:off x="3429000" y="2144688"/>
            <a:ext cx="32793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3</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Hãy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án</a:t>
            </a:r>
            <a:r>
              <a:rPr lang="en-US" altLang="ko-KR" sz="950" smtClean="0">
                <a:latin typeface="Times New Roman" pitchFamily="18" charset="0"/>
                <a:cs typeface="Times New Roman" pitchFamily="18" charset="0"/>
              </a:rPr>
              <a:t> không đúng giải </a:t>
            </a:r>
            <a:r>
              <a:rPr lang="en-US" altLang="ko-KR" sz="950" err="1" smtClean="0">
                <a:latin typeface="Times New Roman" pitchFamily="18" charset="0"/>
                <a:cs typeface="Times New Roman" pitchFamily="18" charset="0"/>
              </a:rPr>
              <a:t>thích</a:t>
            </a:r>
            <a:r>
              <a:rPr lang="en-US" altLang="ko-KR" sz="950" smtClean="0">
                <a:latin typeface="Times New Roman" pitchFamily="18" charset="0"/>
                <a:cs typeface="Times New Roman" pitchFamily="18" charset="0"/>
              </a:rPr>
              <a:t> về Byte?</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Gộp</a:t>
            </a:r>
            <a:r>
              <a:rPr lang="en-US" altLang="ko-KR" sz="950" dirty="0" smtClean="0">
                <a:latin typeface="Times New Roman" pitchFamily="18" charset="0"/>
                <a:cs typeface="Times New Roman" pitchFamily="18" charset="0"/>
              </a:rPr>
              <a:t> 8ea Bit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Byte.</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biểu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256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thông</a:t>
            </a:r>
            <a:r>
              <a:rPr lang="en-US" altLang="ko-KR" sz="950" dirty="0" smtClean="0">
                <a:latin typeface="Times New Roman" pitchFamily="18" charset="0"/>
                <a:cs typeface="Times New Roman" pitchFamily="18" charset="0"/>
              </a:rPr>
              <a:t> tin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biểu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chữ</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chữ</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biệt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smtClean="0">
                <a:latin typeface="Times New Roman" pitchFamily="18" charset="0"/>
                <a:cs typeface="Times New Roman" pitchFamily="18" charset="0"/>
              </a:rPr>
              <a:t>1 Byte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1 </a:t>
            </a:r>
            <a:r>
              <a:rPr lang="en-US" altLang="ko-KR" sz="950" smtClean="0">
                <a:latin typeface="Times New Roman" pitchFamily="18" charset="0"/>
                <a:cs typeface="Times New Roman" pitchFamily="18" charset="0"/>
              </a:rPr>
              <a:t>bit.</a:t>
            </a:r>
            <a:endParaRPr lang="en-US" altLang="ko-KR" sz="950" dirty="0">
              <a:latin typeface="Times New Roman" pitchFamily="18" charset="0"/>
              <a:cs typeface="Times New Roman" pitchFamily="18" charset="0"/>
            </a:endParaRPr>
          </a:p>
        </p:txBody>
      </p:sp>
      <p:sp>
        <p:nvSpPr>
          <p:cNvPr id="41" name="Rectangle 99"/>
          <p:cNvSpPr>
            <a:spLocks noChangeArrowheads="1"/>
          </p:cNvSpPr>
          <p:nvPr/>
        </p:nvSpPr>
        <p:spPr bwMode="auto">
          <a:xfrm>
            <a:off x="3456384" y="7579548"/>
            <a:ext cx="34290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40. </a:t>
            </a:r>
            <a:r>
              <a:rPr lang="en-US" altLang="ko-KR" sz="950" dirty="0" err="1">
                <a:latin typeface="Times New Roman" pitchFamily="18" charset="0"/>
                <a:cs typeface="Times New Roman" pitchFamily="18" charset="0"/>
              </a:rPr>
              <a:t>H</a:t>
            </a:r>
            <a:r>
              <a:rPr lang="en-US" altLang="ko-KR" sz="950" smtClean="0">
                <a:latin typeface="Times New Roman" pitchFamily="18" charset="0"/>
                <a:cs typeface="Times New Roman" pitchFamily="18" charset="0"/>
              </a:rPr>
              <a:t>ãy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những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về</a:t>
            </a:r>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câu </a:t>
            </a:r>
            <a:r>
              <a:rPr lang="en-US" altLang="ko-KR" sz="950" dirty="0" err="1" smtClean="0">
                <a:latin typeface="Times New Roman" pitchFamily="18" charset="0"/>
                <a:cs typeface="Times New Roman" pitchFamily="18" charset="0"/>
              </a:rPr>
              <a:t>lệnh</a:t>
            </a:r>
            <a:r>
              <a:rPr lang="en-US" altLang="ko-KR" sz="950" dirty="0" smtClean="0">
                <a:latin typeface="Times New Roman" pitchFamily="18" charset="0"/>
                <a:cs typeface="Times New Roman" pitchFamily="18" charset="0"/>
              </a:rPr>
              <a:t> Count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tăng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lên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smtClean="0">
                <a:latin typeface="Times New Roman" pitchFamily="18" charset="0"/>
                <a:cs typeface="Times New Roman" pitchFamily="18" charset="0"/>
              </a:rPr>
              <a:t>Sau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Count up, </a:t>
            </a:r>
            <a:r>
              <a:rPr lang="en-US" altLang="ko-KR" sz="950" dirty="0" err="1" smtClean="0">
                <a:latin typeface="Times New Roman" pitchFamily="18" charset="0"/>
                <a:cs typeface="Times New Roman" pitchFamily="18" charset="0"/>
              </a:rPr>
              <a:t>nếu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vẫn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đếm</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K1~K32767.</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việc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thông</a:t>
            </a:r>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qua </a:t>
            </a:r>
            <a:r>
              <a:rPr lang="en-US" altLang="ko-KR" sz="950" dirty="0" smtClean="0">
                <a:latin typeface="Times New Roman" pitchFamily="18" charset="0"/>
                <a:cs typeface="Times New Roman" pitchFamily="18" charset="0"/>
              </a:rPr>
              <a:t>K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gián</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thông</a:t>
            </a:r>
            <a:r>
              <a:rPr lang="en-US" altLang="ko-KR" sz="950" dirty="0" smtClean="0">
                <a:latin typeface="Times New Roman" pitchFamily="18" charset="0"/>
                <a:cs typeface="Times New Roman" pitchFamily="18" charset="0"/>
              </a:rPr>
              <a:t> qua D</a:t>
            </a:r>
            <a:endParaRPr lang="en-US" altLang="ko-KR" sz="950" dirty="0">
              <a:latin typeface="Times New Roman" pitchFamily="18" charset="0"/>
              <a:cs typeface="Times New Roman" pitchFamily="18" charset="0"/>
            </a:endParaRPr>
          </a:p>
        </p:txBody>
      </p:sp>
      <p:grpSp>
        <p:nvGrpSpPr>
          <p:cNvPr id="6" name="Group 5"/>
          <p:cNvGrpSpPr/>
          <p:nvPr/>
        </p:nvGrpSpPr>
        <p:grpSpPr>
          <a:xfrm>
            <a:off x="189087" y="1928664"/>
            <a:ext cx="3252613" cy="1700466"/>
            <a:chOff x="189087" y="1928664"/>
            <a:chExt cx="3252613" cy="1700466"/>
          </a:xfrm>
        </p:grpSpPr>
        <p:sp>
          <p:nvSpPr>
            <p:cNvPr id="30" name="Rectangle 101"/>
            <p:cNvSpPr>
              <a:spLocks noChangeArrowheads="1"/>
            </p:cNvSpPr>
            <p:nvPr/>
          </p:nvSpPr>
          <p:spPr bwMode="auto">
            <a:xfrm>
              <a:off x="189087" y="1928664"/>
              <a:ext cx="3252613"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 Đây là cấu trúc hệ thống PLC cơ bản. Hãy trả lời vào chỗ trống bên dưới</a:t>
              </a:r>
              <a:endParaRPr lang="ko-KR" altLang="en-US"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32.</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Phạm</a:t>
              </a:r>
              <a:r>
                <a:rPr lang="en-US" altLang="ko-KR" sz="950" dirty="0" smtClean="0">
                  <a:latin typeface="Times New Roman" pitchFamily="18" charset="0"/>
                  <a:ea typeface="돋움" pitchFamily="50" charset="-127"/>
                  <a:cs typeface="Times New Roman" pitchFamily="18" charset="0"/>
                </a:rPr>
                <a:t> vi I/O </a:t>
              </a:r>
              <a:r>
                <a:rPr lang="en-US" altLang="ko-KR" sz="950" dirty="0" err="1" smtClean="0">
                  <a:latin typeface="Times New Roman" pitchFamily="18" charset="0"/>
                  <a:ea typeface="돋움" pitchFamily="50" charset="-127"/>
                  <a:cs typeface="Times New Roman" pitchFamily="18" charset="0"/>
                </a:rPr>
                <a:t>vào</a:t>
              </a:r>
              <a:r>
                <a:rPr lang="en-US" altLang="ko-KR" sz="950" dirty="0" smtClean="0">
                  <a:latin typeface="Times New Roman" pitchFamily="18" charset="0"/>
                  <a:ea typeface="돋움" pitchFamily="50" charset="-127"/>
                  <a:cs typeface="Times New Roman" pitchFamily="18" charset="0"/>
                </a:rPr>
                <a:t> Card ở </a:t>
              </a:r>
              <a:r>
                <a:rPr lang="en-US" altLang="ko-KR" sz="950" dirty="0" err="1" smtClean="0">
                  <a:latin typeface="Times New Roman" pitchFamily="18" charset="0"/>
                  <a:ea typeface="돋움" pitchFamily="50" charset="-127"/>
                  <a:cs typeface="Times New Roman" pitchFamily="18" charset="0"/>
                </a:rPr>
                <a:t>vị</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trí</a:t>
              </a:r>
              <a:r>
                <a:rPr lang="en-US" altLang="ko-KR" sz="950" smtClean="0">
                  <a:latin typeface="Times New Roman" pitchFamily="18" charset="0"/>
                  <a:ea typeface="돋움" pitchFamily="50" charset="-127"/>
                  <a:cs typeface="Times New Roman" pitchFamily="18" charset="0"/>
                </a:rPr>
                <a:t> (1) </a:t>
              </a:r>
              <a:r>
                <a:rPr lang="ko-KR" altLang="en-US"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ở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Y100~Y10F        </a:t>
              </a:r>
              <a:r>
                <a:rPr lang="en-US" altLang="ko-KR" sz="950" smtClean="0">
                  <a:latin typeface="Times New Roman" pitchFamily="18" charset="0"/>
                  <a:ea typeface="돋움" pitchFamily="50" charset="-127"/>
                  <a:cs typeface="Times New Roman" pitchFamily="18" charset="0"/>
                </a:rPr>
                <a:t>B  </a:t>
              </a:r>
              <a:r>
                <a:rPr lang="en-US" altLang="ko-KR" sz="950" dirty="0">
                  <a:latin typeface="Times New Roman" pitchFamily="18" charset="0"/>
                  <a:ea typeface="돋움" pitchFamily="50" charset="-127"/>
                  <a:cs typeface="Times New Roman" pitchFamily="18" charset="0"/>
                </a:rPr>
                <a:t>X100~X10F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Y110~Y11F        </a:t>
              </a:r>
              <a:r>
                <a:rPr lang="en-US" altLang="ko-KR" sz="950" smtClean="0">
                  <a:latin typeface="Times New Roman" pitchFamily="18" charset="0"/>
                  <a:ea typeface="돋움" pitchFamily="50" charset="-127"/>
                  <a:cs typeface="Times New Roman" pitchFamily="18" charset="0"/>
                </a:rPr>
                <a:t>D  </a:t>
              </a:r>
              <a:r>
                <a:rPr lang="en-US" altLang="ko-KR" sz="950" dirty="0">
                  <a:latin typeface="Times New Roman" pitchFamily="18" charset="0"/>
                  <a:ea typeface="돋움" pitchFamily="50" charset="-127"/>
                  <a:cs typeface="Times New Roman" pitchFamily="18" charset="0"/>
                </a:rPr>
                <a:t>X120~X12F</a:t>
              </a:r>
              <a:endParaRPr lang="ko-KR" altLang="en-US" sz="950" dirty="0">
                <a:latin typeface="Times New Roman" pitchFamily="18" charset="0"/>
                <a:ea typeface="돋움" pitchFamily="50" charset="-127"/>
                <a:cs typeface="Times New Roman" pitchFamily="18" charset="0"/>
              </a:endParaRPr>
            </a:p>
          </p:txBody>
        </p:sp>
        <p:pic>
          <p:nvPicPr>
            <p:cNvPr id="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77" y="2288704"/>
              <a:ext cx="3173413"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8" name="Rectangle 37"/>
          <p:cNvSpPr/>
          <p:nvPr/>
        </p:nvSpPr>
        <p:spPr>
          <a:xfrm>
            <a:off x="302054" y="2322612"/>
            <a:ext cx="246063" cy="586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n-US" sz="800" dirty="0" err="1" smtClean="0">
                <a:solidFill>
                  <a:schemeClr val="tx1"/>
                </a:solidFill>
                <a:latin typeface="Times New Roman" pitchFamily="18" charset="0"/>
                <a:cs typeface="Times New Roman" pitchFamily="18" charset="0"/>
              </a:rPr>
              <a:t>Nguồn</a:t>
            </a:r>
            <a:endParaRPr lang="en-US" sz="800" dirty="0">
              <a:solidFill>
                <a:schemeClr val="tx1"/>
              </a:solidFill>
              <a:latin typeface="Times New Roman" pitchFamily="18" charset="0"/>
              <a:cs typeface="Times New Roman" pitchFamily="18" charset="0"/>
            </a:endParaRPr>
          </a:p>
        </p:txBody>
      </p:sp>
      <p:grpSp>
        <p:nvGrpSpPr>
          <p:cNvPr id="5" name="Group 4"/>
          <p:cNvGrpSpPr/>
          <p:nvPr/>
        </p:nvGrpSpPr>
        <p:grpSpPr>
          <a:xfrm>
            <a:off x="3390019" y="3900200"/>
            <a:ext cx="3318321" cy="2925008"/>
            <a:chOff x="3495055" y="2216696"/>
            <a:chExt cx="3318321" cy="2925008"/>
          </a:xfrm>
        </p:grpSpPr>
        <p:pic>
          <p:nvPicPr>
            <p:cNvPr id="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847" y="2489200"/>
              <a:ext cx="2986087"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 name="Group 41"/>
            <p:cNvGrpSpPr/>
            <p:nvPr/>
          </p:nvGrpSpPr>
          <p:grpSpPr>
            <a:xfrm>
              <a:off x="3495055" y="2216696"/>
              <a:ext cx="3318321" cy="2925008"/>
              <a:chOff x="227013" y="2252663"/>
              <a:chExt cx="3429000" cy="2925008"/>
            </a:xfrm>
          </p:grpSpPr>
          <p:sp>
            <p:nvSpPr>
              <p:cNvPr id="43" name="Rectangle 99"/>
              <p:cNvSpPr>
                <a:spLocks noChangeArrowheads="1"/>
              </p:cNvSpPr>
              <p:nvPr/>
            </p:nvSpPr>
            <p:spPr bwMode="auto">
              <a:xfrm>
                <a:off x="227013" y="2252663"/>
                <a:ext cx="342900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3</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Nhìn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hình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lời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1</a:t>
                </a:r>
                <a:r>
                  <a:rPr lang="en-US" altLang="ko-KR" sz="950" dirty="0">
                    <a:latin typeface="Times New Roman" pitchFamily="18" charset="0"/>
                    <a:cs typeface="Times New Roman" pitchFamily="18" charset="0"/>
                  </a:rPr>
                  <a:t>, 2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44" name="Rectangle 99"/>
              <p:cNvSpPr>
                <a:spLocks noChangeArrowheads="1"/>
              </p:cNvSpPr>
              <p:nvPr/>
            </p:nvSpPr>
            <p:spPr bwMode="auto">
              <a:xfrm>
                <a:off x="304800" y="4500563"/>
                <a:ext cx="30861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toán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Scan </a:t>
                </a:r>
                <a:r>
                  <a:rPr lang="en-US" altLang="ko-KR" sz="950" dirty="0" smtClean="0">
                    <a:latin typeface="Times New Roman" pitchFamily="18" charset="0"/>
                    <a:cs typeface="Times New Roman" pitchFamily="18" charset="0"/>
                  </a:rPr>
                  <a:t>program</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Strat</a:t>
                </a:r>
              </a:p>
              <a:p>
                <a:pPr eaLnBrk="1" hangingPunct="1"/>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a:latin typeface="Times New Roman" pitchFamily="18" charset="0"/>
                    <a:cs typeface="Times New Roman" pitchFamily="18" charset="0"/>
                  </a:rPr>
                  <a:t>tiến hành Sub Program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Scan </a:t>
                </a:r>
                <a:endParaRPr lang="en-US" altLang="ko-KR" sz="950" dirty="0">
                  <a:latin typeface="Times New Roman" pitchFamily="18" charset="0"/>
                  <a:cs typeface="Times New Roman" pitchFamily="18" charset="0"/>
                </a:endParaRPr>
              </a:p>
            </p:txBody>
          </p:sp>
          <p:sp>
            <p:nvSpPr>
              <p:cNvPr id="45" name="Rectangle 44"/>
              <p:cNvSpPr/>
              <p:nvPr/>
            </p:nvSpPr>
            <p:spPr>
              <a:xfrm>
                <a:off x="1101058" y="2525168"/>
                <a:ext cx="1008140" cy="138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50" dirty="0" err="1" smtClean="0">
                    <a:solidFill>
                      <a:schemeClr val="tx1"/>
                    </a:solidFill>
                    <a:latin typeface="Times New Roman" pitchFamily="18" charset="0"/>
                    <a:cs typeface="Times New Roman" pitchFamily="18" charset="0"/>
                  </a:rPr>
                  <a:t>Bắt</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đầu</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vận</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hành</a:t>
                </a:r>
                <a:endParaRPr lang="en-US" sz="950" dirty="0">
                  <a:solidFill>
                    <a:schemeClr val="tx1"/>
                  </a:solidFill>
                  <a:latin typeface="Times New Roman" pitchFamily="18" charset="0"/>
                  <a:cs typeface="Times New Roman" pitchFamily="18" charset="0"/>
                </a:endParaRPr>
              </a:p>
            </p:txBody>
          </p:sp>
          <p:sp>
            <p:nvSpPr>
              <p:cNvPr id="46" name="Rectangle 45"/>
              <p:cNvSpPr/>
              <p:nvPr/>
            </p:nvSpPr>
            <p:spPr>
              <a:xfrm>
                <a:off x="1063898" y="2840626"/>
                <a:ext cx="588474" cy="196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Input </a:t>
                </a:r>
                <a:endParaRPr lang="en-US" sz="800" dirty="0">
                  <a:solidFill>
                    <a:schemeClr val="tx1"/>
                  </a:solidFill>
                  <a:latin typeface="Times New Roman" pitchFamily="18" charset="0"/>
                  <a:cs typeface="Times New Roman" pitchFamily="18" charset="0"/>
                </a:endParaRPr>
              </a:p>
            </p:txBody>
          </p:sp>
          <p:sp>
            <p:nvSpPr>
              <p:cNvPr id="47" name="Rectangle 46"/>
              <p:cNvSpPr/>
              <p:nvPr/>
            </p:nvSpPr>
            <p:spPr>
              <a:xfrm>
                <a:off x="2465919" y="2828727"/>
                <a:ext cx="892455" cy="259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Input </a:t>
                </a:r>
                <a:endParaRPr lang="en-US" sz="800" dirty="0">
                  <a:solidFill>
                    <a:schemeClr val="tx1"/>
                  </a:solidFill>
                  <a:latin typeface="Times New Roman" pitchFamily="18" charset="0"/>
                  <a:cs typeface="Times New Roman" pitchFamily="18" charset="0"/>
                </a:endParaRPr>
              </a:p>
            </p:txBody>
          </p:sp>
          <p:sp>
            <p:nvSpPr>
              <p:cNvPr id="48" name="Rectangle 47"/>
              <p:cNvSpPr/>
              <p:nvPr/>
            </p:nvSpPr>
            <p:spPr>
              <a:xfrm>
                <a:off x="1080468" y="3166883"/>
                <a:ext cx="979344" cy="173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Bắt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đầu</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49" name="Rectangle 48"/>
              <p:cNvSpPr/>
              <p:nvPr/>
            </p:nvSpPr>
            <p:spPr>
              <a:xfrm>
                <a:off x="1075294" y="3325157"/>
                <a:ext cx="10081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Kết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thúc</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50" name="Rectangle 49"/>
              <p:cNvSpPr/>
              <p:nvPr/>
            </p:nvSpPr>
            <p:spPr>
              <a:xfrm>
                <a:off x="1051672" y="3903145"/>
                <a:ext cx="855740" cy="144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Ouput</a:t>
                </a:r>
                <a:endParaRPr lang="en-US" sz="800" dirty="0">
                  <a:solidFill>
                    <a:schemeClr val="tx1"/>
                  </a:solidFill>
                  <a:latin typeface="Times New Roman" pitchFamily="18" charset="0"/>
                  <a:cs typeface="Times New Roman" pitchFamily="18" charset="0"/>
                </a:endParaRPr>
              </a:p>
            </p:txBody>
          </p:sp>
          <p:sp>
            <p:nvSpPr>
              <p:cNvPr id="51" name="Rectangle 50"/>
              <p:cNvSpPr/>
              <p:nvPr/>
            </p:nvSpPr>
            <p:spPr>
              <a:xfrm>
                <a:off x="1097062" y="4214878"/>
                <a:ext cx="462510" cy="1260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Xử</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lí</a:t>
                </a:r>
                <a:r>
                  <a:rPr lang="en-US" sz="800" dirty="0" smtClean="0">
                    <a:solidFill>
                      <a:schemeClr val="tx1"/>
                    </a:solidFill>
                    <a:latin typeface="Times New Roman" pitchFamily="18" charset="0"/>
                    <a:cs typeface="Times New Roman" pitchFamily="18" charset="0"/>
                  </a:rPr>
                  <a:t> End</a:t>
                </a:r>
                <a:endParaRPr lang="en-US" sz="800" dirty="0">
                  <a:solidFill>
                    <a:schemeClr val="tx1"/>
                  </a:solidFill>
                  <a:latin typeface="Times New Roman" pitchFamily="18" charset="0"/>
                  <a:cs typeface="Times New Roman" pitchFamily="18" charset="0"/>
                </a:endParaRPr>
              </a:p>
            </p:txBody>
          </p:sp>
          <p:sp>
            <p:nvSpPr>
              <p:cNvPr id="52" name="Rectangle 51"/>
              <p:cNvSpPr/>
              <p:nvPr/>
            </p:nvSpPr>
            <p:spPr>
              <a:xfrm>
                <a:off x="2414670" y="3903225"/>
                <a:ext cx="956099" cy="17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Output</a:t>
                </a:r>
                <a:endParaRPr lang="en-US" sz="8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11400177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Khi lắp đặt máy nén khí ngoài việc chọn loại hình MNK, công suất sử dụng.Thì cần phải lựa chọn địa điểm lắp đặt phù hợp.</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nào </a:t>
            </a:r>
            <a:r>
              <a:rPr lang="vi-VN" altLang="ko-KR" sz="950" smtClean="0">
                <a:latin typeface="Times New Roman" pitchFamily="18" charset="0"/>
                <a:ea typeface="LG Smart_H Regular" panose="020B0600000101010101" pitchFamily="34" charset="-127"/>
                <a:cs typeface="Times New Roman" pitchFamily="18" charset="0"/>
              </a:rPr>
              <a:t>sai?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lắp đặt tại  địa điểm ít chất và khí độc hại.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lưu tâm lựa chọn gạch cách âm để chặn tiếng ồn và tránh nước mưa và ánh sáng mặt trời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dùng phương thức làm lạnh không khí: lắp quạt ở buồng máy nén để thông gió; máy nén dùng phương thức làm mát: trao đổi nhiệt, làm lạnh (after cooler) phần sau và thân máy nén sao cho chênh lệch nhiệt độ giữa  cửa ra và cửa vào nước làm lạnh dưới 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đặt tại nơi có nhiệt độ cao và độ ẩm thấp, lượng  phát sinh đường ống dẫn nhỏ. Nếu nhiệt độ của khí hút vào tăng 10℃ thì hiệu suất của máy nén giảm 3~4%.</a:t>
            </a:r>
          </a:p>
        </p:txBody>
      </p:sp>
      <p:sp>
        <p:nvSpPr>
          <p:cNvPr id="29" name="Rectangle 7"/>
          <p:cNvSpPr>
            <a:spLocks noChangeArrowheads="1"/>
          </p:cNvSpPr>
          <p:nvPr/>
        </p:nvSpPr>
        <p:spPr bwMode="auto">
          <a:xfrm>
            <a:off x="218009" y="358484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Chất nào gây ra rỉ và lỗi cách điện của coil, giảm tuổi thọ và dính chặt cuộn dây quấn (spool) ở thân  </a:t>
            </a:r>
            <a:r>
              <a:rPr lang="vi-VN" altLang="ko-KR" sz="950" smtClean="0">
                <a:latin typeface="Times New Roman" pitchFamily="18" charset="0"/>
                <a:ea typeface="LG Smart_H Regular" panose="020B0600000101010101" pitchFamily="34" charset="-127"/>
                <a:cs typeface="Times New Roman" pitchFamily="18" charset="0"/>
              </a:rPr>
              <a:t>van?</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Cacbon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Rỉ </a:t>
            </a:r>
            <a:r>
              <a:rPr lang="vi-VN" altLang="ko-KR" sz="950" smtClean="0">
                <a:latin typeface="Times New Roman" pitchFamily="18" charset="0"/>
                <a:ea typeface="LG Smart_H Regular" panose="020B0600000101010101" pitchFamily="34" charset="-127"/>
                <a:cs typeface="Times New Roman" pitchFamily="18" charset="0"/>
              </a:rPr>
              <a:t>sắt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Nước</a:t>
            </a:r>
          </a:p>
        </p:txBody>
      </p:sp>
      <p:sp>
        <p:nvSpPr>
          <p:cNvPr id="30" name="Rectangle 7"/>
          <p:cNvSpPr>
            <a:spLocks noChangeArrowheads="1"/>
          </p:cNvSpPr>
          <p:nvPr/>
        </p:nvSpPr>
        <p:spPr bwMode="auto">
          <a:xfrm>
            <a:off x="259544" y="588910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dùng nhiều trong việc vận chuyển vật liệu dụng cụ, công cụ khí nén, đường khí nén thông thường. Phạm vi nhiệt độ hóa sương(0.5℃</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Máy sấy kiểu hấp </a:t>
            </a:r>
            <a:r>
              <a:rPr lang="en-US" altLang="ko-KR" sz="950" smtClean="0">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Vì  xi lanh được cung cấp khí nén từ 2 piston nên cần piston có thể sinh ra lực gấp hai lần xi lanh tác động 2 chiều mà đường kính như nhau. Sử dụng áp suất thấp, công  suất nhỏ nên xi lanh được dùng ở nơi cần lực lớn và có giới hạn đường kính xi </a:t>
            </a:r>
            <a:r>
              <a:rPr lang="vi-VN" altLang="ko-KR" sz="950" smtClean="0">
                <a:latin typeface="Times New Roman" pitchFamily="18" charset="0"/>
                <a:ea typeface="LG Smart_H Regular" panose="020B0600000101010101" pitchFamily="34" charset="-127"/>
                <a:cs typeface="Times New Roman" pitchFamily="18" charset="0"/>
              </a:rPr>
              <a:t>lanh?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đa vị </a:t>
            </a:r>
            <a:r>
              <a:rPr lang="vi-VN" altLang="ko-KR" sz="950" smtClean="0">
                <a:latin typeface="Times New Roman" pitchFamily="18" charset="0"/>
                <a:ea typeface="LG Smart_H Regular" panose="020B0600000101010101" pitchFamily="34" charset="-127"/>
                <a:cs typeface="Times New Roman" pitchFamily="18" charset="0"/>
              </a:rPr>
              <a:t>trí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không </a:t>
            </a:r>
            <a:r>
              <a:rPr lang="en-US" altLang="ko-KR" sz="950" smtClean="0">
                <a:latin typeface="Times New Roman" pitchFamily="18" charset="0"/>
                <a:ea typeface="LG Smart_H Regular" panose="020B0600000101010101" pitchFamily="34" charset="-127"/>
                <a:cs typeface="Times New Roman" pitchFamily="18" charset="0"/>
              </a:rPr>
              <a:t>cần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a:t>
            </a:r>
            <a:r>
              <a:rPr lang="en-US" altLang="ko-KR" sz="950" smtClean="0">
                <a:latin typeface="Times New Roman" pitchFamily="18" charset="0"/>
                <a:ea typeface="LG Smart_H Regular" panose="020B0600000101010101" pitchFamily="34" charset="-127"/>
                <a:cs typeface="Times New Roman" pitchFamily="18" charset="0"/>
              </a:rPr>
              <a:t>tandem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hai cần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Van nào dưới đây không thuộc van điều khiển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Công tắc áp </a:t>
            </a:r>
            <a:r>
              <a:rPr lang="vi-VN" altLang="ko-KR" sz="950" smtClean="0">
                <a:latin typeface="Times New Roman" pitchFamily="18" charset="0"/>
                <a:ea typeface="LG Smart_H Regular" panose="020B0600000101010101" pitchFamily="34" charset="-127"/>
                <a:cs typeface="Times New Roman" pitchFamily="18" charset="0"/>
              </a:rPr>
              <a:t>suất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18009" y="470220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MNK 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MNK cánh </a:t>
            </a:r>
            <a:r>
              <a:rPr lang="en-US" altLang="ko-KR" sz="950" smtClean="0">
                <a:latin typeface="Times New Roman" pitchFamily="18" charset="0"/>
                <a:ea typeface="LG Smart_H Regular" panose="020B0600000101010101" pitchFamily="34" charset="-127"/>
                <a:cs typeface="Times New Roman" pitchFamily="18" charset="0"/>
              </a:rPr>
              <a:t>gạt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Root </a:t>
            </a:r>
            <a:r>
              <a:rPr lang="vi-VN" altLang="ko-KR" sz="950" smtClean="0">
                <a:latin typeface="Times New Roman" pitchFamily="18" charset="0"/>
                <a:ea typeface="LG Smart_H Regular" panose="020B0600000101010101" pitchFamily="34" charset="-127"/>
                <a:cs typeface="Times New Roman" pitchFamily="18" charset="0"/>
              </a:rPr>
              <a:t>blower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Trục vít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8498" y="7473280"/>
            <a:ext cx="3180502" cy="1881612"/>
            <a:chOff x="248498" y="7617296"/>
            <a:chExt cx="3180502" cy="1881612"/>
          </a:xfrm>
        </p:grpSpPr>
        <p:sp>
          <p:nvSpPr>
            <p:cNvPr id="32" name="Rectangle 7"/>
            <p:cNvSpPr>
              <a:spLocks noChangeArrowheads="1"/>
            </p:cNvSpPr>
            <p:nvPr/>
          </p:nvSpPr>
          <p:spPr bwMode="auto">
            <a:xfrm>
              <a:off x="248498" y="761729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1" name="Picture 30"/>
            <p:cNvPicPr>
              <a:picLocks noChangeAspect="1"/>
            </p:cNvPicPr>
            <p:nvPr/>
          </p:nvPicPr>
          <p:blipFill>
            <a:blip r:embed="rId3"/>
            <a:stretch>
              <a:fillRect/>
            </a:stretch>
          </p:blipFill>
          <p:spPr>
            <a:xfrm>
              <a:off x="562629" y="7812334"/>
              <a:ext cx="1138180" cy="761510"/>
            </a:xfrm>
            <a:prstGeom prst="rect">
              <a:avLst/>
            </a:prstGeom>
          </p:spPr>
        </p:pic>
        <p:pic>
          <p:nvPicPr>
            <p:cNvPr id="34"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477" y="7812334"/>
              <a:ext cx="1091499" cy="741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160" y="8769424"/>
              <a:ext cx="1071648" cy="729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40"/>
            <p:cNvPicPr>
              <a:picLocks noChangeAspect="1"/>
            </p:cNvPicPr>
            <p:nvPr/>
          </p:nvPicPr>
          <p:blipFill>
            <a:blip r:embed="rId6"/>
            <a:stretch>
              <a:fillRect/>
            </a:stretch>
          </p:blipFill>
          <p:spPr>
            <a:xfrm>
              <a:off x="2204864" y="8805953"/>
              <a:ext cx="1116504" cy="657666"/>
            </a:xfrm>
            <a:prstGeom prst="rect">
              <a:avLst/>
            </a:prstGeom>
          </p:spPr>
        </p:pic>
      </p:grpSp>
      <p:grpSp>
        <p:nvGrpSpPr>
          <p:cNvPr id="5" name="Group 4"/>
          <p:cNvGrpSpPr/>
          <p:nvPr/>
        </p:nvGrpSpPr>
        <p:grpSpPr>
          <a:xfrm>
            <a:off x="3473132" y="920552"/>
            <a:ext cx="3180502" cy="1846659"/>
            <a:chOff x="3473132" y="1136576"/>
            <a:chExt cx="3180502" cy="1846659"/>
          </a:xfrm>
        </p:grpSpPr>
        <p:sp>
          <p:nvSpPr>
            <p:cNvPr id="46" name="Rectangle 7"/>
            <p:cNvSpPr>
              <a:spLocks noChangeArrowheads="1"/>
            </p:cNvSpPr>
            <p:nvPr/>
          </p:nvSpPr>
          <p:spPr bwMode="auto">
            <a:xfrm>
              <a:off x="3473132" y="1136576"/>
              <a:ext cx="318050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Phương </a:t>
              </a:r>
              <a:r>
                <a:rPr lang="vi-VN" altLang="ko-KR" sz="950">
                  <a:latin typeface="Times New Roman" pitchFamily="18" charset="0"/>
                  <a:ea typeface="LG Smart_H Regular" panose="020B0600000101010101" pitchFamily="34" charset="-127"/>
                  <a:cs typeface="Times New Roman" pitchFamily="18" charset="0"/>
                </a:rPr>
                <a:t>thức lọc </a:t>
              </a:r>
              <a:r>
                <a:rPr lang="vi-VN" altLang="ko-KR" sz="950" smtClean="0">
                  <a:latin typeface="Times New Roman" pitchFamily="18" charset="0"/>
                  <a:ea typeface="LG Smart_H Regular" panose="020B0600000101010101" pitchFamily="34" charset="-127"/>
                  <a:cs typeface="Times New Roman" pitchFamily="18" charset="0"/>
                </a:rPr>
                <a:t>trong+ngoài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2"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3038" y="1496616"/>
              <a:ext cx="1417866" cy="707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 name="Group 5"/>
          <p:cNvGrpSpPr/>
          <p:nvPr/>
        </p:nvGrpSpPr>
        <p:grpSpPr>
          <a:xfrm>
            <a:off x="3473132" y="5313040"/>
            <a:ext cx="3180502" cy="2285241"/>
            <a:chOff x="3473132" y="5817096"/>
            <a:chExt cx="3180502" cy="2285241"/>
          </a:xfrm>
        </p:grpSpPr>
        <p:sp>
          <p:nvSpPr>
            <p:cNvPr id="52" name="Rectangle 7"/>
            <p:cNvSpPr>
              <a:spLocks noChangeArrowheads="1"/>
            </p:cNvSpPr>
            <p:nvPr/>
          </p:nvSpPr>
          <p:spPr bwMode="auto">
            <a:xfrm>
              <a:off x="3473132" y="5817096"/>
              <a:ext cx="318050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mất thời gian cho đến khi áp suất của phía ①  tăng vì tiết lưu khí được cung cấp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giữa ① và  ② không cân bằng -&gt; di chuyển không ổn </a:t>
              </a:r>
              <a:r>
                <a:rPr lang="vi-VN" altLang="ko-KR" sz="950" smtClean="0">
                  <a:latin typeface="Times New Roman" pitchFamily="18" charset="0"/>
                  <a:ea typeface="LG Smart_H Regular" panose="020B0600000101010101" pitchFamily="34" charset="-127"/>
                  <a:cs typeface="Times New Roman" pitchFamily="18" charset="0"/>
                </a:rPr>
                <a:t>đinh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8"/>
            <a:stretch>
              <a:fillRect/>
            </a:stretch>
          </p:blipFill>
          <p:spPr>
            <a:xfrm>
              <a:off x="4227684" y="6105128"/>
              <a:ext cx="1073524" cy="625605"/>
            </a:xfrm>
            <a:prstGeom prst="rect">
              <a:avLst/>
            </a:prstGeom>
          </p:spPr>
        </p:pic>
      </p:grpSp>
      <p:grpSp>
        <p:nvGrpSpPr>
          <p:cNvPr id="7" name="Group 6"/>
          <p:cNvGrpSpPr/>
          <p:nvPr/>
        </p:nvGrpSpPr>
        <p:grpSpPr>
          <a:xfrm>
            <a:off x="3457922" y="7545288"/>
            <a:ext cx="3180502" cy="2139047"/>
            <a:chOff x="3457922" y="7545288"/>
            <a:chExt cx="3180502" cy="2139047"/>
          </a:xfrm>
        </p:grpSpPr>
        <p:sp>
          <p:nvSpPr>
            <p:cNvPr id="53" name="Rectangle 7"/>
            <p:cNvSpPr>
              <a:spLocks noChangeArrowheads="1"/>
            </p:cNvSpPr>
            <p:nvPr/>
          </p:nvSpPr>
          <p:spPr bwMode="auto">
            <a:xfrm>
              <a:off x="3457922" y="7545288"/>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Nhìn về cấu tạo của Relay hãy điền vào ô </a:t>
              </a:r>
              <a:r>
                <a:rPr lang="vi-VN" altLang="ko-KR" sz="950" smtClean="0">
                  <a:latin typeface="Times New Roman" pitchFamily="18" charset="0"/>
                  <a:ea typeface="LG Smart_H Regular" panose="020B0600000101010101" pitchFamily="34" charset="-127"/>
                  <a:cs typeface="Times New Roman" pitchFamily="18" charset="0"/>
                </a:rPr>
                <a:t>trống?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Tiếp </a:t>
              </a:r>
              <a:r>
                <a:rPr lang="vi-VN" altLang="ko-KR" sz="950">
                  <a:latin typeface="Times New Roman" pitchFamily="18" charset="0"/>
                  <a:ea typeface="LG Smart_H Regular" panose="020B0600000101010101" pitchFamily="34" charset="-127"/>
                  <a:cs typeface="Times New Roman" pitchFamily="18" charset="0"/>
                </a:rPr>
                <a:t>điểm di chuyển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Nam châm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Tấm cách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Tấm sắt di chuyển.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7" name="그림 2"/>
            <p:cNvPicPr>
              <a:picLocks noChangeAspect="1"/>
            </p:cNvPicPr>
            <p:nvPr/>
          </p:nvPicPr>
          <p:blipFill>
            <a:blip r:embed="rId9"/>
            <a:stretch>
              <a:fillRect/>
            </a:stretch>
          </p:blipFill>
          <p:spPr>
            <a:xfrm>
              <a:off x="4343151" y="7833320"/>
              <a:ext cx="1916114" cy="1139111"/>
            </a:xfrm>
            <a:prstGeom prst="rect">
              <a:avLst/>
            </a:prstGeom>
          </p:spPr>
        </p:pic>
      </p:grpSp>
    </p:spTree>
    <p:extLst>
      <p:ext uri="{BB962C8B-B14F-4D97-AF65-F5344CB8AC3E}">
        <p14:creationId xmlns:p14="http://schemas.microsoft.com/office/powerpoint/2010/main" val="13959291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grpSp>
        <p:nvGrpSpPr>
          <p:cNvPr id="22" name="Group 21"/>
          <p:cNvGrpSpPr/>
          <p:nvPr/>
        </p:nvGrpSpPr>
        <p:grpSpPr>
          <a:xfrm>
            <a:off x="188640" y="1064568"/>
            <a:ext cx="3312368" cy="1261884"/>
            <a:chOff x="3284984" y="6588126"/>
            <a:chExt cx="3312368" cy="1261884"/>
          </a:xfrm>
        </p:grpSpPr>
        <p:sp>
          <p:nvSpPr>
            <p:cNvPr id="23" name="Rectangle 7"/>
            <p:cNvSpPr>
              <a:spLocks noChangeArrowheads="1"/>
            </p:cNvSpPr>
            <p:nvPr/>
          </p:nvSpPr>
          <p:spPr bwMode="auto">
            <a:xfrm>
              <a:off x="3284984" y="6588126"/>
              <a:ext cx="331236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err="1" smtClean="0">
                  <a:latin typeface="Times New Roman" pitchFamily="18" charset="0"/>
                  <a:ea typeface="돋움" pitchFamily="50" charset="-127"/>
                  <a:cs typeface="Times New Roman" pitchFamily="18" charset="0"/>
                </a:rPr>
                <a:t>Mức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100㎜.</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Chủ</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yếu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(clamping), </a:t>
              </a:r>
              <a:r>
                <a:rPr lang="en-US" altLang="ko-KR" sz="950" dirty="0" err="1" smtClean="0">
                  <a:latin typeface="Times New Roman" pitchFamily="18" charset="0"/>
                  <a:ea typeface="돋움" pitchFamily="50" charset="-127"/>
                  <a:cs typeface="Times New Roman" pitchFamily="18" charset="0"/>
                </a:rPr>
                <a:t>nhấn</a:t>
              </a:r>
              <a:r>
                <a:rPr lang="en-US" altLang="ko-KR" sz="950" dirty="0" smtClean="0">
                  <a:latin typeface="Times New Roman" pitchFamily="18" charset="0"/>
                  <a:ea typeface="돋움" pitchFamily="50" charset="-127"/>
                  <a:cs typeface="Times New Roman" pitchFamily="18" charset="0"/>
                </a:rPr>
                <a:t> (pressing),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p:txBody>
        </p:sp>
        <p:pic>
          <p:nvPicPr>
            <p:cNvPr id="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139" y="6855767"/>
              <a:ext cx="842962"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5" name="Rectangle 13"/>
          <p:cNvSpPr>
            <a:spLocks noChangeArrowheads="1"/>
          </p:cNvSpPr>
          <p:nvPr/>
        </p:nvSpPr>
        <p:spPr bwMode="auto">
          <a:xfrm>
            <a:off x="235248" y="268518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2</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a:latin typeface="Times New Roman" pitchFamily="18" charset="0"/>
                <a:ea typeface="돋움" pitchFamily="50" charset="-127"/>
                <a:cs typeface="Times New Roman" pitchFamily="18" charset="0"/>
              </a:rPr>
              <a:t>Piston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Piston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Tie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D. </a:t>
            </a:r>
            <a:r>
              <a:rPr lang="en-US" altLang="ko-KR" sz="950" dirty="0" err="1">
                <a:latin typeface="Times New Roman" pitchFamily="18" charset="0"/>
                <a:ea typeface="돋움" pitchFamily="50" charset="-127"/>
                <a:cs typeface="Times New Roman" pitchFamily="18" charset="0"/>
              </a:rPr>
              <a:t>Clavis</a:t>
            </a:r>
            <a:endParaRPr lang="en-US" altLang="ko-KR" sz="950" dirty="0">
              <a:latin typeface="Times New Roman" pitchFamily="18" charset="0"/>
              <a:ea typeface="돋움" pitchFamily="50" charset="-127"/>
              <a:cs typeface="Times New Roman" pitchFamily="18" charset="0"/>
            </a:endParaRPr>
          </a:p>
        </p:txBody>
      </p:sp>
      <p:sp>
        <p:nvSpPr>
          <p:cNvPr id="26" name="Rectangle 14"/>
          <p:cNvSpPr>
            <a:spLocks noChangeArrowheads="1"/>
          </p:cNvSpPr>
          <p:nvPr/>
        </p:nvSpPr>
        <p:spPr bwMode="auto">
          <a:xfrm>
            <a:off x="404665" y="2925648"/>
            <a:ext cx="2934718" cy="479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sắt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căng</a:t>
            </a:r>
            <a:r>
              <a:rPr lang="en-US" altLang="ko-KR" sz="950" dirty="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a:p>
            <a:pPr eaLnBrk="1" hangingPunct="1"/>
            <a:r>
              <a:rPr lang="en-US" altLang="ko-KR" sz="950" dirty="0" err="1">
                <a:latin typeface="Times New Roman" pitchFamily="18" charset="0"/>
                <a:cs typeface="Times New Roman" pitchFamily="18" charset="0"/>
              </a:rPr>
              <a:t>t</a:t>
            </a:r>
            <a:r>
              <a:rPr lang="en-US" altLang="ko-KR" sz="950" dirty="0" err="1" smtClean="0">
                <a:latin typeface="Times New Roman" pitchFamily="18" charset="0"/>
                <a:cs typeface="Times New Roman" pitchFamily="18" charset="0"/>
              </a:rPr>
              <a:t>rên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phủ</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Crom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p:txBody>
      </p:sp>
      <p:sp>
        <p:nvSpPr>
          <p:cNvPr id="27" name="Rectangle 16"/>
          <p:cNvSpPr>
            <a:spLocks noChangeArrowheads="1"/>
          </p:cNvSpPr>
          <p:nvPr/>
        </p:nvSpPr>
        <p:spPr bwMode="auto">
          <a:xfrm>
            <a:off x="188640" y="4262824"/>
            <a:ext cx="326791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3</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ưu</a:t>
            </a:r>
            <a:r>
              <a:rPr lang="en-US" altLang="ko-KR" sz="950" dirty="0" smtClean="0">
                <a:latin typeface="Times New Roman" pitchFamily="18" charset="0"/>
                <a:ea typeface="돋움" pitchFamily="50" charset="-127"/>
                <a:cs typeface="Times New Roman" pitchFamily="18" charset="0"/>
              </a:rPr>
              <a:t>/</a:t>
            </a:r>
            <a:r>
              <a:rPr lang="en-US" altLang="ko-KR" sz="950" dirty="0" err="1" smtClean="0">
                <a:latin typeface="Times New Roman" pitchFamily="18" charset="0"/>
                <a:ea typeface="돋움" pitchFamily="50" charset="-127"/>
                <a:cs typeface="Times New Roman" pitchFamily="18" charset="0"/>
              </a:rPr>
              <a:t>nhược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điểm</a:t>
            </a:r>
            <a:r>
              <a:rPr lang="en-US" altLang="ko-KR" sz="950" smtClean="0">
                <a:latin typeface="Times New Roman" pitchFamily="18" charset="0"/>
                <a:ea typeface="돋움" pitchFamily="50" charset="-127"/>
                <a:cs typeface="Times New Roman" pitchFamily="18" charset="0"/>
              </a:rPr>
              <a:t> của</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½  so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giảm</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C.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tổng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ngắn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so </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cùng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tube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ø6~ø300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hóa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p:txBody>
      </p:sp>
      <p:sp>
        <p:nvSpPr>
          <p:cNvPr id="28" name="Rectangle 18"/>
          <p:cNvSpPr>
            <a:spLocks noChangeArrowheads="1"/>
          </p:cNvSpPr>
          <p:nvPr/>
        </p:nvSpPr>
        <p:spPr bwMode="auto">
          <a:xfrm>
            <a:off x="233090" y="6287760"/>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4</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cũng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Nếu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p:txBody>
      </p:sp>
      <p:sp>
        <p:nvSpPr>
          <p:cNvPr id="39" name="Rectangle 33"/>
          <p:cNvSpPr>
            <a:spLocks noChangeArrowheads="1"/>
          </p:cNvSpPr>
          <p:nvPr/>
        </p:nvSpPr>
        <p:spPr bwMode="auto">
          <a:xfrm>
            <a:off x="233090" y="7575192"/>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chú</a:t>
            </a:r>
            <a:r>
              <a:rPr lang="en-US" altLang="ko-KR" sz="950" dirty="0" smtClean="0">
                <a:latin typeface="Times New Roman" pitchFamily="18" charset="0"/>
                <a:cs typeface="Times New Roman" pitchFamily="18" charset="0"/>
              </a:rPr>
              <a:t> ý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tối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Speed controller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pitting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mép</a:t>
            </a:r>
            <a:r>
              <a:rPr lang="en-US" altLang="ko-KR" sz="950" dirty="0" smtClean="0">
                <a:latin typeface="Times New Roman" pitchFamily="18" charset="0"/>
                <a:cs typeface="Times New Roman" pitchFamily="18" charset="0"/>
              </a:rPr>
              <a:t> stroke</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bởi</a:t>
            </a:r>
            <a:r>
              <a:rPr lang="en-US" altLang="ko-KR" sz="950" smtClean="0">
                <a:latin typeface="Times New Roman" pitchFamily="18" charset="0"/>
                <a:cs typeface="Times New Roman" pitchFamily="18" charset="0"/>
              </a:rPr>
              <a:t> piston </a:t>
            </a:r>
            <a:r>
              <a:rPr lang="en-US" altLang="ko-KR" sz="950" dirty="0" smtClean="0">
                <a:latin typeface="Times New Roman" pitchFamily="18" charset="0"/>
                <a:cs typeface="Times New Roman" pitchFamily="18" charset="0"/>
              </a:rPr>
              <a:t>rod </a:t>
            </a:r>
            <a:r>
              <a:rPr lang="en-US" altLang="ko-KR" sz="950" dirty="0" err="1" smtClean="0">
                <a:latin typeface="Times New Roman" pitchFamily="18" charset="0"/>
                <a:cs typeface="Times New Roman" pitchFamily="18" charset="0"/>
              </a:rPr>
              <a:t>nghiêng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nhắc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đặt</a:t>
            </a:r>
            <a:r>
              <a:rPr lang="en-US" altLang="ko-KR" sz="950" smtClean="0">
                <a:latin typeface="Times New Roman" pitchFamily="18" charset="0"/>
                <a:cs typeface="Times New Roman" pitchFamily="18" charset="0"/>
              </a:rPr>
              <a:t> dẫn hướng </a:t>
            </a:r>
            <a:r>
              <a:rPr lang="en-US" altLang="ko-KR" sz="950" dirty="0" err="1" smtClean="0">
                <a:latin typeface="Times New Roman" pitchFamily="18" charset="0"/>
                <a:cs typeface="Times New Roman" pitchFamily="18" charset="0"/>
              </a:rPr>
              <a:t>rồi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endParaRPr lang="ko-KR" altLang="en-US" sz="950" dirty="0">
              <a:latin typeface="Times New Roman" pitchFamily="18" charset="0"/>
              <a:cs typeface="Times New Roman" pitchFamily="18" charset="0"/>
            </a:endParaRPr>
          </a:p>
        </p:txBody>
      </p:sp>
      <p:sp>
        <p:nvSpPr>
          <p:cNvPr id="40" name="Rectangle 21"/>
          <p:cNvSpPr>
            <a:spLocks noChangeArrowheads="1"/>
          </p:cNvSpPr>
          <p:nvPr/>
        </p:nvSpPr>
        <p:spPr bwMode="auto">
          <a:xfrm>
            <a:off x="3441700" y="1064568"/>
            <a:ext cx="326822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(rotary actuator)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14300" indent="-1143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270~300℃.</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kép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90~120</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3 </a:t>
            </a:r>
            <a:r>
              <a:rPr lang="en-US" altLang="ko-KR" sz="950" dirty="0" err="1" smtClean="0">
                <a:latin typeface="Times New Roman" pitchFamily="18" charset="0"/>
                <a:cs typeface="Times New Roman" pitchFamily="18" charset="0"/>
              </a:rPr>
              <a:t>lớp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60℃</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47" name="Rectangle 25"/>
          <p:cNvSpPr>
            <a:spLocks noChangeArrowheads="1"/>
          </p:cNvSpPr>
          <p:nvPr/>
        </p:nvSpPr>
        <p:spPr bwMode="auto">
          <a:xfrm>
            <a:off x="3403426" y="2864768"/>
            <a:ext cx="329379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7.Trong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Torque valve </a:t>
            </a:r>
            <a:r>
              <a:rPr lang="ko-KR" altLang="en-US" sz="950" dirty="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tuần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p:txBody>
      </p:sp>
      <p:grpSp>
        <p:nvGrpSpPr>
          <p:cNvPr id="48" name="Group 47"/>
          <p:cNvGrpSpPr/>
          <p:nvPr/>
        </p:nvGrpSpPr>
        <p:grpSpPr>
          <a:xfrm>
            <a:off x="3419520" y="4415552"/>
            <a:ext cx="3124200" cy="969496"/>
            <a:chOff x="260350" y="7164388"/>
            <a:chExt cx="3124200" cy="969496"/>
          </a:xfrm>
        </p:grpSpPr>
        <p:grpSp>
          <p:nvGrpSpPr>
            <p:cNvPr id="49" name="Group 62"/>
            <p:cNvGrpSpPr>
              <a:grpSpLocks/>
            </p:cNvGrpSpPr>
            <p:nvPr/>
          </p:nvGrpSpPr>
          <p:grpSpPr bwMode="auto">
            <a:xfrm>
              <a:off x="1924050" y="7164389"/>
              <a:ext cx="1452689" cy="936625"/>
              <a:chOff x="621" y="2069"/>
              <a:chExt cx="1270" cy="696"/>
            </a:xfrm>
          </p:grpSpPr>
          <p:pic>
            <p:nvPicPr>
              <p:cNvPr id="51"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 y="2069"/>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64"/>
              <p:cNvSpPr txBox="1">
                <a:spLocks noChangeArrowheads="1"/>
              </p:cNvSpPr>
              <p:nvPr/>
            </p:nvSpPr>
            <p:spPr bwMode="auto">
              <a:xfrm>
                <a:off x="1148" y="2182"/>
                <a:ext cx="74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Times New Roman" pitchFamily="18" charset="0"/>
                    <a:cs typeface="Times New Roman" pitchFamily="18" charset="0"/>
                  </a:rPr>
                  <a:t>Chất</a:t>
                </a:r>
                <a:r>
                  <a:rPr lang="en-US" altLang="ko-KR" sz="950" smtClean="0">
                    <a:latin typeface="Times New Roman" pitchFamily="18" charset="0"/>
                    <a:cs typeface="Times New Roman" pitchFamily="18" charset="0"/>
                  </a:rPr>
                  <a:t> cách </a:t>
                </a:r>
                <a:r>
                  <a:rPr lang="en-US" altLang="ko-KR" sz="950" dirty="0" err="1" smtClean="0">
                    <a:latin typeface="Times New Roman" pitchFamily="18" charset="0"/>
                    <a:cs typeface="Times New Roman" pitchFamily="18" charset="0"/>
                  </a:rPr>
                  <a:t>âm</a:t>
                </a:r>
                <a:endParaRPr lang="ko-KR" altLang="en-US" sz="950" dirty="0">
                  <a:latin typeface="Times New Roman" pitchFamily="18" charset="0"/>
                  <a:cs typeface="Times New Roman" pitchFamily="18" charset="0"/>
                </a:endParaRPr>
              </a:p>
            </p:txBody>
          </p:sp>
          <p:sp>
            <p:nvSpPr>
              <p:cNvPr id="53" name="Text Box 65"/>
              <p:cNvSpPr txBox="1">
                <a:spLocks noChangeArrowheads="1"/>
              </p:cNvSpPr>
              <p:nvPr/>
            </p:nvSpPr>
            <p:spPr bwMode="auto">
              <a:xfrm>
                <a:off x="1268" y="2294"/>
                <a:ext cx="4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Cover </a:t>
                </a:r>
                <a:endParaRPr lang="ko-KR" altLang="en-US" sz="950" dirty="0">
                  <a:latin typeface="Times New Roman" pitchFamily="18" charset="0"/>
                  <a:cs typeface="Times New Roman" pitchFamily="18" charset="0"/>
                </a:endParaRPr>
              </a:p>
            </p:txBody>
          </p:sp>
          <p:sp>
            <p:nvSpPr>
              <p:cNvPr id="54" name="Text Box 66"/>
              <p:cNvSpPr txBox="1">
                <a:spLocks noChangeArrowheads="1"/>
              </p:cNvSpPr>
              <p:nvPr/>
            </p:nvSpPr>
            <p:spPr bwMode="auto">
              <a:xfrm>
                <a:off x="1314" y="2418"/>
                <a:ext cx="50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End cap</a:t>
                </a:r>
                <a:endParaRPr lang="ko-KR" altLang="en-US" sz="950" dirty="0">
                  <a:latin typeface="Times New Roman" pitchFamily="18" charset="0"/>
                  <a:cs typeface="Times New Roman" pitchFamily="18" charset="0"/>
                </a:endParaRPr>
              </a:p>
            </p:txBody>
          </p:sp>
        </p:grpSp>
        <p:sp>
          <p:nvSpPr>
            <p:cNvPr id="50" name="Rectangle 67"/>
            <p:cNvSpPr>
              <a:spLocks noChangeArrowheads="1"/>
            </p:cNvSpPr>
            <p:nvPr/>
          </p:nvSpPr>
          <p:spPr bwMode="auto">
            <a:xfrm>
              <a:off x="260350" y="7164388"/>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Hình ống giảm thanh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Giảm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ứng</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endParaRPr lang="ko-KR" altLang="en-US" sz="950" dirty="0">
                <a:latin typeface="Times New Roman" pitchFamily="18" charset="0"/>
                <a:cs typeface="Times New Roman" pitchFamily="18" charset="0"/>
              </a:endParaRPr>
            </a:p>
          </p:txBody>
        </p:sp>
      </p:grpSp>
      <p:sp>
        <p:nvSpPr>
          <p:cNvPr id="55" name="Rectangle 14"/>
          <p:cNvSpPr>
            <a:spLocks noChangeArrowheads="1"/>
          </p:cNvSpPr>
          <p:nvPr/>
        </p:nvSpPr>
        <p:spPr bwMode="auto">
          <a:xfrm>
            <a:off x="3433490" y="6220108"/>
            <a:ext cx="327643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counter?</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bộ</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nhớ</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Preset</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batch </a:t>
            </a:r>
            <a:r>
              <a:rPr lang="en-US" altLang="ko-KR" sz="950" smtClean="0">
                <a:latin typeface="Times New Roman" pitchFamily="18" charset="0"/>
                <a:cs typeface="Times New Roman" pitchFamily="18" charset="0"/>
              </a:rPr>
              <a:t>counter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 Scale </a:t>
            </a:r>
            <a:endParaRPr lang="ko-KR" altLang="en-US" sz="950" dirty="0">
              <a:latin typeface="Times New Roman" pitchFamily="18" charset="0"/>
              <a:cs typeface="Times New Roman" pitchFamily="18" charset="0"/>
            </a:endParaRPr>
          </a:p>
        </p:txBody>
      </p:sp>
      <p:sp>
        <p:nvSpPr>
          <p:cNvPr id="56" name="Rectangle 49"/>
          <p:cNvSpPr>
            <a:spLocks noChangeArrowheads="1"/>
          </p:cNvSpPr>
          <p:nvPr/>
        </p:nvSpPr>
        <p:spPr bwMode="auto">
          <a:xfrm>
            <a:off x="3429000" y="7503184"/>
            <a:ext cx="328092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6</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valve </a:t>
            </a:r>
            <a:r>
              <a:rPr lang="en-US" altLang="ko-KR" sz="950" err="1" smtClean="0">
                <a:latin typeface="Times New Roman" pitchFamily="18" charset="0"/>
                <a:cs typeface="Times New Roman" pitchFamily="18" charset="0"/>
              </a:rPr>
              <a:t>dạng</a:t>
            </a:r>
            <a:r>
              <a:rPr lang="en-US" altLang="ko-KR" sz="950" smtClean="0">
                <a:latin typeface="Times New Roman" pitchFamily="18" charset="0"/>
                <a:cs typeface="Times New Roman" pitchFamily="18" charset="0"/>
              </a:rPr>
              <a:t> Pofit? </a:t>
            </a:r>
            <a:endParaRPr lang="en-US" altLang="ko-KR" sz="950" dirty="0">
              <a:latin typeface="Times New Roman" pitchFamily="18" charset="0"/>
              <a:cs typeface="Times New Roman" pitchFamily="18" charset="0"/>
            </a:endParaRPr>
          </a:p>
          <a:p>
            <a:pPr marL="177800" indent="-177800" eaLnBrk="1" hangingPunct="1"/>
            <a:endParaRPr lang="en-US" altLang="ko-KR" sz="950" smtClean="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Spring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nhờ</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hole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so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Quãng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hành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Tree>
    <p:extLst>
      <p:ext uri="{BB962C8B-B14F-4D97-AF65-F5344CB8AC3E}">
        <p14:creationId xmlns:p14="http://schemas.microsoft.com/office/powerpoint/2010/main" val="34443326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Mặt tiếp xúc nào có khả năng xoay tròn của 2 linh kiện </a:t>
            </a:r>
            <a:r>
              <a:rPr lang="vi-VN" altLang="ko-KR" sz="950" smtClean="0">
                <a:latin typeface="Times New Roman" pitchFamily="18" charset="0"/>
                <a:ea typeface="LG Smart_H Regular" panose="020B0600000101010101" pitchFamily="34" charset="-127"/>
                <a:cs typeface="Times New Roman" pitchFamily="18" charset="0"/>
              </a:rPr>
              <a:t>máy?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a:t>
            </a:r>
            <a:r>
              <a:rPr lang="en-US" altLang="ko-KR" sz="950" smtClean="0">
                <a:latin typeface="Times New Roman" pitchFamily="18" charset="0"/>
                <a:ea typeface="LG Smart_H Regular" panose="020B0600000101010101" pitchFamily="34" charset="-127"/>
                <a:cs typeface="Times New Roman" pitchFamily="18" charset="0"/>
              </a:rPr>
              <a:t>xoay</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tròn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trượt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Thép nào mà việc tăng hàm lượng tác động đến việc tăng độ cứng, độ bền hay là giảm tỷ lệ giãn dài, tỷ lệ co lại của </a:t>
            </a:r>
            <a:r>
              <a:rPr lang="vi-VN" altLang="ko-KR" sz="950" smtClean="0">
                <a:latin typeface="Times New Roman" pitchFamily="18" charset="0"/>
                <a:ea typeface="LG Smart_H Regular" panose="020B0600000101010101" pitchFamily="34" charset="-127"/>
                <a:cs typeface="Times New Roman" pitchFamily="18" charset="0"/>
              </a:rPr>
              <a:t>thép?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Molybdeum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Thép </a:t>
            </a:r>
            <a:r>
              <a:rPr lang="en-US" altLang="ko-KR" sz="950" smtClean="0">
                <a:latin typeface="Times New Roman" pitchFamily="18" charset="0"/>
                <a:ea typeface="LG Smart_H Regular" panose="020B0600000101010101" pitchFamily="34" charset="-127"/>
                <a:cs typeface="Times New Roman" pitchFamily="18" charset="0"/>
              </a:rPr>
              <a:t>Crom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Niken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Cacbon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a:t>
            </a:r>
            <a:r>
              <a:rPr lang="vi-VN" altLang="ko-KR" sz="950" smtClean="0">
                <a:latin typeface="Times New Roman" pitchFamily="18" charset="0"/>
                <a:ea typeface="LG Smart_H Regular" panose="020B0600000101010101" pitchFamily="34" charset="-127"/>
                <a:cs typeface="Times New Roman" pitchFamily="18" charset="0"/>
              </a:rPr>
              <a:t>Gear?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chắc </a:t>
            </a:r>
            <a:r>
              <a:rPr lang="vi-VN" altLang="ko-KR" sz="950" smtClean="0">
                <a:latin typeface="Times New Roman" pitchFamily="18" charset="0"/>
                <a:ea typeface="LG Smart_H Regular" panose="020B0600000101010101" pitchFamily="34" charset="-127"/>
                <a:cs typeface="Times New Roman" pitchFamily="18" charset="0"/>
              </a:rPr>
              <a:t>chắn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Backlash </a:t>
            </a:r>
            <a:r>
              <a:rPr lang="en-US" altLang="ko-KR" sz="950" smtClean="0">
                <a:latin typeface="Times New Roman" pitchFamily="18" charset="0"/>
                <a:ea typeface="LG Smart_H Regular" panose="020B0600000101010101" pitchFamily="34" charset="-127"/>
                <a:cs typeface="Times New Roman" pitchFamily="18" charset="0"/>
              </a:rPr>
              <a:t>nhỏ</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động bằng tỷ lệ tốc độ vòng quay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cấu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Bánh răng nào biến chuyển động quay thành chuyển động thẳng và ngược lại biến chuyển động thẳng thành chuyển động </a:t>
            </a:r>
            <a:r>
              <a:rPr lang="vi-VN" altLang="ko-KR" sz="950" smtClean="0">
                <a:latin typeface="Times New Roman" pitchFamily="18" charset="0"/>
                <a:ea typeface="LG Smart_H Regular" panose="020B0600000101010101" pitchFamily="34" charset="-127"/>
                <a:cs typeface="Times New Roman" pitchFamily="18" charset="0"/>
              </a:rPr>
              <a:t>quay?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trụ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thẳng khớp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Rack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phương thức End Cap Type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Phù hợp nhất với việc di chuyển với tốc độ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 loại High-lead </a:t>
            </a:r>
            <a:r>
              <a:rPr lang="en-US" altLang="ko-KR" sz="950" smtClean="0">
                <a:latin typeface="Times New Roman" pitchFamily="18" charset="0"/>
                <a:ea typeface="LG Smart_H Regular" panose="020B0600000101010101" pitchFamily="34" charset="-127"/>
                <a:cs typeface="Times New Roman" pitchFamily="18" charset="0"/>
              </a:rPr>
              <a:t>Nut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có thể chuyển động liên tục không giới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Nut phổ biến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23197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thành phần của </a:t>
            </a:r>
            <a:r>
              <a:rPr lang="vi-VN" altLang="ko-KR" sz="950" smtClean="0">
                <a:latin typeface="Times New Roman" pitchFamily="18" charset="0"/>
                <a:ea typeface="LG Smart_H Regular" panose="020B0600000101010101" pitchFamily="34" charset="-127"/>
                <a:cs typeface="Times New Roman" pitchFamily="18" charset="0"/>
              </a:rPr>
              <a:t>mỡ?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Chất </a:t>
            </a:r>
            <a:r>
              <a:rPr lang="vi-VN" altLang="ko-KR" sz="950">
                <a:latin typeface="Times New Roman" pitchFamily="18" charset="0"/>
                <a:ea typeface="LG Smart_H Regular" panose="020B0600000101010101" pitchFamily="34" charset="-127"/>
                <a:cs typeface="Times New Roman" pitchFamily="18" charset="0"/>
              </a:rPr>
              <a:t>làm cô </a:t>
            </a:r>
            <a:r>
              <a:rPr lang="vi-VN" altLang="ko-KR" sz="950" smtClean="0">
                <a:latin typeface="Times New Roman" pitchFamily="18" charset="0"/>
                <a:ea typeface="LG Smart_H Regular" panose="020B0600000101010101" pitchFamily="34" charset="-127"/>
                <a:cs typeface="Times New Roman" pitchFamily="18" charset="0"/>
              </a:rPr>
              <a:t>đặc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Dầu khoáng hoặc dầu </a:t>
            </a:r>
            <a:r>
              <a:rPr lang="nb-NO" altLang="ko-KR" sz="950" smtClean="0">
                <a:latin typeface="Times New Roman" pitchFamily="18" charset="0"/>
                <a:ea typeface="LG Smart_H Regular" panose="020B0600000101010101" pitchFamily="34" charset="-127"/>
                <a:cs typeface="Times New Roman" pitchFamily="18" charset="0"/>
              </a:rPr>
              <a:t>D-ester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Chất xúc </a:t>
            </a:r>
            <a:r>
              <a:rPr lang="en-US" altLang="ko-KR" sz="950" smtClean="0">
                <a:latin typeface="Times New Roman" pitchFamily="18" charset="0"/>
                <a:ea typeface="LG Smart_H Regular" panose="020B0600000101010101" pitchFamily="34" charset="-127"/>
                <a:cs typeface="Times New Roman" pitchFamily="18" charset="0"/>
              </a:rPr>
              <a:t>tác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Chất chống đông mỡ</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Là loại muff coupling cải tiến,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Coupling Rigid.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Flexible </a:t>
            </a:r>
            <a:r>
              <a:rPr lang="fr-FR"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Seller’s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Flange 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smtClean="0">
                <a:latin typeface="Times New Roman" pitchFamily="18" charset="0"/>
                <a:ea typeface="LG Smart_H Regular" panose="020B0600000101010101" pitchFamily="34" charset="-127"/>
                <a:cs typeface="Times New Roman" pitchFamily="18" charset="0"/>
              </a:rPr>
              <a:t>không phải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Khoản mục cần chú ý khi thiết kế nối trục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lớn của lực truyền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sai của trọng tâm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Tốc độ quay của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Góc tiếp xúc của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63885" y="8231776"/>
            <a:ext cx="3180502" cy="1113712"/>
            <a:chOff x="163885" y="7871936"/>
            <a:chExt cx="3180502" cy="1113712"/>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khóa có hình ảnh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Spring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Sliding key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3"/>
            <a:stretch>
              <a:fillRect/>
            </a:stretch>
          </p:blipFill>
          <p:spPr>
            <a:xfrm>
              <a:off x="1818851" y="8161986"/>
              <a:ext cx="1116209" cy="823662"/>
            </a:xfrm>
            <a:prstGeom prst="rect">
              <a:avLst/>
            </a:prstGeom>
          </p:spPr>
        </p:pic>
      </p:grpSp>
      <p:grpSp>
        <p:nvGrpSpPr>
          <p:cNvPr id="3" name="Group 2"/>
          <p:cNvGrpSpPr/>
          <p:nvPr/>
        </p:nvGrpSpPr>
        <p:grpSpPr>
          <a:xfrm>
            <a:off x="3379882" y="6071736"/>
            <a:ext cx="3180502" cy="1677788"/>
            <a:chOff x="3379882" y="6071736"/>
            <a:chExt cx="3180502" cy="1677788"/>
          </a:xfrm>
        </p:grpSpPr>
        <p:sp>
          <p:nvSpPr>
            <p:cNvPr id="45" name="Rectangle 7"/>
            <p:cNvSpPr>
              <a:spLocks noChangeArrowheads="1"/>
            </p:cNvSpPr>
            <p:nvPr/>
          </p:nvSpPr>
          <p:spPr bwMode="auto">
            <a:xfrm>
              <a:off x="3379882" y="6071736"/>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Phương thức dẫn động nào sử dụng labyrinth seal để ngăn bụi </a:t>
              </a:r>
              <a:r>
                <a:rPr lang="vi-VN" altLang="ko-KR" sz="950" smtClean="0">
                  <a:latin typeface="Times New Roman" pitchFamily="18" charset="0"/>
                  <a:ea typeface="LG Smart_H Regular" panose="020B0600000101010101" pitchFamily="34" charset="-127"/>
                  <a:cs typeface="Times New Roman" pitchFamily="18" charset="0"/>
                </a:rPr>
                <a:t>bẩn?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0064" y="7176436"/>
              <a:ext cx="847775" cy="57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7-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1034" y="6460704"/>
              <a:ext cx="857005" cy="56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7-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8588" y="6475201"/>
              <a:ext cx="853159" cy="55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7-5-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62416" y="7183684"/>
              <a:ext cx="849523" cy="56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5247771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39" name="Rectangle 11"/>
          <p:cNvSpPr>
            <a:spLocks noChangeArrowheads="1"/>
          </p:cNvSpPr>
          <p:nvPr/>
        </p:nvSpPr>
        <p:spPr bwMode="auto">
          <a:xfrm>
            <a:off x="188640" y="1245022"/>
            <a:ext cx="325833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Được gọi là động học cơ học.</a:t>
            </a:r>
          </a:p>
          <a:p>
            <a:pPr marL="111125" indent="-111125"/>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23" name="Rectangle 22"/>
          <p:cNvSpPr>
            <a:spLocks noChangeArrowheads="1"/>
          </p:cNvSpPr>
          <p:nvPr/>
        </p:nvSpPr>
        <p:spPr bwMode="auto">
          <a:xfrm>
            <a:off x="188640" y="2678068"/>
            <a:ext cx="325833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Chọn đáp án không phải là ưu điểm của V Belt?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Có thể lắp </a:t>
            </a:r>
            <a:r>
              <a:rPr lang="en-US" altLang="ko-KR" sz="950" smtClean="0">
                <a:latin typeface="Times New Roman" pitchFamily="18" charset="0"/>
                <a:ea typeface="돋움" pitchFamily="50" charset="-127"/>
                <a:cs typeface="Times New Roman" pitchFamily="18" charset="0"/>
              </a:rPr>
              <a:t>đặt ở </a:t>
            </a:r>
            <a:r>
              <a:rPr lang="en-US" altLang="ko-KR" sz="950">
                <a:latin typeface="Times New Roman" pitchFamily="18" charset="0"/>
                <a:ea typeface="돋움" pitchFamily="50" charset="-127"/>
                <a:cs typeface="Times New Roman" pitchFamily="18" charset="0"/>
              </a:rPr>
              <a:t>nơi </a:t>
            </a:r>
            <a:r>
              <a:rPr lang="en-US" altLang="ko-KR" sz="950" smtClean="0">
                <a:latin typeface="Times New Roman" pitchFamily="18" charset="0"/>
                <a:ea typeface="돋움" pitchFamily="50" charset="-127"/>
                <a:cs typeface="Times New Roman" pitchFamily="18" charset="0"/>
              </a:rPr>
              <a:t>chật hẹp</a:t>
            </a:r>
            <a:r>
              <a:rPr lang="en-US" altLang="ko-KR" sz="950">
                <a:latin typeface="Times New Roman" pitchFamily="18" charset="0"/>
                <a:ea typeface="돋움" pitchFamily="50" charset="-127"/>
                <a:cs typeface="Times New Roman" pitchFamily="18" charset="0"/>
              </a:rPr>
              <a:t>, vận </a:t>
            </a:r>
            <a:r>
              <a:rPr lang="en-US" altLang="ko-KR" sz="950" smtClean="0">
                <a:latin typeface="Times New Roman" pitchFamily="18" charset="0"/>
                <a:ea typeface="돋움" pitchFamily="50" charset="-127"/>
                <a:cs typeface="Times New Roman" pitchFamily="18" charset="0"/>
              </a:rPr>
              <a:t>hành </a:t>
            </a:r>
            <a:r>
              <a:rPr lang="en-US" altLang="ko-KR" sz="950">
                <a:latin typeface="Times New Roman" pitchFamily="18" charset="0"/>
                <a:ea typeface="돋움" pitchFamily="50" charset="-127"/>
                <a:cs typeface="Times New Roman" pitchFamily="18" charset="0"/>
              </a:rPr>
              <a:t>tĩnh và </a:t>
            </a:r>
            <a:r>
              <a:rPr lang="en-US" altLang="ko-KR" sz="950" smtClean="0">
                <a:latin typeface="Times New Roman" pitchFamily="18" charset="0"/>
                <a:ea typeface="돋움" pitchFamily="50" charset="-127"/>
                <a:cs typeface="Times New Roman" pitchFamily="18" charset="0"/>
              </a:rPr>
              <a:t>rung lắc ít</a:t>
            </a:r>
            <a:endParaRPr lang="en-US" altLang="ko-KR"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Hiệu suất truyền động khoảng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96~99%, lực kéo nhỏ nên tải trọng lên </a:t>
            </a:r>
            <a:r>
              <a:rPr lang="en-US" altLang="ko-KR" sz="950" smtClean="0">
                <a:latin typeface="Times New Roman" pitchFamily="18" charset="0"/>
                <a:ea typeface="돋움" pitchFamily="50" charset="-127"/>
                <a:cs typeface="Times New Roman" pitchFamily="18" charset="0"/>
              </a:rPr>
              <a:t>bánh răng </a:t>
            </a:r>
            <a:r>
              <a:rPr lang="en-US" altLang="ko-KR" sz="950">
                <a:latin typeface="Times New Roman" pitchFamily="18" charset="0"/>
                <a:ea typeface="돋움" pitchFamily="50" charset="-127"/>
                <a:cs typeface="Times New Roman" pitchFamily="18" charset="0"/>
              </a:rPr>
              <a:t>nhỏ.</a:t>
            </a:r>
          </a:p>
          <a:p>
            <a:r>
              <a:rPr lang="en-US" altLang="ko-KR" sz="950" smtClean="0">
                <a:latin typeface="Times New Roman" pitchFamily="18" charset="0"/>
                <a:ea typeface="돋움" pitchFamily="50" charset="-127"/>
                <a:cs typeface="Times New Roman" pitchFamily="18" charset="0"/>
              </a:rPr>
              <a:t>C. Chủ yếu sử dụng trong Pully </a:t>
            </a:r>
            <a:r>
              <a:rPr lang="en-US" altLang="ko-KR" sz="950">
                <a:latin typeface="Times New Roman" pitchFamily="18" charset="0"/>
                <a:ea typeface="돋움" pitchFamily="50" charset="-127"/>
                <a:cs typeface="Times New Roman" pitchFamily="18" charset="0"/>
              </a:rPr>
              <a:t>có đường kính tương đối nhỏ.</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Hầu như không có trơn trợt và thay đổi tốc độ.</a:t>
            </a:r>
          </a:p>
        </p:txBody>
      </p:sp>
      <p:grpSp>
        <p:nvGrpSpPr>
          <p:cNvPr id="24" name="Group 23"/>
          <p:cNvGrpSpPr/>
          <p:nvPr/>
        </p:nvGrpSpPr>
        <p:grpSpPr>
          <a:xfrm>
            <a:off x="188640" y="4630559"/>
            <a:ext cx="3124200" cy="1627369"/>
            <a:chOff x="3467106" y="3347830"/>
            <a:chExt cx="3124200" cy="1627369"/>
          </a:xfrm>
        </p:grpSpPr>
        <p:sp>
          <p:nvSpPr>
            <p:cNvPr id="25" name="Rectangle 26"/>
            <p:cNvSpPr>
              <a:spLocks noChangeArrowheads="1"/>
            </p:cNvSpPr>
            <p:nvPr/>
          </p:nvSpPr>
          <p:spPr bwMode="auto">
            <a:xfrm>
              <a:off x="3467106" y="3347830"/>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a:t>
              </a:r>
              <a:r>
                <a:rPr lang="en-US" altLang="ko-KR" sz="950">
                  <a:latin typeface="Times New Roman" pitchFamily="18" charset="0"/>
                  <a:ea typeface="돋움" pitchFamily="50" charset="-127"/>
                  <a:cs typeface="Times New Roman" pitchFamily="18" charset="0"/>
                </a:rPr>
                <a:t>. Chọn loại răng của Timing Belt mà mang lại thành công hiệu quả backlash tối thiểu, giảm tiếng ồn, độ tin cậy cao và tuổi thọ dài?</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D.   </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6" name="Group 25"/>
            <p:cNvGrpSpPr/>
            <p:nvPr/>
          </p:nvGrpSpPr>
          <p:grpSpPr>
            <a:xfrm>
              <a:off x="3717040" y="3824080"/>
              <a:ext cx="2736148" cy="1008140"/>
              <a:chOff x="3717040" y="3824080"/>
              <a:chExt cx="2736148" cy="1008140"/>
            </a:xfrm>
          </p:grpSpPr>
          <p:pic>
            <p:nvPicPr>
              <p:cNvPr id="27"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040" y="3871802"/>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5157788" y="3824080"/>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3717040" y="4443282"/>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5233988" y="4470765"/>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1" name="Rectangle 32"/>
          <p:cNvSpPr>
            <a:spLocks noChangeArrowheads="1"/>
          </p:cNvSpPr>
          <p:nvPr/>
        </p:nvSpPr>
        <p:spPr bwMode="auto">
          <a:xfrm>
            <a:off x="188640" y="6677417"/>
            <a:ext cx="3248212"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11125" indent="-111125"/>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4</a:t>
            </a:r>
            <a:r>
              <a:rPr lang="en-US" altLang="ko-KR" sz="950">
                <a:latin typeface="Times New Roman" pitchFamily="18" charset="0"/>
                <a:ea typeface="돋움" pitchFamily="50" charset="-127"/>
                <a:cs typeface="Times New Roman" pitchFamily="18" charset="0"/>
              </a:rPr>
              <a:t>. Chọn đáp án không được sử dụng như một vật liệu chịu bền kéo của Timing Belt  ?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PTFE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Loại SUS</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Glass Fiber Cord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Kevlar</a:t>
            </a:r>
          </a:p>
        </p:txBody>
      </p:sp>
      <p:sp>
        <p:nvSpPr>
          <p:cNvPr id="32" name="Rectangle 13"/>
          <p:cNvSpPr>
            <a:spLocks noChangeArrowheads="1"/>
          </p:cNvSpPr>
          <p:nvPr/>
        </p:nvSpPr>
        <p:spPr bwMode="auto">
          <a:xfrm>
            <a:off x="188640" y="7934652"/>
            <a:ext cx="3312368"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Giải thích nào sau đây không đúng với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LM Guide?</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Hệ </a:t>
            </a:r>
            <a:r>
              <a:rPr lang="en-US" altLang="ko-KR" sz="950">
                <a:latin typeface="Times New Roman" pitchFamily="18" charset="0"/>
                <a:ea typeface="돋움" pitchFamily="50" charset="-127"/>
                <a:cs typeface="Times New Roman" pitchFamily="18" charset="0"/>
              </a:rPr>
              <a:t>số ma sát là 0.002~0.005 nên giảm chi phí vận hành máy</a:t>
            </a:r>
            <a:r>
              <a:rPr lang="ko-KR" altLang="en-US" sz="95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a:p>
            <a:pPr marL="109538" indent="-109538"/>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Do </a:t>
            </a:r>
            <a:r>
              <a:rPr lang="en-US" altLang="ko-KR" sz="950" smtClean="0">
                <a:latin typeface="Times New Roman" pitchFamily="18" charset="0"/>
                <a:ea typeface="돋움" pitchFamily="50" charset="-127"/>
                <a:cs typeface="Times New Roman" pitchFamily="18" charset="0"/>
              </a:rPr>
              <a:t>rãnh </a:t>
            </a:r>
            <a:r>
              <a:rPr lang="en-US" altLang="ko-KR" sz="950">
                <a:latin typeface="Times New Roman" pitchFamily="18" charset="0"/>
                <a:ea typeface="돋움" pitchFamily="50" charset="-127"/>
                <a:cs typeface="Times New Roman" pitchFamily="18" charset="0"/>
              </a:rPr>
              <a:t>của ball được gia công bán </a:t>
            </a:r>
            <a:r>
              <a:rPr lang="en-US" altLang="ko-KR" sz="950" smtClean="0">
                <a:latin typeface="Times New Roman" pitchFamily="18" charset="0"/>
                <a:ea typeface="돋움" pitchFamily="50" charset="-127"/>
                <a:cs typeface="Times New Roman" pitchFamily="18" charset="0"/>
              </a:rPr>
              <a:t>kính đồng nhất với rãnh của </a:t>
            </a:r>
            <a:r>
              <a:rPr lang="en-US" altLang="ko-KR" sz="950">
                <a:latin typeface="Times New Roman" pitchFamily="18" charset="0"/>
                <a:ea typeface="돋움" pitchFamily="50" charset="-127"/>
                <a:cs typeface="Times New Roman" pitchFamily="18" charset="0"/>
              </a:rPr>
              <a:t>Bearing ball nên có thể tạo tải trước ( preload) .</a:t>
            </a:r>
            <a:endParaRPr lang="en-US" altLang="ko-KR" sz="950">
              <a:latin typeface="Times New Roman" pitchFamily="18" charset="0"/>
              <a:ea typeface="돋움" pitchFamily="50" charset="-127"/>
              <a:cs typeface="Times New Roman" pitchFamily="18" charset="0"/>
              <a:sym typeface="Wingdings" pitchFamily="2" charset="2"/>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Không có Stick slip , </a:t>
            </a:r>
            <a:r>
              <a:rPr lang="vi-VN" altLang="ko-KR" sz="950">
                <a:latin typeface="Times New Roman" pitchFamily="18" charset="0"/>
                <a:ea typeface="돋움" pitchFamily="50" charset="-127"/>
                <a:cs typeface="Times New Roman" pitchFamily="18" charset="0"/>
              </a:rPr>
              <a:t>hầu như không có chuyển động lỏng</a:t>
            </a:r>
            <a:r>
              <a:rPr lang="en-US" altLang="ko-KR" sz="950" smtClean="0">
                <a:latin typeface="Times New Roman" pitchFamily="18" charset="0"/>
                <a:ea typeface="돋움" pitchFamily="50" charset="-127"/>
                <a:cs typeface="Times New Roman" pitchFamily="18" charset="0"/>
              </a:rPr>
              <a:t>.</a:t>
            </a:r>
            <a:r>
              <a:rPr lang="en-US" altLang="ko-KR" sz="950" smtClean="0">
                <a:latin typeface="Times New Roman" pitchFamily="18" charset="0"/>
                <a:ea typeface="돋움" pitchFamily="50" charset="-127"/>
                <a:cs typeface="Times New Roman" pitchFamily="18" charset="0"/>
                <a:sym typeface="Wingdings" pitchFamily="2" charset="2"/>
              </a:rPr>
              <a:t> </a:t>
            </a:r>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Có thể thiết kế </a:t>
            </a:r>
            <a:r>
              <a:rPr lang="en-US" altLang="ko-KR" sz="950" smtClean="0">
                <a:latin typeface="Times New Roman" pitchFamily="18" charset="0"/>
                <a:ea typeface="돋움" pitchFamily="50" charset="-127"/>
                <a:cs typeface="Times New Roman" pitchFamily="18" charset="0"/>
              </a:rPr>
              <a:t> nhỏ gọn </a:t>
            </a:r>
            <a:r>
              <a:rPr lang="en-US" altLang="ko-KR" sz="950">
                <a:latin typeface="Times New Roman" pitchFamily="18" charset="0"/>
                <a:ea typeface="돋움" pitchFamily="50" charset="-127"/>
                <a:cs typeface="Times New Roman" pitchFamily="18" charset="0"/>
              </a:rPr>
              <a:t>bằng cách thay thế L</a:t>
            </a:r>
            <a:r>
              <a:rPr lang="en-US" altLang="ko-KR" sz="950" smtClean="0">
                <a:latin typeface="Times New Roman" pitchFamily="18" charset="0"/>
                <a:ea typeface="돋움" pitchFamily="50" charset="-127"/>
                <a:cs typeface="Times New Roman" pitchFamily="18" charset="0"/>
              </a:rPr>
              <a:t>inear Bush</a:t>
            </a:r>
            <a:endParaRPr lang="en-US" altLang="ko-KR" sz="950">
              <a:latin typeface="Times New Roman" pitchFamily="18" charset="0"/>
              <a:ea typeface="돋움" pitchFamily="50" charset="-127"/>
              <a:cs typeface="Times New Roman" pitchFamily="18" charset="0"/>
            </a:endParaRPr>
          </a:p>
        </p:txBody>
      </p:sp>
      <p:grpSp>
        <p:nvGrpSpPr>
          <p:cNvPr id="38" name="Group 37"/>
          <p:cNvGrpSpPr/>
          <p:nvPr/>
        </p:nvGrpSpPr>
        <p:grpSpPr>
          <a:xfrm>
            <a:off x="3436852" y="1280592"/>
            <a:ext cx="3124200" cy="1159548"/>
            <a:chOff x="3441700" y="7153275"/>
            <a:chExt cx="3124200" cy="1159548"/>
          </a:xfrm>
        </p:grpSpPr>
        <p:sp>
          <p:nvSpPr>
            <p:cNvPr id="50" name="Rectangle 36"/>
            <p:cNvSpPr>
              <a:spLocks noChangeArrowheads="1"/>
            </p:cNvSpPr>
            <p:nvPr/>
          </p:nvSpPr>
          <p:spPr bwMode="auto">
            <a:xfrm>
              <a:off x="3441700" y="7153275"/>
              <a:ext cx="3124200" cy="115954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6</a:t>
              </a:r>
              <a:r>
                <a:rPr lang="en-US" altLang="ko-KR" sz="950">
                  <a:latin typeface="Times New Roman" pitchFamily="18" charset="0"/>
                  <a:cs typeface="Times New Roman" pitchFamily="18" charset="0"/>
                </a:rPr>
                <a:t>. Tên gọi của phần A ở hình sau là gì</a:t>
              </a:r>
              <a:r>
                <a:rPr lang="ko-KR" altLang="en-US" sz="950">
                  <a:latin typeface="Times New Roman" pitchFamily="18" charset="0"/>
                  <a:cs typeface="Times New Roman" pitchFamily="18" charset="0"/>
                </a:rPr>
                <a:t> </a:t>
              </a:r>
              <a:r>
                <a:rPr lang="en-US" altLang="ko-KR" sz="950">
                  <a:latin typeface="Times New Roman" pitchFamily="18" charset="0"/>
                  <a:cs typeface="Times New Roman" pitchFamily="18" charset="0"/>
                </a:rPr>
                <a:t>?</a:t>
              </a:r>
            </a:p>
            <a:p>
              <a:pPr>
                <a:lnSpc>
                  <a:spcPct val="70000"/>
                </a:lnSpc>
              </a:pPr>
              <a:endParaRPr lang="en-US" altLang="ko-KR" sz="950">
                <a:latin typeface="Times New Roman" pitchFamily="18" charset="0"/>
                <a:cs typeface="Times New Roman" pitchFamily="18" charset="0"/>
              </a:endParaRPr>
            </a:p>
            <a:p>
              <a:pPr>
                <a:lnSpc>
                  <a:spcPct val="70000"/>
                </a:lnSpc>
              </a:pPr>
              <a:endParaRPr lang="en-US" altLang="ko-KR" sz="950">
                <a:latin typeface="Times New Roman" pitchFamily="18" charset="0"/>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cap</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Ống ngoài</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End </a:t>
              </a:r>
              <a:r>
                <a:rPr lang="en-US" altLang="ko-KR" sz="950">
                  <a:latin typeface="Times New Roman" pitchFamily="18" charset="0"/>
                  <a:ea typeface="돋움" pitchFamily="50" charset="-127"/>
                  <a:cs typeface="Times New Roman" pitchFamily="18" charset="0"/>
                </a:rPr>
                <a:t>Plate</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Base Plate</a:t>
              </a:r>
              <a:endParaRPr lang="ko-KR" altLang="en-US" sz="950">
                <a:latin typeface="Times New Roman" pitchFamily="18" charset="0"/>
                <a:ea typeface="돋움" pitchFamily="50" charset="-127"/>
                <a:cs typeface="Times New Roman" pitchFamily="18" charset="0"/>
              </a:endParaRPr>
            </a:p>
          </p:txBody>
        </p:sp>
        <p:grpSp>
          <p:nvGrpSpPr>
            <p:cNvPr id="51" name="Group 37"/>
            <p:cNvGrpSpPr>
              <a:grpSpLocks/>
            </p:cNvGrpSpPr>
            <p:nvPr/>
          </p:nvGrpSpPr>
          <p:grpSpPr bwMode="auto">
            <a:xfrm>
              <a:off x="5121275" y="7353300"/>
              <a:ext cx="1295400" cy="855663"/>
              <a:chOff x="1056" y="848"/>
              <a:chExt cx="816" cy="539"/>
            </a:xfrm>
          </p:grpSpPr>
          <p:sp>
            <p:nvSpPr>
              <p:cNvPr id="52"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itchFamily="18" charset="0"/>
                </a:endParaRPr>
              </a:p>
            </p:txBody>
          </p:sp>
          <p:pic>
            <p:nvPicPr>
              <p:cNvPr id="53"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itchFamily="18" charset="0"/>
                  </a:rPr>
                  <a:t>A</a:t>
                </a:r>
              </a:p>
            </p:txBody>
          </p:sp>
        </p:grpSp>
      </p:grpSp>
      <p:sp>
        <p:nvSpPr>
          <p:cNvPr id="55" name="Rectangle 46"/>
          <p:cNvSpPr>
            <a:spLocks noChangeArrowheads="1"/>
          </p:cNvSpPr>
          <p:nvPr/>
        </p:nvSpPr>
        <p:spPr bwMode="auto">
          <a:xfrm>
            <a:off x="3442965" y="3008784"/>
            <a:ext cx="321420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7</a:t>
            </a:r>
            <a:r>
              <a:rPr lang="en-US" altLang="ko-KR" sz="950">
                <a:latin typeface="Times New Roman" pitchFamily="18" charset="0"/>
                <a:ea typeface="돋움" pitchFamily="50" charset="-127"/>
                <a:cs typeface="Times New Roman" pitchFamily="18" charset="0"/>
              </a:rPr>
              <a:t>. Type nào tạo sao tải trọng định mức giống nhau cho cả 4 hướng trong cấu trúc của LM Guide?</a:t>
            </a:r>
          </a:p>
          <a:p>
            <a:r>
              <a:rPr lang="en-US" altLang="ko-KR" sz="950" smtClean="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 A. </a:t>
            </a:r>
            <a:r>
              <a:rPr lang="en-US" altLang="ko-KR" sz="950">
                <a:latin typeface="Times New Roman" pitchFamily="18" charset="0"/>
                <a:ea typeface="돋움" pitchFamily="50" charset="-127"/>
                <a:cs typeface="Times New Roman" pitchFamily="18" charset="0"/>
              </a:rPr>
              <a:t>HSR  </a:t>
            </a:r>
            <a:r>
              <a:rPr lang="en-US" altLang="ko-KR" sz="950" smtClean="0">
                <a:latin typeface="Times New Roman" pitchFamily="18" charset="0"/>
                <a:ea typeface="돋움" pitchFamily="50" charset="-127"/>
                <a:cs typeface="Times New Roman" pitchFamily="18" charset="0"/>
              </a:rPr>
              <a:t>    B. </a:t>
            </a:r>
            <a:r>
              <a:rPr lang="en-US" altLang="ko-KR" sz="950">
                <a:latin typeface="Times New Roman" pitchFamily="18" charset="0"/>
                <a:ea typeface="돋움" pitchFamily="50" charset="-127"/>
                <a:cs typeface="Times New Roman" pitchFamily="18" charset="0"/>
              </a:rPr>
              <a:t>SR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SRG   </a:t>
            </a:r>
            <a:r>
              <a:rPr lang="en-US" altLang="ko-KR" sz="950" smtClean="0">
                <a:latin typeface="Times New Roman" pitchFamily="18" charset="0"/>
                <a:ea typeface="돋움" pitchFamily="50" charset="-127"/>
                <a:cs typeface="Times New Roman" pitchFamily="18" charset="0"/>
              </a:rPr>
              <a:t>    D. </a:t>
            </a:r>
            <a:r>
              <a:rPr lang="en-US" altLang="ko-KR" sz="950">
                <a:latin typeface="Times New Roman" pitchFamily="18" charset="0"/>
                <a:ea typeface="돋움" pitchFamily="50" charset="-127"/>
                <a:cs typeface="Times New Roman" pitchFamily="18" charset="0"/>
              </a:rPr>
              <a:t>SRW</a:t>
            </a:r>
          </a:p>
        </p:txBody>
      </p:sp>
      <p:sp>
        <p:nvSpPr>
          <p:cNvPr id="56" name="Rectangle 14"/>
          <p:cNvSpPr>
            <a:spLocks noChangeArrowheads="1"/>
          </p:cNvSpPr>
          <p:nvPr/>
        </p:nvSpPr>
        <p:spPr bwMode="auto">
          <a:xfrm>
            <a:off x="3429000" y="4304928"/>
            <a:ext cx="3272982"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đặc điểm của bôi trơn dầu?</a:t>
            </a:r>
          </a:p>
          <a:p>
            <a:pPr marL="111125" indent="-111125"/>
            <a:endParaRPr lang="en-US" altLang="ko-KR" sz="950" smtClean="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Phù hợp với sử dụng nhiệt độ thấp hoặc tốc độ thấp hơn là bôi trơn bằng mỡ.</a:t>
            </a: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a:t>
            </a:r>
            <a:r>
              <a:rPr lang="en-US" altLang="ko-KR" sz="950" smtClean="0">
                <a:latin typeface="Times New Roman" pitchFamily="18" charset="0"/>
                <a:ea typeface="돋움" pitchFamily="50" charset="-127"/>
                <a:cs typeface="Times New Roman" pitchFamily="18" charset="0"/>
              </a:rPr>
              <a:t>phù </a:t>
            </a:r>
            <a:r>
              <a:rPr lang="en-US" altLang="ko-KR" sz="950">
                <a:latin typeface="Times New Roman" pitchFamily="18" charset="0"/>
                <a:ea typeface="돋움" pitchFamily="50" charset="-127"/>
                <a:cs typeface="Times New Roman" pitchFamily="18" charset="0"/>
              </a:rPr>
              <a:t>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pPr marL="111125" indent="-111125"/>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p:txBody>
      </p:sp>
      <p:sp>
        <p:nvSpPr>
          <p:cNvPr id="57" name="Rectangle 14"/>
          <p:cNvSpPr>
            <a:spLocks noChangeArrowheads="1"/>
          </p:cNvSpPr>
          <p:nvPr/>
        </p:nvSpPr>
        <p:spPr bwMode="auto">
          <a:xfrm>
            <a:off x="3429000" y="7689304"/>
            <a:ext cx="3272982"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8</a:t>
            </a:r>
            <a:r>
              <a:rPr lang="en-US" altLang="ko-KR" sz="950" smtClean="0">
                <a:latin typeface="Times New Roman" pitchFamily="18" charset="0"/>
                <a:ea typeface="돋움" pitchFamily="50" charset="-127"/>
                <a:cs typeface="Times New Roman" pitchFamily="18" charset="0"/>
              </a:rPr>
              <a:t>0</a:t>
            </a:r>
            <a:r>
              <a:rPr lang="en-US" altLang="ko-KR" sz="950">
                <a:latin typeface="Times New Roman" pitchFamily="18" charset="0"/>
                <a:ea typeface="돋움" pitchFamily="50" charset="-127"/>
                <a:cs typeface="Times New Roman" pitchFamily="18" charset="0"/>
              </a:rPr>
              <a:t>. Chọn đáp án biểu thị đúng thứ tự ưu tiên của </a:t>
            </a:r>
            <a:r>
              <a:rPr lang="en-US" altLang="ko-KR" sz="950" smtClean="0">
                <a:latin typeface="Times New Roman" pitchFamily="18" charset="0"/>
                <a:ea typeface="돋움" pitchFamily="50" charset="-127"/>
                <a:cs typeface="Times New Roman" pitchFamily="18" charset="0"/>
              </a:rPr>
              <a:t>đường kẻ trong bản vẽ?</a:t>
            </a:r>
            <a:endParaRPr lang="en-US" altLang="ko-KR" sz="950">
              <a:latin typeface="Times New Roman" pitchFamily="18" charset="0"/>
              <a:ea typeface="돋움" pitchFamily="50" charset="-127"/>
              <a:cs typeface="Times New Roman" pitchFamily="18" charset="0"/>
            </a:endParaRPr>
          </a:p>
          <a:p>
            <a:pPr marL="111125" indent="-111125"/>
            <a:endParaRPr lang="en-US" altLang="ko-KR" sz="950" smtClean="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A. 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sym typeface="Wingdings" pitchFamily="2" charset="2"/>
            </a:endParaRPr>
          </a:p>
          <a:p>
            <a:pPr marL="111125" indent="-111125"/>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smtClean="0">
                <a:latin typeface="Times New Roman" pitchFamily="18" charset="0"/>
                <a:ea typeface="돋움" pitchFamily="50" charset="-127"/>
                <a:cs typeface="Times New Roman" pitchFamily="18" charset="0"/>
                <a:sym typeface="Wingdings" pitchFamily="2" charset="2"/>
              </a:rPr>
              <a:t>đường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kích đề thước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phẳng </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sym typeface="Wingdings" pitchFamily="2" charset="2"/>
              </a:rPr>
              <a:t>Đ</a:t>
            </a:r>
            <a:r>
              <a:rPr lang="vi-VN" altLang="ko-KR" sz="950" smtClean="0">
                <a:latin typeface="Times New Roman" pitchFamily="18" charset="0"/>
                <a:ea typeface="돋움" pitchFamily="50" charset="-127"/>
                <a:cs typeface="Times New Roman" pitchFamily="18" charset="0"/>
                <a:sym typeface="Wingdings" pitchFamily="2" charset="2"/>
              </a:rPr>
              <a:t>ường </a:t>
            </a:r>
            <a:r>
              <a:rPr lang="vi-VN" altLang="ko-KR" sz="950">
                <a:latin typeface="Times New Roman" pitchFamily="18" charset="0"/>
                <a:ea typeface="돋움" pitchFamily="50" charset="-127"/>
                <a:cs typeface="Times New Roman" pitchFamily="18" charset="0"/>
                <a:sym typeface="Wingdings" pitchFamily="2" charset="2"/>
              </a:rPr>
              <a:t>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a:t>
            </a:r>
            <a:r>
              <a:rPr lang="en-US" altLang="ko-KR" sz="950" smtClean="0">
                <a:latin typeface="Times New Roman" pitchFamily="18" charset="0"/>
                <a:ea typeface="돋움" pitchFamily="50" charset="-127"/>
                <a:cs typeface="Times New Roman" pitchFamily="18" charset="0"/>
                <a:sym typeface="Wingdings" pitchFamily="2" charset="2"/>
              </a:rPr>
              <a:t>phẳng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vi-VN" altLang="ko-KR" sz="950" smtClean="0">
                <a:latin typeface="Times New Roman" pitchFamily="18" charset="0"/>
                <a:ea typeface="돋움" pitchFamily="50" charset="-127"/>
                <a:cs typeface="Times New Roman" pitchFamily="18" charset="0"/>
                <a:sym typeface="Wingdings" pitchFamily="2" charset="2"/>
              </a:rPr>
              <a:t>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đề kích thước</a:t>
            </a:r>
            <a:r>
              <a:rPr lang="vi-VN"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p:txBody>
      </p:sp>
      <p:sp>
        <p:nvSpPr>
          <p:cNvPr id="58" name="Rectangle 22"/>
          <p:cNvSpPr>
            <a:spLocks noChangeArrowheads="1"/>
          </p:cNvSpPr>
          <p:nvPr/>
        </p:nvSpPr>
        <p:spPr bwMode="auto">
          <a:xfrm>
            <a:off x="3428999" y="6465168"/>
            <a:ext cx="322816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9</a:t>
            </a:r>
            <a:r>
              <a:rPr lang="en-US" altLang="ko-KR" sz="950">
                <a:latin typeface="Times New Roman" pitchFamily="18" charset="0"/>
                <a:ea typeface="돋움" pitchFamily="50" charset="-127"/>
                <a:cs typeface="Times New Roman" pitchFamily="18" charset="0"/>
              </a:rPr>
              <a:t>. Chọn đáp án không đúng với mục đích của việc bôi trơn?</a:t>
            </a:r>
          </a:p>
          <a:p>
            <a:pPr marL="228600" indent="-228600">
              <a:buAutoNum type="alphaUcPeriod"/>
            </a:pPr>
            <a:r>
              <a:rPr lang="en-US" altLang="ko-KR" sz="950" smtClean="0">
                <a:latin typeface="Times New Roman" pitchFamily="18" charset="0"/>
                <a:ea typeface="돋움" pitchFamily="50" charset="-127"/>
                <a:cs typeface="Times New Roman" pitchFamily="18" charset="0"/>
              </a:rPr>
              <a:t>Giảm </a:t>
            </a:r>
            <a:r>
              <a:rPr lang="en-US" altLang="ko-KR" sz="950">
                <a:latin typeface="Times New Roman" pitchFamily="18" charset="0"/>
                <a:ea typeface="돋움" pitchFamily="50" charset="-127"/>
                <a:cs typeface="Times New Roman" pitchFamily="18" charset="0"/>
              </a:rPr>
              <a:t>ma sát và </a:t>
            </a:r>
            <a:r>
              <a:rPr lang="en-US" altLang="ko-KR" sz="950" smtClean="0">
                <a:latin typeface="Times New Roman" pitchFamily="18" charset="0"/>
                <a:ea typeface="돋움" pitchFamily="50" charset="-127"/>
                <a:cs typeface="Times New Roman" pitchFamily="18" charset="0"/>
              </a:rPr>
              <a:t>giảm mài </a:t>
            </a:r>
            <a:r>
              <a:rPr lang="en-US" altLang="ko-KR" sz="950">
                <a:latin typeface="Times New Roman" pitchFamily="18" charset="0"/>
                <a:ea typeface="돋움" pitchFamily="50" charset="-127"/>
                <a:cs typeface="Times New Roman" pitchFamily="18" charset="0"/>
              </a:rPr>
              <a:t>mòn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Giảm nhiệt </a:t>
            </a:r>
            <a:r>
              <a:rPr lang="en-US" altLang="ko-KR" sz="950">
                <a:latin typeface="Times New Roman" pitchFamily="18" charset="0"/>
                <a:ea typeface="돋움" pitchFamily="50" charset="-127"/>
                <a:cs typeface="Times New Roman" pitchFamily="18" charset="0"/>
              </a:rPr>
              <a:t>ma </a:t>
            </a:r>
            <a:r>
              <a:rPr lang="en-US" altLang="ko-KR" sz="950" smtClean="0">
                <a:latin typeface="Times New Roman" pitchFamily="18" charset="0"/>
                <a:ea typeface="돋움" pitchFamily="50" charset="-127"/>
                <a:cs typeface="Times New Roman" pitchFamily="18" charset="0"/>
              </a:rPr>
              <a:t>sát</a:t>
            </a:r>
            <a:endParaRPr lang="en-US" altLang="ko-KR" sz="95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Tăng </a:t>
            </a:r>
            <a:r>
              <a:rPr lang="en-US" altLang="ko-KR" sz="950">
                <a:latin typeface="Times New Roman" pitchFamily="18" charset="0"/>
                <a:ea typeface="돋움" pitchFamily="50" charset="-127"/>
                <a:cs typeface="Times New Roman" pitchFamily="18" charset="0"/>
              </a:rPr>
              <a:t>tuổi thọ của Bearing</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Ngăn </a:t>
            </a:r>
            <a:r>
              <a:rPr lang="en-US" altLang="ko-KR" sz="950">
                <a:latin typeface="Times New Roman" pitchFamily="18" charset="0"/>
                <a:ea typeface="돋움" pitchFamily="50" charset="-127"/>
                <a:cs typeface="Times New Roman" pitchFamily="18" charset="0"/>
              </a:rPr>
              <a:t>phân tán</a:t>
            </a:r>
            <a:endParaRPr lang="ko-KR" altLang="en-US" sz="95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26515141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19141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Độ cao thấp của dòng điện được gọi là </a:t>
            </a:r>
            <a:r>
              <a:rPr lang="vi-VN" altLang="ko-KR" sz="950" smtClean="0">
                <a:latin typeface="Times New Roman" pitchFamily="18" charset="0"/>
                <a:ea typeface="LG Smart_H Regular" panose="020B0600000101010101" pitchFamily="34" charset="-127"/>
                <a:cs typeface="Times New Roman" pitchFamily="18" charset="0"/>
              </a:rPr>
              <a:t>gì</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thế(electric potential</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điện thế(potential difference)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áp(electric voltage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Lực điện động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775592"/>
            <a:ext cx="3384376"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 nào sau đây là thiết bị ngắt quá </a:t>
            </a:r>
            <a:r>
              <a:rPr lang="vi-VN" altLang="ko-KR" sz="950" smtClean="0">
                <a:latin typeface="Times New Roman" pitchFamily="18" charset="0"/>
                <a:ea typeface="LG Smart_H Regular" panose="020B0600000101010101" pitchFamily="34" charset="-127"/>
                <a:cs typeface="Times New Roman" pitchFamily="18" charset="0"/>
              </a:rPr>
              <a:t>tải?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ELB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smtClean="0">
                <a:latin typeface="Times New Roman" pitchFamily="18" charset="0"/>
                <a:ea typeface="LG Smart_H Regular" panose="020B0600000101010101" pitchFamily="34" charset="-127"/>
                <a:cs typeface="Times New Roman" pitchFamily="18" charset="0"/>
              </a:rPr>
              <a:t>ELCC</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MCCB</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hiệu khoảng cách giữa 2 bản điện cực của 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a:pPr>
            <a:r>
              <a:rPr lang="vi-VN" altLang="ko-KR" sz="950" smtClean="0">
                <a:latin typeface="Times New Roman" pitchFamily="18" charset="0"/>
                <a:ea typeface="LG Smart_H Regular" panose="020B0600000101010101" pitchFamily="34" charset="-127"/>
                <a:cs typeface="Times New Roman" pitchFamily="18" charset="0"/>
              </a:rPr>
              <a:t>Giải </a:t>
            </a:r>
            <a:r>
              <a:rPr lang="vi-VN" altLang="ko-KR" sz="950">
                <a:latin typeface="Times New Roman" pitchFamily="18" charset="0"/>
                <a:ea typeface="LG Smart_H Regular" panose="020B0600000101010101" pitchFamily="34" charset="-127"/>
                <a:cs typeface="Times New Roman" pitchFamily="18" charset="0"/>
              </a:rPr>
              <a:t>thích nào đúng về cách </a:t>
            </a:r>
            <a:r>
              <a:rPr lang="vi-VN" altLang="ko-KR" sz="950" smtClean="0">
                <a:latin typeface="Times New Roman" pitchFamily="18" charset="0"/>
                <a:ea typeface="LG Smart_H Regular" panose="020B0600000101010101" pitchFamily="34" charset="-127"/>
                <a:cs typeface="Times New Roman" pitchFamily="18" charset="0"/>
              </a:rPr>
              <a:t>điện?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rabi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đường bị cắt, là đoạn dây hay dây điện không cho dòng điện chạy </a:t>
            </a:r>
            <a:r>
              <a:rPr lang="vi-VN" altLang="ko-KR" sz="950" smtClean="0">
                <a:latin typeface="Times New Roman" pitchFamily="18" charset="0"/>
                <a:ea typeface="LG Smart_H Regular" panose="020B0600000101010101" pitchFamily="34" charset="-127"/>
                <a:cs typeface="Times New Roman" pitchFamily="18" charset="0"/>
              </a:rPr>
              <a:t>qua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việc đưa một chất vào giữa chất dẫn điện làm cho dòng điện hay nhiệt không thể chạy qua</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tiếp xúc của hai điểm trên mạch điện tử có điện trở bằng hoặc sấp sỉ bằng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nối đất, thường được sử dụng khi nói đến tình trạng dòng điện bị dò rỉ</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1933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Giá trị đỉnh: là  giá trị lớn nhất trong giá trị tức thời. Có ký hiệu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VP_P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VRMS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5614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nói về chức năng sau: "Chức năng vận hành trôi chảy mạch điện bằng việc giới hạn dòng điện và là một trong những linh kiện không thể thiếu của một mạch 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Điện </a:t>
            </a:r>
            <a:r>
              <a:rPr lang="vi-VN" altLang="ko-KR" sz="950" smtClean="0">
                <a:latin typeface="Times New Roman" pitchFamily="18" charset="0"/>
                <a:ea typeface="LG Smart_H Regular" panose="020B0600000101010101" pitchFamily="34" charset="-127"/>
                <a:cs typeface="Times New Roman" pitchFamily="18" charset="0"/>
              </a:rPr>
              <a:t>trở</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Cuộn </a:t>
            </a:r>
            <a:r>
              <a:rPr lang="en-US" altLang="ko-KR" sz="950" smtClean="0">
                <a:latin typeface="Times New Roman" pitchFamily="18" charset="0"/>
                <a:ea typeface="LG Smart_H Regular" panose="020B0600000101010101" pitchFamily="34" charset="-127"/>
                <a:cs typeface="Times New Roman" pitchFamily="18" charset="0"/>
              </a:rPr>
              <a:t>cảm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Điot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0" name="Rectangle 7"/>
          <p:cNvSpPr>
            <a:spLocks noChangeArrowheads="1"/>
          </p:cNvSpPr>
          <p:nvPr/>
        </p:nvSpPr>
        <p:spPr bwMode="auto">
          <a:xfrm>
            <a:off x="3448472" y="464760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việc sử dụng nguyên lý của tác động hỗ </a:t>
            </a:r>
            <a:r>
              <a:rPr lang="vi-VN" altLang="ko-KR" sz="950" smtClean="0">
                <a:latin typeface="Times New Roman" pitchFamily="18" charset="0"/>
                <a:ea typeface="LG Smart_H Regular" panose="020B0600000101010101" pitchFamily="34" charset="-127"/>
                <a:cs typeface="Times New Roman" pitchFamily="18" charset="0"/>
              </a:rPr>
              <a:t>cảm?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Biến </a:t>
            </a:r>
            <a:r>
              <a:rPr lang="en-US" altLang="ko-KR" sz="950" smtClean="0">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Rơ le điện </a:t>
            </a:r>
            <a:r>
              <a:rPr lang="vi-VN" altLang="ko-KR" sz="950" smtClean="0">
                <a:latin typeface="Times New Roman" pitchFamily="18" charset="0"/>
                <a:ea typeface="LG Smart_H Regular" panose="020B0600000101010101" pitchFamily="34" charset="-127"/>
                <a:cs typeface="Times New Roman" pitchFamily="18" charset="0"/>
              </a:rPr>
              <a:t>từ</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Loa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phát điện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84076" y="6681192"/>
            <a:ext cx="3239810" cy="969496"/>
            <a:chOff x="184076" y="6969224"/>
            <a:chExt cx="3239810" cy="969496"/>
          </a:xfrm>
        </p:grpSpPr>
        <p:sp>
          <p:nvSpPr>
            <p:cNvPr id="57"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D</a:t>
              </a:r>
              <a:r>
                <a:rPr lang="en-US" altLang="ko-KR" sz="950">
                  <a:latin typeface="Times New Roman" pitchFamily="18" charset="0"/>
                  <a:ea typeface="LG Smart_H Regular" panose="020B0600000101010101" pitchFamily="34" charset="-127"/>
                  <a:cs typeface="Times New Roman" pitchFamily="18" charset="0"/>
                </a:rPr>
                <a:t>. 0 [C]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5" name="Group 34"/>
            <p:cNvGrpSpPr>
              <a:grpSpLocks noChangeAspect="1"/>
            </p:cNvGrpSpPr>
            <p:nvPr/>
          </p:nvGrpSpPr>
          <p:grpSpPr bwMode="auto">
            <a:xfrm>
              <a:off x="1982793" y="7288253"/>
              <a:ext cx="1374199" cy="187062"/>
              <a:chOff x="0" y="-4"/>
              <a:chExt cx="145" cy="45"/>
            </a:xfrm>
          </p:grpSpPr>
          <p:sp>
            <p:nvSpPr>
              <p:cNvPr id="36"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37" name="Rectangle 36"/>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38" name="Rectangle 37"/>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39" name="Rectangle 38"/>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40" name="Rectangle 39"/>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41" name="Rectangle 40"/>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42" name="Rectangle 41"/>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43" name="Rectangle 42"/>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44" name="Rectangle 43"/>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45" name="Rectangle 44"/>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46" name="Rectangle 45"/>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47" name="Rectangle 46"/>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nvGrpSpPr>
            <p:cNvPr id="48" name="Group 47"/>
            <p:cNvGrpSpPr>
              <a:grpSpLocks noChangeAspect="1"/>
            </p:cNvGrpSpPr>
            <p:nvPr/>
          </p:nvGrpSpPr>
          <p:grpSpPr bwMode="auto">
            <a:xfrm>
              <a:off x="476672" y="7699402"/>
              <a:ext cx="1260472" cy="187956"/>
              <a:chOff x="0" y="-2"/>
              <a:chExt cx="145" cy="33"/>
            </a:xfrm>
          </p:grpSpPr>
          <p:sp>
            <p:nvSpPr>
              <p:cNvPr id="49"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50" name="Rectangle 49"/>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1" name="Rectangle 5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2" name="Rectangle 51"/>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10</a:t>
                </a:r>
              </a:p>
            </p:txBody>
          </p:sp>
          <p:sp>
            <p:nvSpPr>
              <p:cNvPr id="53" name="Rectangle 52"/>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60219</a:t>
                </a:r>
              </a:p>
            </p:txBody>
          </p:sp>
          <p:sp>
            <p:nvSpPr>
              <p:cNvPr id="54" name="Rectangle 53"/>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a:t>
                </a:r>
              </a:p>
            </p:txBody>
          </p:sp>
          <p:sp>
            <p:nvSpPr>
              <p:cNvPr id="55" name="Rectangle 54"/>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a:t>
                </a:r>
              </a:p>
            </p:txBody>
          </p:sp>
          <p:sp>
            <p:nvSpPr>
              <p:cNvPr id="56" name="Rectangle 55"/>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Times New Roman"/>
                    <a:cs typeface="Times New Roman"/>
                  </a:rPr>
                  <a:t>19</a:t>
                </a:r>
              </a:p>
            </p:txBody>
          </p:sp>
          <p:sp>
            <p:nvSpPr>
              <p:cNvPr id="58" name="Rectangle 57"/>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latin typeface="Times New Roman"/>
                    <a:cs typeface="Times New Roman"/>
                  </a:rPr>
                  <a:t>C</a:t>
                </a:r>
              </a:p>
            </p:txBody>
          </p:sp>
          <p:sp>
            <p:nvSpPr>
              <p:cNvPr id="62" name="Rectangle 61"/>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63" name="Rectangle 62"/>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sp>
            <p:nvSpPr>
              <p:cNvPr id="64" name="Rectangle 63"/>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latin typeface="Symbol"/>
                  </a:rPr>
                  <a:t>-</a:t>
                </a:r>
              </a:p>
            </p:txBody>
          </p:sp>
        </p:grpSp>
      </p:grpSp>
      <p:grpSp>
        <p:nvGrpSpPr>
          <p:cNvPr id="4" name="Group 3"/>
          <p:cNvGrpSpPr/>
          <p:nvPr/>
        </p:nvGrpSpPr>
        <p:grpSpPr>
          <a:xfrm>
            <a:off x="3429000" y="6393160"/>
            <a:ext cx="3239810" cy="1046053"/>
            <a:chOff x="3429000" y="6431776"/>
            <a:chExt cx="3239810" cy="1046053"/>
          </a:xfrm>
        </p:grpSpPr>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kí hiệu của "Light-Emitting Diode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 </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65" name="Picture 64" descr="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921" y="6681192"/>
              <a:ext cx="582199" cy="38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5" descr="ze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01" y="6693963"/>
              <a:ext cx="497679" cy="388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descr="brid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230" y="7104337"/>
              <a:ext cx="563323" cy="37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71" descr="shottok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216" y="7041232"/>
              <a:ext cx="575499" cy="4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Group 4"/>
          <p:cNvGrpSpPr/>
          <p:nvPr/>
        </p:nvGrpSpPr>
        <p:grpSpPr>
          <a:xfrm>
            <a:off x="3439885" y="8155612"/>
            <a:ext cx="3228925" cy="1033711"/>
            <a:chOff x="3439885" y="8155612"/>
            <a:chExt cx="3239810" cy="1033711"/>
          </a:xfrm>
        </p:grpSpPr>
        <p:sp>
          <p:nvSpPr>
            <p:cNvPr id="76"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fr-FR" altLang="ko-KR" sz="950">
                  <a:latin typeface="Times New Roman" pitchFamily="18" charset="0"/>
                  <a:ea typeface="LG Smart_H Regular" panose="020B0600000101010101" pitchFamily="34" charset="-127"/>
                  <a:cs typeface="Times New Roman" pitchFamily="18" charset="0"/>
                </a:rPr>
                <a:t>Số 3 trong hình bên là gì</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Cathode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Chip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t>
              </a:r>
              <a:r>
                <a:rPr lang="vi-VN" altLang="ko-KR" sz="950" smtClean="0">
                  <a:latin typeface="Times New Roman" pitchFamily="18" charset="0"/>
                  <a:ea typeface="LG Smart_H Regular" panose="020B0600000101010101" pitchFamily="34" charset="-127"/>
                  <a:cs typeface="Times New Roman" pitchFamily="18" charset="0"/>
                </a:rPr>
                <a:t>frame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Gold wire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74" name="Group 73"/>
            <p:cNvGrpSpPr/>
            <p:nvPr/>
          </p:nvGrpSpPr>
          <p:grpSpPr>
            <a:xfrm>
              <a:off x="4802705" y="8481392"/>
              <a:ext cx="1008940" cy="707931"/>
              <a:chOff x="0" y="0"/>
              <a:chExt cx="2045832" cy="1200204"/>
            </a:xfrm>
          </p:grpSpPr>
          <p:pic>
            <p:nvPicPr>
              <p:cNvPr id="75" name="Picture 74" descr="L-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4144"/>
                <a:ext cx="2045832" cy="10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Oval 76"/>
              <p:cNvSpPr/>
              <p:nvPr/>
            </p:nvSpPr>
            <p:spPr>
              <a:xfrm>
                <a:off x="4357" y="80475"/>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3</a:t>
                </a:r>
              </a:p>
            </p:txBody>
          </p:sp>
          <p:sp>
            <p:nvSpPr>
              <p:cNvPr id="78" name="Oval 77"/>
              <p:cNvSpPr/>
              <p:nvPr/>
            </p:nvSpPr>
            <p:spPr>
              <a:xfrm>
                <a:off x="1239842" y="0"/>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4</a:t>
                </a:r>
              </a:p>
            </p:txBody>
          </p:sp>
          <p:sp>
            <p:nvSpPr>
              <p:cNvPr id="79" name="Oval 78"/>
              <p:cNvSpPr/>
              <p:nvPr/>
            </p:nvSpPr>
            <p:spPr>
              <a:xfrm>
                <a:off x="1665785" y="10887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1</a:t>
                </a:r>
              </a:p>
            </p:txBody>
          </p:sp>
          <p:sp>
            <p:nvSpPr>
              <p:cNvPr id="80" name="Oval 79"/>
              <p:cNvSpPr/>
              <p:nvPr/>
            </p:nvSpPr>
            <p:spPr>
              <a:xfrm>
                <a:off x="1568641" y="41894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2</a:t>
                </a:r>
              </a:p>
            </p:txBody>
          </p:sp>
          <p:sp>
            <p:nvSpPr>
              <p:cNvPr id="81" name="Oval 80"/>
              <p:cNvSpPr/>
              <p:nvPr/>
            </p:nvSpPr>
            <p:spPr>
              <a:xfrm>
                <a:off x="1292678" y="884464"/>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6</a:t>
                </a:r>
              </a:p>
            </p:txBody>
          </p:sp>
          <p:sp>
            <p:nvSpPr>
              <p:cNvPr id="82" name="Oval 81"/>
              <p:cNvSpPr/>
              <p:nvPr/>
            </p:nvSpPr>
            <p:spPr>
              <a:xfrm>
                <a:off x="438150" y="928007"/>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chemeClr val="tx1"/>
                    </a:solidFill>
                  </a:rPr>
                  <a:t>5</a:t>
                </a:r>
              </a:p>
            </p:txBody>
          </p:sp>
        </p:grpSp>
      </p:grpSp>
    </p:spTree>
    <p:extLst>
      <p:ext uri="{BB962C8B-B14F-4D97-AF65-F5344CB8AC3E}">
        <p14:creationId xmlns:p14="http://schemas.microsoft.com/office/powerpoint/2010/main" val="40400969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6" name="Rectangle 132"/>
          <p:cNvSpPr>
            <a:spLocks noChangeArrowheads="1"/>
          </p:cNvSpPr>
          <p:nvPr/>
        </p:nvSpPr>
        <p:spPr bwMode="auto">
          <a:xfrm>
            <a:off x="147512" y="2644969"/>
            <a:ext cx="3125788"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12. </a:t>
            </a:r>
            <a:r>
              <a:rPr lang="en-US" altLang="ko-KR" sz="900" dirty="0" smtClean="0">
                <a:latin typeface="Arial" panose="020B0604020202020204" pitchFamily="34" charset="0"/>
                <a:cs typeface="Arial" panose="020B0604020202020204" pitchFamily="34" charset="0"/>
              </a:rPr>
              <a:t>TRANSISTOR </a:t>
            </a:r>
            <a:r>
              <a:rPr lang="en-US" altLang="ko-KR" sz="900" dirty="0" err="1" smtClean="0">
                <a:latin typeface="Arial" panose="020B0604020202020204" pitchFamily="34" charset="0"/>
                <a:cs typeface="Arial" panose="020B0604020202020204" pitchFamily="34" charset="0"/>
              </a:rPr>
              <a:t>tần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PNP Type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phân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a:latin typeface="Arial" panose="020B0604020202020204" pitchFamily="34" charset="0"/>
                <a:cs typeface="Arial" panose="020B0604020202020204" pitchFamily="34" charset="0"/>
              </a:rPr>
              <a:t> TRANSISTOR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Part No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2SAxx     </a:t>
            </a:r>
            <a:r>
              <a:rPr lang="en-US" altLang="ko-KR" sz="900" smtClean="0">
                <a:latin typeface="Arial" panose="020B0604020202020204" pitchFamily="34" charset="0"/>
                <a:cs typeface="Arial" panose="020B0604020202020204" pitchFamily="34" charset="0"/>
              </a:rPr>
              <a:t>B. </a:t>
            </a:r>
            <a:r>
              <a:rPr lang="en-US" altLang="ko-KR" sz="900">
                <a:latin typeface="Arial" panose="020B0604020202020204" pitchFamily="34" charset="0"/>
                <a:cs typeface="Arial" panose="020B0604020202020204" pitchFamily="34" charset="0"/>
              </a:rPr>
              <a:t>2SBxx     </a:t>
            </a:r>
            <a:r>
              <a:rPr lang="en-US" altLang="ko-KR" sz="900" smtClean="0">
                <a:latin typeface="Arial" panose="020B0604020202020204" pitchFamily="34" charset="0"/>
                <a:cs typeface="Arial" panose="020B0604020202020204" pitchFamily="34" charset="0"/>
              </a:rPr>
              <a:t>C. </a:t>
            </a:r>
            <a:r>
              <a:rPr lang="en-US" altLang="ko-KR" sz="900">
                <a:latin typeface="Arial" panose="020B0604020202020204" pitchFamily="34" charset="0"/>
                <a:cs typeface="Arial" panose="020B0604020202020204" pitchFamily="34" charset="0"/>
              </a:rPr>
              <a:t>2SCxx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2SDxx</a:t>
            </a:r>
          </a:p>
        </p:txBody>
      </p:sp>
      <p:sp>
        <p:nvSpPr>
          <p:cNvPr id="7" name="Rectangle 166"/>
          <p:cNvSpPr>
            <a:spLocks noChangeArrowheads="1"/>
          </p:cNvSpPr>
          <p:nvPr/>
        </p:nvSpPr>
        <p:spPr bwMode="auto">
          <a:xfrm>
            <a:off x="3438436" y="931604"/>
            <a:ext cx="318135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16.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Sensor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phát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mặt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gương</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Loại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hồi</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quy</a:t>
            </a:r>
            <a:r>
              <a:rPr lang="en-US" altLang="ko-KR" sz="900" smtClean="0">
                <a:latin typeface="Arial" panose="020B0604020202020204" pitchFamily="34" charset="0"/>
                <a:cs typeface="Arial" panose="020B0604020202020204" pitchFamily="34" charset="0"/>
              </a:rPr>
              <a:t>           B.</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xuyên</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thấu</a:t>
            </a:r>
            <a:r>
              <a:rPr lang="ko-KR" altLang="en-US" sz="900" smtClean="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khuếch</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tán</a:t>
            </a:r>
            <a:r>
              <a:rPr lang="ko-KR" altLang="en-US" sz="90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Sensor </a:t>
            </a:r>
            <a:r>
              <a:rPr lang="en-US" altLang="ko-KR" sz="900" dirty="0" err="1" smtClean="0">
                <a:latin typeface="Arial" panose="020B0604020202020204" pitchFamily="34" charset="0"/>
                <a:cs typeface="Arial" panose="020B0604020202020204" pitchFamily="34" charset="0"/>
              </a:rPr>
              <a:t>móng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ngựa</a:t>
            </a:r>
            <a:endParaRPr lang="ko-KR" altLang="en-US" sz="900" dirty="0">
              <a:latin typeface="Arial" panose="020B0604020202020204" pitchFamily="34" charset="0"/>
              <a:cs typeface="Arial" panose="020B0604020202020204" pitchFamily="34" charset="0"/>
            </a:endParaRPr>
          </a:p>
        </p:txBody>
      </p:sp>
      <p:sp>
        <p:nvSpPr>
          <p:cNvPr id="8" name="Rectangle 103"/>
          <p:cNvSpPr>
            <a:spLocks noChangeArrowheads="1"/>
          </p:cNvSpPr>
          <p:nvPr/>
        </p:nvSpPr>
        <p:spPr bwMode="auto">
          <a:xfrm>
            <a:off x="140359" y="8051085"/>
            <a:ext cx="3080690"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        B. </a:t>
            </a:r>
            <a:r>
              <a:rPr lang="en-US" altLang="ko-KR" sz="900">
                <a:latin typeface="Arial" panose="020B0604020202020204" pitchFamily="34" charset="0"/>
                <a:cs typeface="Arial" panose="020B0604020202020204" pitchFamily="34" charset="0"/>
              </a:rPr>
              <a:t>NTC </a:t>
            </a:r>
            <a:r>
              <a:rPr lang="en-US" altLang="ko-KR" sz="900" smtClean="0">
                <a:latin typeface="Arial" panose="020B0604020202020204" pitchFamily="34" charset="0"/>
                <a:cs typeface="Arial" panose="020B0604020202020204" pitchFamily="34" charset="0"/>
              </a:rPr>
              <a:t>          C. </a:t>
            </a:r>
            <a:r>
              <a:rPr lang="en-US" altLang="ko-KR" sz="900">
                <a:latin typeface="Arial" panose="020B0604020202020204" pitchFamily="34" charset="0"/>
                <a:cs typeface="Arial" panose="020B0604020202020204" pitchFamily="34" charset="0"/>
              </a:rPr>
              <a:t>PTC </a:t>
            </a:r>
            <a:r>
              <a:rPr lang="en-US" altLang="ko-KR" sz="900" smtClean="0">
                <a:latin typeface="Arial" panose="020B0604020202020204" pitchFamily="34" charset="0"/>
                <a:cs typeface="Arial" panose="020B0604020202020204" pitchFamily="34" charset="0"/>
              </a:rPr>
              <a:t>        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9" name="Rectangle 8"/>
          <p:cNvSpPr/>
          <p:nvPr/>
        </p:nvSpPr>
        <p:spPr>
          <a:xfrm>
            <a:off x="134017" y="920552"/>
            <a:ext cx="3429000" cy="646331"/>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1</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Điện áp ngưỡng thuận của diode Zener 9.1V / </a:t>
            </a:r>
            <a:r>
              <a:rPr lang="vi-VN" altLang="ko-KR" sz="900" smtClean="0">
                <a:latin typeface="Arial" pitchFamily="34" charset="0"/>
                <a:ea typeface="돋움" pitchFamily="50" charset="-127"/>
                <a:cs typeface="Arial" pitchFamily="34" charset="0"/>
              </a:rPr>
              <a:t>Si </a:t>
            </a:r>
            <a:r>
              <a:rPr lang="vi-VN" altLang="ko-KR" sz="900">
                <a:latin typeface="Arial" pitchFamily="34" charset="0"/>
                <a:ea typeface="돋움" pitchFamily="50" charset="-127"/>
                <a:cs typeface="Arial" pitchFamily="34" charset="0"/>
              </a:rPr>
              <a:t>là bao nhiêu?</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0,2V        </a:t>
            </a:r>
            <a:r>
              <a:rPr lang="en-US" altLang="ko-KR" sz="900" smtClean="0">
                <a:latin typeface="Arial" pitchFamily="34" charset="0"/>
                <a:ea typeface="돋움" pitchFamily="50" charset="-127"/>
                <a:cs typeface="Arial" pitchFamily="34" charset="0"/>
              </a:rPr>
              <a:t>    B 0,7V         C </a:t>
            </a:r>
            <a:r>
              <a:rPr lang="en-US" altLang="ko-KR" sz="900">
                <a:latin typeface="Arial" pitchFamily="34" charset="0"/>
                <a:ea typeface="돋움" pitchFamily="50" charset="-127"/>
                <a:cs typeface="Arial" pitchFamily="34" charset="0"/>
              </a:rPr>
              <a:t>2,9V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9.1V</a:t>
            </a:r>
          </a:p>
        </p:txBody>
      </p:sp>
      <p:sp>
        <p:nvSpPr>
          <p:cNvPr id="10" name="Rectangle 9"/>
          <p:cNvSpPr/>
          <p:nvPr/>
        </p:nvSpPr>
        <p:spPr>
          <a:xfrm>
            <a:off x="116632" y="4306669"/>
            <a:ext cx="3429000" cy="646331"/>
          </a:xfrm>
          <a:prstGeom prst="rect">
            <a:avLst/>
          </a:prstGeom>
        </p:spPr>
        <p:txBody>
          <a:bodyPr>
            <a:spAutoFit/>
          </a:bodyPr>
          <a:lstStyle/>
          <a:p>
            <a:r>
              <a:rPr lang="en-US" altLang="ko-KR" sz="900" smtClean="0">
                <a:latin typeface="Arial" pitchFamily="34" charset="0"/>
                <a:ea typeface="돋움" pitchFamily="50" charset="-127"/>
                <a:cs typeface="Arial" pitchFamily="34" charset="0"/>
              </a:rPr>
              <a:t>13</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G</a:t>
            </a:r>
            <a:r>
              <a:rPr lang="vi-VN" altLang="ko-KR" sz="900">
                <a:latin typeface="Arial" pitchFamily="34" charset="0"/>
                <a:ea typeface="돋움" pitchFamily="50" charset="-127"/>
                <a:cs typeface="Arial" pitchFamily="34" charset="0"/>
              </a:rPr>
              <a:t>iá trị đỉnh</a:t>
            </a:r>
            <a:r>
              <a:rPr lang="en-US" altLang="ko-KR" sz="90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 đỉnh là 10V</a:t>
            </a:r>
            <a:r>
              <a:rPr lang="en-US" altLang="ko-KR" sz="900">
                <a:latin typeface="Arial" pitchFamily="34" charset="0"/>
                <a:ea typeface="돋움" pitchFamily="50" charset="-127"/>
                <a:cs typeface="Arial" pitchFamily="34" charset="0"/>
              </a:rPr>
              <a:t>. Vậy giá trị Vave</a:t>
            </a:r>
            <a:r>
              <a:rPr lang="vi-VN" altLang="ko-KR" sz="900">
                <a:latin typeface="Arial" pitchFamily="34" charset="0"/>
                <a:ea typeface="돋움" pitchFamily="50" charset="-127"/>
                <a:cs typeface="Arial" pitchFamily="34" charset="0"/>
              </a:rPr>
              <a:t> là bao nhiêu?</a:t>
            </a: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7,07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6,37  </a:t>
            </a:r>
            <a:r>
              <a:rPr lang="en-US" altLang="ko-KR" sz="900" smtClean="0">
                <a:latin typeface="Arial" pitchFamily="34" charset="0"/>
                <a:ea typeface="돋움" pitchFamily="50" charset="-127"/>
                <a:cs typeface="Arial" pitchFamily="34" charset="0"/>
              </a:rPr>
              <a:t>         C. 3,535              D. </a:t>
            </a:r>
            <a:r>
              <a:rPr lang="en-US" altLang="ko-KR" sz="900">
                <a:latin typeface="Arial" pitchFamily="34" charset="0"/>
                <a:ea typeface="돋움" pitchFamily="50" charset="-127"/>
                <a:cs typeface="Arial" pitchFamily="34" charset="0"/>
              </a:rPr>
              <a:t>3,185</a:t>
            </a:r>
          </a:p>
          <a:p>
            <a:endParaRPr lang="en-US" altLang="ko-KR" sz="900">
              <a:latin typeface="Arial" pitchFamily="34" charset="0"/>
              <a:ea typeface="돋움" pitchFamily="50" charset="-127"/>
              <a:cs typeface="Arial" pitchFamily="34" charset="0"/>
            </a:endParaRPr>
          </a:p>
        </p:txBody>
      </p:sp>
      <p:sp>
        <p:nvSpPr>
          <p:cNvPr id="11" name="Rectangle 10"/>
          <p:cNvSpPr/>
          <p:nvPr/>
        </p:nvSpPr>
        <p:spPr>
          <a:xfrm>
            <a:off x="124329" y="6045894"/>
            <a:ext cx="3429000" cy="923330"/>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4</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a:t>
            </a:r>
            <a:r>
              <a:rPr lang="en-US" altLang="ko-KR" sz="900">
                <a:latin typeface="Arial" pitchFamily="34" charset="0"/>
                <a:ea typeface="돋움" pitchFamily="50" charset="-127"/>
                <a:cs typeface="Arial" pitchFamily="34" charset="0"/>
              </a:rPr>
              <a:t>âu</a:t>
            </a:r>
            <a:r>
              <a:rPr lang="vi-VN" altLang="ko-KR" sz="900">
                <a:latin typeface="Arial" pitchFamily="34" charset="0"/>
                <a:ea typeface="돋움" pitchFamily="50" charset="-127"/>
                <a:cs typeface="Arial" pitchFamily="34" charset="0"/>
              </a:rPr>
              <a:t> không phải là đặc điểm của Photo Coupler?</a:t>
            </a:r>
          </a:p>
          <a:p>
            <a:r>
              <a:rPr lang="en-US" altLang="ko-KR" sz="900">
                <a:latin typeface="Arial" pitchFamily="34" charset="0"/>
                <a:ea typeface="돋움" pitchFamily="50" charset="-127"/>
                <a:cs typeface="Arial" pitchFamily="34" charset="0"/>
              </a:rPr>
              <a:t>  </a:t>
            </a:r>
          </a:p>
          <a:p>
            <a:r>
              <a:rPr lang="vi-VN" altLang="ko-KR"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Tốc độ phản hồi nhanh</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Truyền tín hiệu dạng hai chiều</a:t>
            </a:r>
          </a:p>
          <a:p>
            <a:r>
              <a:rPr lang="vi-VN"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Có độ tin cậy cao</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Chống </a:t>
            </a:r>
            <a:r>
              <a:rPr lang="en-US" altLang="ko-KR" sz="900" smtClean="0">
                <a:latin typeface="Arial" pitchFamily="34" charset="0"/>
                <a:ea typeface="돋움" pitchFamily="50" charset="-127"/>
                <a:cs typeface="Arial" pitchFamily="34" charset="0"/>
              </a:rPr>
              <a:t>ồn</a:t>
            </a:r>
            <a:endParaRPr lang="en-US" altLang="ko-KR" sz="900">
              <a:latin typeface="Arial" pitchFamily="34" charset="0"/>
              <a:ea typeface="돋움" pitchFamily="50" charset="-127"/>
              <a:cs typeface="Arial" pitchFamily="34" charset="0"/>
            </a:endParaRPr>
          </a:p>
        </p:txBody>
      </p:sp>
      <p:sp>
        <p:nvSpPr>
          <p:cNvPr id="12" name="Rectangle 161"/>
          <p:cNvSpPr>
            <a:spLocks noChangeArrowheads="1"/>
          </p:cNvSpPr>
          <p:nvPr/>
        </p:nvSpPr>
        <p:spPr bwMode="auto">
          <a:xfrm>
            <a:off x="3460960" y="2589510"/>
            <a:ext cx="326822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17.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không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đặc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a:t>
            </a:r>
            <a:r>
              <a:rPr lang="en-US" altLang="ko-KR" sz="900" dirty="0" err="1" smtClean="0">
                <a:latin typeface="Arial" panose="020B0604020202020204" pitchFamily="34" charset="0"/>
                <a:cs typeface="Arial" panose="020B0604020202020204" pitchFamily="34" charset="0"/>
              </a:rPr>
              <a:t>Cấu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trúc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thiết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kế</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B.Không nhạy với áp suất và từ tính</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xuất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trà</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tốt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khả</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cung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lượng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lớn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ổn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định</a:t>
            </a:r>
            <a:endParaRPr lang="ko-KR" altLang="en-US"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tiếp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tin </a:t>
            </a:r>
            <a:r>
              <a:rPr lang="en-US" altLang="ko-KR" sz="900" dirty="0" err="1" smtClean="0">
                <a:latin typeface="Arial" panose="020B0604020202020204" pitchFamily="34" charset="0"/>
                <a:cs typeface="Arial" panose="020B0604020202020204" pitchFamily="34" charset="0"/>
              </a:rPr>
              <a:t>cậy</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cao</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ít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bị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biến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đổi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p:txBody>
      </p:sp>
      <p:sp>
        <p:nvSpPr>
          <p:cNvPr id="13" name="Rectangle 196"/>
          <p:cNvSpPr>
            <a:spLocks noChangeArrowheads="1"/>
          </p:cNvSpPr>
          <p:nvPr/>
        </p:nvSpPr>
        <p:spPr bwMode="auto">
          <a:xfrm>
            <a:off x="3456384" y="4304928"/>
            <a:ext cx="3429000" cy="5078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18.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mạch</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SCR?</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B.                      C.                     D.</a:t>
            </a:r>
            <a:endParaRPr lang="en-US" altLang="ko-KR" sz="900" dirty="0">
              <a:latin typeface="Arial" panose="020B0604020202020204" pitchFamily="34" charset="0"/>
              <a:cs typeface="Arial" panose="020B0604020202020204" pitchFamily="34" charset="0"/>
            </a:endParaRPr>
          </a:p>
        </p:txBody>
      </p:sp>
      <p:pic>
        <p:nvPicPr>
          <p:cNvPr id="14"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74" y="4754809"/>
            <a:ext cx="6175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9984" y="4764829"/>
            <a:ext cx="688975"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6546" y="4755306"/>
            <a:ext cx="4667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584" y="4771256"/>
            <a:ext cx="39686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13"/>
          <p:cNvSpPr>
            <a:spLocks noChangeArrowheads="1"/>
          </p:cNvSpPr>
          <p:nvPr/>
        </p:nvSpPr>
        <p:spPr bwMode="auto">
          <a:xfrm>
            <a:off x="3428614" y="6062444"/>
            <a:ext cx="3179763" cy="133882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19.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đúng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áp</a:t>
            </a:r>
            <a:r>
              <a:rPr lang="en-US" altLang="ko-KR" sz="900" dirty="0" smtClean="0">
                <a:latin typeface="Arial" panose="020B0604020202020204" pitchFamily="34" charset="0"/>
                <a:cs typeface="Arial" panose="020B0604020202020204" pitchFamily="34" charset="0"/>
              </a:rPr>
              <a:t> ở </a:t>
            </a:r>
            <a:r>
              <a:rPr lang="en-US" altLang="ko-KR" sz="900" dirty="0" err="1" smtClean="0">
                <a:latin typeface="Arial" panose="020B0604020202020204" pitchFamily="34" charset="0"/>
                <a:cs typeface="Arial" panose="020B0604020202020204" pitchFamily="34" charset="0"/>
              </a:rPr>
              <a:t>hai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đầu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 </a:t>
            </a:r>
            <a:r>
              <a:rPr lang="en-US" altLang="ko-KR" sz="900" dirty="0" err="1" smtClean="0">
                <a:latin typeface="Arial" panose="020B0604020202020204" pitchFamily="34" charset="0"/>
                <a:cs typeface="Arial" panose="020B0604020202020204" pitchFamily="34" charset="0"/>
              </a:rPr>
              <a:t>trong</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mạch</a:t>
            </a:r>
            <a:r>
              <a:rPr lang="en-US" altLang="ko-KR" sz="900" smtClean="0">
                <a:latin typeface="Arial" panose="020B0604020202020204" pitchFamily="34" charset="0"/>
                <a:cs typeface="Arial" panose="020B0604020202020204" pitchFamily="34" charset="0"/>
              </a:rPr>
              <a:t> sau?</a:t>
            </a:r>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0V</a:t>
            </a:r>
          </a:p>
          <a:p>
            <a:pPr eaLnBrk="1" hangingPunct="1"/>
            <a:r>
              <a:rPr lang="en-US" altLang="ko-KR" sz="900" smtClean="0">
                <a:latin typeface="Arial" panose="020B0604020202020204" pitchFamily="34" charset="0"/>
                <a:cs typeface="Arial" panose="020B0604020202020204" pitchFamily="34" charset="0"/>
              </a:rPr>
              <a:t>B. 15V</a:t>
            </a:r>
          </a:p>
          <a:p>
            <a:pPr eaLnBrk="1" hangingPunct="1"/>
            <a:r>
              <a:rPr lang="en-US" altLang="ko-KR" sz="900" smtClean="0">
                <a:latin typeface="Arial" panose="020B0604020202020204" pitchFamily="34" charset="0"/>
                <a:cs typeface="Arial" panose="020B0604020202020204" pitchFamily="34" charset="0"/>
              </a:rPr>
              <a:t>C. 0.7V</a:t>
            </a:r>
          </a:p>
          <a:p>
            <a:pPr eaLnBrk="1" hangingPunct="1"/>
            <a:r>
              <a:rPr lang="en-US" altLang="ko-KR" sz="900" smtClean="0">
                <a:latin typeface="Arial" panose="020B0604020202020204" pitchFamily="34" charset="0"/>
                <a:cs typeface="Arial" panose="020B0604020202020204" pitchFamily="34" charset="0"/>
              </a:rPr>
              <a:t>D. 14.3V</a:t>
            </a:r>
          </a:p>
          <a:p>
            <a:pPr eaLnBrk="1" hangingPunct="1"/>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p:txBody>
      </p:sp>
      <p:grpSp>
        <p:nvGrpSpPr>
          <p:cNvPr id="19" name="Group 214"/>
          <p:cNvGrpSpPr>
            <a:grpSpLocks/>
          </p:cNvGrpSpPr>
          <p:nvPr/>
        </p:nvGrpSpPr>
        <p:grpSpPr bwMode="auto">
          <a:xfrm>
            <a:off x="4967533" y="6350484"/>
            <a:ext cx="1409700" cy="952500"/>
            <a:chOff x="3095" y="2537"/>
            <a:chExt cx="888" cy="600"/>
          </a:xfrm>
        </p:grpSpPr>
        <p:sp>
          <p:nvSpPr>
            <p:cNvPr id="20" name="Line 215"/>
            <p:cNvSpPr>
              <a:spLocks noChangeShapeType="1"/>
            </p:cNvSpPr>
            <p:nvPr/>
          </p:nvSpPr>
          <p:spPr bwMode="auto">
            <a:xfrm>
              <a:off x="3392" y="2546"/>
              <a:ext cx="0" cy="2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1" name="Line 216"/>
            <p:cNvSpPr>
              <a:spLocks noChangeShapeType="1"/>
            </p:cNvSpPr>
            <p:nvPr/>
          </p:nvSpPr>
          <p:spPr bwMode="auto">
            <a:xfrm>
              <a:off x="3388" y="2546"/>
              <a:ext cx="3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2" name="Line 217"/>
            <p:cNvSpPr>
              <a:spLocks noChangeShapeType="1"/>
            </p:cNvSpPr>
            <p:nvPr/>
          </p:nvSpPr>
          <p:spPr bwMode="auto">
            <a:xfrm>
              <a:off x="3711" y="2546"/>
              <a:ext cx="0" cy="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nvGrpSpPr>
            <p:cNvPr id="23" name="Group 218"/>
            <p:cNvGrpSpPr>
              <a:grpSpLocks/>
            </p:cNvGrpSpPr>
            <p:nvPr/>
          </p:nvGrpSpPr>
          <p:grpSpPr bwMode="auto">
            <a:xfrm>
              <a:off x="3679" y="2633"/>
              <a:ext cx="64" cy="109"/>
              <a:chOff x="1488" y="1152"/>
              <a:chExt cx="192" cy="336"/>
            </a:xfrm>
          </p:grpSpPr>
          <p:sp>
            <p:nvSpPr>
              <p:cNvPr id="39" name="Line 21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0" name="Line 22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1" name="Line 22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2" name="Line 22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3" name="Line 22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4" name="Line 22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5" name="Line 22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24" name="Line 226"/>
            <p:cNvSpPr>
              <a:spLocks noChangeShapeType="1"/>
            </p:cNvSpPr>
            <p:nvPr/>
          </p:nvSpPr>
          <p:spPr bwMode="auto">
            <a:xfrm>
              <a:off x="3711" y="2742"/>
              <a:ext cx="0" cy="1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5" name="AutoShape 227"/>
            <p:cNvSpPr>
              <a:spLocks noChangeArrowheads="1"/>
            </p:cNvSpPr>
            <p:nvPr/>
          </p:nvSpPr>
          <p:spPr bwMode="auto">
            <a:xfrm flipV="1">
              <a:off x="3668" y="2932"/>
              <a:ext cx="85" cy="54"/>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00">
                <a:latin typeface="Arial" pitchFamily="34" charset="0"/>
                <a:cs typeface="Arial" panose="020B0604020202020204" pitchFamily="34" charset="0"/>
              </a:endParaRPr>
            </a:p>
          </p:txBody>
        </p:sp>
        <p:sp>
          <p:nvSpPr>
            <p:cNvPr id="26" name="Line 228"/>
            <p:cNvSpPr>
              <a:spLocks noChangeShapeType="1"/>
            </p:cNvSpPr>
            <p:nvPr/>
          </p:nvSpPr>
          <p:spPr bwMode="auto">
            <a:xfrm>
              <a:off x="3392" y="3137"/>
              <a:ext cx="319"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7" name="Line 229"/>
            <p:cNvSpPr>
              <a:spLocks noChangeShapeType="1"/>
            </p:cNvSpPr>
            <p:nvPr/>
          </p:nvSpPr>
          <p:spPr bwMode="auto">
            <a:xfrm>
              <a:off x="3711" y="2984"/>
              <a:ext cx="0" cy="15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8" name="Line 230"/>
            <p:cNvSpPr>
              <a:spLocks noChangeShapeType="1"/>
            </p:cNvSpPr>
            <p:nvPr/>
          </p:nvSpPr>
          <p:spPr bwMode="auto">
            <a:xfrm flipV="1">
              <a:off x="3392" y="2846"/>
              <a:ext cx="0" cy="282"/>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9" name="Line 231"/>
            <p:cNvSpPr>
              <a:spLocks noChangeShapeType="1"/>
            </p:cNvSpPr>
            <p:nvPr/>
          </p:nvSpPr>
          <p:spPr bwMode="auto">
            <a:xfrm>
              <a:off x="3352" y="2828"/>
              <a:ext cx="83"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0" name="Line 232"/>
            <p:cNvSpPr>
              <a:spLocks noChangeShapeType="1"/>
            </p:cNvSpPr>
            <p:nvPr/>
          </p:nvSpPr>
          <p:spPr bwMode="auto">
            <a:xfrm>
              <a:off x="3324" y="2849"/>
              <a:ext cx="15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1" name="Text Box 233"/>
            <p:cNvSpPr txBox="1">
              <a:spLocks noChangeArrowheads="1"/>
            </p:cNvSpPr>
            <p:nvPr/>
          </p:nvSpPr>
          <p:spPr bwMode="auto">
            <a:xfrm>
              <a:off x="3095" y="2695"/>
              <a:ext cx="32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+5V</a:t>
              </a:r>
            </a:p>
          </p:txBody>
        </p:sp>
        <p:grpSp>
          <p:nvGrpSpPr>
            <p:cNvPr id="32" name="Group 234"/>
            <p:cNvGrpSpPr>
              <a:grpSpLocks/>
            </p:cNvGrpSpPr>
            <p:nvPr/>
          </p:nvGrpSpPr>
          <p:grpSpPr bwMode="auto">
            <a:xfrm rot="10800000">
              <a:off x="3667" y="2932"/>
              <a:ext cx="86" cy="54"/>
              <a:chOff x="3667" y="2932"/>
              <a:chExt cx="86" cy="54"/>
            </a:xfrm>
          </p:grpSpPr>
          <p:sp>
            <p:nvSpPr>
              <p:cNvPr id="37" name="Line 235"/>
              <p:cNvSpPr>
                <a:spLocks noChangeShapeType="1"/>
              </p:cNvSpPr>
              <p:nvPr/>
            </p:nvSpPr>
            <p:spPr bwMode="auto">
              <a:xfrm flipV="1">
                <a:off x="3668" y="2986"/>
                <a:ext cx="8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8" name="Line 236"/>
              <p:cNvSpPr>
                <a:spLocks noChangeShapeType="1"/>
              </p:cNvSpPr>
              <p:nvPr/>
            </p:nvSpPr>
            <p:spPr bwMode="auto">
              <a:xfrm flipV="1">
                <a:off x="3667" y="2932"/>
                <a:ext cx="8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33" name="Text Box 237"/>
            <p:cNvSpPr txBox="1">
              <a:spLocks noChangeArrowheads="1"/>
            </p:cNvSpPr>
            <p:nvPr/>
          </p:nvSpPr>
          <p:spPr bwMode="auto">
            <a:xfrm>
              <a:off x="3458" y="2930"/>
              <a:ext cx="225"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Si</a:t>
              </a:r>
            </a:p>
          </p:txBody>
        </p:sp>
        <p:sp>
          <p:nvSpPr>
            <p:cNvPr id="34" name="Line 238"/>
            <p:cNvSpPr>
              <a:spLocks noChangeShapeType="1"/>
            </p:cNvSpPr>
            <p:nvPr/>
          </p:nvSpPr>
          <p:spPr bwMode="auto">
            <a:xfrm flipH="1" flipV="1">
              <a:off x="3744" y="2537"/>
              <a:ext cx="80" cy="99"/>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5" name="Line 239"/>
            <p:cNvSpPr>
              <a:spLocks noChangeShapeType="1"/>
            </p:cNvSpPr>
            <p:nvPr/>
          </p:nvSpPr>
          <p:spPr bwMode="auto">
            <a:xfrm flipH="1">
              <a:off x="3744" y="2767"/>
              <a:ext cx="105" cy="66"/>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6" name="Text Box 240"/>
            <p:cNvSpPr txBox="1">
              <a:spLocks noChangeArrowheads="1"/>
            </p:cNvSpPr>
            <p:nvPr/>
          </p:nvSpPr>
          <p:spPr bwMode="auto">
            <a:xfrm>
              <a:off x="3693" y="2640"/>
              <a:ext cx="29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A </a:t>
              </a:r>
            </a:p>
          </p:txBody>
        </p:sp>
      </p:grpSp>
      <p:sp>
        <p:nvSpPr>
          <p:cNvPr id="46" name="Rectangle 45"/>
          <p:cNvSpPr/>
          <p:nvPr/>
        </p:nvSpPr>
        <p:spPr>
          <a:xfrm>
            <a:off x="4363936" y="4779823"/>
            <a:ext cx="323563" cy="12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Drain</a:t>
            </a:r>
            <a:endParaRPr lang="en-US" sz="900" dirty="0">
              <a:solidFill>
                <a:schemeClr val="tx1"/>
              </a:solidFill>
              <a:latin typeface="Arial" pitchFamily="34" charset="0"/>
              <a:cs typeface="Arial" pitchFamily="34" charset="0"/>
            </a:endParaRPr>
          </a:p>
        </p:txBody>
      </p:sp>
      <p:sp>
        <p:nvSpPr>
          <p:cNvPr id="47" name="Rectangle 46"/>
          <p:cNvSpPr/>
          <p:nvPr/>
        </p:nvSpPr>
        <p:spPr>
          <a:xfrm>
            <a:off x="4098840" y="5070295"/>
            <a:ext cx="266686" cy="81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Gate</a:t>
            </a:r>
            <a:endParaRPr lang="en-US" sz="900" dirty="0">
              <a:solidFill>
                <a:schemeClr val="tx1"/>
              </a:solidFill>
              <a:latin typeface="Arial" pitchFamily="34" charset="0"/>
              <a:cs typeface="Arial" pitchFamily="34" charset="0"/>
            </a:endParaRPr>
          </a:p>
        </p:txBody>
      </p:sp>
      <p:sp>
        <p:nvSpPr>
          <p:cNvPr id="48" name="Rectangle 47"/>
          <p:cNvSpPr/>
          <p:nvPr/>
        </p:nvSpPr>
        <p:spPr>
          <a:xfrm>
            <a:off x="4386879" y="5243457"/>
            <a:ext cx="380779" cy="135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Source</a:t>
            </a:r>
            <a:endParaRPr lang="en-US" sz="900" dirty="0">
              <a:solidFill>
                <a:schemeClr val="tx1"/>
              </a:solidFill>
              <a:latin typeface="Arial" pitchFamily="34" charset="0"/>
              <a:cs typeface="Arial" pitchFamily="34" charset="0"/>
            </a:endParaRPr>
          </a:p>
        </p:txBody>
      </p:sp>
      <p:sp>
        <p:nvSpPr>
          <p:cNvPr id="49" name="Rectangle 48"/>
          <p:cNvSpPr/>
          <p:nvPr/>
        </p:nvSpPr>
        <p:spPr>
          <a:xfrm>
            <a:off x="5472664" y="4751245"/>
            <a:ext cx="366875" cy="2067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Emitter</a:t>
            </a:r>
            <a:endParaRPr lang="en-US" sz="900" dirty="0">
              <a:solidFill>
                <a:schemeClr val="tx1"/>
              </a:solidFill>
              <a:latin typeface="Arial" pitchFamily="34" charset="0"/>
              <a:cs typeface="Arial" pitchFamily="34" charset="0"/>
            </a:endParaRPr>
          </a:p>
        </p:txBody>
      </p:sp>
      <p:sp>
        <p:nvSpPr>
          <p:cNvPr id="50" name="Rectangle 49"/>
          <p:cNvSpPr/>
          <p:nvPr/>
        </p:nvSpPr>
        <p:spPr>
          <a:xfrm>
            <a:off x="6076303" y="4736956"/>
            <a:ext cx="476511" cy="212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Collector</a:t>
            </a:r>
            <a:endParaRPr lang="en-US" sz="900" dirty="0">
              <a:solidFill>
                <a:schemeClr val="tx1"/>
              </a:solidFill>
              <a:latin typeface="Arial" pitchFamily="34" charset="0"/>
              <a:cs typeface="Arial" pitchFamily="34" charset="0"/>
            </a:endParaRPr>
          </a:p>
        </p:txBody>
      </p:sp>
      <p:sp>
        <p:nvSpPr>
          <p:cNvPr id="51" name="Rectangle 50"/>
          <p:cNvSpPr/>
          <p:nvPr/>
        </p:nvSpPr>
        <p:spPr>
          <a:xfrm>
            <a:off x="5805726" y="5169016"/>
            <a:ext cx="266686" cy="170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Base</a:t>
            </a:r>
            <a:endParaRPr lang="en-US" sz="900" dirty="0">
              <a:solidFill>
                <a:schemeClr val="tx1"/>
              </a:solidFill>
              <a:latin typeface="Arial" pitchFamily="34" charset="0"/>
              <a:cs typeface="Arial" pitchFamily="34" charset="0"/>
            </a:endParaRPr>
          </a:p>
        </p:txBody>
      </p:sp>
      <p:sp>
        <p:nvSpPr>
          <p:cNvPr id="52" name="Rectangle 51"/>
          <p:cNvSpPr/>
          <p:nvPr/>
        </p:nvSpPr>
        <p:spPr>
          <a:xfrm>
            <a:off x="3428614" y="8049344"/>
            <a:ext cx="3429000" cy="923330"/>
          </a:xfrm>
          <a:prstGeom prst="rect">
            <a:avLst/>
          </a:prstGeom>
        </p:spPr>
        <p:txBody>
          <a:bodyPr>
            <a:spAutoFit/>
          </a:bodyPr>
          <a:lstStyle/>
          <a:p>
            <a:r>
              <a:rPr lang="en-US" altLang="ko-KR" sz="900" smtClean="0">
                <a:latin typeface="Arial" pitchFamily="34" charset="0"/>
                <a:ea typeface="돋움" pitchFamily="50" charset="-127"/>
                <a:cs typeface="Arial" pitchFamily="34" charset="0"/>
              </a:rPr>
              <a:t>20</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Đáp án</a:t>
            </a:r>
            <a:r>
              <a:rPr lang="vi-VN" altLang="ko-KR" sz="900">
                <a:latin typeface="Arial" pitchFamily="34" charset="0"/>
                <a:ea typeface="돋움" pitchFamily="50" charset="-127"/>
                <a:cs typeface="Arial" pitchFamily="34" charset="0"/>
              </a:rPr>
              <a:t> nào sau đây không phải là </a:t>
            </a:r>
            <a:r>
              <a:rPr lang="en-US" altLang="ko-KR" sz="900">
                <a:latin typeface="Arial" pitchFamily="34" charset="0"/>
                <a:ea typeface="돋움" pitchFamily="50" charset="-127"/>
                <a:cs typeface="Arial" pitchFamily="34" charset="0"/>
              </a:rPr>
              <a:t>một loại </a:t>
            </a:r>
            <a:r>
              <a:rPr lang="vi-VN" altLang="ko-KR" sz="900">
                <a:latin typeface="Arial" pitchFamily="34" charset="0"/>
                <a:ea typeface="돋움" pitchFamily="50" charset="-127"/>
                <a:cs typeface="Arial" pitchFamily="34" charset="0"/>
              </a:rPr>
              <a:t>của biến trở?</a:t>
            </a:r>
          </a:p>
          <a:p>
            <a:r>
              <a:rPr lang="en-US" altLang="ko-KR" sz="900">
                <a:latin typeface="Arial" pitchFamily="34" charset="0"/>
                <a:ea typeface="돋움" pitchFamily="50" charset="-127"/>
                <a:cs typeface="Arial" pitchFamily="34" charset="0"/>
              </a:rPr>
              <a:t>  </a:t>
            </a:r>
          </a:p>
          <a:p>
            <a:r>
              <a:rPr lang="en-US" altLang="ko-KR" sz="900">
                <a:latin typeface="Arial" pitchFamily="34" charset="0"/>
                <a:ea typeface="돋움" pitchFamily="50" charset="-127"/>
                <a:cs typeface="Arial" pitchFamily="34" charset="0"/>
              </a:rPr>
              <a:t>  A</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Màng carbon</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Màng kim loại</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Cuộn dây</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Silicone</a:t>
            </a:r>
          </a:p>
        </p:txBody>
      </p:sp>
    </p:spTree>
    <p:extLst>
      <p:ext uri="{BB962C8B-B14F-4D97-AF65-F5344CB8AC3E}">
        <p14:creationId xmlns:p14="http://schemas.microsoft.com/office/powerpoint/2010/main" val="22262936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Khó khăn trong việc nhỏ </a:t>
            </a:r>
            <a:r>
              <a:rPr lang="vi-VN" altLang="ko-KR" sz="950" smtClean="0">
                <a:latin typeface="Times New Roman" pitchFamily="18" charset="0"/>
                <a:ea typeface="LG Smart_H Regular" panose="020B0600000101010101" pitchFamily="34" charset="-127"/>
                <a:cs typeface="Times New Roman" pitchFamily="18" charset="0"/>
              </a:rPr>
              <a:t>hóa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Hiện thực hóa điều khiển quy mô lớn , tính năng cao bằng loại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Được điều khiển dựa vào sofrware được gọi là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không tiếp xúc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4016896"/>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Chọn giải thích đúng về Device </a:t>
            </a:r>
            <a:r>
              <a:rPr lang="vi-VN" altLang="ko-KR" sz="950" smtClean="0">
                <a:latin typeface="Times New Roman" pitchFamily="18" charset="0"/>
                <a:ea typeface="LG Smart_H Regular" panose="020B0600000101010101" pitchFamily="34" charset="-127"/>
                <a:cs typeface="Times New Roman" pitchFamily="18" charset="0"/>
              </a:rPr>
              <a:t>Timer?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khả năng hoán đổi thông tin Data giữa các Local Station,  Master Station →  Local Station, Local Station → Master Station trong Link Register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DATA REGISTER lưu trữ kết quả tính toán của  mệnh lệnh ứng dụng , mệnh lệnh cơ bản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bộ đếm thời gian Timer công thức cộng, và có 3 loại là 100ms Timer,10ms Timer, và Timer hơn 100ms</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2 loại là Interrupt sử dụng Interrupt Sequence Program và Counter sử dụng  Sequence Program trong công thức cộng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251556"/>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muốn sửa Program hiện tại thì sử dụng phím tắt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F1              B. F</a:t>
            </a: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smtClean="0">
                <a:latin typeface="Times New Roman" pitchFamily="18" charset="0"/>
                <a:ea typeface="LG Smart_H Regular" panose="020B0600000101010101" pitchFamily="34" charset="-127"/>
                <a:cs typeface="Times New Roman" pitchFamily="18" charset="0"/>
              </a:rPr>
              <a:t>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497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"Là nơi cài đặt thời gian Scan lớn nhất, trong trường hợp thời gian Run Scan chậm  hơn thời gian cài đặt sẽ phát sinh PLC Error" là định nghĩa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Mode vận hành khi có </a:t>
            </a:r>
            <a:r>
              <a:rPr lang="vi-VN" altLang="ko-KR" sz="950" smtClean="0">
                <a:latin typeface="Times New Roman" pitchFamily="18" charset="0"/>
                <a:ea typeface="LG Smart_H Regular" panose="020B0600000101010101" pitchFamily="34" charset="-127"/>
                <a:cs typeface="Times New Roman" pitchFamily="18" charset="0"/>
              </a:rPr>
              <a:t>Error </a:t>
            </a:r>
            <a:r>
              <a:rPr lang="vi-VN" altLang="ko-KR" sz="95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WDT.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Constant Scan.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Error Check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4413374"/>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đặt 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1~1024M</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1~1024K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163863" y="617713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Thao tác Latch Clear</a:t>
            </a:r>
            <a:endParaRPr lang="vi-VN" altLang="ko-KR" sz="95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2542" y="2504728"/>
            <a:ext cx="3239810" cy="1408078"/>
            <a:chOff x="182542" y="2504728"/>
            <a:chExt cx="3239810" cy="1408078"/>
          </a:xfrm>
        </p:grpSpPr>
        <p:sp>
          <p:nvSpPr>
            <p:cNvPr id="26" name="Rectangle 7"/>
            <p:cNvSpPr>
              <a:spLocks noChangeArrowheads="1"/>
            </p:cNvSpPr>
            <p:nvPr/>
          </p:nvSpPr>
          <p:spPr bwMode="auto">
            <a:xfrm>
              <a:off x="182542" y="2504728"/>
              <a:ext cx="323981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"Slot trống" dưới đây có I/O kết thúc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2F               B. 30                 C. 3</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smtClean="0">
                  <a:latin typeface="Times New Roman" pitchFamily="18" charset="0"/>
                  <a:ea typeface="LG Smart_H Regular" panose="020B0600000101010101" pitchFamily="34" charset="-127"/>
                  <a:cs typeface="Times New Roman" pitchFamily="18" charset="0"/>
                </a:rPr>
                <a:t>               D. 40</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192365" y="2792760"/>
              <a:ext cx="3227110" cy="773991"/>
              <a:chOff x="-14824" y="-1"/>
              <a:chExt cx="5022370" cy="1157242"/>
            </a:xfrm>
          </p:grpSpPr>
          <p:sp>
            <p:nvSpPr>
              <p:cNvPr id="28" name="Rectangle 27"/>
              <p:cNvSpPr>
                <a:spLocks noChangeArrowheads="1"/>
              </p:cNvSpPr>
              <p:nvPr/>
            </p:nvSpPr>
            <p:spPr bwMode="auto">
              <a:xfrm>
                <a:off x="1395413" y="-1"/>
                <a:ext cx="693737" cy="115724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r>
                  <a:rPr lang="en-US" altLang="ko-KR" sz="800">
                    <a:latin typeface="Times New Roman" panose="02020603050405020304" pitchFamily="18" charset="0"/>
                    <a:cs typeface="Times New Roman" panose="02020603050405020304" pitchFamily="18" charset="0"/>
                  </a:rPr>
                  <a:t>QX41 </a:t>
                </a:r>
              </a:p>
            </p:txBody>
          </p:sp>
          <p:sp>
            <p:nvSpPr>
              <p:cNvPr id="29" name="Rectangle 28"/>
              <p:cNvSpPr>
                <a:spLocks noChangeArrowheads="1"/>
              </p:cNvSpPr>
              <p:nvPr/>
            </p:nvSpPr>
            <p:spPr bwMode="auto">
              <a:xfrm>
                <a:off x="2102192" y="856"/>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QY40</a:t>
                </a:r>
              </a:p>
            </p:txBody>
          </p:sp>
          <p:sp>
            <p:nvSpPr>
              <p:cNvPr id="30" name="Rectangle 29"/>
              <p:cNvSpPr>
                <a:spLocks noChangeArrowheads="1"/>
              </p:cNvSpPr>
              <p:nvPr/>
            </p:nvSpPr>
            <p:spPr bwMode="auto">
              <a:xfrm>
                <a:off x="2788342" y="856"/>
                <a:ext cx="63067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ko-KR" altLang="en-US" sz="800">
                    <a:latin typeface="Times New Roman" panose="02020603050405020304" pitchFamily="18" charset="0"/>
                    <a:cs typeface="Times New Roman" panose="02020603050405020304" pitchFamily="18" charset="0"/>
                  </a:rPr>
                  <a:t> </a:t>
                </a:r>
                <a:r>
                  <a:rPr lang="en-US" altLang="ko-KR" sz="800">
                    <a:latin typeface="Times New Roman" panose="02020603050405020304" pitchFamily="18" charset="0"/>
                    <a:cs typeface="Times New Roman" panose="02020603050405020304" pitchFamily="18" charset="0"/>
                  </a:rPr>
                  <a:t>Slot trống</a:t>
                </a:r>
              </a:p>
            </p:txBody>
          </p:sp>
          <p:sp>
            <p:nvSpPr>
              <p:cNvPr id="31" name="Rectangle 30"/>
              <p:cNvSpPr>
                <a:spLocks noChangeArrowheads="1"/>
              </p:cNvSpPr>
              <p:nvPr/>
            </p:nvSpPr>
            <p:spPr bwMode="auto">
              <a:xfrm>
                <a:off x="3424464" y="856"/>
                <a:ext cx="80065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Q64AD</a:t>
                </a:r>
              </a:p>
            </p:txBody>
          </p:sp>
          <p:sp>
            <p:nvSpPr>
              <p:cNvPr id="32" name="Rectangle 31"/>
              <p:cNvSpPr>
                <a:spLocks noChangeArrowheads="1"/>
              </p:cNvSpPr>
              <p:nvPr/>
            </p:nvSpPr>
            <p:spPr bwMode="auto">
              <a:xfrm>
                <a:off x="4222525" y="856"/>
                <a:ext cx="78502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70000"/>
                  </a:lnSpc>
                  <a:spcBef>
                    <a:spcPct val="50000"/>
                  </a:spcBef>
                  <a:buFontTx/>
                  <a:buNone/>
                </a:pPr>
                <a:r>
                  <a:rPr lang="en-US" altLang="ko-KR" sz="800">
                    <a:latin typeface="Times New Roman" panose="02020603050405020304" pitchFamily="18" charset="0"/>
                    <a:cs typeface="Times New Roman" panose="02020603050405020304" pitchFamily="18" charset="0"/>
                  </a:rPr>
                  <a:t>Q62DA</a:t>
                </a:r>
              </a:p>
            </p:txBody>
          </p:sp>
          <p:sp>
            <p:nvSpPr>
              <p:cNvPr id="33" name="Text Box 12"/>
              <p:cNvSpPr txBox="1">
                <a:spLocks noChangeArrowheads="1"/>
              </p:cNvSpPr>
              <p:nvPr/>
            </p:nvSpPr>
            <p:spPr bwMode="auto">
              <a:xfrm>
                <a:off x="33050" y="300969"/>
                <a:ext cx="697219" cy="54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Nguồn</a:t>
                </a:r>
              </a:p>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Cấp</a:t>
                </a:r>
                <a:endParaRPr lang="ko-KR" altLang="en-US" sz="700">
                  <a:latin typeface="Times New Roman" panose="02020603050405020304" pitchFamily="18" charset="0"/>
                  <a:cs typeface="Times New Roman" panose="02020603050405020304" pitchFamily="18" charset="0"/>
                </a:endParaRPr>
              </a:p>
            </p:txBody>
          </p:sp>
          <p:sp>
            <p:nvSpPr>
              <p:cNvPr id="34" name="Text Box 13"/>
              <p:cNvSpPr txBox="1">
                <a:spLocks noChangeArrowheads="1"/>
              </p:cNvSpPr>
              <p:nvPr/>
            </p:nvSpPr>
            <p:spPr bwMode="auto">
              <a:xfrm>
                <a:off x="704186" y="413444"/>
                <a:ext cx="691146" cy="32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CPU</a:t>
                </a:r>
              </a:p>
            </p:txBody>
          </p:sp>
          <p:sp>
            <p:nvSpPr>
              <p:cNvPr id="35" name="Rectangle 34"/>
              <p:cNvSpPr>
                <a:spLocks noChangeArrowheads="1"/>
              </p:cNvSpPr>
              <p:nvPr/>
            </p:nvSpPr>
            <p:spPr bwMode="auto">
              <a:xfrm>
                <a:off x="700088" y="856"/>
                <a:ext cx="693738"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sp>
            <p:nvSpPr>
              <p:cNvPr id="36" name="Rectangle 35"/>
              <p:cNvSpPr>
                <a:spLocks noChangeArrowheads="1"/>
              </p:cNvSpPr>
              <p:nvPr/>
            </p:nvSpPr>
            <p:spPr bwMode="auto">
              <a:xfrm>
                <a:off x="-14824" y="857"/>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grpSp>
      </p:grpSp>
      <p:sp>
        <p:nvSpPr>
          <p:cNvPr id="37" name="Rectangle 7"/>
          <p:cNvSpPr>
            <a:spLocks noChangeArrowheads="1"/>
          </p:cNvSpPr>
          <p:nvPr/>
        </p:nvSpPr>
        <p:spPr bwMode="auto">
          <a:xfrm>
            <a:off x="155622" y="790532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Clear".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a:t>
            </a:r>
            <a:r>
              <a:rPr lang="en-US" altLang="ko-KR" sz="950" smtClean="0">
                <a:latin typeface="Times New Roman" pitchFamily="18" charset="0"/>
                <a:ea typeface="LG Smart_H Regular" panose="020B0600000101010101" pitchFamily="34" charset="-127"/>
                <a:cs typeface="Times New Roman" pitchFamily="18" charset="0"/>
              </a:rPr>
              <a:t>-&gt; </a:t>
            </a:r>
            <a:r>
              <a:rPr lang="en-US" altLang="ko-KR" sz="950">
                <a:latin typeface="Times New Roman" pitchFamily="18" charset="0"/>
                <a:ea typeface="LG Smart_H Regular" panose="020B0600000101010101" pitchFamily="34" charset="-127"/>
                <a:cs typeface="Times New Roman" pitchFamily="18" charset="0"/>
              </a:rPr>
              <a:t>(2) Stop PLC -&gt;  PLC Memory Clear -&gt; 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Clear -&gt; (4)Reset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Clear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Clear -&gt; (3)Stop PLC -&gt;  (4)Reset PLC</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3429000" y="6209218"/>
            <a:ext cx="323320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a:t>
            </a:r>
            <a:r>
              <a:rPr lang="vi-VN" altLang="ko-KR" sz="950" smtClean="0">
                <a:latin typeface="Times New Roman" pitchFamily="18" charset="0"/>
                <a:ea typeface="LG Smart_H Regular" panose="020B0600000101010101" pitchFamily="34" charset="-127"/>
                <a:cs typeface="Times New Roman" pitchFamily="18" charset="0"/>
              </a:rPr>
              <a:t>đặt </a:t>
            </a:r>
            <a:r>
              <a:rPr lang="vi-VN" altLang="ko-KR" sz="950">
                <a:latin typeface="Times New Roman" pitchFamily="18" charset="0"/>
                <a:ea typeface="LG Smart_H Regular" panose="020B0600000101010101" pitchFamily="34" charset="-127"/>
                <a:cs typeface="Times New Roman" pitchFamily="18" charset="0"/>
              </a:rPr>
              <a:t>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Giá trị cài đặt Timer là </a:t>
            </a:r>
            <a:r>
              <a:rPr lang="vi-VN" altLang="ko-KR" sz="950" smtClean="0">
                <a:latin typeface="Times New Roman" pitchFamily="18" charset="0"/>
                <a:ea typeface="LG Smart_H Regular" panose="020B0600000101010101" pitchFamily="34" charset="-127"/>
                <a:cs typeface="Times New Roman" pitchFamily="18" charset="0"/>
              </a:rPr>
              <a:t>K1~K32768</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cài đặt trực tiếp giá trị cài đặt </a:t>
            </a:r>
            <a:r>
              <a:rPr lang="vi-VN" altLang="ko-KR" sz="950" smtClean="0">
                <a:latin typeface="Times New Roman" pitchFamily="18" charset="0"/>
                <a:ea typeface="LG Smart_H Regular" panose="020B0600000101010101" pitchFamily="34" charset="-127"/>
                <a:cs typeface="Times New Roman" pitchFamily="18" charset="0"/>
              </a:rPr>
              <a:t>thì </a:t>
            </a:r>
            <a:r>
              <a:rPr lang="vi-VN" altLang="ko-KR" sz="950">
                <a:latin typeface="Times New Roman" pitchFamily="18" charset="0"/>
                <a:ea typeface="LG Smart_H Regular" panose="020B0600000101010101" pitchFamily="34" charset="-127"/>
                <a:cs typeface="Times New Roman" pitchFamily="18" charset="0"/>
              </a:rPr>
              <a:t>chỉ có thể cài đặt bằng </a:t>
            </a:r>
            <a:r>
              <a:rPr lang="vi-VN" altLang="ko-KR" sz="950" smtClean="0">
                <a:latin typeface="Times New Roman" pitchFamily="18" charset="0"/>
                <a:ea typeface="LG Smart_H Regular" panose="020B0600000101010101" pitchFamily="34" charset="-127"/>
                <a:cs typeface="Times New Roman" pitchFamily="18" charset="0"/>
              </a:rPr>
              <a:t>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là lệnh 4 Step. (Tuy nhiên </a:t>
            </a:r>
            <a:r>
              <a:rPr lang="vi-VN" altLang="ko-KR" sz="950" smtClean="0">
                <a:latin typeface="Times New Roman" pitchFamily="18" charset="0"/>
                <a:ea typeface="LG Smart_H Regular" panose="020B0600000101010101" pitchFamily="34" charset="-127"/>
                <a:cs typeface="Times New Roman" pitchFamily="18" charset="0"/>
              </a:rPr>
              <a:t>tiếp</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của Timer chỉ là 1 Step)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Parameter có thể biến đổi đơn </a:t>
            </a:r>
            <a:r>
              <a:rPr lang="vi-VN" altLang="ko-KR" sz="950" smtClean="0">
                <a:latin typeface="Times New Roman" pitchFamily="18" charset="0"/>
                <a:ea typeface="LG Smart_H Regular" panose="020B0600000101010101" pitchFamily="34" charset="-127"/>
                <a:cs typeface="Times New Roman" pitchFamily="18" charset="0"/>
              </a:rPr>
              <a:t>vị </a:t>
            </a:r>
            <a:r>
              <a:rPr lang="vi-VN" altLang="ko-KR" sz="950">
                <a:latin typeface="Times New Roman" pitchFamily="18" charset="0"/>
                <a:ea typeface="LG Smart_H Regular" panose="020B0600000101010101" pitchFamily="34" charset="-127"/>
                <a:cs typeface="Times New Roman" pitchFamily="18" charset="0"/>
              </a:rPr>
              <a:t>của từng Timer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9" name="Rectangle 7"/>
          <p:cNvSpPr>
            <a:spLocks noChangeArrowheads="1"/>
          </p:cNvSpPr>
          <p:nvPr/>
        </p:nvSpPr>
        <p:spPr bwMode="auto">
          <a:xfrm>
            <a:off x="3425699" y="8270813"/>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Khi chỉ thị đầu vào của lệnh OFF → ON,  Device được chọn ON 1</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Scan  Là giải thích về lệnh nào?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FF              B. PLS               C. SET                D. PLF</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30803794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7" name="Group 6"/>
          <p:cNvGrpSpPr/>
          <p:nvPr/>
        </p:nvGrpSpPr>
        <p:grpSpPr>
          <a:xfrm>
            <a:off x="188640" y="2936776"/>
            <a:ext cx="3183502" cy="1892826"/>
            <a:chOff x="3306989" y="6950075"/>
            <a:chExt cx="3429000" cy="1892826"/>
          </a:xfrm>
        </p:grpSpPr>
        <p:sp>
          <p:nvSpPr>
            <p:cNvPr id="8" name="Rectangle 101"/>
            <p:cNvSpPr>
              <a:spLocks noChangeArrowheads="1"/>
            </p:cNvSpPr>
            <p:nvPr/>
          </p:nvSpPr>
          <p:spPr bwMode="auto">
            <a:xfrm>
              <a:off x="3306989" y="6950075"/>
              <a:ext cx="3429000"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a:latin typeface="Times New Roman" panose="02020603050405020304" pitchFamily="18" charset="0"/>
                  <a:ea typeface="돋움" pitchFamily="50" charset="-127"/>
                  <a:cs typeface="Times New Roman" panose="02020603050405020304" pitchFamily="18" charset="0"/>
                </a:rPr>
                <a:t>3</a:t>
              </a:r>
              <a:r>
                <a:rPr lang="en-US" altLang="ko-KR" sz="900" smtClean="0">
                  <a:latin typeface="Times New Roman" panose="02020603050405020304" pitchFamily="18" charset="0"/>
                  <a:ea typeface="돋움" pitchFamily="50" charset="-127"/>
                  <a:cs typeface="Times New Roman" panose="02020603050405020304" pitchFamily="18" charset="0"/>
                </a:rPr>
                <a:t>2. </a:t>
              </a:r>
              <a:r>
                <a:rPr lang="en-US" altLang="ko-KR" sz="900" dirty="0">
                  <a:latin typeface="Times New Roman" panose="02020603050405020304" pitchFamily="18" charset="0"/>
                  <a:ea typeface="돋움" pitchFamily="50" charset="-127"/>
                  <a:cs typeface="Times New Roman" panose="02020603050405020304" pitchFamily="18" charset="0"/>
                </a:rPr>
                <a:t>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1</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a:latin typeface="Times New Roman" panose="02020603050405020304" pitchFamily="18" charset="0"/>
                  <a:ea typeface="돋움" pitchFamily="50" charset="-127"/>
                  <a:cs typeface="Times New Roman" panose="02020603050405020304" pitchFamily="18" charset="0"/>
                </a:rPr>
                <a:t>ON → 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2</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a:latin typeface="Times New Roman" panose="02020603050405020304" pitchFamily="18" charset="0"/>
                  <a:ea typeface="돋움" pitchFamily="50" charset="-127"/>
                  <a:cs typeface="Times New Roman" panose="02020603050405020304" pitchFamily="18" charset="0"/>
                </a:rPr>
                <a:t>ON → P/B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Số 1</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OFF </a:t>
              </a:r>
              <a:r>
                <a:rPr lang="en-US" altLang="ko-KR" sz="900" dirty="0">
                  <a:latin typeface="Times New Roman" panose="02020603050405020304" pitchFamily="18" charset="0"/>
                  <a:ea typeface="돋움" pitchFamily="50" charset="-127"/>
                  <a:cs typeface="Times New Roman" panose="02020603050405020304" pitchFamily="18" charset="0"/>
                </a:rPr>
                <a:t>→ P/B </a:t>
              </a:r>
              <a:r>
                <a:rPr lang="en-US" altLang="ko-KR" sz="900" dirty="0" err="1" smtClean="0">
                  <a:latin typeface="Times New Roman" panose="02020603050405020304" pitchFamily="18" charset="0"/>
                  <a:ea typeface="돋움" pitchFamily="50" charset="-127"/>
                  <a:cs typeface="Times New Roman" panose="02020603050405020304" pitchFamily="18" charset="0"/>
                </a:rPr>
                <a:t>số</a:t>
              </a:r>
              <a:r>
                <a:rPr lang="en-US" altLang="ko-KR" sz="900" dirty="0" smtClean="0">
                  <a:latin typeface="Times New Roman" panose="02020603050405020304" pitchFamily="18" charset="0"/>
                  <a:ea typeface="돋움" pitchFamily="50" charset="-127"/>
                  <a:cs typeface="Times New Roman" panose="02020603050405020304" pitchFamily="18" charset="0"/>
                </a:rPr>
                <a:t> 2</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ON. </a:t>
              </a:r>
              <a:r>
                <a:rPr lang="en-US" altLang="ko-KR" sz="900" dirty="0" err="1" smtClean="0">
                  <a:latin typeface="Times New Roman" panose="02020603050405020304" pitchFamily="18" charset="0"/>
                  <a:ea typeface="돋움" pitchFamily="50" charset="-127"/>
                  <a:cs typeface="Times New Roman" panose="02020603050405020304" pitchFamily="18" charset="0"/>
                </a:rPr>
                <a:t>Rơ</a:t>
              </a:r>
              <a:r>
                <a:rPr lang="en-US" altLang="ko-KR" sz="900" dirty="0" smtClean="0">
                  <a:latin typeface="Times New Roman" panose="02020603050405020304" pitchFamily="18" charset="0"/>
                  <a:ea typeface="돋움" pitchFamily="50" charset="-127"/>
                  <a:cs typeface="Times New Roman" panose="02020603050405020304" pitchFamily="18" charset="0"/>
                </a:rPr>
                <a:t> le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sẽ</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hoạt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động</a:t>
              </a:r>
              <a:r>
                <a:rPr lang="en-US" altLang="ko-KR" sz="900" smtClean="0">
                  <a:latin typeface="Times New Roman" panose="02020603050405020304" pitchFamily="18" charset="0"/>
                  <a:ea typeface="돋움" pitchFamily="50" charset="-127"/>
                  <a:cs typeface="Times New Roman" panose="02020603050405020304" pitchFamily="18" charset="0"/>
                </a:rPr>
                <a:t>?</a:t>
              </a:r>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a:t>
              </a:r>
              <a:r>
                <a:rPr lang="en-US" altLang="ko-KR" sz="900">
                  <a:latin typeface="Times New Roman" panose="02020603050405020304" pitchFamily="18" charset="0"/>
                  <a:ea typeface="돋움" pitchFamily="50" charset="-127"/>
                  <a:cs typeface="Times New Roman" panose="02020603050405020304" pitchFamily="18" charset="0"/>
                </a:rPr>
                <a:t>.  R1    B.  R2   C.  Cả R1,R2</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D. </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Không có</a:t>
              </a:r>
              <a:endParaRPr lang="ko-KR" altLang="en-US" sz="90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9" name="Picture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4900" y="7337425"/>
              <a:ext cx="2554288" cy="110172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grpSp>
      <p:sp>
        <p:nvSpPr>
          <p:cNvPr id="31" name="Rectangle 44"/>
          <p:cNvSpPr>
            <a:spLocks noChangeArrowheads="1"/>
          </p:cNvSpPr>
          <p:nvPr/>
        </p:nvSpPr>
        <p:spPr bwMode="auto">
          <a:xfrm>
            <a:off x="3405750" y="4607828"/>
            <a:ext cx="309708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a:t>
            </a:r>
            <a:r>
              <a:rPr lang="en-US" altLang="ko-KR" sz="900">
                <a:latin typeface="Times New Roman" panose="02020603050405020304" pitchFamily="18" charset="0"/>
                <a:ea typeface="돋움" pitchFamily="50" charset="-127"/>
                <a:cs typeface="Times New Roman" panose="02020603050405020304" pitchFamily="18" charset="0"/>
              </a:rPr>
              <a:t>8</a:t>
            </a:r>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Đây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điều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gì</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chương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chỉ</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chạy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tốc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thấp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cài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dư</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của</a:t>
            </a:r>
            <a:r>
              <a:rPr lang="en-US" altLang="ko-KR" sz="900" dirty="0" smtClean="0">
                <a:latin typeface="Times New Roman" panose="02020603050405020304" pitchFamily="18" charset="0"/>
                <a:ea typeface="돋움" pitchFamily="50" charset="-127"/>
                <a:cs typeface="Times New Roman" panose="02020603050405020304" pitchFamily="18" charset="0"/>
              </a:rPr>
              <a:t> Constant Scan).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ưu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tiên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mức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điều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khiển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Scan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quy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cài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thời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gian</a:t>
            </a:r>
            <a:r>
              <a:rPr lang="en-US" altLang="ko-KR" sz="900" dirty="0" smtClean="0">
                <a:latin typeface="Times New Roman" panose="02020603050405020304" pitchFamily="18" charset="0"/>
                <a:ea typeface="돋움" pitchFamily="50" charset="-127"/>
                <a:cs typeface="Times New Roman" panose="02020603050405020304" pitchFamily="18" charset="0"/>
              </a:rPr>
              <a:t> Constant Scan]</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ban đầu</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B.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theo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chu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kỳ</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cố</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endParaRPr lang="ko-KR" altLang="en-US"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C.  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tốc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độ</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thấp</a:t>
            </a:r>
            <a:r>
              <a:rPr lang="ko-KR" altLang="en-US" sz="900" smtClean="0">
                <a:latin typeface="Times New Roman" panose="02020603050405020304" pitchFamily="18" charset="0"/>
                <a:ea typeface="돋움" pitchFamily="50" charset="-127"/>
                <a:cs typeface="Times New Roman" panose="02020603050405020304" pitchFamily="18" charset="0"/>
              </a:rPr>
              <a:t>  </a:t>
            </a:r>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D.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latin typeface="Times New Roman" panose="02020603050405020304" pitchFamily="18" charset="0"/>
                <a:ea typeface="돋움" pitchFamily="50" charset="-127"/>
                <a:cs typeface="Times New Roman" panose="02020603050405020304" pitchFamily="18" charset="0"/>
              </a:rPr>
              <a:t>loại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tiến</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hành</a:t>
            </a:r>
            <a:r>
              <a:rPr lang="en-US" altLang="ko-KR" sz="900" dirty="0" smtClean="0">
                <a:latin typeface="Times New Roman" panose="02020603050405020304" pitchFamily="18" charset="0"/>
                <a:ea typeface="돋움" pitchFamily="50" charset="-127"/>
                <a:cs typeface="Times New Roman" panose="02020603050405020304" pitchFamily="18" charset="0"/>
              </a:rPr>
              <a:t> Scan</a:t>
            </a:r>
            <a:endParaRPr lang="ko-KR" altLang="en-US" sz="900" dirty="0">
              <a:latin typeface="Times New Roman" panose="02020603050405020304" pitchFamily="18" charset="0"/>
              <a:ea typeface="돋움" pitchFamily="50" charset="-127"/>
              <a:cs typeface="Times New Roman" panose="02020603050405020304" pitchFamily="18" charset="0"/>
            </a:endParaRPr>
          </a:p>
        </p:txBody>
      </p:sp>
      <p:sp>
        <p:nvSpPr>
          <p:cNvPr id="57" name="Rectangle 101"/>
          <p:cNvSpPr>
            <a:spLocks noChangeArrowheads="1"/>
          </p:cNvSpPr>
          <p:nvPr/>
        </p:nvSpPr>
        <p:spPr bwMode="auto">
          <a:xfrm>
            <a:off x="3428622" y="8049344"/>
            <a:ext cx="3312746"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4</a:t>
            </a:r>
            <a:r>
              <a:rPr lang="en-US" altLang="ko-KR" sz="900" smtClean="0">
                <a:latin typeface="Times New Roman" panose="02020603050405020304" pitchFamily="18" charset="0"/>
                <a:ea typeface="돋움" pitchFamily="50" charset="-127"/>
                <a:cs typeface="Times New Roman" panose="02020603050405020304" pitchFamily="18" charset="0"/>
              </a:rPr>
              <a:t>0. Đáp án </a:t>
            </a:r>
            <a:r>
              <a:rPr lang="en-US" altLang="ko-KR" sz="900" dirty="0" err="1" smtClean="0">
                <a:latin typeface="Times New Roman" panose="02020603050405020304" pitchFamily="18" charset="0"/>
                <a:ea typeface="돋움" pitchFamily="50" charset="-127"/>
                <a:cs typeface="Times New Roman" panose="02020603050405020304" pitchFamily="18" charset="0"/>
              </a:rPr>
              <a:t>nào</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sai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những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giải</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thích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về</a:t>
            </a:r>
            <a:r>
              <a:rPr lang="en-US" altLang="ko-KR" sz="900" dirty="0" smtClean="0">
                <a:latin typeface="Times New Roman" panose="02020603050405020304" pitchFamily="18" charset="0"/>
                <a:ea typeface="돋움" pitchFamily="50" charset="-127"/>
                <a:cs typeface="Times New Roman" panose="02020603050405020304" pitchFamily="18" charset="0"/>
              </a:rPr>
              <a:t> MC/MCR</a:t>
            </a:r>
            <a:r>
              <a:rPr lang="ko-KR" altLang="en-US"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sau</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trị</a:t>
            </a:r>
            <a:r>
              <a:rPr lang="en-US" altLang="ko-KR" sz="900" dirty="0" smtClean="0">
                <a:latin typeface="Times New Roman" panose="02020603050405020304" pitchFamily="18" charset="0"/>
                <a:ea typeface="돋움" pitchFamily="50" charset="-127"/>
                <a:cs typeface="Times New Roman" panose="02020603050405020304" pitchFamily="18" charset="0"/>
              </a:rPr>
              <a:t> COUNT </a:t>
            </a:r>
            <a:r>
              <a:rPr lang="en-US" altLang="ko-KR" sz="900" err="1" smtClean="0">
                <a:latin typeface="Times New Roman" panose="02020603050405020304" pitchFamily="18" charset="0"/>
                <a:ea typeface="돋움" pitchFamily="50" charset="-127"/>
                <a:cs typeface="Times New Roman" panose="02020603050405020304" pitchFamily="18" charset="0"/>
              </a:rPr>
              <a:t>trong</a:t>
            </a:r>
            <a:r>
              <a:rPr lang="en-US" altLang="ko-KR" sz="900" smtClean="0">
                <a:latin typeface="Times New Roman" panose="02020603050405020304" pitchFamily="18" charset="0"/>
                <a:ea typeface="돋움" pitchFamily="50" charset="-127"/>
                <a:cs typeface="Times New Roman" panose="02020603050405020304" pitchFamily="18" charset="0"/>
              </a:rPr>
              <a:t> MC tương </a:t>
            </a:r>
            <a:r>
              <a:rPr lang="en-US" altLang="ko-KR" sz="900" dirty="0" err="1" smtClean="0">
                <a:latin typeface="Times New Roman" panose="02020603050405020304" pitchFamily="18" charset="0"/>
                <a:ea typeface="돋움" pitchFamily="50" charset="-127"/>
                <a:cs typeface="Times New Roman" panose="02020603050405020304" pitchFamily="18" charset="0"/>
              </a:rPr>
              <a:t>ứng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B.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tất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cả</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OUT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MC tương ứng </a:t>
            </a:r>
            <a:r>
              <a:rPr lang="en-US" altLang="ko-KR" sz="900" err="1" smtClean="0">
                <a:latin typeface="Times New Roman" panose="02020603050405020304" pitchFamily="18" charset="0"/>
                <a:ea typeface="돋움" pitchFamily="50" charset="-127"/>
                <a:cs typeface="Times New Roman" panose="02020603050405020304" pitchFamily="18" charset="0"/>
              </a:rPr>
              <a:t>đều</a:t>
            </a:r>
            <a:r>
              <a:rPr lang="en-US" altLang="ko-KR" sz="900" smtClean="0">
                <a:latin typeface="Times New Roman" panose="02020603050405020304" pitchFamily="18" charset="0"/>
                <a:ea typeface="돋움" pitchFamily="50" charset="-127"/>
                <a:cs typeface="Times New Roman" panose="02020603050405020304" pitchFamily="18" charset="0"/>
              </a:rPr>
              <a:t> OFF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smtClean="0">
                <a:latin typeface="Times New Roman" panose="02020603050405020304" pitchFamily="18" charset="0"/>
                <a:ea typeface="돋움" pitchFamily="50" charset="-127"/>
                <a:cs typeface="Times New Roman" panose="02020603050405020304" pitchFamily="18" charset="0"/>
              </a:rPr>
              <a:t>C.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lệnh</a:t>
            </a:r>
            <a:r>
              <a:rPr lang="en-US" altLang="ko-KR" sz="900" dirty="0" smtClean="0">
                <a:latin typeface="Times New Roman" panose="02020603050405020304" pitchFamily="18" charset="0"/>
                <a:ea typeface="돋움" pitchFamily="50" charset="-127"/>
                <a:cs typeface="Times New Roman" panose="02020603050405020304" pitchFamily="18" charset="0"/>
              </a:rPr>
              <a:t> SET/RST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MC </a:t>
            </a:r>
            <a:r>
              <a:rPr lang="en-US" altLang="ko-KR" sz="900" err="1" smtClean="0">
                <a:latin typeface="Times New Roman" panose="02020603050405020304" pitchFamily="18" charset="0"/>
                <a:ea typeface="돋움" pitchFamily="50" charset="-127"/>
                <a:cs typeface="Times New Roman" panose="02020603050405020304" pitchFamily="18" charset="0"/>
              </a:rPr>
              <a:t>tương</a:t>
            </a:r>
            <a:r>
              <a:rPr lang="en-US" altLang="ko-KR" sz="900" smtClean="0">
                <a:latin typeface="Times New Roman" panose="02020603050405020304" pitchFamily="18" charset="0"/>
                <a:ea typeface="돋움" pitchFamily="50" charset="-127"/>
                <a:cs typeface="Times New Roman" panose="02020603050405020304" pitchFamily="18" charset="0"/>
              </a:rPr>
              <a:t> ứng </a:t>
            </a:r>
            <a:r>
              <a:rPr lang="en-US" altLang="ko-KR" sz="900" dirty="0" err="1" smtClean="0">
                <a:latin typeface="Times New Roman" panose="02020603050405020304" pitchFamily="18" charset="0"/>
                <a:ea typeface="돋움" pitchFamily="50" charset="-127"/>
                <a:cs typeface="Times New Roman" panose="02020603050405020304" pitchFamily="18" charset="0"/>
              </a:rPr>
              <a:t>được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endParaRPr lang="en-US" altLang="ko-KR" sz="900" dirty="0">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D.  </a:t>
            </a:r>
            <a:r>
              <a:rPr lang="en-US" altLang="ko-KR" sz="900" dirty="0" err="1" smtClean="0">
                <a:latin typeface="Times New Roman" panose="02020603050405020304" pitchFamily="18" charset="0"/>
                <a:ea typeface="돋움" pitchFamily="50" charset="-127"/>
                <a:cs typeface="Times New Roman" panose="02020603050405020304" pitchFamily="18" charset="0"/>
              </a:rPr>
              <a:t>Trường</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hợp</a:t>
            </a:r>
            <a:r>
              <a:rPr lang="en-US" altLang="ko-KR" sz="900" dirty="0" smtClean="0">
                <a:latin typeface="Times New Roman" panose="02020603050405020304" pitchFamily="18" charset="0"/>
                <a:ea typeface="돋움" pitchFamily="50" charset="-127"/>
                <a:cs typeface="Times New Roman" panose="02020603050405020304" pitchFamily="18" charset="0"/>
              </a:rPr>
              <a:t> MC</a:t>
            </a:r>
            <a:r>
              <a:rPr lang="ko-KR" altLang="en-US"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smtClean="0">
                <a:latin typeface="Times New Roman" panose="02020603050405020304" pitchFamily="18" charset="0"/>
                <a:ea typeface="돋움" pitchFamily="50" charset="-127"/>
                <a:cs typeface="Times New Roman" panose="02020603050405020304" pitchFamily="18" charset="0"/>
              </a:rPr>
              <a:t>OFF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10ms Timer </a:t>
            </a:r>
            <a:r>
              <a:rPr lang="en-US" altLang="ko-KR" sz="900" dirty="0" err="1" smtClean="0">
                <a:latin typeface="Times New Roman" panose="02020603050405020304" pitchFamily="18" charset="0"/>
                <a:ea typeface="돋움" pitchFamily="50" charset="-127"/>
                <a:cs typeface="Times New Roman" panose="02020603050405020304" pitchFamily="18" charset="0"/>
              </a:rPr>
              <a:t>trong</a:t>
            </a:r>
            <a:r>
              <a:rPr lang="en-US" altLang="ko-KR" sz="900" dirty="0" smtClean="0">
                <a:latin typeface="Times New Roman" panose="02020603050405020304" pitchFamily="18" charset="0"/>
                <a:ea typeface="돋움" pitchFamily="50" charset="-127"/>
                <a:cs typeface="Times New Roman" panose="02020603050405020304" pitchFamily="18" charset="0"/>
              </a:rPr>
              <a:t> MC </a:t>
            </a:r>
            <a:r>
              <a:rPr lang="en-US" altLang="ko-KR" sz="900" err="1" smtClean="0">
                <a:latin typeface="Times New Roman" panose="02020603050405020304" pitchFamily="18" charset="0"/>
                <a:ea typeface="돋움" pitchFamily="50" charset="-127"/>
                <a:cs typeface="Times New Roman" panose="02020603050405020304" pitchFamily="18" charset="0"/>
              </a:rPr>
              <a:t>tương</a:t>
            </a:r>
            <a:r>
              <a:rPr lang="en-US" altLang="ko-KR" sz="900" smtClean="0">
                <a:latin typeface="Times New Roman" panose="02020603050405020304" pitchFamily="18" charset="0"/>
                <a:ea typeface="돋움" pitchFamily="50" charset="-127"/>
                <a:cs typeface="Times New Roman" panose="02020603050405020304" pitchFamily="18" charset="0"/>
              </a:rPr>
              <a:t> ứng vẫn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giá</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trị</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p:txBody>
      </p:sp>
      <p:sp>
        <p:nvSpPr>
          <p:cNvPr id="58" name="Line 6"/>
          <p:cNvSpPr>
            <a:spLocks noChangeShapeType="1"/>
          </p:cNvSpPr>
          <p:nvPr/>
        </p:nvSpPr>
        <p:spPr bwMode="auto">
          <a:xfrm>
            <a:off x="8786018"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59" name="Line 7"/>
          <p:cNvSpPr>
            <a:spLocks noChangeShapeType="1"/>
          </p:cNvSpPr>
          <p:nvPr/>
        </p:nvSpPr>
        <p:spPr bwMode="auto">
          <a:xfrm>
            <a:off x="8786018"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3458171" y="6264739"/>
            <a:ext cx="3111500" cy="1754326"/>
            <a:chOff x="3424651" y="1547580"/>
            <a:chExt cx="3111500" cy="1754326"/>
          </a:xfrm>
        </p:grpSpPr>
        <p:sp>
          <p:nvSpPr>
            <p:cNvPr id="61"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39</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Nếu</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định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viết</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mạch</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tự</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duy</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trì</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thì</a:t>
              </a:r>
              <a:r>
                <a:rPr lang="en-US" altLang="ko-KR" sz="900" dirty="0" smtClean="0">
                  <a:latin typeface="Times New Roman" panose="02020603050405020304" pitchFamily="18" charset="0"/>
                  <a:ea typeface="돋움" pitchFamily="50" charset="-127"/>
                  <a:cs typeface="Times New Roman" panose="02020603050405020304" pitchFamily="18" charset="0"/>
                </a:rPr>
                <a:t> ở </a:t>
              </a:r>
              <a:r>
                <a:rPr lang="en-US" altLang="ko-KR" sz="900" smtClean="0">
                  <a:latin typeface="Times New Roman" panose="02020603050405020304" pitchFamily="18" charset="0"/>
                  <a:ea typeface="돋움" pitchFamily="50" charset="-127"/>
                  <a:cs typeface="Times New Roman" panose="02020603050405020304" pitchFamily="18" charset="0"/>
                </a:rPr>
                <a:t>( ?  </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sẽ</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gì</a:t>
              </a:r>
              <a:r>
                <a:rPr lang="en-US" altLang="ko-KR" sz="900" smtClean="0">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A. CO            B.  Y40           C.  SET T40</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D.</a:t>
              </a:r>
              <a:r>
                <a:rPr lang="ko-KR" altLang="en-US" sz="900">
                  <a:latin typeface="Times New Roman" panose="02020603050405020304" pitchFamily="18" charset="0"/>
                  <a:ea typeface="돋움" pitchFamily="50" charset="-127"/>
                  <a:cs typeface="Times New Roman" panose="02020603050405020304" pitchFamily="18" charset="0"/>
                </a:rPr>
                <a:t>  </a:t>
              </a:r>
              <a:r>
                <a:rPr lang="en-US" altLang="ko-KR" sz="900">
                  <a:latin typeface="Times New Roman" panose="02020603050405020304" pitchFamily="18" charset="0"/>
                  <a:ea typeface="돋움" pitchFamily="50" charset="-127"/>
                  <a:cs typeface="Times New Roman" panose="02020603050405020304" pitchFamily="18" charset="0"/>
                </a:rPr>
                <a:t>X1</a:t>
              </a:r>
              <a:endParaRPr lang="ko-KR" altLang="en-US" sz="900">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latin typeface="Times New Roman" panose="02020603050405020304" pitchFamily="18" charset="0"/>
                <a:ea typeface="돋움" pitchFamily="50" charset="-127"/>
                <a:cs typeface="Times New Roman" panose="02020603050405020304" pitchFamily="18" charset="0"/>
              </a:endParaRPr>
            </a:p>
          </p:txBody>
        </p:sp>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grpSp>
        <p:nvGrpSpPr>
          <p:cNvPr id="72" name="Group 71"/>
          <p:cNvGrpSpPr/>
          <p:nvPr/>
        </p:nvGrpSpPr>
        <p:grpSpPr>
          <a:xfrm>
            <a:off x="165991" y="4879591"/>
            <a:ext cx="3095625" cy="2577629"/>
            <a:chOff x="-27384" y="3013059"/>
            <a:chExt cx="3095625" cy="2577629"/>
          </a:xfrm>
        </p:grpSpPr>
        <p:sp>
          <p:nvSpPr>
            <p:cNvPr id="73" name="Rectangle 2"/>
            <p:cNvSpPr>
              <a:spLocks noChangeArrowheads="1"/>
            </p:cNvSpPr>
            <p:nvPr/>
          </p:nvSpPr>
          <p:spPr bwMode="auto">
            <a:xfrm>
              <a:off x="-27384" y="3013059"/>
              <a:ext cx="3095625"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smtClean="0">
                  <a:latin typeface="Times New Roman" pitchFamily="18" charset="0"/>
                  <a:ea typeface="돋움" pitchFamily="50" charset="-127"/>
                  <a:cs typeface="Times New Roman" pitchFamily="18" charset="0"/>
                </a:rPr>
                <a:t>Câu 33. Sơ </a:t>
              </a:r>
              <a:r>
                <a:rPr lang="en-US" altLang="ko-KR" sz="950">
                  <a:latin typeface="Times New Roman" pitchFamily="18" charset="0"/>
                  <a:ea typeface="돋움" pitchFamily="50" charset="-127"/>
                  <a:cs typeface="Times New Roman" pitchFamily="18" charset="0"/>
                </a:rPr>
                <a:t>đồ Sequence sau là sơ đồ mạch nào?</a:t>
              </a: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Mạch ưu tiên khởi </a:t>
              </a:r>
              <a:r>
                <a:rPr lang="en-US" altLang="ko-KR" sz="950" smtClean="0">
                  <a:latin typeface="Times New Roman" pitchFamily="18" charset="0"/>
                  <a:ea typeface="돋움" pitchFamily="50" charset="-127"/>
                  <a:cs typeface="Times New Roman" pitchFamily="18" charset="0"/>
                </a:rPr>
                <a:t>động</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dừng </a:t>
              </a:r>
              <a:endParaRPr lang="en-US" altLang="ko-KR" sz="950" smtClean="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C.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a:t>
              </a:r>
              <a:r>
                <a:rPr lang="en-US" altLang="ko-KR" sz="950" smtClean="0">
                  <a:latin typeface="Times New Roman" pitchFamily="18" charset="0"/>
                  <a:ea typeface="돋움" pitchFamily="50" charset="-127"/>
                  <a:cs typeface="Times New Roman" pitchFamily="18" charset="0"/>
                </a:rPr>
                <a:t>OR</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Inter Lock</a:t>
              </a:r>
              <a:endParaRPr lang="ko-KR" altLang="en-US" sz="950">
                <a:latin typeface="Times New Roman" pitchFamily="18" charset="0"/>
                <a:ea typeface="돋움" pitchFamily="50" charset="-127"/>
                <a:cs typeface="Times New Roman" pitchFamily="18" charset="0"/>
              </a:endParaRPr>
            </a:p>
          </p:txBody>
        </p:sp>
        <p:grpSp>
          <p:nvGrpSpPr>
            <p:cNvPr id="74" name="Group 153"/>
            <p:cNvGrpSpPr>
              <a:grpSpLocks/>
            </p:cNvGrpSpPr>
            <p:nvPr/>
          </p:nvGrpSpPr>
          <p:grpSpPr bwMode="auto">
            <a:xfrm>
              <a:off x="266576" y="3368824"/>
              <a:ext cx="2742660" cy="1368425"/>
              <a:chOff x="3368" y="1165"/>
              <a:chExt cx="2275" cy="950"/>
            </a:xfrm>
          </p:grpSpPr>
          <p:sp>
            <p:nvSpPr>
              <p:cNvPr id="75" name="Line 73"/>
              <p:cNvSpPr>
                <a:spLocks noChangeShapeType="1"/>
              </p:cNvSpPr>
              <p:nvPr/>
            </p:nvSpPr>
            <p:spPr bwMode="auto">
              <a:xfrm>
                <a:off x="3368" y="1233"/>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6" name="Line 74"/>
              <p:cNvSpPr>
                <a:spLocks noChangeShapeType="1"/>
              </p:cNvSpPr>
              <p:nvPr/>
            </p:nvSpPr>
            <p:spPr bwMode="auto">
              <a:xfrm>
                <a:off x="5643" y="1225"/>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7" name="Oval 75"/>
              <p:cNvSpPr>
                <a:spLocks noChangeArrowheads="1"/>
              </p:cNvSpPr>
              <p:nvPr/>
            </p:nvSpPr>
            <p:spPr bwMode="auto">
              <a:xfrm>
                <a:off x="3685"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8" name="Oval 76"/>
              <p:cNvSpPr>
                <a:spLocks noChangeArrowheads="1"/>
              </p:cNvSpPr>
              <p:nvPr/>
            </p:nvSpPr>
            <p:spPr bwMode="auto">
              <a:xfrm>
                <a:off x="3821"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9" name="Line 77"/>
              <p:cNvSpPr>
                <a:spLocks noChangeShapeType="1"/>
              </p:cNvSpPr>
              <p:nvPr/>
            </p:nvSpPr>
            <p:spPr bwMode="auto">
              <a:xfrm>
                <a:off x="3685" y="1345"/>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0" name="Line 78"/>
              <p:cNvSpPr>
                <a:spLocks noChangeShapeType="1"/>
              </p:cNvSpPr>
              <p:nvPr/>
            </p:nvSpPr>
            <p:spPr bwMode="auto">
              <a:xfrm flipV="1">
                <a:off x="3775" y="1317"/>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2" name="Oval 80"/>
              <p:cNvSpPr>
                <a:spLocks noChangeArrowheads="1"/>
              </p:cNvSpPr>
              <p:nvPr/>
            </p:nvSpPr>
            <p:spPr bwMode="auto">
              <a:xfrm>
                <a:off x="3685"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3" name="Oval 81"/>
              <p:cNvSpPr>
                <a:spLocks noChangeArrowheads="1"/>
              </p:cNvSpPr>
              <p:nvPr/>
            </p:nvSpPr>
            <p:spPr bwMode="auto">
              <a:xfrm>
                <a:off x="3821"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4" name="Line 82"/>
              <p:cNvSpPr>
                <a:spLocks noChangeShapeType="1"/>
              </p:cNvSpPr>
              <p:nvPr/>
            </p:nvSpPr>
            <p:spPr bwMode="auto">
              <a:xfrm>
                <a:off x="3685" y="1880"/>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nvGrpSpPr>
              <p:cNvPr id="85" name="Group 83"/>
              <p:cNvGrpSpPr>
                <a:grpSpLocks/>
              </p:cNvGrpSpPr>
              <p:nvPr/>
            </p:nvGrpSpPr>
            <p:grpSpPr bwMode="auto">
              <a:xfrm>
                <a:off x="4997" y="1282"/>
                <a:ext cx="238" cy="192"/>
                <a:chOff x="2928" y="1832"/>
                <a:chExt cx="252" cy="297"/>
              </a:xfrm>
            </p:grpSpPr>
            <p:sp>
              <p:nvSpPr>
                <p:cNvPr id="110" name="Oval 84"/>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11" name="Text Box 85"/>
                <p:cNvSpPr txBox="1">
                  <a:spLocks noChangeArrowheads="1"/>
                </p:cNvSpPr>
                <p:nvPr/>
              </p:nvSpPr>
              <p:spPr bwMode="auto">
                <a:xfrm>
                  <a:off x="2939" y="1832"/>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sp>
            <p:nvSpPr>
              <p:cNvPr id="86" name="Line 86"/>
              <p:cNvSpPr>
                <a:spLocks noChangeShapeType="1"/>
              </p:cNvSpPr>
              <p:nvPr/>
            </p:nvSpPr>
            <p:spPr bwMode="auto">
              <a:xfrm flipH="1">
                <a:off x="3368" y="1388"/>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7" name="Line 87"/>
              <p:cNvSpPr>
                <a:spLocks noChangeShapeType="1"/>
              </p:cNvSpPr>
              <p:nvPr/>
            </p:nvSpPr>
            <p:spPr bwMode="auto">
              <a:xfrm>
                <a:off x="5224" y="1388"/>
                <a:ext cx="40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8" name="Line 88"/>
              <p:cNvSpPr>
                <a:spLocks noChangeShapeType="1"/>
              </p:cNvSpPr>
              <p:nvPr/>
            </p:nvSpPr>
            <p:spPr bwMode="auto">
              <a:xfrm flipH="1">
                <a:off x="3368" y="1923"/>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9" name="Text Box 89"/>
              <p:cNvSpPr txBox="1">
                <a:spLocks noChangeArrowheads="1"/>
              </p:cNvSpPr>
              <p:nvPr/>
            </p:nvSpPr>
            <p:spPr bwMode="auto">
              <a:xfrm>
                <a:off x="3587" y="1165"/>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A</a:t>
                </a:r>
              </a:p>
            </p:txBody>
          </p:sp>
          <p:sp>
            <p:nvSpPr>
              <p:cNvPr id="90" name="Text Box 90"/>
              <p:cNvSpPr txBox="1">
                <a:spLocks noChangeArrowheads="1"/>
              </p:cNvSpPr>
              <p:nvPr/>
            </p:nvSpPr>
            <p:spPr bwMode="auto">
              <a:xfrm>
                <a:off x="4183" y="1507"/>
                <a:ext cx="3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nvGrpSpPr>
              <p:cNvPr id="91" name="Group 91"/>
              <p:cNvGrpSpPr>
                <a:grpSpLocks/>
              </p:cNvGrpSpPr>
              <p:nvPr/>
            </p:nvGrpSpPr>
            <p:grpSpPr bwMode="auto">
              <a:xfrm>
                <a:off x="4997" y="1802"/>
                <a:ext cx="238" cy="192"/>
                <a:chOff x="2928" y="1826"/>
                <a:chExt cx="252" cy="297"/>
              </a:xfrm>
            </p:grpSpPr>
            <p:sp>
              <p:nvSpPr>
                <p:cNvPr id="108" name="Oval 92"/>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9" name="Text Box 93"/>
                <p:cNvSpPr txBox="1">
                  <a:spLocks noChangeArrowheads="1"/>
                </p:cNvSpPr>
                <p:nvPr/>
              </p:nvSpPr>
              <p:spPr bwMode="auto">
                <a:xfrm>
                  <a:off x="2939" y="1826"/>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L</a:t>
                  </a:r>
                </a:p>
              </p:txBody>
            </p:sp>
          </p:grpSp>
          <p:sp>
            <p:nvSpPr>
              <p:cNvPr id="92" name="Line 94"/>
              <p:cNvSpPr>
                <a:spLocks noChangeShapeType="1"/>
              </p:cNvSpPr>
              <p:nvPr/>
            </p:nvSpPr>
            <p:spPr bwMode="auto">
              <a:xfrm>
                <a:off x="3866" y="1923"/>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3" name="Line 95"/>
              <p:cNvSpPr>
                <a:spLocks noChangeShapeType="1"/>
              </p:cNvSpPr>
              <p:nvPr/>
            </p:nvSpPr>
            <p:spPr bwMode="auto">
              <a:xfrm flipV="1">
                <a:off x="5224" y="1913"/>
                <a:ext cx="419" cy="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4" name="Oval 96"/>
              <p:cNvSpPr>
                <a:spLocks noChangeArrowheads="1"/>
              </p:cNvSpPr>
              <p:nvPr/>
            </p:nvSpPr>
            <p:spPr bwMode="auto">
              <a:xfrm>
                <a:off x="3692" y="1679"/>
                <a:ext cx="46"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5" name="Oval 97"/>
              <p:cNvSpPr>
                <a:spLocks noChangeArrowheads="1"/>
              </p:cNvSpPr>
              <p:nvPr/>
            </p:nvSpPr>
            <p:spPr bwMode="auto">
              <a:xfrm>
                <a:off x="3828" y="1679"/>
                <a:ext cx="45"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6" name="Line 98"/>
              <p:cNvSpPr>
                <a:spLocks noChangeShapeType="1"/>
              </p:cNvSpPr>
              <p:nvPr/>
            </p:nvSpPr>
            <p:spPr bwMode="auto">
              <a:xfrm>
                <a:off x="3692" y="1721"/>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7" name="Line 99"/>
              <p:cNvSpPr>
                <a:spLocks noChangeShapeType="1"/>
              </p:cNvSpPr>
              <p:nvPr/>
            </p:nvSpPr>
            <p:spPr bwMode="auto">
              <a:xfrm flipV="1">
                <a:off x="3783" y="1685"/>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8" name="Text Box 100"/>
              <p:cNvSpPr txBox="1">
                <a:spLocks noChangeArrowheads="1"/>
              </p:cNvSpPr>
              <p:nvPr/>
            </p:nvSpPr>
            <p:spPr bwMode="auto">
              <a:xfrm>
                <a:off x="3587" y="1525"/>
                <a:ext cx="5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B</a:t>
                </a:r>
              </a:p>
            </p:txBody>
          </p:sp>
          <p:sp>
            <p:nvSpPr>
              <p:cNvPr id="99" name="Line 101"/>
              <p:cNvSpPr>
                <a:spLocks noChangeShapeType="1"/>
              </p:cNvSpPr>
              <p:nvPr/>
            </p:nvSpPr>
            <p:spPr bwMode="auto">
              <a:xfrm flipH="1">
                <a:off x="3368"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0" name="Line 102"/>
              <p:cNvSpPr>
                <a:spLocks noChangeShapeType="1"/>
              </p:cNvSpPr>
              <p:nvPr/>
            </p:nvSpPr>
            <p:spPr bwMode="auto">
              <a:xfrm flipH="1">
                <a:off x="3866"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1" name="Oval 104"/>
              <p:cNvSpPr>
                <a:spLocks noChangeArrowheads="1"/>
              </p:cNvSpPr>
              <p:nvPr/>
            </p:nvSpPr>
            <p:spPr bwMode="auto">
              <a:xfrm>
                <a:off x="4183"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2" name="Oval 105"/>
              <p:cNvSpPr>
                <a:spLocks noChangeArrowheads="1"/>
              </p:cNvSpPr>
              <p:nvPr/>
            </p:nvSpPr>
            <p:spPr bwMode="auto">
              <a:xfrm>
                <a:off x="4319"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3" name="Line 106"/>
              <p:cNvSpPr>
                <a:spLocks noChangeShapeType="1"/>
              </p:cNvSpPr>
              <p:nvPr/>
            </p:nvSpPr>
            <p:spPr bwMode="auto">
              <a:xfrm>
                <a:off x="4183" y="1657"/>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4" name="Text Box 107"/>
              <p:cNvSpPr txBox="1">
                <a:spLocks noChangeArrowheads="1"/>
              </p:cNvSpPr>
              <p:nvPr/>
            </p:nvSpPr>
            <p:spPr bwMode="auto">
              <a:xfrm>
                <a:off x="3684" y="1738"/>
                <a:ext cx="3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sp>
            <p:nvSpPr>
              <p:cNvPr id="105" name="Line 108"/>
              <p:cNvSpPr>
                <a:spLocks noChangeShapeType="1"/>
              </p:cNvSpPr>
              <p:nvPr/>
            </p:nvSpPr>
            <p:spPr bwMode="auto">
              <a:xfrm>
                <a:off x="4364" y="1700"/>
                <a:ext cx="1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6" name="Line 109"/>
              <p:cNvSpPr>
                <a:spLocks noChangeShapeType="1"/>
              </p:cNvSpPr>
              <p:nvPr/>
            </p:nvSpPr>
            <p:spPr bwMode="auto">
              <a:xfrm flipV="1">
                <a:off x="4499" y="1389"/>
                <a:ext cx="0" cy="3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7" name="Line 110"/>
              <p:cNvSpPr>
                <a:spLocks noChangeShapeType="1"/>
              </p:cNvSpPr>
              <p:nvPr/>
            </p:nvSpPr>
            <p:spPr bwMode="auto">
              <a:xfrm>
                <a:off x="3866" y="1389"/>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grpSp>
      <p:sp>
        <p:nvSpPr>
          <p:cNvPr id="112" name="Rectangle 31"/>
          <p:cNvSpPr>
            <a:spLocks noChangeArrowheads="1"/>
          </p:cNvSpPr>
          <p:nvPr/>
        </p:nvSpPr>
        <p:spPr bwMode="auto">
          <a:xfrm>
            <a:off x="193886" y="7545288"/>
            <a:ext cx="3141663"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34.</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Đây </a:t>
            </a:r>
            <a:r>
              <a:rPr lang="en-US" altLang="ko-KR" sz="900">
                <a:latin typeface="Times New Roman" pitchFamily="18" charset="0"/>
                <a:ea typeface="돋움" pitchFamily="50" charset="-127"/>
                <a:cs typeface="Times New Roman" pitchFamily="18" charset="0"/>
              </a:rPr>
              <a:t>là giải thích về LED của CPU PLC. Giải thích nào </a:t>
            </a:r>
            <a:r>
              <a:rPr lang="en-US" altLang="ko-KR" sz="900" u="sng">
                <a:latin typeface="Times New Roman" pitchFamily="18" charset="0"/>
                <a:ea typeface="돋움" pitchFamily="50" charset="-127"/>
                <a:cs typeface="Times New Roman" pitchFamily="18" charset="0"/>
              </a:rPr>
              <a:t>sai</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RUN LED : Sáng đèn khi đang vận hành bằng RUN.</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USER LED : Nhấp nháy khi thực hiện Latch Clear. </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BAT. LED : Nhấp nháy khi điện áp Battery của thân máy CPU và Memory Card thấp đi làm phát sinh Error của Battery.</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MODE LED : Nếu sáng đèn màu da cam thì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Q</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Mode. </a:t>
            </a:r>
          </a:p>
          <a:p>
            <a:pPr eaLnBrk="1" hangingPunct="1">
              <a:lnSpc>
                <a:spcPct val="130000"/>
              </a:lnSpc>
              <a:spcBef>
                <a:spcPct val="0"/>
              </a:spcBef>
              <a:buFontTx/>
              <a:buNone/>
            </a:pPr>
            <a:endParaRPr lang="en-US" altLang="ko-KR" sz="900">
              <a:latin typeface="Times New Roman" pitchFamily="18" charset="0"/>
              <a:ea typeface="돋움" pitchFamily="50" charset="-127"/>
              <a:cs typeface="Times New Roman" pitchFamily="18" charset="0"/>
            </a:endParaRPr>
          </a:p>
        </p:txBody>
      </p:sp>
      <p:sp>
        <p:nvSpPr>
          <p:cNvPr id="113" name="Rectangle 112"/>
          <p:cNvSpPr/>
          <p:nvPr/>
        </p:nvSpPr>
        <p:spPr>
          <a:xfrm>
            <a:off x="3428622" y="920552"/>
            <a:ext cx="3198018" cy="677108"/>
          </a:xfrm>
          <a:prstGeom prst="rect">
            <a:avLst/>
          </a:prstGeom>
        </p:spPr>
        <p:txBody>
          <a:bodyPr wrap="square">
            <a:spAutoFit/>
          </a:bodyPr>
          <a:lstStyle/>
          <a:p>
            <a:pPr>
              <a:defRPr/>
            </a:pPr>
            <a:r>
              <a:rPr lang="en-US" altLang="ko-KR" sz="950" smtClean="0">
                <a:latin typeface="Times New Roman" pitchFamily="18" charset="0"/>
                <a:cs typeface="Times New Roman" pitchFamily="18" charset="0"/>
              </a:rPr>
              <a:t>35. Relay chuyên </a:t>
            </a:r>
            <a:r>
              <a:rPr lang="en-US" altLang="ko-KR" sz="950">
                <a:latin typeface="Times New Roman" pitchFamily="18" charset="0"/>
                <a:cs typeface="Times New Roman" pitchFamily="18" charset="0"/>
              </a:rPr>
              <a:t>sử dụng cho Data link là </a:t>
            </a:r>
            <a:r>
              <a:rPr lang="en-US" altLang="ko-KR" sz="950" smtClean="0">
                <a:latin typeface="Times New Roman" pitchFamily="18" charset="0"/>
                <a:cs typeface="Times New Roman" pitchFamily="18" charset="0"/>
              </a:rPr>
              <a:t>Bit </a:t>
            </a:r>
            <a:r>
              <a:rPr lang="en-US" altLang="ko-KR" sz="950">
                <a:latin typeface="Times New Roman" pitchFamily="18" charset="0"/>
                <a:cs typeface="Times New Roman" pitchFamily="18" charset="0"/>
              </a:rPr>
              <a:t>device nào dưới đây? </a:t>
            </a:r>
          </a:p>
          <a:p>
            <a:pPr>
              <a:defRPr/>
            </a:pPr>
            <a:endParaRPr lang="en-US" altLang="ko-KR" sz="950">
              <a:latin typeface="Times New Roman" pitchFamily="18" charset="0"/>
              <a:cs typeface="Times New Roman" pitchFamily="18" charset="0"/>
            </a:endParaRPr>
          </a:p>
          <a:p>
            <a:pPr>
              <a:defRPr/>
            </a:pPr>
            <a:r>
              <a:rPr lang="en-US" altLang="ko-KR" sz="950" smtClean="0">
                <a:latin typeface="Times New Roman" pitchFamily="18" charset="0"/>
                <a:cs typeface="Times New Roman" pitchFamily="18" charset="0"/>
              </a:rPr>
              <a:t>A. </a:t>
            </a:r>
            <a:r>
              <a:rPr lang="en-US" altLang="ko-KR" sz="950" b="1"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B.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Z                     C. </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R                  </a:t>
            </a:r>
            <a:r>
              <a:rPr lang="en-US" altLang="ko-KR" sz="950" smtClean="0">
                <a:latin typeface="Times New Roman" pitchFamily="18" charset="0"/>
                <a:cs typeface="Times New Roman" pitchFamily="18" charset="0"/>
              </a:rPr>
              <a:t> D.</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W</a:t>
            </a:r>
            <a:r>
              <a:rPr lang="ko-KR" altLang="en-US" sz="950">
                <a:latin typeface="Times New Roman" pitchFamily="18" charset="0"/>
                <a:cs typeface="Times New Roman" pitchFamily="18" charset="0"/>
              </a:rPr>
              <a:t> </a:t>
            </a:r>
          </a:p>
        </p:txBody>
      </p:sp>
      <p:sp>
        <p:nvSpPr>
          <p:cNvPr id="114" name="Rectangle 8"/>
          <p:cNvSpPr>
            <a:spLocks noChangeArrowheads="1"/>
          </p:cNvSpPr>
          <p:nvPr/>
        </p:nvSpPr>
        <p:spPr bwMode="auto">
          <a:xfrm>
            <a:off x="3459181" y="2936776"/>
            <a:ext cx="31416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anose="02020603050405020304" pitchFamily="18" charset="0"/>
                <a:ea typeface="돋움" pitchFamily="50" charset="-127"/>
                <a:cs typeface="Times New Roman" pitchFamily="18" charset="0"/>
              </a:rPr>
              <a:t>37.  </a:t>
            </a:r>
            <a:r>
              <a:rPr lang="en-US" altLang="ko-KR" sz="900">
                <a:latin typeface="Times New Roman" pitchFamily="18" charset="0"/>
                <a:ea typeface="돋움" pitchFamily="50" charset="-127"/>
                <a:cs typeface="Times New Roman" pitchFamily="18" charset="0"/>
              </a:rPr>
              <a:t>Address cuối cùng của Slot </a:t>
            </a:r>
            <a:r>
              <a:rPr lang="en-US" altLang="ko-KR" sz="900" smtClean="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 ảnh cấu tạo PLC dưới đây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CF         </a:t>
            </a: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DF         </a:t>
            </a: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EF         </a:t>
            </a: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FF</a:t>
            </a:r>
          </a:p>
        </p:txBody>
      </p:sp>
      <p:grpSp>
        <p:nvGrpSpPr>
          <p:cNvPr id="115" name="Group 114"/>
          <p:cNvGrpSpPr/>
          <p:nvPr/>
        </p:nvGrpSpPr>
        <p:grpSpPr>
          <a:xfrm>
            <a:off x="3589264" y="3312832"/>
            <a:ext cx="2936080" cy="631825"/>
            <a:chOff x="373063" y="2144713"/>
            <a:chExt cx="2936080" cy="631825"/>
          </a:xfrm>
        </p:grpSpPr>
        <p:sp>
          <p:nvSpPr>
            <p:cNvPr id="116" name="Rectangle 9"/>
            <p:cNvSpPr>
              <a:spLocks noChangeArrowheads="1"/>
            </p:cNvSpPr>
            <p:nvPr/>
          </p:nvSpPr>
          <p:spPr bwMode="auto">
            <a:xfrm>
              <a:off x="496888" y="2200275"/>
              <a:ext cx="2665412" cy="576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endParaRPr lang="ko-KR" altLang="ko-KR" sz="800">
                <a:latin typeface="Times New Roman" panose="02020603050405020304" pitchFamily="18" charset="0"/>
                <a:ea typeface="돋움" pitchFamily="50" charset="-127"/>
                <a:cs typeface="Times New Roman" pitchFamily="18" charset="0"/>
              </a:endParaRPr>
            </a:p>
          </p:txBody>
        </p:sp>
        <p:sp>
          <p:nvSpPr>
            <p:cNvPr id="117" name="Line 10"/>
            <p:cNvSpPr>
              <a:spLocks noChangeShapeType="1"/>
            </p:cNvSpPr>
            <p:nvPr/>
          </p:nvSpPr>
          <p:spPr bwMode="auto">
            <a:xfrm>
              <a:off x="75565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8" name="Line 11"/>
            <p:cNvSpPr>
              <a:spLocks noChangeShapeType="1"/>
            </p:cNvSpPr>
            <p:nvPr/>
          </p:nvSpPr>
          <p:spPr bwMode="auto">
            <a:xfrm>
              <a:off x="100330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9" name="Line 12"/>
            <p:cNvSpPr>
              <a:spLocks noChangeShapeType="1"/>
            </p:cNvSpPr>
            <p:nvPr/>
          </p:nvSpPr>
          <p:spPr bwMode="auto">
            <a:xfrm>
              <a:off x="13128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0" name="Line 13"/>
            <p:cNvSpPr>
              <a:spLocks noChangeShapeType="1"/>
            </p:cNvSpPr>
            <p:nvPr/>
          </p:nvSpPr>
          <p:spPr bwMode="auto">
            <a:xfrm>
              <a:off x="1622425"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1" name="Line 14"/>
            <p:cNvSpPr>
              <a:spLocks noChangeShapeType="1"/>
            </p:cNvSpPr>
            <p:nvPr/>
          </p:nvSpPr>
          <p:spPr bwMode="auto">
            <a:xfrm>
              <a:off x="193198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2" name="Text Box 15"/>
            <p:cNvSpPr txBox="1">
              <a:spLocks noChangeArrowheads="1"/>
            </p:cNvSpPr>
            <p:nvPr/>
          </p:nvSpPr>
          <p:spPr bwMode="auto">
            <a:xfrm>
              <a:off x="373063" y="2144713"/>
              <a:ext cx="463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UNIT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điện</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nguồn</a:t>
              </a:r>
            </a:p>
          </p:txBody>
        </p:sp>
        <p:sp>
          <p:nvSpPr>
            <p:cNvPr id="123" name="Text Box 16"/>
            <p:cNvSpPr txBox="1">
              <a:spLocks noChangeArrowheads="1"/>
            </p:cNvSpPr>
            <p:nvPr/>
          </p:nvSpPr>
          <p:spPr bwMode="auto">
            <a:xfrm>
              <a:off x="687388" y="2201863"/>
              <a:ext cx="500062"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CPU</a:t>
              </a:r>
            </a:p>
          </p:txBody>
        </p:sp>
        <p:sp>
          <p:nvSpPr>
            <p:cNvPr id="124" name="Text Box 17"/>
            <p:cNvSpPr txBox="1">
              <a:spLocks noChangeArrowheads="1"/>
            </p:cNvSpPr>
            <p:nvPr/>
          </p:nvSpPr>
          <p:spPr bwMode="auto">
            <a:xfrm>
              <a:off x="936625" y="2197100"/>
              <a:ext cx="5540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5" name="Text Box 18"/>
            <p:cNvSpPr txBox="1">
              <a:spLocks noChangeArrowheads="1"/>
            </p:cNvSpPr>
            <p:nvPr/>
          </p:nvSpPr>
          <p:spPr bwMode="auto">
            <a:xfrm>
              <a:off x="1555750" y="2198688"/>
              <a:ext cx="4826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6" name="Text Box 19"/>
            <p:cNvSpPr txBox="1">
              <a:spLocks noChangeArrowheads="1"/>
            </p:cNvSpPr>
            <p:nvPr/>
          </p:nvSpPr>
          <p:spPr bwMode="auto">
            <a:xfrm>
              <a:off x="1246188" y="2198688"/>
              <a:ext cx="4540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QY42</a:t>
              </a:r>
            </a:p>
          </p:txBody>
        </p:sp>
        <p:sp>
          <p:nvSpPr>
            <p:cNvPr id="127" name="Text Box 20"/>
            <p:cNvSpPr txBox="1">
              <a:spLocks noChangeArrowheads="1"/>
            </p:cNvSpPr>
            <p:nvPr/>
          </p:nvSpPr>
          <p:spPr bwMode="auto">
            <a:xfrm>
              <a:off x="2804318" y="2216945"/>
              <a:ext cx="5048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QY40</a:t>
              </a:r>
            </a:p>
          </p:txBody>
        </p:sp>
        <p:sp>
          <p:nvSpPr>
            <p:cNvPr id="128" name="Line 21"/>
            <p:cNvSpPr>
              <a:spLocks noChangeShapeType="1"/>
            </p:cNvSpPr>
            <p:nvPr/>
          </p:nvSpPr>
          <p:spPr bwMode="auto">
            <a:xfrm>
              <a:off x="224313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9" name="Text Box 22"/>
            <p:cNvSpPr txBox="1">
              <a:spLocks noChangeArrowheads="1"/>
            </p:cNvSpPr>
            <p:nvPr/>
          </p:nvSpPr>
          <p:spPr bwMode="auto">
            <a:xfrm>
              <a:off x="1797050" y="2216945"/>
              <a:ext cx="5810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Slot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trống</a:t>
              </a:r>
            </a:p>
          </p:txBody>
        </p:sp>
        <p:sp>
          <p:nvSpPr>
            <p:cNvPr id="130" name="Line 23"/>
            <p:cNvSpPr>
              <a:spLocks noChangeShapeType="1"/>
            </p:cNvSpPr>
            <p:nvPr/>
          </p:nvSpPr>
          <p:spPr bwMode="auto">
            <a:xfrm>
              <a:off x="255111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1" name="Text Box 24"/>
            <p:cNvSpPr txBox="1">
              <a:spLocks noChangeArrowheads="1"/>
            </p:cNvSpPr>
            <p:nvPr/>
          </p:nvSpPr>
          <p:spPr bwMode="auto">
            <a:xfrm>
              <a:off x="2192338" y="2200275"/>
              <a:ext cx="4476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Q64</a:t>
              </a:r>
            </a:p>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AD</a:t>
              </a:r>
            </a:p>
          </p:txBody>
        </p:sp>
        <p:sp>
          <p:nvSpPr>
            <p:cNvPr id="132" name="Text Box 25"/>
            <p:cNvSpPr txBox="1">
              <a:spLocks noChangeArrowheads="1"/>
            </p:cNvSpPr>
            <p:nvPr/>
          </p:nvSpPr>
          <p:spPr bwMode="auto">
            <a:xfrm>
              <a:off x="2478088" y="2200275"/>
              <a:ext cx="4984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QX42</a:t>
              </a:r>
            </a:p>
          </p:txBody>
        </p:sp>
        <p:sp>
          <p:nvSpPr>
            <p:cNvPr id="133" name="Line 26"/>
            <p:cNvSpPr>
              <a:spLocks noChangeShapeType="1"/>
            </p:cNvSpPr>
            <p:nvPr/>
          </p:nvSpPr>
          <p:spPr bwMode="auto">
            <a:xfrm>
              <a:off x="28622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4" name="Rectangle 38"/>
            <p:cNvSpPr>
              <a:spLocks noChangeArrowheads="1"/>
            </p:cNvSpPr>
            <p:nvPr/>
          </p:nvSpPr>
          <p:spPr bwMode="auto">
            <a:xfrm>
              <a:off x="2551113" y="2489200"/>
              <a:ext cx="4651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 ? )</a:t>
              </a:r>
            </a:p>
          </p:txBody>
        </p:sp>
      </p:grpSp>
      <p:sp>
        <p:nvSpPr>
          <p:cNvPr id="138" name="Rectangle 137"/>
          <p:cNvSpPr/>
          <p:nvPr/>
        </p:nvSpPr>
        <p:spPr>
          <a:xfrm>
            <a:off x="186888" y="913656"/>
            <a:ext cx="3358744" cy="1919756"/>
          </a:xfrm>
          <a:prstGeom prst="rect">
            <a:avLst/>
          </a:prstGeom>
        </p:spPr>
        <p:txBody>
          <a:bodyPr wrap="square">
            <a:spAutoFit/>
          </a:bodyPr>
          <a:lstStyle/>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31. </a:t>
            </a:r>
            <a:r>
              <a:rPr lang="vi-VN" altLang="ko-KR" sz="950">
                <a:latin typeface="Arial" pitchFamily="34" charset="0"/>
                <a:ea typeface="LG Smart_H Regular" panose="020B0600000101010101" pitchFamily="34" charset="-127"/>
                <a:cs typeface="Arial" pitchFamily="34" charset="0"/>
              </a:rPr>
              <a:t>Điều gì đúng khi giải thích về </a:t>
            </a:r>
            <a:r>
              <a:rPr lang="en-US" altLang="ko-KR" sz="950">
                <a:latin typeface="Arial" pitchFamily="34" charset="0"/>
                <a:ea typeface="LG Smart_H Regular" panose="020B0600000101010101" pitchFamily="34" charset="-127"/>
                <a:cs typeface="Arial" pitchFamily="34" charset="0"/>
              </a:rPr>
              <a:t>DEVICE "Y</a:t>
            </a:r>
            <a:r>
              <a:rPr lang="vi-VN" altLang="ko-KR" sz="950">
                <a:latin typeface="Arial" pitchFamily="34" charset="0"/>
                <a:ea typeface="LG Smart_H Regular" panose="020B0600000101010101" pitchFamily="34" charset="-127"/>
                <a:cs typeface="Arial" pitchFamily="34" charset="0"/>
              </a:rPr>
              <a:t>’’ đầu ra</a:t>
            </a:r>
            <a:r>
              <a:rPr lang="en-US" altLang="ko-KR" sz="950">
                <a:latin typeface="Arial" pitchFamily="34" charset="0"/>
                <a:ea typeface="LG Smart_H Regular" panose="020B0600000101010101" pitchFamily="34" charset="-127"/>
                <a:cs typeface="Arial" pitchFamily="34" charset="0"/>
              </a:rPr>
              <a:t>?   </a:t>
            </a:r>
            <a:endParaRPr lang="en-US" altLang="ko-KR" sz="950" smtClean="0">
              <a:latin typeface="Arial" pitchFamily="34" charset="0"/>
              <a:ea typeface="LG Smart_H Regular" panose="020B0600000101010101" pitchFamily="34" charset="-127"/>
              <a:cs typeface="Arial" pitchFamily="34" charset="0"/>
            </a:endParaRPr>
          </a:p>
          <a:p>
            <a:pPr lvl="0" fontAlgn="base">
              <a:spcBef>
                <a:spcPct val="0"/>
              </a:spcBef>
              <a:spcAft>
                <a:spcPct val="0"/>
              </a:spcAft>
            </a:pPr>
            <a:endParaRPr lang="en-US" altLang="ko-KR" sz="950">
              <a:latin typeface="Arial" pitchFamily="34" charset="0"/>
              <a:ea typeface="LG Smart_H Regular" panose="020B0600000101010101" pitchFamily="34" charset="-127"/>
              <a:cs typeface="Arial" pitchFamily="34" charset="0"/>
            </a:endParaRPr>
          </a:p>
          <a:p>
            <a:pPr fontAlgn="base">
              <a:spcBef>
                <a:spcPct val="0"/>
              </a:spcBef>
              <a:spcAft>
                <a:spcPct val="0"/>
              </a:spcAft>
              <a:buFontTx/>
              <a:buAutoNum type="alphaUcPeriod"/>
            </a:pPr>
            <a:r>
              <a:rPr lang="vi-VN" altLang="ko-KR" sz="950">
                <a:latin typeface="Arial" pitchFamily="34" charset="0"/>
                <a:ea typeface="LG Smart_H Regular" panose="020B0600000101010101" pitchFamily="34" charset="-127"/>
                <a:cs typeface="Arial" pitchFamily="34" charset="0"/>
              </a:rPr>
              <a:t>Khi sử dụng Relay M bên trong Y có khả năng duy trì tĩnh điện</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B.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Kết quả được tạo ra trong quá trình hoạt động của </a:t>
            </a:r>
            <a:endParaRPr lang="en-US" altLang="ko-KR"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latin typeface="Arial" pitchFamily="34" charset="0"/>
                <a:ea typeface="LG Smart_H Regular" panose="020B0600000101010101" pitchFamily="34" charset="-127"/>
                <a:cs typeface="Arial" pitchFamily="34" charset="0"/>
              </a:rPr>
              <a:t>c</a:t>
            </a:r>
            <a:r>
              <a:rPr lang="vi-VN" altLang="ko-KR" sz="950">
                <a:latin typeface="Arial" pitchFamily="34" charset="0"/>
                <a:ea typeface="LG Smart_H Regular" panose="020B0600000101010101" pitchFamily="34" charset="-127"/>
                <a:cs typeface="Arial" pitchFamily="34" charset="0"/>
              </a:rPr>
              <a:t>hương trình chính được lưu trong vùng đầu ra.</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latin typeface="Arial" pitchFamily="34" charset="0"/>
                <a:ea typeface="LG Smart_H Regular" panose="020B0600000101010101" pitchFamily="34" charset="-127"/>
                <a:cs typeface="Arial" pitchFamily="34" charset="0"/>
              </a:rPr>
              <a:t>C</a:t>
            </a:r>
            <a:r>
              <a:rPr lang="en-US" altLang="ko-KR" sz="950" smtClean="0">
                <a:latin typeface="Arial" pitchFamily="34" charset="0"/>
                <a:ea typeface="LG Smart_H Regular" panose="020B0600000101010101" pitchFamily="34" charset="-127"/>
                <a:cs typeface="Arial" pitchFamily="34" charset="0"/>
              </a:rPr>
              <a:t>.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Y không thể được sử dụng làm tiếp điểm  trong </a:t>
            </a:r>
            <a:endParaRPr lang="en-US" altLang="ko-KR"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vi-VN" altLang="ko-KR" sz="950">
                <a:latin typeface="Arial" pitchFamily="34" charset="0"/>
                <a:ea typeface="LG Smart_H Regular" panose="020B0600000101010101" pitchFamily="34" charset="-127"/>
                <a:cs typeface="Arial" pitchFamily="34" charset="0"/>
              </a:rPr>
              <a:t>chương trình.</a:t>
            </a:r>
            <a:endParaRPr lang="ko-KR" altLang="en-US"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D. </a:t>
            </a:r>
            <a:r>
              <a:rPr lang="ko-KR" altLang="en-US" sz="950" smtClean="0">
                <a:latin typeface="Arial" pitchFamily="34" charset="0"/>
                <a:ea typeface="LG Smart_H Regular" panose="020B0600000101010101" pitchFamily="34" charset="-127"/>
                <a:cs typeface="Arial" pitchFamily="34" charset="0"/>
              </a:rPr>
              <a:t> </a:t>
            </a:r>
            <a:r>
              <a:rPr lang="vi-VN" altLang="ko-KR" sz="950">
                <a:latin typeface="Arial" pitchFamily="34" charset="0"/>
                <a:ea typeface="LG Smart_H Regular" panose="020B0600000101010101" pitchFamily="34" charset="-127"/>
                <a:cs typeface="Arial" pitchFamily="34" charset="0"/>
              </a:rPr>
              <a:t>Là </a:t>
            </a:r>
            <a:r>
              <a:rPr lang="en-US" altLang="ko-KR" sz="950">
                <a:latin typeface="Arial" pitchFamily="34" charset="0"/>
                <a:ea typeface="LG Smart_H Regular" panose="020B0600000101010101" pitchFamily="34" charset="-127"/>
                <a:cs typeface="Arial" pitchFamily="34" charset="0"/>
              </a:rPr>
              <a:t>DEVICE</a:t>
            </a:r>
            <a:r>
              <a:rPr lang="vi-VN" altLang="ko-KR" sz="950">
                <a:latin typeface="Arial" pitchFamily="34" charset="0"/>
                <a:ea typeface="LG Smart_H Regular" panose="020B0600000101010101" pitchFamily="34" charset="-127"/>
                <a:cs typeface="Arial" pitchFamily="34" charset="0"/>
              </a:rPr>
              <a:t> lưu trữ / xuất dữ liệu đưa kết quả hoạt </a:t>
            </a:r>
            <a:endParaRPr lang="en-US" altLang="ko-KR"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latin typeface="Arial" pitchFamily="34" charset="0"/>
                <a:ea typeface="LG Smart_H Regular" panose="020B0600000101010101" pitchFamily="34" charset="-127"/>
                <a:cs typeface="Arial" pitchFamily="34" charset="0"/>
              </a:rPr>
              <a:t>động đến thiết bị đầu ra được kết nối với bộ đầu ra </a:t>
            </a:r>
            <a:endParaRPr lang="en-US" altLang="ko-KR" sz="950">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latin typeface="Arial" pitchFamily="34" charset="0"/>
                <a:ea typeface="LG Smart_H Regular" panose="020B0600000101010101" pitchFamily="34" charset="-127"/>
                <a:cs typeface="Arial" pitchFamily="34" charset="0"/>
              </a:rPr>
              <a:t>PLC</a:t>
            </a:r>
            <a:endParaRPr lang="ko-KR" altLang="en-US" sz="950">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endParaRPr lang="ko-KR" altLang="en-US" sz="950">
              <a:latin typeface="Arial" pitchFamily="34" charset="0"/>
              <a:ea typeface="LG Smart_H Regular" panose="020B0600000101010101" pitchFamily="34" charset="-127"/>
              <a:cs typeface="Arial" pitchFamily="34" charset="0"/>
            </a:endParaRPr>
          </a:p>
        </p:txBody>
      </p:sp>
      <p:sp>
        <p:nvSpPr>
          <p:cNvPr id="139" name="Rectangle 138"/>
          <p:cNvSpPr/>
          <p:nvPr/>
        </p:nvSpPr>
        <p:spPr>
          <a:xfrm>
            <a:off x="3414264" y="1873534"/>
            <a:ext cx="3255096" cy="969496"/>
          </a:xfrm>
          <a:prstGeom prst="rect">
            <a:avLst/>
          </a:prstGeom>
        </p:spPr>
        <p:txBody>
          <a:bodyPr wrap="square">
            <a:spAutoFit/>
          </a:bodyPr>
          <a:lstStyle/>
          <a:p>
            <a:pPr lvl="0" fontAlgn="base">
              <a:spcBef>
                <a:spcPct val="0"/>
              </a:spcBef>
              <a:spcAft>
                <a:spcPct val="0"/>
              </a:spcAft>
            </a:pPr>
            <a:r>
              <a:rPr lang="en-US" altLang="ko-KR" sz="950" smtClean="0">
                <a:latin typeface="Arial" pitchFamily="34" charset="0"/>
                <a:ea typeface="LG Smart_H Regular" panose="020B0600000101010101" pitchFamily="34" charset="-127"/>
                <a:cs typeface="Arial" pitchFamily="34" charset="0"/>
              </a:rPr>
              <a:t>36  </a:t>
            </a:r>
            <a:r>
              <a:rPr lang="vi-VN" altLang="ko-KR" sz="950">
                <a:latin typeface="Arial" pitchFamily="34" charset="0"/>
                <a:ea typeface="LG Smart_H Regular" panose="020B0600000101010101" pitchFamily="34" charset="-127"/>
                <a:cs typeface="Arial" pitchFamily="34" charset="0"/>
              </a:rPr>
              <a:t>Khi lập trình PLC Ladder thì điều gì là viết để mô tả về nội dung đặc biệt của Ladder? </a:t>
            </a:r>
            <a:endParaRPr lang="en-US" altLang="ko-KR" sz="950">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smtClean="0">
                <a:latin typeface="Arial" pitchFamily="34" charset="0"/>
                <a:ea typeface="LG Smart_H Regular" panose="020B0600000101010101" pitchFamily="34" charset="-127"/>
                <a:cs typeface="Arial" pitchFamily="34" charset="0"/>
              </a:rPr>
              <a:t>Biên </a:t>
            </a:r>
            <a:r>
              <a:rPr lang="vi-VN" altLang="ko-KR" sz="950">
                <a:latin typeface="Arial" pitchFamily="34" charset="0"/>
                <a:ea typeface="LG Smart_H Regular" panose="020B0600000101010101" pitchFamily="34" charset="-127"/>
                <a:cs typeface="Arial" pitchFamily="34" charset="0"/>
              </a:rPr>
              <a:t>tập comment</a:t>
            </a:r>
            <a:endParaRPr lang="en-US" altLang="ko-KR" sz="950">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a:latin typeface="Arial" pitchFamily="34" charset="0"/>
                <a:ea typeface="LG Smart_H Regular" panose="020B0600000101010101" pitchFamily="34" charset="-127"/>
                <a:cs typeface="Arial" pitchFamily="34" charset="0"/>
              </a:rPr>
              <a:t>Biên tập note</a:t>
            </a:r>
          </a:p>
          <a:p>
            <a:pPr marL="228600" lvl="0" indent="-228600" fontAlgn="base">
              <a:spcBef>
                <a:spcPct val="0"/>
              </a:spcBef>
              <a:spcAft>
                <a:spcPct val="0"/>
              </a:spcAft>
              <a:buFont typeface="+mj-lt"/>
              <a:buAutoNum type="alphaUcPeriod"/>
            </a:pPr>
            <a:r>
              <a:rPr lang="vi-VN" altLang="ko-KR" sz="950" smtClean="0">
                <a:latin typeface="Arial" pitchFamily="34" charset="0"/>
                <a:ea typeface="LG Smart_H Regular" panose="020B0600000101010101" pitchFamily="34" charset="-127"/>
                <a:cs typeface="Arial" pitchFamily="34" charset="0"/>
              </a:rPr>
              <a:t>Parameter</a:t>
            </a:r>
            <a:endParaRPr lang="en-US" altLang="ko-KR" sz="950" smtClean="0">
              <a:latin typeface="Arial" pitchFamily="34" charset="0"/>
              <a:ea typeface="LG Smart_H Regular" panose="020B0600000101010101" pitchFamily="34" charset="-127"/>
              <a:cs typeface="Arial" pitchFamily="34" charset="0"/>
            </a:endParaRPr>
          </a:p>
          <a:p>
            <a:pPr marL="228600" indent="-228600" fontAlgn="base">
              <a:spcBef>
                <a:spcPct val="0"/>
              </a:spcBef>
              <a:spcAft>
                <a:spcPct val="0"/>
              </a:spcAft>
              <a:buFont typeface="+mj-lt"/>
              <a:buAutoNum type="alphaUcPeriod"/>
            </a:pPr>
            <a:r>
              <a:rPr lang="vi-VN" altLang="ko-KR" sz="950">
                <a:latin typeface="Arial" pitchFamily="34" charset="0"/>
                <a:ea typeface="LG Smart_H Regular" panose="020B0600000101010101" pitchFamily="34" charset="-127"/>
                <a:cs typeface="Arial" pitchFamily="34" charset="0"/>
              </a:rPr>
              <a:t>Biên tập </a:t>
            </a:r>
            <a:r>
              <a:rPr lang="vi-VN" altLang="ko-KR" sz="950" smtClean="0">
                <a:latin typeface="Arial" pitchFamily="34" charset="0"/>
                <a:ea typeface="LG Smart_H Regular" panose="020B0600000101010101" pitchFamily="34" charset="-127"/>
                <a:cs typeface="Arial" pitchFamily="34" charset="0"/>
              </a:rPr>
              <a:t>statement</a:t>
            </a:r>
            <a:endParaRPr lang="en-US" altLang="ko-KR" sz="950">
              <a:latin typeface="Arial" pitchFamily="34" charset="0"/>
              <a:ea typeface="LG Smart_H Regular" panose="020B0600000101010101" pitchFamily="34" charset="-127"/>
              <a:cs typeface="Arial" pitchFamily="34" charset="0"/>
            </a:endParaRPr>
          </a:p>
        </p:txBody>
      </p:sp>
    </p:spTree>
    <p:extLst>
      <p:ext uri="{BB962C8B-B14F-4D97-AF65-F5344CB8AC3E}">
        <p14:creationId xmlns:p14="http://schemas.microsoft.com/office/powerpoint/2010/main" val="42034150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dirty="0">
                <a:solidFill>
                  <a:schemeClr val="tx1"/>
                </a:solidFill>
                <a:latin typeface="Times New Roman" pitchFamily="18" charset="0"/>
                <a:cs typeface="Times New Roman" pitchFamily="18" charset="0"/>
              </a:rPr>
              <a:t>Khí nén</a:t>
            </a:r>
            <a:r>
              <a:rPr lang="en-US" altLang="ko-KR" dirty="0">
                <a:solidFill>
                  <a:schemeClr val="tx1"/>
                </a:solidFill>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8" name="Rectangle 7"/>
          <p:cNvSpPr>
            <a:spLocks noChangeArrowheads="1"/>
          </p:cNvSpPr>
          <p:nvPr/>
        </p:nvSpPr>
        <p:spPr bwMode="auto">
          <a:xfrm>
            <a:off x="232792" y="476905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Không khí khí quyển là một dạng vật chất; do có khối lượng nên chịu ảnh hưởng của lực hút trái đất,áp suất khí quyển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Relay có những tính năng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chia,</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khếch </a:t>
            </a:r>
            <a:r>
              <a:rPr lang="vi-VN" altLang="ko-KR" sz="950" smtClean="0">
                <a:latin typeface="Times New Roman" pitchFamily="18" charset="0"/>
                <a:ea typeface="LG Smart_H Regular" panose="020B0600000101010101" pitchFamily="34" charset="-127"/>
                <a:cs typeface="Times New Roman" pitchFamily="18" charset="0"/>
              </a:rPr>
              <a:t>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a:t>
            </a:r>
            <a:r>
              <a:rPr lang="vi-VN" altLang="ko-KR" sz="950">
                <a:latin typeface="Times New Roman" pitchFamily="18" charset="0"/>
                <a:ea typeface="LG Smart_H Regular" panose="020B0600000101010101" pitchFamily="34" charset="-127"/>
                <a:cs typeface="Times New Roman" pitchFamily="18" charset="0"/>
              </a:rPr>
              <a:t>nhớ.</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1064568"/>
            <a:ext cx="3239810" cy="1554272"/>
            <a:chOff x="206479" y="1064568"/>
            <a:chExt cx="3239810" cy="1554272"/>
          </a:xfrm>
        </p:grpSpPr>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Điền </a:t>
              </a:r>
              <a:r>
                <a:rPr lang="en-US" altLang="ko-KR" sz="950">
                  <a:latin typeface="Times New Roman" pitchFamily="18" charset="0"/>
                  <a:ea typeface="LG Smart_H Regular" panose="020B0600000101010101" pitchFamily="34" charset="-127"/>
                  <a:cs typeface="Times New Roman" pitchFamily="18" charset="0"/>
                </a:rPr>
                <a:t>vào chỗ </a:t>
              </a:r>
              <a:r>
                <a:rPr lang="en-US" altLang="ko-KR" sz="950" smtClean="0">
                  <a:latin typeface="Times New Roman" pitchFamily="18" charset="0"/>
                  <a:ea typeface="LG Smart_H Regular" panose="020B0600000101010101" pitchFamily="34" charset="-127"/>
                  <a:cs typeface="Times New Roman" pitchFamily="18" charset="0"/>
                </a:rPr>
                <a:t> ?????  Trong </a:t>
              </a:r>
              <a:r>
                <a:rPr lang="en-US" altLang="ko-KR" sz="950">
                  <a:latin typeface="Times New Roman" pitchFamily="18" charset="0"/>
                  <a:ea typeface="LG Smart_H Regular" panose="020B0600000101010101" pitchFamily="34" charset="-127"/>
                  <a:cs typeface="Times New Roman" pitchFamily="18" charset="0"/>
                </a:rPr>
                <a:t>hình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Regulator </a:t>
              </a:r>
              <a:r>
                <a:rPr lang="vi-VN" altLang="ko-KR" sz="950" smtClean="0">
                  <a:latin typeface="Times New Roman" pitchFamily="18" charset="0"/>
                  <a:ea typeface="LG Smart_H Regular" panose="020B0600000101010101" pitchFamily="34" charset="-127"/>
                  <a:cs typeface="Times New Roman" pitchFamily="18" charset="0"/>
                </a:rPr>
                <a:t>pressure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Filter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Lubricator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Service unit</a:t>
              </a:r>
            </a:p>
          </p:txBody>
        </p:sp>
        <p:pic>
          <p:nvPicPr>
            <p:cNvPr id="31" name="Picture 30"/>
            <p:cNvPicPr>
              <a:picLocks noChangeAspect="1"/>
            </p:cNvPicPr>
            <p:nvPr/>
          </p:nvPicPr>
          <p:blipFill>
            <a:blip r:embed="rId3"/>
            <a:stretch>
              <a:fillRect/>
            </a:stretch>
          </p:blipFill>
          <p:spPr>
            <a:xfrm>
              <a:off x="1052736" y="1281577"/>
              <a:ext cx="1879093" cy="725942"/>
            </a:xfrm>
            <a:prstGeom prst="rect">
              <a:avLst/>
            </a:prstGeom>
          </p:spPr>
        </p:pic>
      </p:grpSp>
      <p:grpSp>
        <p:nvGrpSpPr>
          <p:cNvPr id="6" name="Group 5"/>
          <p:cNvGrpSpPr/>
          <p:nvPr/>
        </p:nvGrpSpPr>
        <p:grpSpPr>
          <a:xfrm>
            <a:off x="259544" y="6215752"/>
            <a:ext cx="3180502" cy="969496"/>
            <a:chOff x="259544" y="6211396"/>
            <a:chExt cx="3180502" cy="969496"/>
          </a:xfrm>
        </p:grpSpPr>
        <p:sp>
          <p:nvSpPr>
            <p:cNvPr id="30" name="Rectangle 7"/>
            <p:cNvSpPr>
              <a:spLocks noChangeArrowheads="1"/>
            </p:cNvSpPr>
            <p:nvPr/>
          </p:nvSpPr>
          <p:spPr bwMode="auto">
            <a:xfrm>
              <a:off x="259544" y="621139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trong+ngoài.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453" y="6537176"/>
              <a:ext cx="1077523" cy="53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2" name="Rectangle 7"/>
          <p:cNvSpPr>
            <a:spLocks noChangeArrowheads="1"/>
          </p:cNvSpPr>
          <p:nvPr/>
        </p:nvSpPr>
        <p:spPr bwMode="auto">
          <a:xfrm>
            <a:off x="243036" y="786464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Filter là thiết bị xử lý các tín hiệu nhiễu loạn có trong thành phần khí nén trong đó có bụi.Bộ lọc chính xác có thể loại bỏ hạt bụi có đường kính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Trên </a:t>
            </a:r>
            <a:r>
              <a:rPr lang="vi-VN" altLang="ko-KR" sz="950" smtClean="0">
                <a:latin typeface="Times New Roman" pitchFamily="18" charset="0"/>
                <a:ea typeface="LG Smart_H Regular" panose="020B0600000101010101" pitchFamily="34" charset="-127"/>
                <a:cs typeface="Times New Roman" pitchFamily="18" charset="0"/>
              </a:rPr>
              <a:t>50um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30um~45um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5um~20um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a:t>
            </a:r>
            <a:r>
              <a:rPr lang="vi-VN" altLang="ko-KR" sz="950" smtClean="0">
                <a:latin typeface="Times New Roman" pitchFamily="18" charset="0"/>
                <a:ea typeface="LG Smart_H Regular" panose="020B0600000101010101" pitchFamily="34" charset="-127"/>
                <a:cs typeface="Times New Roman" pitchFamily="18" charset="0"/>
              </a:rPr>
              <a:t>ưới </a:t>
            </a:r>
            <a:r>
              <a:rPr lang="vi-VN" altLang="ko-KR" sz="950">
                <a:latin typeface="Times New Roman" pitchFamily="18" charset="0"/>
                <a:ea typeface="LG Smart_H Regular" panose="020B0600000101010101" pitchFamily="34" charset="-127"/>
                <a:cs typeface="Times New Roman" pitchFamily="18" charset="0"/>
              </a:rPr>
              <a:t>5um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9" name="Group 8"/>
          <p:cNvGrpSpPr/>
          <p:nvPr/>
        </p:nvGrpSpPr>
        <p:grpSpPr>
          <a:xfrm>
            <a:off x="3473132" y="1092294"/>
            <a:ext cx="3180502" cy="1700466"/>
            <a:chOff x="3473132" y="1096650"/>
            <a:chExt cx="3180502" cy="1700466"/>
          </a:xfrm>
        </p:grpSpPr>
        <p:sp>
          <p:nvSpPr>
            <p:cNvPr id="46" name="Rectangle 7"/>
            <p:cNvSpPr>
              <a:spLocks noChangeArrowheads="1"/>
            </p:cNvSpPr>
            <p:nvPr/>
          </p:nvSpPr>
          <p:spPr bwMode="auto">
            <a:xfrm>
              <a:off x="3473132" y="109665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Đệm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Rod </a:t>
              </a:r>
              <a:r>
                <a:rPr lang="vi-VN" altLang="ko-KR" sz="950" smtClean="0">
                  <a:latin typeface="Times New Roman" pitchFamily="18" charset="0"/>
                  <a:ea typeface="LG Smart_H Regular" panose="020B0600000101010101" pitchFamily="34" charset="-127"/>
                  <a:cs typeface="Times New Roman" pitchFamily="18" charset="0"/>
                </a:rPr>
                <a:t>cover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làm kín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5"/>
            <a:stretch>
              <a:fillRect/>
            </a:stretch>
          </p:blipFill>
          <p:spPr>
            <a:xfrm>
              <a:off x="3819992" y="1299680"/>
              <a:ext cx="2175069" cy="804530"/>
            </a:xfrm>
            <a:prstGeom prst="rect">
              <a:avLst/>
            </a:prstGeom>
          </p:spPr>
        </p:pic>
        <p:sp>
          <p:nvSpPr>
            <p:cNvPr id="7" name="Rectangle 6"/>
            <p:cNvSpPr/>
            <p:nvPr/>
          </p:nvSpPr>
          <p:spPr bwMode="auto">
            <a:xfrm>
              <a:off x="4907526" y="1946883"/>
              <a:ext cx="353090" cy="197805"/>
            </a:xfrm>
            <a:prstGeom prst="rect">
              <a:avLst/>
            </a:prstGeom>
            <a:solidFill>
              <a:schemeClr val="bg1"/>
            </a:solidFill>
            <a:ln w="317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r>
                <a:rPr kumimoji="1" lang="en-US" sz="900" b="0" i="0" u="none" strike="noStrike" cap="none" normalizeH="0" baseline="0" smtClean="0">
                  <a:ln>
                    <a:noFill/>
                  </a:ln>
                  <a:effectLst/>
                  <a:latin typeface="Arial" charset="0"/>
                  <a:ea typeface="돋움" pitchFamily="50" charset="-127"/>
                </a:rPr>
                <a:t>???</a:t>
              </a:r>
            </a:p>
          </p:txBody>
        </p:sp>
      </p:grpSp>
      <p:grpSp>
        <p:nvGrpSpPr>
          <p:cNvPr id="10" name="Group 9"/>
          <p:cNvGrpSpPr/>
          <p:nvPr/>
        </p:nvGrpSpPr>
        <p:grpSpPr>
          <a:xfrm>
            <a:off x="3468850" y="2864768"/>
            <a:ext cx="3180502" cy="1471032"/>
            <a:chOff x="3468850" y="2864768"/>
            <a:chExt cx="3180502" cy="1471032"/>
          </a:xfrm>
        </p:grpSpPr>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smtClean="0">
                  <a:latin typeface="Times New Roman" pitchFamily="18" charset="0"/>
                  <a:ea typeface="LG Smart_H Regular" panose="020B0600000101010101" pitchFamily="34" charset="-127"/>
                  <a:cs typeface="Times New Roman" pitchFamily="18" charset="0"/>
                </a:rPr>
                <a:t>Dùng </a:t>
              </a:r>
              <a:r>
                <a:rPr lang="vi-VN" altLang="ko-KR" sz="950">
                  <a:latin typeface="Times New Roman" pitchFamily="18" charset="0"/>
                  <a:ea typeface="LG Smart_H Regular" panose="020B0600000101010101" pitchFamily="34" charset="-127"/>
                  <a:cs typeface="Times New Roman" pitchFamily="18" charset="0"/>
                </a:rPr>
                <a:t>trong trường hợp tải rung hay có khả năng sẽ rung trong mặt phẳng, cho dù là sẽ chuyển động theo đường thẳng. Đâu không phải kiểu </a:t>
              </a:r>
              <a:r>
                <a:rPr lang="vi-VN" altLang="ko-KR" sz="950" smtClean="0">
                  <a:latin typeface="Times New Roman" pitchFamily="18" charset="0"/>
                  <a:ea typeface="LG Smart_H Regular" panose="020B0600000101010101" pitchFamily="34" charset="-127"/>
                  <a:cs typeface="Times New Roman" pitchFamily="18" charset="0"/>
                </a:rPr>
                <a:t>trunnion)?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47"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9817" y="3990608"/>
              <a:ext cx="630686" cy="345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652" y="3492908"/>
              <a:ext cx="576467" cy="347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224" y="3481842"/>
              <a:ext cx="605279" cy="358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2252" y="3968360"/>
              <a:ext cx="565599" cy="31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2" name="Group 11"/>
          <p:cNvGrpSpPr/>
          <p:nvPr/>
        </p:nvGrpSpPr>
        <p:grpSpPr>
          <a:xfrm>
            <a:off x="3449538" y="4991616"/>
            <a:ext cx="3180502" cy="969496"/>
            <a:chOff x="3449538" y="4991616"/>
            <a:chExt cx="3180502" cy="969496"/>
          </a:xfrm>
        </p:grpSpPr>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Đây là ký hiệu của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5184" y="5279485"/>
              <a:ext cx="1089694" cy="609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Group 12"/>
          <p:cNvGrpSpPr/>
          <p:nvPr/>
        </p:nvGrpSpPr>
        <p:grpSpPr>
          <a:xfrm>
            <a:off x="3473132" y="6357590"/>
            <a:ext cx="3180502" cy="1554272"/>
            <a:chOff x="3473132" y="6357590"/>
            <a:chExt cx="3180502" cy="1554272"/>
          </a:xfrm>
        </p:grpSpPr>
        <p:sp>
          <p:nvSpPr>
            <p:cNvPr id="52" name="Rectangle 7"/>
            <p:cNvSpPr>
              <a:spLocks noChangeArrowheads="1"/>
            </p:cNvSpPr>
            <p:nvPr/>
          </p:nvSpPr>
          <p:spPr bwMode="auto">
            <a:xfrm>
              <a:off x="3473132" y="635759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là gải thích ký hiệu sai về van điều khiển </a:t>
              </a:r>
              <a:r>
                <a:rPr lang="vi-VN" altLang="ko-KR" sz="950" smtClean="0">
                  <a:latin typeface="Times New Roman" pitchFamily="18" charset="0"/>
                  <a:ea typeface="LG Smart_H Regular" panose="020B0600000101010101" pitchFamily="34" charset="-127"/>
                  <a:cs typeface="Times New Roman" pitchFamily="18" charset="0"/>
                </a:rPr>
                <a:t>hướng?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ô vuông là số vị trí điều khiển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r>
                <a:rPr lang="vi-VN" altLang="ko-KR" sz="950" smtClean="0">
                  <a:latin typeface="Times New Roman" pitchFamily="18" charset="0"/>
                  <a:ea typeface="LG Smart_H Regular" panose="020B0600000101010101" pitchFamily="34" charset="-127"/>
                  <a:cs typeface="Times New Roman" pitchFamily="18" charset="0"/>
                </a:rPr>
                <a:t>ý </a:t>
              </a:r>
              <a:r>
                <a:rPr lang="vi-VN" altLang="ko-KR" sz="950">
                  <a:latin typeface="Times New Roman" pitchFamily="18" charset="0"/>
                  <a:ea typeface="LG Smart_H Regular" panose="020B0600000101010101" pitchFamily="34" charset="-127"/>
                  <a:cs typeface="Times New Roman" pitchFamily="18" charset="0"/>
                </a:rPr>
                <a:t>hiệu T là dòng chảy bị ngắt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Đường thẳng thể hiện hướng </a:t>
              </a:r>
              <a:r>
                <a:rPr lang="vi-VN" altLang="ko-KR" sz="950" smtClean="0">
                  <a:latin typeface="Times New Roman" pitchFamily="18" charset="0"/>
                  <a:ea typeface="LG Smart_H Regular" panose="020B0600000101010101" pitchFamily="34" charset="-127"/>
                  <a:cs typeface="Times New Roman" pitchFamily="18" charset="0"/>
                </a:rPr>
                <a:t>chảy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van </a:t>
              </a:r>
              <a:r>
                <a:rPr lang="en-US" altLang="ko-KR" sz="950" smtClean="0">
                  <a:latin typeface="Times New Roman" pitchFamily="18" charset="0"/>
                  <a:ea typeface="LG Smart_H Regular" panose="020B0600000101010101" pitchFamily="34" charset="-127"/>
                  <a:cs typeface="Times New Roman" pitchFamily="18" charset="0"/>
                </a:rPr>
                <a:t>bằng</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vạch ngắn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bên </a:t>
              </a:r>
              <a:r>
                <a:rPr lang="vi-VN" altLang="ko-KR" sz="950">
                  <a:latin typeface="Times New Roman" pitchFamily="18" charset="0"/>
                  <a:ea typeface="LG Smart_H Regular" panose="020B0600000101010101" pitchFamily="34" charset="-127"/>
                  <a:cs typeface="Times New Roman" pitchFamily="18" charset="0"/>
                </a:rPr>
                <a:t>ngoài hình vuông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1" name="Picture 60"/>
            <p:cNvPicPr>
              <a:picLocks noChangeAspect="1"/>
            </p:cNvPicPr>
            <p:nvPr/>
          </p:nvPicPr>
          <p:blipFill>
            <a:blip r:embed="rId11"/>
            <a:stretch>
              <a:fillRect/>
            </a:stretch>
          </p:blipFill>
          <p:spPr>
            <a:xfrm>
              <a:off x="5630031" y="6611358"/>
              <a:ext cx="607281" cy="204101"/>
            </a:xfrm>
            <a:prstGeom prst="rect">
              <a:avLst/>
            </a:prstGeom>
          </p:spPr>
        </p:pic>
        <p:pic>
          <p:nvPicPr>
            <p:cNvPr id="62" name="Picture 61"/>
            <p:cNvPicPr>
              <a:picLocks noChangeAspect="1"/>
            </p:cNvPicPr>
            <p:nvPr/>
          </p:nvPicPr>
          <p:blipFill>
            <a:blip r:embed="rId12"/>
            <a:stretch>
              <a:fillRect/>
            </a:stretch>
          </p:blipFill>
          <p:spPr>
            <a:xfrm>
              <a:off x="5652885" y="7257256"/>
              <a:ext cx="584427" cy="184329"/>
            </a:xfrm>
            <a:prstGeom prst="rect">
              <a:avLst/>
            </a:prstGeom>
          </p:spPr>
        </p:pic>
        <p:pic>
          <p:nvPicPr>
            <p:cNvPr id="63" name="Picture 62"/>
            <p:cNvPicPr>
              <a:picLocks noChangeAspect="1"/>
            </p:cNvPicPr>
            <p:nvPr/>
          </p:nvPicPr>
          <p:blipFill>
            <a:blip r:embed="rId13"/>
            <a:stretch>
              <a:fillRect/>
            </a:stretch>
          </p:blipFill>
          <p:spPr>
            <a:xfrm>
              <a:off x="5630031" y="6897217"/>
              <a:ext cx="607282" cy="237510"/>
            </a:xfrm>
            <a:prstGeom prst="rect">
              <a:avLst/>
            </a:prstGeom>
          </p:spPr>
        </p:pic>
        <p:pic>
          <p:nvPicPr>
            <p:cNvPr id="64" name="Picture 63"/>
            <p:cNvPicPr>
              <a:picLocks noChangeAspect="1"/>
            </p:cNvPicPr>
            <p:nvPr/>
          </p:nvPicPr>
          <p:blipFill>
            <a:blip r:embed="rId14"/>
            <a:stretch>
              <a:fillRect/>
            </a:stretch>
          </p:blipFill>
          <p:spPr>
            <a:xfrm>
              <a:off x="5654982" y="7545288"/>
              <a:ext cx="582331" cy="216024"/>
            </a:xfrm>
            <a:prstGeom prst="rect">
              <a:avLst/>
            </a:prstGeom>
          </p:spPr>
        </p:pic>
      </p:grpSp>
      <p:grpSp>
        <p:nvGrpSpPr>
          <p:cNvPr id="2" name="Group 1"/>
          <p:cNvGrpSpPr/>
          <p:nvPr/>
        </p:nvGrpSpPr>
        <p:grpSpPr>
          <a:xfrm>
            <a:off x="248498" y="2894672"/>
            <a:ext cx="3180502" cy="1626280"/>
            <a:chOff x="248498" y="2894672"/>
            <a:chExt cx="3180502" cy="1626280"/>
          </a:xfrm>
        </p:grpSpPr>
        <p:grpSp>
          <p:nvGrpSpPr>
            <p:cNvPr id="5" name="Group 4"/>
            <p:cNvGrpSpPr/>
            <p:nvPr/>
          </p:nvGrpSpPr>
          <p:grpSpPr>
            <a:xfrm>
              <a:off x="248498" y="2894672"/>
              <a:ext cx="3180502" cy="1626280"/>
              <a:chOff x="248498" y="2894672"/>
              <a:chExt cx="3180502" cy="1626280"/>
            </a:xfrm>
          </p:grpSpPr>
          <p:sp>
            <p:nvSpPr>
              <p:cNvPr id="40" name="Rectangle 7"/>
              <p:cNvSpPr>
                <a:spLocks noChangeArrowheads="1"/>
              </p:cNvSpPr>
              <p:nvPr/>
            </p:nvSpPr>
            <p:spPr bwMode="auto">
              <a:xfrm>
                <a:off x="248498" y="2894672"/>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Áp dụng nguyên lý di chuyển động lực học của không khi để quay đĩa quay với tốc độ cao, tăng lượng chuyển động của chất khí thông qua cánh từ đó làm tăng  tốc độ và áp suất.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về MNK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49" name="Picture 4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0688" y="3594345"/>
                <a:ext cx="398346"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04864" y="3620675"/>
                <a:ext cx="363861"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04864" y="4098401"/>
                <a:ext cx="465779"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5" name="Picture 5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7924" y="4098400"/>
              <a:ext cx="386518"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25468994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solidFill>
                  <a:schemeClr val="tx1"/>
                </a:solidFill>
                <a:latin typeface="Times New Roman" pitchFamily="18" charset="0"/>
                <a:cs typeface="Times New Roman" pitchFamily="18" charset="0"/>
              </a:rPr>
              <a:t>[ </a:t>
            </a:r>
            <a:r>
              <a:rPr lang="vi-VN" altLang="ko-KR">
                <a:solidFill>
                  <a:schemeClr val="tx1"/>
                </a:solidFill>
                <a:latin typeface="Times New Roman" pitchFamily="18" charset="0"/>
                <a:cs typeface="Times New Roman" pitchFamily="18" charset="0"/>
              </a:rPr>
              <a:t>Khí nén</a:t>
            </a:r>
            <a:r>
              <a:rPr lang="en-US" altLang="ko-KR">
                <a:solidFill>
                  <a:schemeClr val="tx1"/>
                </a:solidFill>
                <a:latin typeface="Times New Roman" pitchFamily="18" charset="0"/>
                <a:cs typeface="Times New Roman" pitchFamily="18" charset="0"/>
              </a:rPr>
              <a:t>] </a:t>
            </a:r>
            <a:endParaRPr lang="en-US" altLang="ko-KR" dirty="0">
              <a:solidFill>
                <a:schemeClr val="tx1"/>
              </a:solidFill>
              <a:latin typeface="Times New Roman" pitchFamily="18" charset="0"/>
              <a:cs typeface="Times New Roman" pitchFamily="18" charset="0"/>
            </a:endParaRPr>
          </a:p>
        </p:txBody>
      </p:sp>
      <p:sp>
        <p:nvSpPr>
          <p:cNvPr id="8196" name="Rectangle 17"/>
          <p:cNvSpPr>
            <a:spLocks noChangeArrowheads="1"/>
          </p:cNvSpPr>
          <p:nvPr/>
        </p:nvSpPr>
        <p:spPr bwMode="auto">
          <a:xfrm>
            <a:off x="201848"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 name="Rectangle 243"/>
          <p:cNvSpPr>
            <a:spLocks noChangeArrowheads="1"/>
          </p:cNvSpPr>
          <p:nvPr/>
        </p:nvSpPr>
        <p:spPr bwMode="auto">
          <a:xfrm>
            <a:off x="233091" y="5133454"/>
            <a:ext cx="331311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gỉ</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thước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50~75</a:t>
            </a:r>
            <a:r>
              <a:rPr lang="en-US" altLang="ko-KR" sz="950" dirty="0" smtClean="0">
                <a:latin typeface="Times New Roman" pitchFamily="18" charset="0"/>
                <a:cs typeface="Times New Roman" pitchFamily="18" charset="0"/>
              </a:rPr>
              <a:t>㎛</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Main line </a:t>
            </a:r>
            <a:r>
              <a:rPr lang="en-US" altLang="ko-KR" sz="950" smtClean="0">
                <a:latin typeface="Times New Roman" pitchFamily="18" charset="0"/>
                <a:cs typeface="Times New Roman" pitchFamily="18" charset="0"/>
              </a:rPr>
              <a:t>filter</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Air </a:t>
            </a:r>
            <a:r>
              <a:rPr lang="en-US" altLang="ko-KR" sz="950" smtClean="0">
                <a:latin typeface="Times New Roman" pitchFamily="18" charset="0"/>
                <a:cs typeface="Times New Roman" pitchFamily="18" charset="0"/>
              </a:rPr>
              <a:t>dryer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a:t>
            </a:r>
            <a:endParaRPr lang="ko-KR" altLang="en-US" sz="950" dirty="0">
              <a:latin typeface="Times New Roman" pitchFamily="18" charset="0"/>
              <a:cs typeface="Times New Roman" pitchFamily="18" charset="0"/>
            </a:endParaRPr>
          </a:p>
        </p:txBody>
      </p:sp>
      <p:sp>
        <p:nvSpPr>
          <p:cNvPr id="7" name="Rectangle 83"/>
          <p:cNvSpPr>
            <a:spLocks noChangeArrowheads="1"/>
          </p:cNvSpPr>
          <p:nvPr/>
        </p:nvSpPr>
        <p:spPr bwMode="auto">
          <a:xfrm>
            <a:off x="244204" y="1064568"/>
            <a:ext cx="3113087"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bụi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Air Filter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bởi</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 filter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vào</a:t>
            </a:r>
            <a:r>
              <a:rPr lang="en-US" altLang="ko-KR" sz="950" smtClean="0">
                <a:latin typeface="Times New Roman" pitchFamily="18" charset="0"/>
                <a:ea typeface="돋움" pitchFamily="50" charset="-127"/>
                <a:cs typeface="Times New Roman" pitchFamily="18" charset="0"/>
              </a:rPr>
              <a:t> trong ngoặc?</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Deflector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a:t>
            </a:r>
            <a:r>
              <a:rPr lang="en-US" altLang="ko-KR" sz="950" smtClean="0">
                <a:latin typeface="Times New Roman" pitchFamily="18" charset="0"/>
                <a:ea typeface="돋움" pitchFamily="50" charset="-127"/>
                <a:cs typeface="Times New Roman" pitchFamily="18" charset="0"/>
              </a:rPr>
              <a:t>affle</a:t>
            </a:r>
            <a:r>
              <a:rPr lang="ko-KR" altLang="en-US" sz="95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Diaphramg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E</a:t>
            </a:r>
            <a:r>
              <a:rPr lang="en-US" altLang="ko-KR" sz="950" smtClean="0">
                <a:latin typeface="Times New Roman" pitchFamily="18" charset="0"/>
                <a:ea typeface="돋움" pitchFamily="50" charset="-127"/>
                <a:cs typeface="Times New Roman" pitchFamily="18" charset="0"/>
              </a:rPr>
              <a:t>lement</a:t>
            </a:r>
            <a:endParaRPr lang="ko-KR" altLang="en-US" sz="950" dirty="0">
              <a:latin typeface="Times New Roman" pitchFamily="18" charset="0"/>
              <a:ea typeface="돋움" pitchFamily="50" charset="-127"/>
              <a:cs typeface="Times New Roman" pitchFamily="18" charset="0"/>
            </a:endParaRPr>
          </a:p>
        </p:txBody>
      </p:sp>
      <p:sp>
        <p:nvSpPr>
          <p:cNvPr id="8" name="Rectangle 121"/>
          <p:cNvSpPr>
            <a:spLocks noChangeArrowheads="1"/>
          </p:cNvSpPr>
          <p:nvPr/>
        </p:nvSpPr>
        <p:spPr bwMode="auto">
          <a:xfrm>
            <a:off x="223566" y="7062425"/>
            <a:ext cx="313372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mạch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loại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trao</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đổi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vào</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thảo</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hồi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mạch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hay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nhớt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đồng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nối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sảy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Ở </a:t>
            </a:r>
            <a:r>
              <a:rPr lang="en-US" altLang="ko-KR" sz="950" dirty="0" err="1">
                <a:latin typeface="Times New Roman" pitchFamily="18" charset="0"/>
                <a:cs typeface="Times New Roman" pitchFamily="18" charset="0"/>
              </a:rPr>
              <a:t>khía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cạnh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di </a:t>
            </a:r>
            <a:r>
              <a:rPr lang="en-US" altLang="ko-KR" sz="950" dirty="0" err="1">
                <a:latin typeface="Times New Roman" pitchFamily="18" charset="0"/>
                <a:cs typeface="Times New Roman" pitchFamily="18" charset="0"/>
              </a:rPr>
              <a:t>chuyển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lắp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đến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góc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a:t>
            </a:r>
          </a:p>
          <a:p>
            <a:pPr eaLnBrk="1" hangingPunct="1"/>
            <a:endParaRPr lang="en-US" altLang="ko-KR" sz="950" dirty="0">
              <a:latin typeface="Times New Roman" pitchFamily="18" charset="0"/>
              <a:cs typeface="Times New Roman" pitchFamily="18" charset="0"/>
            </a:endParaRPr>
          </a:p>
        </p:txBody>
      </p:sp>
      <p:sp>
        <p:nvSpPr>
          <p:cNvPr id="9" name="Rectangle 34"/>
          <p:cNvSpPr>
            <a:spLocks noChangeArrowheads="1"/>
          </p:cNvSpPr>
          <p:nvPr/>
        </p:nvSpPr>
        <p:spPr bwMode="auto">
          <a:xfrm>
            <a:off x="233090" y="2576736"/>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Cylinder </a:t>
            </a:r>
            <a:r>
              <a:rPr lang="en-US" altLang="ko-KR" sz="950" err="1" smtClean="0">
                <a:latin typeface="Times New Roman" pitchFamily="18" charset="0"/>
                <a:cs typeface="Times New Roman" pitchFamily="18" charset="0"/>
              </a:rPr>
              <a:t>thép</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Compact cylinder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do</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Tie Rod Cylinder</a:t>
            </a:r>
            <a:endParaRPr lang="ko-KR" altLang="en-US" sz="950" dirty="0">
              <a:latin typeface="Times New Roman" pitchFamily="18" charset="0"/>
              <a:cs typeface="Times New Roman" pitchFamily="18" charset="0"/>
            </a:endParaRPr>
          </a:p>
        </p:txBody>
      </p:sp>
      <p:grpSp>
        <p:nvGrpSpPr>
          <p:cNvPr id="13" name="Group 12"/>
          <p:cNvGrpSpPr/>
          <p:nvPr/>
        </p:nvGrpSpPr>
        <p:grpSpPr>
          <a:xfrm>
            <a:off x="3404108" y="1064568"/>
            <a:ext cx="3429000" cy="1257300"/>
            <a:chOff x="3384550" y="7489826"/>
            <a:chExt cx="3429000" cy="1257300"/>
          </a:xfrm>
        </p:grpSpPr>
        <p:grpSp>
          <p:nvGrpSpPr>
            <p:cNvPr id="14" name="Group 40"/>
            <p:cNvGrpSpPr>
              <a:grpSpLocks/>
            </p:cNvGrpSpPr>
            <p:nvPr/>
          </p:nvGrpSpPr>
          <p:grpSpPr bwMode="auto">
            <a:xfrm>
              <a:off x="3709988" y="7623175"/>
              <a:ext cx="2057400" cy="1123951"/>
              <a:chOff x="397" y="4667"/>
              <a:chExt cx="1296" cy="708"/>
            </a:xfrm>
          </p:grpSpPr>
          <p:pic>
            <p:nvPicPr>
              <p:cNvPr id="16"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9"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Rectangle 33"/>
            <p:cNvSpPr>
              <a:spLocks noChangeArrowheads="1"/>
            </p:cNvSpPr>
            <p:nvPr/>
          </p:nvSpPr>
          <p:spPr bwMode="auto">
            <a:xfrm>
              <a:off x="3384550" y="7489826"/>
              <a:ext cx="34290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6</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Valve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loại</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đúng </a:t>
              </a:r>
              <a:r>
                <a:rPr lang="en-US" altLang="ko-KR" sz="950" dirty="0" smtClean="0">
                  <a:latin typeface="Times New Roman" pitchFamily="18" charset="0"/>
                  <a:ea typeface="돋움" pitchFamily="50" charset="-127"/>
                  <a:cs typeface="Times New Roman" pitchFamily="18" charset="0"/>
                </a:rPr>
                <a:t>3/2 Way?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B.</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D.</a:t>
              </a:r>
              <a:endParaRPr lang="en-US" altLang="ko-KR" sz="950" dirty="0">
                <a:latin typeface="Times New Roman" pitchFamily="18" charset="0"/>
                <a:ea typeface="돋움" pitchFamily="50" charset="-127"/>
                <a:cs typeface="Times New Roman" pitchFamily="18" charset="0"/>
              </a:endParaRPr>
            </a:p>
          </p:txBody>
        </p:sp>
      </p:grpSp>
      <p:sp>
        <p:nvSpPr>
          <p:cNvPr id="20" name="Rectangle 49"/>
          <p:cNvSpPr>
            <a:spLocks noChangeArrowheads="1"/>
          </p:cNvSpPr>
          <p:nvPr/>
        </p:nvSpPr>
        <p:spPr bwMode="auto">
          <a:xfrm>
            <a:off x="3429000" y="2576736"/>
            <a:ext cx="324036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Chọn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đặc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điểm</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valve </a:t>
            </a:r>
            <a:r>
              <a:rPr lang="en-US" altLang="ko-KR" sz="950" smtClean="0">
                <a:latin typeface="Times New Roman" pitchFamily="18" charset="0"/>
                <a:cs typeface="Times New Roman" pitchFamily="18" charset="0"/>
              </a:rPr>
              <a:t>dạng Poppet ?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Hiệu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Spring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hại</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nhờ</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hợp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hole </a:t>
            </a:r>
            <a:r>
              <a:rPr lang="en-US" altLang="ko-KR" sz="950" dirty="0" err="1">
                <a:latin typeface="Times New Roman" pitchFamily="18" charset="0"/>
                <a:cs typeface="Times New Roman" pitchFamily="18" charset="0"/>
              </a:rPr>
              <a:t>lớn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C.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hơn</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Quãng</a:t>
            </a:r>
            <a:r>
              <a:rPr lang="en-US" altLang="ko-KR" sz="950" dirty="0">
                <a:latin typeface="Times New Roman" pitchFamily="18" charset="0"/>
                <a:cs typeface="Times New Roman" pitchFamily="18" charset="0"/>
              </a:rPr>
              <a:t> </a:t>
            </a:r>
            <a:r>
              <a:rPr lang="en-US" altLang="ko-KR" sz="950" err="1">
                <a:latin typeface="Times New Roman" pitchFamily="18" charset="0"/>
                <a:cs typeface="Times New Roman" pitchFamily="18" charset="0"/>
              </a:rPr>
              <a:t>đường</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di chuyển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hành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ngắn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mở</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nhanh</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21" name="Rectangle 21"/>
          <p:cNvSpPr>
            <a:spLocks noChangeArrowheads="1"/>
          </p:cNvSpPr>
          <p:nvPr/>
        </p:nvSpPr>
        <p:spPr bwMode="auto">
          <a:xfrm>
            <a:off x="3429000" y="4808984"/>
            <a:ext cx="3268220" cy="183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Ejector?</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pump chân</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không </a:t>
            </a:r>
            <a:r>
              <a:rPr lang="en-US" altLang="ko-KR" sz="950" dirty="0" err="1" smtClean="0">
                <a:latin typeface="Times New Roman" pitchFamily="18" charset="0"/>
                <a:cs typeface="Times New Roman" pitchFamily="18" charset="0"/>
              </a:rPr>
              <a:t>khác</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tế</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tỷ</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lệ</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cấp</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chi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lặp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 ON-OFF </a:t>
            </a:r>
            <a:r>
              <a:rPr lang="en-US" altLang="ko-KR" sz="950" dirty="0" err="1" smtClean="0">
                <a:latin typeface="Times New Roman" pitchFamily="18" charset="0"/>
                <a:cs typeface="Times New Roman" pitchFamily="18" charset="0"/>
              </a:rPr>
              <a:t>nhiều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endParaRPr lang="en-US" altLang="ko-KR" sz="950" dirty="0">
              <a:latin typeface="Times New Roman" pitchFamily="18" charset="0"/>
              <a:cs typeface="Times New Roman" pitchFamily="18" charset="0"/>
            </a:endParaRPr>
          </a:p>
        </p:txBody>
      </p:sp>
      <p:sp>
        <p:nvSpPr>
          <p:cNvPr id="22" name="Rectangle 13"/>
          <p:cNvSpPr>
            <a:spLocks noChangeArrowheads="1"/>
          </p:cNvSpPr>
          <p:nvPr/>
        </p:nvSpPr>
        <p:spPr bwMode="auto">
          <a:xfrm>
            <a:off x="3429000" y="6897216"/>
            <a:ext cx="324036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cơ</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smtClean="0">
                <a:latin typeface="Times New Roman" pitchFamily="18" charset="0"/>
                <a:cs typeface="Times New Roman" pitchFamily="18" charset="0"/>
              </a:rPr>
              <a:t>pin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endParaRPr lang="ko-KR" altLang="en-US" sz="950" dirty="0">
              <a:latin typeface="Times New Roman" pitchFamily="18" charset="0"/>
              <a:cs typeface="Times New Roman" pitchFamily="18" charset="0"/>
            </a:endParaRPr>
          </a:p>
        </p:txBody>
      </p:sp>
      <p:grpSp>
        <p:nvGrpSpPr>
          <p:cNvPr id="23" name="Group 22"/>
          <p:cNvGrpSpPr/>
          <p:nvPr/>
        </p:nvGrpSpPr>
        <p:grpSpPr>
          <a:xfrm>
            <a:off x="3429000" y="8002782"/>
            <a:ext cx="3225232" cy="1495794"/>
            <a:chOff x="188640" y="4669405"/>
            <a:chExt cx="3225232" cy="1495794"/>
          </a:xfrm>
        </p:grpSpPr>
        <p:sp>
          <p:nvSpPr>
            <p:cNvPr id="24" name="Rectangle 45"/>
            <p:cNvSpPr>
              <a:spLocks noChangeArrowheads="1"/>
            </p:cNvSpPr>
            <p:nvPr/>
          </p:nvSpPr>
          <p:spPr bwMode="auto">
            <a:xfrm>
              <a:off x="188640" y="4669405"/>
              <a:ext cx="3124200"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giải</a:t>
              </a:r>
              <a:r>
                <a:rPr lang="en-US" altLang="ko-KR" sz="950" smtClean="0">
                  <a:latin typeface="Times New Roman" pitchFamily="18" charset="0"/>
                  <a:ea typeface="돋움" pitchFamily="50" charset="-127"/>
                  <a:cs typeface="Times New Roman" pitchFamily="18" charset="0"/>
                </a:rPr>
                <a:t> </a:t>
              </a:r>
            </a:p>
            <a:p>
              <a:pPr eaLnBrk="1" hangingPunct="1">
                <a:lnSpc>
                  <a:spcPct val="120000"/>
                </a:lnSpc>
              </a:pPr>
              <a:r>
                <a:rPr lang="en-US" altLang="ko-KR" sz="950" smtClean="0">
                  <a:latin typeface="Times New Roman" pitchFamily="18" charset="0"/>
                  <a:ea typeface="돋움" pitchFamily="50" charset="-127"/>
                  <a:cs typeface="Times New Roman" pitchFamily="18" charset="0"/>
                </a:rPr>
                <a:t>thích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kép</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B. Là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phương</a:t>
              </a:r>
              <a:r>
                <a:rPr lang="en-US" altLang="ko-KR" sz="950" smtClean="0">
                  <a:latin typeface="Times New Roman" pitchFamily="18" charset="0"/>
                  <a:ea typeface="돋움" pitchFamily="50" charset="-127"/>
                  <a:cs typeface="Times New Roman" pitchFamily="18" charset="0"/>
                </a:rPr>
                <a:t> thức meter </a:t>
              </a:r>
            </a:p>
            <a:p>
              <a:pPr eaLnBrk="1" hangingPunct="1">
                <a:lnSpc>
                  <a:spcPct val="120000"/>
                </a:lnSpc>
              </a:pPr>
              <a:r>
                <a:rPr lang="en-US" altLang="ko-KR" sz="950" smtClean="0">
                  <a:latin typeface="Times New Roman" pitchFamily="18" charset="0"/>
                  <a:ea typeface="돋움" pitchFamily="50" charset="-127"/>
                  <a:cs typeface="Times New Roman" pitchFamily="18" charset="0"/>
                </a:rPr>
                <a:t>out .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phía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C. Vị </a:t>
              </a:r>
              <a:r>
                <a:rPr lang="en-US" altLang="ko-KR" sz="950" dirty="0" err="1" smtClean="0">
                  <a:latin typeface="Times New Roman" pitchFamily="18" charset="0"/>
                  <a:ea typeface="돋움" pitchFamily="50" charset="-127"/>
                  <a:cs typeface="Times New Roman" pitchFamily="18" charset="0"/>
                </a:rPr>
                <a:t>trí</a:t>
              </a:r>
              <a:r>
                <a:rPr lang="en-US" altLang="ko-KR" sz="950" dirty="0" smtClean="0">
                  <a:latin typeface="Times New Roman" pitchFamily="18" charset="0"/>
                  <a:ea typeface="돋움" pitchFamily="50" charset="-127"/>
                  <a:cs typeface="Times New Roman" pitchFamily="18" charset="0"/>
                </a:rPr>
                <a:t> ban </a:t>
              </a:r>
              <a:r>
                <a:rPr lang="en-US" altLang="ko-KR" sz="950" dirty="0" err="1" smtClean="0">
                  <a:latin typeface="Times New Roman" pitchFamily="18" charset="0"/>
                  <a:ea typeface="돋움" pitchFamily="50" charset="-127"/>
                  <a:cs typeface="Times New Roman" pitchFamily="18" charset="0"/>
                </a:rPr>
                <a:t>đầu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ở </a:t>
              </a:r>
              <a:r>
                <a:rPr lang="en-US" altLang="ko-KR" sz="950" err="1" smtClean="0">
                  <a:latin typeface="Times New Roman" pitchFamily="18" charset="0"/>
                  <a:ea typeface="돋움" pitchFamily="50" charset="-127"/>
                  <a:cs typeface="Times New Roman" pitchFamily="18" charset="0"/>
                </a:rPr>
                <a:t>trạng</a:t>
              </a:r>
              <a:r>
                <a:rPr lang="en-US" altLang="ko-KR" sz="950" smtClean="0">
                  <a:latin typeface="Times New Roman" pitchFamily="18" charset="0"/>
                  <a:ea typeface="돋움" pitchFamily="50" charset="-127"/>
                  <a:cs typeface="Times New Roman" pitchFamily="18" charset="0"/>
                </a:rPr>
                <a:t> thái</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D. Đang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5/2 </a:t>
              </a:r>
              <a:r>
                <a:rPr lang="en-US" altLang="ko-KR" sz="950" dirty="0">
                  <a:latin typeface="Times New Roman" pitchFamily="18" charset="0"/>
                  <a:ea typeface="돋움" pitchFamily="50" charset="-127"/>
                  <a:cs typeface="Times New Roman" pitchFamily="18" charset="0"/>
                </a:rPr>
                <a:t>Way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hai</a:t>
              </a:r>
              <a:r>
                <a:rPr lang="en-US" altLang="ko-KR" sz="950" dirty="0" smtClean="0">
                  <a:latin typeface="Times New Roman" pitchFamily="18" charset="0"/>
                  <a:ea typeface="돋움" pitchFamily="50" charset="-127"/>
                  <a:cs typeface="Times New Roman" pitchFamily="18" charset="0"/>
                </a:rPr>
                <a:t> solenoid</a:t>
              </a:r>
              <a:endParaRPr lang="en-US" altLang="ko-KR" sz="950" dirty="0">
                <a:latin typeface="Times New Roman" pitchFamily="18" charset="0"/>
                <a:ea typeface="돋움" pitchFamily="50" charset="-127"/>
                <a:cs typeface="Times New Roman" pitchFamily="18" charset="0"/>
              </a:endParaRPr>
            </a:p>
          </p:txBody>
        </p:sp>
        <p:pic>
          <p:nvPicPr>
            <p:cNvPr id="25"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4822381"/>
              <a:ext cx="1204072" cy="1045019"/>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26" name="Group 25"/>
          <p:cNvGrpSpPr/>
          <p:nvPr/>
        </p:nvGrpSpPr>
        <p:grpSpPr>
          <a:xfrm>
            <a:off x="260648" y="3779837"/>
            <a:ext cx="3124200" cy="969496"/>
            <a:chOff x="3356992" y="3779837"/>
            <a:chExt cx="3124200" cy="969496"/>
          </a:xfrm>
        </p:grpSpPr>
        <p:sp>
          <p:nvSpPr>
            <p:cNvPr id="27" name="Rectangle 39"/>
            <p:cNvSpPr>
              <a:spLocks noChangeArrowheads="1"/>
            </p:cNvSpPr>
            <p:nvPr/>
          </p:nvSpPr>
          <p:spPr bwMode="auto">
            <a:xfrm>
              <a:off x="3356992" y="3779837"/>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13.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Van Speed Control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Van Check</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Van tiết lưu Needle</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 Van Pilot</a:t>
              </a:r>
              <a:endParaRPr lang="en-US" altLang="ko-KR" sz="950" dirty="0">
                <a:latin typeface="Times New Roman" pitchFamily="18" charset="0"/>
                <a:ea typeface="돋움" pitchFamily="50" charset="-127"/>
                <a:cs typeface="Times New Roman" pitchFamily="18" charset="0"/>
              </a:endParaRPr>
            </a:p>
          </p:txBody>
        </p:sp>
        <p:pic>
          <p:nvPicPr>
            <p:cNvPr id="28" name="Picture 40" descr="Untitled-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60988" y="4078609"/>
              <a:ext cx="685800" cy="51435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1754947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Coupling nào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Clamp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Seller’s </a:t>
            </a:r>
            <a:r>
              <a:rPr lang="en-US"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Muff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Universal </a:t>
            </a:r>
            <a:r>
              <a:rPr lang="en-US" altLang="ko-KR" sz="950" smtClean="0">
                <a:latin typeface="Times New Roman" pitchFamily="18" charset="0"/>
                <a:ea typeface="LG Smart_H Regular" panose="020B0600000101010101" pitchFamily="34" charset="-127"/>
                <a:cs typeface="Times New Roman" pitchFamily="18" charset="0"/>
              </a:rPr>
              <a:t>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đai Belt hình chữ </a:t>
            </a:r>
            <a:r>
              <a:rPr lang="vi-VN" altLang="ko-KR" sz="950" smtClean="0">
                <a:latin typeface="Times New Roman" pitchFamily="18" charset="0"/>
                <a:ea typeface="LG Smart_H Regular" panose="020B0600000101010101" pitchFamily="34" charset="-127"/>
                <a:cs typeface="Times New Roman" pitchFamily="18" charset="0"/>
              </a:rPr>
              <a:t>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dài của belt có thể thay </a:t>
            </a:r>
            <a:r>
              <a:rPr lang="vi-VN" altLang="ko-KR" sz="950" smtClean="0">
                <a:latin typeface="Times New Roman" pitchFamily="18" charset="0"/>
                <a:ea typeface="LG Smart_H Regular" panose="020B0600000101010101" pitchFamily="34" charset="-127"/>
                <a:cs typeface="Times New Roman" pitchFamily="18" charset="0"/>
              </a:rPr>
              <a:t>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Không cần lo lắng belt bị tuột ra </a:t>
            </a:r>
            <a:r>
              <a:rPr lang="en-US" altLang="ko-KR" sz="950" smtClean="0">
                <a:latin typeface="Times New Roman" pitchFamily="18" charset="0"/>
                <a:ea typeface="LG Smart_H Regular" panose="020B0600000101010101" pitchFamily="34" charset="-127"/>
                <a:cs typeface="Times New Roman" pitchFamily="18" charset="0"/>
              </a:rPr>
              <a:t>ngoài</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suất truyền có thể đạt 99</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lắp đặt tại nơi chật hẹp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Chi tiết nào được lắp trong LM Block giúp tuần hoàn nhiệt của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Plate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LM </a:t>
            </a:r>
            <a:r>
              <a:rPr lang="vi-VN" altLang="ko-KR" sz="950" smtClean="0">
                <a:latin typeface="Times New Roman" pitchFamily="18" charset="0"/>
                <a:ea typeface="LG Smart_H Regular" panose="020B0600000101010101" pitchFamily="34" charset="-127"/>
                <a:cs typeface="Times New Roman" pitchFamily="18" charset="0"/>
              </a:rPr>
              <a:t>Rail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Seal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Base Plate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251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Đâu không phải những đặc tính thông thường của d</a:t>
            </a:r>
            <a:r>
              <a:rPr lang="vi-VN" altLang="ko-KR" sz="950" smtClean="0">
                <a:latin typeface="Times New Roman" pitchFamily="18" charset="0"/>
                <a:ea typeface="LG Smart_H Regular" panose="020B0600000101010101" pitchFamily="34" charset="-127"/>
                <a:cs typeface="Times New Roman" pitchFamily="18" charset="0"/>
              </a:rPr>
              <a:t>ầu </a:t>
            </a:r>
            <a:r>
              <a:rPr lang="vi-VN" altLang="ko-KR" sz="950">
                <a:latin typeface="Times New Roman" pitchFamily="18" charset="0"/>
                <a:ea typeface="LG Smart_H Regular" panose="020B0600000101010101" pitchFamily="34" charset="-127"/>
                <a:cs typeface="Times New Roman" pitchFamily="18" charset="0"/>
              </a:rPr>
              <a:t>bôi trơn dạng </a:t>
            </a:r>
            <a:r>
              <a:rPr lang="vi-VN" altLang="ko-KR" sz="950" smtClean="0">
                <a:latin typeface="Times New Roman" pitchFamily="18" charset="0"/>
                <a:ea typeface="LG Smart_H Regular" panose="020B0600000101010101" pitchFamily="34" charset="-127"/>
                <a:cs typeface="Times New Roman" pitchFamily="18" charset="0"/>
              </a:rPr>
              <a:t>lỏng?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độ dính đủ cần trong trạng thái sử dụng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tính dầu có thể chịu </a:t>
            </a:r>
            <a:r>
              <a:rPr lang="vi-VN" altLang="ko-KR" sz="950" smtClean="0">
                <a:latin typeface="Times New Roman" pitchFamily="18" charset="0"/>
                <a:ea typeface="LG Smart_H Regular" panose="020B0600000101010101" pitchFamily="34" charset="-127"/>
                <a:cs typeface="Times New Roman" pitchFamily="18" charset="0"/>
              </a:rPr>
              <a:t>được </a:t>
            </a:r>
            <a:r>
              <a:rPr lang="en-US" altLang="ko-KR" sz="950" smtClean="0">
                <a:latin typeface="Times New Roman" pitchFamily="18" charset="0"/>
                <a:ea typeface="LG Smart_H Regular" panose="020B0600000101010101" pitchFamily="34" charset="-127"/>
                <a:cs typeface="Times New Roman" pitchFamily="18" charset="0"/>
              </a:rPr>
              <a:t>ở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bôi trơn </a:t>
            </a:r>
            <a:r>
              <a:rPr lang="vi-VN" altLang="ko-KR" sz="950" smtClean="0">
                <a:latin typeface="Times New Roman" pitchFamily="18" charset="0"/>
                <a:ea typeface="LG Smart_H Regular" panose="020B0600000101010101" pitchFamily="34" charset="-127"/>
                <a:cs typeface="Times New Roman" pitchFamily="18" charset="0"/>
              </a:rPr>
              <a:t>giới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bền ô xi hóa và nhiệt cao, mang tính trơ hóa học có thể, sạch mà đồng chất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Chất làm cô đặc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19336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là phương pháp chiếu góc nhìn vào vật </a:t>
            </a:r>
            <a:r>
              <a:rPr lang="vi-VN" altLang="ko-KR" sz="950" smtClean="0">
                <a:latin typeface="Times New Roman" pitchFamily="18" charset="0"/>
                <a:ea typeface="LG Smart_H Regular" panose="020B0600000101010101" pitchFamily="34" charset="-127"/>
                <a:cs typeface="Times New Roman" pitchFamily="18" charset="0"/>
              </a:rPr>
              <a:t>thể?</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Hình chiếu </a:t>
            </a:r>
            <a:r>
              <a:rPr lang="nb-NO" altLang="ko-KR" sz="950" smtClean="0">
                <a:latin typeface="Times New Roman" pitchFamily="18" charset="0"/>
                <a:ea typeface="LG Smart_H Regular" panose="020B0600000101010101" pitchFamily="34" charset="-127"/>
                <a:cs typeface="Times New Roman" pitchFamily="18" charset="0"/>
              </a:rPr>
              <a:t>bằng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đứng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cạnh</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không phải là đặc điểm của khóa Key bán nguyệt (woodruff key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dàng lắp đặt và sửa </a:t>
            </a:r>
            <a:r>
              <a:rPr lang="vi-VN" altLang="ko-KR" sz="950" smtClean="0">
                <a:latin typeface="Times New Roman" pitchFamily="18" charset="0"/>
                <a:ea typeface="LG Smart_H Regular" panose="020B0600000101010101" pitchFamily="34" charset="-127"/>
                <a:cs typeface="Times New Roman" pitchFamily="18" charset="0"/>
              </a:rPr>
              <a:t>chữa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home sâu nên làm giảm độ bền của trục.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dạng khóa hình bán nguyệt thường dùng trên các trục nhỏ(60mm trở xuống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Thường dùng trong trục chính của xe ô </a:t>
            </a:r>
            <a:r>
              <a:rPr lang="vi-VN" altLang="ko-KR" sz="950" smtClean="0">
                <a:latin typeface="Times New Roman" pitchFamily="18" charset="0"/>
                <a:ea typeface="LG Smart_H Regular" panose="020B0600000101010101" pitchFamily="34" charset="-127"/>
                <a:cs typeface="Times New Roman" pitchFamily="18" charset="0"/>
              </a:rPr>
              <a:t>tô</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Đâu là đặc điểm không đúng của bôi trơn </a:t>
            </a: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Hệ thống bôi trơn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dầu cần </a:t>
            </a:r>
            <a:r>
              <a:rPr lang="vi-VN" altLang="ko-KR" sz="950" smtClean="0">
                <a:latin typeface="Times New Roman" pitchFamily="18" charset="0"/>
                <a:ea typeface="LG Smart_H Regular" panose="020B0600000101010101" pitchFamily="34" charset="-127"/>
                <a:cs typeface="Times New Roman" pitchFamily="18" charset="0"/>
              </a:rPr>
              <a:t>nhiều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bịt kín phức </a:t>
            </a:r>
            <a:r>
              <a:rPr lang="en-US" altLang="ko-KR" sz="950" smtClean="0">
                <a:latin typeface="Times New Roman" pitchFamily="18" charset="0"/>
                <a:ea typeface="LG Smart_H Regular" panose="020B0600000101010101" pitchFamily="34" charset="-127"/>
                <a:cs typeface="Times New Roman" pitchFamily="18" charset="0"/>
              </a:rPr>
              <a:t>tạp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liên tục loại bỏ tạp chất</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208584"/>
            <a:ext cx="3229218" cy="969496"/>
            <a:chOff x="188640" y="1208584"/>
            <a:chExt cx="3229218" cy="969496"/>
          </a:xfrm>
        </p:grpSpPr>
        <p:sp>
          <p:nvSpPr>
            <p:cNvPr id="32" name="Rectangle 7"/>
            <p:cNvSpPr>
              <a:spLocks noChangeArrowheads="1"/>
            </p:cNvSpPr>
            <p:nvPr/>
          </p:nvSpPr>
          <p:spPr bwMode="auto">
            <a:xfrm>
              <a:off x="188640" y="1208584"/>
              <a:ext cx="322921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Hình ảnh dưới đây đang thể hiện khi lắp ghép dung sai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khít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chặt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lỏng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độ dôi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2"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808" y="1496615"/>
              <a:ext cx="1134343" cy="63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 name="Rectangle 7"/>
          <p:cNvSpPr>
            <a:spLocks noChangeArrowheads="1"/>
          </p:cNvSpPr>
          <p:nvPr/>
        </p:nvSpPr>
        <p:spPr bwMode="auto">
          <a:xfrm>
            <a:off x="176490" y="4415552"/>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Đâu không phải đặc điểm của vòng bi Angular ball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Bearing có tính chuẩn xác cao và tốc độ quay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 với loại tiêu chuẩn vòng bi một rãnh sâu thì có khả năng chịu tải cao hơn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hình thái đại diện cho Rolling Bearing và có mục đích sử dụng rộng.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chịu tải trong theo hướng dọc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3884" y="8193360"/>
            <a:ext cx="3253973" cy="1067550"/>
            <a:chOff x="163884" y="8193360"/>
            <a:chExt cx="3253973" cy="1067550"/>
          </a:xfrm>
        </p:grpSpPr>
        <p:sp>
          <p:nvSpPr>
            <p:cNvPr id="42" name="Rectangle 7"/>
            <p:cNvSpPr>
              <a:spLocks noChangeArrowheads="1"/>
            </p:cNvSpPr>
            <p:nvPr/>
          </p:nvSpPr>
          <p:spPr bwMode="auto">
            <a:xfrm>
              <a:off x="163884" y="8193360"/>
              <a:ext cx="325397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chốt ( Pin)  trong hình bên dưới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Spring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Knuckle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0" name="Picture 29"/>
            <p:cNvPicPr>
              <a:picLocks noChangeAspect="1"/>
            </p:cNvPicPr>
            <p:nvPr/>
          </p:nvPicPr>
          <p:blipFill>
            <a:blip r:embed="rId4"/>
            <a:stretch>
              <a:fillRect/>
            </a:stretch>
          </p:blipFill>
          <p:spPr>
            <a:xfrm>
              <a:off x="1467879" y="8465802"/>
              <a:ext cx="1457065" cy="795108"/>
            </a:xfrm>
            <a:prstGeom prst="rect">
              <a:avLst/>
            </a:prstGeom>
          </p:spPr>
        </p:pic>
      </p:grpSp>
    </p:spTree>
    <p:extLst>
      <p:ext uri="{BB962C8B-B14F-4D97-AF65-F5344CB8AC3E}">
        <p14:creationId xmlns:p14="http://schemas.microsoft.com/office/powerpoint/2010/main" val="1955066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solidFill>
                  <a:schemeClr val="tx1"/>
                </a:solidFill>
                <a:latin typeface="Times New Roman" pitchFamily="18" charset="0"/>
                <a:cs typeface="Times New Roman" pitchFamily="18" charset="0"/>
              </a:rPr>
              <a:t>[ M</a:t>
            </a:r>
            <a:r>
              <a:rPr lang="vi-VN" altLang="ko-KR">
                <a:solidFill>
                  <a:schemeClr val="tx1"/>
                </a:solidFill>
                <a:latin typeface="Times New Roman" pitchFamily="18" charset="0"/>
                <a:cs typeface="Times New Roman" pitchFamily="18" charset="0"/>
              </a:rPr>
              <a:t>áy</a:t>
            </a:r>
            <a:r>
              <a:rPr lang="ko-KR" altLang="en-US">
                <a:solidFill>
                  <a:schemeClr val="tx1"/>
                </a:solidFill>
                <a:latin typeface="Times New Roman" pitchFamily="18" charset="0"/>
                <a:cs typeface="Times New Roman" pitchFamily="18" charset="0"/>
              </a:rPr>
              <a:t> </a:t>
            </a:r>
            <a:r>
              <a:rPr lang="en-US" altLang="ko-KR">
                <a:solidFill>
                  <a:schemeClr val="tx1"/>
                </a:solidFill>
                <a:latin typeface="Times New Roman" pitchFamily="18" charset="0"/>
                <a:cs typeface="Times New Roman" pitchFamily="18" charset="0"/>
              </a:rPr>
              <a:t>]</a:t>
            </a:r>
            <a:endParaRPr lang="en-US" altLang="ko-KR" dirty="0">
              <a:solidFill>
                <a:schemeClr val="tx1"/>
              </a:solidFill>
              <a:latin typeface="Times New Roman" pitchFamily="18" charset="0"/>
              <a:cs typeface="Times New Roman" pitchFamily="18" charset="0"/>
            </a:endParaRPr>
          </a:p>
        </p:txBody>
      </p:sp>
      <p:sp>
        <p:nvSpPr>
          <p:cNvPr id="6" name="Rectangle 52"/>
          <p:cNvSpPr>
            <a:spLocks noChangeArrowheads="1"/>
          </p:cNvSpPr>
          <p:nvPr/>
        </p:nvSpPr>
        <p:spPr bwMode="auto">
          <a:xfrm>
            <a:off x="260648" y="1208584"/>
            <a:ext cx="3124200" cy="155427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1</a:t>
            </a:r>
            <a:r>
              <a:rPr lang="en-US" altLang="ko-KR" sz="950">
                <a:latin typeface="Times New Roman" pitchFamily="18" charset="0"/>
                <a:cs typeface="Times New Roman" pitchFamily="18" charset="0"/>
              </a:rPr>
              <a:t>. Dưới đây là giải nghĩa về một thuật ngữ thể hiện đặc tính của LM Block. Hãy chọn đáp án đúng điền </a:t>
            </a:r>
            <a:r>
              <a:rPr lang="en-US" altLang="ko-KR" sz="950" smtClean="0">
                <a:latin typeface="Times New Roman" pitchFamily="18" charset="0"/>
                <a:cs typeface="Times New Roman" pitchFamily="18" charset="0"/>
              </a:rPr>
              <a:t>vào</a:t>
            </a:r>
            <a:endParaRPr lang="en-US" altLang="ko-KR" sz="950">
              <a:latin typeface="Times New Roman" pitchFamily="18" charset="0"/>
              <a:cs typeface="Times New Roman" pitchFamily="18" charset="0"/>
            </a:endParaRPr>
          </a:p>
          <a:p>
            <a:r>
              <a:rPr lang="en-US" altLang="ko-KR" sz="950" smtClean="0">
                <a:latin typeface="Times New Roman" pitchFamily="18" charset="0"/>
                <a:cs typeface="Times New Roman" pitchFamily="18" charset="0"/>
              </a:rPr>
              <a:t>“Tải </a:t>
            </a:r>
            <a:r>
              <a:rPr lang="en-US" altLang="ko-KR" sz="950">
                <a:latin typeface="Times New Roman" pitchFamily="18" charset="0"/>
                <a:cs typeface="Times New Roman" pitchFamily="18" charset="0"/>
              </a:rPr>
              <a:t>trọng bên trong được cho trước vào phần truyền động với mục đích để </a:t>
            </a:r>
            <a:r>
              <a:rPr lang="en-US" altLang="ko-KR" sz="950" smtClean="0">
                <a:latin typeface="Times New Roman" pitchFamily="18" charset="0"/>
                <a:cs typeface="Times New Roman" pitchFamily="18" charset="0"/>
              </a:rPr>
              <a:t>tăng </a:t>
            </a:r>
            <a:r>
              <a:rPr lang="en-US" altLang="ko-KR" sz="950">
                <a:latin typeface="Times New Roman" pitchFamily="18" charset="0"/>
                <a:cs typeface="Times New Roman" pitchFamily="18" charset="0"/>
              </a:rPr>
              <a:t>tính mạnh cho LM Block và loại bỏ khe hở được gọi là </a:t>
            </a:r>
            <a:r>
              <a:rPr lang="en-US" altLang="ko-KR" sz="950" smtClean="0">
                <a:latin typeface="Times New Roman" pitchFamily="18" charset="0"/>
                <a:cs typeface="Times New Roman" pitchFamily="18" charset="0"/>
              </a:rPr>
              <a:t>gì?”.</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Mô men xoắn</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Tính </a:t>
            </a:r>
            <a:r>
              <a:rPr lang="en-US" altLang="ko-KR" sz="950">
                <a:latin typeface="Times New Roman" pitchFamily="18" charset="0"/>
                <a:cs typeface="Times New Roman" pitchFamily="18" charset="0"/>
              </a:rPr>
              <a:t>mạnh</a:t>
            </a:r>
            <a:r>
              <a:rPr lang="ko-KR" altLang="en-US"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Backlash</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Preloaded </a:t>
            </a:r>
            <a:endParaRPr lang="ko-KR" altLang="en-US" sz="950">
              <a:latin typeface="Times New Roman" pitchFamily="18" charset="0"/>
              <a:cs typeface="Times New Roman" pitchFamily="18" charset="0"/>
            </a:endParaRPr>
          </a:p>
        </p:txBody>
      </p:sp>
      <p:grpSp>
        <p:nvGrpSpPr>
          <p:cNvPr id="7" name="Group 6"/>
          <p:cNvGrpSpPr/>
          <p:nvPr/>
        </p:nvGrpSpPr>
        <p:grpSpPr>
          <a:xfrm>
            <a:off x="260648" y="3224808"/>
            <a:ext cx="3124200" cy="965200"/>
            <a:chOff x="3429000" y="3851275"/>
            <a:chExt cx="3124200" cy="965200"/>
          </a:xfrm>
        </p:grpSpPr>
        <p:sp>
          <p:nvSpPr>
            <p:cNvPr id="8" name="Rectangle 53"/>
            <p:cNvSpPr>
              <a:spLocks noChangeArrowheads="1"/>
            </p:cNvSpPr>
            <p:nvPr/>
          </p:nvSpPr>
          <p:spPr bwMode="auto">
            <a:xfrm>
              <a:off x="3429000" y="3851275"/>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A” ở hình dưới đây </a:t>
              </a:r>
              <a:r>
                <a:rPr lang="en-US" altLang="ko-KR" sz="950" smtClean="0">
                  <a:latin typeface="Times New Roman" pitchFamily="18" charset="0"/>
                  <a:ea typeface="돋움" pitchFamily="50" charset="-127"/>
                  <a:cs typeface="Times New Roman" pitchFamily="18" charset="0"/>
                </a:rPr>
                <a:t>được gọi </a:t>
              </a:r>
              <a:r>
                <a:rPr lang="en-US" altLang="ko-KR" sz="950">
                  <a:latin typeface="Times New Roman" pitchFamily="18" charset="0"/>
                  <a:ea typeface="돋움" pitchFamily="50" charset="-127"/>
                  <a:cs typeface="Times New Roman" pitchFamily="18" charset="0"/>
                </a:rPr>
                <a:t>là gì?</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Phần kết nối</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key</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Spring</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chốt</a:t>
              </a:r>
              <a:endParaRPr lang="ko-KR" altLang="en-US" sz="950">
                <a:latin typeface="Times New Roman" pitchFamily="18" charset="0"/>
                <a:ea typeface="돋움" pitchFamily="50" charset="-127"/>
                <a:cs typeface="Times New Roman" pitchFamily="18" charset="0"/>
              </a:endParaRPr>
            </a:p>
          </p:txBody>
        </p:sp>
        <p:grpSp>
          <p:nvGrpSpPr>
            <p:cNvPr id="9" name="Group 54"/>
            <p:cNvGrpSpPr>
              <a:grpSpLocks/>
            </p:cNvGrpSpPr>
            <p:nvPr/>
          </p:nvGrpSpPr>
          <p:grpSpPr bwMode="auto">
            <a:xfrm>
              <a:off x="4941888" y="4067175"/>
              <a:ext cx="1366837" cy="749300"/>
              <a:chOff x="3113" y="2426"/>
              <a:chExt cx="861" cy="472"/>
            </a:xfrm>
          </p:grpSpPr>
          <p:pic>
            <p:nvPicPr>
              <p:cNvPr id="10" name="Picture 55" descr="thkd051_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3" y="2426"/>
                <a:ext cx="86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6"/>
              <p:cNvSpPr>
                <a:spLocks noChangeArrowheads="1"/>
              </p:cNvSpPr>
              <p:nvPr/>
            </p:nvSpPr>
            <p:spPr bwMode="auto">
              <a:xfrm>
                <a:off x="3484" y="2804"/>
                <a:ext cx="168" cy="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ea typeface="돋움" pitchFamily="50" charset="-127"/>
                    <a:cs typeface="Times New Roman" pitchFamily="18" charset="0"/>
                  </a:rPr>
                  <a:t>A</a:t>
                </a:r>
              </a:p>
            </p:txBody>
          </p:sp>
        </p:grpSp>
      </p:grpSp>
      <p:sp>
        <p:nvSpPr>
          <p:cNvPr id="12" name="Rectangle 57"/>
          <p:cNvSpPr>
            <a:spLocks noChangeArrowheads="1"/>
          </p:cNvSpPr>
          <p:nvPr/>
        </p:nvSpPr>
        <p:spPr bwMode="auto">
          <a:xfrm>
            <a:off x="188640" y="4448944"/>
            <a:ext cx="325833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3.Chọn </a:t>
            </a:r>
            <a:r>
              <a:rPr lang="en-US" altLang="ko-KR" sz="950">
                <a:latin typeface="Times New Roman" pitchFamily="18" charset="0"/>
                <a:ea typeface="돋움" pitchFamily="50" charset="-127"/>
                <a:cs typeface="Times New Roman" pitchFamily="18" charset="0"/>
              </a:rPr>
              <a:t>đáp án không phải là đặc điểm của bôi trơn dầu?</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Phù hợp với sử dụng nhiệt độ thấp hoặc tốc độ thấp hơn là bôi trơn bằng mỡ.</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thích 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a:p>
            <a:endParaRPr lang="en-US" altLang="ko-KR" sz="950">
              <a:latin typeface="Times New Roman" pitchFamily="18" charset="0"/>
              <a:ea typeface="돋움" pitchFamily="50" charset="-127"/>
              <a:cs typeface="Times New Roman" pitchFamily="18" charset="0"/>
            </a:endParaRPr>
          </a:p>
        </p:txBody>
      </p:sp>
      <p:sp>
        <p:nvSpPr>
          <p:cNvPr id="13" name="Rectangle 58"/>
          <p:cNvSpPr>
            <a:spLocks noChangeArrowheads="1"/>
          </p:cNvSpPr>
          <p:nvPr/>
        </p:nvSpPr>
        <p:spPr bwMode="auto">
          <a:xfrm>
            <a:off x="260648" y="5961112"/>
            <a:ext cx="3212504"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4</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15" name="Group 14"/>
          <p:cNvGrpSpPr/>
          <p:nvPr/>
        </p:nvGrpSpPr>
        <p:grpSpPr>
          <a:xfrm>
            <a:off x="260648" y="7140575"/>
            <a:ext cx="3124200" cy="1571327"/>
            <a:chOff x="3429000" y="7140575"/>
            <a:chExt cx="3124200" cy="1571327"/>
          </a:xfrm>
        </p:grpSpPr>
        <p:sp>
          <p:nvSpPr>
            <p:cNvPr id="16" name="Rectangle 59"/>
            <p:cNvSpPr>
              <a:spLocks noChangeArrowheads="1"/>
            </p:cNvSpPr>
            <p:nvPr/>
          </p:nvSpPr>
          <p:spPr bwMode="auto">
            <a:xfrm>
              <a:off x="3429000" y="7140575"/>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Chọn hình có </a:t>
              </a:r>
              <a:r>
                <a:rPr lang="en-US" altLang="ko-KR" sz="950" smtClean="0">
                  <a:latin typeface="Times New Roman" pitchFamily="18" charset="0"/>
                  <a:ea typeface="돋움" pitchFamily="50" charset="-127"/>
                  <a:cs typeface="Times New Roman" pitchFamily="18" charset="0"/>
                </a:rPr>
                <a:t>cách </a:t>
              </a:r>
              <a:r>
                <a:rPr lang="en-US" altLang="ko-KR" sz="950">
                  <a:latin typeface="Times New Roman" pitchFamily="18" charset="0"/>
                  <a:ea typeface="돋움" pitchFamily="50" charset="-127"/>
                  <a:cs typeface="Times New Roman" pitchFamily="18" charset="0"/>
                </a:rPr>
                <a:t>sử dụng </a:t>
              </a:r>
              <a:r>
                <a:rPr lang="en-US" altLang="ko-KR" sz="950" smtClean="0">
                  <a:latin typeface="Times New Roman" pitchFamily="18" charset="0"/>
                  <a:ea typeface="돋움" pitchFamily="50" charset="-127"/>
                  <a:cs typeface="Times New Roman" pitchFamily="18" charset="0"/>
                </a:rPr>
                <a:t>Búa Hammer đúng</a:t>
              </a:r>
              <a:r>
                <a:rPr lang="en-US" altLang="ko-KR" sz="950">
                  <a:latin typeface="Times New Roman" pitchFamily="18" charset="0"/>
                  <a:ea typeface="돋움" pitchFamily="50" charset="-127"/>
                  <a:cs typeface="Times New Roman" pitchFamily="18" charset="0"/>
                </a:rPr>
                <a: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D.</a:t>
              </a:r>
              <a:endParaRPr lang="en-US" altLang="ko-KR" sz="950">
                <a:latin typeface="Times New Roman" pitchFamily="18" charset="0"/>
                <a:ea typeface="돋움" pitchFamily="50" charset="-127"/>
                <a:cs typeface="Times New Roman" pitchFamily="18" charset="0"/>
              </a:endParaRPr>
            </a:p>
          </p:txBody>
        </p:sp>
        <p:pic>
          <p:nvPicPr>
            <p:cNvPr id="17"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6338" y="7500938"/>
              <a:ext cx="936832"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7240" y="7500938"/>
              <a:ext cx="936028"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338" y="8239125"/>
              <a:ext cx="936832" cy="47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240" y="8218488"/>
              <a:ext cx="936028" cy="468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3560398" y="1208584"/>
            <a:ext cx="3180970" cy="1773562"/>
            <a:chOff x="304800" y="971550"/>
            <a:chExt cx="3180970" cy="1773562"/>
          </a:xfrm>
        </p:grpSpPr>
        <p:sp>
          <p:nvSpPr>
            <p:cNvPr id="22" name="Rectangle 41"/>
            <p:cNvSpPr>
              <a:spLocks noChangeArrowheads="1"/>
            </p:cNvSpPr>
            <p:nvPr/>
          </p:nvSpPr>
          <p:spPr bwMode="auto">
            <a:xfrm>
              <a:off x="304800" y="971550"/>
              <a:ext cx="3180970" cy="17735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6</a:t>
              </a:r>
              <a:r>
                <a:rPr lang="en-US" altLang="ko-KR" sz="950">
                  <a:latin typeface="Times New Roman" pitchFamily="18" charset="0"/>
                  <a:ea typeface="돋움" pitchFamily="50" charset="-127"/>
                  <a:cs typeface="Times New Roman" pitchFamily="18" charset="0"/>
                </a:rPr>
                <a:t>. Chọn đáp án </a:t>
              </a:r>
              <a:r>
                <a:rPr lang="en-US" altLang="ko-KR" sz="950" smtClean="0">
                  <a:latin typeface="Times New Roman" pitchFamily="18" charset="0"/>
                  <a:ea typeface="돋움" pitchFamily="50" charset="-127"/>
                  <a:cs typeface="Times New Roman" pitchFamily="18" charset="0"/>
                </a:rPr>
                <a:t>đường kẻ biểu </a:t>
              </a:r>
              <a:r>
                <a:rPr lang="en-US" altLang="ko-KR" sz="950">
                  <a:latin typeface="Times New Roman" pitchFamily="18" charset="0"/>
                  <a:ea typeface="돋움" pitchFamily="50" charset="-127"/>
                  <a:cs typeface="Times New Roman" pitchFamily="18" charset="0"/>
                </a:rPr>
                <a:t>thị phần xử lí bề mặt của vật thể?</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3" name="Group 42"/>
            <p:cNvGrpSpPr>
              <a:grpSpLocks/>
            </p:cNvGrpSpPr>
            <p:nvPr/>
          </p:nvGrpSpPr>
          <p:grpSpPr bwMode="auto">
            <a:xfrm>
              <a:off x="549275" y="1548100"/>
              <a:ext cx="1447800" cy="863600"/>
              <a:chOff x="384" y="1008"/>
              <a:chExt cx="912" cy="544"/>
            </a:xfrm>
          </p:grpSpPr>
          <p:sp>
            <p:nvSpPr>
              <p:cNvPr id="24" name="Line 43"/>
              <p:cNvSpPr>
                <a:spLocks noChangeShapeType="1"/>
              </p:cNvSpPr>
              <p:nvPr/>
            </p:nvSpPr>
            <p:spPr bwMode="auto">
              <a:xfrm>
                <a:off x="432" y="1008"/>
                <a:ext cx="86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5" name="Line 44"/>
              <p:cNvSpPr>
                <a:spLocks noChangeShapeType="1"/>
              </p:cNvSpPr>
              <p:nvPr/>
            </p:nvSpPr>
            <p:spPr bwMode="auto">
              <a:xfrm>
                <a:off x="432" y="1152"/>
                <a:ext cx="864" cy="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6" name="Line 45"/>
              <p:cNvSpPr>
                <a:spLocks noChangeShapeType="1"/>
              </p:cNvSpPr>
              <p:nvPr/>
            </p:nvSpPr>
            <p:spPr bwMode="auto">
              <a:xfrm>
                <a:off x="432" y="1344"/>
                <a:ext cx="864" cy="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7" name="Freeform 46"/>
              <p:cNvSpPr>
                <a:spLocks/>
              </p:cNvSpPr>
              <p:nvPr/>
            </p:nvSpPr>
            <p:spPr bwMode="auto">
              <a:xfrm>
                <a:off x="384" y="1440"/>
                <a:ext cx="912" cy="112"/>
              </a:xfrm>
              <a:custGeom>
                <a:avLst/>
                <a:gdLst>
                  <a:gd name="T0" fmla="*/ 0 w 912"/>
                  <a:gd name="T1" fmla="*/ 96 h 112"/>
                  <a:gd name="T2" fmla="*/ 48 w 912"/>
                  <a:gd name="T3" fmla="*/ 96 h 112"/>
                  <a:gd name="T4" fmla="*/ 240 w 912"/>
                  <a:gd name="T5" fmla="*/ 0 h 112"/>
                  <a:gd name="T6" fmla="*/ 432 w 912"/>
                  <a:gd name="T7" fmla="*/ 96 h 112"/>
                  <a:gd name="T8" fmla="*/ 768 w 912"/>
                  <a:gd name="T9" fmla="*/ 48 h 112"/>
                  <a:gd name="T10" fmla="*/ 912 w 912"/>
                  <a:gd name="T11" fmla="*/ 96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 h="112">
                    <a:moveTo>
                      <a:pt x="0" y="96"/>
                    </a:moveTo>
                    <a:cubicBezTo>
                      <a:pt x="4" y="104"/>
                      <a:pt x="8" y="112"/>
                      <a:pt x="48" y="96"/>
                    </a:cubicBezTo>
                    <a:cubicBezTo>
                      <a:pt x="88" y="80"/>
                      <a:pt x="176" y="0"/>
                      <a:pt x="240" y="0"/>
                    </a:cubicBezTo>
                    <a:cubicBezTo>
                      <a:pt x="304" y="0"/>
                      <a:pt x="344" y="88"/>
                      <a:pt x="432" y="96"/>
                    </a:cubicBezTo>
                    <a:cubicBezTo>
                      <a:pt x="520" y="104"/>
                      <a:pt x="688" y="48"/>
                      <a:pt x="768" y="48"/>
                    </a:cubicBezTo>
                    <a:cubicBezTo>
                      <a:pt x="848" y="48"/>
                      <a:pt x="896" y="88"/>
                      <a:pt x="912" y="96"/>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grpSp>
      <p:sp>
        <p:nvSpPr>
          <p:cNvPr id="28" name="Rectangle 47"/>
          <p:cNvSpPr>
            <a:spLocks noChangeArrowheads="1"/>
          </p:cNvSpPr>
          <p:nvPr/>
        </p:nvSpPr>
        <p:spPr bwMode="auto">
          <a:xfrm>
            <a:off x="3429000" y="3224808"/>
            <a:ext cx="3124200"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7</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latin typeface="Times New Roman" pitchFamily="18" charset="0"/>
                <a:cs typeface="Times New Roman" pitchFamily="18" charset="0"/>
              </a:rPr>
              <a:t>B. </a:t>
            </a:r>
            <a:r>
              <a:rPr lang="en-US" altLang="ko-KR" sz="950">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30" name="Group 29"/>
          <p:cNvGrpSpPr/>
          <p:nvPr/>
        </p:nvGrpSpPr>
        <p:grpSpPr>
          <a:xfrm>
            <a:off x="3501008" y="7833320"/>
            <a:ext cx="3124200" cy="1381221"/>
            <a:chOff x="245410" y="5494338"/>
            <a:chExt cx="3124200" cy="1381221"/>
          </a:xfrm>
        </p:grpSpPr>
        <p:sp>
          <p:nvSpPr>
            <p:cNvPr id="31" name="Rectangle 106"/>
            <p:cNvSpPr>
              <a:spLocks noChangeArrowheads="1"/>
            </p:cNvSpPr>
            <p:nvPr/>
          </p:nvSpPr>
          <p:spPr bwMode="auto">
            <a:xfrm>
              <a:off x="245410" y="5494338"/>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a:t>
              </a:r>
              <a:r>
                <a:rPr lang="en-US" altLang="ko-KR" sz="950">
                  <a:latin typeface="Times New Roman" pitchFamily="18" charset="0"/>
                  <a:cs typeface="Times New Roman" pitchFamily="18" charset="0"/>
                </a:rPr>
                <a:t>. Dưới đây là hình của</a:t>
              </a:r>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Ball Screw.</a:t>
              </a:r>
              <a:endParaRPr lang="en-US" altLang="ko-KR" sz="950">
                <a:latin typeface="Times New Roman" pitchFamily="18" charset="0"/>
                <a:cs typeface="Times New Roman" pitchFamily="18" charset="0"/>
              </a:endParaRPr>
            </a:p>
            <a:p>
              <a:r>
                <a:rPr lang="en-US" altLang="ko-KR" sz="950">
                  <a:latin typeface="Times New Roman" pitchFamily="18" charset="0"/>
                  <a:cs typeface="Times New Roman" pitchFamily="18" charset="0"/>
                </a:rPr>
                <a:t>       Tấm nhấn </a:t>
              </a:r>
              <a:r>
                <a:rPr lang="en-US" altLang="ko-KR" sz="950" smtClean="0">
                  <a:latin typeface="Times New Roman" pitchFamily="18" charset="0"/>
                  <a:cs typeface="Times New Roman" pitchFamily="18" charset="0"/>
                </a:rPr>
                <a:t>Pipe </a:t>
              </a:r>
              <a:r>
                <a:rPr lang="en-US" altLang="ko-KR" sz="950">
                  <a:latin typeface="Times New Roman" pitchFamily="18" charset="0"/>
                  <a:cs typeface="Times New Roman" pitchFamily="18" charset="0"/>
                </a:rPr>
                <a:t>cố </a:t>
              </a:r>
              <a:r>
                <a:rPr lang="en-US" altLang="ko-KR" sz="950" smtClean="0">
                  <a:latin typeface="Times New Roman" pitchFamily="18" charset="0"/>
                  <a:cs typeface="Times New Roman" pitchFamily="18" charset="0"/>
                </a:rPr>
                <a:t>định </a:t>
              </a:r>
              <a:r>
                <a:rPr lang="en-US" altLang="ko-KR" sz="950">
                  <a:latin typeface="Times New Roman" pitchFamily="18" charset="0"/>
                  <a:cs typeface="Times New Roman" pitchFamily="18" charset="0"/>
                </a:rPr>
                <a:t>R</a:t>
              </a:r>
              <a:r>
                <a:rPr lang="en-US" altLang="ko-KR" sz="950" smtClean="0">
                  <a:latin typeface="Times New Roman" pitchFamily="18" charset="0"/>
                  <a:cs typeface="Times New Roman" pitchFamily="18" charset="0"/>
                </a:rPr>
                <a:t>eturn </a:t>
              </a:r>
              <a:r>
                <a:rPr lang="en-US" altLang="ko-KR" sz="950">
                  <a:latin typeface="Times New Roman" pitchFamily="18" charset="0"/>
                  <a:cs typeface="Times New Roman" pitchFamily="18" charset="0"/>
                </a:rPr>
                <a:t>pipe  và </a:t>
              </a:r>
              <a:r>
                <a:rPr lang="en-US" altLang="ko-KR" sz="950" smtClean="0">
                  <a:latin typeface="Times New Roman" pitchFamily="18" charset="0"/>
                  <a:cs typeface="Times New Roman" pitchFamily="18" charset="0"/>
                </a:rPr>
                <a:t>Return </a:t>
              </a:r>
              <a:r>
                <a:rPr lang="en-US" altLang="ko-KR" sz="950">
                  <a:latin typeface="Times New Roman" pitchFamily="18" charset="0"/>
                  <a:cs typeface="Times New Roman" pitchFamily="18" charset="0"/>
                </a:rPr>
                <a:t>pipe, là một yếu tố làm </a:t>
              </a:r>
              <a:r>
                <a:rPr lang="en-US" altLang="ko-KR" sz="950" smtClean="0">
                  <a:latin typeface="Times New Roman" pitchFamily="18" charset="0"/>
                  <a:cs typeface="Times New Roman" pitchFamily="18" charset="0"/>
                </a:rPr>
                <a:t>Ball </a:t>
              </a:r>
              <a:r>
                <a:rPr lang="en-US" altLang="ko-KR" sz="950">
                  <a:latin typeface="Times New Roman" pitchFamily="18" charset="0"/>
                  <a:cs typeface="Times New Roman" pitchFamily="18" charset="0"/>
                </a:rPr>
                <a:t>xoay linh hoạt hơn là số </a:t>
              </a:r>
              <a:r>
                <a:rPr lang="en-US" altLang="ko-KR" sz="950" smtClean="0">
                  <a:latin typeface="Times New Roman" pitchFamily="18" charset="0"/>
                  <a:cs typeface="Times New Roman" pitchFamily="18" charset="0"/>
                </a:rPr>
                <a:t>mấy ở hình dưới đây?</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2,1</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1, 4</a:t>
              </a:r>
              <a:r>
                <a:rPr lang="ko-KR" altLang="en-US" sz="950">
                  <a:latin typeface="Times New Roman" pitchFamily="18" charset="0"/>
                  <a:ea typeface="돋움" pitchFamily="50" charset="-127"/>
                  <a:cs typeface="Times New Roman" pitchFamily="18" charset="0"/>
                </a:rPr>
                <a:t>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2,5</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2,6</a:t>
              </a:r>
              <a:endParaRPr lang="ko-KR" altLang="en-US" sz="950">
                <a:latin typeface="Times New Roman" pitchFamily="18" charset="0"/>
                <a:ea typeface="돋움" pitchFamily="50" charset="-127"/>
                <a:cs typeface="Times New Roman" pitchFamily="18" charset="0"/>
              </a:endParaRPr>
            </a:p>
          </p:txBody>
        </p:sp>
        <p:grpSp>
          <p:nvGrpSpPr>
            <p:cNvPr id="32" name="Group 107"/>
            <p:cNvGrpSpPr>
              <a:grpSpLocks/>
            </p:cNvGrpSpPr>
            <p:nvPr/>
          </p:nvGrpSpPr>
          <p:grpSpPr bwMode="auto">
            <a:xfrm>
              <a:off x="1312293" y="5927932"/>
              <a:ext cx="1717538" cy="947627"/>
              <a:chOff x="1694" y="132"/>
              <a:chExt cx="1405" cy="1355"/>
            </a:xfrm>
          </p:grpSpPr>
          <p:pic>
            <p:nvPicPr>
              <p:cNvPr id="33" name="Picture 1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9" y="370"/>
                <a:ext cx="1281" cy="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 Box 109"/>
              <p:cNvSpPr txBox="1">
                <a:spLocks noChangeArrowheads="1"/>
              </p:cNvSpPr>
              <p:nvPr/>
            </p:nvSpPr>
            <p:spPr bwMode="auto">
              <a:xfrm>
                <a:off x="2319" y="23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1</a:t>
                </a:r>
                <a:endParaRPr lang="ko-KR" altLang="en-US" sz="950" b="1">
                  <a:latin typeface="Times New Roman" pitchFamily="18" charset="0"/>
                  <a:cs typeface="Times New Roman" pitchFamily="18" charset="0"/>
                </a:endParaRPr>
              </a:p>
            </p:txBody>
          </p:sp>
          <p:sp>
            <p:nvSpPr>
              <p:cNvPr id="35" name="Text Box 110"/>
              <p:cNvSpPr txBox="1">
                <a:spLocks noChangeArrowheads="1"/>
              </p:cNvSpPr>
              <p:nvPr/>
            </p:nvSpPr>
            <p:spPr bwMode="auto">
              <a:xfrm>
                <a:off x="2575" y="13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3</a:t>
                </a:r>
                <a:endParaRPr lang="ko-KR" altLang="en-US" sz="950" b="1">
                  <a:latin typeface="Times New Roman" pitchFamily="18" charset="0"/>
                  <a:cs typeface="Times New Roman" pitchFamily="18" charset="0"/>
                </a:endParaRPr>
              </a:p>
            </p:txBody>
          </p:sp>
          <p:sp>
            <p:nvSpPr>
              <p:cNvPr id="36" name="Text Box 111"/>
              <p:cNvSpPr txBox="1">
                <a:spLocks noChangeArrowheads="1"/>
              </p:cNvSpPr>
              <p:nvPr/>
            </p:nvSpPr>
            <p:spPr bwMode="auto">
              <a:xfrm>
                <a:off x="2898" y="77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4</a:t>
                </a:r>
                <a:endParaRPr lang="ko-KR" altLang="en-US" sz="950" b="1">
                  <a:latin typeface="Times New Roman" pitchFamily="18" charset="0"/>
                  <a:cs typeface="Times New Roman" pitchFamily="18" charset="0"/>
                </a:endParaRPr>
              </a:p>
            </p:txBody>
          </p:sp>
          <p:sp>
            <p:nvSpPr>
              <p:cNvPr id="37" name="Text Box 112"/>
              <p:cNvSpPr txBox="1">
                <a:spLocks noChangeArrowheads="1"/>
              </p:cNvSpPr>
              <p:nvPr/>
            </p:nvSpPr>
            <p:spPr bwMode="auto">
              <a:xfrm>
                <a:off x="2770" y="94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5</a:t>
                </a:r>
                <a:endParaRPr lang="ko-KR" altLang="en-US" sz="950" b="1">
                  <a:latin typeface="Times New Roman" pitchFamily="18" charset="0"/>
                  <a:cs typeface="Times New Roman" pitchFamily="18" charset="0"/>
                </a:endParaRPr>
              </a:p>
            </p:txBody>
          </p:sp>
          <p:sp>
            <p:nvSpPr>
              <p:cNvPr id="38" name="Text Box 113"/>
              <p:cNvSpPr txBox="1">
                <a:spLocks noChangeArrowheads="1"/>
              </p:cNvSpPr>
              <p:nvPr/>
            </p:nvSpPr>
            <p:spPr bwMode="auto">
              <a:xfrm>
                <a:off x="2102" y="369"/>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6</a:t>
                </a:r>
                <a:endParaRPr lang="ko-KR" altLang="en-US" sz="950" b="1">
                  <a:latin typeface="Times New Roman" pitchFamily="18" charset="0"/>
                  <a:cs typeface="Times New Roman" pitchFamily="18" charset="0"/>
                </a:endParaRPr>
              </a:p>
            </p:txBody>
          </p:sp>
          <p:sp>
            <p:nvSpPr>
              <p:cNvPr id="39" name="Text Box 114"/>
              <p:cNvSpPr txBox="1">
                <a:spLocks noChangeArrowheads="1"/>
              </p:cNvSpPr>
              <p:nvPr/>
            </p:nvSpPr>
            <p:spPr bwMode="auto">
              <a:xfrm>
                <a:off x="1961" y="48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2</a:t>
                </a:r>
                <a:endParaRPr lang="ko-KR" altLang="en-US" sz="950" b="1">
                  <a:latin typeface="Times New Roman" pitchFamily="18" charset="0"/>
                  <a:cs typeface="Times New Roman" pitchFamily="18" charset="0"/>
                </a:endParaRPr>
              </a:p>
            </p:txBody>
          </p:sp>
          <p:sp>
            <p:nvSpPr>
              <p:cNvPr id="40" name="Text Box 115"/>
              <p:cNvSpPr txBox="1">
                <a:spLocks noChangeArrowheads="1"/>
              </p:cNvSpPr>
              <p:nvPr/>
            </p:nvSpPr>
            <p:spPr bwMode="auto">
              <a:xfrm>
                <a:off x="1694" y="634"/>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7</a:t>
                </a:r>
                <a:endParaRPr lang="ko-KR" altLang="en-US" sz="950" b="1">
                  <a:latin typeface="Times New Roman" pitchFamily="18" charset="0"/>
                  <a:cs typeface="Times New Roman" pitchFamily="18" charset="0"/>
                </a:endParaRPr>
              </a:p>
            </p:txBody>
          </p:sp>
          <p:sp>
            <p:nvSpPr>
              <p:cNvPr id="41" name="Text Box 116"/>
              <p:cNvSpPr txBox="1">
                <a:spLocks noChangeArrowheads="1"/>
              </p:cNvSpPr>
              <p:nvPr/>
            </p:nvSpPr>
            <p:spPr bwMode="auto">
              <a:xfrm>
                <a:off x="2516" y="114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8</a:t>
                </a:r>
                <a:endParaRPr lang="ko-KR" altLang="en-US" sz="950" b="1">
                  <a:latin typeface="Times New Roman" pitchFamily="18" charset="0"/>
                  <a:cs typeface="Times New Roman" pitchFamily="18" charset="0"/>
                </a:endParaRPr>
              </a:p>
            </p:txBody>
          </p:sp>
        </p:grpSp>
      </p:grpSp>
      <p:sp>
        <p:nvSpPr>
          <p:cNvPr id="42" name="Rectangle 117"/>
          <p:cNvSpPr>
            <a:spLocks noChangeArrowheads="1"/>
          </p:cNvSpPr>
          <p:nvPr/>
        </p:nvSpPr>
        <p:spPr bwMode="auto">
          <a:xfrm>
            <a:off x="3429000" y="4448944"/>
            <a:ext cx="325559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điều kiện </a:t>
            </a:r>
            <a:r>
              <a:rPr lang="en-US" altLang="ko-KR" sz="950" smtClean="0">
                <a:latin typeface="Times New Roman" pitchFamily="18" charset="0"/>
                <a:ea typeface="돋움" pitchFamily="50" charset="-127"/>
                <a:cs typeface="Times New Roman" pitchFamily="18" charset="0"/>
              </a:rPr>
              <a:t>mà </a:t>
            </a:r>
            <a:r>
              <a:rPr lang="en-US" altLang="ko-KR" sz="950">
                <a:latin typeface="Times New Roman" pitchFamily="18" charset="0"/>
                <a:ea typeface="돋움" pitchFamily="50" charset="-127"/>
                <a:cs typeface="Times New Roman" pitchFamily="18" charset="0"/>
              </a:rPr>
              <a:t>chất bôi trơn phải có?</a:t>
            </a:r>
          </a:p>
          <a:p>
            <a:r>
              <a:rPr lang="en-US" altLang="ko-KR" sz="950" smtClean="0">
                <a:latin typeface="Times New Roman" pitchFamily="18" charset="0"/>
                <a:ea typeface="돋움" pitchFamily="50" charset="-127"/>
                <a:cs typeface="Times New Roman" pitchFamily="18" charset="0"/>
              </a:rPr>
              <a:t>A. Cường </a:t>
            </a:r>
            <a:r>
              <a:rPr lang="en-US" altLang="ko-KR" sz="950">
                <a:latin typeface="Times New Roman" pitchFamily="18" charset="0"/>
                <a:ea typeface="돋움" pitchFamily="50" charset="-127"/>
                <a:cs typeface="Times New Roman" pitchFamily="18" charset="0"/>
              </a:rPr>
              <a:t>độ màng dầu phải mạnh</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Khả năng chống mòn nhỏ</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Ma </a:t>
            </a:r>
            <a:r>
              <a:rPr lang="en-US" altLang="ko-KR" sz="950">
                <a:latin typeface="Times New Roman" pitchFamily="18" charset="0"/>
                <a:ea typeface="돋움" pitchFamily="50" charset="-127"/>
                <a:cs typeface="Times New Roman" pitchFamily="18" charset="0"/>
              </a:rPr>
              <a:t>sát ít</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Dù </a:t>
            </a:r>
            <a:r>
              <a:rPr lang="en-US" altLang="ko-KR" sz="950">
                <a:latin typeface="Times New Roman" pitchFamily="18" charset="0"/>
                <a:ea typeface="돋움" pitchFamily="50" charset="-127"/>
                <a:cs typeface="Times New Roman" pitchFamily="18" charset="0"/>
              </a:rPr>
              <a:t>bị thay nhiều lần nhưng </a:t>
            </a:r>
            <a:r>
              <a:rPr lang="en-US" altLang="ko-KR" sz="950" smtClean="0">
                <a:latin typeface="Times New Roman" pitchFamily="18" charset="0"/>
                <a:ea typeface="돋움" pitchFamily="50" charset="-127"/>
                <a:cs typeface="Times New Roman" pitchFamily="18" charset="0"/>
              </a:rPr>
              <a:t>tác dụng</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không </a:t>
            </a:r>
            <a:r>
              <a:rPr lang="en-US" altLang="ko-KR" sz="950">
                <a:latin typeface="Times New Roman" pitchFamily="18" charset="0"/>
                <a:ea typeface="돋움" pitchFamily="50" charset="-127"/>
                <a:cs typeface="Times New Roman" pitchFamily="18" charset="0"/>
              </a:rPr>
              <a:t>thay đổi lớn</a:t>
            </a:r>
            <a:endParaRPr lang="ko-KR" altLang="en-US" sz="950">
              <a:latin typeface="Times New Roman" pitchFamily="18" charset="0"/>
              <a:ea typeface="돋움" pitchFamily="50" charset="-127"/>
              <a:cs typeface="Times New Roman" pitchFamily="18" charset="0"/>
            </a:endParaRPr>
          </a:p>
        </p:txBody>
      </p:sp>
      <p:sp>
        <p:nvSpPr>
          <p:cNvPr id="43"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Cần có lực căng ban đầu cao.</a:t>
            </a:r>
          </a:p>
        </p:txBody>
      </p:sp>
    </p:spTree>
    <p:extLst>
      <p:ext uri="{BB962C8B-B14F-4D97-AF65-F5344CB8AC3E}">
        <p14:creationId xmlns:p14="http://schemas.microsoft.com/office/powerpoint/2010/main" val="1888559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G">
      <a:majorFont>
        <a:latin typeface="LG Smart_H Regular"/>
        <a:ea typeface="LG Smart_H Regular"/>
        <a:cs typeface=""/>
      </a:majorFont>
      <a:minorFont>
        <a:latin typeface="LG Smart_H Regular"/>
        <a:ea typeface="LG Smart_H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27912</TotalTime>
  <Words>31307</Words>
  <Application>Microsoft Office PowerPoint</Application>
  <PresentationFormat>A4 Paper (210x297 mm)</PresentationFormat>
  <Paragraphs>4460</Paragraphs>
  <Slides>64</Slides>
  <Notes>64</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64</vt:i4>
      </vt:variant>
    </vt:vector>
  </HeadingPairs>
  <TitlesOfParts>
    <vt:vector size="79" baseType="lpstr">
      <vt:lpstr>돋움</vt:lpstr>
      <vt:lpstr>돋움</vt:lpstr>
      <vt:lpstr>굴림</vt:lpstr>
      <vt:lpstr>HY견고딕</vt:lpstr>
      <vt:lpstr>LG Smart_H Regular</vt:lpstr>
      <vt:lpstr>맑은 고딕</vt:lpstr>
      <vt:lpstr>Arial</vt:lpstr>
      <vt:lpstr>Arial Narrow</vt:lpstr>
      <vt:lpstr>Symbol</vt:lpstr>
      <vt:lpstr>Times New Roman</vt:lpstr>
      <vt:lpstr>Wingdings</vt:lpstr>
      <vt:lpstr>Office 테마</vt:lpstr>
      <vt:lpstr>1_WS12차_1회_051119</vt:lpstr>
      <vt:lpstr>2_WS12차_1회_051119</vt:lpstr>
      <vt:lpstr>비트맵 이미지</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사용자</dc:creator>
  <cp:lastModifiedBy>daoduythanh03</cp:lastModifiedBy>
  <cp:revision>551</cp:revision>
  <cp:lastPrinted>2022-06-15T03:07:58Z</cp:lastPrinted>
  <dcterms:created xsi:type="dcterms:W3CDTF">2021-05-12T06:04:51Z</dcterms:created>
  <dcterms:modified xsi:type="dcterms:W3CDTF">2025-12-29T02:23:07Z</dcterms:modified>
</cp:coreProperties>
</file>